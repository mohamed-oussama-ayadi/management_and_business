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6" r:id="rId2"/>
    <p:sldId id="259" r:id="rId3"/>
    <p:sldId id="266" r:id="rId4"/>
    <p:sldId id="267" r:id="rId5"/>
    <p:sldId id="369" r:id="rId6"/>
    <p:sldId id="268" r:id="rId7"/>
    <p:sldId id="338" r:id="rId8"/>
    <p:sldId id="351" r:id="rId9"/>
    <p:sldId id="352" r:id="rId10"/>
    <p:sldId id="353" r:id="rId11"/>
    <p:sldId id="271" r:id="rId12"/>
    <p:sldId id="276" r:id="rId13"/>
    <p:sldId id="273" r:id="rId14"/>
    <p:sldId id="275" r:id="rId15"/>
    <p:sldId id="371" r:id="rId16"/>
    <p:sldId id="339" r:id="rId17"/>
    <p:sldId id="357" r:id="rId18"/>
    <p:sldId id="278" r:id="rId19"/>
    <p:sldId id="360" r:id="rId20"/>
    <p:sldId id="362" r:id="rId21"/>
    <p:sldId id="363" r:id="rId22"/>
    <p:sldId id="358" r:id="rId23"/>
    <p:sldId id="282" r:id="rId24"/>
    <p:sldId id="372" r:id="rId25"/>
    <p:sldId id="366" r:id="rId26"/>
    <p:sldId id="368" r:id="rId27"/>
    <p:sldId id="365" r:id="rId28"/>
    <p:sldId id="367" r:id="rId29"/>
    <p:sldId id="298" r:id="rId30"/>
    <p:sldId id="297" r:id="rId31"/>
    <p:sldId id="299" r:id="rId32"/>
    <p:sldId id="300" r:id="rId33"/>
    <p:sldId id="301" r:id="rId34"/>
    <p:sldId id="303" r:id="rId35"/>
    <p:sldId id="304" r:id="rId36"/>
    <p:sldId id="328" r:id="rId37"/>
    <p:sldId id="307" r:id="rId38"/>
    <p:sldId id="341" r:id="rId39"/>
    <p:sldId id="346" r:id="rId40"/>
    <p:sldId id="347" r:id="rId41"/>
    <p:sldId id="348" r:id="rId42"/>
    <p:sldId id="349" r:id="rId43"/>
    <p:sldId id="373" r:id="rId44"/>
    <p:sldId id="374" r:id="rId45"/>
    <p:sldId id="345" r:id="rId46"/>
  </p:sldIdLst>
  <p:sldSz cx="9144000" cy="6858000" type="screen4x3"/>
  <p:notesSz cx="6858000" cy="91440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image" Target="../media/image74.png"/><Relationship Id="rId4" Type="http://schemas.openxmlformats.org/officeDocument/2006/relationships/image" Target="../media/image77.png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74.pn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image" Target="../media/image96.pn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image" Target="../media/image98.png"/><Relationship Id="rId4" Type="http://schemas.openxmlformats.org/officeDocument/2006/relationships/image" Target="../media/image101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image" Target="../media/image74.png"/><Relationship Id="rId4" Type="http://schemas.openxmlformats.org/officeDocument/2006/relationships/image" Target="../media/image77.pn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74.pn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image" Target="../media/image96.pn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image" Target="../media/image98.png"/><Relationship Id="rId4" Type="http://schemas.openxmlformats.org/officeDocument/2006/relationships/image" Target="../media/image10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32D458-9AF9-4AD4-9C19-5A7465ED590A}" type="doc">
      <dgm:prSet loTypeId="urn:microsoft.com/office/officeart/2005/8/layout/radial6" loCatId="relationship" qsTypeId="urn:microsoft.com/office/officeart/2005/8/quickstyle/3d3" qsCatId="3D" csTypeId="urn:microsoft.com/office/officeart/2005/8/colors/colorful5" csCatId="colorful" phldr="1"/>
      <dgm:spPr/>
      <dgm:t>
        <a:bodyPr/>
        <a:lstStyle/>
        <a:p>
          <a:endParaRPr lang="fr-FR"/>
        </a:p>
      </dgm:t>
    </dgm:pt>
    <dgm:pt modelId="{F5F00F09-DB09-43EA-BA46-929B91B3093E}">
      <dgm:prSet phldrT="[Texte]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fr-FR" b="1" dirty="0"/>
            <a:t>Critère </a:t>
          </a:r>
        </a:p>
      </dgm:t>
    </dgm:pt>
    <dgm:pt modelId="{CB65E4A3-4810-4A54-93A5-4881F465CB16}" type="parTrans" cxnId="{8E464E53-B652-4A44-8A8A-C4A68E7D5B4A}">
      <dgm:prSet/>
      <dgm:spPr/>
      <dgm:t>
        <a:bodyPr/>
        <a:lstStyle/>
        <a:p>
          <a:endParaRPr lang="fr-FR"/>
        </a:p>
      </dgm:t>
    </dgm:pt>
    <dgm:pt modelId="{E05F0F1E-53EE-44FD-8D6A-8759E6BE569B}" type="sibTrans" cxnId="{8E464E53-B652-4A44-8A8A-C4A68E7D5B4A}">
      <dgm:prSet/>
      <dgm:spPr/>
      <dgm:t>
        <a:bodyPr/>
        <a:lstStyle/>
        <a:p>
          <a:endParaRPr lang="fr-FR"/>
        </a:p>
      </dgm:t>
    </dgm:pt>
    <dgm:pt modelId="{7A06D72B-435F-4416-9E11-D78FB60329FF}">
      <dgm:prSet phldrT="[Texte]" custT="1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fr-FR" sz="2400" b="1"/>
            <a:t>Juridique </a:t>
          </a:r>
          <a:endParaRPr lang="fr-FR" sz="2400" b="1" dirty="0"/>
        </a:p>
      </dgm:t>
    </dgm:pt>
    <dgm:pt modelId="{2B13D393-7E81-4BBD-A78A-CC975F292C54}" type="parTrans" cxnId="{E88218D4-E6BE-4133-9D61-7CDB46A91A43}">
      <dgm:prSet/>
      <dgm:spPr/>
      <dgm:t>
        <a:bodyPr/>
        <a:lstStyle/>
        <a:p>
          <a:endParaRPr lang="fr-FR"/>
        </a:p>
      </dgm:t>
    </dgm:pt>
    <dgm:pt modelId="{3374185C-954A-45CF-B6A7-91D45016A0BB}" type="sibTrans" cxnId="{E88218D4-E6BE-4133-9D61-7CDB46A91A43}">
      <dgm:prSet/>
      <dgm:spPr/>
      <dgm:t>
        <a:bodyPr/>
        <a:lstStyle/>
        <a:p>
          <a:endParaRPr lang="fr-FR"/>
        </a:p>
      </dgm:t>
    </dgm:pt>
    <dgm:pt modelId="{4BFDAB0D-513C-4FBE-AC56-6E9DCD72D16D}">
      <dgm:prSet phldrT="[Texte]" custT="1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r>
            <a:rPr lang="fr-FR" sz="2800" b="1" dirty="0"/>
            <a:t>Sectoriel</a:t>
          </a:r>
        </a:p>
      </dgm:t>
    </dgm:pt>
    <dgm:pt modelId="{851B07A6-C8E2-4A75-81B3-C35AEF4379E2}" type="parTrans" cxnId="{3CED0330-DE1A-495F-97DA-7850698491EC}">
      <dgm:prSet/>
      <dgm:spPr/>
      <dgm:t>
        <a:bodyPr/>
        <a:lstStyle/>
        <a:p>
          <a:endParaRPr lang="fr-FR"/>
        </a:p>
      </dgm:t>
    </dgm:pt>
    <dgm:pt modelId="{0D7DD13A-E5D4-481F-ADF8-080A2B485895}" type="sibTrans" cxnId="{3CED0330-DE1A-495F-97DA-7850698491EC}">
      <dgm:prSet/>
      <dgm:spPr/>
      <dgm:t>
        <a:bodyPr/>
        <a:lstStyle/>
        <a:p>
          <a:endParaRPr lang="fr-FR"/>
        </a:p>
      </dgm:t>
    </dgm:pt>
    <dgm:pt modelId="{68BFE88A-5846-4F23-BE1B-EC3EB4F29DA4}">
      <dgm:prSet phldrT="[Texte]" custT="1"/>
      <dgm:spPr>
        <a:blipFill rotWithShape="0">
          <a:blip xmlns:r="http://schemas.openxmlformats.org/officeDocument/2006/relationships" r:embed="rId4"/>
          <a:stretch>
            <a:fillRect/>
          </a:stretch>
        </a:blipFill>
      </dgm:spPr>
      <dgm:t>
        <a:bodyPr/>
        <a:lstStyle/>
        <a:p>
          <a:r>
            <a:rPr lang="fr-FR" sz="2800" b="1"/>
            <a:t>Dimensionne</a:t>
          </a:r>
          <a:r>
            <a:rPr lang="fr-FR" sz="1200"/>
            <a:t>l </a:t>
          </a:r>
          <a:endParaRPr lang="fr-FR" sz="1200" dirty="0"/>
        </a:p>
      </dgm:t>
    </dgm:pt>
    <dgm:pt modelId="{4294ACDD-E427-4C88-85BC-EA5775EB6382}" type="parTrans" cxnId="{51902ED5-A9F8-466A-8D41-3393557A7E5F}">
      <dgm:prSet/>
      <dgm:spPr/>
      <dgm:t>
        <a:bodyPr/>
        <a:lstStyle/>
        <a:p>
          <a:endParaRPr lang="fr-FR"/>
        </a:p>
      </dgm:t>
    </dgm:pt>
    <dgm:pt modelId="{E0EFE34D-FADC-4FAD-A11E-0C602BEC9022}" type="sibTrans" cxnId="{51902ED5-A9F8-466A-8D41-3393557A7E5F}">
      <dgm:prSet/>
      <dgm:spPr/>
      <dgm:t>
        <a:bodyPr/>
        <a:lstStyle/>
        <a:p>
          <a:endParaRPr lang="fr-FR"/>
        </a:p>
      </dgm:t>
    </dgm:pt>
    <dgm:pt modelId="{4108BBB8-9AEB-4E4A-A5D3-2DEFB9C0806D}" type="pres">
      <dgm:prSet presAssocID="{B632D458-9AF9-4AD4-9C19-5A7465ED590A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13F031A5-9C6C-4D90-ADD2-31F0F0AF0B5B}" type="pres">
      <dgm:prSet presAssocID="{F5F00F09-DB09-43EA-BA46-929B91B3093E}" presName="centerShape" presStyleLbl="node0" presStyleIdx="0" presStyleCnt="1" custScaleX="106494" custScaleY="58494" custLinFactNeighborX="1884" custLinFactNeighborY="-5651"/>
      <dgm:spPr/>
    </dgm:pt>
    <dgm:pt modelId="{80E41724-097A-4202-AEC1-CF7CEAA25E58}" type="pres">
      <dgm:prSet presAssocID="{7A06D72B-435F-4416-9E11-D78FB60329FF}" presName="node" presStyleLbl="node1" presStyleIdx="0" presStyleCnt="3" custScaleX="175012">
        <dgm:presLayoutVars>
          <dgm:bulletEnabled val="1"/>
        </dgm:presLayoutVars>
      </dgm:prSet>
      <dgm:spPr/>
    </dgm:pt>
    <dgm:pt modelId="{5F9ED750-87C4-4669-9E04-7CF012D119B6}" type="pres">
      <dgm:prSet presAssocID="{7A06D72B-435F-4416-9E11-D78FB60329FF}" presName="dummy" presStyleCnt="0"/>
      <dgm:spPr/>
    </dgm:pt>
    <dgm:pt modelId="{373E625C-55AA-420D-BB8F-71A290ECD882}" type="pres">
      <dgm:prSet presAssocID="{3374185C-954A-45CF-B6A7-91D45016A0BB}" presName="sibTrans" presStyleLbl="sibTrans2D1" presStyleIdx="0" presStyleCnt="3"/>
      <dgm:spPr/>
    </dgm:pt>
    <dgm:pt modelId="{3286AEF8-2E2B-49E8-A938-294C04312B4B}" type="pres">
      <dgm:prSet presAssocID="{4BFDAB0D-513C-4FBE-AC56-6E9DCD72D16D}" presName="node" presStyleLbl="node1" presStyleIdx="1" presStyleCnt="3" custScaleX="176043">
        <dgm:presLayoutVars>
          <dgm:bulletEnabled val="1"/>
        </dgm:presLayoutVars>
      </dgm:prSet>
      <dgm:spPr/>
    </dgm:pt>
    <dgm:pt modelId="{63534EE8-2348-425D-911E-23CAFCD1217B}" type="pres">
      <dgm:prSet presAssocID="{4BFDAB0D-513C-4FBE-AC56-6E9DCD72D16D}" presName="dummy" presStyleCnt="0"/>
      <dgm:spPr/>
    </dgm:pt>
    <dgm:pt modelId="{E142862B-D190-4A25-8C92-7315B54E1FD0}" type="pres">
      <dgm:prSet presAssocID="{0D7DD13A-E5D4-481F-ADF8-080A2B485895}" presName="sibTrans" presStyleLbl="sibTrans2D1" presStyleIdx="1" presStyleCnt="3"/>
      <dgm:spPr/>
    </dgm:pt>
    <dgm:pt modelId="{E32FFE8A-DD41-4DAE-A9AA-319E56E25F71}" type="pres">
      <dgm:prSet presAssocID="{68BFE88A-5846-4F23-BE1B-EC3EB4F29DA4}" presName="node" presStyleLbl="node1" presStyleIdx="2" presStyleCnt="3" custScaleX="182889">
        <dgm:presLayoutVars>
          <dgm:bulletEnabled val="1"/>
        </dgm:presLayoutVars>
      </dgm:prSet>
      <dgm:spPr/>
    </dgm:pt>
    <dgm:pt modelId="{BF4E161B-D11A-4B32-8745-30B80DAFA652}" type="pres">
      <dgm:prSet presAssocID="{68BFE88A-5846-4F23-BE1B-EC3EB4F29DA4}" presName="dummy" presStyleCnt="0"/>
      <dgm:spPr/>
    </dgm:pt>
    <dgm:pt modelId="{2341A623-3CC7-4104-A01C-5F5FE5FFC1A3}" type="pres">
      <dgm:prSet presAssocID="{E0EFE34D-FADC-4FAD-A11E-0C602BEC9022}" presName="sibTrans" presStyleLbl="sibTrans2D1" presStyleIdx="2" presStyleCnt="3"/>
      <dgm:spPr/>
    </dgm:pt>
  </dgm:ptLst>
  <dgm:cxnLst>
    <dgm:cxn modelId="{A53DF713-9233-4F50-A4BA-44B71794F07C}" type="presOf" srcId="{4BFDAB0D-513C-4FBE-AC56-6E9DCD72D16D}" destId="{3286AEF8-2E2B-49E8-A938-294C04312B4B}" srcOrd="0" destOrd="0" presId="urn:microsoft.com/office/officeart/2005/8/layout/radial6"/>
    <dgm:cxn modelId="{3ADCEA2C-A08D-4771-BC56-867E2C0DB669}" type="presOf" srcId="{B632D458-9AF9-4AD4-9C19-5A7465ED590A}" destId="{4108BBB8-9AEB-4E4A-A5D3-2DEFB9C0806D}" srcOrd="0" destOrd="0" presId="urn:microsoft.com/office/officeart/2005/8/layout/radial6"/>
    <dgm:cxn modelId="{3CED0330-DE1A-495F-97DA-7850698491EC}" srcId="{F5F00F09-DB09-43EA-BA46-929B91B3093E}" destId="{4BFDAB0D-513C-4FBE-AC56-6E9DCD72D16D}" srcOrd="1" destOrd="0" parTransId="{851B07A6-C8E2-4A75-81B3-C35AEF4379E2}" sibTransId="{0D7DD13A-E5D4-481F-ADF8-080A2B485895}"/>
    <dgm:cxn modelId="{8E464E53-B652-4A44-8A8A-C4A68E7D5B4A}" srcId="{B632D458-9AF9-4AD4-9C19-5A7465ED590A}" destId="{F5F00F09-DB09-43EA-BA46-929B91B3093E}" srcOrd="0" destOrd="0" parTransId="{CB65E4A3-4810-4A54-93A5-4881F465CB16}" sibTransId="{E05F0F1E-53EE-44FD-8D6A-8759E6BE569B}"/>
    <dgm:cxn modelId="{F40C2B97-C5A5-452A-A1B5-E3114D1E6F72}" type="presOf" srcId="{3374185C-954A-45CF-B6A7-91D45016A0BB}" destId="{373E625C-55AA-420D-BB8F-71A290ECD882}" srcOrd="0" destOrd="0" presId="urn:microsoft.com/office/officeart/2005/8/layout/radial6"/>
    <dgm:cxn modelId="{995C329C-6EC6-4B7A-A34F-1966B81148A3}" type="presOf" srcId="{E0EFE34D-FADC-4FAD-A11E-0C602BEC9022}" destId="{2341A623-3CC7-4104-A01C-5F5FE5FFC1A3}" srcOrd="0" destOrd="0" presId="urn:microsoft.com/office/officeart/2005/8/layout/radial6"/>
    <dgm:cxn modelId="{29BFC9A2-AC6B-4FFF-8852-48832CA0A3DF}" type="presOf" srcId="{7A06D72B-435F-4416-9E11-D78FB60329FF}" destId="{80E41724-097A-4202-AEC1-CF7CEAA25E58}" srcOrd="0" destOrd="0" presId="urn:microsoft.com/office/officeart/2005/8/layout/radial6"/>
    <dgm:cxn modelId="{EF9DCEC3-E51C-49A2-A5DC-0105AA597385}" type="presOf" srcId="{0D7DD13A-E5D4-481F-ADF8-080A2B485895}" destId="{E142862B-D190-4A25-8C92-7315B54E1FD0}" srcOrd="0" destOrd="0" presId="urn:microsoft.com/office/officeart/2005/8/layout/radial6"/>
    <dgm:cxn modelId="{E88218D4-E6BE-4133-9D61-7CDB46A91A43}" srcId="{F5F00F09-DB09-43EA-BA46-929B91B3093E}" destId="{7A06D72B-435F-4416-9E11-D78FB60329FF}" srcOrd="0" destOrd="0" parTransId="{2B13D393-7E81-4BBD-A78A-CC975F292C54}" sibTransId="{3374185C-954A-45CF-B6A7-91D45016A0BB}"/>
    <dgm:cxn modelId="{51902ED5-A9F8-466A-8D41-3393557A7E5F}" srcId="{F5F00F09-DB09-43EA-BA46-929B91B3093E}" destId="{68BFE88A-5846-4F23-BE1B-EC3EB4F29DA4}" srcOrd="2" destOrd="0" parTransId="{4294ACDD-E427-4C88-85BC-EA5775EB6382}" sibTransId="{E0EFE34D-FADC-4FAD-A11E-0C602BEC9022}"/>
    <dgm:cxn modelId="{7B7CCFD5-BFDE-45ED-9CE0-B58548CAC2E4}" type="presOf" srcId="{F5F00F09-DB09-43EA-BA46-929B91B3093E}" destId="{13F031A5-9C6C-4D90-ADD2-31F0F0AF0B5B}" srcOrd="0" destOrd="0" presId="urn:microsoft.com/office/officeart/2005/8/layout/radial6"/>
    <dgm:cxn modelId="{B907B2EE-26F3-4F1A-9E02-51A1C3107EE0}" type="presOf" srcId="{68BFE88A-5846-4F23-BE1B-EC3EB4F29DA4}" destId="{E32FFE8A-DD41-4DAE-A9AA-319E56E25F71}" srcOrd="0" destOrd="0" presId="urn:microsoft.com/office/officeart/2005/8/layout/radial6"/>
    <dgm:cxn modelId="{C93C95F5-91E8-4E55-8F15-070AD17D0443}" type="presParOf" srcId="{4108BBB8-9AEB-4E4A-A5D3-2DEFB9C0806D}" destId="{13F031A5-9C6C-4D90-ADD2-31F0F0AF0B5B}" srcOrd="0" destOrd="0" presId="urn:microsoft.com/office/officeart/2005/8/layout/radial6"/>
    <dgm:cxn modelId="{BE8BADE7-60FB-4942-8C91-9371C269A1AD}" type="presParOf" srcId="{4108BBB8-9AEB-4E4A-A5D3-2DEFB9C0806D}" destId="{80E41724-097A-4202-AEC1-CF7CEAA25E58}" srcOrd="1" destOrd="0" presId="urn:microsoft.com/office/officeart/2005/8/layout/radial6"/>
    <dgm:cxn modelId="{2BB0E0A9-9C4C-495B-B67C-3A427E77D5DA}" type="presParOf" srcId="{4108BBB8-9AEB-4E4A-A5D3-2DEFB9C0806D}" destId="{5F9ED750-87C4-4669-9E04-7CF012D119B6}" srcOrd="2" destOrd="0" presId="urn:microsoft.com/office/officeart/2005/8/layout/radial6"/>
    <dgm:cxn modelId="{1356942B-D79C-4170-BFB8-2E2894D2F2B5}" type="presParOf" srcId="{4108BBB8-9AEB-4E4A-A5D3-2DEFB9C0806D}" destId="{373E625C-55AA-420D-BB8F-71A290ECD882}" srcOrd="3" destOrd="0" presId="urn:microsoft.com/office/officeart/2005/8/layout/radial6"/>
    <dgm:cxn modelId="{9878370E-B73D-4221-9940-E763DF4F299C}" type="presParOf" srcId="{4108BBB8-9AEB-4E4A-A5D3-2DEFB9C0806D}" destId="{3286AEF8-2E2B-49E8-A938-294C04312B4B}" srcOrd="4" destOrd="0" presId="urn:microsoft.com/office/officeart/2005/8/layout/radial6"/>
    <dgm:cxn modelId="{EB86F954-B012-4913-A39F-A0FA93943B62}" type="presParOf" srcId="{4108BBB8-9AEB-4E4A-A5D3-2DEFB9C0806D}" destId="{63534EE8-2348-425D-911E-23CAFCD1217B}" srcOrd="5" destOrd="0" presId="urn:microsoft.com/office/officeart/2005/8/layout/radial6"/>
    <dgm:cxn modelId="{7804FCD8-47A6-44DB-B091-541CD196ABC4}" type="presParOf" srcId="{4108BBB8-9AEB-4E4A-A5D3-2DEFB9C0806D}" destId="{E142862B-D190-4A25-8C92-7315B54E1FD0}" srcOrd="6" destOrd="0" presId="urn:microsoft.com/office/officeart/2005/8/layout/radial6"/>
    <dgm:cxn modelId="{206B6123-2CA0-4AE8-A45C-968426F84DF3}" type="presParOf" srcId="{4108BBB8-9AEB-4E4A-A5D3-2DEFB9C0806D}" destId="{E32FFE8A-DD41-4DAE-A9AA-319E56E25F71}" srcOrd="7" destOrd="0" presId="urn:microsoft.com/office/officeart/2005/8/layout/radial6"/>
    <dgm:cxn modelId="{5B41F87F-8FA0-4A8C-8EC6-07E95994A03F}" type="presParOf" srcId="{4108BBB8-9AEB-4E4A-A5D3-2DEFB9C0806D}" destId="{BF4E161B-D11A-4B32-8745-30B80DAFA652}" srcOrd="8" destOrd="0" presId="urn:microsoft.com/office/officeart/2005/8/layout/radial6"/>
    <dgm:cxn modelId="{997A0F11-243E-4FB9-95D0-E565F5F35D21}" type="presParOf" srcId="{4108BBB8-9AEB-4E4A-A5D3-2DEFB9C0806D}" destId="{2341A623-3CC7-4104-A01C-5F5FE5FFC1A3}" srcOrd="9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8F754DA-24B3-4D26-B6D4-CB5B830A8906}" type="doc">
      <dgm:prSet loTypeId="urn:microsoft.com/office/officeart/2005/8/layout/radial2" loCatId="relationship" qsTypeId="urn:microsoft.com/office/officeart/2005/8/quickstyle/3d5" qsCatId="3D" csTypeId="urn:microsoft.com/office/officeart/2005/8/colors/colorful5" csCatId="colorful" phldr="1"/>
      <dgm:spPr/>
      <dgm:t>
        <a:bodyPr/>
        <a:lstStyle/>
        <a:p>
          <a:endParaRPr lang="fr-FR"/>
        </a:p>
      </dgm:t>
    </dgm:pt>
    <dgm:pt modelId="{BCC2852A-09A5-4D75-9AF1-33F970D786AA}">
      <dgm:prSet phldrT="[Texte]"/>
      <dgm:spPr/>
      <dgm:t>
        <a:bodyPr/>
        <a:lstStyle/>
        <a:p>
          <a:r>
            <a:rPr lang="fr-FR" dirty="0"/>
            <a:t>Taille </a:t>
          </a:r>
        </a:p>
      </dgm:t>
    </dgm:pt>
    <dgm:pt modelId="{44871F20-074B-41D0-A7D3-51A40E46539E}" type="parTrans" cxnId="{E21A2FCF-CECB-4F1A-8A01-CB2167D2875F}">
      <dgm:prSet/>
      <dgm:spPr/>
      <dgm:t>
        <a:bodyPr/>
        <a:lstStyle/>
        <a:p>
          <a:endParaRPr lang="fr-FR"/>
        </a:p>
      </dgm:t>
    </dgm:pt>
    <dgm:pt modelId="{C35B6CCF-A13F-4C7E-BABC-D838F3C61221}" type="sibTrans" cxnId="{E21A2FCF-CECB-4F1A-8A01-CB2167D2875F}">
      <dgm:prSet/>
      <dgm:spPr/>
      <dgm:t>
        <a:bodyPr/>
        <a:lstStyle/>
        <a:p>
          <a:endParaRPr lang="fr-FR"/>
        </a:p>
      </dgm:t>
    </dgm:pt>
    <dgm:pt modelId="{1105141C-B9EC-4EB0-A3CA-5504CF871113}">
      <dgm:prSet phldrT="[Texte]"/>
      <dgm:spPr/>
      <dgm:t>
        <a:bodyPr/>
        <a:lstStyle/>
        <a:p>
          <a:r>
            <a:rPr lang="fr-FR" dirty="0"/>
            <a:t>Valeur ajoutée </a:t>
          </a:r>
        </a:p>
      </dgm:t>
    </dgm:pt>
    <dgm:pt modelId="{CC06003B-7FB8-47CC-BDD3-C7AB6260B71E}" type="parTrans" cxnId="{F9214224-8046-4F07-BEEB-A756C5969AD2}">
      <dgm:prSet/>
      <dgm:spPr/>
      <dgm:t>
        <a:bodyPr/>
        <a:lstStyle/>
        <a:p>
          <a:endParaRPr lang="fr-FR"/>
        </a:p>
      </dgm:t>
    </dgm:pt>
    <dgm:pt modelId="{8563BE89-BA7C-4B40-926A-8C00201CF7C0}" type="sibTrans" cxnId="{F9214224-8046-4F07-BEEB-A756C5969AD2}">
      <dgm:prSet/>
      <dgm:spPr/>
      <dgm:t>
        <a:bodyPr/>
        <a:lstStyle/>
        <a:p>
          <a:endParaRPr lang="fr-FR"/>
        </a:p>
      </dgm:t>
    </dgm:pt>
    <dgm:pt modelId="{69DE59FE-F91D-46E5-95A3-55B47BD46719}" type="pres">
      <dgm:prSet presAssocID="{48F754DA-24B3-4D26-B6D4-CB5B830A8906}" presName="composite" presStyleCnt="0">
        <dgm:presLayoutVars>
          <dgm:chMax val="5"/>
          <dgm:dir/>
          <dgm:animLvl val="ctr"/>
          <dgm:resizeHandles val="exact"/>
        </dgm:presLayoutVars>
      </dgm:prSet>
      <dgm:spPr/>
    </dgm:pt>
    <dgm:pt modelId="{1C934AC9-4665-40CB-9D62-9A283FB38706}" type="pres">
      <dgm:prSet presAssocID="{48F754DA-24B3-4D26-B6D4-CB5B830A8906}" presName="cycle" presStyleCnt="0"/>
      <dgm:spPr/>
    </dgm:pt>
    <dgm:pt modelId="{61423FD7-CA13-4D2B-95CE-877053121759}" type="pres">
      <dgm:prSet presAssocID="{48F754DA-24B3-4D26-B6D4-CB5B830A8906}" presName="centerShape" presStyleCnt="0"/>
      <dgm:spPr/>
    </dgm:pt>
    <dgm:pt modelId="{60B9078D-9B54-4F5B-9748-3FD9349D5927}" type="pres">
      <dgm:prSet presAssocID="{48F754DA-24B3-4D26-B6D4-CB5B830A8906}" presName="connSite" presStyleLbl="node1" presStyleIdx="0" presStyleCnt="3"/>
      <dgm:spPr/>
    </dgm:pt>
    <dgm:pt modelId="{0822A0E9-8548-415D-A5DD-0349DEA025C0}" type="pres">
      <dgm:prSet presAssocID="{48F754DA-24B3-4D26-B6D4-CB5B830A8906}" presName="visible" presStyleLbl="node1" presStyleIdx="0" presStyleCnt="3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F55EDF36-9BBC-404E-9451-07B3A1F0BB19}" type="pres">
      <dgm:prSet presAssocID="{44871F20-074B-41D0-A7D3-51A40E46539E}" presName="Name25" presStyleLbl="parChTrans1D1" presStyleIdx="0" presStyleCnt="2"/>
      <dgm:spPr/>
    </dgm:pt>
    <dgm:pt modelId="{EB2F07C7-A728-463A-90C1-15BC24CB1F39}" type="pres">
      <dgm:prSet presAssocID="{BCC2852A-09A5-4D75-9AF1-33F970D786AA}" presName="node" presStyleCnt="0"/>
      <dgm:spPr/>
    </dgm:pt>
    <dgm:pt modelId="{BEA57021-5D9F-4BDF-8AE1-45BA3A8B28AB}" type="pres">
      <dgm:prSet presAssocID="{BCC2852A-09A5-4D75-9AF1-33F970D786AA}" presName="parentNode" presStyleLbl="node1" presStyleIdx="1" presStyleCnt="3">
        <dgm:presLayoutVars>
          <dgm:chMax val="1"/>
          <dgm:bulletEnabled val="1"/>
        </dgm:presLayoutVars>
      </dgm:prSet>
      <dgm:spPr/>
    </dgm:pt>
    <dgm:pt modelId="{CD992D67-F4D6-4C02-A084-22A3E15393F4}" type="pres">
      <dgm:prSet presAssocID="{BCC2852A-09A5-4D75-9AF1-33F970D786AA}" presName="childNode" presStyleLbl="revTx" presStyleIdx="0" presStyleCnt="0">
        <dgm:presLayoutVars>
          <dgm:bulletEnabled val="1"/>
        </dgm:presLayoutVars>
      </dgm:prSet>
      <dgm:spPr/>
    </dgm:pt>
    <dgm:pt modelId="{033660B6-E003-45FE-AE85-C162C7856723}" type="pres">
      <dgm:prSet presAssocID="{CC06003B-7FB8-47CC-BDD3-C7AB6260B71E}" presName="Name25" presStyleLbl="parChTrans1D1" presStyleIdx="1" presStyleCnt="2"/>
      <dgm:spPr/>
    </dgm:pt>
    <dgm:pt modelId="{EBFFEBC7-C629-4750-9CC0-AE06E298E65E}" type="pres">
      <dgm:prSet presAssocID="{1105141C-B9EC-4EB0-A3CA-5504CF871113}" presName="node" presStyleCnt="0"/>
      <dgm:spPr/>
    </dgm:pt>
    <dgm:pt modelId="{F54ADA31-8EB6-43BC-A80F-DD05F0AEA7B8}" type="pres">
      <dgm:prSet presAssocID="{1105141C-B9EC-4EB0-A3CA-5504CF871113}" presName="parentNode" presStyleLbl="node1" presStyleIdx="2" presStyleCnt="3">
        <dgm:presLayoutVars>
          <dgm:chMax val="1"/>
          <dgm:bulletEnabled val="1"/>
        </dgm:presLayoutVars>
      </dgm:prSet>
      <dgm:spPr/>
    </dgm:pt>
    <dgm:pt modelId="{9B65DEDD-A99D-4405-9D45-8A9A4D632696}" type="pres">
      <dgm:prSet presAssocID="{1105141C-B9EC-4EB0-A3CA-5504CF871113}" presName="childNode" presStyleLbl="revTx" presStyleIdx="0" presStyleCnt="0">
        <dgm:presLayoutVars>
          <dgm:bulletEnabled val="1"/>
        </dgm:presLayoutVars>
      </dgm:prSet>
      <dgm:spPr/>
    </dgm:pt>
  </dgm:ptLst>
  <dgm:cxnLst>
    <dgm:cxn modelId="{F9214224-8046-4F07-BEEB-A756C5969AD2}" srcId="{48F754DA-24B3-4D26-B6D4-CB5B830A8906}" destId="{1105141C-B9EC-4EB0-A3CA-5504CF871113}" srcOrd="1" destOrd="0" parTransId="{CC06003B-7FB8-47CC-BDD3-C7AB6260B71E}" sibTransId="{8563BE89-BA7C-4B40-926A-8C00201CF7C0}"/>
    <dgm:cxn modelId="{6156E129-936B-4B92-884F-EAA84F86D632}" type="presOf" srcId="{44871F20-074B-41D0-A7D3-51A40E46539E}" destId="{F55EDF36-9BBC-404E-9451-07B3A1F0BB19}" srcOrd="0" destOrd="0" presId="urn:microsoft.com/office/officeart/2005/8/layout/radial2"/>
    <dgm:cxn modelId="{81F3122B-315D-4F5E-A2A6-47A6F6EFF0C9}" type="presOf" srcId="{1105141C-B9EC-4EB0-A3CA-5504CF871113}" destId="{F54ADA31-8EB6-43BC-A80F-DD05F0AEA7B8}" srcOrd="0" destOrd="0" presId="urn:microsoft.com/office/officeart/2005/8/layout/radial2"/>
    <dgm:cxn modelId="{4A2C2651-8EA8-457B-B3FD-9A91BAC2E712}" type="presOf" srcId="{48F754DA-24B3-4D26-B6D4-CB5B830A8906}" destId="{69DE59FE-F91D-46E5-95A3-55B47BD46719}" srcOrd="0" destOrd="0" presId="urn:microsoft.com/office/officeart/2005/8/layout/radial2"/>
    <dgm:cxn modelId="{87E4D876-51EC-413F-862D-5F9E6F3E82B0}" type="presOf" srcId="{CC06003B-7FB8-47CC-BDD3-C7AB6260B71E}" destId="{033660B6-E003-45FE-AE85-C162C7856723}" srcOrd="0" destOrd="0" presId="urn:microsoft.com/office/officeart/2005/8/layout/radial2"/>
    <dgm:cxn modelId="{E21A2FCF-CECB-4F1A-8A01-CB2167D2875F}" srcId="{48F754DA-24B3-4D26-B6D4-CB5B830A8906}" destId="{BCC2852A-09A5-4D75-9AF1-33F970D786AA}" srcOrd="0" destOrd="0" parTransId="{44871F20-074B-41D0-A7D3-51A40E46539E}" sibTransId="{C35B6CCF-A13F-4C7E-BABC-D838F3C61221}"/>
    <dgm:cxn modelId="{05BC0ED2-7CCB-4C3D-A579-65F3BBE5E47F}" type="presOf" srcId="{BCC2852A-09A5-4D75-9AF1-33F970D786AA}" destId="{BEA57021-5D9F-4BDF-8AE1-45BA3A8B28AB}" srcOrd="0" destOrd="0" presId="urn:microsoft.com/office/officeart/2005/8/layout/radial2"/>
    <dgm:cxn modelId="{A84B12C7-F889-4388-AFF9-8C05001AA7FD}" type="presParOf" srcId="{69DE59FE-F91D-46E5-95A3-55B47BD46719}" destId="{1C934AC9-4665-40CB-9D62-9A283FB38706}" srcOrd="0" destOrd="0" presId="urn:microsoft.com/office/officeart/2005/8/layout/radial2"/>
    <dgm:cxn modelId="{D82A6E94-C2D4-46D1-B1D1-748ECA0343BB}" type="presParOf" srcId="{1C934AC9-4665-40CB-9D62-9A283FB38706}" destId="{61423FD7-CA13-4D2B-95CE-877053121759}" srcOrd="0" destOrd="0" presId="urn:microsoft.com/office/officeart/2005/8/layout/radial2"/>
    <dgm:cxn modelId="{2A892032-09AA-4134-837F-2B0FBA34C9DC}" type="presParOf" srcId="{61423FD7-CA13-4D2B-95CE-877053121759}" destId="{60B9078D-9B54-4F5B-9748-3FD9349D5927}" srcOrd="0" destOrd="0" presId="urn:microsoft.com/office/officeart/2005/8/layout/radial2"/>
    <dgm:cxn modelId="{138C1339-8118-4A76-9F5F-913DB1D5CE7A}" type="presParOf" srcId="{61423FD7-CA13-4D2B-95CE-877053121759}" destId="{0822A0E9-8548-415D-A5DD-0349DEA025C0}" srcOrd="1" destOrd="0" presId="urn:microsoft.com/office/officeart/2005/8/layout/radial2"/>
    <dgm:cxn modelId="{21D526D5-EC39-4DEE-964F-575357DF9488}" type="presParOf" srcId="{1C934AC9-4665-40CB-9D62-9A283FB38706}" destId="{F55EDF36-9BBC-404E-9451-07B3A1F0BB19}" srcOrd="1" destOrd="0" presId="urn:microsoft.com/office/officeart/2005/8/layout/radial2"/>
    <dgm:cxn modelId="{CD72C6E1-D5CC-4FDE-B469-00EA3770E630}" type="presParOf" srcId="{1C934AC9-4665-40CB-9D62-9A283FB38706}" destId="{EB2F07C7-A728-463A-90C1-15BC24CB1F39}" srcOrd="2" destOrd="0" presId="urn:microsoft.com/office/officeart/2005/8/layout/radial2"/>
    <dgm:cxn modelId="{1D3D63D4-37F4-4A05-BC57-22189262F349}" type="presParOf" srcId="{EB2F07C7-A728-463A-90C1-15BC24CB1F39}" destId="{BEA57021-5D9F-4BDF-8AE1-45BA3A8B28AB}" srcOrd="0" destOrd="0" presId="urn:microsoft.com/office/officeart/2005/8/layout/radial2"/>
    <dgm:cxn modelId="{845E01F7-8ACC-4D52-A550-AFA729AF0831}" type="presParOf" srcId="{EB2F07C7-A728-463A-90C1-15BC24CB1F39}" destId="{CD992D67-F4D6-4C02-A084-22A3E15393F4}" srcOrd="1" destOrd="0" presId="urn:microsoft.com/office/officeart/2005/8/layout/radial2"/>
    <dgm:cxn modelId="{C36406A7-12F0-4C14-913A-C2A622473712}" type="presParOf" srcId="{1C934AC9-4665-40CB-9D62-9A283FB38706}" destId="{033660B6-E003-45FE-AE85-C162C7856723}" srcOrd="3" destOrd="0" presId="urn:microsoft.com/office/officeart/2005/8/layout/radial2"/>
    <dgm:cxn modelId="{DA16561E-E5F4-453F-89C8-BF99A979B910}" type="presParOf" srcId="{1C934AC9-4665-40CB-9D62-9A283FB38706}" destId="{EBFFEBC7-C629-4750-9CC0-AE06E298E65E}" srcOrd="4" destOrd="0" presId="urn:microsoft.com/office/officeart/2005/8/layout/radial2"/>
    <dgm:cxn modelId="{D6821ECE-4A8A-476B-A837-CF1965089B41}" type="presParOf" srcId="{EBFFEBC7-C629-4750-9CC0-AE06E298E65E}" destId="{F54ADA31-8EB6-43BC-A80F-DD05F0AEA7B8}" srcOrd="0" destOrd="0" presId="urn:microsoft.com/office/officeart/2005/8/layout/radial2"/>
    <dgm:cxn modelId="{6260FEDA-637C-4171-AF16-D73D48402E4E}" type="presParOf" srcId="{EBFFEBC7-C629-4750-9CC0-AE06E298E65E}" destId="{9B65DEDD-A99D-4405-9D45-8A9A4D632696}" srcOrd="1" destOrd="0" presId="urn:microsoft.com/office/officeart/2005/8/layout/radial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87CE3E4-6352-41DE-8AA2-9AE9FF26DC16}" type="doc">
      <dgm:prSet loTypeId="urn:microsoft.com/office/officeart/2005/8/layout/arrow2" loCatId="process" qsTypeId="urn:microsoft.com/office/officeart/2005/8/quickstyle/3d9" qsCatId="3D" csTypeId="urn:microsoft.com/office/officeart/2005/8/colors/colorful5" csCatId="colorful" phldr="1"/>
      <dgm:spPr/>
    </dgm:pt>
    <dgm:pt modelId="{102717E5-DEF5-422A-A523-CFD7D4EEC3B1}">
      <dgm:prSet phldrT="[Texte]" custT="1"/>
      <dgm:spPr/>
      <dgm:t>
        <a:bodyPr/>
        <a:lstStyle/>
        <a:p>
          <a:endParaRPr lang="fr-FR" sz="1800" dirty="0"/>
        </a:p>
      </dgm:t>
    </dgm:pt>
    <dgm:pt modelId="{4E52DEC4-1B50-4348-9444-EE5CD3463680}" type="parTrans" cxnId="{322AF30E-7F71-4541-9C64-5C2A083D1A93}">
      <dgm:prSet/>
      <dgm:spPr/>
      <dgm:t>
        <a:bodyPr/>
        <a:lstStyle/>
        <a:p>
          <a:endParaRPr lang="fr-FR"/>
        </a:p>
      </dgm:t>
    </dgm:pt>
    <dgm:pt modelId="{F6C1A9CC-79EA-494A-A0B6-5638D490B0DA}" type="sibTrans" cxnId="{322AF30E-7F71-4541-9C64-5C2A083D1A93}">
      <dgm:prSet/>
      <dgm:spPr/>
      <dgm:t>
        <a:bodyPr/>
        <a:lstStyle/>
        <a:p>
          <a:endParaRPr lang="fr-FR"/>
        </a:p>
      </dgm:t>
    </dgm:pt>
    <dgm:pt modelId="{08597685-DF02-4D7F-A8C1-6B584E7297E5}">
      <dgm:prSet phldrT="[Texte]" phldr="1"/>
      <dgm:spPr/>
      <dgm:t>
        <a:bodyPr/>
        <a:lstStyle/>
        <a:p>
          <a:endParaRPr lang="fr-FR" dirty="0"/>
        </a:p>
      </dgm:t>
    </dgm:pt>
    <dgm:pt modelId="{C7880253-BDAD-4911-A183-176D78CF5FF0}" type="parTrans" cxnId="{AA007215-2D02-4862-B27C-CDD8CB9D1853}">
      <dgm:prSet/>
      <dgm:spPr/>
      <dgm:t>
        <a:bodyPr/>
        <a:lstStyle/>
        <a:p>
          <a:endParaRPr lang="fr-FR"/>
        </a:p>
      </dgm:t>
    </dgm:pt>
    <dgm:pt modelId="{986CC53D-9E7B-4A0B-B648-DDB5071E9C05}" type="sibTrans" cxnId="{AA007215-2D02-4862-B27C-CDD8CB9D1853}">
      <dgm:prSet/>
      <dgm:spPr/>
      <dgm:t>
        <a:bodyPr/>
        <a:lstStyle/>
        <a:p>
          <a:endParaRPr lang="fr-FR"/>
        </a:p>
      </dgm:t>
    </dgm:pt>
    <dgm:pt modelId="{AEE5FE5C-2A45-4542-939C-9505FA277EDF}">
      <dgm:prSet phldrT="[Texte]" phldr="1"/>
      <dgm:spPr/>
      <dgm:t>
        <a:bodyPr/>
        <a:lstStyle/>
        <a:p>
          <a:endParaRPr lang="fr-FR" dirty="0"/>
        </a:p>
      </dgm:t>
    </dgm:pt>
    <dgm:pt modelId="{ACA61C25-836B-469C-8C6C-55255CC73BDD}" type="parTrans" cxnId="{E44D41F4-1DDA-4473-8672-EACD5957DE42}">
      <dgm:prSet/>
      <dgm:spPr/>
      <dgm:t>
        <a:bodyPr/>
        <a:lstStyle/>
        <a:p>
          <a:endParaRPr lang="fr-FR"/>
        </a:p>
      </dgm:t>
    </dgm:pt>
    <dgm:pt modelId="{35E69981-8845-4500-B807-A64E2765BBF8}" type="sibTrans" cxnId="{E44D41F4-1DDA-4473-8672-EACD5957DE42}">
      <dgm:prSet/>
      <dgm:spPr/>
      <dgm:t>
        <a:bodyPr/>
        <a:lstStyle/>
        <a:p>
          <a:endParaRPr lang="fr-FR"/>
        </a:p>
      </dgm:t>
    </dgm:pt>
    <dgm:pt modelId="{434F21BD-036F-4DC2-BFBB-37D1D89E2280}">
      <dgm:prSet/>
      <dgm:spPr/>
      <dgm:t>
        <a:bodyPr/>
        <a:lstStyle/>
        <a:p>
          <a:endParaRPr lang="fr-FR" dirty="0"/>
        </a:p>
      </dgm:t>
    </dgm:pt>
    <dgm:pt modelId="{253BDCC4-700D-4883-9857-D0563C36D6DC}" type="parTrans" cxnId="{34CF9EAC-2783-434D-A3E5-7FA53CCA6B65}">
      <dgm:prSet/>
      <dgm:spPr/>
      <dgm:t>
        <a:bodyPr/>
        <a:lstStyle/>
        <a:p>
          <a:endParaRPr lang="fr-FR"/>
        </a:p>
      </dgm:t>
    </dgm:pt>
    <dgm:pt modelId="{09FF51A8-599B-412B-AF5E-E5AB018E68B9}" type="sibTrans" cxnId="{34CF9EAC-2783-434D-A3E5-7FA53CCA6B65}">
      <dgm:prSet/>
      <dgm:spPr/>
      <dgm:t>
        <a:bodyPr/>
        <a:lstStyle/>
        <a:p>
          <a:endParaRPr lang="fr-FR"/>
        </a:p>
      </dgm:t>
    </dgm:pt>
    <dgm:pt modelId="{114C8998-8183-4541-9DA1-F5C322EF67CF}">
      <dgm:prSet/>
      <dgm:spPr/>
      <dgm:t>
        <a:bodyPr/>
        <a:lstStyle/>
        <a:p>
          <a:endParaRPr lang="fr-FR" dirty="0"/>
        </a:p>
      </dgm:t>
    </dgm:pt>
    <dgm:pt modelId="{AFA905C9-FBBD-4CF4-B0A0-C2251626C279}" type="parTrans" cxnId="{6D7D77D0-7038-4AEC-8E47-EDC2D6368C39}">
      <dgm:prSet/>
      <dgm:spPr/>
      <dgm:t>
        <a:bodyPr/>
        <a:lstStyle/>
        <a:p>
          <a:endParaRPr lang="fr-FR"/>
        </a:p>
      </dgm:t>
    </dgm:pt>
    <dgm:pt modelId="{A409E5C9-15C4-46C3-99F0-D951DB767C98}" type="sibTrans" cxnId="{6D7D77D0-7038-4AEC-8E47-EDC2D6368C39}">
      <dgm:prSet/>
      <dgm:spPr/>
      <dgm:t>
        <a:bodyPr/>
        <a:lstStyle/>
        <a:p>
          <a:endParaRPr lang="fr-FR"/>
        </a:p>
      </dgm:t>
    </dgm:pt>
    <dgm:pt modelId="{3DA29D97-72D8-420A-BA3D-1E0C947224C4}" type="pres">
      <dgm:prSet presAssocID="{C87CE3E4-6352-41DE-8AA2-9AE9FF26DC16}" presName="arrowDiagram" presStyleCnt="0">
        <dgm:presLayoutVars>
          <dgm:chMax val="5"/>
          <dgm:dir val="rev"/>
          <dgm:resizeHandles val="exact"/>
        </dgm:presLayoutVars>
      </dgm:prSet>
      <dgm:spPr/>
    </dgm:pt>
    <dgm:pt modelId="{8250FC4B-75B8-4CD6-8392-3CA90776067C}" type="pres">
      <dgm:prSet presAssocID="{C87CE3E4-6352-41DE-8AA2-9AE9FF26DC16}" presName="arrow" presStyleLbl="bgShp" presStyleIdx="0" presStyleCnt="1"/>
      <dgm:spPr/>
    </dgm:pt>
    <dgm:pt modelId="{824B1C9F-E7FB-4660-AED5-241076B930AE}" type="pres">
      <dgm:prSet presAssocID="{C87CE3E4-6352-41DE-8AA2-9AE9FF26DC16}" presName="arrowDiagram5" presStyleCnt="0"/>
      <dgm:spPr/>
    </dgm:pt>
    <dgm:pt modelId="{D85AED6B-4D23-4990-972C-5D383CB41137}" type="pres">
      <dgm:prSet presAssocID="{102717E5-DEF5-422A-A523-CFD7D4EEC3B1}" presName="bullet5a" presStyleLbl="node1" presStyleIdx="0" presStyleCnt="5"/>
      <dgm:spPr/>
    </dgm:pt>
    <dgm:pt modelId="{0C4DBF0E-2F05-4AE0-A211-F589ED472161}" type="pres">
      <dgm:prSet presAssocID="{102717E5-DEF5-422A-A523-CFD7D4EEC3B1}" presName="textBox5a" presStyleLbl="revTx" presStyleIdx="0" presStyleCnt="5">
        <dgm:presLayoutVars>
          <dgm:bulletEnabled val="1"/>
        </dgm:presLayoutVars>
      </dgm:prSet>
      <dgm:spPr/>
    </dgm:pt>
    <dgm:pt modelId="{3C414643-19B7-43A3-8C4F-E0FC8B9B548B}" type="pres">
      <dgm:prSet presAssocID="{08597685-DF02-4D7F-A8C1-6B584E7297E5}" presName="bullet5b" presStyleLbl="node1" presStyleIdx="1" presStyleCnt="5"/>
      <dgm:spPr/>
    </dgm:pt>
    <dgm:pt modelId="{FACF6578-DF4D-4086-90BE-A87789FDBD2D}" type="pres">
      <dgm:prSet presAssocID="{08597685-DF02-4D7F-A8C1-6B584E7297E5}" presName="textBox5b" presStyleLbl="revTx" presStyleIdx="1" presStyleCnt="5">
        <dgm:presLayoutVars>
          <dgm:bulletEnabled val="1"/>
        </dgm:presLayoutVars>
      </dgm:prSet>
      <dgm:spPr/>
    </dgm:pt>
    <dgm:pt modelId="{0E428360-E3F7-4091-85F7-A133F631400E}" type="pres">
      <dgm:prSet presAssocID="{AEE5FE5C-2A45-4542-939C-9505FA277EDF}" presName="bullet5c" presStyleLbl="node1" presStyleIdx="2" presStyleCnt="5"/>
      <dgm:spPr/>
    </dgm:pt>
    <dgm:pt modelId="{D19EC8DB-A21C-489F-B773-F4F8BAFBCA3B}" type="pres">
      <dgm:prSet presAssocID="{AEE5FE5C-2A45-4542-939C-9505FA277EDF}" presName="textBox5c" presStyleLbl="revTx" presStyleIdx="2" presStyleCnt="5">
        <dgm:presLayoutVars>
          <dgm:bulletEnabled val="1"/>
        </dgm:presLayoutVars>
      </dgm:prSet>
      <dgm:spPr/>
    </dgm:pt>
    <dgm:pt modelId="{C005A519-C89F-440F-9B66-A50A95760DB3}" type="pres">
      <dgm:prSet presAssocID="{434F21BD-036F-4DC2-BFBB-37D1D89E2280}" presName="bullet5d" presStyleLbl="node1" presStyleIdx="3" presStyleCnt="5"/>
      <dgm:spPr/>
    </dgm:pt>
    <dgm:pt modelId="{6B73AC03-D095-4215-806B-4CB75285E8D3}" type="pres">
      <dgm:prSet presAssocID="{434F21BD-036F-4DC2-BFBB-37D1D89E2280}" presName="textBox5d" presStyleLbl="revTx" presStyleIdx="3" presStyleCnt="5">
        <dgm:presLayoutVars>
          <dgm:bulletEnabled val="1"/>
        </dgm:presLayoutVars>
      </dgm:prSet>
      <dgm:spPr/>
    </dgm:pt>
    <dgm:pt modelId="{3FA826AE-1CD5-4C61-910E-D108CDC17E6B}" type="pres">
      <dgm:prSet presAssocID="{114C8998-8183-4541-9DA1-F5C322EF67CF}" presName="bullet5e" presStyleLbl="node1" presStyleIdx="4" presStyleCnt="5"/>
      <dgm:spPr/>
    </dgm:pt>
    <dgm:pt modelId="{3A539409-E392-4EA1-9E22-6A016952E2F4}" type="pres">
      <dgm:prSet presAssocID="{114C8998-8183-4541-9DA1-F5C322EF67CF}" presName="textBox5e" presStyleLbl="revTx" presStyleIdx="4" presStyleCnt="5">
        <dgm:presLayoutVars>
          <dgm:bulletEnabled val="1"/>
        </dgm:presLayoutVars>
      </dgm:prSet>
      <dgm:spPr/>
    </dgm:pt>
  </dgm:ptLst>
  <dgm:cxnLst>
    <dgm:cxn modelId="{322AF30E-7F71-4541-9C64-5C2A083D1A93}" srcId="{C87CE3E4-6352-41DE-8AA2-9AE9FF26DC16}" destId="{102717E5-DEF5-422A-A523-CFD7D4EEC3B1}" srcOrd="0" destOrd="0" parTransId="{4E52DEC4-1B50-4348-9444-EE5CD3463680}" sibTransId="{F6C1A9CC-79EA-494A-A0B6-5638D490B0DA}"/>
    <dgm:cxn modelId="{C206A213-C5AB-41AF-A4BA-5229B9421C10}" type="presOf" srcId="{434F21BD-036F-4DC2-BFBB-37D1D89E2280}" destId="{6B73AC03-D095-4215-806B-4CB75285E8D3}" srcOrd="0" destOrd="0" presId="urn:microsoft.com/office/officeart/2005/8/layout/arrow2"/>
    <dgm:cxn modelId="{AA007215-2D02-4862-B27C-CDD8CB9D1853}" srcId="{C87CE3E4-6352-41DE-8AA2-9AE9FF26DC16}" destId="{08597685-DF02-4D7F-A8C1-6B584E7297E5}" srcOrd="1" destOrd="0" parTransId="{C7880253-BDAD-4911-A183-176D78CF5FF0}" sibTransId="{986CC53D-9E7B-4A0B-B648-DDB5071E9C05}"/>
    <dgm:cxn modelId="{3AD7D51C-C9BE-428D-9D43-A0F5E5D98F4F}" type="presOf" srcId="{AEE5FE5C-2A45-4542-939C-9505FA277EDF}" destId="{D19EC8DB-A21C-489F-B773-F4F8BAFBCA3B}" srcOrd="0" destOrd="0" presId="urn:microsoft.com/office/officeart/2005/8/layout/arrow2"/>
    <dgm:cxn modelId="{6BC2D23D-CD21-4FBF-AABE-2F3A6C8FFED2}" type="presOf" srcId="{08597685-DF02-4D7F-A8C1-6B584E7297E5}" destId="{FACF6578-DF4D-4086-90BE-A87789FDBD2D}" srcOrd="0" destOrd="0" presId="urn:microsoft.com/office/officeart/2005/8/layout/arrow2"/>
    <dgm:cxn modelId="{D39A2988-7BE5-49D3-A7FE-D179E790A181}" type="presOf" srcId="{114C8998-8183-4541-9DA1-F5C322EF67CF}" destId="{3A539409-E392-4EA1-9E22-6A016952E2F4}" srcOrd="0" destOrd="0" presId="urn:microsoft.com/office/officeart/2005/8/layout/arrow2"/>
    <dgm:cxn modelId="{34CF9EAC-2783-434D-A3E5-7FA53CCA6B65}" srcId="{C87CE3E4-6352-41DE-8AA2-9AE9FF26DC16}" destId="{434F21BD-036F-4DC2-BFBB-37D1D89E2280}" srcOrd="3" destOrd="0" parTransId="{253BDCC4-700D-4883-9857-D0563C36D6DC}" sibTransId="{09FF51A8-599B-412B-AF5E-E5AB018E68B9}"/>
    <dgm:cxn modelId="{6D7D77D0-7038-4AEC-8E47-EDC2D6368C39}" srcId="{C87CE3E4-6352-41DE-8AA2-9AE9FF26DC16}" destId="{114C8998-8183-4541-9DA1-F5C322EF67CF}" srcOrd="4" destOrd="0" parTransId="{AFA905C9-FBBD-4CF4-B0A0-C2251626C279}" sibTransId="{A409E5C9-15C4-46C3-99F0-D951DB767C98}"/>
    <dgm:cxn modelId="{748C89DB-3405-4A5B-8AEE-6A9A25D8F2E6}" type="presOf" srcId="{C87CE3E4-6352-41DE-8AA2-9AE9FF26DC16}" destId="{3DA29D97-72D8-420A-BA3D-1E0C947224C4}" srcOrd="0" destOrd="0" presId="urn:microsoft.com/office/officeart/2005/8/layout/arrow2"/>
    <dgm:cxn modelId="{1C0A2AE3-5FB6-4758-94E7-FD23CBECD7C3}" type="presOf" srcId="{102717E5-DEF5-422A-A523-CFD7D4EEC3B1}" destId="{0C4DBF0E-2F05-4AE0-A211-F589ED472161}" srcOrd="0" destOrd="0" presId="urn:microsoft.com/office/officeart/2005/8/layout/arrow2"/>
    <dgm:cxn modelId="{E44D41F4-1DDA-4473-8672-EACD5957DE42}" srcId="{C87CE3E4-6352-41DE-8AA2-9AE9FF26DC16}" destId="{AEE5FE5C-2A45-4542-939C-9505FA277EDF}" srcOrd="2" destOrd="0" parTransId="{ACA61C25-836B-469C-8C6C-55255CC73BDD}" sibTransId="{35E69981-8845-4500-B807-A64E2765BBF8}"/>
    <dgm:cxn modelId="{D19839FA-BF7C-4B16-9A2A-2272C4C1BE36}" type="presParOf" srcId="{3DA29D97-72D8-420A-BA3D-1E0C947224C4}" destId="{8250FC4B-75B8-4CD6-8392-3CA90776067C}" srcOrd="0" destOrd="0" presId="urn:microsoft.com/office/officeart/2005/8/layout/arrow2"/>
    <dgm:cxn modelId="{D549A6D2-964B-41FB-9EEB-E7A3EE4FB901}" type="presParOf" srcId="{3DA29D97-72D8-420A-BA3D-1E0C947224C4}" destId="{824B1C9F-E7FB-4660-AED5-241076B930AE}" srcOrd="1" destOrd="0" presId="urn:microsoft.com/office/officeart/2005/8/layout/arrow2"/>
    <dgm:cxn modelId="{0CCEA254-3B6A-4605-9069-697874C9E0C5}" type="presParOf" srcId="{824B1C9F-E7FB-4660-AED5-241076B930AE}" destId="{D85AED6B-4D23-4990-972C-5D383CB41137}" srcOrd="0" destOrd="0" presId="urn:microsoft.com/office/officeart/2005/8/layout/arrow2"/>
    <dgm:cxn modelId="{10AF83BE-7758-44F4-8CD3-1E1817D287DC}" type="presParOf" srcId="{824B1C9F-E7FB-4660-AED5-241076B930AE}" destId="{0C4DBF0E-2F05-4AE0-A211-F589ED472161}" srcOrd="1" destOrd="0" presId="urn:microsoft.com/office/officeart/2005/8/layout/arrow2"/>
    <dgm:cxn modelId="{094CCEBD-3086-41DF-BB3C-74F2766F8FB8}" type="presParOf" srcId="{824B1C9F-E7FB-4660-AED5-241076B930AE}" destId="{3C414643-19B7-43A3-8C4F-E0FC8B9B548B}" srcOrd="2" destOrd="0" presId="urn:microsoft.com/office/officeart/2005/8/layout/arrow2"/>
    <dgm:cxn modelId="{B85D35CA-2F55-47CF-868C-069CCAD4C5FA}" type="presParOf" srcId="{824B1C9F-E7FB-4660-AED5-241076B930AE}" destId="{FACF6578-DF4D-4086-90BE-A87789FDBD2D}" srcOrd="3" destOrd="0" presId="urn:microsoft.com/office/officeart/2005/8/layout/arrow2"/>
    <dgm:cxn modelId="{119DE237-A030-4EE7-9669-82E31056526F}" type="presParOf" srcId="{824B1C9F-E7FB-4660-AED5-241076B930AE}" destId="{0E428360-E3F7-4091-85F7-A133F631400E}" srcOrd="4" destOrd="0" presId="urn:microsoft.com/office/officeart/2005/8/layout/arrow2"/>
    <dgm:cxn modelId="{03C5CC78-CF3E-4500-B9B6-349AC58967C1}" type="presParOf" srcId="{824B1C9F-E7FB-4660-AED5-241076B930AE}" destId="{D19EC8DB-A21C-489F-B773-F4F8BAFBCA3B}" srcOrd="5" destOrd="0" presId="urn:microsoft.com/office/officeart/2005/8/layout/arrow2"/>
    <dgm:cxn modelId="{FCEE84FF-2200-4CF1-83DB-C8B4A9E63563}" type="presParOf" srcId="{824B1C9F-E7FB-4660-AED5-241076B930AE}" destId="{C005A519-C89F-440F-9B66-A50A95760DB3}" srcOrd="6" destOrd="0" presId="urn:microsoft.com/office/officeart/2005/8/layout/arrow2"/>
    <dgm:cxn modelId="{94BCF38D-C8E6-4525-AA43-93C81241E6A3}" type="presParOf" srcId="{824B1C9F-E7FB-4660-AED5-241076B930AE}" destId="{6B73AC03-D095-4215-806B-4CB75285E8D3}" srcOrd="7" destOrd="0" presId="urn:microsoft.com/office/officeart/2005/8/layout/arrow2"/>
    <dgm:cxn modelId="{29B7D4AD-4B2A-469B-A532-D07E2C30B5A6}" type="presParOf" srcId="{824B1C9F-E7FB-4660-AED5-241076B930AE}" destId="{3FA826AE-1CD5-4C61-910E-D108CDC17E6B}" srcOrd="8" destOrd="0" presId="urn:microsoft.com/office/officeart/2005/8/layout/arrow2"/>
    <dgm:cxn modelId="{CABD0A70-960F-4E27-BC34-28232514D9FF}" type="presParOf" srcId="{824B1C9F-E7FB-4660-AED5-241076B930AE}" destId="{3A539409-E392-4EA1-9E22-6A016952E2F4}" srcOrd="9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0C931CE-C51F-408A-8D6B-A8DE1AA8D9AF}" type="doc">
      <dgm:prSet loTypeId="urn:microsoft.com/office/officeart/2005/8/layout/lProcess2" loCatId="relationship" qsTypeId="urn:microsoft.com/office/officeart/2005/8/quickstyle/simple3" qsCatId="simple" csTypeId="urn:microsoft.com/office/officeart/2005/8/colors/colorful1#1" csCatId="colorful" phldr="1"/>
      <dgm:spPr/>
      <dgm:t>
        <a:bodyPr/>
        <a:lstStyle/>
        <a:p>
          <a:endParaRPr lang="fr-FR"/>
        </a:p>
      </dgm:t>
    </dgm:pt>
    <dgm:pt modelId="{5A5EB159-E68F-4BEE-87C3-AFA159A1F0D5}">
      <dgm:prSet phldrT="[Texte]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fr-FR" dirty="0"/>
            <a:t>CA</a:t>
          </a:r>
        </a:p>
      </dgm:t>
    </dgm:pt>
    <dgm:pt modelId="{93C77144-1A81-4C35-AEAB-981C0B44530F}" type="parTrans" cxnId="{D66313EE-073C-4B1D-8A98-82B9EEE5AE0B}">
      <dgm:prSet/>
      <dgm:spPr/>
      <dgm:t>
        <a:bodyPr/>
        <a:lstStyle/>
        <a:p>
          <a:endParaRPr lang="fr-FR"/>
        </a:p>
      </dgm:t>
    </dgm:pt>
    <dgm:pt modelId="{9EFE2362-44D1-4FD0-823D-A615D3297D5E}" type="sibTrans" cxnId="{D66313EE-073C-4B1D-8A98-82B9EEE5AE0B}">
      <dgm:prSet/>
      <dgm:spPr/>
      <dgm:t>
        <a:bodyPr/>
        <a:lstStyle/>
        <a:p>
          <a:endParaRPr lang="fr-FR"/>
        </a:p>
      </dgm:t>
    </dgm:pt>
    <dgm:pt modelId="{4E1A07CE-B161-47A5-ACC8-AA8ADE8799F8}">
      <dgm:prSet phldrT="[Texte]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fr-FR" dirty="0"/>
            <a:t>Le résultat de l’entreprise  </a:t>
          </a:r>
        </a:p>
      </dgm:t>
    </dgm:pt>
    <dgm:pt modelId="{08B6900A-BF4B-409A-8242-258BAEC9459F}" type="parTrans" cxnId="{0845E39B-16BB-4795-9D1B-4D68389E158B}">
      <dgm:prSet/>
      <dgm:spPr/>
      <dgm:t>
        <a:bodyPr/>
        <a:lstStyle/>
        <a:p>
          <a:endParaRPr lang="fr-FR"/>
        </a:p>
      </dgm:t>
    </dgm:pt>
    <dgm:pt modelId="{60B0367D-1319-4A5A-BBC8-693DFC4B3765}" type="sibTrans" cxnId="{0845E39B-16BB-4795-9D1B-4D68389E158B}">
      <dgm:prSet/>
      <dgm:spPr/>
      <dgm:t>
        <a:bodyPr/>
        <a:lstStyle/>
        <a:p>
          <a:endParaRPr lang="fr-FR"/>
        </a:p>
      </dgm:t>
    </dgm:pt>
    <dgm:pt modelId="{ABE779D0-0A53-4366-A96D-4B379AC58454}">
      <dgm:prSet phldrT="[Texte]" custT="1"/>
      <dgm:spPr/>
      <dgm:t>
        <a:bodyPr/>
        <a:lstStyle/>
        <a:p>
          <a:r>
            <a:rPr lang="fr-FR" sz="2400" b="1" dirty="0"/>
            <a:t>Il traduit la performance de l’entreprise </a:t>
          </a:r>
        </a:p>
      </dgm:t>
    </dgm:pt>
    <dgm:pt modelId="{25EECECA-1945-47C4-BF06-630E32E134B1}" type="parTrans" cxnId="{D159C681-394E-4089-B566-35E697A1BEC3}">
      <dgm:prSet/>
      <dgm:spPr/>
      <dgm:t>
        <a:bodyPr/>
        <a:lstStyle/>
        <a:p>
          <a:endParaRPr lang="fr-FR"/>
        </a:p>
      </dgm:t>
    </dgm:pt>
    <dgm:pt modelId="{3D0A2A36-2DB5-453D-9E55-81639A29B681}" type="sibTrans" cxnId="{D159C681-394E-4089-B566-35E697A1BEC3}">
      <dgm:prSet/>
      <dgm:spPr/>
      <dgm:t>
        <a:bodyPr/>
        <a:lstStyle/>
        <a:p>
          <a:endParaRPr lang="fr-FR"/>
        </a:p>
      </dgm:t>
    </dgm:pt>
    <dgm:pt modelId="{824CE9C1-70D2-48A0-A6ED-6EEECFEEACEC}">
      <dgm:prSet custT="1"/>
      <dgm:spPr/>
      <dgm:t>
        <a:bodyPr/>
        <a:lstStyle/>
        <a:p>
          <a:r>
            <a:rPr lang="fr-FR" sz="2000" b="1" spc="-5" dirty="0">
              <a:latin typeface="Trebuchet MS"/>
              <a:cs typeface="Trebuchet MS"/>
            </a:rPr>
            <a:t>Permet </a:t>
          </a:r>
          <a:r>
            <a:rPr lang="fr-FR" sz="2000" b="1" spc="-10" dirty="0">
              <a:latin typeface="Trebuchet MS"/>
              <a:cs typeface="Trebuchet MS"/>
            </a:rPr>
            <a:t>par la comparaison  </a:t>
          </a:r>
          <a:r>
            <a:rPr lang="fr-FR" sz="2000" b="1" spc="-5" dirty="0">
              <a:latin typeface="Trebuchet MS"/>
              <a:cs typeface="Trebuchet MS"/>
            </a:rPr>
            <a:t>avec ses concurrents, de </a:t>
          </a:r>
          <a:r>
            <a:rPr lang="fr-FR" sz="2000" b="1" spc="-10" dirty="0">
              <a:latin typeface="Trebuchet MS"/>
              <a:cs typeface="Trebuchet MS"/>
            </a:rPr>
            <a:t>mesurer </a:t>
          </a:r>
          <a:r>
            <a:rPr lang="fr-FR" sz="2000" b="1" spc="-5" dirty="0">
              <a:latin typeface="Trebuchet MS"/>
              <a:cs typeface="Trebuchet MS"/>
            </a:rPr>
            <a:t>la part du  marché de</a:t>
          </a:r>
          <a:r>
            <a:rPr lang="fr-FR" sz="2000" b="1" spc="-45" dirty="0">
              <a:latin typeface="Trebuchet MS"/>
              <a:cs typeface="Trebuchet MS"/>
            </a:rPr>
            <a:t> </a:t>
          </a:r>
          <a:r>
            <a:rPr lang="fr-FR" sz="2000" b="1" spc="-5" dirty="0">
              <a:latin typeface="Trebuchet MS"/>
              <a:cs typeface="Trebuchet MS"/>
            </a:rPr>
            <a:t>l’entreprise</a:t>
          </a:r>
          <a:endParaRPr lang="fr-FR" sz="2000" b="1" dirty="0">
            <a:latin typeface="Trebuchet MS"/>
            <a:cs typeface="Trebuchet MS"/>
          </a:endParaRPr>
        </a:p>
      </dgm:t>
    </dgm:pt>
    <dgm:pt modelId="{204759F8-E896-4066-BA66-B55E240C08D1}" type="parTrans" cxnId="{1E5EBB74-8A96-490F-A486-F17FB51755CD}">
      <dgm:prSet/>
      <dgm:spPr/>
      <dgm:t>
        <a:bodyPr/>
        <a:lstStyle/>
        <a:p>
          <a:endParaRPr lang="fr-FR"/>
        </a:p>
      </dgm:t>
    </dgm:pt>
    <dgm:pt modelId="{2D756836-DFE2-4BE6-8208-DA3642BF9EA9}" type="sibTrans" cxnId="{1E5EBB74-8A96-490F-A486-F17FB51755CD}">
      <dgm:prSet/>
      <dgm:spPr/>
      <dgm:t>
        <a:bodyPr/>
        <a:lstStyle/>
        <a:p>
          <a:endParaRPr lang="fr-FR"/>
        </a:p>
      </dgm:t>
    </dgm:pt>
    <dgm:pt modelId="{1E62DA95-17AF-4DD1-ADC3-CD67191D7230}" type="pres">
      <dgm:prSet presAssocID="{60C931CE-C51F-408A-8D6B-A8DE1AA8D9AF}" presName="theList" presStyleCnt="0">
        <dgm:presLayoutVars>
          <dgm:dir/>
          <dgm:animLvl val="lvl"/>
          <dgm:resizeHandles val="exact"/>
        </dgm:presLayoutVars>
      </dgm:prSet>
      <dgm:spPr/>
    </dgm:pt>
    <dgm:pt modelId="{B64A39F4-BA80-4736-BF94-530C51BF532D}" type="pres">
      <dgm:prSet presAssocID="{5A5EB159-E68F-4BEE-87C3-AFA159A1F0D5}" presName="compNode" presStyleCnt="0"/>
      <dgm:spPr/>
    </dgm:pt>
    <dgm:pt modelId="{206E3414-1D38-4E81-949D-B7F5F7792980}" type="pres">
      <dgm:prSet presAssocID="{5A5EB159-E68F-4BEE-87C3-AFA159A1F0D5}" presName="aNode" presStyleLbl="bgShp" presStyleIdx="0" presStyleCnt="2"/>
      <dgm:spPr/>
    </dgm:pt>
    <dgm:pt modelId="{2311E341-F6A4-4229-8303-D45B1AF2DE36}" type="pres">
      <dgm:prSet presAssocID="{5A5EB159-E68F-4BEE-87C3-AFA159A1F0D5}" presName="textNode" presStyleLbl="bgShp" presStyleIdx="0" presStyleCnt="2"/>
      <dgm:spPr/>
    </dgm:pt>
    <dgm:pt modelId="{97D80239-BEC6-436F-A447-E13A872031DB}" type="pres">
      <dgm:prSet presAssocID="{5A5EB159-E68F-4BEE-87C3-AFA159A1F0D5}" presName="compChildNode" presStyleCnt="0"/>
      <dgm:spPr/>
    </dgm:pt>
    <dgm:pt modelId="{8808BC39-5D98-4F3D-98E8-7C1E426832F2}" type="pres">
      <dgm:prSet presAssocID="{5A5EB159-E68F-4BEE-87C3-AFA159A1F0D5}" presName="theInnerList" presStyleCnt="0"/>
      <dgm:spPr/>
    </dgm:pt>
    <dgm:pt modelId="{A858332C-ED4D-4351-87B2-A8BF6A5CB8B8}" type="pres">
      <dgm:prSet presAssocID="{824CE9C1-70D2-48A0-A6ED-6EEECFEEACEC}" presName="childNode" presStyleLbl="node1" presStyleIdx="0" presStyleCnt="2" custScaleX="104185" custScaleY="71195">
        <dgm:presLayoutVars>
          <dgm:bulletEnabled val="1"/>
        </dgm:presLayoutVars>
      </dgm:prSet>
      <dgm:spPr/>
    </dgm:pt>
    <dgm:pt modelId="{5BD7E676-186F-470B-B48D-067511B78E40}" type="pres">
      <dgm:prSet presAssocID="{5A5EB159-E68F-4BEE-87C3-AFA159A1F0D5}" presName="aSpace" presStyleCnt="0"/>
      <dgm:spPr/>
    </dgm:pt>
    <dgm:pt modelId="{E56BB124-2423-47F0-871D-7197015FD84F}" type="pres">
      <dgm:prSet presAssocID="{4E1A07CE-B161-47A5-ACC8-AA8ADE8799F8}" presName="compNode" presStyleCnt="0"/>
      <dgm:spPr/>
    </dgm:pt>
    <dgm:pt modelId="{54C6F627-764D-4E8F-AF4E-71663F473C43}" type="pres">
      <dgm:prSet presAssocID="{4E1A07CE-B161-47A5-ACC8-AA8ADE8799F8}" presName="aNode" presStyleLbl="bgShp" presStyleIdx="1" presStyleCnt="2"/>
      <dgm:spPr/>
    </dgm:pt>
    <dgm:pt modelId="{6F58F8CB-2B6C-412C-8F50-27B5350E4FBB}" type="pres">
      <dgm:prSet presAssocID="{4E1A07CE-B161-47A5-ACC8-AA8ADE8799F8}" presName="textNode" presStyleLbl="bgShp" presStyleIdx="1" presStyleCnt="2"/>
      <dgm:spPr/>
    </dgm:pt>
    <dgm:pt modelId="{AD9649B6-4C4D-46E8-A148-16B356DFA1D4}" type="pres">
      <dgm:prSet presAssocID="{4E1A07CE-B161-47A5-ACC8-AA8ADE8799F8}" presName="compChildNode" presStyleCnt="0"/>
      <dgm:spPr/>
    </dgm:pt>
    <dgm:pt modelId="{4F448961-B568-43BF-9EB2-800745EE6A93}" type="pres">
      <dgm:prSet presAssocID="{4E1A07CE-B161-47A5-ACC8-AA8ADE8799F8}" presName="theInnerList" presStyleCnt="0"/>
      <dgm:spPr/>
    </dgm:pt>
    <dgm:pt modelId="{97B8C8F1-F018-4E6C-8F31-17180E181DA1}" type="pres">
      <dgm:prSet presAssocID="{ABE779D0-0A53-4366-A96D-4B379AC58454}" presName="childNode" presStyleLbl="node1" presStyleIdx="1" presStyleCnt="2" custScaleX="98147" custScaleY="70234">
        <dgm:presLayoutVars>
          <dgm:bulletEnabled val="1"/>
        </dgm:presLayoutVars>
      </dgm:prSet>
      <dgm:spPr/>
    </dgm:pt>
  </dgm:ptLst>
  <dgm:cxnLst>
    <dgm:cxn modelId="{5F14EF04-0865-4ACD-B18F-A3DBD8F2D398}" type="presOf" srcId="{824CE9C1-70D2-48A0-A6ED-6EEECFEEACEC}" destId="{A858332C-ED4D-4351-87B2-A8BF6A5CB8B8}" srcOrd="0" destOrd="0" presId="urn:microsoft.com/office/officeart/2005/8/layout/lProcess2"/>
    <dgm:cxn modelId="{33FDC31B-A295-4213-8713-CC6F79D0CDA6}" type="presOf" srcId="{60C931CE-C51F-408A-8D6B-A8DE1AA8D9AF}" destId="{1E62DA95-17AF-4DD1-ADC3-CD67191D7230}" srcOrd="0" destOrd="0" presId="urn:microsoft.com/office/officeart/2005/8/layout/lProcess2"/>
    <dgm:cxn modelId="{A9434726-5403-4E0E-8422-45D80465C270}" type="presOf" srcId="{ABE779D0-0A53-4366-A96D-4B379AC58454}" destId="{97B8C8F1-F018-4E6C-8F31-17180E181DA1}" srcOrd="0" destOrd="0" presId="urn:microsoft.com/office/officeart/2005/8/layout/lProcess2"/>
    <dgm:cxn modelId="{C30D313B-6D48-46A7-B56A-7DC2F93478E3}" type="presOf" srcId="{5A5EB159-E68F-4BEE-87C3-AFA159A1F0D5}" destId="{206E3414-1D38-4E81-949D-B7F5F7792980}" srcOrd="0" destOrd="0" presId="urn:microsoft.com/office/officeart/2005/8/layout/lProcess2"/>
    <dgm:cxn modelId="{1E5EBB74-8A96-490F-A486-F17FB51755CD}" srcId="{5A5EB159-E68F-4BEE-87C3-AFA159A1F0D5}" destId="{824CE9C1-70D2-48A0-A6ED-6EEECFEEACEC}" srcOrd="0" destOrd="0" parTransId="{204759F8-E896-4066-BA66-B55E240C08D1}" sibTransId="{2D756836-DFE2-4BE6-8208-DA3642BF9EA9}"/>
    <dgm:cxn modelId="{D159C681-394E-4089-B566-35E697A1BEC3}" srcId="{4E1A07CE-B161-47A5-ACC8-AA8ADE8799F8}" destId="{ABE779D0-0A53-4366-A96D-4B379AC58454}" srcOrd="0" destOrd="0" parTransId="{25EECECA-1945-47C4-BF06-630E32E134B1}" sibTransId="{3D0A2A36-2DB5-453D-9E55-81639A29B681}"/>
    <dgm:cxn modelId="{4A44FC85-EE7F-4C2D-9518-96331CAECD92}" type="presOf" srcId="{5A5EB159-E68F-4BEE-87C3-AFA159A1F0D5}" destId="{2311E341-F6A4-4229-8303-D45B1AF2DE36}" srcOrd="1" destOrd="0" presId="urn:microsoft.com/office/officeart/2005/8/layout/lProcess2"/>
    <dgm:cxn modelId="{556D4897-0C8A-4A3E-A801-F7733020DE5A}" type="presOf" srcId="{4E1A07CE-B161-47A5-ACC8-AA8ADE8799F8}" destId="{54C6F627-764D-4E8F-AF4E-71663F473C43}" srcOrd="0" destOrd="0" presId="urn:microsoft.com/office/officeart/2005/8/layout/lProcess2"/>
    <dgm:cxn modelId="{0845E39B-16BB-4795-9D1B-4D68389E158B}" srcId="{60C931CE-C51F-408A-8D6B-A8DE1AA8D9AF}" destId="{4E1A07CE-B161-47A5-ACC8-AA8ADE8799F8}" srcOrd="1" destOrd="0" parTransId="{08B6900A-BF4B-409A-8242-258BAEC9459F}" sibTransId="{60B0367D-1319-4A5A-BBC8-693DFC4B3765}"/>
    <dgm:cxn modelId="{508FF4B3-DE1D-43B7-AAE4-51383C7A74B8}" type="presOf" srcId="{4E1A07CE-B161-47A5-ACC8-AA8ADE8799F8}" destId="{6F58F8CB-2B6C-412C-8F50-27B5350E4FBB}" srcOrd="1" destOrd="0" presId="urn:microsoft.com/office/officeart/2005/8/layout/lProcess2"/>
    <dgm:cxn modelId="{D66313EE-073C-4B1D-8A98-82B9EEE5AE0B}" srcId="{60C931CE-C51F-408A-8D6B-A8DE1AA8D9AF}" destId="{5A5EB159-E68F-4BEE-87C3-AFA159A1F0D5}" srcOrd="0" destOrd="0" parTransId="{93C77144-1A81-4C35-AEAB-981C0B44530F}" sibTransId="{9EFE2362-44D1-4FD0-823D-A615D3297D5E}"/>
    <dgm:cxn modelId="{EBF1377C-838C-4496-BCCA-0FB42C3FC7D4}" type="presParOf" srcId="{1E62DA95-17AF-4DD1-ADC3-CD67191D7230}" destId="{B64A39F4-BA80-4736-BF94-530C51BF532D}" srcOrd="0" destOrd="0" presId="urn:microsoft.com/office/officeart/2005/8/layout/lProcess2"/>
    <dgm:cxn modelId="{AE79AE25-3C85-481D-8D6F-96234737DCF1}" type="presParOf" srcId="{B64A39F4-BA80-4736-BF94-530C51BF532D}" destId="{206E3414-1D38-4E81-949D-B7F5F7792980}" srcOrd="0" destOrd="0" presId="urn:microsoft.com/office/officeart/2005/8/layout/lProcess2"/>
    <dgm:cxn modelId="{CECAA9F9-8AD8-4A8F-8E82-B29F13CD07C0}" type="presParOf" srcId="{B64A39F4-BA80-4736-BF94-530C51BF532D}" destId="{2311E341-F6A4-4229-8303-D45B1AF2DE36}" srcOrd="1" destOrd="0" presId="urn:microsoft.com/office/officeart/2005/8/layout/lProcess2"/>
    <dgm:cxn modelId="{82FEB7EA-7146-46CF-8214-EB10312228A9}" type="presParOf" srcId="{B64A39F4-BA80-4736-BF94-530C51BF532D}" destId="{97D80239-BEC6-436F-A447-E13A872031DB}" srcOrd="2" destOrd="0" presId="urn:microsoft.com/office/officeart/2005/8/layout/lProcess2"/>
    <dgm:cxn modelId="{1E9B5747-53DA-4F7D-B4CD-118E2D548F2E}" type="presParOf" srcId="{97D80239-BEC6-436F-A447-E13A872031DB}" destId="{8808BC39-5D98-4F3D-98E8-7C1E426832F2}" srcOrd="0" destOrd="0" presId="urn:microsoft.com/office/officeart/2005/8/layout/lProcess2"/>
    <dgm:cxn modelId="{557EF7DC-A108-492B-9E5C-19D15A94C662}" type="presParOf" srcId="{8808BC39-5D98-4F3D-98E8-7C1E426832F2}" destId="{A858332C-ED4D-4351-87B2-A8BF6A5CB8B8}" srcOrd="0" destOrd="0" presId="urn:microsoft.com/office/officeart/2005/8/layout/lProcess2"/>
    <dgm:cxn modelId="{D4596F60-6834-44F4-A6A0-E2AAB6A2A0FA}" type="presParOf" srcId="{1E62DA95-17AF-4DD1-ADC3-CD67191D7230}" destId="{5BD7E676-186F-470B-B48D-067511B78E40}" srcOrd="1" destOrd="0" presId="urn:microsoft.com/office/officeart/2005/8/layout/lProcess2"/>
    <dgm:cxn modelId="{5785708C-25A5-42C1-8E3B-FAFE2E1E8DA1}" type="presParOf" srcId="{1E62DA95-17AF-4DD1-ADC3-CD67191D7230}" destId="{E56BB124-2423-47F0-871D-7197015FD84F}" srcOrd="2" destOrd="0" presId="urn:microsoft.com/office/officeart/2005/8/layout/lProcess2"/>
    <dgm:cxn modelId="{37C00405-4545-4953-8EA2-B3EFDFBE3DDB}" type="presParOf" srcId="{E56BB124-2423-47F0-871D-7197015FD84F}" destId="{54C6F627-764D-4E8F-AF4E-71663F473C43}" srcOrd="0" destOrd="0" presId="urn:microsoft.com/office/officeart/2005/8/layout/lProcess2"/>
    <dgm:cxn modelId="{8208C2BD-9BA9-4DCE-B76E-9F769AD52BF8}" type="presParOf" srcId="{E56BB124-2423-47F0-871D-7197015FD84F}" destId="{6F58F8CB-2B6C-412C-8F50-27B5350E4FBB}" srcOrd="1" destOrd="0" presId="urn:microsoft.com/office/officeart/2005/8/layout/lProcess2"/>
    <dgm:cxn modelId="{1D831F08-D2F6-4567-8ED1-CF95F1CF90EA}" type="presParOf" srcId="{E56BB124-2423-47F0-871D-7197015FD84F}" destId="{AD9649B6-4C4D-46E8-A148-16B356DFA1D4}" srcOrd="2" destOrd="0" presId="urn:microsoft.com/office/officeart/2005/8/layout/lProcess2"/>
    <dgm:cxn modelId="{905B98D5-BF0F-4530-B4DF-2EA0A8674814}" type="presParOf" srcId="{AD9649B6-4C4D-46E8-A148-16B356DFA1D4}" destId="{4F448961-B568-43BF-9EB2-800745EE6A93}" srcOrd="0" destOrd="0" presId="urn:microsoft.com/office/officeart/2005/8/layout/lProcess2"/>
    <dgm:cxn modelId="{87EF0585-5180-4536-B4AF-8DB62E96DBC4}" type="presParOf" srcId="{4F448961-B568-43BF-9EB2-800745EE6A93}" destId="{97B8C8F1-F018-4E6C-8F31-17180E181DA1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AE0B62A-0F6D-4484-B84D-E546C044D265}" type="doc">
      <dgm:prSet loTypeId="urn:microsoft.com/office/officeart/2005/8/layout/hList7#1" loCatId="list" qsTypeId="urn:microsoft.com/office/officeart/2005/8/quickstyle/3d6" qsCatId="3D" csTypeId="urn:microsoft.com/office/officeart/2005/8/colors/colorful5" csCatId="colorful" phldr="1"/>
      <dgm:spPr/>
    </dgm:pt>
    <dgm:pt modelId="{6CDDE8AA-B0B6-4DE4-9EDC-C42A58CA15F8}">
      <dgm:prSet phldrT="[Texte]"/>
      <dgm:spPr/>
      <dgm:t>
        <a:bodyPr/>
        <a:lstStyle/>
        <a:p>
          <a:pPr rtl="0"/>
          <a:r>
            <a:rPr lang="fr-FR" dirty="0"/>
            <a:t>Secteur primaire </a:t>
          </a:r>
        </a:p>
      </dgm:t>
    </dgm:pt>
    <dgm:pt modelId="{E1E556A8-FC6C-40CE-A2BA-E743A1681D56}" type="parTrans" cxnId="{3EB15800-10ED-4C46-83F4-9FEB9188C2DA}">
      <dgm:prSet/>
      <dgm:spPr/>
      <dgm:t>
        <a:bodyPr/>
        <a:lstStyle/>
        <a:p>
          <a:endParaRPr lang="fr-FR"/>
        </a:p>
      </dgm:t>
    </dgm:pt>
    <dgm:pt modelId="{334759E4-8177-4A94-A418-3421EC3D1375}" type="sibTrans" cxnId="{3EB15800-10ED-4C46-83F4-9FEB9188C2DA}">
      <dgm:prSet/>
      <dgm:spPr/>
      <dgm:t>
        <a:bodyPr/>
        <a:lstStyle/>
        <a:p>
          <a:endParaRPr lang="fr-FR"/>
        </a:p>
      </dgm:t>
    </dgm:pt>
    <dgm:pt modelId="{DB13591C-FC50-403A-AADC-C5DFD4F4C77B}">
      <dgm:prSet phldrT="[Texte]"/>
      <dgm:spPr/>
      <dgm:t>
        <a:bodyPr/>
        <a:lstStyle/>
        <a:p>
          <a:r>
            <a:rPr lang="fr-FR" dirty="0"/>
            <a:t>Secteur secondaire </a:t>
          </a:r>
        </a:p>
      </dgm:t>
    </dgm:pt>
    <dgm:pt modelId="{29D9583C-330F-4048-960B-72726E992B6C}" type="parTrans" cxnId="{DBD5689C-8343-4597-80D1-CAA9E0A993D6}">
      <dgm:prSet/>
      <dgm:spPr/>
      <dgm:t>
        <a:bodyPr/>
        <a:lstStyle/>
        <a:p>
          <a:endParaRPr lang="fr-FR"/>
        </a:p>
      </dgm:t>
    </dgm:pt>
    <dgm:pt modelId="{207A9CC3-CF78-4986-884F-20C7DCEAD0E5}" type="sibTrans" cxnId="{DBD5689C-8343-4597-80D1-CAA9E0A993D6}">
      <dgm:prSet/>
      <dgm:spPr/>
      <dgm:t>
        <a:bodyPr/>
        <a:lstStyle/>
        <a:p>
          <a:endParaRPr lang="fr-FR"/>
        </a:p>
      </dgm:t>
    </dgm:pt>
    <dgm:pt modelId="{136E116D-471D-4087-8A7C-CDB492CE54DE}">
      <dgm:prSet phldrT="[Texte]"/>
      <dgm:spPr/>
      <dgm:t>
        <a:bodyPr/>
        <a:lstStyle/>
        <a:p>
          <a:r>
            <a:rPr lang="fr-FR" dirty="0"/>
            <a:t>Secteur tertiaire</a:t>
          </a:r>
        </a:p>
      </dgm:t>
    </dgm:pt>
    <dgm:pt modelId="{F33F4C3A-A63B-4D39-AD76-F9AEC76487FD}" type="parTrans" cxnId="{5D297CAE-9D89-4814-97DB-A99536C7D6B2}">
      <dgm:prSet/>
      <dgm:spPr/>
      <dgm:t>
        <a:bodyPr/>
        <a:lstStyle/>
        <a:p>
          <a:endParaRPr lang="fr-FR"/>
        </a:p>
      </dgm:t>
    </dgm:pt>
    <dgm:pt modelId="{300E9E84-69A4-4BA6-B0A0-A0A4F8AAF967}" type="sibTrans" cxnId="{5D297CAE-9D89-4814-97DB-A99536C7D6B2}">
      <dgm:prSet/>
      <dgm:spPr/>
      <dgm:t>
        <a:bodyPr/>
        <a:lstStyle/>
        <a:p>
          <a:endParaRPr lang="fr-FR"/>
        </a:p>
      </dgm:t>
    </dgm:pt>
    <dgm:pt modelId="{006E24F9-7D5E-4339-A2AD-665CD67A3CFE}">
      <dgm:prSet/>
      <dgm:spPr/>
      <dgm:t>
        <a:bodyPr/>
        <a:lstStyle/>
        <a:p>
          <a:r>
            <a:rPr lang="fr-FR" dirty="0"/>
            <a:t>Secteur des NTIC </a:t>
          </a:r>
        </a:p>
      </dgm:t>
    </dgm:pt>
    <dgm:pt modelId="{2D09AA36-E38E-4AF8-8DB4-CBFFB442D2DC}" type="parTrans" cxnId="{34093822-1F0B-4F42-B874-FD0EB5A0F07E}">
      <dgm:prSet/>
      <dgm:spPr/>
      <dgm:t>
        <a:bodyPr/>
        <a:lstStyle/>
        <a:p>
          <a:endParaRPr lang="fr-FR"/>
        </a:p>
      </dgm:t>
    </dgm:pt>
    <dgm:pt modelId="{67C5A762-0D47-4343-B822-57998B3053C2}" type="sibTrans" cxnId="{34093822-1F0B-4F42-B874-FD0EB5A0F07E}">
      <dgm:prSet/>
      <dgm:spPr/>
      <dgm:t>
        <a:bodyPr/>
        <a:lstStyle/>
        <a:p>
          <a:endParaRPr lang="fr-FR"/>
        </a:p>
      </dgm:t>
    </dgm:pt>
    <dgm:pt modelId="{B1BF967C-9B90-42A3-862B-D7E83C0D92DA}" type="pres">
      <dgm:prSet presAssocID="{DAE0B62A-0F6D-4484-B84D-E546C044D265}" presName="Name0" presStyleCnt="0">
        <dgm:presLayoutVars>
          <dgm:dir/>
          <dgm:resizeHandles val="exact"/>
        </dgm:presLayoutVars>
      </dgm:prSet>
      <dgm:spPr/>
    </dgm:pt>
    <dgm:pt modelId="{35282B0A-568B-4D2E-A05B-C05AD348332B}" type="pres">
      <dgm:prSet presAssocID="{DAE0B62A-0F6D-4484-B84D-E546C044D265}" presName="fgShape" presStyleLbl="fgShp" presStyleIdx="0" presStyleCnt="1"/>
      <dgm:spPr/>
    </dgm:pt>
    <dgm:pt modelId="{E4C81301-305C-475F-8F6A-51C62236670F}" type="pres">
      <dgm:prSet presAssocID="{DAE0B62A-0F6D-4484-B84D-E546C044D265}" presName="linComp" presStyleCnt="0"/>
      <dgm:spPr/>
    </dgm:pt>
    <dgm:pt modelId="{967EC7BD-FE4E-4CAD-B3EC-77A2DFA57592}" type="pres">
      <dgm:prSet presAssocID="{6CDDE8AA-B0B6-4DE4-9EDC-C42A58CA15F8}" presName="compNode" presStyleCnt="0"/>
      <dgm:spPr/>
    </dgm:pt>
    <dgm:pt modelId="{30D2E854-CC43-4152-AB8F-A0D4F4AEF5D0}" type="pres">
      <dgm:prSet presAssocID="{6CDDE8AA-B0B6-4DE4-9EDC-C42A58CA15F8}" presName="bkgdShape" presStyleLbl="node1" presStyleIdx="0" presStyleCnt="4"/>
      <dgm:spPr/>
    </dgm:pt>
    <dgm:pt modelId="{9A327EFD-E30D-4567-AFA6-B3BBE9920C7F}" type="pres">
      <dgm:prSet presAssocID="{6CDDE8AA-B0B6-4DE4-9EDC-C42A58CA15F8}" presName="nodeTx" presStyleLbl="node1" presStyleIdx="0" presStyleCnt="4">
        <dgm:presLayoutVars>
          <dgm:bulletEnabled val="1"/>
        </dgm:presLayoutVars>
      </dgm:prSet>
      <dgm:spPr/>
    </dgm:pt>
    <dgm:pt modelId="{FB24EC43-BB6E-4BA4-9143-5C80E69BE51F}" type="pres">
      <dgm:prSet presAssocID="{6CDDE8AA-B0B6-4DE4-9EDC-C42A58CA15F8}" presName="invisiNode" presStyleLbl="node1" presStyleIdx="0" presStyleCnt="4"/>
      <dgm:spPr/>
    </dgm:pt>
    <dgm:pt modelId="{549D3BD9-3954-49DD-B776-2E661AB5C0B1}" type="pres">
      <dgm:prSet presAssocID="{6CDDE8AA-B0B6-4DE4-9EDC-C42A58CA15F8}" presName="imagNode" presStyleLbl="fgImgPlace1" presStyleIdx="0" presStyleCnt="4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7D121AC8-AFA1-466E-9AEE-E76CC5BB502E}" type="pres">
      <dgm:prSet presAssocID="{334759E4-8177-4A94-A418-3421EC3D1375}" presName="sibTrans" presStyleLbl="sibTrans2D1" presStyleIdx="0" presStyleCnt="0"/>
      <dgm:spPr/>
    </dgm:pt>
    <dgm:pt modelId="{F278B401-3902-48E6-9225-64F048EDBC77}" type="pres">
      <dgm:prSet presAssocID="{DB13591C-FC50-403A-AADC-C5DFD4F4C77B}" presName="compNode" presStyleCnt="0"/>
      <dgm:spPr/>
    </dgm:pt>
    <dgm:pt modelId="{D7285DF2-D6E6-40CE-975C-B609DEFACE06}" type="pres">
      <dgm:prSet presAssocID="{DB13591C-FC50-403A-AADC-C5DFD4F4C77B}" presName="bkgdShape" presStyleLbl="node1" presStyleIdx="1" presStyleCnt="4"/>
      <dgm:spPr/>
    </dgm:pt>
    <dgm:pt modelId="{534A563D-94CA-495D-A258-7272724AB022}" type="pres">
      <dgm:prSet presAssocID="{DB13591C-FC50-403A-AADC-C5DFD4F4C77B}" presName="nodeTx" presStyleLbl="node1" presStyleIdx="1" presStyleCnt="4">
        <dgm:presLayoutVars>
          <dgm:bulletEnabled val="1"/>
        </dgm:presLayoutVars>
      </dgm:prSet>
      <dgm:spPr/>
    </dgm:pt>
    <dgm:pt modelId="{EB5409CD-5C41-4BDE-BB69-FB4FFB3670A9}" type="pres">
      <dgm:prSet presAssocID="{DB13591C-FC50-403A-AADC-C5DFD4F4C77B}" presName="invisiNode" presStyleLbl="node1" presStyleIdx="1" presStyleCnt="4"/>
      <dgm:spPr/>
    </dgm:pt>
    <dgm:pt modelId="{D596CD21-06C5-40CF-AA7A-9B4CCAD320AB}" type="pres">
      <dgm:prSet presAssocID="{DB13591C-FC50-403A-AADC-C5DFD4F4C77B}" presName="imagNode" presStyleLbl="fgImgPlace1" presStyleIdx="1" presStyleCnt="4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DDA46E4A-962C-481A-9093-C10A39C16078}" type="pres">
      <dgm:prSet presAssocID="{207A9CC3-CF78-4986-884F-20C7DCEAD0E5}" presName="sibTrans" presStyleLbl="sibTrans2D1" presStyleIdx="0" presStyleCnt="0"/>
      <dgm:spPr/>
    </dgm:pt>
    <dgm:pt modelId="{198B8D11-71BA-4F5D-8F18-12E80E20BF24}" type="pres">
      <dgm:prSet presAssocID="{136E116D-471D-4087-8A7C-CDB492CE54DE}" presName="compNode" presStyleCnt="0"/>
      <dgm:spPr/>
    </dgm:pt>
    <dgm:pt modelId="{F369B7C3-1CDD-4860-835A-31AAA5A68DE4}" type="pres">
      <dgm:prSet presAssocID="{136E116D-471D-4087-8A7C-CDB492CE54DE}" presName="bkgdShape" presStyleLbl="node1" presStyleIdx="2" presStyleCnt="4"/>
      <dgm:spPr/>
    </dgm:pt>
    <dgm:pt modelId="{648F7E9C-0502-4CD3-B132-64379CF20906}" type="pres">
      <dgm:prSet presAssocID="{136E116D-471D-4087-8A7C-CDB492CE54DE}" presName="nodeTx" presStyleLbl="node1" presStyleIdx="2" presStyleCnt="4">
        <dgm:presLayoutVars>
          <dgm:bulletEnabled val="1"/>
        </dgm:presLayoutVars>
      </dgm:prSet>
      <dgm:spPr/>
    </dgm:pt>
    <dgm:pt modelId="{CD4FBA6F-6F62-4247-A730-C0759295D1AD}" type="pres">
      <dgm:prSet presAssocID="{136E116D-471D-4087-8A7C-CDB492CE54DE}" presName="invisiNode" presStyleLbl="node1" presStyleIdx="2" presStyleCnt="4"/>
      <dgm:spPr/>
    </dgm:pt>
    <dgm:pt modelId="{3618B746-60C8-4E41-B5F3-20EAB7984172}" type="pres">
      <dgm:prSet presAssocID="{136E116D-471D-4087-8A7C-CDB492CE54DE}" presName="imagNode" presStyleLbl="fgImgPlace1" presStyleIdx="2" presStyleCnt="4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</dgm:pt>
    <dgm:pt modelId="{6E8DDC51-C663-4B08-ADCB-E4C1B1F1F3A9}" type="pres">
      <dgm:prSet presAssocID="{300E9E84-69A4-4BA6-B0A0-A0A4F8AAF967}" presName="sibTrans" presStyleLbl="sibTrans2D1" presStyleIdx="0" presStyleCnt="0"/>
      <dgm:spPr/>
    </dgm:pt>
    <dgm:pt modelId="{1DBA9ACC-AB22-4B0D-A134-786C9D005C6D}" type="pres">
      <dgm:prSet presAssocID="{006E24F9-7D5E-4339-A2AD-665CD67A3CFE}" presName="compNode" presStyleCnt="0"/>
      <dgm:spPr/>
    </dgm:pt>
    <dgm:pt modelId="{E0A8C3E3-4953-4949-A815-FAD623F1F64A}" type="pres">
      <dgm:prSet presAssocID="{006E24F9-7D5E-4339-A2AD-665CD67A3CFE}" presName="bkgdShape" presStyleLbl="node1" presStyleIdx="3" presStyleCnt="4"/>
      <dgm:spPr/>
    </dgm:pt>
    <dgm:pt modelId="{CF30EA0C-445F-4116-9CF0-1D3F23730E22}" type="pres">
      <dgm:prSet presAssocID="{006E24F9-7D5E-4339-A2AD-665CD67A3CFE}" presName="nodeTx" presStyleLbl="node1" presStyleIdx="3" presStyleCnt="4">
        <dgm:presLayoutVars>
          <dgm:bulletEnabled val="1"/>
        </dgm:presLayoutVars>
      </dgm:prSet>
      <dgm:spPr/>
    </dgm:pt>
    <dgm:pt modelId="{29BC8445-2FBE-4A38-A16B-F102A54C95A9}" type="pres">
      <dgm:prSet presAssocID="{006E24F9-7D5E-4339-A2AD-665CD67A3CFE}" presName="invisiNode" presStyleLbl="node1" presStyleIdx="3" presStyleCnt="4"/>
      <dgm:spPr/>
    </dgm:pt>
    <dgm:pt modelId="{6671193F-3179-4BAF-AD64-C310176A57B1}" type="pres">
      <dgm:prSet presAssocID="{006E24F9-7D5E-4339-A2AD-665CD67A3CFE}" presName="imagNode" presStyleLbl="fgImgPlace1" presStyleIdx="3" presStyleCnt="4"/>
      <dgm:spPr>
        <a:blipFill rotWithShape="0">
          <a:blip xmlns:r="http://schemas.openxmlformats.org/officeDocument/2006/relationships" r:embed="rId4"/>
          <a:stretch>
            <a:fillRect/>
          </a:stretch>
        </a:blipFill>
      </dgm:spPr>
    </dgm:pt>
  </dgm:ptLst>
  <dgm:cxnLst>
    <dgm:cxn modelId="{3EB15800-10ED-4C46-83F4-9FEB9188C2DA}" srcId="{DAE0B62A-0F6D-4484-B84D-E546C044D265}" destId="{6CDDE8AA-B0B6-4DE4-9EDC-C42A58CA15F8}" srcOrd="0" destOrd="0" parTransId="{E1E556A8-FC6C-40CE-A2BA-E743A1681D56}" sibTransId="{334759E4-8177-4A94-A418-3421EC3D1375}"/>
    <dgm:cxn modelId="{34093822-1F0B-4F42-B874-FD0EB5A0F07E}" srcId="{DAE0B62A-0F6D-4484-B84D-E546C044D265}" destId="{006E24F9-7D5E-4339-A2AD-665CD67A3CFE}" srcOrd="3" destOrd="0" parTransId="{2D09AA36-E38E-4AF8-8DB4-CBFFB442D2DC}" sibTransId="{67C5A762-0D47-4343-B822-57998B3053C2}"/>
    <dgm:cxn modelId="{C75FD924-4BC9-4785-88E1-3DCCA7EE8F0E}" type="presOf" srcId="{136E116D-471D-4087-8A7C-CDB492CE54DE}" destId="{F369B7C3-1CDD-4860-835A-31AAA5A68DE4}" srcOrd="0" destOrd="0" presId="urn:microsoft.com/office/officeart/2005/8/layout/hList7#1"/>
    <dgm:cxn modelId="{919D4825-80A7-417F-953E-D0D9E5F8EE1B}" type="presOf" srcId="{300E9E84-69A4-4BA6-B0A0-A0A4F8AAF967}" destId="{6E8DDC51-C663-4B08-ADCB-E4C1B1F1F3A9}" srcOrd="0" destOrd="0" presId="urn:microsoft.com/office/officeart/2005/8/layout/hList7#1"/>
    <dgm:cxn modelId="{B5B8363F-93FD-4DE0-9A95-F8B3F8297A6E}" type="presOf" srcId="{DB13591C-FC50-403A-AADC-C5DFD4F4C77B}" destId="{D7285DF2-D6E6-40CE-975C-B609DEFACE06}" srcOrd="0" destOrd="0" presId="urn:microsoft.com/office/officeart/2005/8/layout/hList7#1"/>
    <dgm:cxn modelId="{DAC40A74-7D97-432B-821B-2B01E6156D2D}" type="presOf" srcId="{6CDDE8AA-B0B6-4DE4-9EDC-C42A58CA15F8}" destId="{9A327EFD-E30D-4567-AFA6-B3BBE9920C7F}" srcOrd="1" destOrd="0" presId="urn:microsoft.com/office/officeart/2005/8/layout/hList7#1"/>
    <dgm:cxn modelId="{40AB6D8C-C0AB-4A9E-94DF-7C3AAE1E3AF5}" type="presOf" srcId="{006E24F9-7D5E-4339-A2AD-665CD67A3CFE}" destId="{E0A8C3E3-4953-4949-A815-FAD623F1F64A}" srcOrd="0" destOrd="0" presId="urn:microsoft.com/office/officeart/2005/8/layout/hList7#1"/>
    <dgm:cxn modelId="{FAC4C38D-FB7F-4D5F-81DB-4D37C393C873}" type="presOf" srcId="{6CDDE8AA-B0B6-4DE4-9EDC-C42A58CA15F8}" destId="{30D2E854-CC43-4152-AB8F-A0D4F4AEF5D0}" srcOrd="0" destOrd="0" presId="urn:microsoft.com/office/officeart/2005/8/layout/hList7#1"/>
    <dgm:cxn modelId="{DBD5689C-8343-4597-80D1-CAA9E0A993D6}" srcId="{DAE0B62A-0F6D-4484-B84D-E546C044D265}" destId="{DB13591C-FC50-403A-AADC-C5DFD4F4C77B}" srcOrd="1" destOrd="0" parTransId="{29D9583C-330F-4048-960B-72726E992B6C}" sibTransId="{207A9CC3-CF78-4986-884F-20C7DCEAD0E5}"/>
    <dgm:cxn modelId="{5D297CAE-9D89-4814-97DB-A99536C7D6B2}" srcId="{DAE0B62A-0F6D-4484-B84D-E546C044D265}" destId="{136E116D-471D-4087-8A7C-CDB492CE54DE}" srcOrd="2" destOrd="0" parTransId="{F33F4C3A-A63B-4D39-AD76-F9AEC76487FD}" sibTransId="{300E9E84-69A4-4BA6-B0A0-A0A4F8AAF967}"/>
    <dgm:cxn modelId="{43F71CB1-8DC9-4559-9D31-0295C9269995}" type="presOf" srcId="{136E116D-471D-4087-8A7C-CDB492CE54DE}" destId="{648F7E9C-0502-4CD3-B132-64379CF20906}" srcOrd="1" destOrd="0" presId="urn:microsoft.com/office/officeart/2005/8/layout/hList7#1"/>
    <dgm:cxn modelId="{8068E9B3-87AE-44F9-BD95-67125AEDBD99}" type="presOf" srcId="{DB13591C-FC50-403A-AADC-C5DFD4F4C77B}" destId="{534A563D-94CA-495D-A258-7272724AB022}" srcOrd="1" destOrd="0" presId="urn:microsoft.com/office/officeart/2005/8/layout/hList7#1"/>
    <dgm:cxn modelId="{16DE3FC2-072E-46AC-ABDF-4DE4CAC29D0B}" type="presOf" srcId="{006E24F9-7D5E-4339-A2AD-665CD67A3CFE}" destId="{CF30EA0C-445F-4116-9CF0-1D3F23730E22}" srcOrd="1" destOrd="0" presId="urn:microsoft.com/office/officeart/2005/8/layout/hList7#1"/>
    <dgm:cxn modelId="{3E0757CB-2ED7-4853-BCD6-925270F55C51}" type="presOf" srcId="{207A9CC3-CF78-4986-884F-20C7DCEAD0E5}" destId="{DDA46E4A-962C-481A-9093-C10A39C16078}" srcOrd="0" destOrd="0" presId="urn:microsoft.com/office/officeart/2005/8/layout/hList7#1"/>
    <dgm:cxn modelId="{E950D3DF-33DE-4F76-A583-29EF884F4165}" type="presOf" srcId="{DAE0B62A-0F6D-4484-B84D-E546C044D265}" destId="{B1BF967C-9B90-42A3-862B-D7E83C0D92DA}" srcOrd="0" destOrd="0" presId="urn:microsoft.com/office/officeart/2005/8/layout/hList7#1"/>
    <dgm:cxn modelId="{EEF26DF8-EB7E-475F-8A56-DDF74025CD89}" type="presOf" srcId="{334759E4-8177-4A94-A418-3421EC3D1375}" destId="{7D121AC8-AFA1-466E-9AEE-E76CC5BB502E}" srcOrd="0" destOrd="0" presId="urn:microsoft.com/office/officeart/2005/8/layout/hList7#1"/>
    <dgm:cxn modelId="{94CCE6E9-F4C9-4E40-9D68-ACA55B3F2676}" type="presParOf" srcId="{B1BF967C-9B90-42A3-862B-D7E83C0D92DA}" destId="{35282B0A-568B-4D2E-A05B-C05AD348332B}" srcOrd="0" destOrd="0" presId="urn:microsoft.com/office/officeart/2005/8/layout/hList7#1"/>
    <dgm:cxn modelId="{21634407-F42C-4261-9B7E-29C33F212046}" type="presParOf" srcId="{B1BF967C-9B90-42A3-862B-D7E83C0D92DA}" destId="{E4C81301-305C-475F-8F6A-51C62236670F}" srcOrd="1" destOrd="0" presId="urn:microsoft.com/office/officeart/2005/8/layout/hList7#1"/>
    <dgm:cxn modelId="{7BABF4B9-C4A2-4502-97C9-F36BB5B403E3}" type="presParOf" srcId="{E4C81301-305C-475F-8F6A-51C62236670F}" destId="{967EC7BD-FE4E-4CAD-B3EC-77A2DFA57592}" srcOrd="0" destOrd="0" presId="urn:microsoft.com/office/officeart/2005/8/layout/hList7#1"/>
    <dgm:cxn modelId="{05E22A79-C07D-4B0D-9C63-757F25AE7DC2}" type="presParOf" srcId="{967EC7BD-FE4E-4CAD-B3EC-77A2DFA57592}" destId="{30D2E854-CC43-4152-AB8F-A0D4F4AEF5D0}" srcOrd="0" destOrd="0" presId="urn:microsoft.com/office/officeart/2005/8/layout/hList7#1"/>
    <dgm:cxn modelId="{1AEB4759-176B-422A-977B-37EC7B41AF28}" type="presParOf" srcId="{967EC7BD-FE4E-4CAD-B3EC-77A2DFA57592}" destId="{9A327EFD-E30D-4567-AFA6-B3BBE9920C7F}" srcOrd="1" destOrd="0" presId="urn:microsoft.com/office/officeart/2005/8/layout/hList7#1"/>
    <dgm:cxn modelId="{BEB619D1-CDB4-490D-91A8-F82097C6332C}" type="presParOf" srcId="{967EC7BD-FE4E-4CAD-B3EC-77A2DFA57592}" destId="{FB24EC43-BB6E-4BA4-9143-5C80E69BE51F}" srcOrd="2" destOrd="0" presId="urn:microsoft.com/office/officeart/2005/8/layout/hList7#1"/>
    <dgm:cxn modelId="{10528795-097A-43CF-A386-C047C3344BC4}" type="presParOf" srcId="{967EC7BD-FE4E-4CAD-B3EC-77A2DFA57592}" destId="{549D3BD9-3954-49DD-B776-2E661AB5C0B1}" srcOrd="3" destOrd="0" presId="urn:microsoft.com/office/officeart/2005/8/layout/hList7#1"/>
    <dgm:cxn modelId="{37DB3B90-4173-4E33-ADFF-465740EC0CBE}" type="presParOf" srcId="{E4C81301-305C-475F-8F6A-51C62236670F}" destId="{7D121AC8-AFA1-466E-9AEE-E76CC5BB502E}" srcOrd="1" destOrd="0" presId="urn:microsoft.com/office/officeart/2005/8/layout/hList7#1"/>
    <dgm:cxn modelId="{DFCE9162-F5CB-495A-8C4E-D4BEFFCC2261}" type="presParOf" srcId="{E4C81301-305C-475F-8F6A-51C62236670F}" destId="{F278B401-3902-48E6-9225-64F048EDBC77}" srcOrd="2" destOrd="0" presId="urn:microsoft.com/office/officeart/2005/8/layout/hList7#1"/>
    <dgm:cxn modelId="{0694AF4C-154A-471D-9492-64E62BCB48E4}" type="presParOf" srcId="{F278B401-3902-48E6-9225-64F048EDBC77}" destId="{D7285DF2-D6E6-40CE-975C-B609DEFACE06}" srcOrd="0" destOrd="0" presId="urn:microsoft.com/office/officeart/2005/8/layout/hList7#1"/>
    <dgm:cxn modelId="{CA5CEE62-1D4F-48BD-9FBF-752468B45823}" type="presParOf" srcId="{F278B401-3902-48E6-9225-64F048EDBC77}" destId="{534A563D-94CA-495D-A258-7272724AB022}" srcOrd="1" destOrd="0" presId="urn:microsoft.com/office/officeart/2005/8/layout/hList7#1"/>
    <dgm:cxn modelId="{C5A4659D-DB17-4623-9280-90C000C31C73}" type="presParOf" srcId="{F278B401-3902-48E6-9225-64F048EDBC77}" destId="{EB5409CD-5C41-4BDE-BB69-FB4FFB3670A9}" srcOrd="2" destOrd="0" presId="urn:microsoft.com/office/officeart/2005/8/layout/hList7#1"/>
    <dgm:cxn modelId="{FCFDB25B-7F1D-49F4-9D82-955872B041BD}" type="presParOf" srcId="{F278B401-3902-48E6-9225-64F048EDBC77}" destId="{D596CD21-06C5-40CF-AA7A-9B4CCAD320AB}" srcOrd="3" destOrd="0" presId="urn:microsoft.com/office/officeart/2005/8/layout/hList7#1"/>
    <dgm:cxn modelId="{BC597237-3E05-4225-B4E3-BCCDD5C764D9}" type="presParOf" srcId="{E4C81301-305C-475F-8F6A-51C62236670F}" destId="{DDA46E4A-962C-481A-9093-C10A39C16078}" srcOrd="3" destOrd="0" presId="urn:microsoft.com/office/officeart/2005/8/layout/hList7#1"/>
    <dgm:cxn modelId="{51A576EE-41EB-4756-ACC5-1C590485C7E8}" type="presParOf" srcId="{E4C81301-305C-475F-8F6A-51C62236670F}" destId="{198B8D11-71BA-4F5D-8F18-12E80E20BF24}" srcOrd="4" destOrd="0" presId="urn:microsoft.com/office/officeart/2005/8/layout/hList7#1"/>
    <dgm:cxn modelId="{B78EAEF5-7172-4653-902C-7558BAEC4976}" type="presParOf" srcId="{198B8D11-71BA-4F5D-8F18-12E80E20BF24}" destId="{F369B7C3-1CDD-4860-835A-31AAA5A68DE4}" srcOrd="0" destOrd="0" presId="urn:microsoft.com/office/officeart/2005/8/layout/hList7#1"/>
    <dgm:cxn modelId="{FCA7D811-2DE3-46D4-A653-885200B40D87}" type="presParOf" srcId="{198B8D11-71BA-4F5D-8F18-12E80E20BF24}" destId="{648F7E9C-0502-4CD3-B132-64379CF20906}" srcOrd="1" destOrd="0" presId="urn:microsoft.com/office/officeart/2005/8/layout/hList7#1"/>
    <dgm:cxn modelId="{02D278D2-0ABD-4DF3-A64D-A2C0A5F4A42E}" type="presParOf" srcId="{198B8D11-71BA-4F5D-8F18-12E80E20BF24}" destId="{CD4FBA6F-6F62-4247-A730-C0759295D1AD}" srcOrd="2" destOrd="0" presId="urn:microsoft.com/office/officeart/2005/8/layout/hList7#1"/>
    <dgm:cxn modelId="{2855173B-C93A-4644-9764-AF29A69BBA4A}" type="presParOf" srcId="{198B8D11-71BA-4F5D-8F18-12E80E20BF24}" destId="{3618B746-60C8-4E41-B5F3-20EAB7984172}" srcOrd="3" destOrd="0" presId="urn:microsoft.com/office/officeart/2005/8/layout/hList7#1"/>
    <dgm:cxn modelId="{2D03FA21-5A90-4C9C-887B-C4197C48A5BD}" type="presParOf" srcId="{E4C81301-305C-475F-8F6A-51C62236670F}" destId="{6E8DDC51-C663-4B08-ADCB-E4C1B1F1F3A9}" srcOrd="5" destOrd="0" presId="urn:microsoft.com/office/officeart/2005/8/layout/hList7#1"/>
    <dgm:cxn modelId="{DEE23F75-4986-49E5-B6F4-85422546B713}" type="presParOf" srcId="{E4C81301-305C-475F-8F6A-51C62236670F}" destId="{1DBA9ACC-AB22-4B0D-A134-786C9D005C6D}" srcOrd="6" destOrd="0" presId="urn:microsoft.com/office/officeart/2005/8/layout/hList7#1"/>
    <dgm:cxn modelId="{6A892D5D-3F15-4A55-B54D-B005368B1F04}" type="presParOf" srcId="{1DBA9ACC-AB22-4B0D-A134-786C9D005C6D}" destId="{E0A8C3E3-4953-4949-A815-FAD623F1F64A}" srcOrd="0" destOrd="0" presId="urn:microsoft.com/office/officeart/2005/8/layout/hList7#1"/>
    <dgm:cxn modelId="{0543C012-DF0D-4E1E-9AD6-EC248AB7A895}" type="presParOf" srcId="{1DBA9ACC-AB22-4B0D-A134-786C9D005C6D}" destId="{CF30EA0C-445F-4116-9CF0-1D3F23730E22}" srcOrd="1" destOrd="0" presId="urn:microsoft.com/office/officeart/2005/8/layout/hList7#1"/>
    <dgm:cxn modelId="{CD5A5ACF-BE41-48E6-B5E2-151BEED1E301}" type="presParOf" srcId="{1DBA9ACC-AB22-4B0D-A134-786C9D005C6D}" destId="{29BC8445-2FBE-4A38-A16B-F102A54C95A9}" srcOrd="2" destOrd="0" presId="urn:microsoft.com/office/officeart/2005/8/layout/hList7#1"/>
    <dgm:cxn modelId="{6D3CB56D-23F3-49E8-9CFB-CCA2FADB4DBF}" type="presParOf" srcId="{1DBA9ACC-AB22-4B0D-A134-786C9D005C6D}" destId="{6671193F-3179-4BAF-AD64-C310176A57B1}" srcOrd="3" destOrd="0" presId="urn:microsoft.com/office/officeart/2005/8/layout/hList7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41A623-3CC7-4104-A01C-5F5FE5FFC1A3}">
      <dsp:nvSpPr>
        <dsp:cNvPr id="0" name=""/>
        <dsp:cNvSpPr/>
      </dsp:nvSpPr>
      <dsp:spPr>
        <a:xfrm>
          <a:off x="1808450" y="630134"/>
          <a:ext cx="4201875" cy="4201875"/>
        </a:xfrm>
        <a:prstGeom prst="blockArc">
          <a:avLst>
            <a:gd name="adj1" fmla="val 9000000"/>
            <a:gd name="adj2" fmla="val 16200000"/>
            <a:gd name="adj3" fmla="val 4643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42862B-D190-4A25-8C92-7315B54E1FD0}">
      <dsp:nvSpPr>
        <dsp:cNvPr id="0" name=""/>
        <dsp:cNvSpPr/>
      </dsp:nvSpPr>
      <dsp:spPr>
        <a:xfrm>
          <a:off x="1808450" y="630134"/>
          <a:ext cx="4201875" cy="4201875"/>
        </a:xfrm>
        <a:prstGeom prst="blockArc">
          <a:avLst>
            <a:gd name="adj1" fmla="val 1800000"/>
            <a:gd name="adj2" fmla="val 9000000"/>
            <a:gd name="adj3" fmla="val 4643"/>
          </a:avLst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3E625C-55AA-420D-BB8F-71A290ECD882}">
      <dsp:nvSpPr>
        <dsp:cNvPr id="0" name=""/>
        <dsp:cNvSpPr/>
      </dsp:nvSpPr>
      <dsp:spPr>
        <a:xfrm>
          <a:off x="1808450" y="630134"/>
          <a:ext cx="4201875" cy="4201875"/>
        </a:xfrm>
        <a:prstGeom prst="blockArc">
          <a:avLst>
            <a:gd name="adj1" fmla="val 16200000"/>
            <a:gd name="adj2" fmla="val 1800000"/>
            <a:gd name="adj3" fmla="val 4643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F031A5-9C6C-4D90-ADD2-31F0F0AF0B5B}">
      <dsp:nvSpPr>
        <dsp:cNvPr id="0" name=""/>
        <dsp:cNvSpPr/>
      </dsp:nvSpPr>
      <dsp:spPr>
        <a:xfrm>
          <a:off x="2956112" y="1933058"/>
          <a:ext cx="2061201" cy="1132157"/>
        </a:xfrm>
        <a:prstGeom prst="ellips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8260" tIns="48260" rIns="4826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800" b="1" kern="1200" dirty="0"/>
            <a:t>Critère </a:t>
          </a:r>
        </a:p>
      </dsp:txBody>
      <dsp:txXfrm>
        <a:off x="3257968" y="2098859"/>
        <a:ext cx="1457489" cy="800555"/>
      </dsp:txXfrm>
    </dsp:sp>
    <dsp:sp modelId="{80E41724-097A-4202-AEC1-CF7CEAA25E58}">
      <dsp:nvSpPr>
        <dsp:cNvPr id="0" name=""/>
        <dsp:cNvSpPr/>
      </dsp:nvSpPr>
      <dsp:spPr>
        <a:xfrm>
          <a:off x="2723807" y="1481"/>
          <a:ext cx="2371162" cy="1354856"/>
        </a:xfrm>
        <a:prstGeom prst="ellipse">
          <a:avLst/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/>
            <a:t>Juridique </a:t>
          </a:r>
          <a:endParaRPr lang="fr-FR" sz="2400" b="1" kern="1200" dirty="0"/>
        </a:p>
      </dsp:txBody>
      <dsp:txXfrm>
        <a:off x="3071056" y="199895"/>
        <a:ext cx="1676664" cy="958028"/>
      </dsp:txXfrm>
    </dsp:sp>
    <dsp:sp modelId="{3286AEF8-2E2B-49E8-A938-294C04312B4B}">
      <dsp:nvSpPr>
        <dsp:cNvPr id="0" name=""/>
        <dsp:cNvSpPr/>
      </dsp:nvSpPr>
      <dsp:spPr>
        <a:xfrm>
          <a:off x="4494048" y="3079725"/>
          <a:ext cx="2385130" cy="1354856"/>
        </a:xfrm>
        <a:prstGeom prst="ellipse">
          <a:avLst/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b="1" kern="1200" dirty="0"/>
            <a:t>Sectoriel</a:t>
          </a:r>
        </a:p>
      </dsp:txBody>
      <dsp:txXfrm>
        <a:off x="4843342" y="3278139"/>
        <a:ext cx="1686542" cy="958028"/>
      </dsp:txXfrm>
    </dsp:sp>
    <dsp:sp modelId="{E32FFE8A-DD41-4DAE-A9AA-319E56E25F71}">
      <dsp:nvSpPr>
        <dsp:cNvPr id="0" name=""/>
        <dsp:cNvSpPr/>
      </dsp:nvSpPr>
      <dsp:spPr>
        <a:xfrm>
          <a:off x="893221" y="3079725"/>
          <a:ext cx="2477884" cy="1354856"/>
        </a:xfrm>
        <a:prstGeom prst="ellipse">
          <a:avLst/>
        </a:prstGeom>
        <a:blipFill rotWithShape="0">
          <a:blip xmlns:r="http://schemas.openxmlformats.org/officeDocument/2006/relationships" r:embed="rId4"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b="1" kern="1200"/>
            <a:t>Dimensionne</a:t>
          </a:r>
          <a:r>
            <a:rPr lang="fr-FR" sz="1200" kern="1200"/>
            <a:t>l </a:t>
          </a:r>
          <a:endParaRPr lang="fr-FR" sz="1200" kern="1200" dirty="0"/>
        </a:p>
      </dsp:txBody>
      <dsp:txXfrm>
        <a:off x="1256099" y="3278139"/>
        <a:ext cx="1752128" cy="9580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3660B6-E003-45FE-AE85-C162C7856723}">
      <dsp:nvSpPr>
        <dsp:cNvPr id="0" name=""/>
        <dsp:cNvSpPr/>
      </dsp:nvSpPr>
      <dsp:spPr>
        <a:xfrm rot="1752209">
          <a:off x="2270929" y="3146406"/>
          <a:ext cx="891073" cy="67763"/>
        </a:xfrm>
        <a:custGeom>
          <a:avLst/>
          <a:gdLst/>
          <a:ahLst/>
          <a:cxnLst/>
          <a:rect l="0" t="0" r="0" b="0"/>
          <a:pathLst>
            <a:path>
              <a:moveTo>
                <a:pt x="0" y="33881"/>
              </a:moveTo>
              <a:lnTo>
                <a:pt x="891073" y="33881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5EDF36-9BBC-404E-9451-07B3A1F0BB19}">
      <dsp:nvSpPr>
        <dsp:cNvPr id="0" name=""/>
        <dsp:cNvSpPr/>
      </dsp:nvSpPr>
      <dsp:spPr>
        <a:xfrm rot="19847791">
          <a:off x="2270929" y="1640417"/>
          <a:ext cx="891073" cy="67763"/>
        </a:xfrm>
        <a:custGeom>
          <a:avLst/>
          <a:gdLst/>
          <a:ahLst/>
          <a:cxnLst/>
          <a:rect l="0" t="0" r="0" b="0"/>
          <a:pathLst>
            <a:path>
              <a:moveTo>
                <a:pt x="0" y="33881"/>
              </a:moveTo>
              <a:lnTo>
                <a:pt x="891073" y="33881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22A0E9-8548-415D-A5DD-0349DEA025C0}">
      <dsp:nvSpPr>
        <dsp:cNvPr id="0" name=""/>
        <dsp:cNvSpPr/>
      </dsp:nvSpPr>
      <dsp:spPr>
        <a:xfrm>
          <a:off x="439" y="1058398"/>
          <a:ext cx="2737790" cy="2737790"/>
        </a:xfrm>
        <a:prstGeom prst="ellips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A57021-5D9F-4BDF-8AE1-45BA3A8B28AB}">
      <dsp:nvSpPr>
        <dsp:cNvPr id="0" name=""/>
        <dsp:cNvSpPr/>
      </dsp:nvSpPr>
      <dsp:spPr>
        <a:xfrm>
          <a:off x="3000974" y="234838"/>
          <a:ext cx="1642674" cy="1642674"/>
        </a:xfrm>
        <a:prstGeom prst="ellipse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/>
            <a:t>Taille </a:t>
          </a:r>
        </a:p>
      </dsp:txBody>
      <dsp:txXfrm>
        <a:off x="3241538" y="475402"/>
        <a:ext cx="1161546" cy="1161546"/>
      </dsp:txXfrm>
    </dsp:sp>
    <dsp:sp modelId="{F54ADA31-8EB6-43BC-A80F-DD05F0AEA7B8}">
      <dsp:nvSpPr>
        <dsp:cNvPr id="0" name=""/>
        <dsp:cNvSpPr/>
      </dsp:nvSpPr>
      <dsp:spPr>
        <a:xfrm>
          <a:off x="3000974" y="2977075"/>
          <a:ext cx="1642674" cy="1642674"/>
        </a:xfrm>
        <a:prstGeom prst="ellipse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/>
            <a:t>Valeur ajoutée </a:t>
          </a:r>
        </a:p>
      </dsp:txBody>
      <dsp:txXfrm>
        <a:off x="3241538" y="3217639"/>
        <a:ext cx="1161546" cy="116154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50FC4B-75B8-4CD6-8392-3CA90776067C}">
      <dsp:nvSpPr>
        <dsp:cNvPr id="0" name=""/>
        <dsp:cNvSpPr/>
      </dsp:nvSpPr>
      <dsp:spPr>
        <a:xfrm>
          <a:off x="0" y="71437"/>
          <a:ext cx="8305800" cy="5191125"/>
        </a:xfrm>
        <a:prstGeom prst="swooshArrow">
          <a:avLst>
            <a:gd name="adj1" fmla="val 25000"/>
            <a:gd name="adj2" fmla="val 25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22735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5AED6B-4D23-4990-972C-5D383CB41137}">
      <dsp:nvSpPr>
        <dsp:cNvPr id="0" name=""/>
        <dsp:cNvSpPr/>
      </dsp:nvSpPr>
      <dsp:spPr>
        <a:xfrm>
          <a:off x="818121" y="3931558"/>
          <a:ext cx="191033" cy="19103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C4DBF0E-2F05-4AE0-A211-F589ED472161}">
      <dsp:nvSpPr>
        <dsp:cNvPr id="0" name=""/>
        <dsp:cNvSpPr/>
      </dsp:nvSpPr>
      <dsp:spPr>
        <a:xfrm>
          <a:off x="0" y="71437"/>
          <a:ext cx="913638" cy="39556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01225" bIns="0" numCol="1" spcCol="1270" anchor="b" anchorCtr="0">
          <a:noAutofit/>
          <a:sp3d extrusionH="28000" prstMaterial="matte"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800" kern="1200" dirty="0"/>
        </a:p>
      </dsp:txBody>
      <dsp:txXfrm>
        <a:off x="0" y="71437"/>
        <a:ext cx="913638" cy="3955637"/>
      </dsp:txXfrm>
    </dsp:sp>
    <dsp:sp modelId="{3C414643-19B7-43A3-8C4F-E0FC8B9B548B}">
      <dsp:nvSpPr>
        <dsp:cNvPr id="0" name=""/>
        <dsp:cNvSpPr/>
      </dsp:nvSpPr>
      <dsp:spPr>
        <a:xfrm>
          <a:off x="1852193" y="2937976"/>
          <a:ext cx="299008" cy="299008"/>
        </a:xfrm>
        <a:prstGeom prst="ellipse">
          <a:avLst/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ACF6578-DF4D-4086-90BE-A87789FDBD2D}">
      <dsp:nvSpPr>
        <dsp:cNvPr id="0" name=""/>
        <dsp:cNvSpPr/>
      </dsp:nvSpPr>
      <dsp:spPr>
        <a:xfrm>
          <a:off x="913638" y="71437"/>
          <a:ext cx="1088059" cy="3016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58439" bIns="0" numCol="1" spcCol="1270" anchor="b" anchorCtr="0">
          <a:noAutofit/>
          <a:sp3d extrusionH="28000" prstMaterial="matte"/>
        </a:bodyPr>
        <a:lstStyle/>
        <a:p>
          <a:pPr marL="0" lvl="0" indent="0" algn="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600" kern="1200" dirty="0"/>
        </a:p>
      </dsp:txBody>
      <dsp:txXfrm>
        <a:off x="913638" y="71437"/>
        <a:ext cx="1088059" cy="3016043"/>
      </dsp:txXfrm>
    </dsp:sp>
    <dsp:sp modelId="{0E428360-E3F7-4091-85F7-A133F631400E}">
      <dsp:nvSpPr>
        <dsp:cNvPr id="0" name=""/>
        <dsp:cNvSpPr/>
      </dsp:nvSpPr>
      <dsp:spPr>
        <a:xfrm>
          <a:off x="3181121" y="2145811"/>
          <a:ext cx="398678" cy="398678"/>
        </a:xfrm>
        <a:prstGeom prst="ellipse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19EC8DB-A21C-489F-B773-F4F8BAFBCA3B}">
      <dsp:nvSpPr>
        <dsp:cNvPr id="0" name=""/>
        <dsp:cNvSpPr/>
      </dsp:nvSpPr>
      <dsp:spPr>
        <a:xfrm>
          <a:off x="2001697" y="71437"/>
          <a:ext cx="1378762" cy="22737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11251" bIns="0" numCol="1" spcCol="1270" anchor="b" anchorCtr="0">
          <a:noAutofit/>
          <a:sp3d extrusionH="28000" prstMaterial="matte"/>
        </a:bodyPr>
        <a:lstStyle/>
        <a:p>
          <a:pPr marL="0" lvl="0" indent="0" algn="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3300" kern="1200" dirty="0"/>
        </a:p>
      </dsp:txBody>
      <dsp:txXfrm>
        <a:off x="2001697" y="71437"/>
        <a:ext cx="1378762" cy="2273712"/>
      </dsp:txXfrm>
    </dsp:sp>
    <dsp:sp modelId="{C005A519-C89F-440F-9B66-A50A95760DB3}">
      <dsp:nvSpPr>
        <dsp:cNvPr id="0" name=""/>
        <dsp:cNvSpPr/>
      </dsp:nvSpPr>
      <dsp:spPr>
        <a:xfrm>
          <a:off x="4726000" y="1527028"/>
          <a:ext cx="514959" cy="514959"/>
        </a:xfrm>
        <a:prstGeom prst="ellipse">
          <a:avLst/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B73AC03-D095-4215-806B-4CB75285E8D3}">
      <dsp:nvSpPr>
        <dsp:cNvPr id="0" name=""/>
        <dsp:cNvSpPr/>
      </dsp:nvSpPr>
      <dsp:spPr>
        <a:xfrm>
          <a:off x="3380460" y="71437"/>
          <a:ext cx="1603019" cy="1713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72866" bIns="0" numCol="1" spcCol="1270" anchor="b" anchorCtr="0">
          <a:noAutofit/>
          <a:sp3d extrusionH="28000" prstMaterial="matte"/>
        </a:bodyPr>
        <a:lstStyle/>
        <a:p>
          <a:pPr marL="0" lvl="0" indent="0" algn="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6500" kern="1200" dirty="0"/>
        </a:p>
      </dsp:txBody>
      <dsp:txXfrm>
        <a:off x="3380460" y="71437"/>
        <a:ext cx="1603019" cy="1713071"/>
      </dsp:txXfrm>
    </dsp:sp>
    <dsp:sp modelId="{3FA826AE-1CD5-4C61-910E-D108CDC17E6B}">
      <dsp:nvSpPr>
        <dsp:cNvPr id="0" name=""/>
        <dsp:cNvSpPr/>
      </dsp:nvSpPr>
      <dsp:spPr>
        <a:xfrm>
          <a:off x="6316560" y="1113815"/>
          <a:ext cx="656158" cy="656158"/>
        </a:xfrm>
        <a:prstGeom prst="ellipse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A539409-E392-4EA1-9E22-6A016952E2F4}">
      <dsp:nvSpPr>
        <dsp:cNvPr id="0" name=""/>
        <dsp:cNvSpPr/>
      </dsp:nvSpPr>
      <dsp:spPr>
        <a:xfrm>
          <a:off x="4983480" y="71437"/>
          <a:ext cx="1661160" cy="1370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47685" bIns="0" numCol="1" spcCol="1270" anchor="b" anchorCtr="0">
          <a:noAutofit/>
          <a:sp3d extrusionH="28000" prstMaterial="matte"/>
        </a:bodyPr>
        <a:lstStyle/>
        <a:p>
          <a:pPr marL="0" lvl="0" indent="0" algn="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6500" kern="1200" dirty="0"/>
        </a:p>
      </dsp:txBody>
      <dsp:txXfrm>
        <a:off x="4983480" y="71437"/>
        <a:ext cx="1661160" cy="137045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6E3414-1D38-4E81-949D-B7F5F7792980}">
      <dsp:nvSpPr>
        <dsp:cNvPr id="0" name=""/>
        <dsp:cNvSpPr/>
      </dsp:nvSpPr>
      <dsp:spPr>
        <a:xfrm>
          <a:off x="4042" y="0"/>
          <a:ext cx="3888730" cy="5257800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400" kern="1200" dirty="0"/>
            <a:t>CA</a:t>
          </a:r>
        </a:p>
      </dsp:txBody>
      <dsp:txXfrm>
        <a:off x="4042" y="0"/>
        <a:ext cx="3888730" cy="1577340"/>
      </dsp:txXfrm>
    </dsp:sp>
    <dsp:sp modelId="{A858332C-ED4D-4351-87B2-A8BF6A5CB8B8}">
      <dsp:nvSpPr>
        <dsp:cNvPr id="0" name=""/>
        <dsp:cNvSpPr/>
      </dsp:nvSpPr>
      <dsp:spPr>
        <a:xfrm>
          <a:off x="327818" y="2069555"/>
          <a:ext cx="3241178" cy="243313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 spc="-5" dirty="0">
              <a:latin typeface="Trebuchet MS"/>
              <a:cs typeface="Trebuchet MS"/>
            </a:rPr>
            <a:t>Permet </a:t>
          </a:r>
          <a:r>
            <a:rPr lang="fr-FR" sz="2000" b="1" kern="1200" spc="-10" dirty="0">
              <a:latin typeface="Trebuchet MS"/>
              <a:cs typeface="Trebuchet MS"/>
            </a:rPr>
            <a:t>par la comparaison  </a:t>
          </a:r>
          <a:r>
            <a:rPr lang="fr-FR" sz="2000" b="1" kern="1200" spc="-5" dirty="0">
              <a:latin typeface="Trebuchet MS"/>
              <a:cs typeface="Trebuchet MS"/>
            </a:rPr>
            <a:t>avec ses concurrents, de </a:t>
          </a:r>
          <a:r>
            <a:rPr lang="fr-FR" sz="2000" b="1" kern="1200" spc="-10" dirty="0">
              <a:latin typeface="Trebuchet MS"/>
              <a:cs typeface="Trebuchet MS"/>
            </a:rPr>
            <a:t>mesurer </a:t>
          </a:r>
          <a:r>
            <a:rPr lang="fr-FR" sz="2000" b="1" kern="1200" spc="-5" dirty="0">
              <a:latin typeface="Trebuchet MS"/>
              <a:cs typeface="Trebuchet MS"/>
            </a:rPr>
            <a:t>la part du  marché de</a:t>
          </a:r>
          <a:r>
            <a:rPr lang="fr-FR" sz="2000" b="1" kern="1200" spc="-45" dirty="0">
              <a:latin typeface="Trebuchet MS"/>
              <a:cs typeface="Trebuchet MS"/>
            </a:rPr>
            <a:t> </a:t>
          </a:r>
          <a:r>
            <a:rPr lang="fr-FR" sz="2000" b="1" kern="1200" spc="-5" dirty="0">
              <a:latin typeface="Trebuchet MS"/>
              <a:cs typeface="Trebuchet MS"/>
            </a:rPr>
            <a:t>l’entreprise</a:t>
          </a:r>
          <a:endParaRPr lang="fr-FR" sz="2000" b="1" kern="1200" dirty="0">
            <a:latin typeface="Trebuchet MS"/>
            <a:cs typeface="Trebuchet MS"/>
          </a:endParaRPr>
        </a:p>
      </dsp:txBody>
      <dsp:txXfrm>
        <a:off x="399082" y="2140819"/>
        <a:ext cx="3098650" cy="2290610"/>
      </dsp:txXfrm>
    </dsp:sp>
    <dsp:sp modelId="{54C6F627-764D-4E8F-AF4E-71663F473C43}">
      <dsp:nvSpPr>
        <dsp:cNvPr id="0" name=""/>
        <dsp:cNvSpPr/>
      </dsp:nvSpPr>
      <dsp:spPr>
        <a:xfrm>
          <a:off x="4184427" y="0"/>
          <a:ext cx="3888730" cy="5257800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400" kern="1200" dirty="0"/>
            <a:t>Le résultat de l’entreprise  </a:t>
          </a:r>
        </a:p>
      </dsp:txBody>
      <dsp:txXfrm>
        <a:off x="4184427" y="0"/>
        <a:ext cx="3888730" cy="1577340"/>
      </dsp:txXfrm>
    </dsp:sp>
    <dsp:sp modelId="{97B8C8F1-F018-4E6C-8F31-17180E181DA1}">
      <dsp:nvSpPr>
        <dsp:cNvPr id="0" name=""/>
        <dsp:cNvSpPr/>
      </dsp:nvSpPr>
      <dsp:spPr>
        <a:xfrm>
          <a:off x="4602123" y="2085976"/>
          <a:ext cx="3053337" cy="240029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45720" rIns="6096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dirty="0"/>
            <a:t>Il traduit la performance de l’entreprise </a:t>
          </a:r>
        </a:p>
      </dsp:txBody>
      <dsp:txXfrm>
        <a:off x="4672425" y="2156278"/>
        <a:ext cx="2912733" cy="225969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D2E854-CC43-4152-AB8F-A0D4F4AEF5D0}">
      <dsp:nvSpPr>
        <dsp:cNvPr id="0" name=""/>
        <dsp:cNvSpPr/>
      </dsp:nvSpPr>
      <dsp:spPr>
        <a:xfrm>
          <a:off x="1682" y="0"/>
          <a:ext cx="1763294" cy="381000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 dirty="0"/>
            <a:t>Secteur primaire </a:t>
          </a:r>
        </a:p>
      </dsp:txBody>
      <dsp:txXfrm>
        <a:off x="1682" y="1524003"/>
        <a:ext cx="1763294" cy="1524003"/>
      </dsp:txXfrm>
    </dsp:sp>
    <dsp:sp modelId="{549D3BD9-3954-49DD-B776-2E661AB5C0B1}">
      <dsp:nvSpPr>
        <dsp:cNvPr id="0" name=""/>
        <dsp:cNvSpPr/>
      </dsp:nvSpPr>
      <dsp:spPr>
        <a:xfrm>
          <a:off x="248963" y="228600"/>
          <a:ext cx="1268732" cy="1268732"/>
        </a:xfrm>
        <a:prstGeom prst="ellips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z="50080"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7285DF2-D6E6-40CE-975C-B609DEFACE06}">
      <dsp:nvSpPr>
        <dsp:cNvPr id="0" name=""/>
        <dsp:cNvSpPr/>
      </dsp:nvSpPr>
      <dsp:spPr>
        <a:xfrm>
          <a:off x="1817875" y="0"/>
          <a:ext cx="1763294" cy="3810008"/>
        </a:xfrm>
        <a:prstGeom prst="roundRect">
          <a:avLst>
            <a:gd name="adj" fmla="val 10000"/>
          </a:avLst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 dirty="0"/>
            <a:t>Secteur secondaire </a:t>
          </a:r>
        </a:p>
      </dsp:txBody>
      <dsp:txXfrm>
        <a:off x="1817875" y="1524003"/>
        <a:ext cx="1763294" cy="1524003"/>
      </dsp:txXfrm>
    </dsp:sp>
    <dsp:sp modelId="{D596CD21-06C5-40CF-AA7A-9B4CCAD320AB}">
      <dsp:nvSpPr>
        <dsp:cNvPr id="0" name=""/>
        <dsp:cNvSpPr/>
      </dsp:nvSpPr>
      <dsp:spPr>
        <a:xfrm>
          <a:off x="2065156" y="228600"/>
          <a:ext cx="1268732" cy="1268732"/>
        </a:xfrm>
        <a:prstGeom prst="ellipse">
          <a:avLst/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z="50080"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369B7C3-1CDD-4860-835A-31AAA5A68DE4}">
      <dsp:nvSpPr>
        <dsp:cNvPr id="0" name=""/>
        <dsp:cNvSpPr/>
      </dsp:nvSpPr>
      <dsp:spPr>
        <a:xfrm>
          <a:off x="3634068" y="0"/>
          <a:ext cx="1763294" cy="3810008"/>
        </a:xfrm>
        <a:prstGeom prst="roundRect">
          <a:avLst>
            <a:gd name="adj" fmla="val 10000"/>
          </a:avLst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 dirty="0"/>
            <a:t>Secteur tertiaire</a:t>
          </a:r>
        </a:p>
      </dsp:txBody>
      <dsp:txXfrm>
        <a:off x="3634068" y="1524003"/>
        <a:ext cx="1763294" cy="1524003"/>
      </dsp:txXfrm>
    </dsp:sp>
    <dsp:sp modelId="{3618B746-60C8-4E41-B5F3-20EAB7984172}">
      <dsp:nvSpPr>
        <dsp:cNvPr id="0" name=""/>
        <dsp:cNvSpPr/>
      </dsp:nvSpPr>
      <dsp:spPr>
        <a:xfrm>
          <a:off x="3881349" y="228600"/>
          <a:ext cx="1268732" cy="1268732"/>
        </a:xfrm>
        <a:prstGeom prst="ellipse">
          <a:avLst/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z="50080"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0A8C3E3-4953-4949-A815-FAD623F1F64A}">
      <dsp:nvSpPr>
        <dsp:cNvPr id="0" name=""/>
        <dsp:cNvSpPr/>
      </dsp:nvSpPr>
      <dsp:spPr>
        <a:xfrm>
          <a:off x="5450261" y="0"/>
          <a:ext cx="1763294" cy="3810008"/>
        </a:xfrm>
        <a:prstGeom prst="roundRect">
          <a:avLst>
            <a:gd name="adj" fmla="val 1000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 dirty="0"/>
            <a:t>Secteur des NTIC </a:t>
          </a:r>
        </a:p>
      </dsp:txBody>
      <dsp:txXfrm>
        <a:off x="5450261" y="1524003"/>
        <a:ext cx="1763294" cy="1524003"/>
      </dsp:txXfrm>
    </dsp:sp>
    <dsp:sp modelId="{6671193F-3179-4BAF-AD64-C310176A57B1}">
      <dsp:nvSpPr>
        <dsp:cNvPr id="0" name=""/>
        <dsp:cNvSpPr/>
      </dsp:nvSpPr>
      <dsp:spPr>
        <a:xfrm>
          <a:off x="5697542" y="228600"/>
          <a:ext cx="1268732" cy="1268732"/>
        </a:xfrm>
        <a:prstGeom prst="ellipse">
          <a:avLst/>
        </a:prstGeom>
        <a:blipFill rotWithShape="0">
          <a:blip xmlns:r="http://schemas.openxmlformats.org/officeDocument/2006/relationships" r:embed="rId4"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z="50080"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5282B0A-568B-4D2E-A05B-C05AD348332B}">
      <dsp:nvSpPr>
        <dsp:cNvPr id="0" name=""/>
        <dsp:cNvSpPr/>
      </dsp:nvSpPr>
      <dsp:spPr>
        <a:xfrm>
          <a:off x="288609" y="3048006"/>
          <a:ext cx="6638018" cy="571501"/>
        </a:xfrm>
        <a:prstGeom prst="leftRightArrow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z="50080"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txAnchorVertCh" val="mid"/>
                <dgm:param type="stBulletLvl" val="1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dim" val="1D"/>
              <dgm:param type="endSty" val="noArr"/>
              <dgm:param type="begPts" val="auto"/>
              <dgm:param type="endPts" val="auto"/>
              <dgm:param type="srcNode" val="connSite"/>
              <dgm:param type="dstNode" val="parentNode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7#1">
  <dgm:title val=""/>
  <dgm:desc val=""/>
  <dgm:catLst>
    <dgm:cat type="list" pri="12000"/>
    <dgm:cat type="process" pri="20000"/>
    <dgm:cat type="relationship" pri="14000"/>
    <dgm:cat type="convert" pri="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9">
  <dgm:title val=""/>
  <dgm:desc val=""/>
  <dgm:catLst>
    <dgm:cat type="3D" pri="11900"/>
  </dgm:catLst>
  <dgm:scene3d>
    <a:camera prst="perspectiveRelaxed">
      <a:rot lat="19149996" lon="20104178" rev="1577324"/>
    </a:camera>
    <a:lightRig rig="soft" dir="t"/>
    <a:backdrop>
      <a:anchor x="0" y="0" z="-210000"/>
      <a:norm dx="0" dy="0" dz="914400"/>
      <a:up dx="0" dy="914400" dz="0"/>
    </a:backdrop>
  </dgm:scene3d>
  <dgm:styleLbl name="node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6">
  <dgm:title val=""/>
  <dgm:desc val=""/>
  <dgm:catLst>
    <dgm:cat type="3D" pri="11600"/>
  </dgm:catLst>
  <dgm:scene3d>
    <a:camera prst="perspectiveRelaxedModerately" zoom="92000"/>
    <a:lightRig rig="balanced" dir="t">
      <a:rot lat="0" lon="0" rev="12700000"/>
    </a:lightRig>
  </dgm:scene3d>
  <dgm:styleLbl name="node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5400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54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5400" prstMaterial="plastic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75000" prstMaterial="plastic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2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3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4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0400" extrusionH="12700" prstMaterial="plastic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D62A155D-1652-47E6-B66D-A73587F75389}" type="datetimeFigureOut">
              <a:rPr lang="fr-FR"/>
              <a:pPr>
                <a:defRPr/>
              </a:pPr>
              <a:t>08/09/2023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ECB1A63D-7DD8-4A00-B55A-1D7390E1B458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CB1A63D-7DD8-4A00-B55A-1D7390E1B458}" type="slidenum">
              <a:rPr lang="fr-FR" smtClean="0"/>
              <a:pPr>
                <a:defRPr/>
              </a:pPr>
              <a:t>5</a:t>
            </a:fld>
            <a:endParaRPr lang="fr-FR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  <p:extLst>
      <p:ext uri="{BB962C8B-B14F-4D97-AF65-F5344CB8AC3E}">
        <p14:creationId xmlns:p14="http://schemas.microsoft.com/office/powerpoint/2010/main" val="14303246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fr-FR"/>
          </a:p>
        </p:txBody>
      </p:sp>
      <p:sp>
        <p:nvSpPr>
          <p:cNvPr id="68612" name="Header Placeholder 3"/>
          <p:cNvSpPr>
            <a:spLocks noGrp="1"/>
          </p:cNvSpPr>
          <p:nvPr>
            <p:ph type="hdr" sz="quarter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fr-FR"/>
              <a:t>My First Template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CB1A63D-7DD8-4A00-B55A-1D7390E1B458}" type="slidenum">
              <a:rPr lang="fr-FR" smtClean="0"/>
              <a:pPr>
                <a:defRPr/>
              </a:pPr>
              <a:t>16</a:t>
            </a:fld>
            <a:endParaRPr lang="fr-FR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CB1A63D-7DD8-4A00-B55A-1D7390E1B458}" type="slidenum">
              <a:rPr lang="fr-FR" smtClean="0"/>
              <a:pPr>
                <a:defRPr/>
              </a:pPr>
              <a:t>17</a:t>
            </a:fld>
            <a:endParaRPr lang="fr-FR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CB1A63D-7DD8-4A00-B55A-1D7390E1B458}" type="slidenum">
              <a:rPr lang="fr-FR" smtClean="0"/>
              <a:pPr>
                <a:defRPr/>
              </a:pPr>
              <a:t>18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31485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  <p:extLst>
      <p:ext uri="{BB962C8B-B14F-4D97-AF65-F5344CB8AC3E}">
        <p14:creationId xmlns:p14="http://schemas.microsoft.com/office/powerpoint/2010/main" val="14303246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CB1A63D-7DD8-4A00-B55A-1D7390E1B458}" type="slidenum">
              <a:rPr lang="fr-FR" smtClean="0"/>
              <a:pPr>
                <a:defRPr/>
              </a:pPr>
              <a:t>22</a:t>
            </a:fld>
            <a:endParaRPr lang="fr-FR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  <p:extLst>
      <p:ext uri="{BB962C8B-B14F-4D97-AF65-F5344CB8AC3E}">
        <p14:creationId xmlns:p14="http://schemas.microsoft.com/office/powerpoint/2010/main" val="14303246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TN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B1A63D-7DD8-4A00-B55A-1D7390E1B458}" type="slidenum">
              <a:rPr lang="fr-FR" smtClean="0"/>
              <a:pPr>
                <a:defRPr/>
              </a:pPr>
              <a:t>41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894112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  <p:extLst>
      <p:ext uri="{BB962C8B-B14F-4D97-AF65-F5344CB8AC3E}">
        <p14:creationId xmlns:p14="http://schemas.microsoft.com/office/powerpoint/2010/main" val="3991829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19A017-3563-4CD3-9021-50C565ACD0B2}" type="datetime1">
              <a:rPr lang="fr-FR"/>
              <a:pPr>
                <a:defRPr/>
              </a:pPr>
              <a:t>08/09/2023</a:t>
            </a:fld>
            <a:endParaRPr lang="fr-BE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BE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CE5848-56AE-46D2-B52E-CBE468F84D4B}" type="slidenum">
              <a:rPr lang="fr-BE"/>
              <a:pPr>
                <a:defRPr/>
              </a:pPr>
              <a:t>‹N°›</a:t>
            </a:fld>
            <a:endParaRPr lang="fr-BE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403201-A3BF-4B20-886B-B2CC27A87F7C}" type="datetime1">
              <a:rPr lang="fr-FR"/>
              <a:pPr>
                <a:defRPr/>
              </a:pPr>
              <a:t>08/09/2023</a:t>
            </a:fld>
            <a:endParaRPr lang="fr-BE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BE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47BAB3-CBE9-48B3-B166-24E7C5A1B070}" type="slidenum">
              <a:rPr lang="fr-BE"/>
              <a:pPr>
                <a:defRPr/>
              </a:pPr>
              <a:t>‹N°›</a:t>
            </a:fld>
            <a:endParaRPr lang="fr-B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BC9469-E1CB-4EAE-BB44-B80FC2D607A5}" type="datetime1">
              <a:rPr lang="fr-FR"/>
              <a:pPr>
                <a:defRPr/>
              </a:pPr>
              <a:t>08/09/2023</a:t>
            </a:fld>
            <a:endParaRPr lang="fr-BE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BE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0EBED6-3FC6-48C7-AD3B-F6AAF581FA24}" type="slidenum">
              <a:rPr lang="fr-BE"/>
              <a:pPr>
                <a:defRPr/>
              </a:pPr>
              <a:t>‹N°›</a:t>
            </a:fld>
            <a:endParaRPr lang="fr-BE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445B68-492C-4E79-8A58-9C3D7D6623DB}" type="datetime1">
              <a:rPr lang="fr-FR"/>
              <a:pPr>
                <a:defRPr/>
              </a:pPr>
              <a:t>08/09/2023</a:t>
            </a:fld>
            <a:endParaRPr lang="fr-BE" dirty="0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BE" dirty="0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FC8D02-6132-4DA7-BA2E-1BB809CFD7C6}" type="slidenum">
              <a:rPr lang="fr-BE"/>
              <a:pPr>
                <a:defRPr/>
              </a:pPr>
              <a:t>‹N°›</a:t>
            </a:fld>
            <a:endParaRPr lang="fr-BE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7F520C-C131-4B5B-BD59-D178AB71D468}" type="datetime1">
              <a:rPr lang="fr-FR"/>
              <a:pPr>
                <a:defRPr/>
              </a:pPr>
              <a:t>08/09/2023</a:t>
            </a:fld>
            <a:endParaRPr lang="fr-BE" dirty="0"/>
          </a:p>
        </p:txBody>
      </p:sp>
      <p:sp>
        <p:nvSpPr>
          <p:cNvPr id="8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BE" dirty="0"/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FC37E4-ACED-4C04-8358-CFE6F5CCECF4}" type="slidenum">
              <a:rPr lang="fr-BE"/>
              <a:pPr>
                <a:defRPr/>
              </a:pPr>
              <a:t>‹N°›</a:t>
            </a:fld>
            <a:endParaRPr lang="fr-BE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846C68-D19D-4775-B88A-499CA0B29F73}" type="datetime1">
              <a:rPr lang="fr-FR"/>
              <a:pPr>
                <a:defRPr/>
              </a:pPr>
              <a:t>08/09/2023</a:t>
            </a:fld>
            <a:endParaRPr lang="fr-BE" dirty="0"/>
          </a:p>
        </p:txBody>
      </p:sp>
      <p:sp>
        <p:nvSpPr>
          <p:cNvPr id="4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BE" dirty="0"/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83E9EC-8CA2-4613-8134-D35374D8992F}" type="slidenum">
              <a:rPr lang="fr-BE"/>
              <a:pPr>
                <a:defRPr/>
              </a:pPr>
              <a:t>‹N°›</a:t>
            </a:fld>
            <a:endParaRPr lang="fr-BE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A94D03-0EBE-4909-B4F9-15D8E7B5949C}" type="datetime1">
              <a:rPr lang="fr-FR"/>
              <a:pPr>
                <a:defRPr/>
              </a:pPr>
              <a:t>08/09/2023</a:t>
            </a:fld>
            <a:endParaRPr lang="fr-BE" dirty="0"/>
          </a:p>
        </p:txBody>
      </p:sp>
      <p:sp>
        <p:nvSpPr>
          <p:cNvPr id="3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BE" dirty="0"/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F5393-BE88-4953-9E25-4CBB90538060}" type="slidenum">
              <a:rPr lang="fr-BE"/>
              <a:pPr>
                <a:defRPr/>
              </a:pPr>
              <a:t>‹N°›</a:t>
            </a:fld>
            <a:endParaRPr lang="fr-BE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BB7C24-E8C2-4C57-B150-678663B1F11D}" type="datetime1">
              <a:rPr lang="fr-FR"/>
              <a:pPr>
                <a:defRPr/>
              </a:pPr>
              <a:t>08/09/2023</a:t>
            </a:fld>
            <a:endParaRPr lang="fr-BE" dirty="0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BE" dirty="0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A2EBB2-8EF4-4350-9CA8-7F00F6ECA78F}" type="slidenum">
              <a:rPr lang="fr-BE"/>
              <a:pPr>
                <a:defRPr/>
              </a:pPr>
              <a:t>‹N°›</a:t>
            </a:fld>
            <a:endParaRPr lang="fr-BE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BE" noProof="0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A90AB3-0E93-4CD5-B6D6-0AFAD7519535}" type="datetime1">
              <a:rPr lang="fr-FR"/>
              <a:pPr>
                <a:defRPr/>
              </a:pPr>
              <a:t>08/09/2023</a:t>
            </a:fld>
            <a:endParaRPr lang="fr-BE" dirty="0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BE" dirty="0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DAF0C3-06B3-46D2-8B9E-00205F08F657}" type="slidenum">
              <a:rPr lang="fr-BE"/>
              <a:pPr>
                <a:defRPr/>
              </a:pPr>
              <a:t>‹N°›</a:t>
            </a:fld>
            <a:endParaRPr lang="fr-BE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1BD8A5-1EEE-4222-8648-33BAA954F95A}" type="datetime1">
              <a:rPr lang="fr-FR"/>
              <a:pPr>
                <a:defRPr/>
              </a:pPr>
              <a:t>08/09/2023</a:t>
            </a:fld>
            <a:endParaRPr lang="fr-BE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BE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0214FD-939A-47BA-B262-7AFAE384754B}" type="slidenum">
              <a:rPr lang="fr-BE"/>
              <a:pPr>
                <a:defRPr/>
              </a:pPr>
              <a:t>‹N°›</a:t>
            </a:fld>
            <a:endParaRPr lang="fr-BE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E20812-450C-441D-AB73-07B272B34B46}" type="datetime1">
              <a:rPr lang="fr-FR"/>
              <a:pPr>
                <a:defRPr/>
              </a:pPr>
              <a:t>08/09/2023</a:t>
            </a:fld>
            <a:endParaRPr lang="fr-BE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BE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232FF6-2974-4570-8D4B-C387F5B65674}" type="slidenum">
              <a:rPr lang="fr-BE"/>
              <a:pPr>
                <a:defRPr/>
              </a:pPr>
              <a:t>‹N°›</a:t>
            </a:fld>
            <a:endParaRPr lang="fr-BE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8"/>
          <p:cNvSpPr>
            <a:spLocks noGrp="1"/>
          </p:cNvSpPr>
          <p:nvPr>
            <p:ph type="pic" sz="quarter" idx="13"/>
          </p:nvPr>
        </p:nvSpPr>
        <p:spPr>
          <a:xfrm>
            <a:off x="771525" y="1485900"/>
            <a:ext cx="1866900" cy="2576848"/>
          </a:xfrm>
          <a:prstGeom prst="ellipse">
            <a:avLst/>
          </a:pr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8" name="Рисунок 8"/>
          <p:cNvSpPr>
            <a:spLocks noGrp="1"/>
          </p:cNvSpPr>
          <p:nvPr>
            <p:ph type="pic" sz="quarter" idx="14"/>
          </p:nvPr>
        </p:nvSpPr>
        <p:spPr>
          <a:xfrm>
            <a:off x="2705100" y="1485900"/>
            <a:ext cx="1866900" cy="2576848"/>
          </a:xfrm>
          <a:prstGeom prst="ellipse">
            <a:avLst/>
          </a:prstGeom>
        </p:spPr>
        <p:txBody>
          <a:bodyPr rtlCol="0">
            <a:normAutofit/>
          </a:bodyPr>
          <a:lstStyle/>
          <a:p>
            <a:pPr lvl="0"/>
            <a:endParaRPr lang="ru-RU" noProof="0"/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5"/>
          </p:nvPr>
        </p:nvSpPr>
        <p:spPr>
          <a:xfrm>
            <a:off x="4638675" y="1485900"/>
            <a:ext cx="1866900" cy="2576848"/>
          </a:xfrm>
          <a:prstGeom prst="ellipse">
            <a:avLst/>
          </a:prstGeom>
        </p:spPr>
        <p:txBody>
          <a:bodyPr rtlCol="0">
            <a:normAutofit/>
          </a:bodyPr>
          <a:lstStyle/>
          <a:p>
            <a:pPr lvl="0"/>
            <a:endParaRPr lang="ru-RU" noProof="0"/>
          </a:p>
        </p:txBody>
      </p:sp>
      <p:sp>
        <p:nvSpPr>
          <p:cNvPr id="10" name="Рисунок 8"/>
          <p:cNvSpPr>
            <a:spLocks noGrp="1"/>
          </p:cNvSpPr>
          <p:nvPr>
            <p:ph type="pic" sz="quarter" idx="16"/>
          </p:nvPr>
        </p:nvSpPr>
        <p:spPr>
          <a:xfrm>
            <a:off x="6572250" y="1485900"/>
            <a:ext cx="1866900" cy="2576848"/>
          </a:xfrm>
          <a:prstGeom prst="ellipse">
            <a:avLst/>
          </a:prstGeom>
        </p:spPr>
        <p:txBody>
          <a:bodyPr rtlCol="0">
            <a:normAutofit/>
          </a:bodyPr>
          <a:lstStyle/>
          <a:p>
            <a:pPr lvl="0"/>
            <a:endParaRPr lang="ru-RU" noProof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867991" y="1963503"/>
            <a:ext cx="1421516" cy="1894789"/>
          </a:xfrm>
          <a:prstGeom prst="ellipse">
            <a:avLst/>
          </a:prstGeom>
          <a:ln w="28575">
            <a:solidFill>
              <a:schemeClr val="accent1"/>
            </a:solidFill>
          </a:ln>
        </p:spPr>
        <p:txBody>
          <a:bodyPr bIns="182880" rtlCol="0" anchor="b">
            <a:normAutofit/>
          </a:bodyPr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fr-FR" noProof="0" dirty="0"/>
              <a:t>Cliquez sur l'icône pour ajouter une image</a:t>
            </a:r>
            <a:endParaRPr lang="en-US" noProof="0" dirty="0"/>
          </a:p>
        </p:txBody>
      </p:sp>
      <p:sp>
        <p:nvSpPr>
          <p:cNvPr id="34" name="Picture Placeholder 7"/>
          <p:cNvSpPr>
            <a:spLocks noGrp="1"/>
          </p:cNvSpPr>
          <p:nvPr>
            <p:ph type="pic" sz="quarter" idx="18"/>
          </p:nvPr>
        </p:nvSpPr>
        <p:spPr>
          <a:xfrm>
            <a:off x="2822644" y="1963503"/>
            <a:ext cx="1421516" cy="1894789"/>
          </a:xfrm>
          <a:prstGeom prst="ellipse">
            <a:avLst/>
          </a:prstGeom>
          <a:ln w="28575">
            <a:solidFill>
              <a:schemeClr val="accent2"/>
            </a:solidFill>
          </a:ln>
        </p:spPr>
        <p:txBody>
          <a:bodyPr bIns="182880" rtlCol="0" anchor="b">
            <a:normAutofit/>
          </a:bodyPr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fr-FR" noProof="0" dirty="0"/>
              <a:t>Cliquez sur l'icône pour ajouter une image</a:t>
            </a:r>
            <a:endParaRPr lang="en-US" noProof="0" dirty="0"/>
          </a:p>
        </p:txBody>
      </p:sp>
      <p:sp>
        <p:nvSpPr>
          <p:cNvPr id="37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4829092" y="1963503"/>
            <a:ext cx="1421516" cy="1894789"/>
          </a:xfrm>
          <a:prstGeom prst="ellipse">
            <a:avLst/>
          </a:prstGeom>
          <a:ln w="28575">
            <a:solidFill>
              <a:schemeClr val="accent3"/>
            </a:solidFill>
          </a:ln>
        </p:spPr>
        <p:txBody>
          <a:bodyPr bIns="182880" rtlCol="0" anchor="b">
            <a:normAutofit/>
          </a:bodyPr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fr-FR" noProof="0" dirty="0"/>
              <a:t>Cliquez sur l'icône pour ajouter une image</a:t>
            </a:r>
            <a:endParaRPr lang="en-US" noProof="0" dirty="0"/>
          </a:p>
        </p:txBody>
      </p:sp>
      <p:sp>
        <p:nvSpPr>
          <p:cNvPr id="40" name="Picture Placeholder 7"/>
          <p:cNvSpPr>
            <a:spLocks noGrp="1"/>
          </p:cNvSpPr>
          <p:nvPr>
            <p:ph type="pic" sz="quarter" idx="24"/>
          </p:nvPr>
        </p:nvSpPr>
        <p:spPr>
          <a:xfrm>
            <a:off x="6835351" y="1963503"/>
            <a:ext cx="1421516" cy="1894789"/>
          </a:xfrm>
          <a:prstGeom prst="ellipse">
            <a:avLst/>
          </a:prstGeom>
          <a:ln w="28575">
            <a:solidFill>
              <a:schemeClr val="accent4"/>
            </a:solidFill>
          </a:ln>
        </p:spPr>
        <p:txBody>
          <a:bodyPr bIns="182880" rtlCol="0" anchor="b">
            <a:normAutofit/>
          </a:bodyPr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fr-FR" noProof="0" dirty="0"/>
              <a:t>Cliquez sur l'icône pour ajouter une image</a:t>
            </a:r>
            <a:endParaRPr lang="en-US" noProof="0" dirty="0"/>
          </a:p>
        </p:txBody>
      </p:sp>
      <p:sp>
        <p:nvSpPr>
          <p:cNvPr id="46" name="Title 1"/>
          <p:cNvSpPr>
            <a:spLocks noGrp="1"/>
          </p:cNvSpPr>
          <p:nvPr>
            <p:ph type="title"/>
          </p:nvPr>
        </p:nvSpPr>
        <p:spPr>
          <a:xfrm>
            <a:off x="250257" y="356629"/>
            <a:ext cx="8643486" cy="471365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algn="ctr">
              <a:defRPr sz="3200" b="1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fr-FR"/>
              <a:t>Cliquez pour modifier le style du titre</a:t>
            </a:r>
            <a:endParaRPr lang="en-US" dirty="0"/>
          </a:p>
        </p:txBody>
      </p:sp>
      <p:sp>
        <p:nvSpPr>
          <p:cNvPr id="47" name="Text Placeholder 3"/>
          <p:cNvSpPr>
            <a:spLocks noGrp="1"/>
          </p:cNvSpPr>
          <p:nvPr>
            <p:ph type="body" sz="half" idx="2"/>
          </p:nvPr>
        </p:nvSpPr>
        <p:spPr>
          <a:xfrm>
            <a:off x="250258" y="825951"/>
            <a:ext cx="8643485" cy="267661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10"/>
          </p:nvPr>
        </p:nvSpPr>
        <p:spPr/>
        <p:txBody>
          <a:bodyPr wrap="square" lIns="0" tIns="0" rIns="0" bIns="0" numCol="1" anchorCtr="0" compatLnSpc="1">
            <a:prstTxWarp prst="textNoShape">
              <a:avLst/>
            </a:prstTxWarp>
          </a:bodyPr>
          <a:lstStyle>
            <a:lvl1pPr fontAlgn="base">
              <a:lnSpc>
                <a:spcPts val="1263"/>
              </a:lnSpc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  <a:ea typeface="Garamond" pitchFamily="18" charset="0"/>
                <a:cs typeface="Garamond" pitchFamily="18" charset="0"/>
              </a:defRPr>
            </a:lvl1pPr>
          </a:lstStyle>
          <a:p>
            <a:pPr>
              <a:defRPr/>
            </a:pPr>
            <a:endParaRPr lang="fr-FR" altLang="fr-FR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72B043B-DDB4-46A1-BECF-0F321DC6A018}" type="datetime1">
              <a:rPr lang="fr-FR"/>
              <a:pPr>
                <a:defRPr/>
              </a:pPr>
              <a:t>08/09/2023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C2BB5E1-F19D-4940-85D2-92E472CFC44C}" type="slidenum">
              <a:rPr/>
              <a:pPr>
                <a:defRPr/>
              </a:pPr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06F995-8A7D-4EFF-8409-29A839919D1F}" type="datetime1">
              <a:rPr lang="fr-FR"/>
              <a:pPr>
                <a:defRPr/>
              </a:pPr>
              <a:t>08/09/2023</a:t>
            </a:fld>
            <a:endParaRPr lang="en-US" dirty="0"/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46644B-828A-4D9F-8167-6D7CFFC1F3D3}" type="slidenum">
              <a:rPr lang="en-US"/>
              <a:pPr>
                <a:defRPr/>
              </a:pPr>
              <a:t>‹N°›</a:t>
            </a:fld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C000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260"/>
              </a:lnSpc>
            </a:pPr>
            <a:endParaRPr dirty="0">
              <a:latin typeface="Garamond"/>
              <a:cs typeface="Garamond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D60307-E311-4323-A621-28BEA393A885}" type="datetime1">
              <a:rPr lang="fr-FR" smtClean="0"/>
              <a:pPr/>
              <a:t>08/09/2023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8102111" y="6286013"/>
            <a:ext cx="413239" cy="365125"/>
          </a:xfrm>
          <a:prstGeom prst="rect">
            <a:avLst/>
          </a:prstGeom>
        </p:spPr>
        <p:txBody>
          <a:bodyPr/>
          <a:lstStyle/>
          <a:p>
            <a:fld id="{C73A5C34-6B76-4AF1-BC39-A0EE85CE817B}" type="slidenum">
              <a:rPr lang="ru-RU" smtClean="0"/>
              <a:pPr/>
              <a:t>‹N°›</a:t>
            </a:fld>
            <a:endParaRPr lang="ru-RU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895478" y="500569"/>
            <a:ext cx="5117486" cy="5456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60718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</a:t>
            </a:r>
            <a:endParaRPr lang="fr-BE" altLang="fr-FR"/>
          </a:p>
        </p:txBody>
      </p:sp>
      <p:sp>
        <p:nvSpPr>
          <p:cNvPr id="1027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  <a:endParaRPr lang="fr-BE" alt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16E4880-29A5-4653-B07A-ED939105F11D}" type="datetime1">
              <a:rPr lang="fr-FR"/>
              <a:pPr>
                <a:defRPr/>
              </a:pPr>
              <a:t>08/09/2023</a:t>
            </a:fld>
            <a:endParaRPr lang="fr-BE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BE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DA6E9EF-7A96-4A7D-9AE3-E79D93960230}" type="slidenum">
              <a:rPr lang="fr-BE"/>
              <a:pPr>
                <a:defRPr/>
              </a:pPr>
              <a:t>‹N°›</a:t>
            </a:fld>
            <a:endParaRPr lang="fr-B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  <p:sldLayoutId id="2147483824" r:id="rId4"/>
    <p:sldLayoutId id="2147483825" r:id="rId5"/>
    <p:sldLayoutId id="2147483826" r:id="rId6"/>
    <p:sldLayoutId id="2147483827" r:id="rId7"/>
    <p:sldLayoutId id="2147483828" r:id="rId8"/>
    <p:sldLayoutId id="2147483829" r:id="rId9"/>
    <p:sldLayoutId id="2147483830" r:id="rId10"/>
    <p:sldLayoutId id="2147483831" r:id="rId11"/>
    <p:sldLayoutId id="2147483832" r:id="rId12"/>
    <p:sldLayoutId id="2147483833" r:id="rId13"/>
    <p:sldLayoutId id="2147483834" r:id="rId14"/>
    <p:sldLayoutId id="2147483835" r:id="rId15"/>
    <p:sldLayoutId id="2147483836" r:id="rId16"/>
    <p:sldLayoutId id="2147483837" r:id="rId17"/>
    <p:sldLayoutId id="2147483838" r:id="rId18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jpeg"/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12" Type="http://schemas.openxmlformats.org/officeDocument/2006/relationships/image" Target="../media/image15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jpeg"/><Relationship Id="rId11" Type="http://schemas.openxmlformats.org/officeDocument/2006/relationships/image" Target="../media/image14.jpeg"/><Relationship Id="rId5" Type="http://schemas.openxmlformats.org/officeDocument/2006/relationships/image" Target="../media/image8.jpeg"/><Relationship Id="rId15" Type="http://schemas.openxmlformats.org/officeDocument/2006/relationships/image" Target="../media/image2.png"/><Relationship Id="rId10" Type="http://schemas.openxmlformats.org/officeDocument/2006/relationships/image" Target="../media/image13.png"/><Relationship Id="rId4" Type="http://schemas.openxmlformats.org/officeDocument/2006/relationships/image" Target="../media/image7.jpe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3.jpeg"/><Relationship Id="rId5" Type="http://schemas.openxmlformats.org/officeDocument/2006/relationships/image" Target="../media/image20.jpeg"/><Relationship Id="rId4" Type="http://schemas.openxmlformats.org/officeDocument/2006/relationships/image" Target="../media/image2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27.jpeg"/><Relationship Id="rId7" Type="http://schemas.openxmlformats.org/officeDocument/2006/relationships/image" Target="../media/image3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9.jpeg"/><Relationship Id="rId5" Type="http://schemas.openxmlformats.org/officeDocument/2006/relationships/image" Target="../media/image25.jpeg"/><Relationship Id="rId4" Type="http://schemas.openxmlformats.org/officeDocument/2006/relationships/image" Target="../media/image28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2.jpeg"/><Relationship Id="rId7" Type="http://schemas.openxmlformats.org/officeDocument/2006/relationships/image" Target="../media/image36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jpeg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powerpoint.sage-fox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jpeg"/><Relationship Id="rId7" Type="http://schemas.openxmlformats.org/officeDocument/2006/relationships/image" Target="../media/image4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jpeg"/><Relationship Id="rId5" Type="http://schemas.openxmlformats.org/officeDocument/2006/relationships/image" Target="../media/image44.jpeg"/><Relationship Id="rId10" Type="http://schemas.openxmlformats.org/officeDocument/2006/relationships/image" Target="../media/image2.png"/><Relationship Id="rId4" Type="http://schemas.openxmlformats.org/officeDocument/2006/relationships/image" Target="../media/image43.jpeg"/><Relationship Id="rId9" Type="http://schemas.openxmlformats.org/officeDocument/2006/relationships/image" Target="../media/image48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27.jpeg"/><Relationship Id="rId7" Type="http://schemas.openxmlformats.org/officeDocument/2006/relationships/image" Target="../media/image3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9.jpeg"/><Relationship Id="rId5" Type="http://schemas.openxmlformats.org/officeDocument/2006/relationships/image" Target="../media/image25.jpeg"/><Relationship Id="rId4" Type="http://schemas.openxmlformats.org/officeDocument/2006/relationships/image" Target="../media/image28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slides.sage-fox.com/" TargetMode="External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53.jpeg"/><Relationship Id="rId7" Type="http://schemas.openxmlformats.org/officeDocument/2006/relationships/image" Target="../media/image57.jpe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56.jpeg"/><Relationship Id="rId5" Type="http://schemas.openxmlformats.org/officeDocument/2006/relationships/image" Target="../media/image55.jpeg"/><Relationship Id="rId4" Type="http://schemas.openxmlformats.org/officeDocument/2006/relationships/image" Target="../media/image54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27.jpeg"/><Relationship Id="rId7" Type="http://schemas.openxmlformats.org/officeDocument/2006/relationships/image" Target="../media/image3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9.jpeg"/><Relationship Id="rId5" Type="http://schemas.openxmlformats.org/officeDocument/2006/relationships/image" Target="../media/image25.jpeg"/><Relationship Id="rId4" Type="http://schemas.openxmlformats.org/officeDocument/2006/relationships/image" Target="../media/image28.jpe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jpeg"/><Relationship Id="rId3" Type="http://schemas.openxmlformats.org/officeDocument/2006/relationships/image" Target="../media/image61.png"/><Relationship Id="rId7" Type="http://schemas.openxmlformats.org/officeDocument/2006/relationships/image" Target="../media/image65.jpeg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4.jpeg"/><Relationship Id="rId11" Type="http://schemas.openxmlformats.org/officeDocument/2006/relationships/image" Target="../media/image68.jpeg"/><Relationship Id="rId5" Type="http://schemas.openxmlformats.org/officeDocument/2006/relationships/image" Target="../media/image63.jpeg"/><Relationship Id="rId10" Type="http://schemas.openxmlformats.org/officeDocument/2006/relationships/image" Target="../media/image2.png"/><Relationship Id="rId4" Type="http://schemas.openxmlformats.org/officeDocument/2006/relationships/image" Target="../media/image62.jpeg"/><Relationship Id="rId9" Type="http://schemas.openxmlformats.org/officeDocument/2006/relationships/image" Target="../media/image6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0.png"/><Relationship Id="rId4" Type="http://schemas.openxmlformats.org/officeDocument/2006/relationships/hyperlink" Target="http://slides.sage-fox.com/" TargetMode="Externa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2.png"/><Relationship Id="rId3" Type="http://schemas.openxmlformats.org/officeDocument/2006/relationships/image" Target="../media/image6.jpeg"/><Relationship Id="rId7" Type="http://schemas.openxmlformats.org/officeDocument/2006/relationships/image" Target="../media/image11.png"/><Relationship Id="rId12" Type="http://schemas.openxmlformats.org/officeDocument/2006/relationships/image" Target="../media/image7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jpeg"/><Relationship Id="rId11" Type="http://schemas.openxmlformats.org/officeDocument/2006/relationships/image" Target="../media/image72.jpeg"/><Relationship Id="rId5" Type="http://schemas.openxmlformats.org/officeDocument/2006/relationships/image" Target="../media/image8.jpeg"/><Relationship Id="rId10" Type="http://schemas.openxmlformats.org/officeDocument/2006/relationships/image" Target="../media/image71.png"/><Relationship Id="rId4" Type="http://schemas.openxmlformats.org/officeDocument/2006/relationships/image" Target="../media/image7.jpeg"/><Relationship Id="rId9" Type="http://schemas.openxmlformats.org/officeDocument/2006/relationships/image" Target="../media/image70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78.png"/><Relationship Id="rId12" Type="http://schemas.openxmlformats.org/officeDocument/2006/relationships/image" Target="../media/image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openxmlformats.org/officeDocument/2006/relationships/image" Target="../media/image82.jpeg"/><Relationship Id="rId5" Type="http://schemas.openxmlformats.org/officeDocument/2006/relationships/diagramColors" Target="../diagrams/colors3.xml"/><Relationship Id="rId10" Type="http://schemas.openxmlformats.org/officeDocument/2006/relationships/image" Target="../media/image81.jpeg"/><Relationship Id="rId4" Type="http://schemas.openxmlformats.org/officeDocument/2006/relationships/diagramQuickStyle" Target="../diagrams/quickStyle3.xml"/><Relationship Id="rId9" Type="http://schemas.openxmlformats.org/officeDocument/2006/relationships/image" Target="../media/image80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92.jpeg"/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86.png"/><Relationship Id="rId12" Type="http://schemas.openxmlformats.org/officeDocument/2006/relationships/image" Target="../media/image91.png"/><Relationship Id="rId17" Type="http://schemas.openxmlformats.org/officeDocument/2006/relationships/image" Target="../media/image2.png"/><Relationship Id="rId2" Type="http://schemas.openxmlformats.org/officeDocument/2006/relationships/audio" Target="../media/media1.WAV"/><Relationship Id="rId16" Type="http://schemas.openxmlformats.org/officeDocument/2006/relationships/image" Target="../media/image95.png"/><Relationship Id="rId1" Type="http://schemas.microsoft.com/office/2007/relationships/media" Target="../media/media1.WAV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84.png"/><Relationship Id="rId15" Type="http://schemas.openxmlformats.org/officeDocument/2006/relationships/image" Target="../media/image94.png"/><Relationship Id="rId10" Type="http://schemas.openxmlformats.org/officeDocument/2006/relationships/image" Target="../media/image89.png"/><Relationship Id="rId4" Type="http://schemas.openxmlformats.org/officeDocument/2006/relationships/image" Target="../media/image83.jpeg"/><Relationship Id="rId9" Type="http://schemas.openxmlformats.org/officeDocument/2006/relationships/image" Target="../media/image88.jpeg"/><Relationship Id="rId14" Type="http://schemas.openxmlformats.org/officeDocument/2006/relationships/image" Target="../media/image9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2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2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05.jpeg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6" Type="http://schemas.openxmlformats.org/officeDocument/2006/relationships/image" Target="../media/image104.jpeg"/><Relationship Id="rId5" Type="http://schemas.openxmlformats.org/officeDocument/2006/relationships/image" Target="../media/image103.jpeg"/><Relationship Id="rId4" Type="http://schemas.openxmlformats.org/officeDocument/2006/relationships/image" Target="../media/image102.jpeg"/><Relationship Id="rId9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jpeg"/><Relationship Id="rId2" Type="http://schemas.openxmlformats.org/officeDocument/2006/relationships/image" Target="../media/image107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109.jpe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10.jpeg"/><Relationship Id="rId7" Type="http://schemas.openxmlformats.org/officeDocument/2006/relationships/image" Target="../media/image1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3.jpeg"/><Relationship Id="rId5" Type="http://schemas.openxmlformats.org/officeDocument/2006/relationships/image" Target="../media/image112.jpeg"/><Relationship Id="rId10" Type="http://schemas.openxmlformats.org/officeDocument/2006/relationships/image" Target="../media/image116.jpeg"/><Relationship Id="rId4" Type="http://schemas.openxmlformats.org/officeDocument/2006/relationships/image" Target="../media/image111.jpeg"/><Relationship Id="rId9" Type="http://schemas.openxmlformats.org/officeDocument/2006/relationships/image" Target="../media/image115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jpeg"/><Relationship Id="rId2" Type="http://schemas.openxmlformats.org/officeDocument/2006/relationships/image" Target="../media/image117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120.png"/><Relationship Id="rId4" Type="http://schemas.openxmlformats.org/officeDocument/2006/relationships/image" Target="../media/image119.jpe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27.jpeg"/><Relationship Id="rId7" Type="http://schemas.openxmlformats.org/officeDocument/2006/relationships/image" Target="../media/image3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9.jpeg"/><Relationship Id="rId5" Type="http://schemas.openxmlformats.org/officeDocument/2006/relationships/image" Target="../media/image25.jpeg"/><Relationship Id="rId4" Type="http://schemas.openxmlformats.org/officeDocument/2006/relationships/image" Target="../media/image28.jpe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jpe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/>
          <p:cNvGrpSpPr>
            <a:grpSpLocks noChangeAspect="1"/>
          </p:cNvGrpSpPr>
          <p:nvPr/>
        </p:nvGrpSpPr>
        <p:grpSpPr>
          <a:xfrm>
            <a:off x="2400300" y="3339971"/>
            <a:ext cx="822957" cy="1097280"/>
            <a:chOff x="3241866" y="1103796"/>
            <a:chExt cx="4627785" cy="462778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" name="Oval 10"/>
            <p:cNvSpPr>
              <a:spLocks noChangeAspect="1"/>
            </p:cNvSpPr>
            <p:nvPr/>
          </p:nvSpPr>
          <p:spPr>
            <a:xfrm>
              <a:off x="3241866" y="1103796"/>
              <a:ext cx="4627785" cy="4627785"/>
            </a:xfrm>
            <a:prstGeom prst="ellipse">
              <a:avLst/>
            </a:prstGeom>
            <a:gradFill>
              <a:gsLst>
                <a:gs pos="0">
                  <a:schemeClr val="accent3">
                    <a:lumMod val="0"/>
                    <a:lumOff val="100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chemeClr val="accent3">
                    <a:lumMod val="100000"/>
                  </a:scheme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2" name="Oval 11"/>
            <p:cNvSpPr>
              <a:spLocks noChangeAspect="1"/>
            </p:cNvSpPr>
            <p:nvPr/>
          </p:nvSpPr>
          <p:spPr>
            <a:xfrm>
              <a:off x="3627512" y="1489445"/>
              <a:ext cx="3856489" cy="3856488"/>
            </a:xfrm>
            <a:prstGeom prst="ellipse">
              <a:avLst/>
            </a:prstGeom>
            <a:gradFill flip="none" rotWithShape="1">
              <a:gsLst>
                <a:gs pos="0">
                  <a:schemeClr val="accent3">
                    <a:lumMod val="89000"/>
                  </a:schemeClr>
                </a:gs>
                <a:gs pos="23000">
                  <a:schemeClr val="accent3">
                    <a:lumMod val="89000"/>
                  </a:schemeClr>
                </a:gs>
                <a:gs pos="69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grpSp>
        <p:nvGrpSpPr>
          <p:cNvPr id="3" name="Group 13"/>
          <p:cNvGrpSpPr>
            <a:grpSpLocks noChangeAspect="1"/>
          </p:cNvGrpSpPr>
          <p:nvPr/>
        </p:nvGrpSpPr>
        <p:grpSpPr>
          <a:xfrm>
            <a:off x="4223097" y="3339971"/>
            <a:ext cx="822957" cy="1097280"/>
            <a:chOff x="3241866" y="1103796"/>
            <a:chExt cx="4627785" cy="462778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6" name="Oval 15"/>
            <p:cNvSpPr>
              <a:spLocks noChangeAspect="1"/>
            </p:cNvSpPr>
            <p:nvPr/>
          </p:nvSpPr>
          <p:spPr>
            <a:xfrm>
              <a:off x="3241866" y="1103796"/>
              <a:ext cx="4627785" cy="4627785"/>
            </a:xfrm>
            <a:prstGeom prst="ellipse">
              <a:avLst/>
            </a:prstGeom>
            <a:gradFill>
              <a:gsLst>
                <a:gs pos="0">
                  <a:schemeClr val="accent3">
                    <a:lumMod val="0"/>
                    <a:lumOff val="100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chemeClr val="accent3">
                    <a:lumMod val="100000"/>
                  </a:scheme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7" name="Oval 16"/>
            <p:cNvSpPr>
              <a:spLocks noChangeAspect="1"/>
            </p:cNvSpPr>
            <p:nvPr/>
          </p:nvSpPr>
          <p:spPr>
            <a:xfrm>
              <a:off x="3627512" y="1489445"/>
              <a:ext cx="3856489" cy="3856488"/>
            </a:xfrm>
            <a:prstGeom prst="ellipse">
              <a:avLst/>
            </a:prstGeom>
            <a:gradFill flip="none" rotWithShape="1">
              <a:gsLst>
                <a:gs pos="0">
                  <a:schemeClr val="accent3">
                    <a:lumMod val="89000"/>
                  </a:schemeClr>
                </a:gs>
                <a:gs pos="23000">
                  <a:schemeClr val="accent3">
                    <a:lumMod val="89000"/>
                  </a:schemeClr>
                </a:gs>
                <a:gs pos="69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grpSp>
        <p:nvGrpSpPr>
          <p:cNvPr id="4" name="Group 18"/>
          <p:cNvGrpSpPr>
            <a:grpSpLocks noChangeAspect="1"/>
          </p:cNvGrpSpPr>
          <p:nvPr/>
        </p:nvGrpSpPr>
        <p:grpSpPr>
          <a:xfrm>
            <a:off x="6060614" y="3339971"/>
            <a:ext cx="822957" cy="1097280"/>
            <a:chOff x="3241866" y="1103796"/>
            <a:chExt cx="4627785" cy="462778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" name="Oval 20"/>
            <p:cNvSpPr>
              <a:spLocks noChangeAspect="1"/>
            </p:cNvSpPr>
            <p:nvPr/>
          </p:nvSpPr>
          <p:spPr>
            <a:xfrm>
              <a:off x="3241866" y="1103796"/>
              <a:ext cx="4627785" cy="4627785"/>
            </a:xfrm>
            <a:prstGeom prst="ellipse">
              <a:avLst/>
            </a:prstGeom>
            <a:gradFill>
              <a:gsLst>
                <a:gs pos="0">
                  <a:schemeClr val="accent3">
                    <a:lumMod val="0"/>
                    <a:lumOff val="100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chemeClr val="accent3">
                    <a:lumMod val="100000"/>
                  </a:scheme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2" name="Oval 21"/>
            <p:cNvSpPr>
              <a:spLocks noChangeAspect="1"/>
            </p:cNvSpPr>
            <p:nvPr/>
          </p:nvSpPr>
          <p:spPr>
            <a:xfrm>
              <a:off x="3627512" y="1489445"/>
              <a:ext cx="3856489" cy="3856488"/>
            </a:xfrm>
            <a:prstGeom prst="ellipse">
              <a:avLst/>
            </a:prstGeom>
            <a:gradFill flip="none" rotWithShape="1">
              <a:gsLst>
                <a:gs pos="0">
                  <a:schemeClr val="accent3">
                    <a:lumMod val="89000"/>
                  </a:schemeClr>
                </a:gs>
                <a:gs pos="23000">
                  <a:schemeClr val="accent3">
                    <a:lumMod val="89000"/>
                  </a:schemeClr>
                </a:gs>
                <a:gs pos="69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30" name="Freeform: Shape 29"/>
          <p:cNvSpPr/>
          <p:nvPr/>
        </p:nvSpPr>
        <p:spPr>
          <a:xfrm>
            <a:off x="1044575" y="3962400"/>
            <a:ext cx="7192963" cy="2438400"/>
          </a:xfrm>
          <a:custGeom>
            <a:avLst/>
            <a:gdLst>
              <a:gd name="connsiteX0" fmla="*/ 0 w 9590205"/>
              <a:gd name="connsiteY0" fmla="*/ 0 h 2438400"/>
              <a:gd name="connsiteX1" fmla="*/ 1722746 w 9590205"/>
              <a:gd name="connsiteY1" fmla="*/ 0 h 2438400"/>
              <a:gd name="connsiteX2" fmla="*/ 1728376 w 9590205"/>
              <a:gd name="connsiteY2" fmla="*/ 55846 h 2438400"/>
              <a:gd name="connsiteX3" fmla="*/ 2355450 w 9590205"/>
              <a:gd name="connsiteY3" fmla="*/ 566928 h 2438400"/>
              <a:gd name="connsiteX4" fmla="*/ 2982523 w 9590205"/>
              <a:gd name="connsiteY4" fmla="*/ 55846 h 2438400"/>
              <a:gd name="connsiteX5" fmla="*/ 2988153 w 9590205"/>
              <a:gd name="connsiteY5" fmla="*/ 0 h 2438400"/>
              <a:gd name="connsiteX6" fmla="*/ 4166358 w 9590205"/>
              <a:gd name="connsiteY6" fmla="*/ 0 h 2438400"/>
              <a:gd name="connsiteX7" fmla="*/ 4171987 w 9590205"/>
              <a:gd name="connsiteY7" fmla="*/ 55846 h 2438400"/>
              <a:gd name="connsiteX8" fmla="*/ 4799061 w 9590205"/>
              <a:gd name="connsiteY8" fmla="*/ 566928 h 2438400"/>
              <a:gd name="connsiteX9" fmla="*/ 5426135 w 9590205"/>
              <a:gd name="connsiteY9" fmla="*/ 55846 h 2438400"/>
              <a:gd name="connsiteX10" fmla="*/ 5431765 w 9590205"/>
              <a:gd name="connsiteY10" fmla="*/ 0 h 2438400"/>
              <a:gd name="connsiteX11" fmla="*/ 6586138 w 9590205"/>
              <a:gd name="connsiteY11" fmla="*/ 0 h 2438400"/>
              <a:gd name="connsiteX12" fmla="*/ 6591767 w 9590205"/>
              <a:gd name="connsiteY12" fmla="*/ 55846 h 2438400"/>
              <a:gd name="connsiteX13" fmla="*/ 7218841 w 9590205"/>
              <a:gd name="connsiteY13" fmla="*/ 566928 h 2438400"/>
              <a:gd name="connsiteX14" fmla="*/ 7845915 w 9590205"/>
              <a:gd name="connsiteY14" fmla="*/ 55846 h 2438400"/>
              <a:gd name="connsiteX15" fmla="*/ 7851545 w 9590205"/>
              <a:gd name="connsiteY15" fmla="*/ 0 h 2438400"/>
              <a:gd name="connsiteX16" fmla="*/ 9590205 w 9590205"/>
              <a:gd name="connsiteY16" fmla="*/ 0 h 2438400"/>
              <a:gd name="connsiteX17" fmla="*/ 9590205 w 9590205"/>
              <a:gd name="connsiteY17" fmla="*/ 2438400 h 2438400"/>
              <a:gd name="connsiteX18" fmla="*/ 0 w 9590205"/>
              <a:gd name="connsiteY18" fmla="*/ 2438400 h 243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590205" h="2438400">
                <a:moveTo>
                  <a:pt x="0" y="0"/>
                </a:moveTo>
                <a:lnTo>
                  <a:pt x="1722746" y="0"/>
                </a:lnTo>
                <a:lnTo>
                  <a:pt x="1728376" y="55846"/>
                </a:lnTo>
                <a:cubicBezTo>
                  <a:pt x="1788061" y="347520"/>
                  <a:pt x="2046133" y="566928"/>
                  <a:pt x="2355450" y="566928"/>
                </a:cubicBezTo>
                <a:cubicBezTo>
                  <a:pt x="2664767" y="566928"/>
                  <a:pt x="2922838" y="347520"/>
                  <a:pt x="2982523" y="55846"/>
                </a:cubicBezTo>
                <a:lnTo>
                  <a:pt x="2988153" y="0"/>
                </a:lnTo>
                <a:lnTo>
                  <a:pt x="4166358" y="0"/>
                </a:lnTo>
                <a:lnTo>
                  <a:pt x="4171987" y="55846"/>
                </a:lnTo>
                <a:cubicBezTo>
                  <a:pt x="4231672" y="347520"/>
                  <a:pt x="4489745" y="566928"/>
                  <a:pt x="4799061" y="566928"/>
                </a:cubicBezTo>
                <a:cubicBezTo>
                  <a:pt x="5108378" y="566928"/>
                  <a:pt x="5366450" y="347520"/>
                  <a:pt x="5426135" y="55846"/>
                </a:cubicBezTo>
                <a:lnTo>
                  <a:pt x="5431765" y="0"/>
                </a:lnTo>
                <a:lnTo>
                  <a:pt x="6586138" y="0"/>
                </a:lnTo>
                <a:lnTo>
                  <a:pt x="6591767" y="55846"/>
                </a:lnTo>
                <a:cubicBezTo>
                  <a:pt x="6651452" y="347520"/>
                  <a:pt x="6909524" y="566928"/>
                  <a:pt x="7218841" y="566928"/>
                </a:cubicBezTo>
                <a:cubicBezTo>
                  <a:pt x="7528158" y="566928"/>
                  <a:pt x="7786230" y="347520"/>
                  <a:pt x="7845915" y="55846"/>
                </a:cubicBezTo>
                <a:lnTo>
                  <a:pt x="7851545" y="0"/>
                </a:lnTo>
                <a:lnTo>
                  <a:pt x="9590205" y="0"/>
                </a:lnTo>
                <a:lnTo>
                  <a:pt x="9590205" y="2438400"/>
                </a:lnTo>
                <a:lnTo>
                  <a:pt x="0" y="2438400"/>
                </a:lnTo>
                <a:close/>
              </a:path>
            </a:pathLst>
          </a:custGeom>
          <a:blipFill>
            <a:blip r:embed="rId2" cstate="print"/>
            <a:stretch>
              <a:fillRect/>
            </a:stretch>
          </a:blipFill>
          <a:ln w="6350">
            <a:solidFill>
              <a:schemeClr val="bg1">
                <a:alpha val="25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1143000" y="258763"/>
            <a:ext cx="6858000" cy="17224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4400" b="1" dirty="0">
                <a:solidFill>
                  <a:srgbClr val="FF0000"/>
                </a:solidFill>
                <a:latin typeface="Baskerville Old Face"/>
                <a:cs typeface="Baskerville Old Face"/>
              </a:rPr>
              <a:t>Environnement et stratégie  de</a:t>
            </a:r>
            <a:r>
              <a:rPr lang="fr-FR" sz="4400" b="1" spc="-130" dirty="0">
                <a:solidFill>
                  <a:srgbClr val="FF0000"/>
                </a:solidFill>
                <a:latin typeface="Baskerville Old Face"/>
                <a:cs typeface="Baskerville Old Face"/>
              </a:rPr>
              <a:t> </a:t>
            </a:r>
            <a:r>
              <a:rPr lang="fr-FR" sz="4400" b="1" dirty="0">
                <a:solidFill>
                  <a:srgbClr val="FF0000"/>
                </a:solidFill>
                <a:latin typeface="Baskerville Old Face"/>
                <a:cs typeface="Baskerville Old Face"/>
              </a:rPr>
              <a:t>l’Entreprise</a:t>
            </a:r>
            <a:endParaRPr lang="en-US" sz="4400" dirty="0">
              <a:solidFill>
                <a:srgbClr val="4C4F54"/>
              </a:solidFill>
              <a:latin typeface="Bernard MT Condensed" panose="02050806060905020404" pitchFamily="18" charset="0"/>
              <a:cs typeface="+mn-cs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4C4F54"/>
              </a:solidFill>
              <a:latin typeface="Candara" panose="020E0502030303020204" pitchFamily="34" charset="0"/>
              <a:cs typeface="+mn-cs"/>
            </a:endParaRPr>
          </a:p>
        </p:txBody>
      </p:sp>
      <p:sp>
        <p:nvSpPr>
          <p:cNvPr id="29" name="ZoneTexte 28"/>
          <p:cNvSpPr txBox="1"/>
          <p:nvPr/>
        </p:nvSpPr>
        <p:spPr>
          <a:xfrm>
            <a:off x="468313" y="2143125"/>
            <a:ext cx="820737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dirty="0">
                <a:solidFill>
                  <a:schemeClr val="tx1">
                    <a:lumMod val="65000"/>
                    <a:lumOff val="35000"/>
                  </a:schemeClr>
                </a:solidFill>
                <a:latin typeface="Baskerville Old Face"/>
                <a:cs typeface="Baskerville Old Face"/>
              </a:rPr>
              <a:t>Classe 3</a:t>
            </a:r>
            <a:r>
              <a:rPr lang="fr-FR" b="1" baseline="30000" dirty="0">
                <a:solidFill>
                  <a:schemeClr val="tx1">
                    <a:lumMod val="65000"/>
                    <a:lumOff val="35000"/>
                  </a:schemeClr>
                </a:solidFill>
                <a:latin typeface="Baskerville Old Face"/>
                <a:cs typeface="Baskerville Old Face"/>
              </a:rPr>
              <a:t>ème</a:t>
            </a:r>
            <a:r>
              <a:rPr lang="fr-FR" b="1" dirty="0">
                <a:solidFill>
                  <a:schemeClr val="tx1">
                    <a:lumMod val="65000"/>
                    <a:lumOff val="35000"/>
                  </a:schemeClr>
                </a:solidFill>
                <a:latin typeface="Baskerville Old Face"/>
                <a:cs typeface="Baskerville Old Face"/>
              </a:rPr>
              <a:t>  année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dirty="0">
                <a:solidFill>
                  <a:schemeClr val="tx1">
                    <a:lumMod val="65000"/>
                    <a:lumOff val="35000"/>
                  </a:schemeClr>
                </a:solidFill>
                <a:latin typeface="Baskerville Old Face"/>
                <a:cs typeface="Baskerville Old Face"/>
              </a:rPr>
              <a:t>Responsables du module: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askerville Old Face"/>
                <a:cs typeface="Baskerville Old Face"/>
              </a:rPr>
              <a:t>Dhouha</a:t>
            </a:r>
            <a:r>
              <a:rPr lang="fr-FR" b="1" dirty="0">
                <a:solidFill>
                  <a:schemeClr val="tx1">
                    <a:lumMod val="65000"/>
                    <a:lumOff val="35000"/>
                  </a:schemeClr>
                </a:solidFill>
                <a:latin typeface="Baskerville Old Face"/>
                <a:cs typeface="Baskerville Old Face"/>
              </a:rPr>
              <a:t> </a:t>
            </a:r>
            <a:r>
              <a:rPr lang="fr-FR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askerville Old Face"/>
                <a:cs typeface="Baskerville Old Face"/>
              </a:rPr>
              <a:t>Melliti</a:t>
            </a:r>
            <a:r>
              <a:rPr lang="fr-FR" b="1" dirty="0">
                <a:solidFill>
                  <a:schemeClr val="tx1">
                    <a:lumMod val="65000"/>
                    <a:lumOff val="35000"/>
                  </a:schemeClr>
                </a:solidFill>
                <a:latin typeface="Baskerville Old Face"/>
                <a:cs typeface="Baskerville Old Face"/>
              </a:rPr>
              <a:t> Ben </a:t>
            </a:r>
            <a:r>
              <a:rPr lang="fr-FR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askerville Old Face"/>
                <a:cs typeface="Baskerville Old Face"/>
              </a:rPr>
              <a:t>Khedher</a:t>
            </a:r>
            <a:r>
              <a:rPr lang="fr-FR" b="1" dirty="0">
                <a:solidFill>
                  <a:srgbClr val="00B0F0"/>
                </a:solidFill>
                <a:latin typeface="Baskerville Old Face"/>
                <a:cs typeface="Baskerville Old Face"/>
              </a:rPr>
              <a:t> </a:t>
            </a:r>
            <a:r>
              <a:rPr lang="fr-FR" sz="1600" b="1" dirty="0">
                <a:solidFill>
                  <a:srgbClr val="00B0F0"/>
                </a:solidFill>
                <a:latin typeface="Baskerville Old Face"/>
                <a:cs typeface="Baskerville Old Face"/>
              </a:rPr>
              <a:t>dhouha.melliti@esprit.tn</a:t>
            </a:r>
            <a:r>
              <a:rPr lang="fr-FR" b="1" dirty="0">
                <a:solidFill>
                  <a:schemeClr val="tx1">
                    <a:lumMod val="65000"/>
                    <a:lumOff val="35000"/>
                  </a:schemeClr>
                </a:solidFill>
                <a:latin typeface="Baskerville Old Face"/>
                <a:cs typeface="Baskerville Old Face"/>
              </a:rPr>
              <a:t> 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askerville Old Face"/>
                <a:cs typeface="Baskerville Old Face"/>
              </a:rPr>
              <a:t>Insaf</a:t>
            </a:r>
            <a:r>
              <a:rPr lang="fr-FR" b="1" dirty="0">
                <a:solidFill>
                  <a:schemeClr val="tx1">
                    <a:lumMod val="65000"/>
                    <a:lumOff val="35000"/>
                  </a:schemeClr>
                </a:solidFill>
                <a:latin typeface="Baskerville Old Face"/>
                <a:cs typeface="Baskerville Old Face"/>
              </a:rPr>
              <a:t> </a:t>
            </a:r>
            <a:r>
              <a:rPr lang="fr-FR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askerville Old Face"/>
                <a:cs typeface="Baskerville Old Face"/>
              </a:rPr>
              <a:t>Riahi</a:t>
            </a:r>
            <a:r>
              <a:rPr lang="fr-FR" b="1" dirty="0">
                <a:solidFill>
                  <a:schemeClr val="tx1">
                    <a:lumMod val="65000"/>
                    <a:lumOff val="35000"/>
                  </a:schemeClr>
                </a:solidFill>
                <a:latin typeface="Baskerville Old Face"/>
                <a:cs typeface="Baskerville Old Face"/>
              </a:rPr>
              <a:t> </a:t>
            </a:r>
            <a:r>
              <a:rPr lang="fr-FR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askerville Old Face"/>
                <a:cs typeface="Baskerville Old Face"/>
              </a:rPr>
              <a:t>Tekaya</a:t>
            </a:r>
            <a:r>
              <a:rPr lang="fr-FR" b="1" dirty="0">
                <a:solidFill>
                  <a:schemeClr val="tx1">
                    <a:lumMod val="65000"/>
                    <a:lumOff val="35000"/>
                  </a:schemeClr>
                </a:solidFill>
                <a:latin typeface="Baskerville Old Face"/>
                <a:cs typeface="Baskerville Old Face"/>
              </a:rPr>
              <a:t> </a:t>
            </a:r>
            <a:r>
              <a:rPr lang="fr-FR" sz="1600" b="1" dirty="0">
                <a:solidFill>
                  <a:srgbClr val="00B0F0"/>
                </a:solidFill>
                <a:latin typeface="Baskerville Old Face"/>
                <a:cs typeface="Baskerville Old Face"/>
              </a:rPr>
              <a:t>insaf.tekaya@esprit.tn</a:t>
            </a:r>
            <a:r>
              <a:rPr lang="fr-FR" b="1" dirty="0">
                <a:solidFill>
                  <a:schemeClr val="tx1">
                    <a:lumMod val="65000"/>
                    <a:lumOff val="35000"/>
                  </a:schemeClr>
                </a:solidFill>
                <a:latin typeface="Baskerville Old Face"/>
                <a:cs typeface="Baskerville Old Face"/>
              </a:rPr>
              <a:t>  </a:t>
            </a:r>
          </a:p>
        </p:txBody>
      </p:sp>
      <p:pic>
        <p:nvPicPr>
          <p:cNvPr id="14" name="Picture 15">
            <a:extLst>
              <a:ext uri="{FF2B5EF4-FFF2-40B4-BE49-F238E27FC236}">
                <a16:creationId xmlns:a16="http://schemas.microsoft.com/office/drawing/2014/main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460" y="0"/>
            <a:ext cx="3682540" cy="2146032"/>
          </a:xfrm>
          <a:prstGeom prst="rect">
            <a:avLst/>
          </a:prstGeom>
        </p:spPr>
      </p:pic>
      <p:pic>
        <p:nvPicPr>
          <p:cNvPr id="15" name="Picture 11">
            <a:extLst>
              <a:ext uri="{FF2B5EF4-FFF2-40B4-BE49-F238E27FC236}">
                <a16:creationId xmlns:a16="http://schemas.microsoft.com/office/drawing/2014/main" id="{F5BFB8C6-23B4-4C8A-9746-FBA51EDAA5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93155" cy="714356"/>
          </a:xfrm>
          <a:prstGeom prst="rect">
            <a:avLst/>
          </a:prstGeom>
        </p:spPr>
      </p:pic>
      <p:pic>
        <p:nvPicPr>
          <p:cNvPr id="18" name="Picture 13">
            <a:extLst>
              <a:ext uri="{FF2B5EF4-FFF2-40B4-BE49-F238E27FC236}">
                <a16:creationId xmlns:a16="http://schemas.microsoft.com/office/drawing/2014/main" id="{E2B6FA2E-2DE8-4A09-BC1E-2F476CC51FF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11968"/>
            <a:ext cx="5396825" cy="2146032"/>
          </a:xfrm>
          <a:prstGeom prst="rect">
            <a:avLst/>
          </a:prstGeom>
        </p:spPr>
      </p:pic>
    </p:spTree>
  </p:cSld>
  <p:clrMapOvr>
    <a:masterClrMapping/>
  </p:clrMapOvr>
  <p:transition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Freeform: Shape 32"/>
          <p:cNvSpPr/>
          <p:nvPr/>
        </p:nvSpPr>
        <p:spPr>
          <a:xfrm>
            <a:off x="4365625" y="0"/>
            <a:ext cx="4778375" cy="6858000"/>
          </a:xfrm>
          <a:custGeom>
            <a:avLst/>
            <a:gdLst>
              <a:gd name="connsiteX0" fmla="*/ 2270862 w 6370160"/>
              <a:gd name="connsiteY0" fmla="*/ 0 h 6858000"/>
              <a:gd name="connsiteX1" fmla="*/ 2273877 w 6370160"/>
              <a:gd name="connsiteY1" fmla="*/ 0 h 6858000"/>
              <a:gd name="connsiteX2" fmla="*/ 3738721 w 6370160"/>
              <a:gd name="connsiteY2" fmla="*/ 0 h 6858000"/>
              <a:gd name="connsiteX3" fmla="*/ 3740681 w 6370160"/>
              <a:gd name="connsiteY3" fmla="*/ 0 h 6858000"/>
              <a:gd name="connsiteX4" fmla="*/ 6318205 w 6370160"/>
              <a:gd name="connsiteY4" fmla="*/ 0 h 6858000"/>
              <a:gd name="connsiteX5" fmla="*/ 6370160 w 6370160"/>
              <a:gd name="connsiteY5" fmla="*/ 0 h 6858000"/>
              <a:gd name="connsiteX6" fmla="*/ 6370160 w 6370160"/>
              <a:gd name="connsiteY6" fmla="*/ 6858000 h 6858000"/>
              <a:gd name="connsiteX7" fmla="*/ 6318205 w 6370160"/>
              <a:gd name="connsiteY7" fmla="*/ 6858000 h 6858000"/>
              <a:gd name="connsiteX8" fmla="*/ 5219076 w 6370160"/>
              <a:gd name="connsiteY8" fmla="*/ 6858000 h 6858000"/>
              <a:gd name="connsiteX9" fmla="*/ 4547754 w 6370160"/>
              <a:gd name="connsiteY9" fmla="*/ 6858000 h 6858000"/>
              <a:gd name="connsiteX10" fmla="*/ 3738721 w 6370160"/>
              <a:gd name="connsiteY10" fmla="*/ 6858000 h 6858000"/>
              <a:gd name="connsiteX11" fmla="*/ 2270862 w 6370160"/>
              <a:gd name="connsiteY11" fmla="*/ 6858000 h 6858000"/>
              <a:gd name="connsiteX12" fmla="*/ 2262287 w 6370160"/>
              <a:gd name="connsiteY12" fmla="*/ 6858000 h 6858000"/>
              <a:gd name="connsiteX13" fmla="*/ 0 w 6370160"/>
              <a:gd name="connsiteY13" fmla="*/ 6858000 h 6858000"/>
              <a:gd name="connsiteX14" fmla="*/ 2270862 w 6370160"/>
              <a:gd name="connsiteY14" fmla="*/ 909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370160" h="6858000">
                <a:moveTo>
                  <a:pt x="2270862" y="0"/>
                </a:moveTo>
                <a:lnTo>
                  <a:pt x="2273877" y="0"/>
                </a:lnTo>
                <a:lnTo>
                  <a:pt x="3738721" y="0"/>
                </a:lnTo>
                <a:lnTo>
                  <a:pt x="3740681" y="0"/>
                </a:lnTo>
                <a:lnTo>
                  <a:pt x="6318205" y="0"/>
                </a:lnTo>
                <a:lnTo>
                  <a:pt x="6370160" y="0"/>
                </a:lnTo>
                <a:lnTo>
                  <a:pt x="6370160" y="6858000"/>
                </a:lnTo>
                <a:lnTo>
                  <a:pt x="6318205" y="6858000"/>
                </a:lnTo>
                <a:lnTo>
                  <a:pt x="5219076" y="6858000"/>
                </a:lnTo>
                <a:lnTo>
                  <a:pt x="4547754" y="6858000"/>
                </a:lnTo>
                <a:lnTo>
                  <a:pt x="3738721" y="6858000"/>
                </a:lnTo>
                <a:lnTo>
                  <a:pt x="2270862" y="6858000"/>
                </a:lnTo>
                <a:lnTo>
                  <a:pt x="2262287" y="6858000"/>
                </a:lnTo>
                <a:lnTo>
                  <a:pt x="0" y="6858000"/>
                </a:lnTo>
                <a:lnTo>
                  <a:pt x="2270862" y="9093"/>
                </a:lnTo>
                <a:close/>
              </a:path>
            </a:pathLst>
          </a:cu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7" name="Freeform: Shape 16"/>
          <p:cNvSpPr/>
          <p:nvPr/>
        </p:nvSpPr>
        <p:spPr>
          <a:xfrm>
            <a:off x="0" y="3565525"/>
            <a:ext cx="5580063" cy="1098550"/>
          </a:xfrm>
          <a:custGeom>
            <a:avLst/>
            <a:gdLst>
              <a:gd name="connsiteX0" fmla="*/ 0 w 6965256"/>
              <a:gd name="connsiteY0" fmla="*/ 0 h 1097280"/>
              <a:gd name="connsiteX1" fmla="*/ 6965256 w 6965256"/>
              <a:gd name="connsiteY1" fmla="*/ 0 h 1097280"/>
              <a:gd name="connsiteX2" fmla="*/ 6601436 w 6965256"/>
              <a:gd name="connsiteY2" fmla="*/ 1097280 h 1097280"/>
              <a:gd name="connsiteX3" fmla="*/ 0 w 6965256"/>
              <a:gd name="connsiteY3" fmla="*/ 1097280 h 1097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65256" h="1097280">
                <a:moveTo>
                  <a:pt x="0" y="0"/>
                </a:moveTo>
                <a:lnTo>
                  <a:pt x="6965256" y="0"/>
                </a:lnTo>
                <a:lnTo>
                  <a:pt x="6601436" y="1097280"/>
                </a:lnTo>
                <a:lnTo>
                  <a:pt x="0" y="1097280"/>
                </a:lnTo>
                <a:close/>
              </a:path>
            </a:pathLst>
          </a:custGeom>
          <a:solidFill>
            <a:srgbClr val="EF9D2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fr-FR" sz="2000" b="1" dirty="0">
                <a:solidFill>
                  <a:schemeClr val="bg1"/>
                </a:solidFill>
              </a:rPr>
              <a:t>                              Classification de </a:t>
            </a:r>
            <a:r>
              <a:rPr lang="en-US" altLang="fr-FR" sz="2000" b="1" dirty="0" err="1">
                <a:solidFill>
                  <a:schemeClr val="bg1"/>
                </a:solidFill>
              </a:rPr>
              <a:t>l’entreprise</a:t>
            </a:r>
            <a:r>
              <a:rPr lang="en-US" altLang="fr-FR" sz="2000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5" name="Freeform: Shape 14"/>
          <p:cNvSpPr/>
          <p:nvPr/>
        </p:nvSpPr>
        <p:spPr>
          <a:xfrm>
            <a:off x="0" y="2468563"/>
            <a:ext cx="5497513" cy="1096962"/>
          </a:xfrm>
          <a:custGeom>
            <a:avLst/>
            <a:gdLst>
              <a:gd name="connsiteX0" fmla="*/ 0 w 7329076"/>
              <a:gd name="connsiteY0" fmla="*/ 0 h 1097280"/>
              <a:gd name="connsiteX1" fmla="*/ 7329076 w 7329076"/>
              <a:gd name="connsiteY1" fmla="*/ 0 h 1097280"/>
              <a:gd name="connsiteX2" fmla="*/ 6965256 w 7329076"/>
              <a:gd name="connsiteY2" fmla="*/ 1097280 h 1097280"/>
              <a:gd name="connsiteX3" fmla="*/ 0 w 7329076"/>
              <a:gd name="connsiteY3" fmla="*/ 1097280 h 1097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9076" h="1097280">
                <a:moveTo>
                  <a:pt x="0" y="0"/>
                </a:moveTo>
                <a:lnTo>
                  <a:pt x="7329076" y="0"/>
                </a:lnTo>
                <a:lnTo>
                  <a:pt x="6965256" y="1097280"/>
                </a:lnTo>
                <a:lnTo>
                  <a:pt x="0" y="1097280"/>
                </a:lnTo>
                <a:close/>
              </a:path>
            </a:pathLst>
          </a:custGeom>
          <a:solidFill>
            <a:srgbClr val="189A8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fr-FR" sz="2000" b="1" dirty="0">
                <a:solidFill>
                  <a:schemeClr val="bg1"/>
                </a:solidFill>
              </a:rPr>
              <a:t>                                        </a:t>
            </a:r>
            <a:r>
              <a:rPr lang="en-US" altLang="fr-FR" sz="2000" b="1" dirty="0" err="1">
                <a:solidFill>
                  <a:schemeClr val="bg1"/>
                </a:solidFill>
              </a:rPr>
              <a:t>Acteurs</a:t>
            </a:r>
            <a:r>
              <a:rPr lang="en-US" altLang="fr-FR" sz="2000" b="1" dirty="0">
                <a:solidFill>
                  <a:schemeClr val="bg1"/>
                </a:solidFill>
              </a:rPr>
              <a:t>  de </a:t>
            </a:r>
            <a:r>
              <a:rPr lang="en-US" altLang="fr-FR" sz="2000" b="1" dirty="0" err="1">
                <a:solidFill>
                  <a:schemeClr val="bg1"/>
                </a:solidFill>
              </a:rPr>
              <a:t>l’entreprise</a:t>
            </a:r>
            <a:r>
              <a:rPr lang="en-US" altLang="fr-FR" sz="2000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9" name="Freeform: Shape 8"/>
          <p:cNvSpPr/>
          <p:nvPr/>
        </p:nvSpPr>
        <p:spPr>
          <a:xfrm>
            <a:off x="0" y="1450141"/>
            <a:ext cx="5786316" cy="1097280"/>
          </a:xfrm>
          <a:custGeom>
            <a:avLst/>
            <a:gdLst>
              <a:gd name="connsiteX0" fmla="*/ 0 w 7715088"/>
              <a:gd name="connsiteY0" fmla="*/ 0 h 1234346"/>
              <a:gd name="connsiteX1" fmla="*/ 7715088 w 7715088"/>
              <a:gd name="connsiteY1" fmla="*/ 0 h 1234346"/>
              <a:gd name="connsiteX2" fmla="*/ 7305822 w 7715088"/>
              <a:gd name="connsiteY2" fmla="*/ 1234346 h 1234346"/>
              <a:gd name="connsiteX3" fmla="*/ 0 w 7715088"/>
              <a:gd name="connsiteY3" fmla="*/ 1234346 h 1234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15088" h="1234346">
                <a:moveTo>
                  <a:pt x="0" y="0"/>
                </a:moveTo>
                <a:lnTo>
                  <a:pt x="7715088" y="0"/>
                </a:lnTo>
                <a:lnTo>
                  <a:pt x="7305822" y="1234346"/>
                </a:lnTo>
                <a:lnTo>
                  <a:pt x="0" y="1234346"/>
                </a:lnTo>
                <a:close/>
              </a:path>
            </a:pathLst>
          </a:custGeom>
          <a:solidFill>
            <a:srgbClr val="5C9AD3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38" name="Freeform: Shape 37"/>
          <p:cNvSpPr/>
          <p:nvPr/>
        </p:nvSpPr>
        <p:spPr>
          <a:xfrm>
            <a:off x="5013325" y="3186113"/>
            <a:ext cx="1285875" cy="1096962"/>
          </a:xfrm>
          <a:custGeom>
            <a:avLst/>
            <a:gdLst>
              <a:gd name="connsiteX0" fmla="*/ 354489 w 1714500"/>
              <a:gd name="connsiteY0" fmla="*/ 0 h 1097280"/>
              <a:gd name="connsiteX1" fmla="*/ 1165860 w 1714500"/>
              <a:gd name="connsiteY1" fmla="*/ 0 h 1097280"/>
              <a:gd name="connsiteX2" fmla="*/ 1714500 w 1714500"/>
              <a:gd name="connsiteY2" fmla="*/ 548640 h 1097280"/>
              <a:gd name="connsiteX3" fmla="*/ 1165860 w 1714500"/>
              <a:gd name="connsiteY3" fmla="*/ 1097280 h 1097280"/>
              <a:gd name="connsiteX4" fmla="*/ 0 w 1714500"/>
              <a:gd name="connsiteY4" fmla="*/ 1097280 h 1097280"/>
              <a:gd name="connsiteX5" fmla="*/ 0 w 1714500"/>
              <a:gd name="connsiteY5" fmla="*/ 1069137 h 1097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14500" h="1097280">
                <a:moveTo>
                  <a:pt x="354489" y="0"/>
                </a:moveTo>
                <a:lnTo>
                  <a:pt x="1165860" y="0"/>
                </a:lnTo>
                <a:lnTo>
                  <a:pt x="1714500" y="548640"/>
                </a:lnTo>
                <a:lnTo>
                  <a:pt x="1165860" y="1097280"/>
                </a:lnTo>
                <a:lnTo>
                  <a:pt x="0" y="1097280"/>
                </a:lnTo>
                <a:lnTo>
                  <a:pt x="0" y="1069137"/>
                </a:lnTo>
                <a:close/>
              </a:path>
            </a:pathLst>
          </a:custGeom>
          <a:solidFill>
            <a:srgbClr val="EF9D2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6" name="Freeform: Shape 35"/>
          <p:cNvSpPr/>
          <p:nvPr/>
        </p:nvSpPr>
        <p:spPr>
          <a:xfrm>
            <a:off x="5278438" y="2093913"/>
            <a:ext cx="1285875" cy="1096962"/>
          </a:xfrm>
          <a:custGeom>
            <a:avLst/>
            <a:gdLst>
              <a:gd name="connsiteX0" fmla="*/ 363294 w 1714500"/>
              <a:gd name="connsiteY0" fmla="*/ 0 h 1097280"/>
              <a:gd name="connsiteX1" fmla="*/ 1165860 w 1714500"/>
              <a:gd name="connsiteY1" fmla="*/ 0 h 1097280"/>
              <a:gd name="connsiteX2" fmla="*/ 1714500 w 1714500"/>
              <a:gd name="connsiteY2" fmla="*/ 548640 h 1097280"/>
              <a:gd name="connsiteX3" fmla="*/ 1165860 w 1714500"/>
              <a:gd name="connsiteY3" fmla="*/ 1097280 h 1097280"/>
              <a:gd name="connsiteX4" fmla="*/ 0 w 1714500"/>
              <a:gd name="connsiteY4" fmla="*/ 1097280 h 1097280"/>
              <a:gd name="connsiteX5" fmla="*/ 0 w 1714500"/>
              <a:gd name="connsiteY5" fmla="*/ 1095691 h 1097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14500" h="1097280">
                <a:moveTo>
                  <a:pt x="363294" y="0"/>
                </a:moveTo>
                <a:lnTo>
                  <a:pt x="1165860" y="0"/>
                </a:lnTo>
                <a:lnTo>
                  <a:pt x="1714500" y="548640"/>
                </a:lnTo>
                <a:lnTo>
                  <a:pt x="1165860" y="1097280"/>
                </a:lnTo>
                <a:lnTo>
                  <a:pt x="0" y="1097280"/>
                </a:lnTo>
                <a:lnTo>
                  <a:pt x="0" y="1095691"/>
                </a:lnTo>
                <a:close/>
              </a:path>
            </a:pathLst>
          </a:custGeom>
          <a:solidFill>
            <a:srgbClr val="189A8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4" name="Freeform: Shape 33"/>
          <p:cNvSpPr/>
          <p:nvPr/>
        </p:nvSpPr>
        <p:spPr>
          <a:xfrm>
            <a:off x="5548280" y="1007918"/>
            <a:ext cx="1281162" cy="1097280"/>
          </a:xfrm>
          <a:custGeom>
            <a:avLst/>
            <a:gdLst>
              <a:gd name="connsiteX0" fmla="*/ 363820 w 1708216"/>
              <a:gd name="connsiteY0" fmla="*/ 0 h 1097280"/>
              <a:gd name="connsiteX1" fmla="*/ 1159576 w 1708216"/>
              <a:gd name="connsiteY1" fmla="*/ 0 h 1097280"/>
              <a:gd name="connsiteX2" fmla="*/ 1708216 w 1708216"/>
              <a:gd name="connsiteY2" fmla="*/ 548640 h 1097280"/>
              <a:gd name="connsiteX3" fmla="*/ 1159576 w 1708216"/>
              <a:gd name="connsiteY3" fmla="*/ 1097280 h 1097280"/>
              <a:gd name="connsiteX4" fmla="*/ 0 w 1708216"/>
              <a:gd name="connsiteY4" fmla="*/ 1097280 h 1097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08216" h="1097280">
                <a:moveTo>
                  <a:pt x="363820" y="0"/>
                </a:moveTo>
                <a:lnTo>
                  <a:pt x="1159576" y="0"/>
                </a:lnTo>
                <a:lnTo>
                  <a:pt x="1708216" y="548640"/>
                </a:lnTo>
                <a:lnTo>
                  <a:pt x="1159576" y="1097280"/>
                </a:lnTo>
                <a:lnTo>
                  <a:pt x="0" y="1097280"/>
                </a:lnTo>
                <a:close/>
              </a:path>
            </a:pathLst>
          </a:custGeom>
          <a:solidFill>
            <a:srgbClr val="5C9AD3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ct val="20000"/>
              </a:spcBef>
              <a:spcAft>
                <a:spcPts val="0"/>
              </a:spcAft>
              <a:defRPr/>
            </a:pPr>
            <a:endParaRPr lang="en-US" sz="2400" b="1">
              <a:solidFill>
                <a:schemeClr val="bg1"/>
              </a:solidFill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277813" y="304800"/>
            <a:ext cx="4457700" cy="1046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fr-FR" sz="4400" b="1" dirty="0">
                <a:solidFill>
                  <a:schemeClr val="bg1"/>
                </a:solidFill>
                <a:latin typeface="Candara" pitchFamily="34" charset="0"/>
              </a:rPr>
              <a:t>TITLE GOES HERE</a:t>
            </a:r>
          </a:p>
          <a:p>
            <a:r>
              <a:rPr lang="en-US" altLang="fr-FR" dirty="0">
                <a:solidFill>
                  <a:schemeClr val="bg1"/>
                </a:solidFill>
                <a:latin typeface="Candara" pitchFamily="34" charset="0"/>
              </a:rPr>
              <a:t>Your Subtitle</a:t>
            </a:r>
          </a:p>
        </p:txBody>
      </p:sp>
      <p:sp>
        <p:nvSpPr>
          <p:cNvPr id="43" name="Text Placeholder 3"/>
          <p:cNvSpPr txBox="1">
            <a:spLocks/>
          </p:cNvSpPr>
          <p:nvPr/>
        </p:nvSpPr>
        <p:spPr>
          <a:xfrm>
            <a:off x="5786438" y="1285875"/>
            <a:ext cx="714375" cy="571500"/>
          </a:xfrm>
          <a:prstGeom prst="rect">
            <a:avLst/>
          </a:prstGeom>
          <a:solidFill>
            <a:srgbClr val="5C9A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3600" dirty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44" name="Text Placeholder 3"/>
          <p:cNvSpPr txBox="1">
            <a:spLocks/>
          </p:cNvSpPr>
          <p:nvPr/>
        </p:nvSpPr>
        <p:spPr bwMode="auto">
          <a:xfrm>
            <a:off x="5656263" y="2274888"/>
            <a:ext cx="625475" cy="73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b">
            <a:spAutoFit/>
          </a:bodyPr>
          <a:lstStyle/>
          <a:p>
            <a:pPr algn="ctr" defTabSz="1217613">
              <a:spcBef>
                <a:spcPct val="20000"/>
              </a:spcBef>
            </a:pPr>
            <a:r>
              <a:rPr lang="en-US" altLang="fr-FR" sz="4800" b="1">
                <a:solidFill>
                  <a:schemeClr val="bg1"/>
                </a:solidFill>
                <a:latin typeface="Calibri" pitchFamily="34" charset="0"/>
              </a:rPr>
              <a:t>02</a:t>
            </a:r>
          </a:p>
        </p:txBody>
      </p:sp>
      <p:sp>
        <p:nvSpPr>
          <p:cNvPr id="45" name="Text Placeholder 3"/>
          <p:cNvSpPr txBox="1">
            <a:spLocks/>
          </p:cNvSpPr>
          <p:nvPr/>
        </p:nvSpPr>
        <p:spPr bwMode="auto">
          <a:xfrm>
            <a:off x="5422900" y="3325813"/>
            <a:ext cx="623888" cy="738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b">
            <a:spAutoFit/>
          </a:bodyPr>
          <a:lstStyle/>
          <a:p>
            <a:pPr algn="ctr" defTabSz="1217613">
              <a:spcBef>
                <a:spcPct val="20000"/>
              </a:spcBef>
            </a:pPr>
            <a:r>
              <a:rPr lang="en-US" altLang="fr-FR" sz="4800" b="1">
                <a:solidFill>
                  <a:schemeClr val="bg1"/>
                </a:solidFill>
                <a:latin typeface="Calibri" pitchFamily="34" charset="0"/>
              </a:rPr>
              <a:t>03</a:t>
            </a:r>
          </a:p>
        </p:txBody>
      </p:sp>
      <p:sp>
        <p:nvSpPr>
          <p:cNvPr id="47" name="Text Placeholder 3"/>
          <p:cNvSpPr txBox="1">
            <a:spLocks/>
          </p:cNvSpPr>
          <p:nvPr/>
        </p:nvSpPr>
        <p:spPr bwMode="auto">
          <a:xfrm>
            <a:off x="4826000" y="5540375"/>
            <a:ext cx="625475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b">
            <a:spAutoFit/>
          </a:bodyPr>
          <a:lstStyle/>
          <a:p>
            <a:pPr algn="ctr" defTabSz="1217613">
              <a:spcBef>
                <a:spcPct val="20000"/>
              </a:spcBef>
            </a:pPr>
            <a:r>
              <a:rPr lang="en-US" altLang="fr-FR" sz="4800" b="1">
                <a:solidFill>
                  <a:schemeClr val="bg1"/>
                </a:solidFill>
                <a:latin typeface="Calibri" pitchFamily="34" charset="0"/>
              </a:rPr>
              <a:t>05</a:t>
            </a:r>
          </a:p>
        </p:txBody>
      </p:sp>
      <p:grpSp>
        <p:nvGrpSpPr>
          <p:cNvPr id="2" name="Group 47"/>
          <p:cNvGrpSpPr>
            <a:grpSpLocks/>
          </p:cNvGrpSpPr>
          <p:nvPr/>
        </p:nvGrpSpPr>
        <p:grpSpPr bwMode="auto">
          <a:xfrm>
            <a:off x="2139950" y="1589088"/>
            <a:ext cx="3503613" cy="892175"/>
            <a:chOff x="4597685" y="3155869"/>
            <a:chExt cx="2380089" cy="669413"/>
          </a:xfrm>
        </p:grpSpPr>
        <p:sp>
          <p:nvSpPr>
            <p:cNvPr id="8230" name="TextBox 48"/>
            <p:cNvSpPr txBox="1">
              <a:spLocks noChangeArrowheads="1"/>
            </p:cNvSpPr>
            <p:nvPr/>
          </p:nvSpPr>
          <p:spPr bwMode="auto">
            <a:xfrm>
              <a:off x="4597686" y="3155869"/>
              <a:ext cx="2380088" cy="669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fr-FR" sz="2000" b="1">
                  <a:solidFill>
                    <a:schemeClr val="bg1"/>
                  </a:solidFill>
                  <a:latin typeface="Calibri" pitchFamily="34" charset="0"/>
                </a:rPr>
                <a:t>Définition de l’entreprise</a:t>
              </a:r>
            </a:p>
            <a:p>
              <a:r>
                <a:rPr lang="en-US" altLang="fr-FR" sz="2000" b="1">
                  <a:solidFill>
                    <a:schemeClr val="bg1"/>
                  </a:solidFill>
                  <a:latin typeface="Calibri" pitchFamily="34" charset="0"/>
                </a:rPr>
                <a:t>Rôle économique de l’entreprise   </a:t>
              </a:r>
            </a:p>
            <a:p>
              <a:endParaRPr lang="en-US" altLang="fr-FR" b="1">
                <a:solidFill>
                  <a:schemeClr val="bg1"/>
                </a:solidFill>
                <a:latin typeface="Calibri" pitchFamily="34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4597685" y="3348831"/>
              <a:ext cx="1699601" cy="138171"/>
            </a:xfrm>
            <a:prstGeom prst="rect">
              <a:avLst/>
            </a:prstGeom>
            <a:noFill/>
          </p:spPr>
          <p:txBody>
            <a:bodyPr lIns="0" tIns="0" rIns="0" bIns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dirty="0">
                <a:solidFill>
                  <a:schemeClr val="tx2">
                    <a:lumMod val="50000"/>
                    <a:lumOff val="50000"/>
                  </a:schemeClr>
                </a:solidFill>
                <a:latin typeface="+mn-lt"/>
                <a:cs typeface="+mn-cs"/>
              </a:endParaRPr>
            </a:p>
          </p:txBody>
        </p:sp>
      </p:grpSp>
      <p:grpSp>
        <p:nvGrpSpPr>
          <p:cNvPr id="3" name="Group 50"/>
          <p:cNvGrpSpPr>
            <a:grpSpLocks/>
          </p:cNvGrpSpPr>
          <p:nvPr/>
        </p:nvGrpSpPr>
        <p:grpSpPr bwMode="auto">
          <a:xfrm>
            <a:off x="2000232" y="2571744"/>
            <a:ext cx="2740025" cy="615950"/>
            <a:chOff x="4597685" y="3155866"/>
            <a:chExt cx="1861611" cy="461664"/>
          </a:xfrm>
        </p:grpSpPr>
        <p:sp>
          <p:nvSpPr>
            <p:cNvPr id="8228" name="TextBox 51"/>
            <p:cNvSpPr txBox="1">
              <a:spLocks noChangeArrowheads="1"/>
            </p:cNvSpPr>
            <p:nvPr/>
          </p:nvSpPr>
          <p:spPr bwMode="auto">
            <a:xfrm>
              <a:off x="4597685" y="3155866"/>
              <a:ext cx="1861611" cy="4616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fr-FR" sz="2000" b="1">
                  <a:solidFill>
                    <a:schemeClr val="bg1"/>
                  </a:solidFill>
                  <a:latin typeface="Calibri" pitchFamily="34" charset="0"/>
                </a:rPr>
                <a:t>  </a:t>
              </a:r>
            </a:p>
            <a:p>
              <a:endParaRPr lang="en-US" altLang="fr-FR" sz="2000" b="1">
                <a:solidFill>
                  <a:schemeClr val="bg1"/>
                </a:solidFill>
                <a:latin typeface="Calibri" pitchFamily="34" charset="0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597685" y="3348623"/>
              <a:ext cx="1698747" cy="139213"/>
            </a:xfrm>
            <a:prstGeom prst="rect">
              <a:avLst/>
            </a:prstGeom>
            <a:noFill/>
          </p:spPr>
          <p:txBody>
            <a:bodyPr lIns="0" tIns="0" rIns="0" bIns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dirty="0">
                <a:solidFill>
                  <a:schemeClr val="tx2">
                    <a:lumMod val="50000"/>
                    <a:lumOff val="50000"/>
                  </a:schemeClr>
                </a:solidFill>
                <a:latin typeface="+mn-lt"/>
                <a:cs typeface="+mn-cs"/>
              </a:endParaRPr>
            </a:p>
          </p:txBody>
        </p:sp>
      </p:grpSp>
      <p:grpSp>
        <p:nvGrpSpPr>
          <p:cNvPr id="4" name="Group 56"/>
          <p:cNvGrpSpPr>
            <a:grpSpLocks/>
          </p:cNvGrpSpPr>
          <p:nvPr/>
        </p:nvGrpSpPr>
        <p:grpSpPr bwMode="auto">
          <a:xfrm>
            <a:off x="1508125" y="4881563"/>
            <a:ext cx="3135313" cy="441325"/>
            <a:chOff x="4597684" y="3155882"/>
            <a:chExt cx="2130484" cy="331555"/>
          </a:xfrm>
        </p:grpSpPr>
        <p:sp>
          <p:nvSpPr>
            <p:cNvPr id="8226" name="TextBox 57"/>
            <p:cNvSpPr txBox="1">
              <a:spLocks noChangeArrowheads="1"/>
            </p:cNvSpPr>
            <p:nvPr/>
          </p:nvSpPr>
          <p:spPr bwMode="auto">
            <a:xfrm>
              <a:off x="4597684" y="3155882"/>
              <a:ext cx="2130484" cy="2308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 altLang="fr-FR" sz="2000" b="1">
                <a:solidFill>
                  <a:schemeClr val="bg1"/>
                </a:solidFill>
                <a:latin typeface="Calibri" pitchFamily="34" charset="0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4597684" y="3349090"/>
              <a:ext cx="1698994" cy="138347"/>
            </a:xfrm>
            <a:prstGeom prst="rect">
              <a:avLst/>
            </a:prstGeom>
            <a:noFill/>
          </p:spPr>
          <p:txBody>
            <a:bodyPr lIns="0" tIns="0" rIns="0" bIns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dirty="0">
                <a:solidFill>
                  <a:schemeClr val="tx2">
                    <a:lumMod val="50000"/>
                    <a:lumOff val="50000"/>
                  </a:schemeClr>
                </a:solidFill>
                <a:latin typeface="+mn-lt"/>
                <a:cs typeface="+mn-cs"/>
              </a:endParaRPr>
            </a:p>
          </p:txBody>
        </p:sp>
      </p:grpSp>
      <p:grpSp>
        <p:nvGrpSpPr>
          <p:cNvPr id="5" name="Group 59"/>
          <p:cNvGrpSpPr>
            <a:grpSpLocks/>
          </p:cNvGrpSpPr>
          <p:nvPr/>
        </p:nvGrpSpPr>
        <p:grpSpPr bwMode="auto">
          <a:xfrm>
            <a:off x="1255713" y="6002338"/>
            <a:ext cx="2500312" cy="811212"/>
            <a:chOff x="4597685" y="3155872"/>
            <a:chExt cx="1699181" cy="608564"/>
          </a:xfrm>
        </p:grpSpPr>
        <p:sp>
          <p:nvSpPr>
            <p:cNvPr id="8224" name="TextBox 60"/>
            <p:cNvSpPr txBox="1">
              <a:spLocks noChangeArrowheads="1"/>
            </p:cNvSpPr>
            <p:nvPr/>
          </p:nvSpPr>
          <p:spPr bwMode="auto">
            <a:xfrm>
              <a:off x="4597686" y="3155872"/>
              <a:ext cx="1542506" cy="2077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fr-FR" b="1">
                  <a:solidFill>
                    <a:schemeClr val="bg1"/>
                  </a:solidFill>
                  <a:latin typeface="Calibri" pitchFamily="34" charset="0"/>
                </a:rPr>
                <a:t>Lorem Ipsum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4597685" y="3348802"/>
              <a:ext cx="1699181" cy="415634"/>
            </a:xfrm>
            <a:prstGeom prst="rect">
              <a:avLst/>
            </a:prstGeom>
            <a:noFill/>
          </p:spPr>
          <p:txBody>
            <a:bodyPr lIns="0" tIns="0" rIns="0" bIns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bg1"/>
                  </a:solidFill>
                  <a:latin typeface="Calibri" panose="020F0502020204030204" pitchFamily="34" charset="0"/>
                  <a:cs typeface="+mn-cs"/>
                </a:rPr>
                <a:t>Lorem ipsum dolor sit amet, consectetur adipiscing elit, sed do eiusmod tempor incididunt.</a:t>
              </a:r>
              <a:endParaRPr lang="en-US" sz="1200" dirty="0">
                <a:solidFill>
                  <a:schemeClr val="tx2">
                    <a:lumMod val="50000"/>
                    <a:lumOff val="50000"/>
                  </a:schemeClr>
                </a:solidFill>
                <a:latin typeface="+mn-lt"/>
                <a:cs typeface="+mn-cs"/>
              </a:endParaRPr>
            </a:p>
          </p:txBody>
        </p:sp>
      </p:grpSp>
      <p:grpSp>
        <p:nvGrpSpPr>
          <p:cNvPr id="6" name="Group 62"/>
          <p:cNvGrpSpPr/>
          <p:nvPr/>
        </p:nvGrpSpPr>
        <p:grpSpPr>
          <a:xfrm>
            <a:off x="6830333" y="2423721"/>
            <a:ext cx="382588" cy="527051"/>
            <a:chOff x="3775075" y="1663700"/>
            <a:chExt cx="382588" cy="395288"/>
          </a:xfrm>
          <a:solidFill>
            <a:srgbClr val="189A8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4" name="Freeform 46"/>
            <p:cNvSpPr>
              <a:spLocks/>
            </p:cNvSpPr>
            <p:nvPr/>
          </p:nvSpPr>
          <p:spPr bwMode="auto">
            <a:xfrm>
              <a:off x="4064000" y="1952625"/>
              <a:ext cx="6350" cy="19050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3" y="8"/>
                </a:cxn>
                <a:cxn ang="0">
                  <a:pos x="3" y="0"/>
                </a:cxn>
                <a:cxn ang="0">
                  <a:pos x="0" y="4"/>
                </a:cxn>
              </a:cxnLst>
              <a:rect l="0" t="0" r="r" b="b"/>
              <a:pathLst>
                <a:path w="3" h="8">
                  <a:moveTo>
                    <a:pt x="0" y="4"/>
                  </a:moveTo>
                  <a:cubicBezTo>
                    <a:pt x="0" y="6"/>
                    <a:pt x="1" y="7"/>
                    <a:pt x="3" y="8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1"/>
                    <a:pt x="0" y="2"/>
                    <a:pt x="0" y="4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lIns="121920" tIns="60960" rIns="121920" bIns="6096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65" name="Freeform 47"/>
            <p:cNvSpPr>
              <a:spLocks/>
            </p:cNvSpPr>
            <p:nvPr/>
          </p:nvSpPr>
          <p:spPr bwMode="auto">
            <a:xfrm>
              <a:off x="4081463" y="1987550"/>
              <a:ext cx="11113" cy="1746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0" y="8"/>
                </a:cxn>
                <a:cxn ang="0">
                  <a:pos x="5" y="4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cubicBezTo>
                    <a:pt x="2" y="0"/>
                    <a:pt x="1" y="0"/>
                    <a:pt x="0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3" y="8"/>
                    <a:pt x="5" y="6"/>
                    <a:pt x="5" y="4"/>
                  </a:cubicBezTo>
                  <a:cubicBezTo>
                    <a:pt x="5" y="2"/>
                    <a:pt x="4" y="1"/>
                    <a:pt x="2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lIns="121920" tIns="60960" rIns="121920" bIns="6096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66" name="Freeform 48"/>
            <p:cNvSpPr>
              <a:spLocks noEditPoints="1"/>
            </p:cNvSpPr>
            <p:nvPr/>
          </p:nvSpPr>
          <p:spPr bwMode="auto">
            <a:xfrm>
              <a:off x="3995738" y="1898650"/>
              <a:ext cx="161925" cy="160338"/>
            </a:xfrm>
            <a:custGeom>
              <a:avLst/>
              <a:gdLst/>
              <a:ahLst/>
              <a:cxnLst>
                <a:cxn ang="0">
                  <a:pos x="36" y="0"/>
                </a:cxn>
                <a:cxn ang="0">
                  <a:pos x="0" y="36"/>
                </a:cxn>
                <a:cxn ang="0">
                  <a:pos x="36" y="71"/>
                </a:cxn>
                <a:cxn ang="0">
                  <a:pos x="72" y="36"/>
                </a:cxn>
                <a:cxn ang="0">
                  <a:pos x="36" y="0"/>
                </a:cxn>
                <a:cxn ang="0">
                  <a:pos x="45" y="50"/>
                </a:cxn>
                <a:cxn ang="0">
                  <a:pos x="38" y="52"/>
                </a:cxn>
                <a:cxn ang="0">
                  <a:pos x="38" y="60"/>
                </a:cxn>
                <a:cxn ang="0">
                  <a:pos x="33" y="60"/>
                </a:cxn>
                <a:cxn ang="0">
                  <a:pos x="33" y="52"/>
                </a:cxn>
                <a:cxn ang="0">
                  <a:pos x="27" y="49"/>
                </a:cxn>
                <a:cxn ang="0">
                  <a:pos x="23" y="41"/>
                </a:cxn>
                <a:cxn ang="0">
                  <a:pos x="29" y="41"/>
                </a:cxn>
                <a:cxn ang="0">
                  <a:pos x="33" y="47"/>
                </a:cxn>
                <a:cxn ang="0">
                  <a:pos x="33" y="37"/>
                </a:cxn>
                <a:cxn ang="0">
                  <a:pos x="31" y="37"/>
                </a:cxn>
                <a:cxn ang="0">
                  <a:pos x="24" y="29"/>
                </a:cxn>
                <a:cxn ang="0">
                  <a:pos x="28" y="21"/>
                </a:cxn>
                <a:cxn ang="0">
                  <a:pos x="33" y="19"/>
                </a:cxn>
                <a:cxn ang="0">
                  <a:pos x="33" y="12"/>
                </a:cxn>
                <a:cxn ang="0">
                  <a:pos x="38" y="12"/>
                </a:cxn>
                <a:cxn ang="0">
                  <a:pos x="38" y="19"/>
                </a:cxn>
                <a:cxn ang="0">
                  <a:pos x="44" y="22"/>
                </a:cxn>
                <a:cxn ang="0">
                  <a:pos x="48" y="29"/>
                </a:cxn>
                <a:cxn ang="0">
                  <a:pos x="42" y="29"/>
                </a:cxn>
                <a:cxn ang="0">
                  <a:pos x="38" y="24"/>
                </a:cxn>
                <a:cxn ang="0">
                  <a:pos x="38" y="33"/>
                </a:cxn>
                <a:cxn ang="0">
                  <a:pos x="42" y="34"/>
                </a:cxn>
                <a:cxn ang="0">
                  <a:pos x="47" y="37"/>
                </a:cxn>
                <a:cxn ang="0">
                  <a:pos x="49" y="42"/>
                </a:cxn>
                <a:cxn ang="0">
                  <a:pos x="45" y="50"/>
                </a:cxn>
              </a:cxnLst>
              <a:rect l="0" t="0" r="r" b="b"/>
              <a:pathLst>
                <a:path w="72" h="71">
                  <a:moveTo>
                    <a:pt x="36" y="0"/>
                  </a:moveTo>
                  <a:cubicBezTo>
                    <a:pt x="16" y="0"/>
                    <a:pt x="0" y="16"/>
                    <a:pt x="0" y="36"/>
                  </a:cubicBezTo>
                  <a:cubicBezTo>
                    <a:pt x="0" y="55"/>
                    <a:pt x="16" y="71"/>
                    <a:pt x="36" y="71"/>
                  </a:cubicBezTo>
                  <a:cubicBezTo>
                    <a:pt x="56" y="71"/>
                    <a:pt x="72" y="55"/>
                    <a:pt x="72" y="36"/>
                  </a:cubicBezTo>
                  <a:cubicBezTo>
                    <a:pt x="72" y="16"/>
                    <a:pt x="56" y="0"/>
                    <a:pt x="36" y="0"/>
                  </a:cubicBezTo>
                  <a:close/>
                  <a:moveTo>
                    <a:pt x="45" y="50"/>
                  </a:moveTo>
                  <a:cubicBezTo>
                    <a:pt x="43" y="51"/>
                    <a:pt x="41" y="52"/>
                    <a:pt x="38" y="52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3" y="60"/>
                    <a:pt x="33" y="60"/>
                    <a:pt x="33" y="60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1" y="51"/>
                    <a:pt x="28" y="51"/>
                    <a:pt x="27" y="49"/>
                  </a:cubicBezTo>
                  <a:cubicBezTo>
                    <a:pt x="24" y="47"/>
                    <a:pt x="23" y="44"/>
                    <a:pt x="23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4"/>
                    <a:pt x="30" y="46"/>
                    <a:pt x="33" y="47"/>
                  </a:cubicBezTo>
                  <a:cubicBezTo>
                    <a:pt x="33" y="37"/>
                    <a:pt x="33" y="37"/>
                    <a:pt x="33" y="37"/>
                  </a:cubicBezTo>
                  <a:cubicBezTo>
                    <a:pt x="33" y="37"/>
                    <a:pt x="32" y="37"/>
                    <a:pt x="31" y="37"/>
                  </a:cubicBezTo>
                  <a:cubicBezTo>
                    <a:pt x="26" y="35"/>
                    <a:pt x="24" y="33"/>
                    <a:pt x="24" y="29"/>
                  </a:cubicBezTo>
                  <a:cubicBezTo>
                    <a:pt x="24" y="26"/>
                    <a:pt x="25" y="23"/>
                    <a:pt x="28" y="21"/>
                  </a:cubicBezTo>
                  <a:cubicBezTo>
                    <a:pt x="29" y="20"/>
                    <a:pt x="31" y="20"/>
                    <a:pt x="33" y="19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41" y="20"/>
                    <a:pt x="43" y="20"/>
                    <a:pt x="44" y="22"/>
                  </a:cubicBezTo>
                  <a:cubicBezTo>
                    <a:pt x="47" y="24"/>
                    <a:pt x="48" y="26"/>
                    <a:pt x="48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7"/>
                    <a:pt x="40" y="25"/>
                    <a:pt x="38" y="24"/>
                  </a:cubicBezTo>
                  <a:cubicBezTo>
                    <a:pt x="38" y="33"/>
                    <a:pt x="38" y="33"/>
                    <a:pt x="38" y="33"/>
                  </a:cubicBezTo>
                  <a:cubicBezTo>
                    <a:pt x="39" y="33"/>
                    <a:pt x="41" y="33"/>
                    <a:pt x="42" y="34"/>
                  </a:cubicBezTo>
                  <a:cubicBezTo>
                    <a:pt x="45" y="34"/>
                    <a:pt x="46" y="36"/>
                    <a:pt x="47" y="37"/>
                  </a:cubicBezTo>
                  <a:cubicBezTo>
                    <a:pt x="48" y="39"/>
                    <a:pt x="49" y="40"/>
                    <a:pt x="49" y="42"/>
                  </a:cubicBezTo>
                  <a:cubicBezTo>
                    <a:pt x="49" y="45"/>
                    <a:pt x="48" y="48"/>
                    <a:pt x="45" y="5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lIns="121920" tIns="60960" rIns="121920" bIns="6096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67" name="Freeform 49"/>
            <p:cNvSpPr>
              <a:spLocks noEditPoints="1"/>
            </p:cNvSpPr>
            <p:nvPr/>
          </p:nvSpPr>
          <p:spPr bwMode="auto">
            <a:xfrm>
              <a:off x="3775075" y="1663700"/>
              <a:ext cx="361950" cy="361950"/>
            </a:xfrm>
            <a:custGeom>
              <a:avLst/>
              <a:gdLst/>
              <a:ahLst/>
              <a:cxnLst>
                <a:cxn ang="0">
                  <a:pos x="84" y="153"/>
                </a:cxn>
                <a:cxn ang="0">
                  <a:pos x="103" y="118"/>
                </a:cxn>
                <a:cxn ang="0">
                  <a:pos x="84" y="108"/>
                </a:cxn>
                <a:cxn ang="0">
                  <a:pos x="120" y="85"/>
                </a:cxn>
                <a:cxn ang="0">
                  <a:pos x="126" y="103"/>
                </a:cxn>
                <a:cxn ang="0">
                  <a:pos x="154" y="85"/>
                </a:cxn>
                <a:cxn ang="0">
                  <a:pos x="156" y="109"/>
                </a:cxn>
                <a:cxn ang="0">
                  <a:pos x="84" y="0"/>
                </a:cxn>
                <a:cxn ang="0">
                  <a:pos x="76" y="0"/>
                </a:cxn>
                <a:cxn ang="0">
                  <a:pos x="0" y="81"/>
                </a:cxn>
                <a:cxn ang="0">
                  <a:pos x="100" y="159"/>
                </a:cxn>
                <a:cxn ang="0">
                  <a:pos x="135" y="32"/>
                </a:cxn>
                <a:cxn ang="0">
                  <a:pos x="127" y="78"/>
                </a:cxn>
                <a:cxn ang="0">
                  <a:pos x="135" y="32"/>
                </a:cxn>
                <a:cxn ang="0">
                  <a:pos x="120" y="38"/>
                </a:cxn>
                <a:cxn ang="0">
                  <a:pos x="129" y="26"/>
                </a:cxn>
                <a:cxn ang="0">
                  <a:pos x="113" y="42"/>
                </a:cxn>
                <a:cxn ang="0">
                  <a:pos x="84" y="11"/>
                </a:cxn>
                <a:cxn ang="0">
                  <a:pos x="115" y="49"/>
                </a:cxn>
                <a:cxn ang="0">
                  <a:pos x="84" y="78"/>
                </a:cxn>
                <a:cxn ang="0">
                  <a:pos x="54" y="12"/>
                </a:cxn>
                <a:cxn ang="0">
                  <a:pos x="33" y="26"/>
                </a:cxn>
                <a:cxn ang="0">
                  <a:pos x="26" y="32"/>
                </a:cxn>
                <a:cxn ang="0">
                  <a:pos x="33" y="78"/>
                </a:cxn>
                <a:cxn ang="0">
                  <a:pos x="26" y="32"/>
                </a:cxn>
                <a:cxn ang="0">
                  <a:pos x="8" y="85"/>
                </a:cxn>
                <a:cxn ang="0">
                  <a:pos x="38" y="117"/>
                </a:cxn>
                <a:cxn ang="0">
                  <a:pos x="32" y="135"/>
                </a:cxn>
                <a:cxn ang="0">
                  <a:pos x="55" y="149"/>
                </a:cxn>
                <a:cxn ang="0">
                  <a:pos x="76" y="152"/>
                </a:cxn>
                <a:cxn ang="0">
                  <a:pos x="76" y="115"/>
                </a:cxn>
                <a:cxn ang="0">
                  <a:pos x="76" y="108"/>
                </a:cxn>
                <a:cxn ang="0">
                  <a:pos x="40" y="85"/>
                </a:cxn>
                <a:cxn ang="0">
                  <a:pos x="76" y="108"/>
                </a:cxn>
                <a:cxn ang="0">
                  <a:pos x="40" y="78"/>
                </a:cxn>
                <a:cxn ang="0">
                  <a:pos x="76" y="55"/>
                </a:cxn>
                <a:cxn ang="0">
                  <a:pos x="76" y="47"/>
                </a:cxn>
                <a:cxn ang="0">
                  <a:pos x="76" y="10"/>
                </a:cxn>
              </a:cxnLst>
              <a:rect l="0" t="0" r="r" b="b"/>
              <a:pathLst>
                <a:path w="161" h="161">
                  <a:moveTo>
                    <a:pt x="96" y="148"/>
                  </a:moveTo>
                  <a:cubicBezTo>
                    <a:pt x="92" y="151"/>
                    <a:pt x="88" y="153"/>
                    <a:pt x="84" y="153"/>
                  </a:cubicBezTo>
                  <a:cubicBezTo>
                    <a:pt x="84" y="115"/>
                    <a:pt x="84" y="115"/>
                    <a:pt x="84" y="115"/>
                  </a:cubicBezTo>
                  <a:cubicBezTo>
                    <a:pt x="90" y="115"/>
                    <a:pt x="97" y="116"/>
                    <a:pt x="103" y="118"/>
                  </a:cubicBezTo>
                  <a:cubicBezTo>
                    <a:pt x="105" y="115"/>
                    <a:pt x="107" y="113"/>
                    <a:pt x="109" y="111"/>
                  </a:cubicBezTo>
                  <a:cubicBezTo>
                    <a:pt x="101" y="109"/>
                    <a:pt x="92" y="108"/>
                    <a:pt x="84" y="108"/>
                  </a:cubicBezTo>
                  <a:cubicBezTo>
                    <a:pt x="84" y="85"/>
                    <a:pt x="84" y="85"/>
                    <a:pt x="84" y="85"/>
                  </a:cubicBezTo>
                  <a:cubicBezTo>
                    <a:pt x="120" y="85"/>
                    <a:pt x="120" y="85"/>
                    <a:pt x="120" y="85"/>
                  </a:cubicBezTo>
                  <a:cubicBezTo>
                    <a:pt x="119" y="92"/>
                    <a:pt x="119" y="99"/>
                    <a:pt x="117" y="106"/>
                  </a:cubicBezTo>
                  <a:cubicBezTo>
                    <a:pt x="120" y="105"/>
                    <a:pt x="123" y="104"/>
                    <a:pt x="126" y="103"/>
                  </a:cubicBezTo>
                  <a:cubicBezTo>
                    <a:pt x="126" y="97"/>
                    <a:pt x="127" y="91"/>
                    <a:pt x="127" y="85"/>
                  </a:cubicBezTo>
                  <a:cubicBezTo>
                    <a:pt x="154" y="85"/>
                    <a:pt x="154" y="85"/>
                    <a:pt x="154" y="85"/>
                  </a:cubicBezTo>
                  <a:cubicBezTo>
                    <a:pt x="153" y="92"/>
                    <a:pt x="152" y="99"/>
                    <a:pt x="149" y="106"/>
                  </a:cubicBezTo>
                  <a:cubicBezTo>
                    <a:pt x="152" y="107"/>
                    <a:pt x="154" y="108"/>
                    <a:pt x="156" y="109"/>
                  </a:cubicBezTo>
                  <a:cubicBezTo>
                    <a:pt x="159" y="101"/>
                    <a:pt x="161" y="91"/>
                    <a:pt x="161" y="81"/>
                  </a:cubicBezTo>
                  <a:cubicBezTo>
                    <a:pt x="161" y="37"/>
                    <a:pt x="127" y="2"/>
                    <a:pt x="84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34" y="3"/>
                    <a:pt x="0" y="38"/>
                    <a:pt x="0" y="81"/>
                  </a:cubicBezTo>
                  <a:cubicBezTo>
                    <a:pt x="0" y="125"/>
                    <a:pt x="36" y="161"/>
                    <a:pt x="81" y="161"/>
                  </a:cubicBezTo>
                  <a:cubicBezTo>
                    <a:pt x="87" y="161"/>
                    <a:pt x="94" y="161"/>
                    <a:pt x="100" y="159"/>
                  </a:cubicBezTo>
                  <a:cubicBezTo>
                    <a:pt x="98" y="156"/>
                    <a:pt x="97" y="152"/>
                    <a:pt x="96" y="148"/>
                  </a:cubicBezTo>
                  <a:close/>
                  <a:moveTo>
                    <a:pt x="135" y="32"/>
                  </a:moveTo>
                  <a:cubicBezTo>
                    <a:pt x="146" y="44"/>
                    <a:pt x="153" y="60"/>
                    <a:pt x="154" y="78"/>
                  </a:cubicBezTo>
                  <a:cubicBezTo>
                    <a:pt x="127" y="78"/>
                    <a:pt x="127" y="78"/>
                    <a:pt x="127" y="78"/>
                  </a:cubicBezTo>
                  <a:cubicBezTo>
                    <a:pt x="127" y="67"/>
                    <a:pt x="125" y="56"/>
                    <a:pt x="122" y="46"/>
                  </a:cubicBezTo>
                  <a:cubicBezTo>
                    <a:pt x="129" y="42"/>
                    <a:pt x="133" y="38"/>
                    <a:pt x="135" y="32"/>
                  </a:cubicBezTo>
                  <a:close/>
                  <a:moveTo>
                    <a:pt x="129" y="26"/>
                  </a:moveTo>
                  <a:cubicBezTo>
                    <a:pt x="129" y="31"/>
                    <a:pt x="125" y="35"/>
                    <a:pt x="120" y="38"/>
                  </a:cubicBezTo>
                  <a:cubicBezTo>
                    <a:pt x="116" y="27"/>
                    <a:pt x="110" y="17"/>
                    <a:pt x="101" y="10"/>
                  </a:cubicBezTo>
                  <a:cubicBezTo>
                    <a:pt x="111" y="13"/>
                    <a:pt x="121" y="19"/>
                    <a:pt x="129" y="26"/>
                  </a:cubicBezTo>
                  <a:close/>
                  <a:moveTo>
                    <a:pt x="84" y="11"/>
                  </a:moveTo>
                  <a:cubicBezTo>
                    <a:pt x="98" y="13"/>
                    <a:pt x="108" y="26"/>
                    <a:pt x="113" y="42"/>
                  </a:cubicBezTo>
                  <a:cubicBezTo>
                    <a:pt x="104" y="45"/>
                    <a:pt x="93" y="47"/>
                    <a:pt x="84" y="47"/>
                  </a:cubicBezTo>
                  <a:lnTo>
                    <a:pt x="84" y="11"/>
                  </a:lnTo>
                  <a:close/>
                  <a:moveTo>
                    <a:pt x="84" y="55"/>
                  </a:moveTo>
                  <a:cubicBezTo>
                    <a:pt x="95" y="54"/>
                    <a:pt x="106" y="53"/>
                    <a:pt x="115" y="49"/>
                  </a:cubicBezTo>
                  <a:cubicBezTo>
                    <a:pt x="118" y="59"/>
                    <a:pt x="119" y="69"/>
                    <a:pt x="120" y="78"/>
                  </a:cubicBezTo>
                  <a:cubicBezTo>
                    <a:pt x="84" y="78"/>
                    <a:pt x="84" y="78"/>
                    <a:pt x="84" y="78"/>
                  </a:cubicBezTo>
                  <a:lnTo>
                    <a:pt x="84" y="55"/>
                  </a:lnTo>
                  <a:close/>
                  <a:moveTo>
                    <a:pt x="54" y="12"/>
                  </a:moveTo>
                  <a:cubicBezTo>
                    <a:pt x="48" y="19"/>
                    <a:pt x="43" y="27"/>
                    <a:pt x="40" y="37"/>
                  </a:cubicBezTo>
                  <a:cubicBezTo>
                    <a:pt x="35" y="34"/>
                    <a:pt x="33" y="30"/>
                    <a:pt x="33" y="26"/>
                  </a:cubicBezTo>
                  <a:cubicBezTo>
                    <a:pt x="39" y="20"/>
                    <a:pt x="46" y="15"/>
                    <a:pt x="54" y="12"/>
                  </a:cubicBezTo>
                  <a:close/>
                  <a:moveTo>
                    <a:pt x="26" y="32"/>
                  </a:moveTo>
                  <a:cubicBezTo>
                    <a:pt x="28" y="37"/>
                    <a:pt x="32" y="41"/>
                    <a:pt x="37" y="44"/>
                  </a:cubicBezTo>
                  <a:cubicBezTo>
                    <a:pt x="34" y="55"/>
                    <a:pt x="33" y="66"/>
                    <a:pt x="33" y="78"/>
                  </a:cubicBezTo>
                  <a:cubicBezTo>
                    <a:pt x="7" y="78"/>
                    <a:pt x="7" y="78"/>
                    <a:pt x="7" y="78"/>
                  </a:cubicBezTo>
                  <a:cubicBezTo>
                    <a:pt x="8" y="60"/>
                    <a:pt x="15" y="44"/>
                    <a:pt x="26" y="32"/>
                  </a:cubicBezTo>
                  <a:close/>
                  <a:moveTo>
                    <a:pt x="26" y="129"/>
                  </a:moveTo>
                  <a:cubicBezTo>
                    <a:pt x="15" y="118"/>
                    <a:pt x="9" y="102"/>
                    <a:pt x="8" y="85"/>
                  </a:cubicBezTo>
                  <a:cubicBezTo>
                    <a:pt x="33" y="85"/>
                    <a:pt x="33" y="85"/>
                    <a:pt x="33" y="85"/>
                  </a:cubicBezTo>
                  <a:cubicBezTo>
                    <a:pt x="33" y="95"/>
                    <a:pt x="35" y="107"/>
                    <a:pt x="38" y="117"/>
                  </a:cubicBezTo>
                  <a:cubicBezTo>
                    <a:pt x="32" y="120"/>
                    <a:pt x="28" y="124"/>
                    <a:pt x="26" y="129"/>
                  </a:cubicBezTo>
                  <a:close/>
                  <a:moveTo>
                    <a:pt x="32" y="135"/>
                  </a:moveTo>
                  <a:cubicBezTo>
                    <a:pt x="33" y="131"/>
                    <a:pt x="36" y="127"/>
                    <a:pt x="40" y="125"/>
                  </a:cubicBezTo>
                  <a:cubicBezTo>
                    <a:pt x="44" y="134"/>
                    <a:pt x="49" y="143"/>
                    <a:pt x="55" y="149"/>
                  </a:cubicBezTo>
                  <a:cubicBezTo>
                    <a:pt x="47" y="146"/>
                    <a:pt x="39" y="141"/>
                    <a:pt x="32" y="135"/>
                  </a:cubicBezTo>
                  <a:close/>
                  <a:moveTo>
                    <a:pt x="76" y="152"/>
                  </a:moveTo>
                  <a:cubicBezTo>
                    <a:pt x="62" y="149"/>
                    <a:pt x="52" y="137"/>
                    <a:pt x="47" y="121"/>
                  </a:cubicBezTo>
                  <a:cubicBezTo>
                    <a:pt x="55" y="117"/>
                    <a:pt x="66" y="115"/>
                    <a:pt x="76" y="115"/>
                  </a:cubicBezTo>
                  <a:lnTo>
                    <a:pt x="76" y="152"/>
                  </a:lnTo>
                  <a:close/>
                  <a:moveTo>
                    <a:pt x="76" y="108"/>
                  </a:moveTo>
                  <a:cubicBezTo>
                    <a:pt x="66" y="108"/>
                    <a:pt x="54" y="110"/>
                    <a:pt x="45" y="114"/>
                  </a:cubicBezTo>
                  <a:cubicBezTo>
                    <a:pt x="42" y="104"/>
                    <a:pt x="40" y="94"/>
                    <a:pt x="40" y="85"/>
                  </a:cubicBezTo>
                  <a:cubicBezTo>
                    <a:pt x="76" y="85"/>
                    <a:pt x="76" y="85"/>
                    <a:pt x="76" y="85"/>
                  </a:cubicBezTo>
                  <a:lnTo>
                    <a:pt x="76" y="108"/>
                  </a:lnTo>
                  <a:close/>
                  <a:moveTo>
                    <a:pt x="76" y="78"/>
                  </a:moveTo>
                  <a:cubicBezTo>
                    <a:pt x="40" y="78"/>
                    <a:pt x="40" y="78"/>
                    <a:pt x="40" y="78"/>
                  </a:cubicBezTo>
                  <a:cubicBezTo>
                    <a:pt x="40" y="69"/>
                    <a:pt x="42" y="58"/>
                    <a:pt x="44" y="48"/>
                  </a:cubicBezTo>
                  <a:cubicBezTo>
                    <a:pt x="54" y="52"/>
                    <a:pt x="66" y="54"/>
                    <a:pt x="76" y="55"/>
                  </a:cubicBezTo>
                  <a:lnTo>
                    <a:pt x="76" y="78"/>
                  </a:lnTo>
                  <a:close/>
                  <a:moveTo>
                    <a:pt x="76" y="47"/>
                  </a:moveTo>
                  <a:cubicBezTo>
                    <a:pt x="66" y="47"/>
                    <a:pt x="55" y="45"/>
                    <a:pt x="46" y="41"/>
                  </a:cubicBezTo>
                  <a:cubicBezTo>
                    <a:pt x="52" y="25"/>
                    <a:pt x="61" y="11"/>
                    <a:pt x="76" y="10"/>
                  </a:cubicBezTo>
                  <a:lnTo>
                    <a:pt x="76" y="47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lIns="121920" tIns="60960" rIns="121920" bIns="6096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68" name="Freeform 50"/>
            <p:cNvSpPr>
              <a:spLocks/>
            </p:cNvSpPr>
            <p:nvPr/>
          </p:nvSpPr>
          <p:spPr bwMode="auto">
            <a:xfrm>
              <a:off x="4064000" y="1952625"/>
              <a:ext cx="6350" cy="19050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3" y="8"/>
                </a:cxn>
                <a:cxn ang="0">
                  <a:pos x="3" y="0"/>
                </a:cxn>
                <a:cxn ang="0">
                  <a:pos x="0" y="4"/>
                </a:cxn>
              </a:cxnLst>
              <a:rect l="0" t="0" r="r" b="b"/>
              <a:pathLst>
                <a:path w="3" h="8">
                  <a:moveTo>
                    <a:pt x="0" y="4"/>
                  </a:moveTo>
                  <a:cubicBezTo>
                    <a:pt x="0" y="6"/>
                    <a:pt x="1" y="7"/>
                    <a:pt x="3" y="8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1"/>
                    <a:pt x="0" y="2"/>
                    <a:pt x="0" y="4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lIns="121920" tIns="60960" rIns="121920" bIns="6096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71" name="Freeform 53"/>
            <p:cNvSpPr>
              <a:spLocks noEditPoints="1"/>
            </p:cNvSpPr>
            <p:nvPr/>
          </p:nvSpPr>
          <p:spPr bwMode="auto">
            <a:xfrm>
              <a:off x="3775075" y="1663700"/>
              <a:ext cx="361950" cy="361950"/>
            </a:xfrm>
            <a:custGeom>
              <a:avLst/>
              <a:gdLst/>
              <a:ahLst/>
              <a:cxnLst>
                <a:cxn ang="0">
                  <a:pos x="84" y="153"/>
                </a:cxn>
                <a:cxn ang="0">
                  <a:pos x="103" y="118"/>
                </a:cxn>
                <a:cxn ang="0">
                  <a:pos x="84" y="108"/>
                </a:cxn>
                <a:cxn ang="0">
                  <a:pos x="120" y="85"/>
                </a:cxn>
                <a:cxn ang="0">
                  <a:pos x="126" y="103"/>
                </a:cxn>
                <a:cxn ang="0">
                  <a:pos x="154" y="85"/>
                </a:cxn>
                <a:cxn ang="0">
                  <a:pos x="156" y="109"/>
                </a:cxn>
                <a:cxn ang="0">
                  <a:pos x="84" y="0"/>
                </a:cxn>
                <a:cxn ang="0">
                  <a:pos x="76" y="0"/>
                </a:cxn>
                <a:cxn ang="0">
                  <a:pos x="0" y="81"/>
                </a:cxn>
                <a:cxn ang="0">
                  <a:pos x="100" y="159"/>
                </a:cxn>
                <a:cxn ang="0">
                  <a:pos x="135" y="32"/>
                </a:cxn>
                <a:cxn ang="0">
                  <a:pos x="127" y="78"/>
                </a:cxn>
                <a:cxn ang="0">
                  <a:pos x="135" y="32"/>
                </a:cxn>
                <a:cxn ang="0">
                  <a:pos x="120" y="38"/>
                </a:cxn>
                <a:cxn ang="0">
                  <a:pos x="129" y="26"/>
                </a:cxn>
                <a:cxn ang="0">
                  <a:pos x="113" y="42"/>
                </a:cxn>
                <a:cxn ang="0">
                  <a:pos x="84" y="11"/>
                </a:cxn>
                <a:cxn ang="0">
                  <a:pos x="115" y="49"/>
                </a:cxn>
                <a:cxn ang="0">
                  <a:pos x="84" y="78"/>
                </a:cxn>
                <a:cxn ang="0">
                  <a:pos x="54" y="12"/>
                </a:cxn>
                <a:cxn ang="0">
                  <a:pos x="33" y="26"/>
                </a:cxn>
                <a:cxn ang="0">
                  <a:pos x="26" y="32"/>
                </a:cxn>
                <a:cxn ang="0">
                  <a:pos x="33" y="78"/>
                </a:cxn>
                <a:cxn ang="0">
                  <a:pos x="26" y="32"/>
                </a:cxn>
                <a:cxn ang="0">
                  <a:pos x="8" y="85"/>
                </a:cxn>
                <a:cxn ang="0">
                  <a:pos x="38" y="117"/>
                </a:cxn>
                <a:cxn ang="0">
                  <a:pos x="32" y="135"/>
                </a:cxn>
                <a:cxn ang="0">
                  <a:pos x="55" y="149"/>
                </a:cxn>
                <a:cxn ang="0">
                  <a:pos x="76" y="152"/>
                </a:cxn>
                <a:cxn ang="0">
                  <a:pos x="76" y="115"/>
                </a:cxn>
                <a:cxn ang="0">
                  <a:pos x="76" y="108"/>
                </a:cxn>
                <a:cxn ang="0">
                  <a:pos x="40" y="85"/>
                </a:cxn>
                <a:cxn ang="0">
                  <a:pos x="76" y="108"/>
                </a:cxn>
                <a:cxn ang="0">
                  <a:pos x="40" y="78"/>
                </a:cxn>
                <a:cxn ang="0">
                  <a:pos x="76" y="55"/>
                </a:cxn>
                <a:cxn ang="0">
                  <a:pos x="76" y="47"/>
                </a:cxn>
                <a:cxn ang="0">
                  <a:pos x="76" y="10"/>
                </a:cxn>
              </a:cxnLst>
              <a:rect l="0" t="0" r="r" b="b"/>
              <a:pathLst>
                <a:path w="161" h="161">
                  <a:moveTo>
                    <a:pt x="96" y="148"/>
                  </a:moveTo>
                  <a:cubicBezTo>
                    <a:pt x="92" y="151"/>
                    <a:pt x="88" y="153"/>
                    <a:pt x="84" y="153"/>
                  </a:cubicBezTo>
                  <a:cubicBezTo>
                    <a:pt x="84" y="115"/>
                    <a:pt x="84" y="115"/>
                    <a:pt x="84" y="115"/>
                  </a:cubicBezTo>
                  <a:cubicBezTo>
                    <a:pt x="90" y="115"/>
                    <a:pt x="97" y="116"/>
                    <a:pt x="103" y="118"/>
                  </a:cubicBezTo>
                  <a:cubicBezTo>
                    <a:pt x="105" y="115"/>
                    <a:pt x="107" y="113"/>
                    <a:pt x="109" y="111"/>
                  </a:cubicBezTo>
                  <a:cubicBezTo>
                    <a:pt x="101" y="109"/>
                    <a:pt x="92" y="108"/>
                    <a:pt x="84" y="108"/>
                  </a:cubicBezTo>
                  <a:cubicBezTo>
                    <a:pt x="84" y="85"/>
                    <a:pt x="84" y="85"/>
                    <a:pt x="84" y="85"/>
                  </a:cubicBezTo>
                  <a:cubicBezTo>
                    <a:pt x="120" y="85"/>
                    <a:pt x="120" y="85"/>
                    <a:pt x="120" y="85"/>
                  </a:cubicBezTo>
                  <a:cubicBezTo>
                    <a:pt x="119" y="92"/>
                    <a:pt x="119" y="99"/>
                    <a:pt x="117" y="106"/>
                  </a:cubicBezTo>
                  <a:cubicBezTo>
                    <a:pt x="120" y="105"/>
                    <a:pt x="123" y="104"/>
                    <a:pt x="126" y="103"/>
                  </a:cubicBezTo>
                  <a:cubicBezTo>
                    <a:pt x="126" y="97"/>
                    <a:pt x="127" y="91"/>
                    <a:pt x="127" y="85"/>
                  </a:cubicBezTo>
                  <a:cubicBezTo>
                    <a:pt x="154" y="85"/>
                    <a:pt x="154" y="85"/>
                    <a:pt x="154" y="85"/>
                  </a:cubicBezTo>
                  <a:cubicBezTo>
                    <a:pt x="153" y="92"/>
                    <a:pt x="152" y="99"/>
                    <a:pt x="149" y="106"/>
                  </a:cubicBezTo>
                  <a:cubicBezTo>
                    <a:pt x="152" y="107"/>
                    <a:pt x="154" y="108"/>
                    <a:pt x="156" y="109"/>
                  </a:cubicBezTo>
                  <a:cubicBezTo>
                    <a:pt x="159" y="101"/>
                    <a:pt x="161" y="91"/>
                    <a:pt x="161" y="81"/>
                  </a:cubicBezTo>
                  <a:cubicBezTo>
                    <a:pt x="161" y="37"/>
                    <a:pt x="127" y="2"/>
                    <a:pt x="84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34" y="3"/>
                    <a:pt x="0" y="38"/>
                    <a:pt x="0" y="81"/>
                  </a:cubicBezTo>
                  <a:cubicBezTo>
                    <a:pt x="0" y="125"/>
                    <a:pt x="36" y="161"/>
                    <a:pt x="81" y="161"/>
                  </a:cubicBezTo>
                  <a:cubicBezTo>
                    <a:pt x="87" y="161"/>
                    <a:pt x="94" y="161"/>
                    <a:pt x="100" y="159"/>
                  </a:cubicBezTo>
                  <a:cubicBezTo>
                    <a:pt x="98" y="156"/>
                    <a:pt x="97" y="152"/>
                    <a:pt x="96" y="148"/>
                  </a:cubicBezTo>
                  <a:close/>
                  <a:moveTo>
                    <a:pt x="135" y="32"/>
                  </a:moveTo>
                  <a:cubicBezTo>
                    <a:pt x="146" y="44"/>
                    <a:pt x="153" y="60"/>
                    <a:pt x="154" y="78"/>
                  </a:cubicBezTo>
                  <a:cubicBezTo>
                    <a:pt x="127" y="78"/>
                    <a:pt x="127" y="78"/>
                    <a:pt x="127" y="78"/>
                  </a:cubicBezTo>
                  <a:cubicBezTo>
                    <a:pt x="127" y="67"/>
                    <a:pt x="125" y="56"/>
                    <a:pt x="122" y="46"/>
                  </a:cubicBezTo>
                  <a:cubicBezTo>
                    <a:pt x="129" y="42"/>
                    <a:pt x="133" y="38"/>
                    <a:pt x="135" y="32"/>
                  </a:cubicBezTo>
                  <a:close/>
                  <a:moveTo>
                    <a:pt x="129" y="26"/>
                  </a:moveTo>
                  <a:cubicBezTo>
                    <a:pt x="129" y="31"/>
                    <a:pt x="125" y="35"/>
                    <a:pt x="120" y="38"/>
                  </a:cubicBezTo>
                  <a:cubicBezTo>
                    <a:pt x="116" y="27"/>
                    <a:pt x="110" y="17"/>
                    <a:pt x="101" y="10"/>
                  </a:cubicBezTo>
                  <a:cubicBezTo>
                    <a:pt x="111" y="13"/>
                    <a:pt x="121" y="19"/>
                    <a:pt x="129" y="26"/>
                  </a:cubicBezTo>
                  <a:close/>
                  <a:moveTo>
                    <a:pt x="84" y="11"/>
                  </a:moveTo>
                  <a:cubicBezTo>
                    <a:pt x="98" y="13"/>
                    <a:pt x="108" y="26"/>
                    <a:pt x="113" y="42"/>
                  </a:cubicBezTo>
                  <a:cubicBezTo>
                    <a:pt x="104" y="45"/>
                    <a:pt x="93" y="47"/>
                    <a:pt x="84" y="47"/>
                  </a:cubicBezTo>
                  <a:lnTo>
                    <a:pt x="84" y="11"/>
                  </a:lnTo>
                  <a:close/>
                  <a:moveTo>
                    <a:pt x="84" y="55"/>
                  </a:moveTo>
                  <a:cubicBezTo>
                    <a:pt x="95" y="54"/>
                    <a:pt x="106" y="53"/>
                    <a:pt x="115" y="49"/>
                  </a:cubicBezTo>
                  <a:cubicBezTo>
                    <a:pt x="118" y="59"/>
                    <a:pt x="119" y="69"/>
                    <a:pt x="120" y="78"/>
                  </a:cubicBezTo>
                  <a:cubicBezTo>
                    <a:pt x="84" y="78"/>
                    <a:pt x="84" y="78"/>
                    <a:pt x="84" y="78"/>
                  </a:cubicBezTo>
                  <a:lnTo>
                    <a:pt x="84" y="55"/>
                  </a:lnTo>
                  <a:close/>
                  <a:moveTo>
                    <a:pt x="54" y="12"/>
                  </a:moveTo>
                  <a:cubicBezTo>
                    <a:pt x="48" y="19"/>
                    <a:pt x="43" y="27"/>
                    <a:pt x="40" y="37"/>
                  </a:cubicBezTo>
                  <a:cubicBezTo>
                    <a:pt x="35" y="34"/>
                    <a:pt x="33" y="30"/>
                    <a:pt x="33" y="26"/>
                  </a:cubicBezTo>
                  <a:cubicBezTo>
                    <a:pt x="39" y="20"/>
                    <a:pt x="46" y="15"/>
                    <a:pt x="54" y="12"/>
                  </a:cubicBezTo>
                  <a:close/>
                  <a:moveTo>
                    <a:pt x="26" y="32"/>
                  </a:moveTo>
                  <a:cubicBezTo>
                    <a:pt x="28" y="37"/>
                    <a:pt x="32" y="41"/>
                    <a:pt x="37" y="44"/>
                  </a:cubicBezTo>
                  <a:cubicBezTo>
                    <a:pt x="34" y="55"/>
                    <a:pt x="33" y="66"/>
                    <a:pt x="33" y="78"/>
                  </a:cubicBezTo>
                  <a:cubicBezTo>
                    <a:pt x="7" y="78"/>
                    <a:pt x="7" y="78"/>
                    <a:pt x="7" y="78"/>
                  </a:cubicBezTo>
                  <a:cubicBezTo>
                    <a:pt x="8" y="60"/>
                    <a:pt x="15" y="44"/>
                    <a:pt x="26" y="32"/>
                  </a:cubicBezTo>
                  <a:close/>
                  <a:moveTo>
                    <a:pt x="26" y="129"/>
                  </a:moveTo>
                  <a:cubicBezTo>
                    <a:pt x="15" y="118"/>
                    <a:pt x="9" y="102"/>
                    <a:pt x="8" y="85"/>
                  </a:cubicBezTo>
                  <a:cubicBezTo>
                    <a:pt x="33" y="85"/>
                    <a:pt x="33" y="85"/>
                    <a:pt x="33" y="85"/>
                  </a:cubicBezTo>
                  <a:cubicBezTo>
                    <a:pt x="33" y="95"/>
                    <a:pt x="35" y="107"/>
                    <a:pt x="38" y="117"/>
                  </a:cubicBezTo>
                  <a:cubicBezTo>
                    <a:pt x="32" y="120"/>
                    <a:pt x="28" y="124"/>
                    <a:pt x="26" y="129"/>
                  </a:cubicBezTo>
                  <a:close/>
                  <a:moveTo>
                    <a:pt x="32" y="135"/>
                  </a:moveTo>
                  <a:cubicBezTo>
                    <a:pt x="33" y="131"/>
                    <a:pt x="36" y="127"/>
                    <a:pt x="40" y="125"/>
                  </a:cubicBezTo>
                  <a:cubicBezTo>
                    <a:pt x="44" y="134"/>
                    <a:pt x="49" y="143"/>
                    <a:pt x="55" y="149"/>
                  </a:cubicBezTo>
                  <a:cubicBezTo>
                    <a:pt x="47" y="146"/>
                    <a:pt x="39" y="141"/>
                    <a:pt x="32" y="135"/>
                  </a:cubicBezTo>
                  <a:close/>
                  <a:moveTo>
                    <a:pt x="76" y="152"/>
                  </a:moveTo>
                  <a:cubicBezTo>
                    <a:pt x="62" y="149"/>
                    <a:pt x="52" y="137"/>
                    <a:pt x="47" y="121"/>
                  </a:cubicBezTo>
                  <a:cubicBezTo>
                    <a:pt x="55" y="117"/>
                    <a:pt x="66" y="115"/>
                    <a:pt x="76" y="115"/>
                  </a:cubicBezTo>
                  <a:lnTo>
                    <a:pt x="76" y="152"/>
                  </a:lnTo>
                  <a:close/>
                  <a:moveTo>
                    <a:pt x="76" y="108"/>
                  </a:moveTo>
                  <a:cubicBezTo>
                    <a:pt x="66" y="108"/>
                    <a:pt x="54" y="110"/>
                    <a:pt x="45" y="114"/>
                  </a:cubicBezTo>
                  <a:cubicBezTo>
                    <a:pt x="42" y="104"/>
                    <a:pt x="40" y="94"/>
                    <a:pt x="40" y="85"/>
                  </a:cubicBezTo>
                  <a:cubicBezTo>
                    <a:pt x="76" y="85"/>
                    <a:pt x="76" y="85"/>
                    <a:pt x="76" y="85"/>
                  </a:cubicBezTo>
                  <a:lnTo>
                    <a:pt x="76" y="108"/>
                  </a:lnTo>
                  <a:close/>
                  <a:moveTo>
                    <a:pt x="76" y="78"/>
                  </a:moveTo>
                  <a:cubicBezTo>
                    <a:pt x="40" y="78"/>
                    <a:pt x="40" y="78"/>
                    <a:pt x="40" y="78"/>
                  </a:cubicBezTo>
                  <a:cubicBezTo>
                    <a:pt x="40" y="69"/>
                    <a:pt x="42" y="58"/>
                    <a:pt x="44" y="48"/>
                  </a:cubicBezTo>
                  <a:cubicBezTo>
                    <a:pt x="54" y="52"/>
                    <a:pt x="66" y="54"/>
                    <a:pt x="76" y="55"/>
                  </a:cubicBezTo>
                  <a:lnTo>
                    <a:pt x="76" y="78"/>
                  </a:lnTo>
                  <a:close/>
                  <a:moveTo>
                    <a:pt x="76" y="47"/>
                  </a:moveTo>
                  <a:cubicBezTo>
                    <a:pt x="66" y="47"/>
                    <a:pt x="55" y="45"/>
                    <a:pt x="46" y="41"/>
                  </a:cubicBezTo>
                  <a:cubicBezTo>
                    <a:pt x="52" y="25"/>
                    <a:pt x="61" y="11"/>
                    <a:pt x="76" y="10"/>
                  </a:cubicBezTo>
                  <a:lnTo>
                    <a:pt x="76" y="47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lIns="121920" tIns="60960" rIns="121920" bIns="6096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endParaRPr>
            </a:p>
          </p:txBody>
        </p:sp>
      </p:grpSp>
      <p:grpSp>
        <p:nvGrpSpPr>
          <p:cNvPr id="7" name="Group 71"/>
          <p:cNvGrpSpPr/>
          <p:nvPr/>
        </p:nvGrpSpPr>
        <p:grpSpPr>
          <a:xfrm>
            <a:off x="6588372" y="3463217"/>
            <a:ext cx="393700" cy="552451"/>
            <a:chOff x="3768725" y="2336800"/>
            <a:chExt cx="393700" cy="414338"/>
          </a:xfrm>
          <a:solidFill>
            <a:srgbClr val="EF9D27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3" name="Freeform 64"/>
            <p:cNvSpPr>
              <a:spLocks noEditPoints="1"/>
            </p:cNvSpPr>
            <p:nvPr/>
          </p:nvSpPr>
          <p:spPr bwMode="auto">
            <a:xfrm>
              <a:off x="3768725" y="2547938"/>
              <a:ext cx="393700" cy="203200"/>
            </a:xfrm>
            <a:custGeom>
              <a:avLst/>
              <a:gdLst/>
              <a:ahLst/>
              <a:cxnLst>
                <a:cxn ang="0">
                  <a:pos x="175" y="4"/>
                </a:cxn>
                <a:cxn ang="0">
                  <a:pos x="175" y="3"/>
                </a:cxn>
                <a:cxn ang="0">
                  <a:pos x="175" y="2"/>
                </a:cxn>
                <a:cxn ang="0">
                  <a:pos x="175" y="2"/>
                </a:cxn>
                <a:cxn ang="0">
                  <a:pos x="175" y="0"/>
                </a:cxn>
                <a:cxn ang="0">
                  <a:pos x="0" y="0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88" y="90"/>
                </a:cxn>
                <a:cxn ang="0">
                  <a:pos x="175" y="5"/>
                </a:cxn>
                <a:cxn ang="0">
                  <a:pos x="175" y="5"/>
                </a:cxn>
                <a:cxn ang="0">
                  <a:pos x="175" y="4"/>
                </a:cxn>
                <a:cxn ang="0">
                  <a:pos x="130" y="8"/>
                </a:cxn>
                <a:cxn ang="0">
                  <a:pos x="126" y="38"/>
                </a:cxn>
                <a:cxn ang="0">
                  <a:pos x="91" y="32"/>
                </a:cxn>
                <a:cxn ang="0">
                  <a:pos x="91" y="8"/>
                </a:cxn>
                <a:cxn ang="0">
                  <a:pos x="130" y="8"/>
                </a:cxn>
                <a:cxn ang="0">
                  <a:pos x="28" y="55"/>
                </a:cxn>
                <a:cxn ang="0">
                  <a:pos x="8" y="8"/>
                </a:cxn>
                <a:cxn ang="0">
                  <a:pos x="36" y="8"/>
                </a:cxn>
                <a:cxn ang="0">
                  <a:pos x="41" y="42"/>
                </a:cxn>
                <a:cxn ang="0">
                  <a:pos x="28" y="55"/>
                </a:cxn>
                <a:cxn ang="0">
                  <a:pos x="35" y="62"/>
                </a:cxn>
                <a:cxn ang="0">
                  <a:pos x="44" y="50"/>
                </a:cxn>
                <a:cxn ang="0">
                  <a:pos x="60" y="77"/>
                </a:cxn>
                <a:cxn ang="0">
                  <a:pos x="35" y="62"/>
                </a:cxn>
                <a:cxn ang="0">
                  <a:pos x="83" y="79"/>
                </a:cxn>
                <a:cxn ang="0">
                  <a:pos x="51" y="46"/>
                </a:cxn>
                <a:cxn ang="0">
                  <a:pos x="83" y="40"/>
                </a:cxn>
                <a:cxn ang="0">
                  <a:pos x="83" y="79"/>
                </a:cxn>
                <a:cxn ang="0">
                  <a:pos x="83" y="32"/>
                </a:cxn>
                <a:cxn ang="0">
                  <a:pos x="49" y="39"/>
                </a:cxn>
                <a:cxn ang="0">
                  <a:pos x="44" y="8"/>
                </a:cxn>
                <a:cxn ang="0">
                  <a:pos x="83" y="8"/>
                </a:cxn>
                <a:cxn ang="0">
                  <a:pos x="83" y="32"/>
                </a:cxn>
                <a:cxn ang="0">
                  <a:pos x="91" y="81"/>
                </a:cxn>
                <a:cxn ang="0">
                  <a:pos x="91" y="40"/>
                </a:cxn>
                <a:cxn ang="0">
                  <a:pos x="123" y="46"/>
                </a:cxn>
                <a:cxn ang="0">
                  <a:pos x="91" y="81"/>
                </a:cxn>
                <a:cxn ang="0">
                  <a:pos x="115" y="77"/>
                </a:cxn>
                <a:cxn ang="0">
                  <a:pos x="131" y="50"/>
                </a:cxn>
                <a:cxn ang="0">
                  <a:pos x="139" y="63"/>
                </a:cxn>
                <a:cxn ang="0">
                  <a:pos x="115" y="77"/>
                </a:cxn>
                <a:cxn ang="0">
                  <a:pos x="146" y="56"/>
                </a:cxn>
                <a:cxn ang="0">
                  <a:pos x="133" y="42"/>
                </a:cxn>
                <a:cxn ang="0">
                  <a:pos x="138" y="8"/>
                </a:cxn>
                <a:cxn ang="0">
                  <a:pos x="167" y="8"/>
                </a:cxn>
                <a:cxn ang="0">
                  <a:pos x="146" y="56"/>
                </a:cxn>
              </a:cxnLst>
              <a:rect l="0" t="0" r="r" b="b"/>
              <a:pathLst>
                <a:path w="175" h="90">
                  <a:moveTo>
                    <a:pt x="175" y="4"/>
                  </a:moveTo>
                  <a:cubicBezTo>
                    <a:pt x="175" y="3"/>
                    <a:pt x="175" y="3"/>
                    <a:pt x="175" y="3"/>
                  </a:cubicBezTo>
                  <a:cubicBezTo>
                    <a:pt x="175" y="2"/>
                    <a:pt x="175" y="2"/>
                    <a:pt x="175" y="2"/>
                  </a:cubicBezTo>
                  <a:cubicBezTo>
                    <a:pt x="175" y="2"/>
                    <a:pt x="175" y="2"/>
                    <a:pt x="175" y="2"/>
                  </a:cubicBezTo>
                  <a:cubicBezTo>
                    <a:pt x="175" y="0"/>
                    <a:pt x="175" y="0"/>
                    <a:pt x="17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" y="52"/>
                    <a:pt x="40" y="90"/>
                    <a:pt x="88" y="90"/>
                  </a:cubicBezTo>
                  <a:cubicBezTo>
                    <a:pt x="135" y="90"/>
                    <a:pt x="174" y="52"/>
                    <a:pt x="175" y="5"/>
                  </a:cubicBezTo>
                  <a:cubicBezTo>
                    <a:pt x="175" y="5"/>
                    <a:pt x="175" y="5"/>
                    <a:pt x="175" y="5"/>
                  </a:cubicBezTo>
                  <a:lnTo>
                    <a:pt x="175" y="4"/>
                  </a:lnTo>
                  <a:close/>
                  <a:moveTo>
                    <a:pt x="130" y="8"/>
                  </a:moveTo>
                  <a:cubicBezTo>
                    <a:pt x="130" y="17"/>
                    <a:pt x="128" y="28"/>
                    <a:pt x="126" y="38"/>
                  </a:cubicBezTo>
                  <a:cubicBezTo>
                    <a:pt x="116" y="34"/>
                    <a:pt x="103" y="32"/>
                    <a:pt x="91" y="32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130" y="8"/>
                  </a:lnTo>
                  <a:close/>
                  <a:moveTo>
                    <a:pt x="28" y="55"/>
                  </a:moveTo>
                  <a:cubicBezTo>
                    <a:pt x="17" y="43"/>
                    <a:pt x="10" y="26"/>
                    <a:pt x="8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6" y="19"/>
                    <a:pt x="38" y="31"/>
                    <a:pt x="41" y="42"/>
                  </a:cubicBezTo>
                  <a:cubicBezTo>
                    <a:pt x="35" y="46"/>
                    <a:pt x="31" y="50"/>
                    <a:pt x="28" y="55"/>
                  </a:cubicBezTo>
                  <a:close/>
                  <a:moveTo>
                    <a:pt x="35" y="62"/>
                  </a:moveTo>
                  <a:cubicBezTo>
                    <a:pt x="36" y="57"/>
                    <a:pt x="39" y="53"/>
                    <a:pt x="44" y="50"/>
                  </a:cubicBezTo>
                  <a:cubicBezTo>
                    <a:pt x="48" y="61"/>
                    <a:pt x="53" y="70"/>
                    <a:pt x="60" y="77"/>
                  </a:cubicBezTo>
                  <a:cubicBezTo>
                    <a:pt x="51" y="74"/>
                    <a:pt x="42" y="69"/>
                    <a:pt x="35" y="62"/>
                  </a:cubicBezTo>
                  <a:close/>
                  <a:moveTo>
                    <a:pt x="83" y="79"/>
                  </a:moveTo>
                  <a:cubicBezTo>
                    <a:pt x="67" y="77"/>
                    <a:pt x="57" y="63"/>
                    <a:pt x="51" y="46"/>
                  </a:cubicBezTo>
                  <a:cubicBezTo>
                    <a:pt x="60" y="42"/>
                    <a:pt x="72" y="40"/>
                    <a:pt x="83" y="40"/>
                  </a:cubicBezTo>
                  <a:lnTo>
                    <a:pt x="83" y="79"/>
                  </a:lnTo>
                  <a:close/>
                  <a:moveTo>
                    <a:pt x="83" y="32"/>
                  </a:moveTo>
                  <a:cubicBezTo>
                    <a:pt x="72" y="32"/>
                    <a:pt x="59" y="34"/>
                    <a:pt x="49" y="39"/>
                  </a:cubicBezTo>
                  <a:cubicBezTo>
                    <a:pt x="46" y="28"/>
                    <a:pt x="44" y="17"/>
                    <a:pt x="44" y="8"/>
                  </a:cubicBezTo>
                  <a:cubicBezTo>
                    <a:pt x="83" y="8"/>
                    <a:pt x="83" y="8"/>
                    <a:pt x="83" y="8"/>
                  </a:cubicBezTo>
                  <a:lnTo>
                    <a:pt x="83" y="32"/>
                  </a:lnTo>
                  <a:close/>
                  <a:moveTo>
                    <a:pt x="91" y="81"/>
                  </a:moveTo>
                  <a:cubicBezTo>
                    <a:pt x="91" y="40"/>
                    <a:pt x="91" y="40"/>
                    <a:pt x="91" y="40"/>
                  </a:cubicBezTo>
                  <a:cubicBezTo>
                    <a:pt x="101" y="40"/>
                    <a:pt x="114" y="42"/>
                    <a:pt x="123" y="46"/>
                  </a:cubicBezTo>
                  <a:cubicBezTo>
                    <a:pt x="117" y="64"/>
                    <a:pt x="107" y="79"/>
                    <a:pt x="91" y="81"/>
                  </a:cubicBezTo>
                  <a:close/>
                  <a:moveTo>
                    <a:pt x="115" y="77"/>
                  </a:moveTo>
                  <a:cubicBezTo>
                    <a:pt x="122" y="70"/>
                    <a:pt x="127" y="61"/>
                    <a:pt x="131" y="50"/>
                  </a:cubicBezTo>
                  <a:cubicBezTo>
                    <a:pt x="136" y="54"/>
                    <a:pt x="139" y="58"/>
                    <a:pt x="139" y="63"/>
                  </a:cubicBezTo>
                  <a:cubicBezTo>
                    <a:pt x="132" y="69"/>
                    <a:pt x="124" y="74"/>
                    <a:pt x="115" y="77"/>
                  </a:cubicBezTo>
                  <a:close/>
                  <a:moveTo>
                    <a:pt x="146" y="56"/>
                  </a:moveTo>
                  <a:cubicBezTo>
                    <a:pt x="144" y="51"/>
                    <a:pt x="139" y="46"/>
                    <a:pt x="133" y="42"/>
                  </a:cubicBezTo>
                  <a:cubicBezTo>
                    <a:pt x="136" y="31"/>
                    <a:pt x="138" y="18"/>
                    <a:pt x="138" y="8"/>
                  </a:cubicBezTo>
                  <a:cubicBezTo>
                    <a:pt x="167" y="8"/>
                    <a:pt x="167" y="8"/>
                    <a:pt x="167" y="8"/>
                  </a:cubicBezTo>
                  <a:cubicBezTo>
                    <a:pt x="166" y="26"/>
                    <a:pt x="158" y="43"/>
                    <a:pt x="146" y="5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lIns="121920" tIns="60960" rIns="121920" bIns="6096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74" name="Oval 65"/>
            <p:cNvSpPr>
              <a:spLocks noChangeArrowheads="1"/>
            </p:cNvSpPr>
            <p:nvPr/>
          </p:nvSpPr>
          <p:spPr bwMode="auto">
            <a:xfrm>
              <a:off x="3925888" y="2336800"/>
              <a:ext cx="74613" cy="8731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lIns="121920" tIns="60960" rIns="121920" bIns="6096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75" name="Freeform 66"/>
            <p:cNvSpPr>
              <a:spLocks/>
            </p:cNvSpPr>
            <p:nvPr/>
          </p:nvSpPr>
          <p:spPr bwMode="auto">
            <a:xfrm>
              <a:off x="3890963" y="2432050"/>
              <a:ext cx="146050" cy="104775"/>
            </a:xfrm>
            <a:custGeom>
              <a:avLst/>
              <a:gdLst/>
              <a:ahLst/>
              <a:cxnLst>
                <a:cxn ang="0">
                  <a:pos x="54" y="0"/>
                </a:cxn>
                <a:cxn ang="0">
                  <a:pos x="45" y="0"/>
                </a:cxn>
                <a:cxn ang="0">
                  <a:pos x="38" y="35"/>
                </a:cxn>
                <a:cxn ang="0">
                  <a:pos x="32" y="7"/>
                </a:cxn>
                <a:cxn ang="0">
                  <a:pos x="27" y="35"/>
                </a:cxn>
                <a:cxn ang="0">
                  <a:pos x="20" y="0"/>
                </a:cxn>
                <a:cxn ang="0">
                  <a:pos x="11" y="0"/>
                </a:cxn>
                <a:cxn ang="0">
                  <a:pos x="0" y="15"/>
                </a:cxn>
                <a:cxn ang="0">
                  <a:pos x="0" y="47"/>
                </a:cxn>
                <a:cxn ang="0">
                  <a:pos x="65" y="47"/>
                </a:cxn>
                <a:cxn ang="0">
                  <a:pos x="65" y="15"/>
                </a:cxn>
                <a:cxn ang="0">
                  <a:pos x="54" y="0"/>
                </a:cxn>
              </a:cxnLst>
              <a:rect l="0" t="0" r="r" b="b"/>
              <a:pathLst>
                <a:path w="65" h="47">
                  <a:moveTo>
                    <a:pt x="54" y="0"/>
                  </a:moveTo>
                  <a:cubicBezTo>
                    <a:pt x="45" y="0"/>
                    <a:pt x="45" y="0"/>
                    <a:pt x="45" y="0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7"/>
                    <a:pt x="0" y="15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15"/>
                    <a:pt x="65" y="15"/>
                    <a:pt x="65" y="15"/>
                  </a:cubicBezTo>
                  <a:cubicBezTo>
                    <a:pt x="65" y="7"/>
                    <a:pt x="60" y="0"/>
                    <a:pt x="54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lIns="121920" tIns="60960" rIns="121920" bIns="6096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76" name="Freeform 67"/>
            <p:cNvSpPr>
              <a:spLocks/>
            </p:cNvSpPr>
            <p:nvPr/>
          </p:nvSpPr>
          <p:spPr bwMode="auto">
            <a:xfrm>
              <a:off x="3952875" y="2432050"/>
              <a:ext cx="20638" cy="15875"/>
            </a:xfrm>
            <a:custGeom>
              <a:avLst/>
              <a:gdLst/>
              <a:ahLst/>
              <a:cxnLst>
                <a:cxn ang="0">
                  <a:pos x="13" y="3"/>
                </a:cxn>
                <a:cxn ang="0">
                  <a:pos x="10" y="0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3" y="0"/>
                </a:cxn>
                <a:cxn ang="0">
                  <a:pos x="0" y="3"/>
                </a:cxn>
                <a:cxn ang="0">
                  <a:pos x="6" y="10"/>
                </a:cxn>
                <a:cxn ang="0">
                  <a:pos x="13" y="3"/>
                </a:cxn>
                <a:cxn ang="0">
                  <a:pos x="13" y="3"/>
                </a:cxn>
              </a:cxnLst>
              <a:rect l="0" t="0" r="r" b="b"/>
              <a:pathLst>
                <a:path w="13" h="10">
                  <a:moveTo>
                    <a:pt x="13" y="3"/>
                  </a:moveTo>
                  <a:lnTo>
                    <a:pt x="10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3" y="0"/>
                  </a:lnTo>
                  <a:lnTo>
                    <a:pt x="0" y="3"/>
                  </a:lnTo>
                  <a:lnTo>
                    <a:pt x="6" y="10"/>
                  </a:lnTo>
                  <a:lnTo>
                    <a:pt x="13" y="3"/>
                  </a:lnTo>
                  <a:lnTo>
                    <a:pt x="13" y="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lIns="121920" tIns="60960" rIns="121920" bIns="6096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77" name="Oval 68"/>
            <p:cNvSpPr>
              <a:spLocks noChangeArrowheads="1"/>
            </p:cNvSpPr>
            <p:nvPr/>
          </p:nvSpPr>
          <p:spPr bwMode="auto">
            <a:xfrm>
              <a:off x="4044950" y="2355850"/>
              <a:ext cx="68263" cy="77788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lIns="121920" tIns="60960" rIns="121920" bIns="6096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78" name="Freeform 69"/>
            <p:cNvSpPr>
              <a:spLocks/>
            </p:cNvSpPr>
            <p:nvPr/>
          </p:nvSpPr>
          <p:spPr bwMode="auto">
            <a:xfrm>
              <a:off x="4070350" y="2439988"/>
              <a:ext cx="17463" cy="14288"/>
            </a:xfrm>
            <a:custGeom>
              <a:avLst/>
              <a:gdLst/>
              <a:ahLst/>
              <a:cxnLst>
                <a:cxn ang="0">
                  <a:pos x="11" y="3"/>
                </a:cxn>
                <a:cxn ang="0">
                  <a:pos x="10" y="0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3" y="0"/>
                </a:cxn>
                <a:cxn ang="0">
                  <a:pos x="0" y="3"/>
                </a:cxn>
                <a:cxn ang="0">
                  <a:pos x="6" y="9"/>
                </a:cxn>
                <a:cxn ang="0">
                  <a:pos x="11" y="3"/>
                </a:cxn>
                <a:cxn ang="0">
                  <a:pos x="11" y="3"/>
                </a:cxn>
              </a:cxnLst>
              <a:rect l="0" t="0" r="r" b="b"/>
              <a:pathLst>
                <a:path w="11" h="9">
                  <a:moveTo>
                    <a:pt x="11" y="3"/>
                  </a:moveTo>
                  <a:lnTo>
                    <a:pt x="10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3" y="0"/>
                  </a:lnTo>
                  <a:lnTo>
                    <a:pt x="0" y="3"/>
                  </a:lnTo>
                  <a:lnTo>
                    <a:pt x="6" y="9"/>
                  </a:lnTo>
                  <a:lnTo>
                    <a:pt x="11" y="3"/>
                  </a:lnTo>
                  <a:lnTo>
                    <a:pt x="11" y="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lIns="121920" tIns="60960" rIns="121920" bIns="6096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79" name="Freeform 70"/>
            <p:cNvSpPr>
              <a:spLocks/>
            </p:cNvSpPr>
            <p:nvPr/>
          </p:nvSpPr>
          <p:spPr bwMode="auto">
            <a:xfrm>
              <a:off x="4037013" y="2439988"/>
              <a:ext cx="109538" cy="96838"/>
            </a:xfrm>
            <a:custGeom>
              <a:avLst/>
              <a:gdLst/>
              <a:ahLst/>
              <a:cxnLst>
                <a:cxn ang="0">
                  <a:pos x="39" y="0"/>
                </a:cxn>
                <a:cxn ang="0">
                  <a:pos x="31" y="0"/>
                </a:cxn>
                <a:cxn ang="0">
                  <a:pos x="24" y="33"/>
                </a:cxn>
                <a:cxn ang="0">
                  <a:pos x="19" y="6"/>
                </a:cxn>
                <a:cxn ang="0">
                  <a:pos x="14" y="33"/>
                </a:cxn>
                <a:cxn ang="0">
                  <a:pos x="8" y="0"/>
                </a:cxn>
                <a:cxn ang="0">
                  <a:pos x="0" y="0"/>
                </a:cxn>
                <a:cxn ang="0">
                  <a:pos x="3" y="11"/>
                </a:cxn>
                <a:cxn ang="0">
                  <a:pos x="3" y="43"/>
                </a:cxn>
                <a:cxn ang="0">
                  <a:pos x="49" y="43"/>
                </a:cxn>
                <a:cxn ang="0">
                  <a:pos x="49" y="14"/>
                </a:cxn>
                <a:cxn ang="0">
                  <a:pos x="39" y="0"/>
                </a:cxn>
              </a:cxnLst>
              <a:rect l="0" t="0" r="r" b="b"/>
              <a:pathLst>
                <a:path w="49" h="43">
                  <a:moveTo>
                    <a:pt x="39" y="0"/>
                  </a:moveTo>
                  <a:cubicBezTo>
                    <a:pt x="31" y="0"/>
                    <a:pt x="31" y="0"/>
                    <a:pt x="31" y="0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3"/>
                    <a:pt x="3" y="7"/>
                    <a:pt x="3" y="11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49" y="43"/>
                    <a:pt x="49" y="43"/>
                    <a:pt x="49" y="4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6"/>
                    <a:pt x="44" y="0"/>
                    <a:pt x="39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lIns="121920" tIns="60960" rIns="121920" bIns="6096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80" name="Oval 71"/>
            <p:cNvSpPr>
              <a:spLocks noChangeArrowheads="1"/>
            </p:cNvSpPr>
            <p:nvPr/>
          </p:nvSpPr>
          <p:spPr bwMode="auto">
            <a:xfrm>
              <a:off x="3811588" y="2355850"/>
              <a:ext cx="69850" cy="809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lIns="121920" tIns="60960" rIns="121920" bIns="6096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81" name="Freeform 72"/>
            <p:cNvSpPr>
              <a:spLocks/>
            </p:cNvSpPr>
            <p:nvPr/>
          </p:nvSpPr>
          <p:spPr bwMode="auto">
            <a:xfrm>
              <a:off x="3836988" y="2439988"/>
              <a:ext cx="17463" cy="15875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10" y="0"/>
                </a:cxn>
                <a:cxn ang="0">
                  <a:pos x="11" y="3"/>
                </a:cxn>
                <a:cxn ang="0">
                  <a:pos x="5" y="10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11" h="10">
                  <a:moveTo>
                    <a:pt x="0" y="3"/>
                  </a:moveTo>
                  <a:lnTo>
                    <a:pt x="3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10" y="0"/>
                  </a:lnTo>
                  <a:lnTo>
                    <a:pt x="11" y="3"/>
                  </a:lnTo>
                  <a:lnTo>
                    <a:pt x="5" y="10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lIns="121920" tIns="60960" rIns="121920" bIns="6096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82" name="Freeform 73"/>
            <p:cNvSpPr>
              <a:spLocks/>
            </p:cNvSpPr>
            <p:nvPr/>
          </p:nvSpPr>
          <p:spPr bwMode="auto">
            <a:xfrm>
              <a:off x="3779838" y="2439988"/>
              <a:ext cx="111125" cy="100013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18" y="0"/>
                </a:cxn>
                <a:cxn ang="0">
                  <a:pos x="25" y="33"/>
                </a:cxn>
                <a:cxn ang="0">
                  <a:pos x="29" y="7"/>
                </a:cxn>
                <a:cxn ang="0">
                  <a:pos x="34" y="33"/>
                </a:cxn>
                <a:cxn ang="0">
                  <a:pos x="41" y="0"/>
                </a:cxn>
                <a:cxn ang="0">
                  <a:pos x="49" y="0"/>
                </a:cxn>
                <a:cxn ang="0">
                  <a:pos x="46" y="12"/>
                </a:cxn>
                <a:cxn ang="0">
                  <a:pos x="46" y="44"/>
                </a:cxn>
                <a:cxn ang="0">
                  <a:pos x="0" y="44"/>
                </a:cxn>
                <a:cxn ang="0">
                  <a:pos x="0" y="15"/>
                </a:cxn>
                <a:cxn ang="0">
                  <a:pos x="10" y="0"/>
                </a:cxn>
              </a:cxnLst>
              <a:rect l="0" t="0" r="r" b="b"/>
              <a:pathLst>
                <a:path w="49" h="44">
                  <a:moveTo>
                    <a:pt x="10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47" y="3"/>
                    <a:pt x="46" y="7"/>
                    <a:pt x="46" y="12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7"/>
                    <a:pt x="4" y="0"/>
                    <a:pt x="10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lIns="121920" tIns="60960" rIns="121920" bIns="6096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83" name="Freeform 74"/>
            <p:cNvSpPr>
              <a:spLocks noEditPoints="1"/>
            </p:cNvSpPr>
            <p:nvPr/>
          </p:nvSpPr>
          <p:spPr bwMode="auto">
            <a:xfrm>
              <a:off x="3768725" y="2547938"/>
              <a:ext cx="393700" cy="203200"/>
            </a:xfrm>
            <a:custGeom>
              <a:avLst/>
              <a:gdLst/>
              <a:ahLst/>
              <a:cxnLst>
                <a:cxn ang="0">
                  <a:pos x="175" y="4"/>
                </a:cxn>
                <a:cxn ang="0">
                  <a:pos x="175" y="3"/>
                </a:cxn>
                <a:cxn ang="0">
                  <a:pos x="175" y="2"/>
                </a:cxn>
                <a:cxn ang="0">
                  <a:pos x="175" y="2"/>
                </a:cxn>
                <a:cxn ang="0">
                  <a:pos x="175" y="0"/>
                </a:cxn>
                <a:cxn ang="0">
                  <a:pos x="0" y="0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88" y="90"/>
                </a:cxn>
                <a:cxn ang="0">
                  <a:pos x="175" y="5"/>
                </a:cxn>
                <a:cxn ang="0">
                  <a:pos x="175" y="5"/>
                </a:cxn>
                <a:cxn ang="0">
                  <a:pos x="175" y="4"/>
                </a:cxn>
                <a:cxn ang="0">
                  <a:pos x="130" y="8"/>
                </a:cxn>
                <a:cxn ang="0">
                  <a:pos x="126" y="38"/>
                </a:cxn>
                <a:cxn ang="0">
                  <a:pos x="91" y="32"/>
                </a:cxn>
                <a:cxn ang="0">
                  <a:pos x="91" y="8"/>
                </a:cxn>
                <a:cxn ang="0">
                  <a:pos x="130" y="8"/>
                </a:cxn>
                <a:cxn ang="0">
                  <a:pos x="28" y="55"/>
                </a:cxn>
                <a:cxn ang="0">
                  <a:pos x="8" y="8"/>
                </a:cxn>
                <a:cxn ang="0">
                  <a:pos x="36" y="8"/>
                </a:cxn>
                <a:cxn ang="0">
                  <a:pos x="41" y="42"/>
                </a:cxn>
                <a:cxn ang="0">
                  <a:pos x="28" y="55"/>
                </a:cxn>
                <a:cxn ang="0">
                  <a:pos x="35" y="62"/>
                </a:cxn>
                <a:cxn ang="0">
                  <a:pos x="44" y="50"/>
                </a:cxn>
                <a:cxn ang="0">
                  <a:pos x="60" y="77"/>
                </a:cxn>
                <a:cxn ang="0">
                  <a:pos x="35" y="62"/>
                </a:cxn>
                <a:cxn ang="0">
                  <a:pos x="83" y="79"/>
                </a:cxn>
                <a:cxn ang="0">
                  <a:pos x="51" y="46"/>
                </a:cxn>
                <a:cxn ang="0">
                  <a:pos x="83" y="40"/>
                </a:cxn>
                <a:cxn ang="0">
                  <a:pos x="83" y="79"/>
                </a:cxn>
                <a:cxn ang="0">
                  <a:pos x="83" y="32"/>
                </a:cxn>
                <a:cxn ang="0">
                  <a:pos x="49" y="39"/>
                </a:cxn>
                <a:cxn ang="0">
                  <a:pos x="44" y="8"/>
                </a:cxn>
                <a:cxn ang="0">
                  <a:pos x="83" y="8"/>
                </a:cxn>
                <a:cxn ang="0">
                  <a:pos x="83" y="32"/>
                </a:cxn>
                <a:cxn ang="0">
                  <a:pos x="91" y="81"/>
                </a:cxn>
                <a:cxn ang="0">
                  <a:pos x="91" y="40"/>
                </a:cxn>
                <a:cxn ang="0">
                  <a:pos x="123" y="46"/>
                </a:cxn>
                <a:cxn ang="0">
                  <a:pos x="91" y="81"/>
                </a:cxn>
                <a:cxn ang="0">
                  <a:pos x="115" y="77"/>
                </a:cxn>
                <a:cxn ang="0">
                  <a:pos x="131" y="50"/>
                </a:cxn>
                <a:cxn ang="0">
                  <a:pos x="139" y="63"/>
                </a:cxn>
                <a:cxn ang="0">
                  <a:pos x="115" y="77"/>
                </a:cxn>
                <a:cxn ang="0">
                  <a:pos x="146" y="56"/>
                </a:cxn>
                <a:cxn ang="0">
                  <a:pos x="133" y="42"/>
                </a:cxn>
                <a:cxn ang="0">
                  <a:pos x="138" y="8"/>
                </a:cxn>
                <a:cxn ang="0">
                  <a:pos x="167" y="8"/>
                </a:cxn>
                <a:cxn ang="0">
                  <a:pos x="146" y="56"/>
                </a:cxn>
              </a:cxnLst>
              <a:rect l="0" t="0" r="r" b="b"/>
              <a:pathLst>
                <a:path w="175" h="90">
                  <a:moveTo>
                    <a:pt x="175" y="4"/>
                  </a:moveTo>
                  <a:cubicBezTo>
                    <a:pt x="175" y="3"/>
                    <a:pt x="175" y="3"/>
                    <a:pt x="175" y="3"/>
                  </a:cubicBezTo>
                  <a:cubicBezTo>
                    <a:pt x="175" y="2"/>
                    <a:pt x="175" y="2"/>
                    <a:pt x="175" y="2"/>
                  </a:cubicBezTo>
                  <a:cubicBezTo>
                    <a:pt x="175" y="2"/>
                    <a:pt x="175" y="2"/>
                    <a:pt x="175" y="2"/>
                  </a:cubicBezTo>
                  <a:cubicBezTo>
                    <a:pt x="175" y="0"/>
                    <a:pt x="175" y="0"/>
                    <a:pt x="17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" y="52"/>
                    <a:pt x="40" y="90"/>
                    <a:pt x="88" y="90"/>
                  </a:cubicBezTo>
                  <a:cubicBezTo>
                    <a:pt x="135" y="90"/>
                    <a:pt x="174" y="52"/>
                    <a:pt x="175" y="5"/>
                  </a:cubicBezTo>
                  <a:cubicBezTo>
                    <a:pt x="175" y="5"/>
                    <a:pt x="175" y="5"/>
                    <a:pt x="175" y="5"/>
                  </a:cubicBezTo>
                  <a:lnTo>
                    <a:pt x="175" y="4"/>
                  </a:lnTo>
                  <a:close/>
                  <a:moveTo>
                    <a:pt x="130" y="8"/>
                  </a:moveTo>
                  <a:cubicBezTo>
                    <a:pt x="130" y="17"/>
                    <a:pt x="128" y="28"/>
                    <a:pt x="126" y="38"/>
                  </a:cubicBezTo>
                  <a:cubicBezTo>
                    <a:pt x="116" y="34"/>
                    <a:pt x="103" y="32"/>
                    <a:pt x="91" y="32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130" y="8"/>
                  </a:lnTo>
                  <a:close/>
                  <a:moveTo>
                    <a:pt x="28" y="55"/>
                  </a:moveTo>
                  <a:cubicBezTo>
                    <a:pt x="17" y="43"/>
                    <a:pt x="10" y="26"/>
                    <a:pt x="8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6" y="19"/>
                    <a:pt x="38" y="31"/>
                    <a:pt x="41" y="42"/>
                  </a:cubicBezTo>
                  <a:cubicBezTo>
                    <a:pt x="35" y="46"/>
                    <a:pt x="31" y="50"/>
                    <a:pt x="28" y="55"/>
                  </a:cubicBezTo>
                  <a:close/>
                  <a:moveTo>
                    <a:pt x="35" y="62"/>
                  </a:moveTo>
                  <a:cubicBezTo>
                    <a:pt x="36" y="57"/>
                    <a:pt x="39" y="53"/>
                    <a:pt x="44" y="50"/>
                  </a:cubicBezTo>
                  <a:cubicBezTo>
                    <a:pt x="48" y="61"/>
                    <a:pt x="53" y="70"/>
                    <a:pt x="60" y="77"/>
                  </a:cubicBezTo>
                  <a:cubicBezTo>
                    <a:pt x="51" y="74"/>
                    <a:pt x="42" y="69"/>
                    <a:pt x="35" y="62"/>
                  </a:cubicBezTo>
                  <a:close/>
                  <a:moveTo>
                    <a:pt x="83" y="79"/>
                  </a:moveTo>
                  <a:cubicBezTo>
                    <a:pt x="67" y="77"/>
                    <a:pt x="57" y="63"/>
                    <a:pt x="51" y="46"/>
                  </a:cubicBezTo>
                  <a:cubicBezTo>
                    <a:pt x="60" y="42"/>
                    <a:pt x="72" y="40"/>
                    <a:pt x="83" y="40"/>
                  </a:cubicBezTo>
                  <a:lnTo>
                    <a:pt x="83" y="79"/>
                  </a:lnTo>
                  <a:close/>
                  <a:moveTo>
                    <a:pt x="83" y="32"/>
                  </a:moveTo>
                  <a:cubicBezTo>
                    <a:pt x="72" y="32"/>
                    <a:pt x="59" y="34"/>
                    <a:pt x="49" y="39"/>
                  </a:cubicBezTo>
                  <a:cubicBezTo>
                    <a:pt x="46" y="28"/>
                    <a:pt x="44" y="17"/>
                    <a:pt x="44" y="8"/>
                  </a:cubicBezTo>
                  <a:cubicBezTo>
                    <a:pt x="83" y="8"/>
                    <a:pt x="83" y="8"/>
                    <a:pt x="83" y="8"/>
                  </a:cubicBezTo>
                  <a:lnTo>
                    <a:pt x="83" y="32"/>
                  </a:lnTo>
                  <a:close/>
                  <a:moveTo>
                    <a:pt x="91" y="81"/>
                  </a:moveTo>
                  <a:cubicBezTo>
                    <a:pt x="91" y="40"/>
                    <a:pt x="91" y="40"/>
                    <a:pt x="91" y="40"/>
                  </a:cubicBezTo>
                  <a:cubicBezTo>
                    <a:pt x="101" y="40"/>
                    <a:pt x="114" y="42"/>
                    <a:pt x="123" y="46"/>
                  </a:cubicBezTo>
                  <a:cubicBezTo>
                    <a:pt x="117" y="64"/>
                    <a:pt x="107" y="79"/>
                    <a:pt x="91" y="81"/>
                  </a:cubicBezTo>
                  <a:close/>
                  <a:moveTo>
                    <a:pt x="115" y="77"/>
                  </a:moveTo>
                  <a:cubicBezTo>
                    <a:pt x="122" y="70"/>
                    <a:pt x="127" y="61"/>
                    <a:pt x="131" y="50"/>
                  </a:cubicBezTo>
                  <a:cubicBezTo>
                    <a:pt x="136" y="54"/>
                    <a:pt x="139" y="58"/>
                    <a:pt x="139" y="63"/>
                  </a:cubicBezTo>
                  <a:cubicBezTo>
                    <a:pt x="132" y="69"/>
                    <a:pt x="124" y="74"/>
                    <a:pt x="115" y="77"/>
                  </a:cubicBezTo>
                  <a:close/>
                  <a:moveTo>
                    <a:pt x="146" y="56"/>
                  </a:moveTo>
                  <a:cubicBezTo>
                    <a:pt x="144" y="51"/>
                    <a:pt x="139" y="46"/>
                    <a:pt x="133" y="42"/>
                  </a:cubicBezTo>
                  <a:cubicBezTo>
                    <a:pt x="136" y="31"/>
                    <a:pt x="138" y="18"/>
                    <a:pt x="138" y="8"/>
                  </a:cubicBezTo>
                  <a:cubicBezTo>
                    <a:pt x="167" y="8"/>
                    <a:pt x="167" y="8"/>
                    <a:pt x="167" y="8"/>
                  </a:cubicBezTo>
                  <a:cubicBezTo>
                    <a:pt x="166" y="26"/>
                    <a:pt x="158" y="43"/>
                    <a:pt x="146" y="5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lIns="121920" tIns="60960" rIns="121920" bIns="6096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84" name="Oval 75"/>
            <p:cNvSpPr>
              <a:spLocks noChangeArrowheads="1"/>
            </p:cNvSpPr>
            <p:nvPr/>
          </p:nvSpPr>
          <p:spPr bwMode="auto">
            <a:xfrm>
              <a:off x="3925888" y="2336800"/>
              <a:ext cx="74613" cy="8731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lIns="121920" tIns="60960" rIns="121920" bIns="6096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85" name="Freeform 76"/>
            <p:cNvSpPr>
              <a:spLocks/>
            </p:cNvSpPr>
            <p:nvPr/>
          </p:nvSpPr>
          <p:spPr bwMode="auto">
            <a:xfrm>
              <a:off x="3890963" y="2432050"/>
              <a:ext cx="146050" cy="104775"/>
            </a:xfrm>
            <a:custGeom>
              <a:avLst/>
              <a:gdLst/>
              <a:ahLst/>
              <a:cxnLst>
                <a:cxn ang="0">
                  <a:pos x="54" y="0"/>
                </a:cxn>
                <a:cxn ang="0">
                  <a:pos x="45" y="0"/>
                </a:cxn>
                <a:cxn ang="0">
                  <a:pos x="38" y="35"/>
                </a:cxn>
                <a:cxn ang="0">
                  <a:pos x="32" y="7"/>
                </a:cxn>
                <a:cxn ang="0">
                  <a:pos x="27" y="35"/>
                </a:cxn>
                <a:cxn ang="0">
                  <a:pos x="20" y="0"/>
                </a:cxn>
                <a:cxn ang="0">
                  <a:pos x="11" y="0"/>
                </a:cxn>
                <a:cxn ang="0">
                  <a:pos x="0" y="15"/>
                </a:cxn>
                <a:cxn ang="0">
                  <a:pos x="0" y="47"/>
                </a:cxn>
                <a:cxn ang="0">
                  <a:pos x="65" y="47"/>
                </a:cxn>
                <a:cxn ang="0">
                  <a:pos x="65" y="15"/>
                </a:cxn>
                <a:cxn ang="0">
                  <a:pos x="54" y="0"/>
                </a:cxn>
              </a:cxnLst>
              <a:rect l="0" t="0" r="r" b="b"/>
              <a:pathLst>
                <a:path w="65" h="47">
                  <a:moveTo>
                    <a:pt x="54" y="0"/>
                  </a:moveTo>
                  <a:cubicBezTo>
                    <a:pt x="45" y="0"/>
                    <a:pt x="45" y="0"/>
                    <a:pt x="45" y="0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7"/>
                    <a:pt x="0" y="15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15"/>
                    <a:pt x="65" y="15"/>
                    <a:pt x="65" y="15"/>
                  </a:cubicBezTo>
                  <a:cubicBezTo>
                    <a:pt x="65" y="7"/>
                    <a:pt x="60" y="0"/>
                    <a:pt x="54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lIns="121920" tIns="60960" rIns="121920" bIns="6096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86" name="Freeform 77"/>
            <p:cNvSpPr>
              <a:spLocks/>
            </p:cNvSpPr>
            <p:nvPr/>
          </p:nvSpPr>
          <p:spPr bwMode="auto">
            <a:xfrm>
              <a:off x="3952875" y="2432050"/>
              <a:ext cx="20638" cy="15875"/>
            </a:xfrm>
            <a:custGeom>
              <a:avLst/>
              <a:gdLst/>
              <a:ahLst/>
              <a:cxnLst>
                <a:cxn ang="0">
                  <a:pos x="13" y="3"/>
                </a:cxn>
                <a:cxn ang="0">
                  <a:pos x="10" y="0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3" y="0"/>
                </a:cxn>
                <a:cxn ang="0">
                  <a:pos x="0" y="3"/>
                </a:cxn>
                <a:cxn ang="0">
                  <a:pos x="6" y="10"/>
                </a:cxn>
                <a:cxn ang="0">
                  <a:pos x="13" y="3"/>
                </a:cxn>
                <a:cxn ang="0">
                  <a:pos x="13" y="3"/>
                </a:cxn>
              </a:cxnLst>
              <a:rect l="0" t="0" r="r" b="b"/>
              <a:pathLst>
                <a:path w="13" h="10">
                  <a:moveTo>
                    <a:pt x="13" y="3"/>
                  </a:moveTo>
                  <a:lnTo>
                    <a:pt x="10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3" y="0"/>
                  </a:lnTo>
                  <a:lnTo>
                    <a:pt x="0" y="3"/>
                  </a:lnTo>
                  <a:lnTo>
                    <a:pt x="6" y="10"/>
                  </a:lnTo>
                  <a:lnTo>
                    <a:pt x="13" y="3"/>
                  </a:lnTo>
                  <a:lnTo>
                    <a:pt x="13" y="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lIns="121920" tIns="60960" rIns="121920" bIns="6096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87" name="Oval 78"/>
            <p:cNvSpPr>
              <a:spLocks noChangeArrowheads="1"/>
            </p:cNvSpPr>
            <p:nvPr/>
          </p:nvSpPr>
          <p:spPr bwMode="auto">
            <a:xfrm>
              <a:off x="4044950" y="2355850"/>
              <a:ext cx="68263" cy="77788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lIns="121920" tIns="60960" rIns="121920" bIns="6096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88" name="Freeform 79"/>
            <p:cNvSpPr>
              <a:spLocks/>
            </p:cNvSpPr>
            <p:nvPr/>
          </p:nvSpPr>
          <p:spPr bwMode="auto">
            <a:xfrm>
              <a:off x="4070350" y="2439988"/>
              <a:ext cx="17463" cy="14288"/>
            </a:xfrm>
            <a:custGeom>
              <a:avLst/>
              <a:gdLst/>
              <a:ahLst/>
              <a:cxnLst>
                <a:cxn ang="0">
                  <a:pos x="11" y="3"/>
                </a:cxn>
                <a:cxn ang="0">
                  <a:pos x="10" y="0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3" y="0"/>
                </a:cxn>
                <a:cxn ang="0">
                  <a:pos x="0" y="3"/>
                </a:cxn>
                <a:cxn ang="0">
                  <a:pos x="6" y="9"/>
                </a:cxn>
                <a:cxn ang="0">
                  <a:pos x="11" y="3"/>
                </a:cxn>
                <a:cxn ang="0">
                  <a:pos x="11" y="3"/>
                </a:cxn>
              </a:cxnLst>
              <a:rect l="0" t="0" r="r" b="b"/>
              <a:pathLst>
                <a:path w="11" h="9">
                  <a:moveTo>
                    <a:pt x="11" y="3"/>
                  </a:moveTo>
                  <a:lnTo>
                    <a:pt x="10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3" y="0"/>
                  </a:lnTo>
                  <a:lnTo>
                    <a:pt x="0" y="3"/>
                  </a:lnTo>
                  <a:lnTo>
                    <a:pt x="6" y="9"/>
                  </a:lnTo>
                  <a:lnTo>
                    <a:pt x="11" y="3"/>
                  </a:lnTo>
                  <a:lnTo>
                    <a:pt x="11" y="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lIns="121920" tIns="60960" rIns="121920" bIns="6096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89" name="Freeform 80"/>
            <p:cNvSpPr>
              <a:spLocks/>
            </p:cNvSpPr>
            <p:nvPr/>
          </p:nvSpPr>
          <p:spPr bwMode="auto">
            <a:xfrm>
              <a:off x="4037013" y="2439988"/>
              <a:ext cx="109538" cy="96838"/>
            </a:xfrm>
            <a:custGeom>
              <a:avLst/>
              <a:gdLst/>
              <a:ahLst/>
              <a:cxnLst>
                <a:cxn ang="0">
                  <a:pos x="39" y="0"/>
                </a:cxn>
                <a:cxn ang="0">
                  <a:pos x="31" y="0"/>
                </a:cxn>
                <a:cxn ang="0">
                  <a:pos x="24" y="33"/>
                </a:cxn>
                <a:cxn ang="0">
                  <a:pos x="19" y="6"/>
                </a:cxn>
                <a:cxn ang="0">
                  <a:pos x="14" y="33"/>
                </a:cxn>
                <a:cxn ang="0">
                  <a:pos x="8" y="0"/>
                </a:cxn>
                <a:cxn ang="0">
                  <a:pos x="0" y="0"/>
                </a:cxn>
                <a:cxn ang="0">
                  <a:pos x="3" y="11"/>
                </a:cxn>
                <a:cxn ang="0">
                  <a:pos x="3" y="43"/>
                </a:cxn>
                <a:cxn ang="0">
                  <a:pos x="49" y="43"/>
                </a:cxn>
                <a:cxn ang="0">
                  <a:pos x="49" y="14"/>
                </a:cxn>
                <a:cxn ang="0">
                  <a:pos x="39" y="0"/>
                </a:cxn>
              </a:cxnLst>
              <a:rect l="0" t="0" r="r" b="b"/>
              <a:pathLst>
                <a:path w="49" h="43">
                  <a:moveTo>
                    <a:pt x="39" y="0"/>
                  </a:moveTo>
                  <a:cubicBezTo>
                    <a:pt x="31" y="0"/>
                    <a:pt x="31" y="0"/>
                    <a:pt x="31" y="0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3"/>
                    <a:pt x="3" y="7"/>
                    <a:pt x="3" y="11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49" y="43"/>
                    <a:pt x="49" y="43"/>
                    <a:pt x="49" y="4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6"/>
                    <a:pt x="44" y="0"/>
                    <a:pt x="39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lIns="121920" tIns="60960" rIns="121920" bIns="6096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90" name="Oval 81"/>
            <p:cNvSpPr>
              <a:spLocks noChangeArrowheads="1"/>
            </p:cNvSpPr>
            <p:nvPr/>
          </p:nvSpPr>
          <p:spPr bwMode="auto">
            <a:xfrm>
              <a:off x="3811588" y="2355850"/>
              <a:ext cx="69850" cy="809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lIns="121920" tIns="60960" rIns="121920" bIns="6096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91" name="Freeform 82"/>
            <p:cNvSpPr>
              <a:spLocks/>
            </p:cNvSpPr>
            <p:nvPr/>
          </p:nvSpPr>
          <p:spPr bwMode="auto">
            <a:xfrm>
              <a:off x="3836988" y="2439988"/>
              <a:ext cx="17463" cy="15875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10" y="0"/>
                </a:cxn>
                <a:cxn ang="0">
                  <a:pos x="11" y="3"/>
                </a:cxn>
                <a:cxn ang="0">
                  <a:pos x="5" y="10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11" h="10">
                  <a:moveTo>
                    <a:pt x="0" y="3"/>
                  </a:moveTo>
                  <a:lnTo>
                    <a:pt x="3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10" y="0"/>
                  </a:lnTo>
                  <a:lnTo>
                    <a:pt x="11" y="3"/>
                  </a:lnTo>
                  <a:lnTo>
                    <a:pt x="5" y="10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lIns="121920" tIns="60960" rIns="121920" bIns="6096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endParaRPr>
            </a:p>
          </p:txBody>
        </p:sp>
        <p:sp>
          <p:nvSpPr>
            <p:cNvPr id="92" name="Freeform 83"/>
            <p:cNvSpPr>
              <a:spLocks/>
            </p:cNvSpPr>
            <p:nvPr/>
          </p:nvSpPr>
          <p:spPr bwMode="auto">
            <a:xfrm>
              <a:off x="3779838" y="2439988"/>
              <a:ext cx="111125" cy="100013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18" y="0"/>
                </a:cxn>
                <a:cxn ang="0">
                  <a:pos x="25" y="33"/>
                </a:cxn>
                <a:cxn ang="0">
                  <a:pos x="29" y="7"/>
                </a:cxn>
                <a:cxn ang="0">
                  <a:pos x="34" y="33"/>
                </a:cxn>
                <a:cxn ang="0">
                  <a:pos x="41" y="0"/>
                </a:cxn>
                <a:cxn ang="0">
                  <a:pos x="49" y="0"/>
                </a:cxn>
                <a:cxn ang="0">
                  <a:pos x="46" y="12"/>
                </a:cxn>
                <a:cxn ang="0">
                  <a:pos x="46" y="44"/>
                </a:cxn>
                <a:cxn ang="0">
                  <a:pos x="0" y="44"/>
                </a:cxn>
                <a:cxn ang="0">
                  <a:pos x="0" y="15"/>
                </a:cxn>
                <a:cxn ang="0">
                  <a:pos x="10" y="0"/>
                </a:cxn>
              </a:cxnLst>
              <a:rect l="0" t="0" r="r" b="b"/>
              <a:pathLst>
                <a:path w="49" h="44">
                  <a:moveTo>
                    <a:pt x="10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47" y="3"/>
                    <a:pt x="46" y="7"/>
                    <a:pt x="46" y="12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7"/>
                    <a:pt x="4" y="0"/>
                    <a:pt x="10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lIns="121920" tIns="60960" rIns="121920" bIns="6096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endParaRPr>
            </a:p>
          </p:txBody>
        </p:sp>
      </p:grpSp>
      <p:grpSp>
        <p:nvGrpSpPr>
          <p:cNvPr id="8" name="Group 103"/>
          <p:cNvGrpSpPr/>
          <p:nvPr/>
        </p:nvGrpSpPr>
        <p:grpSpPr>
          <a:xfrm>
            <a:off x="6995646" y="1229009"/>
            <a:ext cx="393700" cy="637117"/>
            <a:chOff x="3768725" y="938213"/>
            <a:chExt cx="393700" cy="477838"/>
          </a:xfrm>
          <a:solidFill>
            <a:srgbClr val="34738D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5" name="Freeform 11"/>
            <p:cNvSpPr>
              <a:spLocks/>
            </p:cNvSpPr>
            <p:nvPr/>
          </p:nvSpPr>
          <p:spPr bwMode="auto">
            <a:xfrm>
              <a:off x="3941763" y="1389063"/>
              <a:ext cx="47625" cy="26988"/>
            </a:xfrm>
            <a:custGeom>
              <a:avLst/>
              <a:gdLst/>
              <a:ahLst/>
              <a:cxnLst>
                <a:cxn ang="0">
                  <a:pos x="21" y="6"/>
                </a:cxn>
                <a:cxn ang="0">
                  <a:pos x="15" y="12"/>
                </a:cxn>
                <a:cxn ang="0">
                  <a:pos x="6" y="12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15" y="0"/>
                </a:cxn>
                <a:cxn ang="0">
                  <a:pos x="21" y="6"/>
                </a:cxn>
              </a:cxnLst>
              <a:rect l="0" t="0" r="r" b="b"/>
              <a:pathLst>
                <a:path w="21" h="12">
                  <a:moveTo>
                    <a:pt x="21" y="6"/>
                  </a:moveTo>
                  <a:cubicBezTo>
                    <a:pt x="21" y="9"/>
                    <a:pt x="19" y="12"/>
                    <a:pt x="15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9" y="0"/>
                    <a:pt x="21" y="3"/>
                    <a:pt x="21" y="6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06" name="Freeform 12"/>
            <p:cNvSpPr>
              <a:spLocks/>
            </p:cNvSpPr>
            <p:nvPr/>
          </p:nvSpPr>
          <p:spPr bwMode="auto">
            <a:xfrm>
              <a:off x="3924300" y="1360488"/>
              <a:ext cx="82550" cy="26988"/>
            </a:xfrm>
            <a:custGeom>
              <a:avLst/>
              <a:gdLst/>
              <a:ahLst/>
              <a:cxnLst>
                <a:cxn ang="0">
                  <a:pos x="37" y="6"/>
                </a:cxn>
                <a:cxn ang="0">
                  <a:pos x="32" y="12"/>
                </a:cxn>
                <a:cxn ang="0">
                  <a:pos x="6" y="12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32" y="0"/>
                </a:cxn>
                <a:cxn ang="0">
                  <a:pos x="37" y="6"/>
                </a:cxn>
              </a:cxnLst>
              <a:rect l="0" t="0" r="r" b="b"/>
              <a:pathLst>
                <a:path w="37" h="12">
                  <a:moveTo>
                    <a:pt x="37" y="6"/>
                  </a:moveTo>
                  <a:cubicBezTo>
                    <a:pt x="37" y="9"/>
                    <a:pt x="35" y="12"/>
                    <a:pt x="32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7" y="3"/>
                    <a:pt x="37" y="6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07" name="Freeform 13"/>
            <p:cNvSpPr>
              <a:spLocks/>
            </p:cNvSpPr>
            <p:nvPr/>
          </p:nvSpPr>
          <p:spPr bwMode="auto">
            <a:xfrm>
              <a:off x="3913188" y="1322388"/>
              <a:ext cx="107950" cy="34925"/>
            </a:xfrm>
            <a:custGeom>
              <a:avLst/>
              <a:gdLst/>
              <a:ahLst/>
              <a:cxnLst>
                <a:cxn ang="0">
                  <a:pos x="48" y="8"/>
                </a:cxn>
                <a:cxn ang="0">
                  <a:pos x="40" y="16"/>
                </a:cxn>
                <a:cxn ang="0">
                  <a:pos x="7" y="16"/>
                </a:cxn>
                <a:cxn ang="0">
                  <a:pos x="0" y="8"/>
                </a:cxn>
                <a:cxn ang="0">
                  <a:pos x="0" y="8"/>
                </a:cxn>
                <a:cxn ang="0">
                  <a:pos x="7" y="0"/>
                </a:cxn>
                <a:cxn ang="0">
                  <a:pos x="40" y="0"/>
                </a:cxn>
                <a:cxn ang="0">
                  <a:pos x="48" y="8"/>
                </a:cxn>
              </a:cxnLst>
              <a:rect l="0" t="0" r="r" b="b"/>
              <a:pathLst>
                <a:path w="48" h="16">
                  <a:moveTo>
                    <a:pt x="48" y="8"/>
                  </a:moveTo>
                  <a:cubicBezTo>
                    <a:pt x="48" y="12"/>
                    <a:pt x="44" y="16"/>
                    <a:pt x="40" y="16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3" y="16"/>
                    <a:pt x="0" y="12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4" y="0"/>
                    <a:pt x="48" y="4"/>
                    <a:pt x="48" y="8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08" name="Freeform 14"/>
            <p:cNvSpPr>
              <a:spLocks/>
            </p:cNvSpPr>
            <p:nvPr/>
          </p:nvSpPr>
          <p:spPr bwMode="auto">
            <a:xfrm>
              <a:off x="3941763" y="1389063"/>
              <a:ext cx="47625" cy="26988"/>
            </a:xfrm>
            <a:custGeom>
              <a:avLst/>
              <a:gdLst/>
              <a:ahLst/>
              <a:cxnLst>
                <a:cxn ang="0">
                  <a:pos x="21" y="6"/>
                </a:cxn>
                <a:cxn ang="0">
                  <a:pos x="15" y="12"/>
                </a:cxn>
                <a:cxn ang="0">
                  <a:pos x="6" y="12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15" y="0"/>
                </a:cxn>
                <a:cxn ang="0">
                  <a:pos x="21" y="6"/>
                </a:cxn>
              </a:cxnLst>
              <a:rect l="0" t="0" r="r" b="b"/>
              <a:pathLst>
                <a:path w="21" h="12">
                  <a:moveTo>
                    <a:pt x="21" y="6"/>
                  </a:moveTo>
                  <a:cubicBezTo>
                    <a:pt x="21" y="9"/>
                    <a:pt x="19" y="12"/>
                    <a:pt x="15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9" y="0"/>
                    <a:pt x="21" y="3"/>
                    <a:pt x="21" y="6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09" name="Freeform 15"/>
            <p:cNvSpPr>
              <a:spLocks/>
            </p:cNvSpPr>
            <p:nvPr/>
          </p:nvSpPr>
          <p:spPr bwMode="auto">
            <a:xfrm>
              <a:off x="3924300" y="1360488"/>
              <a:ext cx="82550" cy="26988"/>
            </a:xfrm>
            <a:custGeom>
              <a:avLst/>
              <a:gdLst/>
              <a:ahLst/>
              <a:cxnLst>
                <a:cxn ang="0">
                  <a:pos x="37" y="6"/>
                </a:cxn>
                <a:cxn ang="0">
                  <a:pos x="32" y="12"/>
                </a:cxn>
                <a:cxn ang="0">
                  <a:pos x="6" y="12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32" y="0"/>
                </a:cxn>
                <a:cxn ang="0">
                  <a:pos x="37" y="6"/>
                </a:cxn>
              </a:cxnLst>
              <a:rect l="0" t="0" r="r" b="b"/>
              <a:pathLst>
                <a:path w="37" h="12">
                  <a:moveTo>
                    <a:pt x="37" y="6"/>
                  </a:moveTo>
                  <a:cubicBezTo>
                    <a:pt x="37" y="9"/>
                    <a:pt x="35" y="12"/>
                    <a:pt x="32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7" y="3"/>
                    <a:pt x="37" y="6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10" name="Freeform 16"/>
            <p:cNvSpPr>
              <a:spLocks/>
            </p:cNvSpPr>
            <p:nvPr/>
          </p:nvSpPr>
          <p:spPr bwMode="auto">
            <a:xfrm>
              <a:off x="3913188" y="1322388"/>
              <a:ext cx="107950" cy="34925"/>
            </a:xfrm>
            <a:custGeom>
              <a:avLst/>
              <a:gdLst/>
              <a:ahLst/>
              <a:cxnLst>
                <a:cxn ang="0">
                  <a:pos x="48" y="8"/>
                </a:cxn>
                <a:cxn ang="0">
                  <a:pos x="40" y="16"/>
                </a:cxn>
                <a:cxn ang="0">
                  <a:pos x="7" y="16"/>
                </a:cxn>
                <a:cxn ang="0">
                  <a:pos x="0" y="8"/>
                </a:cxn>
                <a:cxn ang="0">
                  <a:pos x="0" y="8"/>
                </a:cxn>
                <a:cxn ang="0">
                  <a:pos x="7" y="0"/>
                </a:cxn>
                <a:cxn ang="0">
                  <a:pos x="40" y="0"/>
                </a:cxn>
                <a:cxn ang="0">
                  <a:pos x="48" y="8"/>
                </a:cxn>
              </a:cxnLst>
              <a:rect l="0" t="0" r="r" b="b"/>
              <a:pathLst>
                <a:path w="48" h="16">
                  <a:moveTo>
                    <a:pt x="48" y="8"/>
                  </a:moveTo>
                  <a:cubicBezTo>
                    <a:pt x="48" y="12"/>
                    <a:pt x="44" y="16"/>
                    <a:pt x="40" y="16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3" y="16"/>
                    <a:pt x="0" y="12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4" y="0"/>
                    <a:pt x="48" y="4"/>
                    <a:pt x="48" y="8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11" name="Rectangle 17"/>
            <p:cNvSpPr>
              <a:spLocks noChangeArrowheads="1"/>
            </p:cNvSpPr>
            <p:nvPr/>
          </p:nvSpPr>
          <p:spPr bwMode="auto">
            <a:xfrm>
              <a:off x="3956050" y="938213"/>
              <a:ext cx="19050" cy="46038"/>
            </a:xfrm>
            <a:prstGeom prst="rect">
              <a:avLst/>
            </a:pr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12" name="Freeform 18"/>
            <p:cNvSpPr>
              <a:spLocks/>
            </p:cNvSpPr>
            <p:nvPr/>
          </p:nvSpPr>
          <p:spPr bwMode="auto">
            <a:xfrm>
              <a:off x="4060825" y="984250"/>
              <a:ext cx="46038" cy="47625"/>
            </a:xfrm>
            <a:custGeom>
              <a:avLst/>
              <a:gdLst/>
              <a:ahLst/>
              <a:cxnLst>
                <a:cxn ang="0">
                  <a:pos x="9" y="30"/>
                </a:cxn>
                <a:cxn ang="0">
                  <a:pos x="0" y="22"/>
                </a:cxn>
                <a:cxn ang="0">
                  <a:pos x="20" y="0"/>
                </a:cxn>
                <a:cxn ang="0">
                  <a:pos x="29" y="9"/>
                </a:cxn>
                <a:cxn ang="0">
                  <a:pos x="9" y="30"/>
                </a:cxn>
              </a:cxnLst>
              <a:rect l="0" t="0" r="r" b="b"/>
              <a:pathLst>
                <a:path w="29" h="30">
                  <a:moveTo>
                    <a:pt x="9" y="30"/>
                  </a:moveTo>
                  <a:lnTo>
                    <a:pt x="0" y="22"/>
                  </a:lnTo>
                  <a:lnTo>
                    <a:pt x="20" y="0"/>
                  </a:lnTo>
                  <a:lnTo>
                    <a:pt x="29" y="9"/>
                  </a:lnTo>
                  <a:lnTo>
                    <a:pt x="9" y="30"/>
                  </a:ln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13" name="Freeform 19"/>
            <p:cNvSpPr>
              <a:spLocks/>
            </p:cNvSpPr>
            <p:nvPr/>
          </p:nvSpPr>
          <p:spPr bwMode="auto">
            <a:xfrm>
              <a:off x="4114800" y="1112838"/>
              <a:ext cx="47625" cy="22225"/>
            </a:xfrm>
            <a:custGeom>
              <a:avLst/>
              <a:gdLst/>
              <a:ahLst/>
              <a:cxnLst>
                <a:cxn ang="0">
                  <a:pos x="0" y="14"/>
                </a:cxn>
                <a:cxn ang="0">
                  <a:pos x="0" y="1"/>
                </a:cxn>
                <a:cxn ang="0">
                  <a:pos x="30" y="0"/>
                </a:cxn>
                <a:cxn ang="0">
                  <a:pos x="30" y="11"/>
                </a:cxn>
                <a:cxn ang="0">
                  <a:pos x="0" y="14"/>
                </a:cxn>
              </a:cxnLst>
              <a:rect l="0" t="0" r="r" b="b"/>
              <a:pathLst>
                <a:path w="30" h="14">
                  <a:moveTo>
                    <a:pt x="0" y="14"/>
                  </a:moveTo>
                  <a:lnTo>
                    <a:pt x="0" y="1"/>
                  </a:lnTo>
                  <a:lnTo>
                    <a:pt x="30" y="0"/>
                  </a:lnTo>
                  <a:lnTo>
                    <a:pt x="30" y="11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14" name="Freeform 20"/>
            <p:cNvSpPr>
              <a:spLocks/>
            </p:cNvSpPr>
            <p:nvPr/>
          </p:nvSpPr>
          <p:spPr bwMode="auto">
            <a:xfrm>
              <a:off x="4075113" y="1222375"/>
              <a:ext cx="49213" cy="46038"/>
            </a:xfrm>
            <a:custGeom>
              <a:avLst/>
              <a:gdLst/>
              <a:ahLst/>
              <a:cxnLst>
                <a:cxn ang="0">
                  <a:pos x="0" y="10"/>
                </a:cxn>
                <a:cxn ang="0">
                  <a:pos x="8" y="0"/>
                </a:cxn>
                <a:cxn ang="0">
                  <a:pos x="31" y="19"/>
                </a:cxn>
                <a:cxn ang="0">
                  <a:pos x="24" y="29"/>
                </a:cxn>
                <a:cxn ang="0">
                  <a:pos x="0" y="10"/>
                </a:cxn>
              </a:cxnLst>
              <a:rect l="0" t="0" r="r" b="b"/>
              <a:pathLst>
                <a:path w="31" h="29">
                  <a:moveTo>
                    <a:pt x="0" y="10"/>
                  </a:moveTo>
                  <a:lnTo>
                    <a:pt x="8" y="0"/>
                  </a:lnTo>
                  <a:lnTo>
                    <a:pt x="31" y="19"/>
                  </a:lnTo>
                  <a:lnTo>
                    <a:pt x="24" y="29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15" name="Freeform 21"/>
            <p:cNvSpPr>
              <a:spLocks/>
            </p:cNvSpPr>
            <p:nvPr/>
          </p:nvSpPr>
          <p:spPr bwMode="auto">
            <a:xfrm>
              <a:off x="3825875" y="982663"/>
              <a:ext cx="44450" cy="47625"/>
            </a:xfrm>
            <a:custGeom>
              <a:avLst/>
              <a:gdLst/>
              <a:ahLst/>
              <a:cxnLst>
                <a:cxn ang="0">
                  <a:pos x="19" y="30"/>
                </a:cxn>
                <a:cxn ang="0">
                  <a:pos x="28" y="21"/>
                </a:cxn>
                <a:cxn ang="0">
                  <a:pos x="8" y="0"/>
                </a:cxn>
                <a:cxn ang="0">
                  <a:pos x="0" y="8"/>
                </a:cxn>
                <a:cxn ang="0">
                  <a:pos x="19" y="30"/>
                </a:cxn>
              </a:cxnLst>
              <a:rect l="0" t="0" r="r" b="b"/>
              <a:pathLst>
                <a:path w="28" h="30">
                  <a:moveTo>
                    <a:pt x="19" y="30"/>
                  </a:moveTo>
                  <a:lnTo>
                    <a:pt x="28" y="21"/>
                  </a:lnTo>
                  <a:lnTo>
                    <a:pt x="8" y="0"/>
                  </a:lnTo>
                  <a:lnTo>
                    <a:pt x="0" y="8"/>
                  </a:lnTo>
                  <a:lnTo>
                    <a:pt x="19" y="30"/>
                  </a:ln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16" name="Freeform 22"/>
            <p:cNvSpPr>
              <a:spLocks/>
            </p:cNvSpPr>
            <p:nvPr/>
          </p:nvSpPr>
          <p:spPr bwMode="auto">
            <a:xfrm>
              <a:off x="3768725" y="1111250"/>
              <a:ext cx="49213" cy="22225"/>
            </a:xfrm>
            <a:custGeom>
              <a:avLst/>
              <a:gdLst/>
              <a:ahLst/>
              <a:cxnLst>
                <a:cxn ang="0">
                  <a:pos x="30" y="14"/>
                </a:cxn>
                <a:cxn ang="0">
                  <a:pos x="31" y="1"/>
                </a:cxn>
                <a:cxn ang="0">
                  <a:pos x="2" y="0"/>
                </a:cxn>
                <a:cxn ang="0">
                  <a:pos x="0" y="11"/>
                </a:cxn>
                <a:cxn ang="0">
                  <a:pos x="30" y="14"/>
                </a:cxn>
              </a:cxnLst>
              <a:rect l="0" t="0" r="r" b="b"/>
              <a:pathLst>
                <a:path w="31" h="14">
                  <a:moveTo>
                    <a:pt x="30" y="14"/>
                  </a:moveTo>
                  <a:lnTo>
                    <a:pt x="31" y="1"/>
                  </a:lnTo>
                  <a:lnTo>
                    <a:pt x="2" y="0"/>
                  </a:lnTo>
                  <a:lnTo>
                    <a:pt x="0" y="11"/>
                  </a:lnTo>
                  <a:lnTo>
                    <a:pt x="30" y="14"/>
                  </a:ln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17" name="Freeform 23"/>
            <p:cNvSpPr>
              <a:spLocks/>
            </p:cNvSpPr>
            <p:nvPr/>
          </p:nvSpPr>
          <p:spPr bwMode="auto">
            <a:xfrm>
              <a:off x="3806825" y="1220788"/>
              <a:ext cx="49213" cy="44450"/>
            </a:xfrm>
            <a:custGeom>
              <a:avLst/>
              <a:gdLst/>
              <a:ahLst/>
              <a:cxnLst>
                <a:cxn ang="0">
                  <a:pos x="31" y="10"/>
                </a:cxn>
                <a:cxn ang="0">
                  <a:pos x="24" y="0"/>
                </a:cxn>
                <a:cxn ang="0">
                  <a:pos x="0" y="18"/>
                </a:cxn>
                <a:cxn ang="0">
                  <a:pos x="9" y="28"/>
                </a:cxn>
                <a:cxn ang="0">
                  <a:pos x="31" y="10"/>
                </a:cxn>
              </a:cxnLst>
              <a:rect l="0" t="0" r="r" b="b"/>
              <a:pathLst>
                <a:path w="31" h="28">
                  <a:moveTo>
                    <a:pt x="31" y="10"/>
                  </a:moveTo>
                  <a:lnTo>
                    <a:pt x="24" y="0"/>
                  </a:lnTo>
                  <a:lnTo>
                    <a:pt x="0" y="18"/>
                  </a:lnTo>
                  <a:lnTo>
                    <a:pt x="9" y="28"/>
                  </a:lnTo>
                  <a:lnTo>
                    <a:pt x="31" y="10"/>
                  </a:ln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18" name="Freeform 24"/>
            <p:cNvSpPr>
              <a:spLocks/>
            </p:cNvSpPr>
            <p:nvPr/>
          </p:nvSpPr>
          <p:spPr bwMode="auto">
            <a:xfrm>
              <a:off x="3975100" y="1179513"/>
              <a:ext cx="15875" cy="30163"/>
            </a:xfrm>
            <a:custGeom>
              <a:avLst/>
              <a:gdLst/>
              <a:ahLst/>
              <a:cxnLst>
                <a:cxn ang="0">
                  <a:pos x="3" y="1"/>
                </a:cxn>
                <a:cxn ang="0">
                  <a:pos x="0" y="0"/>
                </a:cxn>
                <a:cxn ang="0">
                  <a:pos x="0" y="13"/>
                </a:cxn>
                <a:cxn ang="0">
                  <a:pos x="7" y="6"/>
                </a:cxn>
                <a:cxn ang="0">
                  <a:pos x="3" y="1"/>
                </a:cxn>
              </a:cxnLst>
              <a:rect l="0" t="0" r="r" b="b"/>
              <a:pathLst>
                <a:path w="7" h="13">
                  <a:moveTo>
                    <a:pt x="3" y="1"/>
                  </a:moveTo>
                  <a:cubicBezTo>
                    <a:pt x="3" y="1"/>
                    <a:pt x="2" y="0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5" y="13"/>
                    <a:pt x="7" y="10"/>
                    <a:pt x="7" y="6"/>
                  </a:cubicBezTo>
                  <a:cubicBezTo>
                    <a:pt x="7" y="4"/>
                    <a:pt x="6" y="2"/>
                    <a:pt x="3" y="1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19" name="Freeform 25"/>
            <p:cNvSpPr>
              <a:spLocks/>
            </p:cNvSpPr>
            <p:nvPr/>
          </p:nvSpPr>
          <p:spPr bwMode="auto">
            <a:xfrm>
              <a:off x="3944938" y="1128713"/>
              <a:ext cx="12700" cy="2381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6" y="11"/>
                </a:cxn>
                <a:cxn ang="0">
                  <a:pos x="6" y="0"/>
                </a:cxn>
                <a:cxn ang="0">
                  <a:pos x="0" y="5"/>
                </a:cxn>
              </a:cxnLst>
              <a:rect l="0" t="0" r="r" b="b"/>
              <a:pathLst>
                <a:path w="6" h="11">
                  <a:moveTo>
                    <a:pt x="0" y="5"/>
                  </a:moveTo>
                  <a:cubicBezTo>
                    <a:pt x="0" y="8"/>
                    <a:pt x="2" y="10"/>
                    <a:pt x="6" y="1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2"/>
                    <a:pt x="0" y="5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20" name="Freeform 26"/>
            <p:cNvSpPr>
              <a:spLocks noEditPoints="1"/>
            </p:cNvSpPr>
            <p:nvPr/>
          </p:nvSpPr>
          <p:spPr bwMode="auto">
            <a:xfrm>
              <a:off x="3843338" y="1006475"/>
              <a:ext cx="244475" cy="290513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0" y="54"/>
                </a:cxn>
                <a:cxn ang="0">
                  <a:pos x="12" y="87"/>
                </a:cxn>
                <a:cxn ang="0">
                  <a:pos x="32" y="129"/>
                </a:cxn>
                <a:cxn ang="0">
                  <a:pos x="34" y="129"/>
                </a:cxn>
                <a:cxn ang="0">
                  <a:pos x="42" y="129"/>
                </a:cxn>
                <a:cxn ang="0">
                  <a:pos x="65" y="129"/>
                </a:cxn>
                <a:cxn ang="0">
                  <a:pos x="75" y="129"/>
                </a:cxn>
                <a:cxn ang="0">
                  <a:pos x="77" y="129"/>
                </a:cxn>
                <a:cxn ang="0">
                  <a:pos x="97" y="87"/>
                </a:cxn>
                <a:cxn ang="0">
                  <a:pos x="109" y="54"/>
                </a:cxn>
                <a:cxn ang="0">
                  <a:pos x="55" y="0"/>
                </a:cxn>
                <a:cxn ang="0">
                  <a:pos x="69" y="95"/>
                </a:cxn>
                <a:cxn ang="0">
                  <a:pos x="59" y="98"/>
                </a:cxn>
                <a:cxn ang="0">
                  <a:pos x="59" y="110"/>
                </a:cxn>
                <a:cxn ang="0">
                  <a:pos x="51" y="110"/>
                </a:cxn>
                <a:cxn ang="0">
                  <a:pos x="51" y="98"/>
                </a:cxn>
                <a:cxn ang="0">
                  <a:pos x="40" y="94"/>
                </a:cxn>
                <a:cxn ang="0">
                  <a:pos x="34" y="80"/>
                </a:cxn>
                <a:cxn ang="0">
                  <a:pos x="43" y="80"/>
                </a:cxn>
                <a:cxn ang="0">
                  <a:pos x="51" y="90"/>
                </a:cxn>
                <a:cxn ang="0">
                  <a:pos x="51" y="75"/>
                </a:cxn>
                <a:cxn ang="0">
                  <a:pos x="47" y="74"/>
                </a:cxn>
                <a:cxn ang="0">
                  <a:pos x="36" y="61"/>
                </a:cxn>
                <a:cxn ang="0">
                  <a:pos x="41" y="49"/>
                </a:cxn>
                <a:cxn ang="0">
                  <a:pos x="51" y="46"/>
                </a:cxn>
                <a:cxn ang="0">
                  <a:pos x="51" y="33"/>
                </a:cxn>
                <a:cxn ang="0">
                  <a:pos x="59" y="33"/>
                </a:cxn>
                <a:cxn ang="0">
                  <a:pos x="59" y="46"/>
                </a:cxn>
                <a:cxn ang="0">
                  <a:pos x="68" y="50"/>
                </a:cxn>
                <a:cxn ang="0">
                  <a:pos x="74" y="62"/>
                </a:cxn>
                <a:cxn ang="0">
                  <a:pos x="65" y="62"/>
                </a:cxn>
                <a:cxn ang="0">
                  <a:pos x="59" y="54"/>
                </a:cxn>
                <a:cxn ang="0">
                  <a:pos x="59" y="67"/>
                </a:cxn>
                <a:cxn ang="0">
                  <a:pos x="66" y="69"/>
                </a:cxn>
                <a:cxn ang="0">
                  <a:pos x="73" y="75"/>
                </a:cxn>
                <a:cxn ang="0">
                  <a:pos x="76" y="82"/>
                </a:cxn>
                <a:cxn ang="0">
                  <a:pos x="69" y="95"/>
                </a:cxn>
                <a:cxn ang="0">
                  <a:pos x="55" y="19"/>
                </a:cxn>
                <a:cxn ang="0">
                  <a:pos x="17" y="24"/>
                </a:cxn>
                <a:cxn ang="0">
                  <a:pos x="55" y="4"/>
                </a:cxn>
                <a:cxn ang="0">
                  <a:pos x="93" y="24"/>
                </a:cxn>
                <a:cxn ang="0">
                  <a:pos x="55" y="19"/>
                </a:cxn>
              </a:cxnLst>
              <a:rect l="0" t="0" r="r" b="b"/>
              <a:pathLst>
                <a:path w="109" h="129">
                  <a:moveTo>
                    <a:pt x="55" y="0"/>
                  </a:moveTo>
                  <a:cubicBezTo>
                    <a:pt x="25" y="0"/>
                    <a:pt x="0" y="24"/>
                    <a:pt x="0" y="54"/>
                  </a:cubicBezTo>
                  <a:cubicBezTo>
                    <a:pt x="0" y="67"/>
                    <a:pt x="5" y="78"/>
                    <a:pt x="12" y="87"/>
                  </a:cubicBezTo>
                  <a:cubicBezTo>
                    <a:pt x="16" y="93"/>
                    <a:pt x="30" y="115"/>
                    <a:pt x="32" y="129"/>
                  </a:cubicBezTo>
                  <a:cubicBezTo>
                    <a:pt x="34" y="129"/>
                    <a:pt x="34" y="129"/>
                    <a:pt x="34" y="129"/>
                  </a:cubicBezTo>
                  <a:cubicBezTo>
                    <a:pt x="42" y="129"/>
                    <a:pt x="42" y="129"/>
                    <a:pt x="42" y="129"/>
                  </a:cubicBezTo>
                  <a:cubicBezTo>
                    <a:pt x="65" y="129"/>
                    <a:pt x="65" y="129"/>
                    <a:pt x="65" y="129"/>
                  </a:cubicBezTo>
                  <a:cubicBezTo>
                    <a:pt x="75" y="129"/>
                    <a:pt x="75" y="129"/>
                    <a:pt x="75" y="129"/>
                  </a:cubicBezTo>
                  <a:cubicBezTo>
                    <a:pt x="77" y="129"/>
                    <a:pt x="77" y="129"/>
                    <a:pt x="77" y="129"/>
                  </a:cubicBezTo>
                  <a:cubicBezTo>
                    <a:pt x="79" y="115"/>
                    <a:pt x="93" y="93"/>
                    <a:pt x="97" y="87"/>
                  </a:cubicBezTo>
                  <a:cubicBezTo>
                    <a:pt x="105" y="78"/>
                    <a:pt x="109" y="67"/>
                    <a:pt x="109" y="54"/>
                  </a:cubicBezTo>
                  <a:cubicBezTo>
                    <a:pt x="109" y="24"/>
                    <a:pt x="85" y="0"/>
                    <a:pt x="55" y="0"/>
                  </a:cubicBezTo>
                  <a:close/>
                  <a:moveTo>
                    <a:pt x="69" y="95"/>
                  </a:moveTo>
                  <a:cubicBezTo>
                    <a:pt x="66" y="97"/>
                    <a:pt x="63" y="98"/>
                    <a:pt x="59" y="98"/>
                  </a:cubicBezTo>
                  <a:cubicBezTo>
                    <a:pt x="59" y="110"/>
                    <a:pt x="59" y="110"/>
                    <a:pt x="59" y="110"/>
                  </a:cubicBezTo>
                  <a:cubicBezTo>
                    <a:pt x="51" y="110"/>
                    <a:pt x="51" y="110"/>
                    <a:pt x="51" y="110"/>
                  </a:cubicBezTo>
                  <a:cubicBezTo>
                    <a:pt x="51" y="98"/>
                    <a:pt x="51" y="98"/>
                    <a:pt x="51" y="98"/>
                  </a:cubicBezTo>
                  <a:cubicBezTo>
                    <a:pt x="46" y="98"/>
                    <a:pt x="43" y="96"/>
                    <a:pt x="40" y="94"/>
                  </a:cubicBezTo>
                  <a:cubicBezTo>
                    <a:pt x="36" y="91"/>
                    <a:pt x="34" y="86"/>
                    <a:pt x="34" y="80"/>
                  </a:cubicBezTo>
                  <a:cubicBezTo>
                    <a:pt x="43" y="80"/>
                    <a:pt x="43" y="80"/>
                    <a:pt x="43" y="80"/>
                  </a:cubicBezTo>
                  <a:cubicBezTo>
                    <a:pt x="43" y="85"/>
                    <a:pt x="46" y="89"/>
                    <a:pt x="51" y="90"/>
                  </a:cubicBezTo>
                  <a:cubicBezTo>
                    <a:pt x="51" y="75"/>
                    <a:pt x="51" y="75"/>
                    <a:pt x="51" y="75"/>
                  </a:cubicBezTo>
                  <a:cubicBezTo>
                    <a:pt x="50" y="74"/>
                    <a:pt x="48" y="74"/>
                    <a:pt x="47" y="74"/>
                  </a:cubicBezTo>
                  <a:cubicBezTo>
                    <a:pt x="39" y="72"/>
                    <a:pt x="36" y="67"/>
                    <a:pt x="36" y="61"/>
                  </a:cubicBezTo>
                  <a:cubicBezTo>
                    <a:pt x="36" y="56"/>
                    <a:pt x="37" y="52"/>
                    <a:pt x="41" y="49"/>
                  </a:cubicBezTo>
                  <a:cubicBezTo>
                    <a:pt x="44" y="47"/>
                    <a:pt x="47" y="46"/>
                    <a:pt x="51" y="46"/>
                  </a:cubicBezTo>
                  <a:cubicBezTo>
                    <a:pt x="51" y="33"/>
                    <a:pt x="51" y="33"/>
                    <a:pt x="51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46"/>
                    <a:pt x="59" y="46"/>
                    <a:pt x="59" y="46"/>
                  </a:cubicBezTo>
                  <a:cubicBezTo>
                    <a:pt x="62" y="46"/>
                    <a:pt x="66" y="48"/>
                    <a:pt x="68" y="50"/>
                  </a:cubicBezTo>
                  <a:cubicBezTo>
                    <a:pt x="72" y="53"/>
                    <a:pt x="74" y="57"/>
                    <a:pt x="74" y="62"/>
                  </a:cubicBezTo>
                  <a:cubicBezTo>
                    <a:pt x="65" y="62"/>
                    <a:pt x="65" y="62"/>
                    <a:pt x="65" y="62"/>
                  </a:cubicBezTo>
                  <a:cubicBezTo>
                    <a:pt x="64" y="58"/>
                    <a:pt x="62" y="55"/>
                    <a:pt x="59" y="54"/>
                  </a:cubicBezTo>
                  <a:cubicBezTo>
                    <a:pt x="59" y="67"/>
                    <a:pt x="59" y="67"/>
                    <a:pt x="59" y="67"/>
                  </a:cubicBezTo>
                  <a:cubicBezTo>
                    <a:pt x="61" y="68"/>
                    <a:pt x="63" y="69"/>
                    <a:pt x="66" y="69"/>
                  </a:cubicBezTo>
                  <a:cubicBezTo>
                    <a:pt x="69" y="70"/>
                    <a:pt x="71" y="72"/>
                    <a:pt x="73" y="75"/>
                  </a:cubicBezTo>
                  <a:cubicBezTo>
                    <a:pt x="75" y="77"/>
                    <a:pt x="76" y="80"/>
                    <a:pt x="76" y="82"/>
                  </a:cubicBezTo>
                  <a:cubicBezTo>
                    <a:pt x="76" y="88"/>
                    <a:pt x="74" y="92"/>
                    <a:pt x="69" y="95"/>
                  </a:cubicBezTo>
                  <a:close/>
                  <a:moveTo>
                    <a:pt x="55" y="19"/>
                  </a:moveTo>
                  <a:cubicBezTo>
                    <a:pt x="41" y="19"/>
                    <a:pt x="27" y="21"/>
                    <a:pt x="17" y="24"/>
                  </a:cubicBezTo>
                  <a:cubicBezTo>
                    <a:pt x="25" y="12"/>
                    <a:pt x="39" y="4"/>
                    <a:pt x="55" y="4"/>
                  </a:cubicBezTo>
                  <a:cubicBezTo>
                    <a:pt x="71" y="4"/>
                    <a:pt x="85" y="12"/>
                    <a:pt x="93" y="24"/>
                  </a:cubicBezTo>
                  <a:cubicBezTo>
                    <a:pt x="82" y="21"/>
                    <a:pt x="69" y="19"/>
                    <a:pt x="55" y="19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21" name="Freeform 27"/>
            <p:cNvSpPr>
              <a:spLocks/>
            </p:cNvSpPr>
            <p:nvPr/>
          </p:nvSpPr>
          <p:spPr bwMode="auto">
            <a:xfrm>
              <a:off x="3941763" y="1389063"/>
              <a:ext cx="47625" cy="26988"/>
            </a:xfrm>
            <a:custGeom>
              <a:avLst/>
              <a:gdLst/>
              <a:ahLst/>
              <a:cxnLst>
                <a:cxn ang="0">
                  <a:pos x="21" y="6"/>
                </a:cxn>
                <a:cxn ang="0">
                  <a:pos x="15" y="12"/>
                </a:cxn>
                <a:cxn ang="0">
                  <a:pos x="6" y="12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15" y="0"/>
                </a:cxn>
                <a:cxn ang="0">
                  <a:pos x="21" y="6"/>
                </a:cxn>
              </a:cxnLst>
              <a:rect l="0" t="0" r="r" b="b"/>
              <a:pathLst>
                <a:path w="21" h="12">
                  <a:moveTo>
                    <a:pt x="21" y="6"/>
                  </a:moveTo>
                  <a:cubicBezTo>
                    <a:pt x="21" y="9"/>
                    <a:pt x="19" y="12"/>
                    <a:pt x="15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9" y="0"/>
                    <a:pt x="21" y="3"/>
                    <a:pt x="21" y="6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22" name="Freeform 28"/>
            <p:cNvSpPr>
              <a:spLocks/>
            </p:cNvSpPr>
            <p:nvPr/>
          </p:nvSpPr>
          <p:spPr bwMode="auto">
            <a:xfrm>
              <a:off x="3924300" y="1360488"/>
              <a:ext cx="82550" cy="26988"/>
            </a:xfrm>
            <a:custGeom>
              <a:avLst/>
              <a:gdLst/>
              <a:ahLst/>
              <a:cxnLst>
                <a:cxn ang="0">
                  <a:pos x="37" y="6"/>
                </a:cxn>
                <a:cxn ang="0">
                  <a:pos x="32" y="12"/>
                </a:cxn>
                <a:cxn ang="0">
                  <a:pos x="6" y="12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32" y="0"/>
                </a:cxn>
                <a:cxn ang="0">
                  <a:pos x="37" y="6"/>
                </a:cxn>
              </a:cxnLst>
              <a:rect l="0" t="0" r="r" b="b"/>
              <a:pathLst>
                <a:path w="37" h="12">
                  <a:moveTo>
                    <a:pt x="37" y="6"/>
                  </a:moveTo>
                  <a:cubicBezTo>
                    <a:pt x="37" y="9"/>
                    <a:pt x="35" y="12"/>
                    <a:pt x="32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7" y="3"/>
                    <a:pt x="37" y="6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23" name="Freeform 29"/>
            <p:cNvSpPr>
              <a:spLocks/>
            </p:cNvSpPr>
            <p:nvPr/>
          </p:nvSpPr>
          <p:spPr bwMode="auto">
            <a:xfrm>
              <a:off x="3913188" y="1322388"/>
              <a:ext cx="107950" cy="34925"/>
            </a:xfrm>
            <a:custGeom>
              <a:avLst/>
              <a:gdLst/>
              <a:ahLst/>
              <a:cxnLst>
                <a:cxn ang="0">
                  <a:pos x="48" y="8"/>
                </a:cxn>
                <a:cxn ang="0">
                  <a:pos x="40" y="16"/>
                </a:cxn>
                <a:cxn ang="0">
                  <a:pos x="7" y="16"/>
                </a:cxn>
                <a:cxn ang="0">
                  <a:pos x="0" y="8"/>
                </a:cxn>
                <a:cxn ang="0">
                  <a:pos x="0" y="8"/>
                </a:cxn>
                <a:cxn ang="0">
                  <a:pos x="7" y="0"/>
                </a:cxn>
                <a:cxn ang="0">
                  <a:pos x="40" y="0"/>
                </a:cxn>
                <a:cxn ang="0">
                  <a:pos x="48" y="8"/>
                </a:cxn>
              </a:cxnLst>
              <a:rect l="0" t="0" r="r" b="b"/>
              <a:pathLst>
                <a:path w="48" h="16">
                  <a:moveTo>
                    <a:pt x="48" y="8"/>
                  </a:moveTo>
                  <a:cubicBezTo>
                    <a:pt x="48" y="12"/>
                    <a:pt x="44" y="16"/>
                    <a:pt x="40" y="16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3" y="16"/>
                    <a:pt x="0" y="12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4" y="0"/>
                    <a:pt x="48" y="4"/>
                    <a:pt x="48" y="8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24" name="Freeform 30"/>
            <p:cNvSpPr>
              <a:spLocks/>
            </p:cNvSpPr>
            <p:nvPr/>
          </p:nvSpPr>
          <p:spPr bwMode="auto">
            <a:xfrm>
              <a:off x="3941763" y="1389063"/>
              <a:ext cx="47625" cy="26988"/>
            </a:xfrm>
            <a:custGeom>
              <a:avLst/>
              <a:gdLst/>
              <a:ahLst/>
              <a:cxnLst>
                <a:cxn ang="0">
                  <a:pos x="21" y="6"/>
                </a:cxn>
                <a:cxn ang="0">
                  <a:pos x="15" y="12"/>
                </a:cxn>
                <a:cxn ang="0">
                  <a:pos x="6" y="12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15" y="0"/>
                </a:cxn>
                <a:cxn ang="0">
                  <a:pos x="21" y="6"/>
                </a:cxn>
              </a:cxnLst>
              <a:rect l="0" t="0" r="r" b="b"/>
              <a:pathLst>
                <a:path w="21" h="12">
                  <a:moveTo>
                    <a:pt x="21" y="6"/>
                  </a:moveTo>
                  <a:cubicBezTo>
                    <a:pt x="21" y="9"/>
                    <a:pt x="19" y="12"/>
                    <a:pt x="15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9" y="0"/>
                    <a:pt x="21" y="3"/>
                    <a:pt x="21" y="6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25" name="Freeform 31"/>
            <p:cNvSpPr>
              <a:spLocks/>
            </p:cNvSpPr>
            <p:nvPr/>
          </p:nvSpPr>
          <p:spPr bwMode="auto">
            <a:xfrm>
              <a:off x="3924300" y="1360488"/>
              <a:ext cx="82550" cy="26988"/>
            </a:xfrm>
            <a:custGeom>
              <a:avLst/>
              <a:gdLst/>
              <a:ahLst/>
              <a:cxnLst>
                <a:cxn ang="0">
                  <a:pos x="37" y="6"/>
                </a:cxn>
                <a:cxn ang="0">
                  <a:pos x="32" y="12"/>
                </a:cxn>
                <a:cxn ang="0">
                  <a:pos x="6" y="12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32" y="0"/>
                </a:cxn>
                <a:cxn ang="0">
                  <a:pos x="37" y="6"/>
                </a:cxn>
              </a:cxnLst>
              <a:rect l="0" t="0" r="r" b="b"/>
              <a:pathLst>
                <a:path w="37" h="12">
                  <a:moveTo>
                    <a:pt x="37" y="6"/>
                  </a:moveTo>
                  <a:cubicBezTo>
                    <a:pt x="37" y="9"/>
                    <a:pt x="35" y="12"/>
                    <a:pt x="32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7" y="3"/>
                    <a:pt x="37" y="6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26" name="Freeform 32"/>
            <p:cNvSpPr>
              <a:spLocks/>
            </p:cNvSpPr>
            <p:nvPr/>
          </p:nvSpPr>
          <p:spPr bwMode="auto">
            <a:xfrm>
              <a:off x="3913188" y="1322388"/>
              <a:ext cx="107950" cy="34925"/>
            </a:xfrm>
            <a:custGeom>
              <a:avLst/>
              <a:gdLst/>
              <a:ahLst/>
              <a:cxnLst>
                <a:cxn ang="0">
                  <a:pos x="48" y="8"/>
                </a:cxn>
                <a:cxn ang="0">
                  <a:pos x="40" y="16"/>
                </a:cxn>
                <a:cxn ang="0">
                  <a:pos x="7" y="16"/>
                </a:cxn>
                <a:cxn ang="0">
                  <a:pos x="0" y="8"/>
                </a:cxn>
                <a:cxn ang="0">
                  <a:pos x="0" y="8"/>
                </a:cxn>
                <a:cxn ang="0">
                  <a:pos x="7" y="0"/>
                </a:cxn>
                <a:cxn ang="0">
                  <a:pos x="40" y="0"/>
                </a:cxn>
                <a:cxn ang="0">
                  <a:pos x="48" y="8"/>
                </a:cxn>
              </a:cxnLst>
              <a:rect l="0" t="0" r="r" b="b"/>
              <a:pathLst>
                <a:path w="48" h="16">
                  <a:moveTo>
                    <a:pt x="48" y="8"/>
                  </a:moveTo>
                  <a:cubicBezTo>
                    <a:pt x="48" y="12"/>
                    <a:pt x="44" y="16"/>
                    <a:pt x="40" y="16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3" y="16"/>
                    <a:pt x="0" y="12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4" y="0"/>
                    <a:pt x="48" y="4"/>
                    <a:pt x="48" y="8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27" name="Freeform 33"/>
            <p:cNvSpPr>
              <a:spLocks/>
            </p:cNvSpPr>
            <p:nvPr/>
          </p:nvSpPr>
          <p:spPr bwMode="auto">
            <a:xfrm>
              <a:off x="3941763" y="1389063"/>
              <a:ext cx="47625" cy="26988"/>
            </a:xfrm>
            <a:custGeom>
              <a:avLst/>
              <a:gdLst/>
              <a:ahLst/>
              <a:cxnLst>
                <a:cxn ang="0">
                  <a:pos x="21" y="6"/>
                </a:cxn>
                <a:cxn ang="0">
                  <a:pos x="15" y="12"/>
                </a:cxn>
                <a:cxn ang="0">
                  <a:pos x="6" y="12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15" y="0"/>
                </a:cxn>
                <a:cxn ang="0">
                  <a:pos x="21" y="6"/>
                </a:cxn>
              </a:cxnLst>
              <a:rect l="0" t="0" r="r" b="b"/>
              <a:pathLst>
                <a:path w="21" h="12">
                  <a:moveTo>
                    <a:pt x="21" y="6"/>
                  </a:moveTo>
                  <a:cubicBezTo>
                    <a:pt x="21" y="9"/>
                    <a:pt x="19" y="12"/>
                    <a:pt x="15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9" y="0"/>
                    <a:pt x="21" y="3"/>
                    <a:pt x="21" y="6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28" name="Freeform 34"/>
            <p:cNvSpPr>
              <a:spLocks/>
            </p:cNvSpPr>
            <p:nvPr/>
          </p:nvSpPr>
          <p:spPr bwMode="auto">
            <a:xfrm>
              <a:off x="3924300" y="1360488"/>
              <a:ext cx="82550" cy="26988"/>
            </a:xfrm>
            <a:custGeom>
              <a:avLst/>
              <a:gdLst/>
              <a:ahLst/>
              <a:cxnLst>
                <a:cxn ang="0">
                  <a:pos x="37" y="6"/>
                </a:cxn>
                <a:cxn ang="0">
                  <a:pos x="32" y="12"/>
                </a:cxn>
                <a:cxn ang="0">
                  <a:pos x="6" y="12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32" y="0"/>
                </a:cxn>
                <a:cxn ang="0">
                  <a:pos x="37" y="6"/>
                </a:cxn>
              </a:cxnLst>
              <a:rect l="0" t="0" r="r" b="b"/>
              <a:pathLst>
                <a:path w="37" h="12">
                  <a:moveTo>
                    <a:pt x="37" y="6"/>
                  </a:moveTo>
                  <a:cubicBezTo>
                    <a:pt x="37" y="9"/>
                    <a:pt x="35" y="12"/>
                    <a:pt x="32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7" y="3"/>
                    <a:pt x="37" y="6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29" name="Freeform 35"/>
            <p:cNvSpPr>
              <a:spLocks/>
            </p:cNvSpPr>
            <p:nvPr/>
          </p:nvSpPr>
          <p:spPr bwMode="auto">
            <a:xfrm>
              <a:off x="3913188" y="1322388"/>
              <a:ext cx="107950" cy="34925"/>
            </a:xfrm>
            <a:custGeom>
              <a:avLst/>
              <a:gdLst/>
              <a:ahLst/>
              <a:cxnLst>
                <a:cxn ang="0">
                  <a:pos x="48" y="8"/>
                </a:cxn>
                <a:cxn ang="0">
                  <a:pos x="40" y="16"/>
                </a:cxn>
                <a:cxn ang="0">
                  <a:pos x="7" y="16"/>
                </a:cxn>
                <a:cxn ang="0">
                  <a:pos x="0" y="8"/>
                </a:cxn>
                <a:cxn ang="0">
                  <a:pos x="0" y="8"/>
                </a:cxn>
                <a:cxn ang="0">
                  <a:pos x="7" y="0"/>
                </a:cxn>
                <a:cxn ang="0">
                  <a:pos x="40" y="0"/>
                </a:cxn>
                <a:cxn ang="0">
                  <a:pos x="48" y="8"/>
                </a:cxn>
              </a:cxnLst>
              <a:rect l="0" t="0" r="r" b="b"/>
              <a:pathLst>
                <a:path w="48" h="16">
                  <a:moveTo>
                    <a:pt x="48" y="8"/>
                  </a:moveTo>
                  <a:cubicBezTo>
                    <a:pt x="48" y="12"/>
                    <a:pt x="44" y="16"/>
                    <a:pt x="40" y="16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3" y="16"/>
                    <a:pt x="0" y="12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4" y="0"/>
                    <a:pt x="48" y="4"/>
                    <a:pt x="48" y="8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30" name="Rectangle 36"/>
            <p:cNvSpPr>
              <a:spLocks noChangeArrowheads="1"/>
            </p:cNvSpPr>
            <p:nvPr/>
          </p:nvSpPr>
          <p:spPr bwMode="auto">
            <a:xfrm>
              <a:off x="3956050" y="938213"/>
              <a:ext cx="19050" cy="46038"/>
            </a:xfrm>
            <a:prstGeom prst="rect">
              <a:avLst/>
            </a:pr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31" name="Freeform 37"/>
            <p:cNvSpPr>
              <a:spLocks/>
            </p:cNvSpPr>
            <p:nvPr/>
          </p:nvSpPr>
          <p:spPr bwMode="auto">
            <a:xfrm>
              <a:off x="4060825" y="984250"/>
              <a:ext cx="46038" cy="47625"/>
            </a:xfrm>
            <a:custGeom>
              <a:avLst/>
              <a:gdLst/>
              <a:ahLst/>
              <a:cxnLst>
                <a:cxn ang="0">
                  <a:pos x="9" y="30"/>
                </a:cxn>
                <a:cxn ang="0">
                  <a:pos x="0" y="22"/>
                </a:cxn>
                <a:cxn ang="0">
                  <a:pos x="20" y="0"/>
                </a:cxn>
                <a:cxn ang="0">
                  <a:pos x="29" y="9"/>
                </a:cxn>
                <a:cxn ang="0">
                  <a:pos x="9" y="30"/>
                </a:cxn>
              </a:cxnLst>
              <a:rect l="0" t="0" r="r" b="b"/>
              <a:pathLst>
                <a:path w="29" h="30">
                  <a:moveTo>
                    <a:pt x="9" y="30"/>
                  </a:moveTo>
                  <a:lnTo>
                    <a:pt x="0" y="22"/>
                  </a:lnTo>
                  <a:lnTo>
                    <a:pt x="20" y="0"/>
                  </a:lnTo>
                  <a:lnTo>
                    <a:pt x="29" y="9"/>
                  </a:lnTo>
                  <a:lnTo>
                    <a:pt x="9" y="30"/>
                  </a:ln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32" name="Freeform 38"/>
            <p:cNvSpPr>
              <a:spLocks/>
            </p:cNvSpPr>
            <p:nvPr/>
          </p:nvSpPr>
          <p:spPr bwMode="auto">
            <a:xfrm>
              <a:off x="4114800" y="1112838"/>
              <a:ext cx="47625" cy="22225"/>
            </a:xfrm>
            <a:custGeom>
              <a:avLst/>
              <a:gdLst/>
              <a:ahLst/>
              <a:cxnLst>
                <a:cxn ang="0">
                  <a:pos x="0" y="14"/>
                </a:cxn>
                <a:cxn ang="0">
                  <a:pos x="0" y="1"/>
                </a:cxn>
                <a:cxn ang="0">
                  <a:pos x="30" y="0"/>
                </a:cxn>
                <a:cxn ang="0">
                  <a:pos x="30" y="11"/>
                </a:cxn>
                <a:cxn ang="0">
                  <a:pos x="0" y="14"/>
                </a:cxn>
              </a:cxnLst>
              <a:rect l="0" t="0" r="r" b="b"/>
              <a:pathLst>
                <a:path w="30" h="14">
                  <a:moveTo>
                    <a:pt x="0" y="14"/>
                  </a:moveTo>
                  <a:lnTo>
                    <a:pt x="0" y="1"/>
                  </a:lnTo>
                  <a:lnTo>
                    <a:pt x="30" y="0"/>
                  </a:lnTo>
                  <a:lnTo>
                    <a:pt x="30" y="11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33" name="Freeform 39"/>
            <p:cNvSpPr>
              <a:spLocks/>
            </p:cNvSpPr>
            <p:nvPr/>
          </p:nvSpPr>
          <p:spPr bwMode="auto">
            <a:xfrm>
              <a:off x="4075113" y="1222375"/>
              <a:ext cx="49213" cy="46038"/>
            </a:xfrm>
            <a:custGeom>
              <a:avLst/>
              <a:gdLst/>
              <a:ahLst/>
              <a:cxnLst>
                <a:cxn ang="0">
                  <a:pos x="0" y="10"/>
                </a:cxn>
                <a:cxn ang="0">
                  <a:pos x="8" y="0"/>
                </a:cxn>
                <a:cxn ang="0">
                  <a:pos x="31" y="19"/>
                </a:cxn>
                <a:cxn ang="0">
                  <a:pos x="24" y="29"/>
                </a:cxn>
                <a:cxn ang="0">
                  <a:pos x="0" y="10"/>
                </a:cxn>
              </a:cxnLst>
              <a:rect l="0" t="0" r="r" b="b"/>
              <a:pathLst>
                <a:path w="31" h="29">
                  <a:moveTo>
                    <a:pt x="0" y="10"/>
                  </a:moveTo>
                  <a:lnTo>
                    <a:pt x="8" y="0"/>
                  </a:lnTo>
                  <a:lnTo>
                    <a:pt x="31" y="19"/>
                  </a:lnTo>
                  <a:lnTo>
                    <a:pt x="24" y="29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34" name="Freeform 40"/>
            <p:cNvSpPr>
              <a:spLocks/>
            </p:cNvSpPr>
            <p:nvPr/>
          </p:nvSpPr>
          <p:spPr bwMode="auto">
            <a:xfrm>
              <a:off x="3825875" y="982663"/>
              <a:ext cx="44450" cy="47625"/>
            </a:xfrm>
            <a:custGeom>
              <a:avLst/>
              <a:gdLst/>
              <a:ahLst/>
              <a:cxnLst>
                <a:cxn ang="0">
                  <a:pos x="19" y="30"/>
                </a:cxn>
                <a:cxn ang="0">
                  <a:pos x="28" y="21"/>
                </a:cxn>
                <a:cxn ang="0">
                  <a:pos x="8" y="0"/>
                </a:cxn>
                <a:cxn ang="0">
                  <a:pos x="0" y="8"/>
                </a:cxn>
                <a:cxn ang="0">
                  <a:pos x="19" y="30"/>
                </a:cxn>
              </a:cxnLst>
              <a:rect l="0" t="0" r="r" b="b"/>
              <a:pathLst>
                <a:path w="28" h="30">
                  <a:moveTo>
                    <a:pt x="19" y="30"/>
                  </a:moveTo>
                  <a:lnTo>
                    <a:pt x="28" y="21"/>
                  </a:lnTo>
                  <a:lnTo>
                    <a:pt x="8" y="0"/>
                  </a:lnTo>
                  <a:lnTo>
                    <a:pt x="0" y="8"/>
                  </a:lnTo>
                  <a:lnTo>
                    <a:pt x="19" y="30"/>
                  </a:ln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35" name="Freeform 41"/>
            <p:cNvSpPr>
              <a:spLocks/>
            </p:cNvSpPr>
            <p:nvPr/>
          </p:nvSpPr>
          <p:spPr bwMode="auto">
            <a:xfrm>
              <a:off x="3768725" y="1111250"/>
              <a:ext cx="49213" cy="22225"/>
            </a:xfrm>
            <a:custGeom>
              <a:avLst/>
              <a:gdLst/>
              <a:ahLst/>
              <a:cxnLst>
                <a:cxn ang="0">
                  <a:pos x="30" y="14"/>
                </a:cxn>
                <a:cxn ang="0">
                  <a:pos x="31" y="1"/>
                </a:cxn>
                <a:cxn ang="0">
                  <a:pos x="2" y="0"/>
                </a:cxn>
                <a:cxn ang="0">
                  <a:pos x="0" y="11"/>
                </a:cxn>
                <a:cxn ang="0">
                  <a:pos x="30" y="14"/>
                </a:cxn>
              </a:cxnLst>
              <a:rect l="0" t="0" r="r" b="b"/>
              <a:pathLst>
                <a:path w="31" h="14">
                  <a:moveTo>
                    <a:pt x="30" y="14"/>
                  </a:moveTo>
                  <a:lnTo>
                    <a:pt x="31" y="1"/>
                  </a:lnTo>
                  <a:lnTo>
                    <a:pt x="2" y="0"/>
                  </a:lnTo>
                  <a:lnTo>
                    <a:pt x="0" y="11"/>
                  </a:lnTo>
                  <a:lnTo>
                    <a:pt x="30" y="14"/>
                  </a:ln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36" name="Freeform 42"/>
            <p:cNvSpPr>
              <a:spLocks/>
            </p:cNvSpPr>
            <p:nvPr/>
          </p:nvSpPr>
          <p:spPr bwMode="auto">
            <a:xfrm>
              <a:off x="3806825" y="1220788"/>
              <a:ext cx="49213" cy="44450"/>
            </a:xfrm>
            <a:custGeom>
              <a:avLst/>
              <a:gdLst/>
              <a:ahLst/>
              <a:cxnLst>
                <a:cxn ang="0">
                  <a:pos x="31" y="10"/>
                </a:cxn>
                <a:cxn ang="0">
                  <a:pos x="24" y="0"/>
                </a:cxn>
                <a:cxn ang="0">
                  <a:pos x="0" y="18"/>
                </a:cxn>
                <a:cxn ang="0">
                  <a:pos x="9" y="28"/>
                </a:cxn>
                <a:cxn ang="0">
                  <a:pos x="31" y="10"/>
                </a:cxn>
              </a:cxnLst>
              <a:rect l="0" t="0" r="r" b="b"/>
              <a:pathLst>
                <a:path w="31" h="28">
                  <a:moveTo>
                    <a:pt x="31" y="10"/>
                  </a:moveTo>
                  <a:lnTo>
                    <a:pt x="24" y="0"/>
                  </a:lnTo>
                  <a:lnTo>
                    <a:pt x="0" y="18"/>
                  </a:lnTo>
                  <a:lnTo>
                    <a:pt x="9" y="28"/>
                  </a:lnTo>
                  <a:lnTo>
                    <a:pt x="31" y="10"/>
                  </a:ln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37" name="Freeform 43"/>
            <p:cNvSpPr>
              <a:spLocks/>
            </p:cNvSpPr>
            <p:nvPr/>
          </p:nvSpPr>
          <p:spPr bwMode="auto">
            <a:xfrm>
              <a:off x="3975100" y="1179513"/>
              <a:ext cx="15875" cy="30163"/>
            </a:xfrm>
            <a:custGeom>
              <a:avLst/>
              <a:gdLst/>
              <a:ahLst/>
              <a:cxnLst>
                <a:cxn ang="0">
                  <a:pos x="3" y="1"/>
                </a:cxn>
                <a:cxn ang="0">
                  <a:pos x="0" y="0"/>
                </a:cxn>
                <a:cxn ang="0">
                  <a:pos x="0" y="13"/>
                </a:cxn>
                <a:cxn ang="0">
                  <a:pos x="7" y="6"/>
                </a:cxn>
                <a:cxn ang="0">
                  <a:pos x="3" y="1"/>
                </a:cxn>
              </a:cxnLst>
              <a:rect l="0" t="0" r="r" b="b"/>
              <a:pathLst>
                <a:path w="7" h="13">
                  <a:moveTo>
                    <a:pt x="3" y="1"/>
                  </a:moveTo>
                  <a:cubicBezTo>
                    <a:pt x="3" y="1"/>
                    <a:pt x="2" y="0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5" y="13"/>
                    <a:pt x="7" y="10"/>
                    <a:pt x="7" y="6"/>
                  </a:cubicBezTo>
                  <a:cubicBezTo>
                    <a:pt x="7" y="4"/>
                    <a:pt x="6" y="2"/>
                    <a:pt x="3" y="1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38" name="Freeform 44"/>
            <p:cNvSpPr>
              <a:spLocks/>
            </p:cNvSpPr>
            <p:nvPr/>
          </p:nvSpPr>
          <p:spPr bwMode="auto">
            <a:xfrm>
              <a:off x="3944938" y="1128713"/>
              <a:ext cx="12700" cy="2381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6" y="11"/>
                </a:cxn>
                <a:cxn ang="0">
                  <a:pos x="6" y="0"/>
                </a:cxn>
                <a:cxn ang="0">
                  <a:pos x="0" y="5"/>
                </a:cxn>
              </a:cxnLst>
              <a:rect l="0" t="0" r="r" b="b"/>
              <a:pathLst>
                <a:path w="6" h="11">
                  <a:moveTo>
                    <a:pt x="0" y="5"/>
                  </a:moveTo>
                  <a:cubicBezTo>
                    <a:pt x="0" y="8"/>
                    <a:pt x="2" y="10"/>
                    <a:pt x="6" y="1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2"/>
                    <a:pt x="0" y="5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39" name="Freeform 45"/>
            <p:cNvSpPr>
              <a:spLocks noEditPoints="1"/>
            </p:cNvSpPr>
            <p:nvPr/>
          </p:nvSpPr>
          <p:spPr bwMode="auto">
            <a:xfrm>
              <a:off x="3843338" y="1006475"/>
              <a:ext cx="244475" cy="290513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0" y="54"/>
                </a:cxn>
                <a:cxn ang="0">
                  <a:pos x="12" y="87"/>
                </a:cxn>
                <a:cxn ang="0">
                  <a:pos x="32" y="129"/>
                </a:cxn>
                <a:cxn ang="0">
                  <a:pos x="34" y="129"/>
                </a:cxn>
                <a:cxn ang="0">
                  <a:pos x="42" y="129"/>
                </a:cxn>
                <a:cxn ang="0">
                  <a:pos x="65" y="129"/>
                </a:cxn>
                <a:cxn ang="0">
                  <a:pos x="75" y="129"/>
                </a:cxn>
                <a:cxn ang="0">
                  <a:pos x="77" y="129"/>
                </a:cxn>
                <a:cxn ang="0">
                  <a:pos x="97" y="87"/>
                </a:cxn>
                <a:cxn ang="0">
                  <a:pos x="109" y="54"/>
                </a:cxn>
                <a:cxn ang="0">
                  <a:pos x="55" y="0"/>
                </a:cxn>
                <a:cxn ang="0">
                  <a:pos x="69" y="95"/>
                </a:cxn>
                <a:cxn ang="0">
                  <a:pos x="59" y="98"/>
                </a:cxn>
                <a:cxn ang="0">
                  <a:pos x="59" y="110"/>
                </a:cxn>
                <a:cxn ang="0">
                  <a:pos x="51" y="110"/>
                </a:cxn>
                <a:cxn ang="0">
                  <a:pos x="51" y="98"/>
                </a:cxn>
                <a:cxn ang="0">
                  <a:pos x="40" y="94"/>
                </a:cxn>
                <a:cxn ang="0">
                  <a:pos x="34" y="80"/>
                </a:cxn>
                <a:cxn ang="0">
                  <a:pos x="43" y="80"/>
                </a:cxn>
                <a:cxn ang="0">
                  <a:pos x="51" y="90"/>
                </a:cxn>
                <a:cxn ang="0">
                  <a:pos x="51" y="75"/>
                </a:cxn>
                <a:cxn ang="0">
                  <a:pos x="47" y="74"/>
                </a:cxn>
                <a:cxn ang="0">
                  <a:pos x="36" y="61"/>
                </a:cxn>
                <a:cxn ang="0">
                  <a:pos x="41" y="49"/>
                </a:cxn>
                <a:cxn ang="0">
                  <a:pos x="51" y="46"/>
                </a:cxn>
                <a:cxn ang="0">
                  <a:pos x="51" y="33"/>
                </a:cxn>
                <a:cxn ang="0">
                  <a:pos x="59" y="33"/>
                </a:cxn>
                <a:cxn ang="0">
                  <a:pos x="59" y="46"/>
                </a:cxn>
                <a:cxn ang="0">
                  <a:pos x="68" y="50"/>
                </a:cxn>
                <a:cxn ang="0">
                  <a:pos x="74" y="62"/>
                </a:cxn>
                <a:cxn ang="0">
                  <a:pos x="65" y="62"/>
                </a:cxn>
                <a:cxn ang="0">
                  <a:pos x="59" y="54"/>
                </a:cxn>
                <a:cxn ang="0">
                  <a:pos x="59" y="67"/>
                </a:cxn>
                <a:cxn ang="0">
                  <a:pos x="66" y="69"/>
                </a:cxn>
                <a:cxn ang="0">
                  <a:pos x="73" y="75"/>
                </a:cxn>
                <a:cxn ang="0">
                  <a:pos x="76" y="82"/>
                </a:cxn>
                <a:cxn ang="0">
                  <a:pos x="69" y="95"/>
                </a:cxn>
                <a:cxn ang="0">
                  <a:pos x="55" y="19"/>
                </a:cxn>
                <a:cxn ang="0">
                  <a:pos x="17" y="24"/>
                </a:cxn>
                <a:cxn ang="0">
                  <a:pos x="55" y="4"/>
                </a:cxn>
                <a:cxn ang="0">
                  <a:pos x="93" y="24"/>
                </a:cxn>
                <a:cxn ang="0">
                  <a:pos x="55" y="19"/>
                </a:cxn>
              </a:cxnLst>
              <a:rect l="0" t="0" r="r" b="b"/>
              <a:pathLst>
                <a:path w="109" h="129">
                  <a:moveTo>
                    <a:pt x="55" y="0"/>
                  </a:moveTo>
                  <a:cubicBezTo>
                    <a:pt x="25" y="0"/>
                    <a:pt x="0" y="24"/>
                    <a:pt x="0" y="54"/>
                  </a:cubicBezTo>
                  <a:cubicBezTo>
                    <a:pt x="0" y="67"/>
                    <a:pt x="5" y="78"/>
                    <a:pt x="12" y="87"/>
                  </a:cubicBezTo>
                  <a:cubicBezTo>
                    <a:pt x="16" y="93"/>
                    <a:pt x="30" y="115"/>
                    <a:pt x="32" y="129"/>
                  </a:cubicBezTo>
                  <a:cubicBezTo>
                    <a:pt x="34" y="129"/>
                    <a:pt x="34" y="129"/>
                    <a:pt x="34" y="129"/>
                  </a:cubicBezTo>
                  <a:cubicBezTo>
                    <a:pt x="42" y="129"/>
                    <a:pt x="42" y="129"/>
                    <a:pt x="42" y="129"/>
                  </a:cubicBezTo>
                  <a:cubicBezTo>
                    <a:pt x="65" y="129"/>
                    <a:pt x="65" y="129"/>
                    <a:pt x="65" y="129"/>
                  </a:cubicBezTo>
                  <a:cubicBezTo>
                    <a:pt x="75" y="129"/>
                    <a:pt x="75" y="129"/>
                    <a:pt x="75" y="129"/>
                  </a:cubicBezTo>
                  <a:cubicBezTo>
                    <a:pt x="77" y="129"/>
                    <a:pt x="77" y="129"/>
                    <a:pt x="77" y="129"/>
                  </a:cubicBezTo>
                  <a:cubicBezTo>
                    <a:pt x="79" y="115"/>
                    <a:pt x="93" y="93"/>
                    <a:pt x="97" y="87"/>
                  </a:cubicBezTo>
                  <a:cubicBezTo>
                    <a:pt x="105" y="78"/>
                    <a:pt x="109" y="67"/>
                    <a:pt x="109" y="54"/>
                  </a:cubicBezTo>
                  <a:cubicBezTo>
                    <a:pt x="109" y="24"/>
                    <a:pt x="85" y="0"/>
                    <a:pt x="55" y="0"/>
                  </a:cubicBezTo>
                  <a:close/>
                  <a:moveTo>
                    <a:pt x="69" y="95"/>
                  </a:moveTo>
                  <a:cubicBezTo>
                    <a:pt x="66" y="97"/>
                    <a:pt x="63" y="98"/>
                    <a:pt x="59" y="98"/>
                  </a:cubicBezTo>
                  <a:cubicBezTo>
                    <a:pt x="59" y="110"/>
                    <a:pt x="59" y="110"/>
                    <a:pt x="59" y="110"/>
                  </a:cubicBezTo>
                  <a:cubicBezTo>
                    <a:pt x="51" y="110"/>
                    <a:pt x="51" y="110"/>
                    <a:pt x="51" y="110"/>
                  </a:cubicBezTo>
                  <a:cubicBezTo>
                    <a:pt x="51" y="98"/>
                    <a:pt x="51" y="98"/>
                    <a:pt x="51" y="98"/>
                  </a:cubicBezTo>
                  <a:cubicBezTo>
                    <a:pt x="46" y="98"/>
                    <a:pt x="43" y="96"/>
                    <a:pt x="40" y="94"/>
                  </a:cubicBezTo>
                  <a:cubicBezTo>
                    <a:pt x="36" y="91"/>
                    <a:pt x="34" y="86"/>
                    <a:pt x="34" y="80"/>
                  </a:cubicBezTo>
                  <a:cubicBezTo>
                    <a:pt x="43" y="80"/>
                    <a:pt x="43" y="80"/>
                    <a:pt x="43" y="80"/>
                  </a:cubicBezTo>
                  <a:cubicBezTo>
                    <a:pt x="43" y="85"/>
                    <a:pt x="46" y="89"/>
                    <a:pt x="51" y="90"/>
                  </a:cubicBezTo>
                  <a:cubicBezTo>
                    <a:pt x="51" y="75"/>
                    <a:pt x="51" y="75"/>
                    <a:pt x="51" y="75"/>
                  </a:cubicBezTo>
                  <a:cubicBezTo>
                    <a:pt x="50" y="74"/>
                    <a:pt x="48" y="74"/>
                    <a:pt x="47" y="74"/>
                  </a:cubicBezTo>
                  <a:cubicBezTo>
                    <a:pt x="39" y="72"/>
                    <a:pt x="36" y="67"/>
                    <a:pt x="36" y="61"/>
                  </a:cubicBezTo>
                  <a:cubicBezTo>
                    <a:pt x="36" y="56"/>
                    <a:pt x="37" y="52"/>
                    <a:pt x="41" y="49"/>
                  </a:cubicBezTo>
                  <a:cubicBezTo>
                    <a:pt x="44" y="47"/>
                    <a:pt x="47" y="46"/>
                    <a:pt x="51" y="46"/>
                  </a:cubicBezTo>
                  <a:cubicBezTo>
                    <a:pt x="51" y="33"/>
                    <a:pt x="51" y="33"/>
                    <a:pt x="51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46"/>
                    <a:pt x="59" y="46"/>
                    <a:pt x="59" y="46"/>
                  </a:cubicBezTo>
                  <a:cubicBezTo>
                    <a:pt x="62" y="46"/>
                    <a:pt x="66" y="48"/>
                    <a:pt x="68" y="50"/>
                  </a:cubicBezTo>
                  <a:cubicBezTo>
                    <a:pt x="72" y="53"/>
                    <a:pt x="74" y="57"/>
                    <a:pt x="74" y="62"/>
                  </a:cubicBezTo>
                  <a:cubicBezTo>
                    <a:pt x="65" y="62"/>
                    <a:pt x="65" y="62"/>
                    <a:pt x="65" y="62"/>
                  </a:cubicBezTo>
                  <a:cubicBezTo>
                    <a:pt x="64" y="58"/>
                    <a:pt x="62" y="55"/>
                    <a:pt x="59" y="54"/>
                  </a:cubicBezTo>
                  <a:cubicBezTo>
                    <a:pt x="59" y="67"/>
                    <a:pt x="59" y="67"/>
                    <a:pt x="59" y="67"/>
                  </a:cubicBezTo>
                  <a:cubicBezTo>
                    <a:pt x="61" y="68"/>
                    <a:pt x="63" y="69"/>
                    <a:pt x="66" y="69"/>
                  </a:cubicBezTo>
                  <a:cubicBezTo>
                    <a:pt x="69" y="70"/>
                    <a:pt x="71" y="72"/>
                    <a:pt x="73" y="75"/>
                  </a:cubicBezTo>
                  <a:cubicBezTo>
                    <a:pt x="75" y="77"/>
                    <a:pt x="76" y="80"/>
                    <a:pt x="76" y="82"/>
                  </a:cubicBezTo>
                  <a:cubicBezTo>
                    <a:pt x="76" y="88"/>
                    <a:pt x="74" y="92"/>
                    <a:pt x="69" y="95"/>
                  </a:cubicBezTo>
                  <a:close/>
                  <a:moveTo>
                    <a:pt x="55" y="19"/>
                  </a:moveTo>
                  <a:cubicBezTo>
                    <a:pt x="41" y="19"/>
                    <a:pt x="27" y="21"/>
                    <a:pt x="17" y="24"/>
                  </a:cubicBezTo>
                  <a:cubicBezTo>
                    <a:pt x="25" y="12"/>
                    <a:pt x="39" y="4"/>
                    <a:pt x="55" y="4"/>
                  </a:cubicBezTo>
                  <a:cubicBezTo>
                    <a:pt x="71" y="4"/>
                    <a:pt x="85" y="12"/>
                    <a:pt x="93" y="24"/>
                  </a:cubicBezTo>
                  <a:cubicBezTo>
                    <a:pt x="82" y="21"/>
                    <a:pt x="69" y="19"/>
                    <a:pt x="55" y="19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schemeClr val="bg1"/>
                </a:solidFill>
              </a:endParaRPr>
            </a:p>
          </p:txBody>
        </p:sp>
      </p:grpSp>
      <p:sp>
        <p:nvSpPr>
          <p:cNvPr id="141" name="TextBox 140"/>
          <p:cNvSpPr txBox="1">
            <a:spLocks noChangeArrowheads="1"/>
          </p:cNvSpPr>
          <p:nvPr/>
        </p:nvSpPr>
        <p:spPr bwMode="auto">
          <a:xfrm>
            <a:off x="6748463" y="1879600"/>
            <a:ext cx="979487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fr-FR" sz="1600" b="1">
                <a:solidFill>
                  <a:schemeClr val="bg1"/>
                </a:solidFill>
                <a:latin typeface="Calibri Light" pitchFamily="34" charset="0"/>
              </a:rPr>
              <a:t>Lorem Ipsum</a:t>
            </a:r>
          </a:p>
        </p:txBody>
      </p:sp>
      <p:sp>
        <p:nvSpPr>
          <p:cNvPr id="142" name="TextBox 141"/>
          <p:cNvSpPr txBox="1">
            <a:spLocks noChangeArrowheads="1"/>
          </p:cNvSpPr>
          <p:nvPr/>
        </p:nvSpPr>
        <p:spPr bwMode="auto">
          <a:xfrm>
            <a:off x="6564313" y="2955925"/>
            <a:ext cx="979487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fr-FR" sz="1600" b="1">
                <a:solidFill>
                  <a:schemeClr val="bg1"/>
                </a:solidFill>
                <a:latin typeface="Calibri Light" pitchFamily="34" charset="0"/>
              </a:rPr>
              <a:t>Lorem Ipsum</a:t>
            </a:r>
          </a:p>
        </p:txBody>
      </p:sp>
      <p:sp>
        <p:nvSpPr>
          <p:cNvPr id="143" name="TextBox 142"/>
          <p:cNvSpPr txBox="1">
            <a:spLocks noChangeArrowheads="1"/>
          </p:cNvSpPr>
          <p:nvPr/>
        </p:nvSpPr>
        <p:spPr bwMode="auto">
          <a:xfrm>
            <a:off x="6338888" y="4049713"/>
            <a:ext cx="981075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fr-FR" sz="1600" b="1">
                <a:solidFill>
                  <a:schemeClr val="bg1"/>
                </a:solidFill>
                <a:latin typeface="Calibri Light" pitchFamily="34" charset="0"/>
              </a:rPr>
              <a:t>Lorem Ipsum</a:t>
            </a:r>
          </a:p>
        </p:txBody>
      </p:sp>
      <p:sp>
        <p:nvSpPr>
          <p:cNvPr id="144" name="TextBox 143"/>
          <p:cNvSpPr txBox="1">
            <a:spLocks noChangeArrowheads="1"/>
          </p:cNvSpPr>
          <p:nvPr/>
        </p:nvSpPr>
        <p:spPr bwMode="auto">
          <a:xfrm>
            <a:off x="6015038" y="5106988"/>
            <a:ext cx="981075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fr-FR" sz="1600" b="1">
                <a:solidFill>
                  <a:schemeClr val="bg1"/>
                </a:solidFill>
                <a:latin typeface="Calibri Light" pitchFamily="34" charset="0"/>
              </a:rPr>
              <a:t>Lorem Ipsum</a:t>
            </a:r>
          </a:p>
        </p:txBody>
      </p:sp>
      <p:sp>
        <p:nvSpPr>
          <p:cNvPr id="145" name="TextBox 144"/>
          <p:cNvSpPr txBox="1">
            <a:spLocks noChangeArrowheads="1"/>
          </p:cNvSpPr>
          <p:nvPr/>
        </p:nvSpPr>
        <p:spPr bwMode="auto">
          <a:xfrm>
            <a:off x="5724525" y="6197600"/>
            <a:ext cx="97948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fr-FR" sz="1600" b="1">
                <a:solidFill>
                  <a:schemeClr val="bg1"/>
                </a:solidFill>
                <a:latin typeface="Calibri Light" pitchFamily="34" charset="0"/>
              </a:rPr>
              <a:t>Lorem Ipsum</a:t>
            </a:r>
          </a:p>
        </p:txBody>
      </p:sp>
      <p:sp>
        <p:nvSpPr>
          <p:cNvPr id="8222" name="Rectangle 146"/>
          <p:cNvSpPr>
            <a:spLocks noChangeArrowheads="1"/>
          </p:cNvSpPr>
          <p:nvPr/>
        </p:nvSpPr>
        <p:spPr bwMode="auto">
          <a:xfrm>
            <a:off x="571500" y="571500"/>
            <a:ext cx="3071813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altLang="fr-FR" sz="3200" b="1">
                <a:solidFill>
                  <a:srgbClr val="FF0000"/>
                </a:solidFill>
                <a:latin typeface="Baskerville Old Face" pitchFamily="18" charset="0"/>
              </a:rPr>
              <a:t>Plan de la séance </a:t>
            </a:r>
            <a:endParaRPr lang="fr-FR" altLang="fr-FR" sz="3200">
              <a:latin typeface="Calibri" pitchFamily="34" charset="0"/>
            </a:endParaRPr>
          </a:p>
        </p:txBody>
      </p:sp>
      <p:pic>
        <p:nvPicPr>
          <p:cNvPr id="96" name="Picture 15">
            <a:extLst>
              <a:ext uri="{FF2B5EF4-FFF2-40B4-BE49-F238E27FC236}">
                <a16:creationId xmlns:a16="http://schemas.microsoft.com/office/drawing/2014/main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460" y="0"/>
            <a:ext cx="3682540" cy="2146032"/>
          </a:xfrm>
          <a:prstGeom prst="rect">
            <a:avLst/>
          </a:prstGeom>
        </p:spPr>
      </p:pic>
      <p:sp>
        <p:nvSpPr>
          <p:cNvPr id="97" name="Isosceles Triangle 46">
            <a:extLst>
              <a:ext uri="{FF2B5EF4-FFF2-40B4-BE49-F238E27FC236}">
                <a16:creationId xmlns:a16="http://schemas.microsoft.com/office/drawing/2014/main" id="{295CE181-88D7-4815-BC0F-BC87C9322824}"/>
              </a:ext>
            </a:extLst>
          </p:cNvPr>
          <p:cNvSpPr/>
          <p:nvPr/>
        </p:nvSpPr>
        <p:spPr>
          <a:xfrm rot="5400000">
            <a:off x="-31494" y="674412"/>
            <a:ext cx="510899" cy="447911"/>
          </a:xfrm>
          <a:prstGeom prst="triangl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43" grpId="0" animBg="1"/>
      <p:bldP spid="44" grpId="0"/>
      <p:bldP spid="45" grpId="0"/>
      <p:bldP spid="47" grpId="0"/>
      <p:bldP spid="143" grpId="0"/>
      <p:bldP spid="144" grpId="0"/>
      <p:bldP spid="145" grpId="0"/>
      <p:bldP spid="9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/>
          <p:cNvSpPr>
            <a:spLocks noChangeAspect="1"/>
          </p:cNvSpPr>
          <p:nvPr/>
        </p:nvSpPr>
        <p:spPr>
          <a:xfrm>
            <a:off x="5214910" y="2357430"/>
            <a:ext cx="3929090" cy="2315337"/>
          </a:xfrm>
          <a:custGeom>
            <a:avLst/>
            <a:gdLst>
              <a:gd name="connsiteX0" fmla="*/ 1508760 w 3395096"/>
              <a:gd name="connsiteY0" fmla="*/ 0 h 3017520"/>
              <a:gd name="connsiteX1" fmla="*/ 2759848 w 3395096"/>
              <a:gd name="connsiteY1" fmla="*/ 665198 h 3017520"/>
              <a:gd name="connsiteX2" fmla="*/ 2819931 w 3395096"/>
              <a:gd name="connsiteY2" fmla="*/ 764098 h 3017520"/>
              <a:gd name="connsiteX3" fmla="*/ 3395096 w 3395096"/>
              <a:gd name="connsiteY3" fmla="*/ 964653 h 3017520"/>
              <a:gd name="connsiteX4" fmla="*/ 3014512 w 3395096"/>
              <a:gd name="connsiteY4" fmla="*/ 1449195 h 3017520"/>
              <a:gd name="connsiteX5" fmla="*/ 3017520 w 3395096"/>
              <a:gd name="connsiteY5" fmla="*/ 1508760 h 3017520"/>
              <a:gd name="connsiteX6" fmla="*/ 1508760 w 3395096"/>
              <a:gd name="connsiteY6" fmla="*/ 3017520 h 3017520"/>
              <a:gd name="connsiteX7" fmla="*/ 0 w 3395096"/>
              <a:gd name="connsiteY7" fmla="*/ 1508760 h 3017520"/>
              <a:gd name="connsiteX8" fmla="*/ 1508760 w 3395096"/>
              <a:gd name="connsiteY8" fmla="*/ 0 h 301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95096" h="3017520">
                <a:moveTo>
                  <a:pt x="1508760" y="0"/>
                </a:moveTo>
                <a:cubicBezTo>
                  <a:pt x="2029551" y="0"/>
                  <a:pt x="2488713" y="263865"/>
                  <a:pt x="2759848" y="665198"/>
                </a:cubicBezTo>
                <a:lnTo>
                  <a:pt x="2819931" y="764098"/>
                </a:lnTo>
                <a:lnTo>
                  <a:pt x="3395096" y="964653"/>
                </a:lnTo>
                <a:lnTo>
                  <a:pt x="3014512" y="1449195"/>
                </a:lnTo>
                <a:lnTo>
                  <a:pt x="3017520" y="1508760"/>
                </a:lnTo>
                <a:cubicBezTo>
                  <a:pt x="3017520" y="2342025"/>
                  <a:pt x="2342025" y="3017520"/>
                  <a:pt x="1508760" y="3017520"/>
                </a:cubicBezTo>
                <a:cubicBezTo>
                  <a:pt x="675495" y="3017520"/>
                  <a:pt x="0" y="2342025"/>
                  <a:pt x="0" y="1508760"/>
                </a:cubicBezTo>
                <a:cubicBezTo>
                  <a:pt x="0" y="675495"/>
                  <a:pt x="675495" y="0"/>
                  <a:pt x="1508760" y="0"/>
                </a:cubicBezTo>
                <a:close/>
              </a:path>
            </a:pathLst>
          </a:custGeom>
          <a:solidFill>
            <a:srgbClr val="3EB8CD"/>
          </a:solidFill>
          <a:ln w="63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 err="1">
                <a:solidFill>
                  <a:schemeClr val="bg1"/>
                </a:solidFill>
                <a:latin typeface="Candara" pitchFamily="34" charset="0"/>
                <a:ea typeface="Roboto Light" panose="02000000000000000000" pitchFamily="2" charset="0"/>
              </a:rPr>
              <a:t>Quels</a:t>
            </a:r>
            <a:r>
              <a:rPr lang="en-US" sz="2400" b="1" dirty="0">
                <a:solidFill>
                  <a:schemeClr val="bg1"/>
                </a:solidFill>
                <a:latin typeface="Candara" pitchFamily="34" charset="0"/>
                <a:ea typeface="Roboto Light" panose="02000000000000000000" pitchFamily="2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Candara" pitchFamily="34" charset="0"/>
                <a:ea typeface="Roboto Light" panose="02000000000000000000" pitchFamily="2" charset="0"/>
              </a:rPr>
              <a:t>sont</a:t>
            </a:r>
            <a:r>
              <a:rPr lang="en-US" sz="2400" b="1" dirty="0">
                <a:solidFill>
                  <a:schemeClr val="bg1"/>
                </a:solidFill>
                <a:latin typeface="Candara" pitchFamily="34" charset="0"/>
                <a:ea typeface="Roboto Light" panose="02000000000000000000" pitchFamily="2" charset="0"/>
              </a:rPr>
              <a:t> les points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 err="1">
                <a:solidFill>
                  <a:schemeClr val="bg1"/>
                </a:solidFill>
                <a:latin typeface="Candara" pitchFamily="34" charset="0"/>
                <a:ea typeface="Roboto Light" panose="02000000000000000000" pitchFamily="2" charset="0"/>
              </a:rPr>
              <a:t>Communs</a:t>
            </a:r>
            <a:r>
              <a:rPr lang="en-US" sz="2400" b="1" dirty="0">
                <a:solidFill>
                  <a:schemeClr val="bg1"/>
                </a:solidFill>
                <a:latin typeface="Candara" pitchFamily="34" charset="0"/>
                <a:ea typeface="Roboto Light" panose="02000000000000000000" pitchFamily="2" charset="0"/>
              </a:rPr>
              <a:t> à </a:t>
            </a:r>
            <a:r>
              <a:rPr lang="en-US" sz="2400" b="1" dirty="0" err="1">
                <a:solidFill>
                  <a:schemeClr val="bg1"/>
                </a:solidFill>
                <a:latin typeface="Candara" pitchFamily="34" charset="0"/>
                <a:ea typeface="Roboto Light" panose="02000000000000000000" pitchFamily="2" charset="0"/>
              </a:rPr>
              <a:t>toutes</a:t>
            </a:r>
            <a:r>
              <a:rPr lang="en-US" sz="2400" b="1" dirty="0">
                <a:solidFill>
                  <a:schemeClr val="bg1"/>
                </a:solidFill>
                <a:latin typeface="Candara" pitchFamily="34" charset="0"/>
                <a:ea typeface="Roboto Light" panose="02000000000000000000" pitchFamily="2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Candara" pitchFamily="34" charset="0"/>
                <a:ea typeface="Roboto Light" panose="02000000000000000000" pitchFamily="2" charset="0"/>
              </a:rPr>
              <a:t>ces</a:t>
            </a:r>
            <a:r>
              <a:rPr lang="en-US" sz="2400" b="1" dirty="0">
                <a:solidFill>
                  <a:schemeClr val="bg1"/>
                </a:solidFill>
                <a:latin typeface="Candara" pitchFamily="34" charset="0"/>
                <a:ea typeface="Roboto Light" panose="02000000000000000000" pitchFamily="2" charset="0"/>
              </a:rPr>
              <a:t>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 err="1">
                <a:solidFill>
                  <a:schemeClr val="bg1"/>
                </a:solidFill>
                <a:latin typeface="Candara" pitchFamily="34" charset="0"/>
                <a:ea typeface="Roboto Light" panose="02000000000000000000" pitchFamily="2" charset="0"/>
              </a:rPr>
              <a:t>Organisations</a:t>
            </a:r>
            <a:r>
              <a:rPr lang="en-US" sz="2400" b="1" dirty="0">
                <a:solidFill>
                  <a:schemeClr val="bg1"/>
                </a:solidFill>
                <a:latin typeface="Candara" pitchFamily="34" charset="0"/>
                <a:ea typeface="Roboto Light" panose="02000000000000000000" pitchFamily="2" charset="0"/>
              </a:rPr>
              <a:t> ?  </a:t>
            </a:r>
          </a:p>
        </p:txBody>
      </p:sp>
      <p:grpSp>
        <p:nvGrpSpPr>
          <p:cNvPr id="2" name="Group 75"/>
          <p:cNvGrpSpPr>
            <a:grpSpLocks noChangeAspect="1"/>
          </p:cNvGrpSpPr>
          <p:nvPr/>
        </p:nvGrpSpPr>
        <p:grpSpPr>
          <a:xfrm>
            <a:off x="6786578" y="2571744"/>
            <a:ext cx="327659" cy="548640"/>
            <a:chOff x="6743700" y="2347912"/>
            <a:chExt cx="273050" cy="342900"/>
          </a:xfr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22" name="Freeform 268"/>
            <p:cNvSpPr>
              <a:spLocks noEditPoints="1"/>
            </p:cNvSpPr>
            <p:nvPr/>
          </p:nvSpPr>
          <p:spPr bwMode="auto">
            <a:xfrm>
              <a:off x="6743700" y="2347912"/>
              <a:ext cx="273050" cy="342900"/>
            </a:xfrm>
            <a:custGeom>
              <a:avLst/>
              <a:gdLst/>
              <a:ahLst/>
              <a:cxnLst>
                <a:cxn ang="0">
                  <a:pos x="17" y="57"/>
                </a:cxn>
                <a:cxn ang="0">
                  <a:pos x="59" y="15"/>
                </a:cxn>
                <a:cxn ang="0">
                  <a:pos x="102" y="57"/>
                </a:cxn>
                <a:cxn ang="0">
                  <a:pos x="89" y="89"/>
                </a:cxn>
                <a:cxn ang="0">
                  <a:pos x="87" y="89"/>
                </a:cxn>
                <a:cxn ang="0">
                  <a:pos x="80" y="66"/>
                </a:cxn>
                <a:cxn ang="0">
                  <a:pos x="73" y="62"/>
                </a:cxn>
                <a:cxn ang="0">
                  <a:pos x="71" y="62"/>
                </a:cxn>
                <a:cxn ang="0">
                  <a:pos x="45" y="62"/>
                </a:cxn>
                <a:cxn ang="0">
                  <a:pos x="39" y="66"/>
                </a:cxn>
                <a:cxn ang="0">
                  <a:pos x="32" y="88"/>
                </a:cxn>
                <a:cxn ang="0">
                  <a:pos x="30" y="89"/>
                </a:cxn>
                <a:cxn ang="0">
                  <a:pos x="17" y="57"/>
                </a:cxn>
                <a:cxn ang="0">
                  <a:pos x="55" y="70"/>
                </a:cxn>
                <a:cxn ang="0">
                  <a:pos x="56" y="69"/>
                </a:cxn>
                <a:cxn ang="0">
                  <a:pos x="63" y="69"/>
                </a:cxn>
                <a:cxn ang="0">
                  <a:pos x="64" y="70"/>
                </a:cxn>
                <a:cxn ang="0">
                  <a:pos x="64" y="74"/>
                </a:cxn>
                <a:cxn ang="0">
                  <a:pos x="68" y="89"/>
                </a:cxn>
                <a:cxn ang="0">
                  <a:pos x="67" y="91"/>
                </a:cxn>
                <a:cxn ang="0">
                  <a:pos x="61" y="97"/>
                </a:cxn>
                <a:cxn ang="0">
                  <a:pos x="59" y="97"/>
                </a:cxn>
                <a:cxn ang="0">
                  <a:pos x="53" y="91"/>
                </a:cxn>
                <a:cxn ang="0">
                  <a:pos x="52" y="89"/>
                </a:cxn>
                <a:cxn ang="0">
                  <a:pos x="55" y="74"/>
                </a:cxn>
                <a:cxn ang="0">
                  <a:pos x="55" y="70"/>
                </a:cxn>
                <a:cxn ang="0">
                  <a:pos x="59" y="0"/>
                </a:cxn>
                <a:cxn ang="0">
                  <a:pos x="0" y="59"/>
                </a:cxn>
                <a:cxn ang="0">
                  <a:pos x="59" y="149"/>
                </a:cxn>
                <a:cxn ang="0">
                  <a:pos x="119" y="59"/>
                </a:cxn>
                <a:cxn ang="0">
                  <a:pos x="59" y="0"/>
                </a:cxn>
              </a:cxnLst>
              <a:rect l="0" t="0" r="r" b="b"/>
              <a:pathLst>
                <a:path w="119" h="149">
                  <a:moveTo>
                    <a:pt x="17" y="57"/>
                  </a:moveTo>
                  <a:cubicBezTo>
                    <a:pt x="17" y="34"/>
                    <a:pt x="36" y="15"/>
                    <a:pt x="59" y="15"/>
                  </a:cubicBezTo>
                  <a:cubicBezTo>
                    <a:pt x="83" y="15"/>
                    <a:pt x="102" y="34"/>
                    <a:pt x="102" y="57"/>
                  </a:cubicBezTo>
                  <a:cubicBezTo>
                    <a:pt x="102" y="70"/>
                    <a:pt x="97" y="81"/>
                    <a:pt x="89" y="89"/>
                  </a:cubicBezTo>
                  <a:cubicBezTo>
                    <a:pt x="89" y="89"/>
                    <a:pt x="88" y="89"/>
                    <a:pt x="87" y="89"/>
                  </a:cubicBezTo>
                  <a:cubicBezTo>
                    <a:pt x="80" y="66"/>
                    <a:pt x="80" y="66"/>
                    <a:pt x="80" y="66"/>
                  </a:cubicBezTo>
                  <a:cubicBezTo>
                    <a:pt x="79" y="64"/>
                    <a:pt x="76" y="62"/>
                    <a:pt x="73" y="62"/>
                  </a:cubicBezTo>
                  <a:cubicBezTo>
                    <a:pt x="72" y="62"/>
                    <a:pt x="72" y="62"/>
                    <a:pt x="71" y="62"/>
                  </a:cubicBezTo>
                  <a:cubicBezTo>
                    <a:pt x="45" y="62"/>
                    <a:pt x="45" y="62"/>
                    <a:pt x="45" y="62"/>
                  </a:cubicBezTo>
                  <a:cubicBezTo>
                    <a:pt x="42" y="62"/>
                    <a:pt x="40" y="64"/>
                    <a:pt x="39" y="66"/>
                  </a:cubicBezTo>
                  <a:cubicBezTo>
                    <a:pt x="32" y="88"/>
                    <a:pt x="32" y="88"/>
                    <a:pt x="32" y="88"/>
                  </a:cubicBezTo>
                  <a:cubicBezTo>
                    <a:pt x="31" y="89"/>
                    <a:pt x="30" y="89"/>
                    <a:pt x="30" y="89"/>
                  </a:cubicBezTo>
                  <a:cubicBezTo>
                    <a:pt x="22" y="81"/>
                    <a:pt x="17" y="70"/>
                    <a:pt x="17" y="57"/>
                  </a:cubicBezTo>
                  <a:moveTo>
                    <a:pt x="55" y="70"/>
                  </a:moveTo>
                  <a:cubicBezTo>
                    <a:pt x="55" y="69"/>
                    <a:pt x="55" y="69"/>
                    <a:pt x="56" y="69"/>
                  </a:cubicBezTo>
                  <a:cubicBezTo>
                    <a:pt x="63" y="69"/>
                    <a:pt x="63" y="69"/>
                    <a:pt x="63" y="69"/>
                  </a:cubicBezTo>
                  <a:cubicBezTo>
                    <a:pt x="64" y="69"/>
                    <a:pt x="65" y="69"/>
                    <a:pt x="64" y="70"/>
                  </a:cubicBezTo>
                  <a:cubicBezTo>
                    <a:pt x="64" y="70"/>
                    <a:pt x="64" y="73"/>
                    <a:pt x="64" y="74"/>
                  </a:cubicBezTo>
                  <a:cubicBezTo>
                    <a:pt x="65" y="77"/>
                    <a:pt x="68" y="89"/>
                    <a:pt x="68" y="89"/>
                  </a:cubicBezTo>
                  <a:cubicBezTo>
                    <a:pt x="68" y="90"/>
                    <a:pt x="67" y="91"/>
                    <a:pt x="67" y="91"/>
                  </a:cubicBezTo>
                  <a:cubicBezTo>
                    <a:pt x="61" y="97"/>
                    <a:pt x="61" y="97"/>
                    <a:pt x="61" y="97"/>
                  </a:cubicBezTo>
                  <a:cubicBezTo>
                    <a:pt x="60" y="97"/>
                    <a:pt x="59" y="97"/>
                    <a:pt x="59" y="97"/>
                  </a:cubicBezTo>
                  <a:cubicBezTo>
                    <a:pt x="53" y="91"/>
                    <a:pt x="53" y="91"/>
                    <a:pt x="53" y="91"/>
                  </a:cubicBezTo>
                  <a:cubicBezTo>
                    <a:pt x="52" y="91"/>
                    <a:pt x="52" y="90"/>
                    <a:pt x="52" y="89"/>
                  </a:cubicBezTo>
                  <a:cubicBezTo>
                    <a:pt x="52" y="89"/>
                    <a:pt x="54" y="77"/>
                    <a:pt x="55" y="74"/>
                  </a:cubicBezTo>
                  <a:cubicBezTo>
                    <a:pt x="55" y="73"/>
                    <a:pt x="55" y="70"/>
                    <a:pt x="55" y="70"/>
                  </a:cubicBezTo>
                  <a:moveTo>
                    <a:pt x="59" y="0"/>
                  </a:moveTo>
                  <a:cubicBezTo>
                    <a:pt x="27" y="0"/>
                    <a:pt x="0" y="26"/>
                    <a:pt x="0" y="59"/>
                  </a:cubicBezTo>
                  <a:cubicBezTo>
                    <a:pt x="0" y="92"/>
                    <a:pt x="53" y="149"/>
                    <a:pt x="59" y="149"/>
                  </a:cubicBezTo>
                  <a:cubicBezTo>
                    <a:pt x="66" y="149"/>
                    <a:pt x="119" y="92"/>
                    <a:pt x="119" y="59"/>
                  </a:cubicBezTo>
                  <a:cubicBezTo>
                    <a:pt x="119" y="26"/>
                    <a:pt x="92" y="0"/>
                    <a:pt x="59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lIns="121920" tIns="60960" rIns="121920" bIns="6096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latin typeface="+mn-lt"/>
                <a:cs typeface="+mn-cs"/>
              </a:endParaRPr>
            </a:p>
          </p:txBody>
        </p:sp>
        <p:sp>
          <p:nvSpPr>
            <p:cNvPr id="23" name="Oval 269"/>
            <p:cNvSpPr>
              <a:spLocks noChangeArrowheads="1"/>
            </p:cNvSpPr>
            <p:nvPr/>
          </p:nvSpPr>
          <p:spPr bwMode="auto">
            <a:xfrm>
              <a:off x="6838950" y="2401887"/>
              <a:ext cx="80962" cy="79375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lIns="121920" tIns="60960" rIns="121920" bIns="6096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latin typeface="+mn-lt"/>
                <a:cs typeface="+mn-cs"/>
              </a:endParaRPr>
            </a:p>
          </p:txBody>
        </p:sp>
      </p:grpSp>
      <p:pic>
        <p:nvPicPr>
          <p:cNvPr id="1028" name="Picture 4" descr="Image associÃ©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142984"/>
            <a:ext cx="1833563" cy="14049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0" name="Picture 39" descr="http://t3.gstatic.com/images?q=tbn:ANd9GcRt36L4FySWVluJsezFTggpe7kLFQbb7W3nj2DYDOfA5FzcQht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2875" y="2357438"/>
            <a:ext cx="1000125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" name="Picture 33" descr="http://t3.gstatic.com/images?q=tbn:ANd9GcSTLG09egMFAJmi8RyP2no7UNVedeSILpvRdIdMcExG5i2nkdHH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00166" y="642918"/>
            <a:ext cx="200025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2" name="Picture 41" descr="http://fr.ragzag.com/wp-content/uploads/culture/amazon_logo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571604" y="2357430"/>
            <a:ext cx="2286000" cy="54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 descr="Image associÃ©e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0" y="3571876"/>
            <a:ext cx="2249201" cy="127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75" name="AutoShape 8" descr="RÃ©sultat de recherche d'images pour &quot;steg tunisi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fr-FR" altLang="fr-FR">
              <a:latin typeface="Calibri" pitchFamily="34" charset="0"/>
            </a:endParaRPr>
          </a:p>
        </p:txBody>
      </p:sp>
      <p:sp>
        <p:nvSpPr>
          <p:cNvPr id="11276" name="AutoShape 10" descr="RÃ©sultat de recherche d'images pour &quot;steg tunisi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fr-FR" altLang="fr-FR">
              <a:latin typeface="Calibri" pitchFamily="34" charset="0"/>
            </a:endParaRPr>
          </a:p>
        </p:txBody>
      </p:sp>
      <p:sp>
        <p:nvSpPr>
          <p:cNvPr id="11277" name="AutoShape 12" descr="RÃ©sultat de recherche d'images pour &quot;steg tunisi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fr-FR" altLang="fr-FR">
              <a:latin typeface="Calibri" pitchFamily="34" charset="0"/>
            </a:endParaRPr>
          </a:p>
        </p:txBody>
      </p:sp>
      <p:pic>
        <p:nvPicPr>
          <p:cNvPr id="1038" name="Picture 14" descr="Image associÃ©e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857620" y="571480"/>
            <a:ext cx="2838450" cy="160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2" name="Picture 2" descr="Image associÃ©e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643702" y="214290"/>
            <a:ext cx="2000250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6" name="Picture 6" descr="RÃ©sultat de recherche d'images pour &quot;patisserie hachicha&quot;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14375" y="5143500"/>
            <a:ext cx="1571625" cy="146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8" name="Picture 8" descr="Image associÃ©e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2571736" y="5214950"/>
            <a:ext cx="2960682" cy="14878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5" name="TextBox 66"/>
          <p:cNvSpPr txBox="1">
            <a:spLocks noChangeArrowheads="1"/>
          </p:cNvSpPr>
          <p:nvPr/>
        </p:nvSpPr>
        <p:spPr bwMode="auto">
          <a:xfrm>
            <a:off x="500034" y="214290"/>
            <a:ext cx="5643563" cy="862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fr-FR" sz="3200" b="1" dirty="0" err="1">
                <a:solidFill>
                  <a:srgbClr val="FF0000"/>
                </a:solidFill>
                <a:latin typeface="Baskerville Old Face" pitchFamily="18" charset="0"/>
              </a:rPr>
              <a:t>Qu’est</a:t>
            </a:r>
            <a:r>
              <a:rPr lang="en-US" altLang="fr-FR" sz="3200" b="1" dirty="0">
                <a:solidFill>
                  <a:srgbClr val="FF0000"/>
                </a:solidFill>
                <a:latin typeface="Baskerville Old Face" pitchFamily="18" charset="0"/>
              </a:rPr>
              <a:t> </a:t>
            </a:r>
            <a:r>
              <a:rPr lang="en-US" altLang="fr-FR" sz="3200" b="1" dirty="0" err="1">
                <a:solidFill>
                  <a:srgbClr val="FF0000"/>
                </a:solidFill>
                <a:latin typeface="Baskerville Old Face" pitchFamily="18" charset="0"/>
              </a:rPr>
              <a:t>ce</a:t>
            </a:r>
            <a:r>
              <a:rPr lang="en-US" altLang="fr-FR" sz="3200" b="1" dirty="0">
                <a:solidFill>
                  <a:srgbClr val="FF0000"/>
                </a:solidFill>
                <a:latin typeface="Baskerville Old Face" pitchFamily="18" charset="0"/>
              </a:rPr>
              <a:t> </a:t>
            </a:r>
            <a:r>
              <a:rPr lang="en-US" altLang="fr-FR" sz="3200" b="1" dirty="0" err="1">
                <a:solidFill>
                  <a:srgbClr val="FF0000"/>
                </a:solidFill>
                <a:latin typeface="Baskerville Old Face" pitchFamily="18" charset="0"/>
              </a:rPr>
              <a:t>qu’une</a:t>
            </a:r>
            <a:r>
              <a:rPr lang="en-US" altLang="fr-FR" sz="3200" b="1" dirty="0">
                <a:solidFill>
                  <a:srgbClr val="FF0000"/>
                </a:solidFill>
                <a:latin typeface="Baskerville Old Face" pitchFamily="18" charset="0"/>
              </a:rPr>
              <a:t> </a:t>
            </a:r>
            <a:r>
              <a:rPr lang="en-US" altLang="fr-FR" sz="3200" b="1" dirty="0" err="1">
                <a:solidFill>
                  <a:srgbClr val="FF0000"/>
                </a:solidFill>
                <a:latin typeface="Baskerville Old Face" pitchFamily="18" charset="0"/>
              </a:rPr>
              <a:t>organisation</a:t>
            </a:r>
            <a:r>
              <a:rPr lang="en-US" altLang="fr-FR" sz="3200" b="1" dirty="0">
                <a:solidFill>
                  <a:srgbClr val="FF0000"/>
                </a:solidFill>
                <a:latin typeface="Baskerville Old Face" pitchFamily="18" charset="0"/>
              </a:rPr>
              <a:t>? </a:t>
            </a:r>
          </a:p>
          <a:p>
            <a:pPr algn="r"/>
            <a:endParaRPr lang="en-US" altLang="fr-FR" dirty="0">
              <a:solidFill>
                <a:srgbClr val="56595E"/>
              </a:solidFill>
              <a:latin typeface="Candara" pitchFamily="34" charset="0"/>
            </a:endParaRPr>
          </a:p>
        </p:txBody>
      </p:sp>
      <p:sp>
        <p:nvSpPr>
          <p:cNvPr id="11284" name="AutoShape 20" descr="Résultat de recherche d'images pour &quot;logo lycée tunisi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1286" name="AutoShape 22" descr="Résultat de recherche d'images pour &quot;logo lycée tunisi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1288" name="Picture 24" descr="Résultat de recherche d'images pour &quot;logo lycée tunisie&quot;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7286644" y="5000636"/>
            <a:ext cx="1476371" cy="1606841"/>
          </a:xfrm>
          <a:prstGeom prst="rect">
            <a:avLst/>
          </a:prstGeom>
          <a:noFill/>
        </p:spPr>
      </p:pic>
      <p:pic>
        <p:nvPicPr>
          <p:cNvPr id="11290" name="Picture 26" descr="Résultat de recherche d'images pour &quot;logo lycée tunisie&quot;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285984" y="3071810"/>
            <a:ext cx="1447795" cy="1415905"/>
          </a:xfrm>
          <a:prstGeom prst="rect">
            <a:avLst/>
          </a:prstGeom>
          <a:noFill/>
        </p:spPr>
      </p:pic>
      <p:pic>
        <p:nvPicPr>
          <p:cNvPr id="11292" name="Picture 28" descr="Résultat de recherche d'images pour &quot;logo hopital charles nicolle tunis&quot;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929058" y="3357562"/>
            <a:ext cx="1265264" cy="1748480"/>
          </a:xfrm>
          <a:prstGeom prst="rect">
            <a:avLst/>
          </a:prstGeom>
          <a:noFill/>
        </p:spPr>
      </p:pic>
      <p:pic>
        <p:nvPicPr>
          <p:cNvPr id="11294" name="Picture 30" descr="Résultat de recherche d'images pour &quot;logo barcelone&quot;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6072198" y="4857760"/>
            <a:ext cx="1058972" cy="1071546"/>
          </a:xfrm>
          <a:prstGeom prst="rect">
            <a:avLst/>
          </a:prstGeom>
          <a:noFill/>
        </p:spPr>
      </p:pic>
      <p:sp>
        <p:nvSpPr>
          <p:cNvPr id="25" name="Isosceles Triangle 46">
            <a:extLst>
              <a:ext uri="{FF2B5EF4-FFF2-40B4-BE49-F238E27FC236}">
                <a16:creationId xmlns:a16="http://schemas.microsoft.com/office/drawing/2014/main" id="{295CE181-88D7-4815-BC0F-BC87C9322824}"/>
              </a:ext>
            </a:extLst>
          </p:cNvPr>
          <p:cNvSpPr/>
          <p:nvPr/>
        </p:nvSpPr>
        <p:spPr>
          <a:xfrm rot="5400000">
            <a:off x="-31494" y="388660"/>
            <a:ext cx="510899" cy="447911"/>
          </a:xfrm>
          <a:prstGeom prst="triangl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6" name="Picture 15">
            <a:extLst>
              <a:ext uri="{FF2B5EF4-FFF2-40B4-BE49-F238E27FC236}">
                <a16:creationId xmlns:a16="http://schemas.microsoft.com/office/drawing/2014/main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460" y="0"/>
            <a:ext cx="3682540" cy="2146032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 autoUpdateAnimBg="0"/>
      <p:bldP spid="65" grpId="0" autoUpdateAnimBg="0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/>
          <p:cNvSpPr>
            <a:spLocks noChangeArrowheads="1"/>
          </p:cNvSpPr>
          <p:nvPr/>
        </p:nvSpPr>
        <p:spPr bwMode="auto">
          <a:xfrm>
            <a:off x="428625" y="2428875"/>
            <a:ext cx="2057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fr-FR" sz="2400" b="1">
                <a:solidFill>
                  <a:srgbClr val="00B0F0"/>
                </a:solidFill>
                <a:latin typeface="Calibri" pitchFamily="34" charset="0"/>
              </a:rPr>
              <a:t>Objectifs </a:t>
            </a:r>
          </a:p>
        </p:txBody>
      </p:sp>
      <p:sp>
        <p:nvSpPr>
          <p:cNvPr id="53" name="Rectangle 52"/>
          <p:cNvSpPr>
            <a:spLocks noChangeArrowheads="1"/>
          </p:cNvSpPr>
          <p:nvPr/>
        </p:nvSpPr>
        <p:spPr bwMode="auto">
          <a:xfrm>
            <a:off x="3643313" y="3643313"/>
            <a:ext cx="17827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fr-FR" sz="2400" b="1">
                <a:solidFill>
                  <a:srgbClr val="ED7D31"/>
                </a:solidFill>
                <a:latin typeface="Calibri" pitchFamily="34" charset="0"/>
              </a:rPr>
              <a:t>Structure </a:t>
            </a:r>
          </a:p>
        </p:txBody>
      </p:sp>
      <p:sp>
        <p:nvSpPr>
          <p:cNvPr id="56" name="Rectangle 55"/>
          <p:cNvSpPr>
            <a:spLocks noChangeArrowheads="1"/>
          </p:cNvSpPr>
          <p:nvPr/>
        </p:nvSpPr>
        <p:spPr bwMode="auto">
          <a:xfrm>
            <a:off x="6143625" y="2286000"/>
            <a:ext cx="178276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fr-FR" sz="2400" b="1">
                <a:solidFill>
                  <a:srgbClr val="548235"/>
                </a:solidFill>
                <a:latin typeface="Calibri" pitchFamily="34" charset="0"/>
              </a:rPr>
              <a:t>Personnel </a:t>
            </a:r>
          </a:p>
        </p:txBody>
      </p:sp>
      <p:sp>
        <p:nvSpPr>
          <p:cNvPr id="12" name="Oval 11"/>
          <p:cNvSpPr>
            <a:spLocks noChangeAspect="1"/>
          </p:cNvSpPr>
          <p:nvPr/>
        </p:nvSpPr>
        <p:spPr>
          <a:xfrm>
            <a:off x="6000750" y="0"/>
            <a:ext cx="1706563" cy="2276475"/>
          </a:xfrm>
          <a:prstGeom prst="ellipse">
            <a:avLst/>
          </a:prstGeom>
          <a:blipFill>
            <a:blip r:embed="rId2" cstate="print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7" name="Oval 56"/>
          <p:cNvSpPr>
            <a:spLocks noChangeAspect="1"/>
          </p:cNvSpPr>
          <p:nvPr/>
        </p:nvSpPr>
        <p:spPr>
          <a:xfrm>
            <a:off x="3429000" y="1000125"/>
            <a:ext cx="1889125" cy="2519363"/>
          </a:xfrm>
          <a:prstGeom prst="ellipse">
            <a:avLst/>
          </a:prstGeom>
          <a:blipFill>
            <a:blip r:embed="rId3" cstate="print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8" name="Oval 57"/>
          <p:cNvSpPr>
            <a:spLocks noChangeAspect="1"/>
          </p:cNvSpPr>
          <p:nvPr/>
        </p:nvSpPr>
        <p:spPr>
          <a:xfrm>
            <a:off x="714375" y="214313"/>
            <a:ext cx="1700213" cy="2268537"/>
          </a:xfrm>
          <a:prstGeom prst="ellipse">
            <a:avLst/>
          </a:prstGeom>
          <a:blipFill>
            <a:blip r:embed="rId4" cstate="print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ZoneTexte 10"/>
          <p:cNvSpPr txBox="1"/>
          <p:nvPr/>
        </p:nvSpPr>
        <p:spPr>
          <a:xfrm>
            <a:off x="571500" y="4714875"/>
            <a:ext cx="7786688" cy="1016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2000" b="1" dirty="0">
                <a:solidFill>
                  <a:schemeClr val="tx2">
                    <a:lumMod val="75000"/>
                  </a:schemeClr>
                </a:solidFill>
                <a:latin typeface="Candara" panose="020E0502030303020204" pitchFamily="34" charset="0"/>
                <a:cs typeface="+mn-cs"/>
              </a:rPr>
              <a:t>Toute organisation sert </a:t>
            </a:r>
            <a:r>
              <a:rPr lang="fr-FR" sz="2000" b="1" dirty="0">
                <a:solidFill>
                  <a:srgbClr val="FF0000"/>
                </a:solidFill>
                <a:latin typeface="Candara" pitchFamily="34" charset="0"/>
                <a:cs typeface="+mn-cs"/>
              </a:rPr>
              <a:t>des objectifs précis</a:t>
            </a:r>
            <a:r>
              <a:rPr lang="fr-FR" sz="2000" b="1" dirty="0">
                <a:solidFill>
                  <a:schemeClr val="accent1"/>
                </a:solidFill>
                <a:latin typeface="Candara" pitchFamily="34" charset="0"/>
                <a:cs typeface="+mn-cs"/>
              </a:rPr>
              <a:t> </a:t>
            </a:r>
            <a:r>
              <a:rPr lang="fr-FR" sz="2000" b="1" dirty="0">
                <a:solidFill>
                  <a:schemeClr val="tx2">
                    <a:lumMod val="75000"/>
                  </a:schemeClr>
                </a:solidFill>
                <a:latin typeface="Candara" panose="020E0502030303020204" pitchFamily="34" charset="0"/>
                <a:cs typeface="+mn-cs"/>
              </a:rPr>
              <a:t>et se compose de </a:t>
            </a:r>
            <a:r>
              <a:rPr lang="fr-FR" sz="2000" b="1" dirty="0">
                <a:solidFill>
                  <a:srgbClr val="FF0000"/>
                </a:solidFill>
                <a:latin typeface="Candara" pitchFamily="34" charset="0"/>
                <a:cs typeface="+mn-cs"/>
              </a:rPr>
              <a:t>personnes réunies </a:t>
            </a:r>
            <a:r>
              <a:rPr lang="fr-FR" sz="2000" b="1" dirty="0">
                <a:solidFill>
                  <a:schemeClr val="tx2">
                    <a:lumMod val="75000"/>
                  </a:schemeClr>
                </a:solidFill>
                <a:latin typeface="Candara" panose="020E0502030303020204" pitchFamily="34" charset="0"/>
                <a:cs typeface="+mn-cs"/>
              </a:rPr>
              <a:t>d’une certaine façon et se dote </a:t>
            </a:r>
            <a:r>
              <a:rPr lang="fr-FR" sz="2000" b="1" dirty="0">
                <a:solidFill>
                  <a:srgbClr val="FF0000"/>
                </a:solidFill>
                <a:latin typeface="Candara" pitchFamily="34" charset="0"/>
                <a:cs typeface="+mn-cs"/>
              </a:rPr>
              <a:t>d’une structure </a:t>
            </a:r>
            <a:r>
              <a:rPr lang="fr-FR" sz="2000" b="1" dirty="0">
                <a:solidFill>
                  <a:schemeClr val="tx2">
                    <a:lumMod val="75000"/>
                  </a:schemeClr>
                </a:solidFill>
                <a:latin typeface="Candara" panose="020E0502030303020204" pitchFamily="34" charset="0"/>
                <a:cs typeface="+mn-cs"/>
              </a:rPr>
              <a:t>pour orienter le comportement de ses membres. 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8D1B80-BB9D-4647-99A6-5ADFF7161290}" type="slidenum">
              <a:rPr lang="en-US"/>
              <a:pPr>
                <a:defRPr/>
              </a:pPr>
              <a:t>4</a:t>
            </a:fld>
            <a:endParaRPr lang="en-US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3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367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98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98" tmFilter="0, 0; 0.125,0.2665; 0.25,0.4; 0.375,0.465; 0.5,0.5;  0.625,0.535; 0.75,0.6; 0.875,0.7335; 1,1">
                                          <p:stCondLst>
                                            <p:cond delay="498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49" tmFilter="0, 0; 0.125,0.2665; 0.25,0.4; 0.375,0.465; 0.5,0.5;  0.625,0.535; 0.75,0.6; 0.875,0.7335; 1,1">
                                          <p:stCondLst>
                                            <p:cond delay="993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23" tmFilter="0, 0; 0.125,0.2665; 0.25,0.4; 0.375,0.465; 0.5,0.5;  0.625,0.535; 0.75,0.6; 0.875,0.7335; 1,1">
                                          <p:stCondLst>
                                            <p:cond delay="1242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0">
                                          <p:stCondLst>
                                            <p:cond delay="487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24" decel="50000">
                                          <p:stCondLst>
                                            <p:cond delay="507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0">
                                          <p:stCondLst>
                                            <p:cond delay="984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24" decel="50000">
                                          <p:stCondLst>
                                            <p:cond delay="1004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0">
                                          <p:stCondLst>
                                            <p:cond delay="1231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24" decel="50000">
                                          <p:stCondLst>
                                            <p:cond delay="1251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0">
                                          <p:stCondLst>
                                            <p:cond delay="1356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24" decel="50000">
                                          <p:stCondLst>
                                            <p:cond delay="1376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43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367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98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98" tmFilter="0, 0; 0.125,0.2665; 0.25,0.4; 0.375,0.465; 0.5,0.5;  0.625,0.535; 0.75,0.6; 0.875,0.7335; 1,1">
                                          <p:stCondLst>
                                            <p:cond delay="498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49" tmFilter="0, 0; 0.125,0.2665; 0.25,0.4; 0.375,0.465; 0.5,0.5;  0.625,0.535; 0.75,0.6; 0.875,0.7335; 1,1">
                                          <p:stCondLst>
                                            <p:cond delay="993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23" tmFilter="0, 0; 0.125,0.2665; 0.25,0.4; 0.375,0.465; 0.5,0.5;  0.625,0.535; 0.75,0.6; 0.875,0.7335; 1,1">
                                          <p:stCondLst>
                                            <p:cond delay="1242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20">
                                          <p:stCondLst>
                                            <p:cond delay="487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" dur="124" decel="50000">
                                          <p:stCondLst>
                                            <p:cond delay="507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0">
                                          <p:stCondLst>
                                            <p:cond delay="984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" dur="124" decel="50000">
                                          <p:stCondLst>
                                            <p:cond delay="1004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0">
                                          <p:stCondLst>
                                            <p:cond delay="1231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8" dur="124" decel="50000">
                                          <p:stCondLst>
                                            <p:cond delay="1251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0">
                                          <p:stCondLst>
                                            <p:cond delay="1356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0" dur="124" decel="50000">
                                          <p:stCondLst>
                                            <p:cond delay="1376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43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367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498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498" tmFilter="0, 0; 0.125,0.2665; 0.25,0.4; 0.375,0.465; 0.5,0.5;  0.625,0.535; 0.75,0.6; 0.875,0.7335; 1,1">
                                          <p:stCondLst>
                                            <p:cond delay="49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49" tmFilter="0, 0; 0.125,0.2665; 0.25,0.4; 0.375,0.465; 0.5,0.5;  0.625,0.535; 0.75,0.6; 0.875,0.7335; 1,1">
                                          <p:stCondLst>
                                            <p:cond delay="993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23" tmFilter="0, 0; 0.125,0.2665; 0.25,0.4; 0.375,0.465; 0.5,0.5;  0.625,0.535; 0.75,0.6; 0.875,0.7335; 1,1">
                                          <p:stCondLst>
                                            <p:cond delay="12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0">
                                          <p:stCondLst>
                                            <p:cond delay="487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24" decel="50000">
                                          <p:stCondLst>
                                            <p:cond delay="507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0">
                                          <p:stCondLst>
                                            <p:cond delay="98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24" decel="50000">
                                          <p:stCondLst>
                                            <p:cond delay="100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0">
                                          <p:stCondLst>
                                            <p:cond delay="1231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24" decel="50000">
                                          <p:stCondLst>
                                            <p:cond delay="1251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0">
                                          <p:stCondLst>
                                            <p:cond delay="13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24" decel="50000">
                                          <p:stCondLst>
                                            <p:cond delay="13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3" grpId="0"/>
      <p:bldP spid="56" grpId="0"/>
      <p:bldP spid="12" grpId="0" animBg="1"/>
      <p:bldP spid="57" grpId="0" animBg="1"/>
      <p:bldP spid="5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46644B-828A-4D9F-8167-6D7CFFC1F3D3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pic>
        <p:nvPicPr>
          <p:cNvPr id="1026" name="Picture 2" descr="Icône D&amp;#39;homme Conception De Personne Dessin De Vecteur Illustration de  Vecteur - Illustration du dessin, forme: 7369701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034" y="500042"/>
            <a:ext cx="1500198" cy="1285884"/>
          </a:xfrm>
          <a:prstGeom prst="rect">
            <a:avLst/>
          </a:prstGeom>
          <a:noFill/>
        </p:spPr>
      </p:pic>
      <p:cxnSp>
        <p:nvCxnSpPr>
          <p:cNvPr id="5" name="Connecteur droit avec flèche 4"/>
          <p:cNvCxnSpPr/>
          <p:nvPr/>
        </p:nvCxnSpPr>
        <p:spPr>
          <a:xfrm>
            <a:off x="2071670" y="1428736"/>
            <a:ext cx="1428760" cy="1588"/>
          </a:xfrm>
          <a:prstGeom prst="straightConnector1">
            <a:avLst/>
          </a:prstGeom>
          <a:ln w="762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/>
          <p:cNvSpPr txBox="1"/>
          <p:nvPr/>
        </p:nvSpPr>
        <p:spPr>
          <a:xfrm>
            <a:off x="3643306" y="1214422"/>
            <a:ext cx="3926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0070C0"/>
                </a:solidFill>
                <a:latin typeface="Candara" pitchFamily="34" charset="0"/>
              </a:rPr>
              <a:t>Action individuelle : intérêt individuel </a:t>
            </a:r>
          </a:p>
        </p:txBody>
      </p:sp>
      <p:pic>
        <p:nvPicPr>
          <p:cNvPr id="1028" name="Picture 4" descr="Images Personne | Vecteurs, photos et PSD gratuits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5720" y="2071678"/>
            <a:ext cx="2546356" cy="2000265"/>
          </a:xfrm>
          <a:prstGeom prst="rect">
            <a:avLst/>
          </a:prstGeom>
          <a:noFill/>
        </p:spPr>
      </p:pic>
      <p:cxnSp>
        <p:nvCxnSpPr>
          <p:cNvPr id="8" name="Connecteur droit avec flèche 7"/>
          <p:cNvCxnSpPr/>
          <p:nvPr/>
        </p:nvCxnSpPr>
        <p:spPr>
          <a:xfrm>
            <a:off x="2786050" y="3071810"/>
            <a:ext cx="1214446" cy="1588"/>
          </a:xfrm>
          <a:prstGeom prst="straightConnector1">
            <a:avLst/>
          </a:prstGeom>
          <a:ln w="762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/>
          <p:cNvSpPr txBox="1"/>
          <p:nvPr/>
        </p:nvSpPr>
        <p:spPr>
          <a:xfrm>
            <a:off x="785786" y="285728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0070C0"/>
                </a:solidFill>
                <a:latin typeface="Candara" pitchFamily="34" charset="0"/>
              </a:rPr>
              <a:t>Individu 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928662" y="1928802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0070C0"/>
                </a:solidFill>
                <a:latin typeface="Candara" pitchFamily="34" charset="0"/>
              </a:rPr>
              <a:t>Groupe</a:t>
            </a:r>
            <a:r>
              <a:rPr lang="fr-FR" dirty="0"/>
              <a:t> </a:t>
            </a:r>
          </a:p>
        </p:txBody>
      </p:sp>
      <p:sp>
        <p:nvSpPr>
          <p:cNvPr id="12" name="Oval 57"/>
          <p:cNvSpPr>
            <a:spLocks noChangeAspect="1"/>
          </p:cNvSpPr>
          <p:nvPr/>
        </p:nvSpPr>
        <p:spPr>
          <a:xfrm>
            <a:off x="4357686" y="2643182"/>
            <a:ext cx="771546" cy="1029448"/>
          </a:xfrm>
          <a:prstGeom prst="ellipse">
            <a:avLst/>
          </a:prstGeom>
          <a:blipFill>
            <a:blip r:embed="rId5" cstate="print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ZoneTexte 12"/>
          <p:cNvSpPr txBox="1"/>
          <p:nvPr/>
        </p:nvSpPr>
        <p:spPr>
          <a:xfrm>
            <a:off x="3643306" y="3643314"/>
            <a:ext cx="1980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0070C0"/>
                </a:solidFill>
                <a:latin typeface="Candara" pitchFamily="34" charset="0"/>
              </a:rPr>
              <a:t>Objectif commun 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5214942" y="3143248"/>
            <a:ext cx="1428760" cy="1588"/>
          </a:xfrm>
          <a:prstGeom prst="straightConnector1">
            <a:avLst/>
          </a:prstGeom>
          <a:ln w="762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6643702" y="2928934"/>
            <a:ext cx="19287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0070C0"/>
                </a:solidFill>
                <a:latin typeface="Candara" pitchFamily="34" charset="0"/>
              </a:rPr>
              <a:t>Action collective :</a:t>
            </a:r>
          </a:p>
          <a:p>
            <a:r>
              <a:rPr lang="fr-FR" b="1" dirty="0">
                <a:solidFill>
                  <a:srgbClr val="0070C0"/>
                </a:solidFill>
                <a:latin typeface="Candara" pitchFamily="34" charset="0"/>
              </a:rPr>
              <a:t> Intérêt collectif  </a:t>
            </a:r>
          </a:p>
        </p:txBody>
      </p:sp>
      <p:pic>
        <p:nvPicPr>
          <p:cNvPr id="18" name="Picture 2" descr="RÃ©sultat de recherche d'images pour &quot;organisation&quot;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14348" y="4357694"/>
            <a:ext cx="2143139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ZoneTexte 21"/>
          <p:cNvSpPr txBox="1"/>
          <p:nvPr/>
        </p:nvSpPr>
        <p:spPr>
          <a:xfrm>
            <a:off x="3500430" y="4714884"/>
            <a:ext cx="243368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0070C0"/>
                </a:solidFill>
                <a:latin typeface="Candara" pitchFamily="34" charset="0"/>
              </a:rPr>
              <a:t>Action collective </a:t>
            </a:r>
          </a:p>
          <a:p>
            <a:r>
              <a:rPr lang="fr-FR" b="1" dirty="0">
                <a:solidFill>
                  <a:srgbClr val="0070C0"/>
                </a:solidFill>
                <a:latin typeface="Candara" pitchFamily="34" charset="0"/>
              </a:rPr>
              <a:t>durable </a:t>
            </a:r>
          </a:p>
          <a:p>
            <a:r>
              <a:rPr lang="fr-FR" b="1" dirty="0">
                <a:solidFill>
                  <a:srgbClr val="0070C0"/>
                </a:solidFill>
                <a:latin typeface="Candara" pitchFamily="34" charset="0"/>
              </a:rPr>
              <a:t>et organisée </a:t>
            </a:r>
          </a:p>
          <a:p>
            <a:r>
              <a:rPr lang="fr-FR" b="1" dirty="0">
                <a:solidFill>
                  <a:srgbClr val="0070C0"/>
                </a:solidFill>
                <a:latin typeface="Candara" pitchFamily="34" charset="0"/>
              </a:rPr>
              <a:t>Qui se dote d’un cadre </a:t>
            </a:r>
          </a:p>
          <a:p>
            <a:r>
              <a:rPr lang="fr-FR" b="1" dirty="0">
                <a:solidFill>
                  <a:srgbClr val="0070C0"/>
                </a:solidFill>
                <a:latin typeface="Candara" pitchFamily="34" charset="0"/>
              </a:rPr>
              <a:t>Juridique </a:t>
            </a:r>
          </a:p>
        </p:txBody>
      </p:sp>
      <p:cxnSp>
        <p:nvCxnSpPr>
          <p:cNvPr id="23" name="Connecteur droit avec flèche 22"/>
          <p:cNvCxnSpPr/>
          <p:nvPr/>
        </p:nvCxnSpPr>
        <p:spPr>
          <a:xfrm>
            <a:off x="2571736" y="4929198"/>
            <a:ext cx="857256" cy="1588"/>
          </a:xfrm>
          <a:prstGeom prst="straightConnector1">
            <a:avLst/>
          </a:prstGeom>
          <a:ln w="762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/>
          <p:cNvCxnSpPr/>
          <p:nvPr/>
        </p:nvCxnSpPr>
        <p:spPr>
          <a:xfrm>
            <a:off x="5429256" y="4929198"/>
            <a:ext cx="714380" cy="1588"/>
          </a:xfrm>
          <a:prstGeom prst="straightConnector1">
            <a:avLst/>
          </a:prstGeom>
          <a:ln w="762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ZoneTexte 26"/>
          <p:cNvSpPr txBox="1"/>
          <p:nvPr/>
        </p:nvSpPr>
        <p:spPr>
          <a:xfrm>
            <a:off x="6215074" y="4714884"/>
            <a:ext cx="278634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fr-FR" b="1" dirty="0">
                <a:solidFill>
                  <a:srgbClr val="0070C0"/>
                </a:solidFill>
                <a:latin typeface="Candara" pitchFamily="34" charset="0"/>
              </a:rPr>
              <a:t>Une entreprise privée</a:t>
            </a:r>
          </a:p>
          <a:p>
            <a:pPr algn="just"/>
            <a:r>
              <a:rPr lang="fr-FR" b="1" dirty="0">
                <a:solidFill>
                  <a:srgbClr val="0070C0"/>
                </a:solidFill>
                <a:latin typeface="Candara" pitchFamily="34" charset="0"/>
              </a:rPr>
              <a:t>Organisation publique </a:t>
            </a:r>
          </a:p>
          <a:p>
            <a:pPr algn="just"/>
            <a:r>
              <a:rPr lang="fr-FR" b="1" dirty="0">
                <a:solidFill>
                  <a:srgbClr val="0070C0"/>
                </a:solidFill>
                <a:latin typeface="Candara" pitchFamily="34" charset="0"/>
              </a:rPr>
              <a:t>Organisation de la société </a:t>
            </a:r>
          </a:p>
          <a:p>
            <a:pPr algn="just"/>
            <a:r>
              <a:rPr lang="fr-FR" b="1" dirty="0">
                <a:solidFill>
                  <a:srgbClr val="0070C0"/>
                </a:solidFill>
                <a:latin typeface="Candara" pitchFamily="34" charset="0"/>
              </a:rPr>
              <a:t>Civile (association , ONG, </a:t>
            </a:r>
          </a:p>
          <a:p>
            <a:pPr algn="just"/>
            <a:r>
              <a:rPr lang="fr-FR" b="1" dirty="0">
                <a:solidFill>
                  <a:srgbClr val="0070C0"/>
                </a:solidFill>
                <a:latin typeface="Candara" pitchFamily="34" charset="0"/>
              </a:rPr>
              <a:t>Fondation)</a:t>
            </a:r>
          </a:p>
        </p:txBody>
      </p:sp>
      <p:pic>
        <p:nvPicPr>
          <p:cNvPr id="29" name="Picture 15">
            <a:extLst>
              <a:ext uri="{FF2B5EF4-FFF2-40B4-BE49-F238E27FC236}">
                <a16:creationId xmlns:a16="http://schemas.microsoft.com/office/drawing/2014/main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460" y="0"/>
            <a:ext cx="3682540" cy="2146032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43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367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98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98" tmFilter="0, 0; 0.125,0.2665; 0.25,0.4; 0.375,0.465; 0.5,0.5;  0.625,0.535; 0.75,0.6; 0.875,0.7335; 1,1">
                                          <p:stCondLst>
                                            <p:cond delay="49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49" tmFilter="0, 0; 0.125,0.2665; 0.25,0.4; 0.375,0.465; 0.5,0.5;  0.625,0.535; 0.75,0.6; 0.875,0.7335; 1,1">
                                          <p:stCondLst>
                                            <p:cond delay="993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23" tmFilter="0, 0; 0.125,0.2665; 0.25,0.4; 0.375,0.465; 0.5,0.5;  0.625,0.535; 0.75,0.6; 0.875,0.7335; 1,1">
                                          <p:stCondLst>
                                            <p:cond delay="12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20">
                                          <p:stCondLst>
                                            <p:cond delay="487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124" decel="50000">
                                          <p:stCondLst>
                                            <p:cond delay="507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0">
                                          <p:stCondLst>
                                            <p:cond delay="98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124" decel="50000">
                                          <p:stCondLst>
                                            <p:cond delay="100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0">
                                          <p:stCondLst>
                                            <p:cond delay="1231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124" decel="50000">
                                          <p:stCondLst>
                                            <p:cond delay="1251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0">
                                          <p:stCondLst>
                                            <p:cond delay="13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124" decel="50000">
                                          <p:stCondLst>
                                            <p:cond delay="13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  <p:bldP spid="12" grpId="0" animBg="1"/>
      <p:bldP spid="13" grpId="0"/>
      <p:bldP spid="15" grpId="0"/>
      <p:bldP spid="22" grpId="0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RÃ©sultat de recherche d'images pour &quot;organisation&quot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7675" y="1196975"/>
            <a:ext cx="3432175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1500188" y="3357563"/>
            <a:ext cx="6643687" cy="1323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2000" b="1" dirty="0">
                <a:solidFill>
                  <a:schemeClr val="tx2">
                    <a:lumMod val="75000"/>
                  </a:schemeClr>
                </a:solidFill>
                <a:latin typeface="Candara" panose="020E0502030303020204" pitchFamily="34" charset="0"/>
                <a:cs typeface="+mn-cs"/>
              </a:rPr>
              <a:t>Un ensemble de </a:t>
            </a:r>
            <a:r>
              <a:rPr lang="fr-FR" sz="2000" b="1" dirty="0">
                <a:solidFill>
                  <a:srgbClr val="FF0000"/>
                </a:solidFill>
                <a:latin typeface="Candara" pitchFamily="34" charset="0"/>
                <a:cs typeface="+mn-cs"/>
              </a:rPr>
              <a:t>personnes rassemblées </a:t>
            </a:r>
            <a:r>
              <a:rPr lang="fr-FR" sz="2000" b="1" dirty="0">
                <a:solidFill>
                  <a:schemeClr val="tx2">
                    <a:lumMod val="75000"/>
                  </a:schemeClr>
                </a:solidFill>
                <a:latin typeface="Candara" panose="020E0502030303020204" pitchFamily="34" charset="0"/>
                <a:cs typeface="+mn-cs"/>
              </a:rPr>
              <a:t>afin d’atteindre </a:t>
            </a:r>
            <a:r>
              <a:rPr lang="fr-FR" sz="2000" b="1" dirty="0">
                <a:solidFill>
                  <a:srgbClr val="FF0000"/>
                </a:solidFill>
                <a:latin typeface="Candara" pitchFamily="34" charset="0"/>
                <a:cs typeface="+mn-cs"/>
              </a:rPr>
              <a:t>des objectifs </a:t>
            </a:r>
            <a:r>
              <a:rPr lang="fr-FR" sz="2000" b="1" dirty="0">
                <a:solidFill>
                  <a:schemeClr val="tx2">
                    <a:lumMod val="75000"/>
                  </a:schemeClr>
                </a:solidFill>
                <a:latin typeface="Candara" panose="020E0502030303020204" pitchFamily="34" charset="0"/>
                <a:cs typeface="+mn-cs"/>
              </a:rPr>
              <a:t>par une division du travail et des fonctions, grâce à </a:t>
            </a:r>
            <a:r>
              <a:rPr lang="fr-FR" sz="2000" b="1" dirty="0">
                <a:solidFill>
                  <a:srgbClr val="FF0000"/>
                </a:solidFill>
                <a:latin typeface="Candara" pitchFamily="34" charset="0"/>
                <a:cs typeface="+mn-cs"/>
              </a:rPr>
              <a:t>des modalités de coordination définies  </a:t>
            </a:r>
            <a:r>
              <a:rPr lang="fr-FR" sz="2000" b="1" dirty="0">
                <a:solidFill>
                  <a:schemeClr val="accent1"/>
                </a:solidFill>
                <a:latin typeface="Candara" pitchFamily="34" charset="0"/>
                <a:cs typeface="+mn-cs"/>
              </a:rPr>
              <a:t>(</a:t>
            </a:r>
            <a:r>
              <a:rPr lang="fr-FR" sz="2000" b="1" dirty="0" err="1">
                <a:solidFill>
                  <a:schemeClr val="accent1"/>
                </a:solidFill>
                <a:latin typeface="Candara" pitchFamily="34" charset="0"/>
                <a:cs typeface="+mn-cs"/>
              </a:rPr>
              <a:t>Brulhart</a:t>
            </a:r>
            <a:r>
              <a:rPr lang="fr-FR" sz="2000" b="1" dirty="0">
                <a:solidFill>
                  <a:schemeClr val="accent1"/>
                </a:solidFill>
                <a:latin typeface="Candara" pitchFamily="34" charset="0"/>
                <a:cs typeface="+mn-cs"/>
              </a:rPr>
              <a:t>,2014)</a:t>
            </a:r>
          </a:p>
        </p:txBody>
      </p:sp>
      <p:pic>
        <p:nvPicPr>
          <p:cNvPr id="4" name="Picture 4" descr="Image associÃ©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7250" y="3209925"/>
            <a:ext cx="465138" cy="50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17686D-4AC7-4CC2-9F91-3AE153652F56}" type="slidenum">
              <a:rPr lang="en-US"/>
              <a:pPr>
                <a:defRPr/>
              </a:pPr>
              <a:t>6</a:t>
            </a:fld>
            <a:endParaRPr lang="en-US" dirty="0"/>
          </a:p>
        </p:txBody>
      </p:sp>
      <p:pic>
        <p:nvPicPr>
          <p:cNvPr id="6" name="Picture 15">
            <a:extLst>
              <a:ext uri="{FF2B5EF4-FFF2-40B4-BE49-F238E27FC236}">
                <a16:creationId xmlns:a16="http://schemas.microsoft.com/office/drawing/2014/main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460" y="0"/>
            <a:ext cx="3682540" cy="2146032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46644B-828A-4D9F-8167-6D7CFFC1F3D3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pic>
        <p:nvPicPr>
          <p:cNvPr id="3" name="Picture Placeholder 9"/>
          <p:cNvPicPr>
            <a:picLocks noChangeAspect="1"/>
          </p:cNvPicPr>
          <p:nvPr/>
        </p:nvPicPr>
        <p:blipFill>
          <a:blip r:embed="rId2" cstate="print"/>
          <a:srcRect t="42" b="42"/>
          <a:stretch>
            <a:fillRect/>
          </a:stretch>
        </p:blipFill>
        <p:spPr>
          <a:xfrm>
            <a:off x="285720" y="2357430"/>
            <a:ext cx="1421516" cy="1894789"/>
          </a:xfrm>
          <a:prstGeom prst="ellipse">
            <a:avLst/>
          </a:prstGeom>
          <a:ln>
            <a:solidFill>
              <a:srgbClr val="3EB8CD"/>
            </a:solidFill>
          </a:ln>
        </p:spPr>
      </p:pic>
      <p:sp>
        <p:nvSpPr>
          <p:cNvPr id="4" name="Oval 67"/>
          <p:cNvSpPr/>
          <p:nvPr/>
        </p:nvSpPr>
        <p:spPr>
          <a:xfrm>
            <a:off x="1142976" y="1928802"/>
            <a:ext cx="687388" cy="915987"/>
          </a:xfrm>
          <a:prstGeom prst="ellipse">
            <a:avLst/>
          </a:prstGeom>
          <a:solidFill>
            <a:srgbClr val="3EB8CD"/>
          </a:solidFill>
          <a:ln w="190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3733" dirty="0">
              <a:solidFill>
                <a:schemeClr val="accent3">
                  <a:lumMod val="75000"/>
                </a:schemeClr>
              </a:solidFill>
              <a:latin typeface="FontAwesome" pitchFamily="2" charset="0"/>
            </a:endParaRPr>
          </a:p>
        </p:txBody>
      </p:sp>
      <p:sp>
        <p:nvSpPr>
          <p:cNvPr id="5" name="TextBox 66"/>
          <p:cNvSpPr txBox="1">
            <a:spLocks noChangeArrowheads="1"/>
          </p:cNvSpPr>
          <p:nvPr/>
        </p:nvSpPr>
        <p:spPr bwMode="auto">
          <a:xfrm>
            <a:off x="428596" y="500042"/>
            <a:ext cx="5643563" cy="862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fr-FR" sz="3200" b="1" dirty="0" err="1">
                <a:solidFill>
                  <a:srgbClr val="FF0000"/>
                </a:solidFill>
                <a:latin typeface="Baskerville Old Face" pitchFamily="18" charset="0"/>
              </a:rPr>
              <a:t>Qu’est</a:t>
            </a:r>
            <a:r>
              <a:rPr lang="en-US" altLang="fr-FR" sz="3200" b="1" dirty="0">
                <a:solidFill>
                  <a:srgbClr val="FF0000"/>
                </a:solidFill>
                <a:latin typeface="Baskerville Old Face" pitchFamily="18" charset="0"/>
              </a:rPr>
              <a:t> </a:t>
            </a:r>
            <a:r>
              <a:rPr lang="en-US" altLang="fr-FR" sz="3200" b="1" dirty="0" err="1">
                <a:solidFill>
                  <a:srgbClr val="FF0000"/>
                </a:solidFill>
                <a:latin typeface="Baskerville Old Face" pitchFamily="18" charset="0"/>
              </a:rPr>
              <a:t>ce</a:t>
            </a:r>
            <a:r>
              <a:rPr lang="en-US" altLang="fr-FR" sz="3200" b="1" dirty="0">
                <a:solidFill>
                  <a:srgbClr val="FF0000"/>
                </a:solidFill>
                <a:latin typeface="Baskerville Old Face" pitchFamily="18" charset="0"/>
              </a:rPr>
              <a:t> </a:t>
            </a:r>
            <a:r>
              <a:rPr lang="en-US" altLang="fr-FR" sz="3200" b="1" dirty="0" err="1">
                <a:solidFill>
                  <a:srgbClr val="FF0000"/>
                </a:solidFill>
                <a:latin typeface="Baskerville Old Face" pitchFamily="18" charset="0"/>
              </a:rPr>
              <a:t>qu’une</a:t>
            </a:r>
            <a:r>
              <a:rPr lang="en-US" altLang="fr-FR" sz="3200" b="1" dirty="0">
                <a:solidFill>
                  <a:srgbClr val="FF0000"/>
                </a:solidFill>
                <a:latin typeface="Baskerville Old Face" pitchFamily="18" charset="0"/>
              </a:rPr>
              <a:t> </a:t>
            </a:r>
            <a:r>
              <a:rPr lang="en-US" altLang="fr-FR" sz="3200" b="1" dirty="0" err="1">
                <a:solidFill>
                  <a:srgbClr val="FF0000"/>
                </a:solidFill>
                <a:latin typeface="Baskerville Old Face" pitchFamily="18" charset="0"/>
              </a:rPr>
              <a:t>entreprise</a:t>
            </a:r>
            <a:r>
              <a:rPr lang="en-US" altLang="fr-FR" sz="3200" b="1" dirty="0">
                <a:solidFill>
                  <a:srgbClr val="FF0000"/>
                </a:solidFill>
                <a:latin typeface="Baskerville Old Face" pitchFamily="18" charset="0"/>
              </a:rPr>
              <a:t> ? </a:t>
            </a:r>
          </a:p>
          <a:p>
            <a:pPr algn="r"/>
            <a:endParaRPr lang="en-US" altLang="fr-FR" dirty="0">
              <a:solidFill>
                <a:srgbClr val="56595E"/>
              </a:solidFill>
              <a:latin typeface="Candara" pitchFamily="34" charset="0"/>
            </a:endParaRPr>
          </a:p>
        </p:txBody>
      </p:sp>
      <p:pic>
        <p:nvPicPr>
          <p:cNvPr id="1028" name="Picture 4" descr="Résultat de recherche d'images pour &quot;niantic&quot;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57422" y="1921164"/>
            <a:ext cx="3012998" cy="1707157"/>
          </a:xfrm>
          <a:prstGeom prst="rect">
            <a:avLst/>
          </a:prstGeom>
          <a:noFill/>
        </p:spPr>
      </p:pic>
      <p:pic>
        <p:nvPicPr>
          <p:cNvPr id="8" name="Picture 8" descr="Image associÃ©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85984" y="4500570"/>
            <a:ext cx="2960682" cy="14878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5643570" y="2357430"/>
            <a:ext cx="3000396" cy="9286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002060"/>
                </a:solidFill>
                <a:latin typeface="Candara" pitchFamily="34" charset="0"/>
              </a:rPr>
              <a:t>But lucratif  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00694" y="5000636"/>
            <a:ext cx="3000396" cy="9286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002060"/>
                </a:solidFill>
                <a:latin typeface="Candara" pitchFamily="34" charset="0"/>
              </a:rPr>
              <a:t>But non lucratif  </a:t>
            </a:r>
          </a:p>
        </p:txBody>
      </p:sp>
      <p:sp>
        <p:nvSpPr>
          <p:cNvPr id="11" name="Isosceles Triangle 46">
            <a:extLst>
              <a:ext uri="{FF2B5EF4-FFF2-40B4-BE49-F238E27FC236}">
                <a16:creationId xmlns:a16="http://schemas.microsoft.com/office/drawing/2014/main" id="{295CE181-88D7-4815-BC0F-BC87C9322824}"/>
              </a:ext>
            </a:extLst>
          </p:cNvPr>
          <p:cNvSpPr/>
          <p:nvPr/>
        </p:nvSpPr>
        <p:spPr>
          <a:xfrm rot="5400000">
            <a:off x="-31494" y="674412"/>
            <a:ext cx="510899" cy="447911"/>
          </a:xfrm>
          <a:prstGeom prst="triangl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5">
            <a:extLst>
              <a:ext uri="{FF2B5EF4-FFF2-40B4-BE49-F238E27FC236}">
                <a16:creationId xmlns:a16="http://schemas.microsoft.com/office/drawing/2014/main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460" y="-36946"/>
            <a:ext cx="3682540" cy="2146032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9" grpId="0" animBg="1"/>
      <p:bldP spid="10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071935" y="1785927"/>
            <a:ext cx="5072066" cy="1387797"/>
            <a:chOff x="6414487" y="1849045"/>
            <a:chExt cx="4988526" cy="925494"/>
          </a:xfrm>
        </p:grpSpPr>
        <p:sp>
          <p:nvSpPr>
            <p:cNvPr id="31" name="TextBox 30"/>
            <p:cNvSpPr txBox="1"/>
            <p:nvPr/>
          </p:nvSpPr>
          <p:spPr>
            <a:xfrm>
              <a:off x="6414487" y="1849045"/>
              <a:ext cx="2226673" cy="3899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 err="1">
                  <a:solidFill>
                    <a:schemeClr val="tx2">
                      <a:lumMod val="75000"/>
                    </a:schemeClr>
                  </a:solidFill>
                  <a:latin typeface="Candara" pitchFamily="34" charset="0"/>
                  <a:ea typeface="Roboto Light" panose="02000000000000000000" pitchFamily="2" charset="0"/>
                </a:rPr>
                <a:t>Activité</a:t>
              </a:r>
              <a:r>
                <a:rPr lang="en-US" sz="3200" b="1" dirty="0">
                  <a:solidFill>
                    <a:schemeClr val="tx2">
                      <a:lumMod val="75000"/>
                    </a:schemeClr>
                  </a:solidFill>
                  <a:latin typeface="Candara" pitchFamily="34" charset="0"/>
                  <a:ea typeface="Roboto Light" panose="02000000000000000000" pitchFamily="2" charset="0"/>
                </a:rPr>
                <a:t> 1 :</a:t>
              </a:r>
              <a:endParaRPr lang="ru-RU" sz="32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  <a:ea typeface="Roboto Light" panose="02000000000000000000" pitchFamily="2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414490" y="2343514"/>
              <a:ext cx="4988523" cy="4310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ct val="20000"/>
                </a:spcBef>
                <a:defRPr/>
              </a:pPr>
              <a:r>
                <a:rPr lang="en-US" sz="3600" b="1" dirty="0" err="1">
                  <a:solidFill>
                    <a:schemeClr val="tx2">
                      <a:lumMod val="75000"/>
                    </a:schemeClr>
                  </a:solidFill>
                  <a:latin typeface="Candara" pitchFamily="34" charset="0"/>
                  <a:ea typeface="Roboto Light" panose="02000000000000000000" pitchFamily="2" charset="0"/>
                </a:rPr>
                <a:t>Jeu</a:t>
              </a:r>
              <a:r>
                <a:rPr lang="en-US" sz="3600" b="1" dirty="0">
                  <a:solidFill>
                    <a:schemeClr val="tx2">
                      <a:lumMod val="75000"/>
                    </a:schemeClr>
                  </a:solidFill>
                  <a:latin typeface="Candara" pitchFamily="34" charset="0"/>
                  <a:ea typeface="Roboto Light" panose="02000000000000000000" pitchFamily="2" charset="0"/>
                </a:rPr>
                <a:t> des 4 </a:t>
              </a:r>
              <a:r>
                <a:rPr lang="en-US" sz="3600" b="1" dirty="0" err="1">
                  <a:solidFill>
                    <a:schemeClr val="tx2">
                      <a:lumMod val="75000"/>
                    </a:schemeClr>
                  </a:solidFill>
                  <a:latin typeface="Candara" pitchFamily="34" charset="0"/>
                  <a:ea typeface="Roboto Light" panose="02000000000000000000" pitchFamily="2" charset="0"/>
                </a:rPr>
                <a:t>familles</a:t>
              </a:r>
              <a:r>
                <a:rPr lang="en-US" sz="3600" b="1" dirty="0">
                  <a:solidFill>
                    <a:schemeClr val="tx2">
                      <a:lumMod val="75000"/>
                    </a:schemeClr>
                  </a:solidFill>
                  <a:latin typeface="Candara" pitchFamily="34" charset="0"/>
                  <a:ea typeface="Roboto Light" panose="02000000000000000000" pitchFamily="2" charset="0"/>
                </a:rPr>
                <a:t>  !!!  </a:t>
              </a:r>
            </a:p>
          </p:txBody>
        </p:sp>
      </p:grpSp>
      <p:grpSp>
        <p:nvGrpSpPr>
          <p:cNvPr id="3" name="Group 4"/>
          <p:cNvGrpSpPr/>
          <p:nvPr/>
        </p:nvGrpSpPr>
        <p:grpSpPr>
          <a:xfrm>
            <a:off x="928662" y="1500174"/>
            <a:ext cx="2304011" cy="4066253"/>
            <a:chOff x="917378" y="1693550"/>
            <a:chExt cx="3072015" cy="4066253"/>
          </a:xfrm>
        </p:grpSpPr>
        <p:sp>
          <p:nvSpPr>
            <p:cNvPr id="38" name="Shape 2180"/>
            <p:cNvSpPr/>
            <p:nvPr/>
          </p:nvSpPr>
          <p:spPr>
            <a:xfrm>
              <a:off x="1439040" y="1796893"/>
              <a:ext cx="889593" cy="8893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8" h="19678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bg1"/>
            </a:solidFill>
            <a:ln w="12700" cap="flat">
              <a:solidFill>
                <a:schemeClr val="accent1"/>
              </a:solidFill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lvl="0" algn="l" defTabSz="455612">
                <a:defRPr sz="1800">
                  <a:solidFill>
                    <a:srgbClr val="070707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39" name="Shape 2181"/>
            <p:cNvSpPr/>
            <p:nvPr/>
          </p:nvSpPr>
          <p:spPr>
            <a:xfrm>
              <a:off x="917378" y="2380512"/>
              <a:ext cx="2320078" cy="33792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50" h="21276" extrusionOk="0">
                  <a:moveTo>
                    <a:pt x="15139" y="153"/>
                  </a:moveTo>
                  <a:lnTo>
                    <a:pt x="10554" y="2666"/>
                  </a:lnTo>
                  <a:lnTo>
                    <a:pt x="8420" y="2691"/>
                  </a:lnTo>
                  <a:lnTo>
                    <a:pt x="9880" y="2576"/>
                  </a:lnTo>
                  <a:cubicBezTo>
                    <a:pt x="9292" y="2366"/>
                    <a:pt x="8640" y="2257"/>
                    <a:pt x="7977" y="2256"/>
                  </a:cubicBezTo>
                  <a:cubicBezTo>
                    <a:pt x="7299" y="2256"/>
                    <a:pt x="6632" y="2371"/>
                    <a:pt x="6033" y="2590"/>
                  </a:cubicBezTo>
                  <a:cubicBezTo>
                    <a:pt x="5847" y="2669"/>
                    <a:pt x="5686" y="2774"/>
                    <a:pt x="5559" y="2897"/>
                  </a:cubicBezTo>
                  <a:cubicBezTo>
                    <a:pt x="5268" y="3179"/>
                    <a:pt x="5183" y="3522"/>
                    <a:pt x="5134" y="3855"/>
                  </a:cubicBezTo>
                  <a:cubicBezTo>
                    <a:pt x="5083" y="4197"/>
                    <a:pt x="5069" y="4546"/>
                    <a:pt x="5094" y="4899"/>
                  </a:cubicBezTo>
                  <a:lnTo>
                    <a:pt x="5880" y="14818"/>
                  </a:lnTo>
                  <a:lnTo>
                    <a:pt x="591" y="18707"/>
                  </a:lnTo>
                  <a:cubicBezTo>
                    <a:pt x="-161" y="19253"/>
                    <a:pt x="-200" y="20099"/>
                    <a:pt x="500" y="20677"/>
                  </a:cubicBezTo>
                  <a:cubicBezTo>
                    <a:pt x="1276" y="21318"/>
                    <a:pt x="2661" y="21405"/>
                    <a:pt x="3592" y="20871"/>
                  </a:cubicBezTo>
                  <a:lnTo>
                    <a:pt x="9585" y="16419"/>
                  </a:lnTo>
                  <a:cubicBezTo>
                    <a:pt x="9810" y="16257"/>
                    <a:pt x="9989" y="16067"/>
                    <a:pt x="10111" y="15859"/>
                  </a:cubicBezTo>
                  <a:cubicBezTo>
                    <a:pt x="10235" y="15649"/>
                    <a:pt x="10300" y="15425"/>
                    <a:pt x="10302" y="15198"/>
                  </a:cubicBezTo>
                  <a:lnTo>
                    <a:pt x="10408" y="12572"/>
                  </a:lnTo>
                  <a:lnTo>
                    <a:pt x="10862" y="12365"/>
                  </a:lnTo>
                  <a:cubicBezTo>
                    <a:pt x="11063" y="12280"/>
                    <a:pt x="11241" y="12172"/>
                    <a:pt x="11387" y="12045"/>
                  </a:cubicBezTo>
                  <a:cubicBezTo>
                    <a:pt x="11527" y="11923"/>
                    <a:pt x="11636" y="11787"/>
                    <a:pt x="11710" y="11641"/>
                  </a:cubicBezTo>
                  <a:lnTo>
                    <a:pt x="12674" y="9915"/>
                  </a:lnTo>
                  <a:lnTo>
                    <a:pt x="11917" y="11736"/>
                  </a:lnTo>
                  <a:cubicBezTo>
                    <a:pt x="11847" y="11880"/>
                    <a:pt x="11742" y="12015"/>
                    <a:pt x="11605" y="12135"/>
                  </a:cubicBezTo>
                  <a:cubicBezTo>
                    <a:pt x="11462" y="12261"/>
                    <a:pt x="11287" y="12368"/>
                    <a:pt x="11089" y="12451"/>
                  </a:cubicBezTo>
                  <a:lnTo>
                    <a:pt x="10671" y="12648"/>
                  </a:lnTo>
                  <a:lnTo>
                    <a:pt x="14607" y="14752"/>
                  </a:lnTo>
                  <a:lnTo>
                    <a:pt x="16850" y="20281"/>
                  </a:lnTo>
                  <a:cubicBezTo>
                    <a:pt x="17307" y="21070"/>
                    <a:pt x="18592" y="21469"/>
                    <a:pt x="19755" y="21183"/>
                  </a:cubicBezTo>
                  <a:cubicBezTo>
                    <a:pt x="20783" y="20930"/>
                    <a:pt x="21400" y="20208"/>
                    <a:pt x="21219" y="19468"/>
                  </a:cubicBezTo>
                  <a:lnTo>
                    <a:pt x="18564" y="13517"/>
                  </a:lnTo>
                  <a:cubicBezTo>
                    <a:pt x="18484" y="13324"/>
                    <a:pt x="18361" y="13141"/>
                    <a:pt x="18198" y="12974"/>
                  </a:cubicBezTo>
                  <a:cubicBezTo>
                    <a:pt x="18060" y="12834"/>
                    <a:pt x="17897" y="12708"/>
                    <a:pt x="17711" y="12598"/>
                  </a:cubicBezTo>
                  <a:lnTo>
                    <a:pt x="12806" y="9592"/>
                  </a:lnTo>
                  <a:lnTo>
                    <a:pt x="12168" y="4943"/>
                  </a:lnTo>
                  <a:lnTo>
                    <a:pt x="12599" y="6696"/>
                  </a:lnTo>
                  <a:lnTo>
                    <a:pt x="13014" y="6844"/>
                  </a:lnTo>
                  <a:cubicBezTo>
                    <a:pt x="13142" y="6874"/>
                    <a:pt x="13274" y="6896"/>
                    <a:pt x="13407" y="6911"/>
                  </a:cubicBezTo>
                  <a:cubicBezTo>
                    <a:pt x="13587" y="6930"/>
                    <a:pt x="13769" y="6934"/>
                    <a:pt x="13950" y="6923"/>
                  </a:cubicBezTo>
                  <a:lnTo>
                    <a:pt x="19601" y="6672"/>
                  </a:lnTo>
                  <a:cubicBezTo>
                    <a:pt x="20440" y="6578"/>
                    <a:pt x="21026" y="6051"/>
                    <a:pt x="20937" y="5470"/>
                  </a:cubicBezTo>
                  <a:cubicBezTo>
                    <a:pt x="20848" y="4885"/>
                    <a:pt x="20105" y="4451"/>
                    <a:pt x="19250" y="4484"/>
                  </a:cubicBezTo>
                  <a:lnTo>
                    <a:pt x="14113" y="4776"/>
                  </a:lnTo>
                  <a:lnTo>
                    <a:pt x="13074" y="4140"/>
                  </a:lnTo>
                  <a:lnTo>
                    <a:pt x="12521" y="4445"/>
                  </a:lnTo>
                  <a:cubicBezTo>
                    <a:pt x="12361" y="4505"/>
                    <a:pt x="12192" y="4553"/>
                    <a:pt x="12017" y="4588"/>
                  </a:cubicBezTo>
                  <a:cubicBezTo>
                    <a:pt x="11788" y="4635"/>
                    <a:pt x="11551" y="4659"/>
                    <a:pt x="11312" y="4660"/>
                  </a:cubicBezTo>
                  <a:lnTo>
                    <a:pt x="10129" y="4744"/>
                  </a:lnTo>
                  <a:lnTo>
                    <a:pt x="11322" y="4611"/>
                  </a:lnTo>
                  <a:cubicBezTo>
                    <a:pt x="11528" y="4586"/>
                    <a:pt x="11730" y="4549"/>
                    <a:pt x="11926" y="4499"/>
                  </a:cubicBezTo>
                  <a:cubicBezTo>
                    <a:pt x="12100" y="4454"/>
                    <a:pt x="12268" y="4399"/>
                    <a:pt x="12429" y="4335"/>
                  </a:cubicBezTo>
                  <a:lnTo>
                    <a:pt x="16883" y="2016"/>
                  </a:lnTo>
                  <a:cubicBezTo>
                    <a:pt x="17624" y="1648"/>
                    <a:pt x="17778" y="933"/>
                    <a:pt x="17225" y="433"/>
                  </a:cubicBezTo>
                  <a:cubicBezTo>
                    <a:pt x="16734" y="-11"/>
                    <a:pt x="15837" y="-131"/>
                    <a:pt x="15139" y="153"/>
                  </a:cubicBezTo>
                  <a:close/>
                </a:path>
              </a:pathLst>
            </a:custGeom>
            <a:solidFill>
              <a:schemeClr val="bg1"/>
            </a:solidFill>
            <a:ln w="12700" cap="flat">
              <a:solidFill>
                <a:schemeClr val="accent1"/>
              </a:solidFill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lvl="0" algn="l" defTabSz="455612">
                <a:defRPr sz="1800">
                  <a:solidFill>
                    <a:srgbClr val="070707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40" name="Shape 2182"/>
            <p:cNvSpPr/>
            <p:nvPr/>
          </p:nvSpPr>
          <p:spPr>
            <a:xfrm>
              <a:off x="2583420" y="1693550"/>
              <a:ext cx="1405973" cy="15863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5" h="21458" extrusionOk="0">
                  <a:moveTo>
                    <a:pt x="14768" y="0"/>
                  </a:moveTo>
                  <a:cubicBezTo>
                    <a:pt x="11682" y="279"/>
                    <a:pt x="8751" y="1325"/>
                    <a:pt x="6316" y="3018"/>
                  </a:cubicBezTo>
                  <a:cubicBezTo>
                    <a:pt x="3974" y="4646"/>
                    <a:pt x="2184" y="6809"/>
                    <a:pt x="1141" y="9271"/>
                  </a:cubicBezTo>
                  <a:cubicBezTo>
                    <a:pt x="2104" y="9290"/>
                    <a:pt x="2984" y="9759"/>
                    <a:pt x="3451" y="10501"/>
                  </a:cubicBezTo>
                  <a:cubicBezTo>
                    <a:pt x="4024" y="11411"/>
                    <a:pt x="3878" y="12542"/>
                    <a:pt x="3086" y="13315"/>
                  </a:cubicBezTo>
                  <a:lnTo>
                    <a:pt x="0" y="15442"/>
                  </a:lnTo>
                  <a:lnTo>
                    <a:pt x="4923" y="15200"/>
                  </a:lnTo>
                  <a:cubicBezTo>
                    <a:pt x="5306" y="15206"/>
                    <a:pt x="5677" y="15267"/>
                    <a:pt x="6024" y="15374"/>
                  </a:cubicBezTo>
                  <a:cubicBezTo>
                    <a:pt x="6371" y="15481"/>
                    <a:pt x="6711" y="15640"/>
                    <a:pt x="6954" y="15902"/>
                  </a:cubicBezTo>
                  <a:cubicBezTo>
                    <a:pt x="7352" y="16332"/>
                    <a:pt x="7393" y="16938"/>
                    <a:pt x="7056" y="17405"/>
                  </a:cubicBezTo>
                  <a:cubicBezTo>
                    <a:pt x="6814" y="17687"/>
                    <a:pt x="6637" y="18007"/>
                    <a:pt x="6534" y="18348"/>
                  </a:cubicBezTo>
                  <a:cubicBezTo>
                    <a:pt x="6441" y="18655"/>
                    <a:pt x="6409" y="18974"/>
                    <a:pt x="6440" y="19291"/>
                  </a:cubicBezTo>
                  <a:cubicBezTo>
                    <a:pt x="6624" y="20412"/>
                    <a:pt x="7633" y="21288"/>
                    <a:pt x="8908" y="21436"/>
                  </a:cubicBezTo>
                  <a:cubicBezTo>
                    <a:pt x="10328" y="21600"/>
                    <a:pt x="11673" y="20831"/>
                    <a:pt x="12079" y="19622"/>
                  </a:cubicBezTo>
                  <a:cubicBezTo>
                    <a:pt x="12197" y="19191"/>
                    <a:pt x="12191" y="18740"/>
                    <a:pt x="12062" y="18311"/>
                  </a:cubicBezTo>
                  <a:cubicBezTo>
                    <a:pt x="11962" y="17978"/>
                    <a:pt x="11789" y="17666"/>
                    <a:pt x="11554" y="17390"/>
                  </a:cubicBezTo>
                  <a:cubicBezTo>
                    <a:pt x="11216" y="16965"/>
                    <a:pt x="11162" y="16414"/>
                    <a:pt x="11412" y="15944"/>
                  </a:cubicBezTo>
                  <a:cubicBezTo>
                    <a:pt x="11706" y="15392"/>
                    <a:pt x="12355" y="15058"/>
                    <a:pt x="13045" y="15102"/>
                  </a:cubicBezTo>
                  <a:lnTo>
                    <a:pt x="15810" y="15677"/>
                  </a:lnTo>
                  <a:lnTo>
                    <a:pt x="16049" y="14612"/>
                  </a:lnTo>
                  <a:cubicBezTo>
                    <a:pt x="15557" y="13797"/>
                    <a:pt x="15190" y="12927"/>
                    <a:pt x="14958" y="12027"/>
                  </a:cubicBezTo>
                  <a:cubicBezTo>
                    <a:pt x="14730" y="11140"/>
                    <a:pt x="14635" y="10231"/>
                    <a:pt x="14674" y="9322"/>
                  </a:cubicBezTo>
                  <a:cubicBezTo>
                    <a:pt x="14713" y="8979"/>
                    <a:pt x="14902" y="8663"/>
                    <a:pt x="15203" y="8441"/>
                  </a:cubicBezTo>
                  <a:cubicBezTo>
                    <a:pt x="15695" y="8077"/>
                    <a:pt x="16391" y="8018"/>
                    <a:pt x="16954" y="8292"/>
                  </a:cubicBezTo>
                  <a:cubicBezTo>
                    <a:pt x="17187" y="8445"/>
                    <a:pt x="17436" y="8578"/>
                    <a:pt x="17696" y="8690"/>
                  </a:cubicBezTo>
                  <a:cubicBezTo>
                    <a:pt x="17915" y="8785"/>
                    <a:pt x="18143" y="8864"/>
                    <a:pt x="18380" y="8912"/>
                  </a:cubicBezTo>
                  <a:cubicBezTo>
                    <a:pt x="18952" y="9030"/>
                    <a:pt x="19554" y="8967"/>
                    <a:pt x="20079" y="8734"/>
                  </a:cubicBezTo>
                  <a:cubicBezTo>
                    <a:pt x="21011" y="8266"/>
                    <a:pt x="21589" y="7396"/>
                    <a:pt x="21595" y="6452"/>
                  </a:cubicBezTo>
                  <a:cubicBezTo>
                    <a:pt x="21600" y="5680"/>
                    <a:pt x="21217" y="4947"/>
                    <a:pt x="20548" y="4448"/>
                  </a:cubicBezTo>
                  <a:cubicBezTo>
                    <a:pt x="20044" y="4129"/>
                    <a:pt x="19435" y="3967"/>
                    <a:pt x="18815" y="3986"/>
                  </a:cubicBezTo>
                  <a:cubicBezTo>
                    <a:pt x="18253" y="4004"/>
                    <a:pt x="17711" y="4171"/>
                    <a:pt x="17260" y="4465"/>
                  </a:cubicBezTo>
                  <a:cubicBezTo>
                    <a:pt x="16658" y="4811"/>
                    <a:pt x="15876" y="4793"/>
                    <a:pt x="15297" y="4418"/>
                  </a:cubicBezTo>
                  <a:cubicBezTo>
                    <a:pt x="14878" y="4147"/>
                    <a:pt x="14626" y="3721"/>
                    <a:pt x="14614" y="3264"/>
                  </a:cubicBezTo>
                  <a:lnTo>
                    <a:pt x="14768" y="0"/>
                  </a:lnTo>
                  <a:close/>
                </a:path>
              </a:pathLst>
            </a:cu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lvl="0" algn="l" defTabSz="455612">
                <a:defRPr sz="1800">
                  <a:solidFill>
                    <a:srgbClr val="070707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2214546" y="1500174"/>
            <a:ext cx="1633685" cy="3418171"/>
            <a:chOff x="3196499" y="2217615"/>
            <a:chExt cx="2178247" cy="3418171"/>
          </a:xfrm>
        </p:grpSpPr>
        <p:sp>
          <p:nvSpPr>
            <p:cNvPr id="36" name="Shape 2178"/>
            <p:cNvSpPr/>
            <p:nvPr/>
          </p:nvSpPr>
          <p:spPr>
            <a:xfrm>
              <a:off x="3938675" y="4782484"/>
              <a:ext cx="637136" cy="7049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18603"/>
                  </a:lnTo>
                  <a:lnTo>
                    <a:pt x="3317" y="21600"/>
                  </a:lnTo>
                  <a:lnTo>
                    <a:pt x="18095" y="21600"/>
                  </a:lnTo>
                  <a:lnTo>
                    <a:pt x="21600" y="18432"/>
                  </a:lnTo>
                  <a:lnTo>
                    <a:pt x="21600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7ABB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lvl="0" defTabSz="825500">
                <a:defRPr sz="320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37" name="Shape 2179"/>
            <p:cNvSpPr/>
            <p:nvPr/>
          </p:nvSpPr>
          <p:spPr>
            <a:xfrm>
              <a:off x="3806816" y="4537747"/>
              <a:ext cx="915351" cy="291882"/>
            </a:xfrm>
            <a:prstGeom prst="roundRect">
              <a:avLst>
                <a:gd name="adj" fmla="val 35919"/>
              </a:avLst>
            </a:prstGeom>
            <a:solidFill>
              <a:srgbClr val="A7ABB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lvl="0" defTabSz="825500">
                <a:defRPr sz="3200"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41" name="Shape 2183"/>
            <p:cNvSpPr/>
            <p:nvPr/>
          </p:nvSpPr>
          <p:spPr>
            <a:xfrm>
              <a:off x="4177346" y="2217615"/>
              <a:ext cx="1197400" cy="11463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4" h="21119" extrusionOk="0">
                  <a:moveTo>
                    <a:pt x="160" y="104"/>
                  </a:moveTo>
                  <a:lnTo>
                    <a:pt x="1" y="4052"/>
                  </a:lnTo>
                  <a:cubicBezTo>
                    <a:pt x="-7" y="4404"/>
                    <a:pt x="39" y="4740"/>
                    <a:pt x="129" y="5058"/>
                  </a:cubicBezTo>
                  <a:cubicBezTo>
                    <a:pt x="208" y="5333"/>
                    <a:pt x="325" y="5616"/>
                    <a:pt x="569" y="5794"/>
                  </a:cubicBezTo>
                  <a:cubicBezTo>
                    <a:pt x="1209" y="6259"/>
                    <a:pt x="1949" y="5684"/>
                    <a:pt x="2629" y="5313"/>
                  </a:cubicBezTo>
                  <a:cubicBezTo>
                    <a:pt x="2861" y="5186"/>
                    <a:pt x="3107" y="5086"/>
                    <a:pt x="3362" y="5016"/>
                  </a:cubicBezTo>
                  <a:cubicBezTo>
                    <a:pt x="5496" y="4484"/>
                    <a:pt x="7636" y="5868"/>
                    <a:pt x="8093" y="8076"/>
                  </a:cubicBezTo>
                  <a:cubicBezTo>
                    <a:pt x="8528" y="10173"/>
                    <a:pt x="7265" y="12246"/>
                    <a:pt x="5240" y="12761"/>
                  </a:cubicBezTo>
                  <a:cubicBezTo>
                    <a:pt x="4654" y="12914"/>
                    <a:pt x="4042" y="12925"/>
                    <a:pt x="3451" y="12793"/>
                  </a:cubicBezTo>
                  <a:cubicBezTo>
                    <a:pt x="3032" y="12700"/>
                    <a:pt x="2632" y="12536"/>
                    <a:pt x="2265" y="12308"/>
                  </a:cubicBezTo>
                  <a:cubicBezTo>
                    <a:pt x="1811" y="11919"/>
                    <a:pt x="1163" y="11880"/>
                    <a:pt x="667" y="12211"/>
                  </a:cubicBezTo>
                  <a:cubicBezTo>
                    <a:pt x="240" y="12497"/>
                    <a:pt x="10" y="13009"/>
                    <a:pt x="75" y="13529"/>
                  </a:cubicBezTo>
                  <a:cubicBezTo>
                    <a:pt x="95" y="14568"/>
                    <a:pt x="216" y="15603"/>
                    <a:pt x="436" y="16617"/>
                  </a:cubicBezTo>
                  <a:cubicBezTo>
                    <a:pt x="679" y="17735"/>
                    <a:pt x="1041" y="18822"/>
                    <a:pt x="1515" y="19858"/>
                  </a:cubicBezTo>
                  <a:lnTo>
                    <a:pt x="8609" y="21077"/>
                  </a:lnTo>
                  <a:cubicBezTo>
                    <a:pt x="8838" y="21129"/>
                    <a:pt x="9067" y="21131"/>
                    <a:pt x="9285" y="21090"/>
                  </a:cubicBezTo>
                  <a:cubicBezTo>
                    <a:pt x="9367" y="21074"/>
                    <a:pt x="9447" y="21053"/>
                    <a:pt x="9526" y="21024"/>
                  </a:cubicBezTo>
                  <a:cubicBezTo>
                    <a:pt x="9604" y="20995"/>
                    <a:pt x="9679" y="20958"/>
                    <a:pt x="9749" y="20913"/>
                  </a:cubicBezTo>
                  <a:cubicBezTo>
                    <a:pt x="9942" y="20788"/>
                    <a:pt x="10091" y="20596"/>
                    <a:pt x="10180" y="20365"/>
                  </a:cubicBezTo>
                  <a:cubicBezTo>
                    <a:pt x="10469" y="19621"/>
                    <a:pt x="10057" y="18873"/>
                    <a:pt x="9804" y="18157"/>
                  </a:cubicBezTo>
                  <a:cubicBezTo>
                    <a:pt x="9643" y="17702"/>
                    <a:pt x="9540" y="17226"/>
                    <a:pt x="9500" y="16737"/>
                  </a:cubicBezTo>
                  <a:cubicBezTo>
                    <a:pt x="9365" y="15414"/>
                    <a:pt x="9896" y="14111"/>
                    <a:pt x="10910" y="13283"/>
                  </a:cubicBezTo>
                  <a:cubicBezTo>
                    <a:pt x="11674" y="12658"/>
                    <a:pt x="12647" y="12367"/>
                    <a:pt x="13619" y="12473"/>
                  </a:cubicBezTo>
                  <a:cubicBezTo>
                    <a:pt x="14755" y="12578"/>
                    <a:pt x="15790" y="13189"/>
                    <a:pt x="16452" y="14144"/>
                  </a:cubicBezTo>
                  <a:cubicBezTo>
                    <a:pt x="17056" y="15017"/>
                    <a:pt x="17295" y="16103"/>
                    <a:pt x="17115" y="17158"/>
                  </a:cubicBezTo>
                  <a:cubicBezTo>
                    <a:pt x="17055" y="17619"/>
                    <a:pt x="16918" y="18062"/>
                    <a:pt x="16713" y="18470"/>
                  </a:cubicBezTo>
                  <a:cubicBezTo>
                    <a:pt x="16450" y="18993"/>
                    <a:pt x="16064" y="19547"/>
                    <a:pt x="16298" y="20112"/>
                  </a:cubicBezTo>
                  <a:cubicBezTo>
                    <a:pt x="16435" y="20441"/>
                    <a:pt x="16733" y="20628"/>
                    <a:pt x="17036" y="20741"/>
                  </a:cubicBezTo>
                  <a:cubicBezTo>
                    <a:pt x="17304" y="20841"/>
                    <a:pt x="17594" y="20892"/>
                    <a:pt x="17897" y="20880"/>
                  </a:cubicBezTo>
                  <a:lnTo>
                    <a:pt x="21448" y="20388"/>
                  </a:lnTo>
                  <a:cubicBezTo>
                    <a:pt x="21593" y="14575"/>
                    <a:pt x="19256" y="8988"/>
                    <a:pt x="15052" y="5098"/>
                  </a:cubicBezTo>
                  <a:cubicBezTo>
                    <a:pt x="10997" y="1345"/>
                    <a:pt x="5588" y="-469"/>
                    <a:pt x="160" y="104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lvl="0" algn="l" defTabSz="455612">
                <a:defRPr sz="1800">
                  <a:solidFill>
                    <a:srgbClr val="070707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42" name="Shape 2184"/>
            <p:cNvSpPr/>
            <p:nvPr/>
          </p:nvSpPr>
          <p:spPr>
            <a:xfrm>
              <a:off x="3196499" y="3390974"/>
              <a:ext cx="1445026" cy="11210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7" h="21571" extrusionOk="0">
                  <a:moveTo>
                    <a:pt x="0" y="314"/>
                  </a:moveTo>
                  <a:lnTo>
                    <a:pt x="4873" y="107"/>
                  </a:lnTo>
                  <a:cubicBezTo>
                    <a:pt x="5177" y="49"/>
                    <a:pt x="5475" y="84"/>
                    <a:pt x="5750" y="194"/>
                  </a:cubicBezTo>
                  <a:cubicBezTo>
                    <a:pt x="5978" y="285"/>
                    <a:pt x="6205" y="432"/>
                    <a:pt x="6345" y="709"/>
                  </a:cubicBezTo>
                  <a:cubicBezTo>
                    <a:pt x="6658" y="1329"/>
                    <a:pt x="6350" y="2057"/>
                    <a:pt x="6129" y="2710"/>
                  </a:cubicBezTo>
                  <a:cubicBezTo>
                    <a:pt x="6003" y="3083"/>
                    <a:pt x="5906" y="3473"/>
                    <a:pt x="5842" y="3879"/>
                  </a:cubicBezTo>
                  <a:cubicBezTo>
                    <a:pt x="5657" y="4975"/>
                    <a:pt x="5829" y="6120"/>
                    <a:pt x="6317" y="7049"/>
                  </a:cubicBezTo>
                  <a:cubicBezTo>
                    <a:pt x="6942" y="8238"/>
                    <a:pt x="7998" y="8928"/>
                    <a:pt x="9111" y="8873"/>
                  </a:cubicBezTo>
                  <a:cubicBezTo>
                    <a:pt x="9937" y="8859"/>
                    <a:pt x="10726" y="8423"/>
                    <a:pt x="11304" y="7660"/>
                  </a:cubicBezTo>
                  <a:cubicBezTo>
                    <a:pt x="11883" y="6896"/>
                    <a:pt x="12204" y="5865"/>
                    <a:pt x="12195" y="4796"/>
                  </a:cubicBezTo>
                  <a:cubicBezTo>
                    <a:pt x="12209" y="4355"/>
                    <a:pt x="12172" y="3913"/>
                    <a:pt x="12085" y="3486"/>
                  </a:cubicBezTo>
                  <a:cubicBezTo>
                    <a:pt x="12002" y="3084"/>
                    <a:pt x="11875" y="2699"/>
                    <a:pt x="11708" y="2342"/>
                  </a:cubicBezTo>
                  <a:cubicBezTo>
                    <a:pt x="11563" y="2084"/>
                    <a:pt x="11478" y="1788"/>
                    <a:pt x="11453" y="1486"/>
                  </a:cubicBezTo>
                  <a:cubicBezTo>
                    <a:pt x="11428" y="1189"/>
                    <a:pt x="11461" y="876"/>
                    <a:pt x="11590" y="606"/>
                  </a:cubicBezTo>
                  <a:cubicBezTo>
                    <a:pt x="11712" y="350"/>
                    <a:pt x="11902" y="175"/>
                    <a:pt x="12110" y="81"/>
                  </a:cubicBezTo>
                  <a:cubicBezTo>
                    <a:pt x="12322" y="-14"/>
                    <a:pt x="12557" y="-29"/>
                    <a:pt x="12785" y="54"/>
                  </a:cubicBezTo>
                  <a:lnTo>
                    <a:pt x="15202" y="732"/>
                  </a:lnTo>
                  <a:lnTo>
                    <a:pt x="14626" y="4996"/>
                  </a:lnTo>
                  <a:cubicBezTo>
                    <a:pt x="14456" y="5780"/>
                    <a:pt x="14650" y="6621"/>
                    <a:pt x="15126" y="7156"/>
                  </a:cubicBezTo>
                  <a:cubicBezTo>
                    <a:pt x="15656" y="7752"/>
                    <a:pt x="16420" y="7850"/>
                    <a:pt x="17031" y="7401"/>
                  </a:cubicBezTo>
                  <a:cubicBezTo>
                    <a:pt x="17428" y="7050"/>
                    <a:pt x="17871" y="6812"/>
                    <a:pt x="18332" y="6694"/>
                  </a:cubicBezTo>
                  <a:cubicBezTo>
                    <a:pt x="18760" y="6585"/>
                    <a:pt x="19207" y="6579"/>
                    <a:pt x="19641" y="6729"/>
                  </a:cubicBezTo>
                  <a:cubicBezTo>
                    <a:pt x="20809" y="7132"/>
                    <a:pt x="21600" y="8534"/>
                    <a:pt x="21539" y="10093"/>
                  </a:cubicBezTo>
                  <a:cubicBezTo>
                    <a:pt x="21597" y="11021"/>
                    <a:pt x="21348" y="11937"/>
                    <a:pt x="20851" y="12614"/>
                  </a:cubicBezTo>
                  <a:cubicBezTo>
                    <a:pt x="20191" y="13515"/>
                    <a:pt x="19198" y="13871"/>
                    <a:pt x="18271" y="13539"/>
                  </a:cubicBezTo>
                  <a:cubicBezTo>
                    <a:pt x="18003" y="13375"/>
                    <a:pt x="17745" y="13204"/>
                    <a:pt x="17495" y="13027"/>
                  </a:cubicBezTo>
                  <a:cubicBezTo>
                    <a:pt x="17264" y="12862"/>
                    <a:pt x="17035" y="12690"/>
                    <a:pt x="16785" y="12597"/>
                  </a:cubicBezTo>
                  <a:cubicBezTo>
                    <a:pt x="16368" y="12443"/>
                    <a:pt x="15905" y="12508"/>
                    <a:pt x="15521" y="12836"/>
                  </a:cubicBezTo>
                  <a:cubicBezTo>
                    <a:pt x="15219" y="13093"/>
                    <a:pt x="15015" y="13476"/>
                    <a:pt x="14886" y="13887"/>
                  </a:cubicBezTo>
                  <a:cubicBezTo>
                    <a:pt x="14743" y="14344"/>
                    <a:pt x="14689" y="14850"/>
                    <a:pt x="14743" y="15362"/>
                  </a:cubicBezTo>
                  <a:lnTo>
                    <a:pt x="15381" y="21571"/>
                  </a:lnTo>
                  <a:lnTo>
                    <a:pt x="7502" y="21086"/>
                  </a:lnTo>
                  <a:cubicBezTo>
                    <a:pt x="7111" y="20411"/>
                    <a:pt x="6769" y="19690"/>
                    <a:pt x="6481" y="18934"/>
                  </a:cubicBezTo>
                  <a:cubicBezTo>
                    <a:pt x="6130" y="18010"/>
                    <a:pt x="5862" y="17039"/>
                    <a:pt x="5681" y="16038"/>
                  </a:cubicBezTo>
                  <a:cubicBezTo>
                    <a:pt x="5501" y="15157"/>
                    <a:pt x="5192" y="14328"/>
                    <a:pt x="4772" y="13596"/>
                  </a:cubicBezTo>
                  <a:cubicBezTo>
                    <a:pt x="4534" y="13180"/>
                    <a:pt x="4261" y="12799"/>
                    <a:pt x="3990" y="12418"/>
                  </a:cubicBezTo>
                  <a:cubicBezTo>
                    <a:pt x="3744" y="12074"/>
                    <a:pt x="3500" y="11728"/>
                    <a:pt x="3256" y="11381"/>
                  </a:cubicBezTo>
                  <a:cubicBezTo>
                    <a:pt x="2270" y="9728"/>
                    <a:pt x="1486" y="7891"/>
                    <a:pt x="930" y="5932"/>
                  </a:cubicBezTo>
                  <a:cubicBezTo>
                    <a:pt x="417" y="4125"/>
                    <a:pt x="104" y="2234"/>
                    <a:pt x="0" y="314"/>
                  </a:cubicBezTo>
                  <a:close/>
                </a:path>
              </a:pathLst>
            </a:custGeom>
            <a:solidFill>
              <a:srgbClr val="00B05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lvl="0" algn="l" defTabSz="455612">
                <a:defRPr sz="1800">
                  <a:solidFill>
                    <a:srgbClr val="070707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43" name="Shape 2185"/>
            <p:cNvSpPr/>
            <p:nvPr/>
          </p:nvSpPr>
          <p:spPr>
            <a:xfrm>
              <a:off x="4203775" y="2934757"/>
              <a:ext cx="1166487" cy="15547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9" h="21444" extrusionOk="0">
                  <a:moveTo>
                    <a:pt x="1113" y="5524"/>
                  </a:moveTo>
                  <a:lnTo>
                    <a:pt x="50" y="9863"/>
                  </a:lnTo>
                  <a:cubicBezTo>
                    <a:pt x="-31" y="10120"/>
                    <a:pt x="-12" y="10380"/>
                    <a:pt x="91" y="10618"/>
                  </a:cubicBezTo>
                  <a:cubicBezTo>
                    <a:pt x="181" y="10828"/>
                    <a:pt x="339" y="11028"/>
                    <a:pt x="597" y="11160"/>
                  </a:cubicBezTo>
                  <a:cubicBezTo>
                    <a:pt x="871" y="11300"/>
                    <a:pt x="1200" y="11335"/>
                    <a:pt x="1514" y="11318"/>
                  </a:cubicBezTo>
                  <a:cubicBezTo>
                    <a:pt x="1872" y="11299"/>
                    <a:pt x="2227" y="11212"/>
                    <a:pt x="2541" y="11055"/>
                  </a:cubicBezTo>
                  <a:cubicBezTo>
                    <a:pt x="3686" y="10503"/>
                    <a:pt x="5126" y="10420"/>
                    <a:pt x="6371" y="10834"/>
                  </a:cubicBezTo>
                  <a:cubicBezTo>
                    <a:pt x="7680" y="11269"/>
                    <a:pt x="8582" y="12188"/>
                    <a:pt x="8744" y="13250"/>
                  </a:cubicBezTo>
                  <a:cubicBezTo>
                    <a:pt x="8916" y="14139"/>
                    <a:pt x="8522" y="15036"/>
                    <a:pt x="7680" y="15677"/>
                  </a:cubicBezTo>
                  <a:cubicBezTo>
                    <a:pt x="6641" y="16468"/>
                    <a:pt x="5093" y="16754"/>
                    <a:pt x="3679" y="16417"/>
                  </a:cubicBezTo>
                  <a:cubicBezTo>
                    <a:pt x="3315" y="16281"/>
                    <a:pt x="2953" y="16159"/>
                    <a:pt x="2587" y="16051"/>
                  </a:cubicBezTo>
                  <a:cubicBezTo>
                    <a:pt x="2030" y="15886"/>
                    <a:pt x="1394" y="15743"/>
                    <a:pt x="844" y="15975"/>
                  </a:cubicBezTo>
                  <a:cubicBezTo>
                    <a:pt x="546" y="16101"/>
                    <a:pt x="357" y="16313"/>
                    <a:pt x="245" y="16537"/>
                  </a:cubicBezTo>
                  <a:cubicBezTo>
                    <a:pt x="126" y="16776"/>
                    <a:pt x="90" y="17041"/>
                    <a:pt x="158" y="17308"/>
                  </a:cubicBezTo>
                  <a:lnTo>
                    <a:pt x="958" y="21444"/>
                  </a:lnTo>
                  <a:lnTo>
                    <a:pt x="11789" y="21421"/>
                  </a:lnTo>
                  <a:cubicBezTo>
                    <a:pt x="12290" y="21042"/>
                    <a:pt x="12711" y="20608"/>
                    <a:pt x="13035" y="20134"/>
                  </a:cubicBezTo>
                  <a:cubicBezTo>
                    <a:pt x="13378" y="19631"/>
                    <a:pt x="13609" y="19089"/>
                    <a:pt x="13717" y="18531"/>
                  </a:cubicBezTo>
                  <a:cubicBezTo>
                    <a:pt x="13955" y="17950"/>
                    <a:pt x="14289" y="17393"/>
                    <a:pt x="14713" y="16875"/>
                  </a:cubicBezTo>
                  <a:cubicBezTo>
                    <a:pt x="15148" y="16342"/>
                    <a:pt x="15674" y="15854"/>
                    <a:pt x="16276" y="15422"/>
                  </a:cubicBezTo>
                  <a:cubicBezTo>
                    <a:pt x="17987" y="14068"/>
                    <a:pt x="19334" y="12481"/>
                    <a:pt x="20243" y="10747"/>
                  </a:cubicBezTo>
                  <a:cubicBezTo>
                    <a:pt x="21043" y="9221"/>
                    <a:pt x="21492" y="7605"/>
                    <a:pt x="21569" y="5967"/>
                  </a:cubicBezTo>
                  <a:lnTo>
                    <a:pt x="18132" y="6285"/>
                  </a:lnTo>
                  <a:cubicBezTo>
                    <a:pt x="17862" y="6304"/>
                    <a:pt x="17593" y="6301"/>
                    <a:pt x="17330" y="6276"/>
                  </a:cubicBezTo>
                  <a:cubicBezTo>
                    <a:pt x="16700" y="6215"/>
                    <a:pt x="16071" y="6026"/>
                    <a:pt x="15700" y="5619"/>
                  </a:cubicBezTo>
                  <a:cubicBezTo>
                    <a:pt x="15375" y="5263"/>
                    <a:pt x="15332" y="4804"/>
                    <a:pt x="15590" y="4419"/>
                  </a:cubicBezTo>
                  <a:cubicBezTo>
                    <a:pt x="17038" y="3297"/>
                    <a:pt x="16870" y="1489"/>
                    <a:pt x="15230" y="526"/>
                  </a:cubicBezTo>
                  <a:cubicBezTo>
                    <a:pt x="14280" y="-32"/>
                    <a:pt x="12998" y="-156"/>
                    <a:pt x="11889" y="202"/>
                  </a:cubicBezTo>
                  <a:cubicBezTo>
                    <a:pt x="11204" y="429"/>
                    <a:pt x="10647" y="828"/>
                    <a:pt x="10317" y="1330"/>
                  </a:cubicBezTo>
                  <a:cubicBezTo>
                    <a:pt x="9996" y="1818"/>
                    <a:pt x="9907" y="2356"/>
                    <a:pt x="9979" y="2877"/>
                  </a:cubicBezTo>
                  <a:cubicBezTo>
                    <a:pt x="10052" y="3399"/>
                    <a:pt x="10288" y="3911"/>
                    <a:pt x="10686" y="4368"/>
                  </a:cubicBezTo>
                  <a:cubicBezTo>
                    <a:pt x="10959" y="4864"/>
                    <a:pt x="10859" y="5430"/>
                    <a:pt x="10422" y="5855"/>
                  </a:cubicBezTo>
                  <a:cubicBezTo>
                    <a:pt x="9948" y="6318"/>
                    <a:pt x="9161" y="6537"/>
                    <a:pt x="8396" y="6420"/>
                  </a:cubicBezTo>
                  <a:lnTo>
                    <a:pt x="1113" y="5524"/>
                  </a:lnTo>
                  <a:close/>
                </a:path>
              </a:pathLst>
            </a:custGeom>
            <a:solidFill>
              <a:srgbClr val="FF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lvl="0" algn="l" defTabSz="455612">
                <a:defRPr sz="1800">
                  <a:solidFill>
                    <a:srgbClr val="070707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44" name="Shape 2186"/>
            <p:cNvSpPr/>
            <p:nvPr/>
          </p:nvSpPr>
          <p:spPr>
            <a:xfrm>
              <a:off x="4056601" y="5519060"/>
              <a:ext cx="407295" cy="1167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98" extrusionOk="0">
                  <a:moveTo>
                    <a:pt x="0" y="102"/>
                  </a:moveTo>
                  <a:lnTo>
                    <a:pt x="2875" y="16209"/>
                  </a:lnTo>
                  <a:cubicBezTo>
                    <a:pt x="5436" y="19804"/>
                    <a:pt x="8177" y="21600"/>
                    <a:pt x="10940" y="21494"/>
                  </a:cubicBezTo>
                  <a:cubicBezTo>
                    <a:pt x="13546" y="21393"/>
                    <a:pt x="16123" y="19601"/>
                    <a:pt x="18539" y="16209"/>
                  </a:cubicBezTo>
                  <a:lnTo>
                    <a:pt x="21600" y="0"/>
                  </a:lnTo>
                  <a:lnTo>
                    <a:pt x="0" y="102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solidFill>
                <a:schemeClr val="accent1"/>
              </a:solidFill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lvl="0" algn="l" defTabSz="455612">
                <a:defRPr sz="1800">
                  <a:solidFill>
                    <a:srgbClr val="070707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45" name="Shape 2187"/>
            <p:cNvSpPr/>
            <p:nvPr/>
          </p:nvSpPr>
          <p:spPr>
            <a:xfrm>
              <a:off x="3684017" y="4467939"/>
              <a:ext cx="591994" cy="2492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4909" y="21584"/>
                  </a:lnTo>
                  <a:cubicBezTo>
                    <a:pt x="3985" y="20289"/>
                    <a:pt x="3089" y="18888"/>
                    <a:pt x="2222" y="17386"/>
                  </a:cubicBezTo>
                  <a:cubicBezTo>
                    <a:pt x="1456" y="16058"/>
                    <a:pt x="715" y="14653"/>
                    <a:pt x="0" y="13173"/>
                  </a:cubicBezTo>
                  <a:lnTo>
                    <a:pt x="110" y="0"/>
                  </a:lnTo>
                  <a:close/>
                </a:path>
              </a:pathLst>
            </a:custGeom>
            <a:solidFill>
              <a:srgbClr val="A7ABB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lvl="0" algn="l" defTabSz="455612">
                <a:defRPr sz="1800">
                  <a:solidFill>
                    <a:srgbClr val="070707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46" name="Shape 2188"/>
            <p:cNvSpPr/>
            <p:nvPr/>
          </p:nvSpPr>
          <p:spPr>
            <a:xfrm>
              <a:off x="4267407" y="4467939"/>
              <a:ext cx="589498" cy="2492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9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16691" y="21584"/>
                  </a:lnTo>
                  <a:cubicBezTo>
                    <a:pt x="17615" y="20289"/>
                    <a:pt x="18511" y="18888"/>
                    <a:pt x="19378" y="17386"/>
                  </a:cubicBezTo>
                  <a:cubicBezTo>
                    <a:pt x="20144" y="16058"/>
                    <a:pt x="20885" y="14653"/>
                    <a:pt x="21600" y="13173"/>
                  </a:cubicBezTo>
                  <a:lnTo>
                    <a:pt x="21490" y="0"/>
                  </a:lnTo>
                  <a:close/>
                </a:path>
              </a:pathLst>
            </a:custGeom>
            <a:solidFill>
              <a:srgbClr val="A7ABB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lvl="0" algn="l" defTabSz="455612">
                <a:defRPr sz="1800">
                  <a:solidFill>
                    <a:srgbClr val="070707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47" name="Shape 2189"/>
            <p:cNvSpPr/>
            <p:nvPr/>
          </p:nvSpPr>
          <p:spPr>
            <a:xfrm>
              <a:off x="3682883" y="4465437"/>
              <a:ext cx="1172956" cy="72311"/>
            </a:xfrm>
            <a:prstGeom prst="rect">
              <a:avLst/>
            </a:prstGeom>
            <a:solidFill>
              <a:srgbClr val="A7ABB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lvl="0" algn="l" defTabSz="455612">
                <a:defRPr sz="2400"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48" name="Shape 2190"/>
            <p:cNvSpPr/>
            <p:nvPr/>
          </p:nvSpPr>
          <p:spPr>
            <a:xfrm rot="21245215">
              <a:off x="3897603" y="4898824"/>
              <a:ext cx="719279" cy="72310"/>
            </a:xfrm>
            <a:prstGeom prst="roundRect">
              <a:avLst>
                <a:gd name="adj" fmla="val 50000"/>
              </a:avLst>
            </a:prstGeom>
            <a:solidFill>
              <a:srgbClr val="A7ABB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lvl="0" defTabSz="825500">
                <a:defRPr sz="3200"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49" name="Shape 2191"/>
            <p:cNvSpPr/>
            <p:nvPr/>
          </p:nvSpPr>
          <p:spPr>
            <a:xfrm rot="21245215">
              <a:off x="3897603" y="5021445"/>
              <a:ext cx="719279" cy="72310"/>
            </a:xfrm>
            <a:prstGeom prst="roundRect">
              <a:avLst>
                <a:gd name="adj" fmla="val 50000"/>
              </a:avLst>
            </a:prstGeom>
            <a:solidFill>
              <a:srgbClr val="A7ABB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lvl="0" defTabSz="825500">
                <a:defRPr sz="3200"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50" name="Shape 2192"/>
            <p:cNvSpPr/>
            <p:nvPr/>
          </p:nvSpPr>
          <p:spPr>
            <a:xfrm rot="21245215">
              <a:off x="3897603" y="5144066"/>
              <a:ext cx="719279" cy="72311"/>
            </a:xfrm>
            <a:prstGeom prst="roundRect">
              <a:avLst>
                <a:gd name="adj" fmla="val 50000"/>
              </a:avLst>
            </a:prstGeom>
            <a:solidFill>
              <a:srgbClr val="A7ABB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lvl="0" defTabSz="825500">
                <a:defRPr sz="3200"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51" name="Shape 2193"/>
            <p:cNvSpPr/>
            <p:nvPr/>
          </p:nvSpPr>
          <p:spPr>
            <a:xfrm rot="21245215">
              <a:off x="3897603" y="5266688"/>
              <a:ext cx="719279" cy="72310"/>
            </a:xfrm>
            <a:prstGeom prst="roundRect">
              <a:avLst>
                <a:gd name="adj" fmla="val 50000"/>
              </a:avLst>
            </a:prstGeom>
            <a:solidFill>
              <a:srgbClr val="A7ABB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lvl="0" defTabSz="825500">
                <a:defRPr sz="3200"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</p:grpSp>
      <p:sp>
        <p:nvSpPr>
          <p:cNvPr id="25" name="Espace réservé du numéro de diapositive 2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280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/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" b="42"/>
          <a:stretch>
            <a:fillRect/>
          </a:stretch>
        </p:blipFill>
        <p:spPr>
          <a:xfrm>
            <a:off x="785786" y="1357298"/>
            <a:ext cx="1421516" cy="1894789"/>
          </a:xfrm>
          <a:ln>
            <a:solidFill>
              <a:srgbClr val="FF2B2A"/>
            </a:solidFill>
          </a:ln>
        </p:spPr>
      </p:pic>
      <p:pic>
        <p:nvPicPr>
          <p:cNvPr id="9" name="Picture Placeholder 8"/>
          <p:cNvPicPr>
            <a:picLocks noGrp="1" noChangeAspect="1"/>
          </p:cNvPicPr>
          <p:nvPr>
            <p:ph type="pic" sz="quarter" idx="18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" b="42"/>
          <a:stretch>
            <a:fillRect/>
          </a:stretch>
        </p:blipFill>
        <p:spPr>
          <a:xfrm>
            <a:off x="2786050" y="2786058"/>
            <a:ext cx="1421516" cy="1894789"/>
          </a:xfrm>
          <a:ln>
            <a:solidFill>
              <a:srgbClr val="85C401"/>
            </a:solidFill>
          </a:ln>
        </p:spPr>
      </p:pic>
      <p:pic>
        <p:nvPicPr>
          <p:cNvPr id="10" name="Picture Placeholder 9"/>
          <p:cNvPicPr>
            <a:picLocks noGrp="1" noChangeAspect="1"/>
          </p:cNvPicPr>
          <p:nvPr>
            <p:ph type="pic" sz="quarter" idx="2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" b="42"/>
          <a:stretch>
            <a:fillRect/>
          </a:stretch>
        </p:blipFill>
        <p:spPr>
          <a:xfrm>
            <a:off x="4572000" y="1000108"/>
            <a:ext cx="1421516" cy="1894789"/>
          </a:xfrm>
          <a:ln>
            <a:solidFill>
              <a:srgbClr val="3EB8CD"/>
            </a:solidFill>
          </a:ln>
        </p:spPr>
      </p:pic>
      <p:pic>
        <p:nvPicPr>
          <p:cNvPr id="11" name="Picture Placeholder 10"/>
          <p:cNvPicPr>
            <a:picLocks noGrp="1" noChangeAspect="1"/>
          </p:cNvPicPr>
          <p:nvPr>
            <p:ph type="pic" sz="quarter" idx="24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" b="42"/>
          <a:stretch>
            <a:fillRect/>
          </a:stretch>
        </p:blipFill>
        <p:spPr>
          <a:xfrm>
            <a:off x="7000892" y="2500306"/>
            <a:ext cx="1421516" cy="1894789"/>
          </a:xfrm>
          <a:ln>
            <a:solidFill>
              <a:srgbClr val="FFA803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57224" y="3500438"/>
            <a:ext cx="1500198" cy="110799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Répartissez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vous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 en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équipes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de 5 à 6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étudiants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32" name="Oval 31"/>
          <p:cNvSpPr/>
          <p:nvPr/>
        </p:nvSpPr>
        <p:spPr>
          <a:xfrm>
            <a:off x="1785918" y="1071546"/>
            <a:ext cx="686790" cy="915720"/>
          </a:xfrm>
          <a:prstGeom prst="ellipse">
            <a:avLst/>
          </a:prstGeom>
          <a:blipFill>
            <a:blip r:embed="rId7" cstate="print"/>
            <a:stretch>
              <a:fillRect/>
            </a:stretch>
          </a:blipFill>
          <a:ln w="190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733" dirty="0">
              <a:solidFill>
                <a:schemeClr val="accent1">
                  <a:lumMod val="75000"/>
                </a:schemeClr>
              </a:solidFill>
              <a:latin typeface="FontAwesome" pitchFamily="2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071802" y="4857760"/>
            <a:ext cx="1009445" cy="110799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Vous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disposez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de 15 minutes </a:t>
            </a:r>
          </a:p>
        </p:txBody>
      </p:sp>
      <p:sp>
        <p:nvSpPr>
          <p:cNvPr id="63" name="Oval 62"/>
          <p:cNvSpPr/>
          <p:nvPr/>
        </p:nvSpPr>
        <p:spPr>
          <a:xfrm>
            <a:off x="3357554" y="2285992"/>
            <a:ext cx="686790" cy="915720"/>
          </a:xfrm>
          <a:prstGeom prst="ellipse">
            <a:avLst/>
          </a:prstGeom>
          <a:blipFill>
            <a:blip r:embed="rId7" cstate="print"/>
            <a:stretch>
              <a:fillRect/>
            </a:stretch>
          </a:blipFill>
          <a:ln w="190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733" dirty="0">
              <a:solidFill>
                <a:schemeClr val="accent2">
                  <a:lumMod val="50000"/>
                </a:schemeClr>
              </a:solidFill>
              <a:latin typeface="FontAwesome" pitchFamily="2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500562" y="3143248"/>
            <a:ext cx="2286016" cy="138499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En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vous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basant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sur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les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cartes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distribuées,identifiez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</a:t>
            </a:r>
          </a:p>
          <a:p>
            <a:pPr algn="ctr"/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4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définitions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de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l’entreprise</a:t>
            </a: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68" name="Oval 67"/>
          <p:cNvSpPr/>
          <p:nvPr/>
        </p:nvSpPr>
        <p:spPr>
          <a:xfrm>
            <a:off x="5643570" y="857232"/>
            <a:ext cx="686790" cy="915720"/>
          </a:xfrm>
          <a:prstGeom prst="ellipse">
            <a:avLst/>
          </a:prstGeom>
          <a:blipFill>
            <a:blip r:embed="rId7" cstate="print"/>
            <a:stretch>
              <a:fillRect/>
            </a:stretch>
          </a:blipFill>
          <a:ln w="190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733" dirty="0">
              <a:solidFill>
                <a:schemeClr val="accent3">
                  <a:lumMod val="75000"/>
                </a:schemeClr>
              </a:solidFill>
              <a:latin typeface="FontAwesome" pitchFamily="2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7000892" y="4429132"/>
            <a:ext cx="1773234" cy="360098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Nommez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un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rapporteur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par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équipe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pour 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présenter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 les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définitions</a:t>
            </a: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  <a:p>
            <a:pPr algn="ctr"/>
            <a:endParaRPr lang="en-US" sz="1600" b="1" dirty="0">
              <a:solidFill>
                <a:srgbClr val="FFA803"/>
              </a:solidFill>
            </a:endParaRPr>
          </a:p>
          <a:p>
            <a:pPr algn="ctr"/>
            <a:endParaRPr lang="en-US" sz="1600" b="1" dirty="0">
              <a:solidFill>
                <a:srgbClr val="FFA803"/>
              </a:solidFill>
            </a:endParaRPr>
          </a:p>
          <a:p>
            <a:pPr algn="ctr"/>
            <a:endParaRPr lang="en-US" sz="1600" b="1" dirty="0">
              <a:solidFill>
                <a:srgbClr val="FFA803"/>
              </a:solidFill>
            </a:endParaRPr>
          </a:p>
          <a:p>
            <a:pPr algn="ctr"/>
            <a:endParaRPr lang="en-US" sz="1600" b="1" dirty="0">
              <a:solidFill>
                <a:srgbClr val="FFA803"/>
              </a:solidFill>
            </a:endParaRPr>
          </a:p>
          <a:p>
            <a:pPr algn="ctr"/>
            <a:endParaRPr lang="en-US" sz="1600" b="1" dirty="0">
              <a:solidFill>
                <a:srgbClr val="FFA803"/>
              </a:solidFill>
            </a:endParaRPr>
          </a:p>
          <a:p>
            <a:pPr algn="ctr"/>
            <a:endParaRPr lang="en-US" sz="1600" b="1" dirty="0">
              <a:solidFill>
                <a:srgbClr val="FFA803"/>
              </a:solidFill>
            </a:endParaRPr>
          </a:p>
          <a:p>
            <a:pPr algn="ctr"/>
            <a:endParaRPr lang="en-US" sz="1600" b="1" dirty="0">
              <a:solidFill>
                <a:srgbClr val="FFA803"/>
              </a:solidFill>
            </a:endParaRPr>
          </a:p>
          <a:p>
            <a:pPr algn="ctr"/>
            <a:endParaRPr lang="en-US" sz="1600" b="1" dirty="0">
              <a:solidFill>
                <a:srgbClr val="FFA803"/>
              </a:solidFill>
            </a:endParaRPr>
          </a:p>
          <a:p>
            <a:pPr algn="ctr"/>
            <a:endParaRPr lang="en-US" sz="1600" b="1" dirty="0">
              <a:solidFill>
                <a:srgbClr val="FFA803"/>
              </a:solidFill>
            </a:endParaRPr>
          </a:p>
        </p:txBody>
      </p:sp>
      <p:sp>
        <p:nvSpPr>
          <p:cNvPr id="73" name="Oval 72"/>
          <p:cNvSpPr/>
          <p:nvPr/>
        </p:nvSpPr>
        <p:spPr>
          <a:xfrm>
            <a:off x="7786710" y="2071678"/>
            <a:ext cx="686790" cy="915720"/>
          </a:xfrm>
          <a:prstGeom prst="ellipse">
            <a:avLst/>
          </a:prstGeom>
          <a:blipFill>
            <a:blip r:embed="rId7" cstate="print"/>
            <a:stretch>
              <a:fillRect/>
            </a:stretch>
          </a:blipFill>
          <a:ln w="190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0" tIns="0" rIns="0" rtlCol="0" anchor="ctr"/>
          <a:lstStyle/>
          <a:p>
            <a:pPr algn="ctr"/>
            <a:endParaRPr lang="en-US" sz="3200" dirty="0">
              <a:solidFill>
                <a:schemeClr val="accent4">
                  <a:lumMod val="75000"/>
                </a:schemeClr>
              </a:solidFill>
              <a:latin typeface="FontAwesome" pitchFamily="2" charset="0"/>
            </a:endParaRPr>
          </a:p>
        </p:txBody>
      </p:sp>
      <p:sp>
        <p:nvSpPr>
          <p:cNvPr id="28" name="TextBox 66"/>
          <p:cNvSpPr txBox="1"/>
          <p:nvPr/>
        </p:nvSpPr>
        <p:spPr>
          <a:xfrm>
            <a:off x="0" y="214290"/>
            <a:ext cx="56435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Baskerville Old Face"/>
              </a:rPr>
              <a:t>Les </a:t>
            </a:r>
            <a:r>
              <a:rPr lang="en-US" sz="3200" b="1" dirty="0" err="1">
                <a:solidFill>
                  <a:srgbClr val="FF0000"/>
                </a:solidFill>
                <a:latin typeface="Baskerville Old Face"/>
              </a:rPr>
              <a:t>régles</a:t>
            </a:r>
            <a:r>
              <a:rPr lang="en-US" sz="3200" b="1" dirty="0">
                <a:solidFill>
                  <a:srgbClr val="FF0000"/>
                </a:solidFill>
                <a:latin typeface="Baskerville Old Face"/>
              </a:rPr>
              <a:t> du </a:t>
            </a:r>
            <a:r>
              <a:rPr lang="en-US" sz="3200" b="1" dirty="0" err="1">
                <a:solidFill>
                  <a:srgbClr val="FF0000"/>
                </a:solidFill>
                <a:latin typeface="Baskerville Old Face"/>
              </a:rPr>
              <a:t>jeu</a:t>
            </a:r>
            <a:r>
              <a:rPr lang="en-US" sz="3200" b="1" dirty="0">
                <a:solidFill>
                  <a:srgbClr val="FF0000"/>
                </a:solidFill>
                <a:latin typeface="Baskerville Old Face"/>
              </a:rPr>
              <a:t> </a:t>
            </a:r>
          </a:p>
          <a:p>
            <a:pPr algn="r"/>
            <a:endParaRPr lang="en-US" dirty="0">
              <a:solidFill>
                <a:srgbClr val="56595E"/>
              </a:solidFill>
              <a:latin typeface="Candara" panose="020E0502030303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460" y="0"/>
            <a:ext cx="3682540" cy="214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805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60" grpId="0"/>
      <p:bldP spid="63" grpId="0" animBg="1"/>
      <p:bldP spid="65" grpId="0"/>
      <p:bldP spid="68" grpId="0" animBg="1"/>
      <p:bldP spid="70" grpId="0"/>
      <p:bldP spid="73" grpId="0" animBg="1"/>
      <p:bldP spid="2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5F493F6-DB06-4F8A-AE5A-3010B135EE9B}"/>
              </a:ext>
            </a:extLst>
          </p:cNvPr>
          <p:cNvSpPr/>
          <p:nvPr/>
        </p:nvSpPr>
        <p:spPr>
          <a:xfrm>
            <a:off x="3553074" y="1801414"/>
            <a:ext cx="995002" cy="1133172"/>
          </a:xfrm>
          <a:custGeom>
            <a:avLst/>
            <a:gdLst>
              <a:gd name="connsiteX0" fmla="*/ 1326669 w 1326669"/>
              <a:gd name="connsiteY0" fmla="*/ 0 h 1133172"/>
              <a:gd name="connsiteX1" fmla="*/ 1326669 w 1326669"/>
              <a:gd name="connsiteY1" fmla="*/ 373535 h 1133172"/>
              <a:gd name="connsiteX2" fmla="*/ 1223630 w 1326669"/>
              <a:gd name="connsiteY2" fmla="*/ 387934 h 1133172"/>
              <a:gd name="connsiteX3" fmla="*/ 389828 w 1326669"/>
              <a:gd name="connsiteY3" fmla="*/ 1105362 h 1133172"/>
              <a:gd name="connsiteX4" fmla="*/ 383020 w 1326669"/>
              <a:gd name="connsiteY4" fmla="*/ 1133172 h 1133172"/>
              <a:gd name="connsiteX5" fmla="*/ 0 w 1326669"/>
              <a:gd name="connsiteY5" fmla="*/ 1133172 h 1133172"/>
              <a:gd name="connsiteX6" fmla="*/ 247 w 1326669"/>
              <a:gd name="connsiteY6" fmla="*/ 1128678 h 1133172"/>
              <a:gd name="connsiteX7" fmla="*/ 1242047 w 1326669"/>
              <a:gd name="connsiteY7" fmla="*/ 10382 h 1133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26669" h="1133172">
                <a:moveTo>
                  <a:pt x="1326669" y="0"/>
                </a:moveTo>
                <a:lnTo>
                  <a:pt x="1326669" y="373535"/>
                </a:lnTo>
                <a:lnTo>
                  <a:pt x="1223630" y="387934"/>
                </a:lnTo>
                <a:cubicBezTo>
                  <a:pt x="819469" y="463655"/>
                  <a:pt x="496669" y="743877"/>
                  <a:pt x="389828" y="1105362"/>
                </a:cubicBezTo>
                <a:lnTo>
                  <a:pt x="383020" y="1133172"/>
                </a:lnTo>
                <a:lnTo>
                  <a:pt x="0" y="1133172"/>
                </a:lnTo>
                <a:lnTo>
                  <a:pt x="247" y="1128678"/>
                </a:lnTo>
                <a:cubicBezTo>
                  <a:pt x="61716" y="572309"/>
                  <a:pt x="574334" y="120216"/>
                  <a:pt x="1242047" y="10382"/>
                </a:cubicBezTo>
                <a:close/>
              </a:path>
            </a:pathLst>
          </a:custGeom>
          <a:solidFill>
            <a:schemeClr val="tx1">
              <a:alpha val="65000"/>
            </a:schemeClr>
          </a:solidFill>
          <a:ln w="31750">
            <a:solidFill>
              <a:srgbClr val="FF2B2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D17C933-7B13-4AB6-98FA-1A532CEFDBA4}"/>
              </a:ext>
            </a:extLst>
          </p:cNvPr>
          <p:cNvSpPr/>
          <p:nvPr/>
        </p:nvSpPr>
        <p:spPr>
          <a:xfrm flipH="1">
            <a:off x="4611874" y="1801414"/>
            <a:ext cx="995002" cy="1133172"/>
          </a:xfrm>
          <a:custGeom>
            <a:avLst/>
            <a:gdLst>
              <a:gd name="connsiteX0" fmla="*/ 1326669 w 1326669"/>
              <a:gd name="connsiteY0" fmla="*/ 0 h 1133172"/>
              <a:gd name="connsiteX1" fmla="*/ 1326669 w 1326669"/>
              <a:gd name="connsiteY1" fmla="*/ 373535 h 1133172"/>
              <a:gd name="connsiteX2" fmla="*/ 1223630 w 1326669"/>
              <a:gd name="connsiteY2" fmla="*/ 387934 h 1133172"/>
              <a:gd name="connsiteX3" fmla="*/ 389828 w 1326669"/>
              <a:gd name="connsiteY3" fmla="*/ 1105362 h 1133172"/>
              <a:gd name="connsiteX4" fmla="*/ 383020 w 1326669"/>
              <a:gd name="connsiteY4" fmla="*/ 1133172 h 1133172"/>
              <a:gd name="connsiteX5" fmla="*/ 0 w 1326669"/>
              <a:gd name="connsiteY5" fmla="*/ 1133172 h 1133172"/>
              <a:gd name="connsiteX6" fmla="*/ 247 w 1326669"/>
              <a:gd name="connsiteY6" fmla="*/ 1128678 h 1133172"/>
              <a:gd name="connsiteX7" fmla="*/ 1242047 w 1326669"/>
              <a:gd name="connsiteY7" fmla="*/ 10382 h 1133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26669" h="1133172">
                <a:moveTo>
                  <a:pt x="1326669" y="0"/>
                </a:moveTo>
                <a:lnTo>
                  <a:pt x="1326669" y="373535"/>
                </a:lnTo>
                <a:lnTo>
                  <a:pt x="1223630" y="387934"/>
                </a:lnTo>
                <a:cubicBezTo>
                  <a:pt x="819469" y="463655"/>
                  <a:pt x="496669" y="743877"/>
                  <a:pt x="389828" y="1105362"/>
                </a:cubicBezTo>
                <a:lnTo>
                  <a:pt x="383020" y="1133172"/>
                </a:lnTo>
                <a:lnTo>
                  <a:pt x="0" y="1133172"/>
                </a:lnTo>
                <a:lnTo>
                  <a:pt x="247" y="1128678"/>
                </a:lnTo>
                <a:cubicBezTo>
                  <a:pt x="61716" y="572309"/>
                  <a:pt x="574334" y="120216"/>
                  <a:pt x="1242047" y="10382"/>
                </a:cubicBezTo>
                <a:close/>
              </a:path>
            </a:pathLst>
          </a:custGeom>
          <a:solidFill>
            <a:schemeClr val="tx1">
              <a:alpha val="65000"/>
            </a:schemeClr>
          </a:solidFill>
          <a:ln w="31750">
            <a:solidFill>
              <a:srgbClr val="85C40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5ED99269-2264-4BAB-88E8-87426B008CEE}"/>
              </a:ext>
            </a:extLst>
          </p:cNvPr>
          <p:cNvSpPr/>
          <p:nvPr/>
        </p:nvSpPr>
        <p:spPr>
          <a:xfrm>
            <a:off x="3529150" y="3030279"/>
            <a:ext cx="634413" cy="1137684"/>
          </a:xfrm>
          <a:custGeom>
            <a:avLst/>
            <a:gdLst>
              <a:gd name="connsiteX0" fmla="*/ 27889 w 845884"/>
              <a:gd name="connsiteY0" fmla="*/ 0 h 1137684"/>
              <a:gd name="connsiteX1" fmla="*/ 399090 w 845884"/>
              <a:gd name="connsiteY1" fmla="*/ 0 h 1137684"/>
              <a:gd name="connsiteX2" fmla="*/ 384899 w 845884"/>
              <a:gd name="connsiteY2" fmla="*/ 77316 h 1137684"/>
              <a:gd name="connsiteX3" fmla="*/ 376829 w 845884"/>
              <a:gd name="connsiteY3" fmla="*/ 210195 h 1137684"/>
              <a:gd name="connsiteX4" fmla="*/ 834618 w 845884"/>
              <a:gd name="connsiteY4" fmla="*/ 1129170 h 1137684"/>
              <a:gd name="connsiteX5" fmla="*/ 845884 w 845884"/>
              <a:gd name="connsiteY5" fmla="*/ 1137684 h 1137684"/>
              <a:gd name="connsiteX6" fmla="*/ 310824 w 845884"/>
              <a:gd name="connsiteY6" fmla="*/ 1137684 h 1137684"/>
              <a:gd name="connsiteX7" fmla="*/ 288363 w 845884"/>
              <a:gd name="connsiteY7" fmla="*/ 1111500 h 1137684"/>
              <a:gd name="connsiteX8" fmla="*/ 0 w 845884"/>
              <a:gd name="connsiteY8" fmla="*/ 262102 h 1137684"/>
              <a:gd name="connsiteX9" fmla="*/ 12558 w 845884"/>
              <a:gd name="connsiteY9" fmla="*/ 75223 h 1137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45884" h="1137684">
                <a:moveTo>
                  <a:pt x="27889" y="0"/>
                </a:moveTo>
                <a:lnTo>
                  <a:pt x="399090" y="0"/>
                </a:lnTo>
                <a:lnTo>
                  <a:pt x="384899" y="77316"/>
                </a:lnTo>
                <a:cubicBezTo>
                  <a:pt x="379563" y="121006"/>
                  <a:pt x="376829" y="165335"/>
                  <a:pt x="376829" y="210195"/>
                </a:cubicBezTo>
                <a:cubicBezTo>
                  <a:pt x="376829" y="569077"/>
                  <a:pt x="551773" y="893984"/>
                  <a:pt x="834618" y="1129170"/>
                </a:cubicBezTo>
                <a:lnTo>
                  <a:pt x="845884" y="1137684"/>
                </a:lnTo>
                <a:lnTo>
                  <a:pt x="310824" y="1137684"/>
                </a:lnTo>
                <a:lnTo>
                  <a:pt x="288363" y="1111500"/>
                </a:lnTo>
                <a:cubicBezTo>
                  <a:pt x="106777" y="871787"/>
                  <a:pt x="0" y="578651"/>
                  <a:pt x="0" y="262102"/>
                </a:cubicBezTo>
                <a:cubicBezTo>
                  <a:pt x="0" y="198793"/>
                  <a:pt x="4271" y="136419"/>
                  <a:pt x="12558" y="75223"/>
                </a:cubicBezTo>
                <a:close/>
              </a:path>
            </a:pathLst>
          </a:custGeom>
          <a:solidFill>
            <a:schemeClr val="tx1">
              <a:alpha val="65000"/>
            </a:schemeClr>
          </a:solidFill>
          <a:ln w="31750">
            <a:solidFill>
              <a:srgbClr val="3EB8CD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E08B264-C671-4719-BED2-27D89AC442FC}"/>
              </a:ext>
            </a:extLst>
          </p:cNvPr>
          <p:cNvSpPr/>
          <p:nvPr/>
        </p:nvSpPr>
        <p:spPr>
          <a:xfrm flipH="1">
            <a:off x="4997331" y="3030279"/>
            <a:ext cx="634413" cy="1137684"/>
          </a:xfrm>
          <a:custGeom>
            <a:avLst/>
            <a:gdLst>
              <a:gd name="connsiteX0" fmla="*/ 27889 w 845884"/>
              <a:gd name="connsiteY0" fmla="*/ 0 h 1137684"/>
              <a:gd name="connsiteX1" fmla="*/ 399090 w 845884"/>
              <a:gd name="connsiteY1" fmla="*/ 0 h 1137684"/>
              <a:gd name="connsiteX2" fmla="*/ 384899 w 845884"/>
              <a:gd name="connsiteY2" fmla="*/ 77316 h 1137684"/>
              <a:gd name="connsiteX3" fmla="*/ 376829 w 845884"/>
              <a:gd name="connsiteY3" fmla="*/ 210195 h 1137684"/>
              <a:gd name="connsiteX4" fmla="*/ 834618 w 845884"/>
              <a:gd name="connsiteY4" fmla="*/ 1129170 h 1137684"/>
              <a:gd name="connsiteX5" fmla="*/ 845884 w 845884"/>
              <a:gd name="connsiteY5" fmla="*/ 1137684 h 1137684"/>
              <a:gd name="connsiteX6" fmla="*/ 310824 w 845884"/>
              <a:gd name="connsiteY6" fmla="*/ 1137684 h 1137684"/>
              <a:gd name="connsiteX7" fmla="*/ 288363 w 845884"/>
              <a:gd name="connsiteY7" fmla="*/ 1111500 h 1137684"/>
              <a:gd name="connsiteX8" fmla="*/ 0 w 845884"/>
              <a:gd name="connsiteY8" fmla="*/ 262102 h 1137684"/>
              <a:gd name="connsiteX9" fmla="*/ 12558 w 845884"/>
              <a:gd name="connsiteY9" fmla="*/ 75223 h 1137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45884" h="1137684">
                <a:moveTo>
                  <a:pt x="27889" y="0"/>
                </a:moveTo>
                <a:lnTo>
                  <a:pt x="399090" y="0"/>
                </a:lnTo>
                <a:lnTo>
                  <a:pt x="384899" y="77316"/>
                </a:lnTo>
                <a:cubicBezTo>
                  <a:pt x="379563" y="121006"/>
                  <a:pt x="376829" y="165335"/>
                  <a:pt x="376829" y="210195"/>
                </a:cubicBezTo>
                <a:cubicBezTo>
                  <a:pt x="376829" y="569077"/>
                  <a:pt x="551773" y="893984"/>
                  <a:pt x="834618" y="1129170"/>
                </a:cubicBezTo>
                <a:lnTo>
                  <a:pt x="845884" y="1137684"/>
                </a:lnTo>
                <a:lnTo>
                  <a:pt x="310824" y="1137684"/>
                </a:lnTo>
                <a:lnTo>
                  <a:pt x="288363" y="1111500"/>
                </a:lnTo>
                <a:cubicBezTo>
                  <a:pt x="106777" y="871787"/>
                  <a:pt x="0" y="578651"/>
                  <a:pt x="0" y="262102"/>
                </a:cubicBezTo>
                <a:cubicBezTo>
                  <a:pt x="0" y="198793"/>
                  <a:pt x="4271" y="136419"/>
                  <a:pt x="12558" y="75223"/>
                </a:cubicBezTo>
                <a:close/>
              </a:path>
            </a:pathLst>
          </a:custGeom>
          <a:solidFill>
            <a:schemeClr val="tx1">
              <a:alpha val="65000"/>
            </a:schemeClr>
          </a:solidFill>
          <a:ln w="31750">
            <a:solidFill>
              <a:srgbClr val="FFA803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124F3741-E9CE-4F7E-A14B-6FD9F7175639}"/>
              </a:ext>
            </a:extLst>
          </p:cNvPr>
          <p:cNvSpPr/>
          <p:nvPr/>
        </p:nvSpPr>
        <p:spPr>
          <a:xfrm>
            <a:off x="3816418" y="4253026"/>
            <a:ext cx="731657" cy="1142998"/>
          </a:xfrm>
          <a:custGeom>
            <a:avLst/>
            <a:gdLst>
              <a:gd name="connsiteX0" fmla="*/ 0 w 975543"/>
              <a:gd name="connsiteY0" fmla="*/ 0 h 1142998"/>
              <a:gd name="connsiteX1" fmla="*/ 496782 w 975543"/>
              <a:gd name="connsiteY1" fmla="*/ 0 h 1142998"/>
              <a:gd name="connsiteX2" fmla="*/ 501219 w 975543"/>
              <a:gd name="connsiteY2" fmla="*/ 5964 h 1142998"/>
              <a:gd name="connsiteX3" fmla="*/ 745460 w 975543"/>
              <a:gd name="connsiteY3" fmla="*/ 707401 h 1142998"/>
              <a:gd name="connsiteX4" fmla="*/ 747658 w 975543"/>
              <a:gd name="connsiteY4" fmla="*/ 754911 h 1142998"/>
              <a:gd name="connsiteX5" fmla="*/ 975543 w 975543"/>
              <a:gd name="connsiteY5" fmla="*/ 754911 h 1142998"/>
              <a:gd name="connsiteX6" fmla="*/ 975543 w 975543"/>
              <a:gd name="connsiteY6" fmla="*/ 1142998 h 1142998"/>
              <a:gd name="connsiteX7" fmla="*/ 370540 w 975543"/>
              <a:gd name="connsiteY7" fmla="*/ 1142998 h 1142998"/>
              <a:gd name="connsiteX8" fmla="*/ 376008 w 975543"/>
              <a:gd name="connsiteY8" fmla="*/ 1010091 h 1142998"/>
              <a:gd name="connsiteX9" fmla="*/ 56283 w 975543"/>
              <a:gd name="connsiteY9" fmla="*/ 62780 h 1142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75543" h="1142998">
                <a:moveTo>
                  <a:pt x="0" y="0"/>
                </a:moveTo>
                <a:lnTo>
                  <a:pt x="496782" y="0"/>
                </a:lnTo>
                <a:lnTo>
                  <a:pt x="501219" y="5964"/>
                </a:lnTo>
                <a:cubicBezTo>
                  <a:pt x="633079" y="200867"/>
                  <a:pt x="720774" y="442387"/>
                  <a:pt x="745460" y="707401"/>
                </a:cubicBezTo>
                <a:lnTo>
                  <a:pt x="747658" y="754911"/>
                </a:lnTo>
                <a:lnTo>
                  <a:pt x="975543" y="754911"/>
                </a:lnTo>
                <a:lnTo>
                  <a:pt x="975543" y="1142998"/>
                </a:lnTo>
                <a:lnTo>
                  <a:pt x="370540" y="1142998"/>
                </a:lnTo>
                <a:lnTo>
                  <a:pt x="376008" y="1010091"/>
                </a:lnTo>
                <a:cubicBezTo>
                  <a:pt x="376008" y="640143"/>
                  <a:pt x="253826" y="305218"/>
                  <a:pt x="56283" y="62780"/>
                </a:cubicBezTo>
                <a:close/>
              </a:path>
            </a:pathLst>
          </a:custGeom>
          <a:solidFill>
            <a:schemeClr val="tx1">
              <a:alpha val="65000"/>
            </a:schemeClr>
          </a:solidFill>
          <a:ln w="31750">
            <a:solidFill>
              <a:srgbClr val="01AA8D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68B6723D-5A76-4FDB-97B9-63646BE449E2}"/>
              </a:ext>
            </a:extLst>
          </p:cNvPr>
          <p:cNvSpPr/>
          <p:nvPr/>
        </p:nvSpPr>
        <p:spPr>
          <a:xfrm flipH="1">
            <a:off x="4611874" y="4258344"/>
            <a:ext cx="731657" cy="1142998"/>
          </a:xfrm>
          <a:custGeom>
            <a:avLst/>
            <a:gdLst>
              <a:gd name="connsiteX0" fmla="*/ 0 w 975543"/>
              <a:gd name="connsiteY0" fmla="*/ 0 h 1142998"/>
              <a:gd name="connsiteX1" fmla="*/ 496782 w 975543"/>
              <a:gd name="connsiteY1" fmla="*/ 0 h 1142998"/>
              <a:gd name="connsiteX2" fmla="*/ 501219 w 975543"/>
              <a:gd name="connsiteY2" fmla="*/ 5964 h 1142998"/>
              <a:gd name="connsiteX3" fmla="*/ 745460 w 975543"/>
              <a:gd name="connsiteY3" fmla="*/ 707401 h 1142998"/>
              <a:gd name="connsiteX4" fmla="*/ 747658 w 975543"/>
              <a:gd name="connsiteY4" fmla="*/ 754911 h 1142998"/>
              <a:gd name="connsiteX5" fmla="*/ 975543 w 975543"/>
              <a:gd name="connsiteY5" fmla="*/ 754911 h 1142998"/>
              <a:gd name="connsiteX6" fmla="*/ 975543 w 975543"/>
              <a:gd name="connsiteY6" fmla="*/ 1142998 h 1142998"/>
              <a:gd name="connsiteX7" fmla="*/ 370540 w 975543"/>
              <a:gd name="connsiteY7" fmla="*/ 1142998 h 1142998"/>
              <a:gd name="connsiteX8" fmla="*/ 376008 w 975543"/>
              <a:gd name="connsiteY8" fmla="*/ 1010091 h 1142998"/>
              <a:gd name="connsiteX9" fmla="*/ 56283 w 975543"/>
              <a:gd name="connsiteY9" fmla="*/ 62780 h 1142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75543" h="1142998">
                <a:moveTo>
                  <a:pt x="0" y="0"/>
                </a:moveTo>
                <a:lnTo>
                  <a:pt x="496782" y="0"/>
                </a:lnTo>
                <a:lnTo>
                  <a:pt x="501219" y="5964"/>
                </a:lnTo>
                <a:cubicBezTo>
                  <a:pt x="633079" y="200867"/>
                  <a:pt x="720774" y="442387"/>
                  <a:pt x="745460" y="707401"/>
                </a:cubicBezTo>
                <a:lnTo>
                  <a:pt x="747658" y="754911"/>
                </a:lnTo>
                <a:lnTo>
                  <a:pt x="975543" y="754911"/>
                </a:lnTo>
                <a:lnTo>
                  <a:pt x="975543" y="1142998"/>
                </a:lnTo>
                <a:lnTo>
                  <a:pt x="370540" y="1142998"/>
                </a:lnTo>
                <a:lnTo>
                  <a:pt x="376008" y="1010091"/>
                </a:lnTo>
                <a:cubicBezTo>
                  <a:pt x="376008" y="640143"/>
                  <a:pt x="253826" y="305218"/>
                  <a:pt x="56283" y="62780"/>
                </a:cubicBezTo>
                <a:close/>
              </a:path>
            </a:pathLst>
          </a:custGeom>
          <a:solidFill>
            <a:schemeClr val="tx1">
              <a:alpha val="65000"/>
            </a:schemeClr>
          </a:solidFill>
          <a:ln w="31750">
            <a:solidFill>
              <a:srgbClr val="4781C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DBA917AF-1E0C-4AFE-B9CB-9806BD63A1B7}"/>
              </a:ext>
            </a:extLst>
          </p:cNvPr>
          <p:cNvSpPr>
            <a:spLocks noChangeAspect="1"/>
          </p:cNvSpPr>
          <p:nvPr/>
        </p:nvSpPr>
        <p:spPr>
          <a:xfrm>
            <a:off x="4166396" y="5512987"/>
            <a:ext cx="822960" cy="181207"/>
          </a:xfrm>
          <a:custGeom>
            <a:avLst/>
            <a:gdLst>
              <a:gd name="connsiteX0" fmla="*/ 2600254 w 5150920"/>
              <a:gd name="connsiteY0" fmla="*/ 0 h 850606"/>
              <a:gd name="connsiteX1" fmla="*/ 4661896 w 5150920"/>
              <a:gd name="connsiteY1" fmla="*/ 0 h 850606"/>
              <a:gd name="connsiteX2" fmla="*/ 5150920 w 5150920"/>
              <a:gd name="connsiteY2" fmla="*/ 425303 h 850606"/>
              <a:gd name="connsiteX3" fmla="*/ 4661896 w 5150920"/>
              <a:gd name="connsiteY3" fmla="*/ 850605 h 850606"/>
              <a:gd name="connsiteX4" fmla="*/ 2600254 w 5150920"/>
              <a:gd name="connsiteY4" fmla="*/ 850605 h 850606"/>
              <a:gd name="connsiteX5" fmla="*/ 2575466 w 5150920"/>
              <a:gd name="connsiteY5" fmla="*/ 848432 h 850606"/>
              <a:gd name="connsiteX6" fmla="*/ 2550666 w 5150920"/>
              <a:gd name="connsiteY6" fmla="*/ 850606 h 850606"/>
              <a:gd name="connsiteX7" fmla="*/ 489024 w 5150920"/>
              <a:gd name="connsiteY7" fmla="*/ 850606 h 850606"/>
              <a:gd name="connsiteX8" fmla="*/ 0 w 5150920"/>
              <a:gd name="connsiteY8" fmla="*/ 425304 h 850606"/>
              <a:gd name="connsiteX9" fmla="*/ 489024 w 5150920"/>
              <a:gd name="connsiteY9" fmla="*/ 1 h 850606"/>
              <a:gd name="connsiteX10" fmla="*/ 2550666 w 5150920"/>
              <a:gd name="connsiteY10" fmla="*/ 1 h 850606"/>
              <a:gd name="connsiteX11" fmla="*/ 2575454 w 5150920"/>
              <a:gd name="connsiteY11" fmla="*/ 2174 h 85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150920" h="850606">
                <a:moveTo>
                  <a:pt x="2600254" y="0"/>
                </a:moveTo>
                <a:lnTo>
                  <a:pt x="4661896" y="0"/>
                </a:lnTo>
                <a:cubicBezTo>
                  <a:pt x="4931950" y="0"/>
                  <a:pt x="5150920" y="190402"/>
                  <a:pt x="5150920" y="425303"/>
                </a:cubicBezTo>
                <a:cubicBezTo>
                  <a:pt x="5150920" y="660204"/>
                  <a:pt x="4931950" y="850605"/>
                  <a:pt x="4661896" y="850605"/>
                </a:cubicBezTo>
                <a:lnTo>
                  <a:pt x="2600254" y="850605"/>
                </a:lnTo>
                <a:lnTo>
                  <a:pt x="2575466" y="848432"/>
                </a:lnTo>
                <a:lnTo>
                  <a:pt x="2550666" y="850606"/>
                </a:lnTo>
                <a:lnTo>
                  <a:pt x="489024" y="850606"/>
                </a:lnTo>
                <a:cubicBezTo>
                  <a:pt x="218970" y="850606"/>
                  <a:pt x="0" y="660205"/>
                  <a:pt x="0" y="425304"/>
                </a:cubicBezTo>
                <a:cubicBezTo>
                  <a:pt x="0" y="190403"/>
                  <a:pt x="218970" y="1"/>
                  <a:pt x="489024" y="1"/>
                </a:cubicBezTo>
                <a:lnTo>
                  <a:pt x="2550666" y="1"/>
                </a:lnTo>
                <a:lnTo>
                  <a:pt x="2575454" y="2174"/>
                </a:lnTo>
                <a:close/>
              </a:path>
            </a:pathLst>
          </a:custGeom>
          <a:solidFill>
            <a:schemeClr val="tx1">
              <a:alpha val="65000"/>
            </a:schemeClr>
          </a:solidFill>
          <a:ln w="254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FA3538F4-85A9-43E8-B7E6-EE8C6365488A}"/>
              </a:ext>
            </a:extLst>
          </p:cNvPr>
          <p:cNvSpPr>
            <a:spLocks noChangeAspect="1"/>
          </p:cNvSpPr>
          <p:nvPr/>
        </p:nvSpPr>
        <p:spPr>
          <a:xfrm>
            <a:off x="4166396" y="5779257"/>
            <a:ext cx="822960" cy="181207"/>
          </a:xfrm>
          <a:custGeom>
            <a:avLst/>
            <a:gdLst>
              <a:gd name="connsiteX0" fmla="*/ 2600254 w 5150920"/>
              <a:gd name="connsiteY0" fmla="*/ 0 h 850606"/>
              <a:gd name="connsiteX1" fmla="*/ 4661896 w 5150920"/>
              <a:gd name="connsiteY1" fmla="*/ 0 h 850606"/>
              <a:gd name="connsiteX2" fmla="*/ 5150920 w 5150920"/>
              <a:gd name="connsiteY2" fmla="*/ 425303 h 850606"/>
              <a:gd name="connsiteX3" fmla="*/ 4661896 w 5150920"/>
              <a:gd name="connsiteY3" fmla="*/ 850605 h 850606"/>
              <a:gd name="connsiteX4" fmla="*/ 2600254 w 5150920"/>
              <a:gd name="connsiteY4" fmla="*/ 850605 h 850606"/>
              <a:gd name="connsiteX5" fmla="*/ 2575466 w 5150920"/>
              <a:gd name="connsiteY5" fmla="*/ 848432 h 850606"/>
              <a:gd name="connsiteX6" fmla="*/ 2550666 w 5150920"/>
              <a:gd name="connsiteY6" fmla="*/ 850606 h 850606"/>
              <a:gd name="connsiteX7" fmla="*/ 489024 w 5150920"/>
              <a:gd name="connsiteY7" fmla="*/ 850606 h 850606"/>
              <a:gd name="connsiteX8" fmla="*/ 0 w 5150920"/>
              <a:gd name="connsiteY8" fmla="*/ 425304 h 850606"/>
              <a:gd name="connsiteX9" fmla="*/ 489024 w 5150920"/>
              <a:gd name="connsiteY9" fmla="*/ 1 h 850606"/>
              <a:gd name="connsiteX10" fmla="*/ 2550666 w 5150920"/>
              <a:gd name="connsiteY10" fmla="*/ 1 h 850606"/>
              <a:gd name="connsiteX11" fmla="*/ 2575454 w 5150920"/>
              <a:gd name="connsiteY11" fmla="*/ 2174 h 85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150920" h="850606">
                <a:moveTo>
                  <a:pt x="2600254" y="0"/>
                </a:moveTo>
                <a:lnTo>
                  <a:pt x="4661896" y="0"/>
                </a:lnTo>
                <a:cubicBezTo>
                  <a:pt x="4931950" y="0"/>
                  <a:pt x="5150920" y="190402"/>
                  <a:pt x="5150920" y="425303"/>
                </a:cubicBezTo>
                <a:cubicBezTo>
                  <a:pt x="5150920" y="660204"/>
                  <a:pt x="4931950" y="850605"/>
                  <a:pt x="4661896" y="850605"/>
                </a:cubicBezTo>
                <a:lnTo>
                  <a:pt x="2600254" y="850605"/>
                </a:lnTo>
                <a:lnTo>
                  <a:pt x="2575466" y="848432"/>
                </a:lnTo>
                <a:lnTo>
                  <a:pt x="2550666" y="850606"/>
                </a:lnTo>
                <a:lnTo>
                  <a:pt x="489024" y="850606"/>
                </a:lnTo>
                <a:cubicBezTo>
                  <a:pt x="218970" y="850606"/>
                  <a:pt x="0" y="660205"/>
                  <a:pt x="0" y="425304"/>
                </a:cubicBezTo>
                <a:cubicBezTo>
                  <a:pt x="0" y="190403"/>
                  <a:pt x="218970" y="1"/>
                  <a:pt x="489024" y="1"/>
                </a:cubicBezTo>
                <a:lnTo>
                  <a:pt x="2550666" y="1"/>
                </a:lnTo>
                <a:lnTo>
                  <a:pt x="2575454" y="2174"/>
                </a:lnTo>
                <a:close/>
              </a:path>
            </a:pathLst>
          </a:custGeom>
          <a:solidFill>
            <a:schemeClr val="tx1">
              <a:alpha val="65000"/>
            </a:schemeClr>
          </a:solidFill>
          <a:ln w="254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F584FBC2-DE7E-4F38-A1D3-B2C58965275F}"/>
              </a:ext>
            </a:extLst>
          </p:cNvPr>
          <p:cNvSpPr>
            <a:spLocks noChangeAspect="1"/>
          </p:cNvSpPr>
          <p:nvPr/>
        </p:nvSpPr>
        <p:spPr>
          <a:xfrm>
            <a:off x="4263390" y="6299569"/>
            <a:ext cx="617220" cy="135905"/>
          </a:xfrm>
          <a:custGeom>
            <a:avLst/>
            <a:gdLst>
              <a:gd name="connsiteX0" fmla="*/ 2600254 w 5150920"/>
              <a:gd name="connsiteY0" fmla="*/ 0 h 850606"/>
              <a:gd name="connsiteX1" fmla="*/ 4661896 w 5150920"/>
              <a:gd name="connsiteY1" fmla="*/ 0 h 850606"/>
              <a:gd name="connsiteX2" fmla="*/ 5150920 w 5150920"/>
              <a:gd name="connsiteY2" fmla="*/ 425303 h 850606"/>
              <a:gd name="connsiteX3" fmla="*/ 4661896 w 5150920"/>
              <a:gd name="connsiteY3" fmla="*/ 850605 h 850606"/>
              <a:gd name="connsiteX4" fmla="*/ 2600254 w 5150920"/>
              <a:gd name="connsiteY4" fmla="*/ 850605 h 850606"/>
              <a:gd name="connsiteX5" fmla="*/ 2575466 w 5150920"/>
              <a:gd name="connsiteY5" fmla="*/ 848432 h 850606"/>
              <a:gd name="connsiteX6" fmla="*/ 2550666 w 5150920"/>
              <a:gd name="connsiteY6" fmla="*/ 850606 h 850606"/>
              <a:gd name="connsiteX7" fmla="*/ 489024 w 5150920"/>
              <a:gd name="connsiteY7" fmla="*/ 850606 h 850606"/>
              <a:gd name="connsiteX8" fmla="*/ 0 w 5150920"/>
              <a:gd name="connsiteY8" fmla="*/ 425304 h 850606"/>
              <a:gd name="connsiteX9" fmla="*/ 489024 w 5150920"/>
              <a:gd name="connsiteY9" fmla="*/ 1 h 850606"/>
              <a:gd name="connsiteX10" fmla="*/ 2550666 w 5150920"/>
              <a:gd name="connsiteY10" fmla="*/ 1 h 850606"/>
              <a:gd name="connsiteX11" fmla="*/ 2575454 w 5150920"/>
              <a:gd name="connsiteY11" fmla="*/ 2174 h 85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150920" h="850606">
                <a:moveTo>
                  <a:pt x="2600254" y="0"/>
                </a:moveTo>
                <a:lnTo>
                  <a:pt x="4661896" y="0"/>
                </a:lnTo>
                <a:cubicBezTo>
                  <a:pt x="4931950" y="0"/>
                  <a:pt x="5150920" y="190402"/>
                  <a:pt x="5150920" y="425303"/>
                </a:cubicBezTo>
                <a:cubicBezTo>
                  <a:pt x="5150920" y="660204"/>
                  <a:pt x="4931950" y="850605"/>
                  <a:pt x="4661896" y="850605"/>
                </a:cubicBezTo>
                <a:lnTo>
                  <a:pt x="2600254" y="850605"/>
                </a:lnTo>
                <a:lnTo>
                  <a:pt x="2575466" y="848432"/>
                </a:lnTo>
                <a:lnTo>
                  <a:pt x="2550666" y="850606"/>
                </a:lnTo>
                <a:lnTo>
                  <a:pt x="489024" y="850606"/>
                </a:lnTo>
                <a:cubicBezTo>
                  <a:pt x="218970" y="850606"/>
                  <a:pt x="0" y="660205"/>
                  <a:pt x="0" y="425304"/>
                </a:cubicBezTo>
                <a:cubicBezTo>
                  <a:pt x="0" y="190403"/>
                  <a:pt x="218970" y="1"/>
                  <a:pt x="489024" y="1"/>
                </a:cubicBezTo>
                <a:lnTo>
                  <a:pt x="2550666" y="1"/>
                </a:lnTo>
                <a:lnTo>
                  <a:pt x="2575454" y="2174"/>
                </a:lnTo>
                <a:close/>
              </a:path>
            </a:pathLst>
          </a:custGeom>
          <a:solidFill>
            <a:schemeClr val="tx1">
              <a:alpha val="65000"/>
            </a:schemeClr>
          </a:solidFill>
          <a:ln w="254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F37E54EC-681F-427F-A8AA-FDE9E784827B}"/>
              </a:ext>
            </a:extLst>
          </p:cNvPr>
          <p:cNvSpPr>
            <a:spLocks noChangeAspect="1"/>
          </p:cNvSpPr>
          <p:nvPr/>
        </p:nvSpPr>
        <p:spPr>
          <a:xfrm>
            <a:off x="4166396" y="6039413"/>
            <a:ext cx="822960" cy="181207"/>
          </a:xfrm>
          <a:custGeom>
            <a:avLst/>
            <a:gdLst>
              <a:gd name="connsiteX0" fmla="*/ 2600254 w 5150920"/>
              <a:gd name="connsiteY0" fmla="*/ 0 h 850606"/>
              <a:gd name="connsiteX1" fmla="*/ 4661896 w 5150920"/>
              <a:gd name="connsiteY1" fmla="*/ 0 h 850606"/>
              <a:gd name="connsiteX2" fmla="*/ 5150920 w 5150920"/>
              <a:gd name="connsiteY2" fmla="*/ 425303 h 850606"/>
              <a:gd name="connsiteX3" fmla="*/ 4661896 w 5150920"/>
              <a:gd name="connsiteY3" fmla="*/ 850605 h 850606"/>
              <a:gd name="connsiteX4" fmla="*/ 2600254 w 5150920"/>
              <a:gd name="connsiteY4" fmla="*/ 850605 h 850606"/>
              <a:gd name="connsiteX5" fmla="*/ 2575466 w 5150920"/>
              <a:gd name="connsiteY5" fmla="*/ 848432 h 850606"/>
              <a:gd name="connsiteX6" fmla="*/ 2550666 w 5150920"/>
              <a:gd name="connsiteY6" fmla="*/ 850606 h 850606"/>
              <a:gd name="connsiteX7" fmla="*/ 489024 w 5150920"/>
              <a:gd name="connsiteY7" fmla="*/ 850606 h 850606"/>
              <a:gd name="connsiteX8" fmla="*/ 0 w 5150920"/>
              <a:gd name="connsiteY8" fmla="*/ 425304 h 850606"/>
              <a:gd name="connsiteX9" fmla="*/ 489024 w 5150920"/>
              <a:gd name="connsiteY9" fmla="*/ 1 h 850606"/>
              <a:gd name="connsiteX10" fmla="*/ 2550666 w 5150920"/>
              <a:gd name="connsiteY10" fmla="*/ 1 h 850606"/>
              <a:gd name="connsiteX11" fmla="*/ 2575454 w 5150920"/>
              <a:gd name="connsiteY11" fmla="*/ 2174 h 85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150920" h="850606">
                <a:moveTo>
                  <a:pt x="2600254" y="0"/>
                </a:moveTo>
                <a:lnTo>
                  <a:pt x="4661896" y="0"/>
                </a:lnTo>
                <a:cubicBezTo>
                  <a:pt x="4931950" y="0"/>
                  <a:pt x="5150920" y="190402"/>
                  <a:pt x="5150920" y="425303"/>
                </a:cubicBezTo>
                <a:cubicBezTo>
                  <a:pt x="5150920" y="660204"/>
                  <a:pt x="4931950" y="850605"/>
                  <a:pt x="4661896" y="850605"/>
                </a:cubicBezTo>
                <a:lnTo>
                  <a:pt x="2600254" y="850605"/>
                </a:lnTo>
                <a:lnTo>
                  <a:pt x="2575466" y="848432"/>
                </a:lnTo>
                <a:lnTo>
                  <a:pt x="2550666" y="850606"/>
                </a:lnTo>
                <a:lnTo>
                  <a:pt x="489024" y="850606"/>
                </a:lnTo>
                <a:cubicBezTo>
                  <a:pt x="218970" y="850606"/>
                  <a:pt x="0" y="660205"/>
                  <a:pt x="0" y="425304"/>
                </a:cubicBezTo>
                <a:cubicBezTo>
                  <a:pt x="0" y="190403"/>
                  <a:pt x="218970" y="1"/>
                  <a:pt x="489024" y="1"/>
                </a:cubicBezTo>
                <a:lnTo>
                  <a:pt x="2550666" y="1"/>
                </a:lnTo>
                <a:lnTo>
                  <a:pt x="2575454" y="2174"/>
                </a:lnTo>
                <a:close/>
              </a:path>
            </a:pathLst>
          </a:custGeom>
          <a:solidFill>
            <a:schemeClr val="tx1">
              <a:alpha val="65000"/>
            </a:schemeClr>
          </a:solidFill>
          <a:ln w="254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66519F34-9C4C-4FEE-A224-757DC382C5EE}"/>
              </a:ext>
            </a:extLst>
          </p:cNvPr>
          <p:cNvSpPr/>
          <p:nvPr/>
        </p:nvSpPr>
        <p:spPr>
          <a:xfrm>
            <a:off x="2422269" y="1710079"/>
            <a:ext cx="778638" cy="1038183"/>
          </a:xfrm>
          <a:custGeom>
            <a:avLst/>
            <a:gdLst>
              <a:gd name="connsiteX0" fmla="*/ 0 w 1127051"/>
              <a:gd name="connsiteY0" fmla="*/ 0 h 1127051"/>
              <a:gd name="connsiteX1" fmla="*/ 1127051 w 1127051"/>
              <a:gd name="connsiteY1" fmla="*/ 0 h 1127051"/>
              <a:gd name="connsiteX2" fmla="*/ 1127051 w 1127051"/>
              <a:gd name="connsiteY2" fmla="*/ 1127051 h 1127051"/>
              <a:gd name="connsiteX3" fmla="*/ 0 w 1127051"/>
              <a:gd name="connsiteY3" fmla="*/ 1127051 h 1127051"/>
              <a:gd name="connsiteX4" fmla="*/ 0 w 1127051"/>
              <a:gd name="connsiteY4" fmla="*/ 916151 h 1127051"/>
              <a:gd name="connsiteX5" fmla="*/ 25584 w 1127051"/>
              <a:gd name="connsiteY5" fmla="*/ 913572 h 1127051"/>
              <a:gd name="connsiteX6" fmla="*/ 317630 w 1127051"/>
              <a:gd name="connsiteY6" fmla="*/ 555243 h 1127051"/>
              <a:gd name="connsiteX7" fmla="*/ 25584 w 1127051"/>
              <a:gd name="connsiteY7" fmla="*/ 196914 h 1127051"/>
              <a:gd name="connsiteX8" fmla="*/ 0 w 1127051"/>
              <a:gd name="connsiteY8" fmla="*/ 194335 h 1127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7051" h="1127051">
                <a:moveTo>
                  <a:pt x="0" y="0"/>
                </a:moveTo>
                <a:lnTo>
                  <a:pt x="1127051" y="0"/>
                </a:lnTo>
                <a:lnTo>
                  <a:pt x="1127051" y="1127051"/>
                </a:lnTo>
                <a:lnTo>
                  <a:pt x="0" y="1127051"/>
                </a:lnTo>
                <a:lnTo>
                  <a:pt x="0" y="916151"/>
                </a:lnTo>
                <a:lnTo>
                  <a:pt x="25584" y="913572"/>
                </a:lnTo>
                <a:cubicBezTo>
                  <a:pt x="192255" y="879467"/>
                  <a:pt x="317630" y="731997"/>
                  <a:pt x="317630" y="555243"/>
                </a:cubicBezTo>
                <a:cubicBezTo>
                  <a:pt x="317630" y="378490"/>
                  <a:pt x="192255" y="231020"/>
                  <a:pt x="25584" y="196914"/>
                </a:cubicBezTo>
                <a:lnTo>
                  <a:pt x="0" y="194335"/>
                </a:lnTo>
                <a:close/>
              </a:path>
            </a:pathLst>
          </a:custGeom>
          <a:blipFill>
            <a:blip r:embed="rId2" cstate="print"/>
            <a:stretch>
              <a:fillRect/>
            </a:stretch>
          </a:blipFill>
          <a:ln w="6350">
            <a:solidFill>
              <a:schemeClr val="bg1">
                <a:alpha val="15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156369C3-5218-4E4A-9C3D-29ECFF9E0679}"/>
              </a:ext>
            </a:extLst>
          </p:cNvPr>
          <p:cNvSpPr/>
          <p:nvPr/>
        </p:nvSpPr>
        <p:spPr>
          <a:xfrm>
            <a:off x="114807" y="1710079"/>
            <a:ext cx="2307462" cy="1038183"/>
          </a:xfrm>
          <a:custGeom>
            <a:avLst/>
            <a:gdLst>
              <a:gd name="connsiteX0" fmla="*/ 0 w 3339970"/>
              <a:gd name="connsiteY0" fmla="*/ 0 h 1127051"/>
              <a:gd name="connsiteX1" fmla="*/ 3339970 w 3339970"/>
              <a:gd name="connsiteY1" fmla="*/ 0 h 1127051"/>
              <a:gd name="connsiteX2" fmla="*/ 3339970 w 3339970"/>
              <a:gd name="connsiteY2" fmla="*/ 194335 h 1127051"/>
              <a:gd name="connsiteX3" fmla="*/ 3291840 w 3339970"/>
              <a:gd name="connsiteY3" fmla="*/ 189483 h 1127051"/>
              <a:gd name="connsiteX4" fmla="*/ 2926080 w 3339970"/>
              <a:gd name="connsiteY4" fmla="*/ 555243 h 1127051"/>
              <a:gd name="connsiteX5" fmla="*/ 3291840 w 3339970"/>
              <a:gd name="connsiteY5" fmla="*/ 921003 h 1127051"/>
              <a:gd name="connsiteX6" fmla="*/ 3339970 w 3339970"/>
              <a:gd name="connsiteY6" fmla="*/ 916151 h 1127051"/>
              <a:gd name="connsiteX7" fmla="*/ 3339970 w 3339970"/>
              <a:gd name="connsiteY7" fmla="*/ 1127051 h 1127051"/>
              <a:gd name="connsiteX8" fmla="*/ 0 w 3339970"/>
              <a:gd name="connsiteY8" fmla="*/ 1127051 h 1127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39970" h="1127051">
                <a:moveTo>
                  <a:pt x="0" y="0"/>
                </a:moveTo>
                <a:lnTo>
                  <a:pt x="3339970" y="0"/>
                </a:lnTo>
                <a:lnTo>
                  <a:pt x="3339970" y="194335"/>
                </a:lnTo>
                <a:lnTo>
                  <a:pt x="3291840" y="189483"/>
                </a:lnTo>
                <a:cubicBezTo>
                  <a:pt x="3089836" y="189483"/>
                  <a:pt x="2926080" y="353239"/>
                  <a:pt x="2926080" y="555243"/>
                </a:cubicBezTo>
                <a:cubicBezTo>
                  <a:pt x="2926080" y="757247"/>
                  <a:pt x="3089836" y="921003"/>
                  <a:pt x="3291840" y="921003"/>
                </a:cubicBezTo>
                <a:lnTo>
                  <a:pt x="3339970" y="916151"/>
                </a:lnTo>
                <a:lnTo>
                  <a:pt x="3339970" y="1127051"/>
                </a:lnTo>
                <a:lnTo>
                  <a:pt x="0" y="1127051"/>
                </a:lnTo>
                <a:close/>
              </a:path>
            </a:pathLst>
          </a:custGeom>
          <a:solidFill>
            <a:schemeClr val="tx1">
              <a:alpha val="75000"/>
            </a:schemeClr>
          </a:solidFill>
          <a:ln w="6350">
            <a:solidFill>
              <a:schemeClr val="bg1">
                <a:alpha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41069387-E653-439A-B00B-F6E7D9823527}"/>
              </a:ext>
            </a:extLst>
          </p:cNvPr>
          <p:cNvSpPr>
            <a:spLocks noChangeAspect="1"/>
          </p:cNvSpPr>
          <p:nvPr/>
        </p:nvSpPr>
        <p:spPr>
          <a:xfrm>
            <a:off x="2167914" y="1926735"/>
            <a:ext cx="442208" cy="589610"/>
          </a:xfrm>
          <a:prstGeom prst="ellipse">
            <a:avLst/>
          </a:prstGeom>
          <a:solidFill>
            <a:srgbClr val="FF2B2A"/>
          </a:solidFill>
          <a:ln w="6350">
            <a:solidFill>
              <a:schemeClr val="bg1">
                <a:alpha val="15000"/>
              </a:schemeClr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chemeClr val="bg1"/>
              </a:solidFill>
              <a:latin typeface="Lato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0F14C22-B894-42CF-8FEC-A67BEF22833D}"/>
              </a:ext>
            </a:extLst>
          </p:cNvPr>
          <p:cNvSpPr txBox="1"/>
          <p:nvPr/>
        </p:nvSpPr>
        <p:spPr>
          <a:xfrm>
            <a:off x="180428" y="1864027"/>
            <a:ext cx="1897304" cy="3693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/>
            <a:r>
              <a:rPr lang="en-US" sz="2400" b="1" dirty="0" err="1">
                <a:solidFill>
                  <a:schemeClr val="bg1"/>
                </a:solidFill>
                <a:latin typeface="Candara" panose="020E0502030303020204" pitchFamily="34" charset="0"/>
              </a:rPr>
              <a:t>Organisation</a:t>
            </a:r>
            <a:r>
              <a:rPr lang="en-US" sz="2400" b="1" dirty="0">
                <a:solidFill>
                  <a:schemeClr val="bg1"/>
                </a:solidFill>
                <a:latin typeface="Candara" panose="020E0502030303020204" pitchFamily="34" charset="0"/>
              </a:rPr>
              <a:t> 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75E9C63E-81B1-45D8-95D6-EEB4463D95BD}"/>
              </a:ext>
            </a:extLst>
          </p:cNvPr>
          <p:cNvSpPr/>
          <p:nvPr/>
        </p:nvSpPr>
        <p:spPr>
          <a:xfrm rot="10800000">
            <a:off x="6725879" y="2457160"/>
            <a:ext cx="2307462" cy="1038185"/>
          </a:xfrm>
          <a:custGeom>
            <a:avLst/>
            <a:gdLst>
              <a:gd name="connsiteX0" fmla="*/ 0 w 3339970"/>
              <a:gd name="connsiteY0" fmla="*/ 0 h 1127051"/>
              <a:gd name="connsiteX1" fmla="*/ 3339970 w 3339970"/>
              <a:gd name="connsiteY1" fmla="*/ 0 h 1127051"/>
              <a:gd name="connsiteX2" fmla="*/ 3339970 w 3339970"/>
              <a:gd name="connsiteY2" fmla="*/ 194335 h 1127051"/>
              <a:gd name="connsiteX3" fmla="*/ 3291840 w 3339970"/>
              <a:gd name="connsiteY3" fmla="*/ 189483 h 1127051"/>
              <a:gd name="connsiteX4" fmla="*/ 2926080 w 3339970"/>
              <a:gd name="connsiteY4" fmla="*/ 555243 h 1127051"/>
              <a:gd name="connsiteX5" fmla="*/ 3291840 w 3339970"/>
              <a:gd name="connsiteY5" fmla="*/ 921003 h 1127051"/>
              <a:gd name="connsiteX6" fmla="*/ 3339970 w 3339970"/>
              <a:gd name="connsiteY6" fmla="*/ 916151 h 1127051"/>
              <a:gd name="connsiteX7" fmla="*/ 3339970 w 3339970"/>
              <a:gd name="connsiteY7" fmla="*/ 1127051 h 1127051"/>
              <a:gd name="connsiteX8" fmla="*/ 0 w 3339970"/>
              <a:gd name="connsiteY8" fmla="*/ 1127051 h 1127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39970" h="1127051">
                <a:moveTo>
                  <a:pt x="0" y="0"/>
                </a:moveTo>
                <a:lnTo>
                  <a:pt x="3339970" y="0"/>
                </a:lnTo>
                <a:lnTo>
                  <a:pt x="3339970" y="194335"/>
                </a:lnTo>
                <a:lnTo>
                  <a:pt x="3291840" y="189483"/>
                </a:lnTo>
                <a:cubicBezTo>
                  <a:pt x="3089836" y="189483"/>
                  <a:pt x="2926080" y="353239"/>
                  <a:pt x="2926080" y="555243"/>
                </a:cubicBezTo>
                <a:cubicBezTo>
                  <a:pt x="2926080" y="757247"/>
                  <a:pt x="3089836" y="921003"/>
                  <a:pt x="3291840" y="921003"/>
                </a:cubicBezTo>
                <a:lnTo>
                  <a:pt x="3339970" y="916151"/>
                </a:lnTo>
                <a:lnTo>
                  <a:pt x="3339970" y="1127051"/>
                </a:lnTo>
                <a:lnTo>
                  <a:pt x="0" y="1127051"/>
                </a:lnTo>
                <a:close/>
              </a:path>
            </a:pathLst>
          </a:custGeom>
          <a:solidFill>
            <a:schemeClr val="tx1">
              <a:alpha val="75000"/>
            </a:schemeClr>
          </a:solidFill>
          <a:ln w="6350">
            <a:solidFill>
              <a:schemeClr val="bg1">
                <a:alpha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9D6ACEA5-4BD8-40CE-A5AB-CE6B1A20762F}"/>
              </a:ext>
            </a:extLst>
          </p:cNvPr>
          <p:cNvSpPr>
            <a:spLocks noChangeAspect="1"/>
          </p:cNvSpPr>
          <p:nvPr/>
        </p:nvSpPr>
        <p:spPr>
          <a:xfrm>
            <a:off x="6540094" y="2692934"/>
            <a:ext cx="442208" cy="589611"/>
          </a:xfrm>
          <a:prstGeom prst="ellipse">
            <a:avLst/>
          </a:prstGeom>
          <a:solidFill>
            <a:srgbClr val="85C401"/>
          </a:solidFill>
          <a:ln w="6350">
            <a:solidFill>
              <a:schemeClr val="bg1">
                <a:alpha val="15000"/>
              </a:schemeClr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chemeClr val="bg1"/>
              </a:solidFill>
              <a:latin typeface="Lato"/>
            </a:endParaRP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50454E94-9F5D-4BCA-96EA-BD67E7277B8D}"/>
              </a:ext>
            </a:extLst>
          </p:cNvPr>
          <p:cNvSpPr/>
          <p:nvPr/>
        </p:nvSpPr>
        <p:spPr>
          <a:xfrm rot="10800000">
            <a:off x="5947241" y="2458853"/>
            <a:ext cx="778638" cy="1038185"/>
          </a:xfrm>
          <a:custGeom>
            <a:avLst/>
            <a:gdLst>
              <a:gd name="connsiteX0" fmla="*/ 0 w 1127051"/>
              <a:gd name="connsiteY0" fmla="*/ 0 h 1127051"/>
              <a:gd name="connsiteX1" fmla="*/ 1127051 w 1127051"/>
              <a:gd name="connsiteY1" fmla="*/ 0 h 1127051"/>
              <a:gd name="connsiteX2" fmla="*/ 1127051 w 1127051"/>
              <a:gd name="connsiteY2" fmla="*/ 1127051 h 1127051"/>
              <a:gd name="connsiteX3" fmla="*/ 0 w 1127051"/>
              <a:gd name="connsiteY3" fmla="*/ 1127051 h 1127051"/>
              <a:gd name="connsiteX4" fmla="*/ 0 w 1127051"/>
              <a:gd name="connsiteY4" fmla="*/ 916151 h 1127051"/>
              <a:gd name="connsiteX5" fmla="*/ 25584 w 1127051"/>
              <a:gd name="connsiteY5" fmla="*/ 913572 h 1127051"/>
              <a:gd name="connsiteX6" fmla="*/ 317630 w 1127051"/>
              <a:gd name="connsiteY6" fmla="*/ 555243 h 1127051"/>
              <a:gd name="connsiteX7" fmla="*/ 25584 w 1127051"/>
              <a:gd name="connsiteY7" fmla="*/ 196914 h 1127051"/>
              <a:gd name="connsiteX8" fmla="*/ 0 w 1127051"/>
              <a:gd name="connsiteY8" fmla="*/ 194335 h 1127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7051" h="1127051">
                <a:moveTo>
                  <a:pt x="0" y="0"/>
                </a:moveTo>
                <a:lnTo>
                  <a:pt x="1127051" y="0"/>
                </a:lnTo>
                <a:lnTo>
                  <a:pt x="1127051" y="1127051"/>
                </a:lnTo>
                <a:lnTo>
                  <a:pt x="0" y="1127051"/>
                </a:lnTo>
                <a:lnTo>
                  <a:pt x="0" y="916151"/>
                </a:lnTo>
                <a:lnTo>
                  <a:pt x="25584" y="913572"/>
                </a:lnTo>
                <a:cubicBezTo>
                  <a:pt x="192255" y="879467"/>
                  <a:pt x="317630" y="731997"/>
                  <a:pt x="317630" y="555243"/>
                </a:cubicBezTo>
                <a:cubicBezTo>
                  <a:pt x="317630" y="378490"/>
                  <a:pt x="192255" y="231020"/>
                  <a:pt x="25584" y="196914"/>
                </a:cubicBezTo>
                <a:lnTo>
                  <a:pt x="0" y="194335"/>
                </a:lnTo>
                <a:close/>
              </a:path>
            </a:pathLst>
          </a:custGeom>
          <a:blipFill dpi="0" rotWithShape="0">
            <a:blip r:embed="rId3" cstate="print"/>
            <a:srcRect/>
            <a:stretch>
              <a:fillRect/>
            </a:stretch>
          </a:blipFill>
          <a:ln w="6350">
            <a:solidFill>
              <a:schemeClr val="bg1">
                <a:alpha val="15000"/>
              </a:scheme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B8DCD66-9216-4CC3-98E3-43AA8BC0A8F2}"/>
              </a:ext>
            </a:extLst>
          </p:cNvPr>
          <p:cNvSpPr txBox="1"/>
          <p:nvPr/>
        </p:nvSpPr>
        <p:spPr>
          <a:xfrm>
            <a:off x="7084399" y="2620432"/>
            <a:ext cx="1897304" cy="3693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 err="1">
                <a:solidFill>
                  <a:schemeClr val="bg1"/>
                </a:solidFill>
                <a:latin typeface="Candara" panose="020E0502030303020204" pitchFamily="34" charset="0"/>
              </a:rPr>
              <a:t>Ressources</a:t>
            </a:r>
            <a:r>
              <a:rPr lang="en-US" sz="2400" b="1" dirty="0">
                <a:solidFill>
                  <a:schemeClr val="bg1"/>
                </a:solidFill>
                <a:latin typeface="Candara" panose="020E0502030303020204" pitchFamily="34" charset="0"/>
              </a:rPr>
              <a:t>  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3E9F6EA3-593F-4D48-8DE1-C2DEAA8DD916}"/>
              </a:ext>
            </a:extLst>
          </p:cNvPr>
          <p:cNvSpPr/>
          <p:nvPr/>
        </p:nvSpPr>
        <p:spPr>
          <a:xfrm>
            <a:off x="2422269" y="3051554"/>
            <a:ext cx="778638" cy="1038183"/>
          </a:xfrm>
          <a:custGeom>
            <a:avLst/>
            <a:gdLst>
              <a:gd name="connsiteX0" fmla="*/ 0 w 1127051"/>
              <a:gd name="connsiteY0" fmla="*/ 0 h 1127051"/>
              <a:gd name="connsiteX1" fmla="*/ 1127051 w 1127051"/>
              <a:gd name="connsiteY1" fmla="*/ 0 h 1127051"/>
              <a:gd name="connsiteX2" fmla="*/ 1127051 w 1127051"/>
              <a:gd name="connsiteY2" fmla="*/ 1127051 h 1127051"/>
              <a:gd name="connsiteX3" fmla="*/ 0 w 1127051"/>
              <a:gd name="connsiteY3" fmla="*/ 1127051 h 1127051"/>
              <a:gd name="connsiteX4" fmla="*/ 0 w 1127051"/>
              <a:gd name="connsiteY4" fmla="*/ 916151 h 1127051"/>
              <a:gd name="connsiteX5" fmla="*/ 25584 w 1127051"/>
              <a:gd name="connsiteY5" fmla="*/ 913572 h 1127051"/>
              <a:gd name="connsiteX6" fmla="*/ 317630 w 1127051"/>
              <a:gd name="connsiteY6" fmla="*/ 555243 h 1127051"/>
              <a:gd name="connsiteX7" fmla="*/ 25584 w 1127051"/>
              <a:gd name="connsiteY7" fmla="*/ 196914 h 1127051"/>
              <a:gd name="connsiteX8" fmla="*/ 0 w 1127051"/>
              <a:gd name="connsiteY8" fmla="*/ 194335 h 1127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7051" h="1127051">
                <a:moveTo>
                  <a:pt x="0" y="0"/>
                </a:moveTo>
                <a:lnTo>
                  <a:pt x="1127051" y="0"/>
                </a:lnTo>
                <a:lnTo>
                  <a:pt x="1127051" y="1127051"/>
                </a:lnTo>
                <a:lnTo>
                  <a:pt x="0" y="1127051"/>
                </a:lnTo>
                <a:lnTo>
                  <a:pt x="0" y="916151"/>
                </a:lnTo>
                <a:lnTo>
                  <a:pt x="25584" y="913572"/>
                </a:lnTo>
                <a:cubicBezTo>
                  <a:pt x="192255" y="879467"/>
                  <a:pt x="317630" y="731997"/>
                  <a:pt x="317630" y="555243"/>
                </a:cubicBezTo>
                <a:cubicBezTo>
                  <a:pt x="317630" y="378490"/>
                  <a:pt x="192255" y="231020"/>
                  <a:pt x="25584" y="196914"/>
                </a:cubicBezTo>
                <a:lnTo>
                  <a:pt x="0" y="194335"/>
                </a:lnTo>
                <a:close/>
              </a:path>
            </a:pathLst>
          </a:custGeom>
          <a:blipFill>
            <a:blip r:embed="rId4" cstate="print"/>
            <a:stretch>
              <a:fillRect/>
            </a:stretch>
          </a:blipFill>
          <a:ln w="6350">
            <a:solidFill>
              <a:schemeClr val="bg1">
                <a:alpha val="15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5736D595-48B1-4162-951B-50B1F0EBB01A}"/>
              </a:ext>
            </a:extLst>
          </p:cNvPr>
          <p:cNvSpPr/>
          <p:nvPr/>
        </p:nvSpPr>
        <p:spPr>
          <a:xfrm>
            <a:off x="114807" y="3051554"/>
            <a:ext cx="2307462" cy="1038183"/>
          </a:xfrm>
          <a:custGeom>
            <a:avLst/>
            <a:gdLst>
              <a:gd name="connsiteX0" fmla="*/ 0 w 3339970"/>
              <a:gd name="connsiteY0" fmla="*/ 0 h 1127051"/>
              <a:gd name="connsiteX1" fmla="*/ 3339970 w 3339970"/>
              <a:gd name="connsiteY1" fmla="*/ 0 h 1127051"/>
              <a:gd name="connsiteX2" fmla="*/ 3339970 w 3339970"/>
              <a:gd name="connsiteY2" fmla="*/ 194335 h 1127051"/>
              <a:gd name="connsiteX3" fmla="*/ 3291840 w 3339970"/>
              <a:gd name="connsiteY3" fmla="*/ 189483 h 1127051"/>
              <a:gd name="connsiteX4" fmla="*/ 2926080 w 3339970"/>
              <a:gd name="connsiteY4" fmla="*/ 555243 h 1127051"/>
              <a:gd name="connsiteX5" fmla="*/ 3291840 w 3339970"/>
              <a:gd name="connsiteY5" fmla="*/ 921003 h 1127051"/>
              <a:gd name="connsiteX6" fmla="*/ 3339970 w 3339970"/>
              <a:gd name="connsiteY6" fmla="*/ 916151 h 1127051"/>
              <a:gd name="connsiteX7" fmla="*/ 3339970 w 3339970"/>
              <a:gd name="connsiteY7" fmla="*/ 1127051 h 1127051"/>
              <a:gd name="connsiteX8" fmla="*/ 0 w 3339970"/>
              <a:gd name="connsiteY8" fmla="*/ 1127051 h 1127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39970" h="1127051">
                <a:moveTo>
                  <a:pt x="0" y="0"/>
                </a:moveTo>
                <a:lnTo>
                  <a:pt x="3339970" y="0"/>
                </a:lnTo>
                <a:lnTo>
                  <a:pt x="3339970" y="194335"/>
                </a:lnTo>
                <a:lnTo>
                  <a:pt x="3291840" y="189483"/>
                </a:lnTo>
                <a:cubicBezTo>
                  <a:pt x="3089836" y="189483"/>
                  <a:pt x="2926080" y="353239"/>
                  <a:pt x="2926080" y="555243"/>
                </a:cubicBezTo>
                <a:cubicBezTo>
                  <a:pt x="2926080" y="757247"/>
                  <a:pt x="3089836" y="921003"/>
                  <a:pt x="3291840" y="921003"/>
                </a:cubicBezTo>
                <a:lnTo>
                  <a:pt x="3339970" y="916151"/>
                </a:lnTo>
                <a:lnTo>
                  <a:pt x="3339970" y="1127051"/>
                </a:lnTo>
                <a:lnTo>
                  <a:pt x="0" y="1127051"/>
                </a:lnTo>
                <a:close/>
              </a:path>
            </a:pathLst>
          </a:custGeom>
          <a:solidFill>
            <a:schemeClr val="tx1">
              <a:alpha val="75000"/>
            </a:schemeClr>
          </a:solidFill>
          <a:ln w="6350">
            <a:solidFill>
              <a:schemeClr val="bg1">
                <a:alpha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F4A9BF2B-E866-4072-AEAB-D98534FA53F7}"/>
              </a:ext>
            </a:extLst>
          </p:cNvPr>
          <p:cNvSpPr>
            <a:spLocks noChangeAspect="1"/>
          </p:cNvSpPr>
          <p:nvPr/>
        </p:nvSpPr>
        <p:spPr>
          <a:xfrm>
            <a:off x="2167914" y="3268210"/>
            <a:ext cx="442208" cy="589610"/>
          </a:xfrm>
          <a:prstGeom prst="ellipse">
            <a:avLst/>
          </a:prstGeom>
          <a:solidFill>
            <a:srgbClr val="3EB8CD"/>
          </a:solidFill>
          <a:ln w="6350">
            <a:solidFill>
              <a:schemeClr val="bg1">
                <a:alpha val="15000"/>
              </a:schemeClr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chemeClr val="bg1"/>
              </a:solidFill>
              <a:latin typeface="Lato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2204CEA-3704-41BF-A297-126E7B2B45F2}"/>
              </a:ext>
            </a:extLst>
          </p:cNvPr>
          <p:cNvSpPr txBox="1"/>
          <p:nvPr/>
        </p:nvSpPr>
        <p:spPr>
          <a:xfrm>
            <a:off x="180428" y="3205502"/>
            <a:ext cx="2391308" cy="3693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ndara" panose="020E0502030303020204" pitchFamily="34" charset="0"/>
              </a:rPr>
              <a:t>Performance</a:t>
            </a:r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BBBC6417-71F7-4448-A3DD-2AC70470B750}"/>
              </a:ext>
            </a:extLst>
          </p:cNvPr>
          <p:cNvSpPr/>
          <p:nvPr/>
        </p:nvSpPr>
        <p:spPr>
          <a:xfrm rot="10800000">
            <a:off x="6725879" y="3798635"/>
            <a:ext cx="2307462" cy="1038185"/>
          </a:xfrm>
          <a:custGeom>
            <a:avLst/>
            <a:gdLst>
              <a:gd name="connsiteX0" fmla="*/ 0 w 3339970"/>
              <a:gd name="connsiteY0" fmla="*/ 0 h 1127051"/>
              <a:gd name="connsiteX1" fmla="*/ 3339970 w 3339970"/>
              <a:gd name="connsiteY1" fmla="*/ 0 h 1127051"/>
              <a:gd name="connsiteX2" fmla="*/ 3339970 w 3339970"/>
              <a:gd name="connsiteY2" fmla="*/ 194335 h 1127051"/>
              <a:gd name="connsiteX3" fmla="*/ 3291840 w 3339970"/>
              <a:gd name="connsiteY3" fmla="*/ 189483 h 1127051"/>
              <a:gd name="connsiteX4" fmla="*/ 2926080 w 3339970"/>
              <a:gd name="connsiteY4" fmla="*/ 555243 h 1127051"/>
              <a:gd name="connsiteX5" fmla="*/ 3291840 w 3339970"/>
              <a:gd name="connsiteY5" fmla="*/ 921003 h 1127051"/>
              <a:gd name="connsiteX6" fmla="*/ 3339970 w 3339970"/>
              <a:gd name="connsiteY6" fmla="*/ 916151 h 1127051"/>
              <a:gd name="connsiteX7" fmla="*/ 3339970 w 3339970"/>
              <a:gd name="connsiteY7" fmla="*/ 1127051 h 1127051"/>
              <a:gd name="connsiteX8" fmla="*/ 0 w 3339970"/>
              <a:gd name="connsiteY8" fmla="*/ 1127051 h 1127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39970" h="1127051">
                <a:moveTo>
                  <a:pt x="0" y="0"/>
                </a:moveTo>
                <a:lnTo>
                  <a:pt x="3339970" y="0"/>
                </a:lnTo>
                <a:lnTo>
                  <a:pt x="3339970" y="194335"/>
                </a:lnTo>
                <a:lnTo>
                  <a:pt x="3291840" y="189483"/>
                </a:lnTo>
                <a:cubicBezTo>
                  <a:pt x="3089836" y="189483"/>
                  <a:pt x="2926080" y="353239"/>
                  <a:pt x="2926080" y="555243"/>
                </a:cubicBezTo>
                <a:cubicBezTo>
                  <a:pt x="2926080" y="757247"/>
                  <a:pt x="3089836" y="921003"/>
                  <a:pt x="3291840" y="921003"/>
                </a:cubicBezTo>
                <a:lnTo>
                  <a:pt x="3339970" y="916151"/>
                </a:lnTo>
                <a:lnTo>
                  <a:pt x="3339970" y="1127051"/>
                </a:lnTo>
                <a:lnTo>
                  <a:pt x="0" y="1127051"/>
                </a:lnTo>
                <a:close/>
              </a:path>
            </a:pathLst>
          </a:custGeom>
          <a:solidFill>
            <a:schemeClr val="tx1">
              <a:alpha val="75000"/>
            </a:schemeClr>
          </a:solidFill>
          <a:ln w="6350">
            <a:solidFill>
              <a:schemeClr val="bg1">
                <a:alpha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D2886446-328E-4133-AFC2-8429BD1164D3}"/>
              </a:ext>
            </a:extLst>
          </p:cNvPr>
          <p:cNvSpPr>
            <a:spLocks noChangeAspect="1"/>
          </p:cNvSpPr>
          <p:nvPr/>
        </p:nvSpPr>
        <p:spPr>
          <a:xfrm>
            <a:off x="6540094" y="4034409"/>
            <a:ext cx="442208" cy="589611"/>
          </a:xfrm>
          <a:prstGeom prst="ellipse">
            <a:avLst/>
          </a:prstGeom>
          <a:solidFill>
            <a:srgbClr val="FFA803"/>
          </a:solidFill>
          <a:ln w="6350">
            <a:solidFill>
              <a:schemeClr val="bg1">
                <a:alpha val="15000"/>
              </a:schemeClr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chemeClr val="bg1"/>
              </a:solidFill>
              <a:latin typeface="Lato"/>
            </a:endParaRPr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09B07FCC-D7DF-485A-B4E2-A76E34C0F740}"/>
              </a:ext>
            </a:extLst>
          </p:cNvPr>
          <p:cNvSpPr/>
          <p:nvPr/>
        </p:nvSpPr>
        <p:spPr>
          <a:xfrm rot="10800000">
            <a:off x="5947241" y="3800328"/>
            <a:ext cx="778638" cy="1038185"/>
          </a:xfrm>
          <a:custGeom>
            <a:avLst/>
            <a:gdLst>
              <a:gd name="connsiteX0" fmla="*/ 0 w 1127051"/>
              <a:gd name="connsiteY0" fmla="*/ 0 h 1127051"/>
              <a:gd name="connsiteX1" fmla="*/ 1127051 w 1127051"/>
              <a:gd name="connsiteY1" fmla="*/ 0 h 1127051"/>
              <a:gd name="connsiteX2" fmla="*/ 1127051 w 1127051"/>
              <a:gd name="connsiteY2" fmla="*/ 1127051 h 1127051"/>
              <a:gd name="connsiteX3" fmla="*/ 0 w 1127051"/>
              <a:gd name="connsiteY3" fmla="*/ 1127051 h 1127051"/>
              <a:gd name="connsiteX4" fmla="*/ 0 w 1127051"/>
              <a:gd name="connsiteY4" fmla="*/ 916151 h 1127051"/>
              <a:gd name="connsiteX5" fmla="*/ 25584 w 1127051"/>
              <a:gd name="connsiteY5" fmla="*/ 913572 h 1127051"/>
              <a:gd name="connsiteX6" fmla="*/ 317630 w 1127051"/>
              <a:gd name="connsiteY6" fmla="*/ 555243 h 1127051"/>
              <a:gd name="connsiteX7" fmla="*/ 25584 w 1127051"/>
              <a:gd name="connsiteY7" fmla="*/ 196914 h 1127051"/>
              <a:gd name="connsiteX8" fmla="*/ 0 w 1127051"/>
              <a:gd name="connsiteY8" fmla="*/ 194335 h 1127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7051" h="1127051">
                <a:moveTo>
                  <a:pt x="0" y="0"/>
                </a:moveTo>
                <a:lnTo>
                  <a:pt x="1127051" y="0"/>
                </a:lnTo>
                <a:lnTo>
                  <a:pt x="1127051" y="1127051"/>
                </a:lnTo>
                <a:lnTo>
                  <a:pt x="0" y="1127051"/>
                </a:lnTo>
                <a:lnTo>
                  <a:pt x="0" y="916151"/>
                </a:lnTo>
                <a:lnTo>
                  <a:pt x="25584" y="913572"/>
                </a:lnTo>
                <a:cubicBezTo>
                  <a:pt x="192255" y="879467"/>
                  <a:pt x="317630" y="731997"/>
                  <a:pt x="317630" y="555243"/>
                </a:cubicBezTo>
                <a:cubicBezTo>
                  <a:pt x="317630" y="378490"/>
                  <a:pt x="192255" y="231020"/>
                  <a:pt x="25584" y="196914"/>
                </a:cubicBezTo>
                <a:lnTo>
                  <a:pt x="0" y="194335"/>
                </a:lnTo>
                <a:close/>
              </a:path>
            </a:pathLst>
          </a:custGeom>
          <a:blipFill dpi="0" rotWithShape="0">
            <a:blip r:embed="rId5" cstate="print"/>
            <a:srcRect/>
            <a:stretch>
              <a:fillRect/>
            </a:stretch>
          </a:blipFill>
          <a:ln w="6350">
            <a:solidFill>
              <a:schemeClr val="bg1">
                <a:alpha val="15000"/>
              </a:scheme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A5F26AC-7EA6-48CA-932A-E16B5C2B4276}"/>
              </a:ext>
            </a:extLst>
          </p:cNvPr>
          <p:cNvSpPr txBox="1"/>
          <p:nvPr/>
        </p:nvSpPr>
        <p:spPr>
          <a:xfrm>
            <a:off x="6786578" y="3961907"/>
            <a:ext cx="2357421" cy="3693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 err="1">
                <a:solidFill>
                  <a:schemeClr val="bg1"/>
                </a:solidFill>
                <a:latin typeface="Candara" panose="020E0502030303020204" pitchFamily="34" charset="0"/>
              </a:rPr>
              <a:t>Fonctions</a:t>
            </a:r>
            <a:r>
              <a:rPr lang="en-US" sz="2400" b="1" dirty="0">
                <a:solidFill>
                  <a:schemeClr val="bg1"/>
                </a:solidFill>
                <a:latin typeface="Candara" panose="020E0502030303020204" pitchFamily="34" charset="0"/>
              </a:rPr>
              <a:t>  </a:t>
            </a:r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09FC2D54-A795-47F8-91BC-69A5EECEEBA6}"/>
              </a:ext>
            </a:extLst>
          </p:cNvPr>
          <p:cNvSpPr/>
          <p:nvPr/>
        </p:nvSpPr>
        <p:spPr>
          <a:xfrm>
            <a:off x="2571736" y="4286256"/>
            <a:ext cx="649533" cy="1143008"/>
          </a:xfrm>
          <a:custGeom>
            <a:avLst/>
            <a:gdLst>
              <a:gd name="connsiteX0" fmla="*/ 0 w 1127051"/>
              <a:gd name="connsiteY0" fmla="*/ 0 h 1127051"/>
              <a:gd name="connsiteX1" fmla="*/ 1127051 w 1127051"/>
              <a:gd name="connsiteY1" fmla="*/ 0 h 1127051"/>
              <a:gd name="connsiteX2" fmla="*/ 1127051 w 1127051"/>
              <a:gd name="connsiteY2" fmla="*/ 1127051 h 1127051"/>
              <a:gd name="connsiteX3" fmla="*/ 0 w 1127051"/>
              <a:gd name="connsiteY3" fmla="*/ 1127051 h 1127051"/>
              <a:gd name="connsiteX4" fmla="*/ 0 w 1127051"/>
              <a:gd name="connsiteY4" fmla="*/ 916151 h 1127051"/>
              <a:gd name="connsiteX5" fmla="*/ 25584 w 1127051"/>
              <a:gd name="connsiteY5" fmla="*/ 913572 h 1127051"/>
              <a:gd name="connsiteX6" fmla="*/ 317630 w 1127051"/>
              <a:gd name="connsiteY6" fmla="*/ 555243 h 1127051"/>
              <a:gd name="connsiteX7" fmla="*/ 25584 w 1127051"/>
              <a:gd name="connsiteY7" fmla="*/ 196914 h 1127051"/>
              <a:gd name="connsiteX8" fmla="*/ 0 w 1127051"/>
              <a:gd name="connsiteY8" fmla="*/ 194335 h 1127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7051" h="1127051">
                <a:moveTo>
                  <a:pt x="0" y="0"/>
                </a:moveTo>
                <a:lnTo>
                  <a:pt x="1127051" y="0"/>
                </a:lnTo>
                <a:lnTo>
                  <a:pt x="1127051" y="1127051"/>
                </a:lnTo>
                <a:lnTo>
                  <a:pt x="0" y="1127051"/>
                </a:lnTo>
                <a:lnTo>
                  <a:pt x="0" y="916151"/>
                </a:lnTo>
                <a:lnTo>
                  <a:pt x="25584" y="913572"/>
                </a:lnTo>
                <a:cubicBezTo>
                  <a:pt x="192255" y="879467"/>
                  <a:pt x="317630" y="731997"/>
                  <a:pt x="317630" y="555243"/>
                </a:cubicBezTo>
                <a:cubicBezTo>
                  <a:pt x="317630" y="378490"/>
                  <a:pt x="192255" y="231020"/>
                  <a:pt x="25584" y="196914"/>
                </a:cubicBezTo>
                <a:lnTo>
                  <a:pt x="0" y="194335"/>
                </a:lnTo>
                <a:close/>
              </a:path>
            </a:pathLst>
          </a:custGeom>
          <a:blipFill>
            <a:blip r:embed="rId6" cstate="print"/>
            <a:stretch>
              <a:fillRect/>
            </a:stretch>
          </a:blipFill>
          <a:ln w="6350">
            <a:solidFill>
              <a:schemeClr val="bg1">
                <a:alpha val="15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F79B6231-9975-4556-B5B9-16A4123D7D26}"/>
              </a:ext>
            </a:extLst>
          </p:cNvPr>
          <p:cNvSpPr/>
          <p:nvPr/>
        </p:nvSpPr>
        <p:spPr>
          <a:xfrm>
            <a:off x="114806" y="4296363"/>
            <a:ext cx="2956996" cy="1132901"/>
          </a:xfrm>
          <a:custGeom>
            <a:avLst/>
            <a:gdLst>
              <a:gd name="connsiteX0" fmla="*/ 0 w 3339970"/>
              <a:gd name="connsiteY0" fmla="*/ 0 h 1127051"/>
              <a:gd name="connsiteX1" fmla="*/ 3339970 w 3339970"/>
              <a:gd name="connsiteY1" fmla="*/ 0 h 1127051"/>
              <a:gd name="connsiteX2" fmla="*/ 3339970 w 3339970"/>
              <a:gd name="connsiteY2" fmla="*/ 194335 h 1127051"/>
              <a:gd name="connsiteX3" fmla="*/ 3291840 w 3339970"/>
              <a:gd name="connsiteY3" fmla="*/ 189483 h 1127051"/>
              <a:gd name="connsiteX4" fmla="*/ 2926080 w 3339970"/>
              <a:gd name="connsiteY4" fmla="*/ 555243 h 1127051"/>
              <a:gd name="connsiteX5" fmla="*/ 3291840 w 3339970"/>
              <a:gd name="connsiteY5" fmla="*/ 921003 h 1127051"/>
              <a:gd name="connsiteX6" fmla="*/ 3339970 w 3339970"/>
              <a:gd name="connsiteY6" fmla="*/ 916151 h 1127051"/>
              <a:gd name="connsiteX7" fmla="*/ 3339970 w 3339970"/>
              <a:gd name="connsiteY7" fmla="*/ 1127051 h 1127051"/>
              <a:gd name="connsiteX8" fmla="*/ 0 w 3339970"/>
              <a:gd name="connsiteY8" fmla="*/ 1127051 h 1127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39970" h="1127051">
                <a:moveTo>
                  <a:pt x="0" y="0"/>
                </a:moveTo>
                <a:lnTo>
                  <a:pt x="3339970" y="0"/>
                </a:lnTo>
                <a:lnTo>
                  <a:pt x="3339970" y="194335"/>
                </a:lnTo>
                <a:lnTo>
                  <a:pt x="3291840" y="189483"/>
                </a:lnTo>
                <a:cubicBezTo>
                  <a:pt x="3089836" y="189483"/>
                  <a:pt x="2926080" y="353239"/>
                  <a:pt x="2926080" y="555243"/>
                </a:cubicBezTo>
                <a:cubicBezTo>
                  <a:pt x="2926080" y="757247"/>
                  <a:pt x="3089836" y="921003"/>
                  <a:pt x="3291840" y="921003"/>
                </a:cubicBezTo>
                <a:lnTo>
                  <a:pt x="3339970" y="916151"/>
                </a:lnTo>
                <a:lnTo>
                  <a:pt x="3339970" y="1127051"/>
                </a:lnTo>
                <a:lnTo>
                  <a:pt x="0" y="1127051"/>
                </a:lnTo>
                <a:close/>
              </a:path>
            </a:pathLst>
          </a:custGeom>
          <a:solidFill>
            <a:schemeClr val="tx1">
              <a:alpha val="75000"/>
            </a:schemeClr>
          </a:solidFill>
          <a:ln w="6350">
            <a:solidFill>
              <a:schemeClr val="bg1">
                <a:alpha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BA08D9B1-3124-40A7-85FC-EBB003348F7B}"/>
              </a:ext>
            </a:extLst>
          </p:cNvPr>
          <p:cNvSpPr>
            <a:spLocks noChangeAspect="1"/>
          </p:cNvSpPr>
          <p:nvPr/>
        </p:nvSpPr>
        <p:spPr>
          <a:xfrm>
            <a:off x="2357422" y="4500570"/>
            <a:ext cx="442208" cy="589610"/>
          </a:xfrm>
          <a:prstGeom prst="ellipse">
            <a:avLst/>
          </a:prstGeom>
          <a:solidFill>
            <a:srgbClr val="01AA8D"/>
          </a:solidFill>
          <a:ln w="6350">
            <a:solidFill>
              <a:schemeClr val="bg1">
                <a:alpha val="15000"/>
              </a:schemeClr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chemeClr val="bg1"/>
              </a:solidFill>
              <a:latin typeface="Lato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BC70A02-2BEA-4584-BCCE-0F7220DD00FD}"/>
              </a:ext>
            </a:extLst>
          </p:cNvPr>
          <p:cNvSpPr txBox="1"/>
          <p:nvPr/>
        </p:nvSpPr>
        <p:spPr>
          <a:xfrm>
            <a:off x="214282" y="4357694"/>
            <a:ext cx="2105556" cy="110799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 err="1">
                <a:solidFill>
                  <a:schemeClr val="bg1"/>
                </a:solidFill>
                <a:latin typeface="Candara" panose="020E0502030303020204" pitchFamily="34" charset="0"/>
              </a:rPr>
              <a:t>Produit</a:t>
            </a:r>
            <a:r>
              <a:rPr lang="en-US" sz="2400" b="1" dirty="0">
                <a:solidFill>
                  <a:schemeClr val="bg1"/>
                </a:solidFill>
                <a:latin typeface="Candara" panose="020E0502030303020204" pitchFamily="34" charset="0"/>
              </a:rPr>
              <a:t> et vend  des </a:t>
            </a:r>
            <a:r>
              <a:rPr lang="en-US" sz="2400" b="1" dirty="0" err="1">
                <a:solidFill>
                  <a:schemeClr val="bg1"/>
                </a:solidFill>
                <a:latin typeface="Candara" panose="020E0502030303020204" pitchFamily="34" charset="0"/>
              </a:rPr>
              <a:t>biens</a:t>
            </a:r>
            <a:r>
              <a:rPr lang="en-US" sz="2400" b="1" dirty="0">
                <a:solidFill>
                  <a:schemeClr val="bg1"/>
                </a:solidFill>
                <a:latin typeface="Candara" panose="020E0502030303020204" pitchFamily="34" charset="0"/>
              </a:rPr>
              <a:t> et des services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BA23C1EE-C492-45F0-AC3B-7ADEC15A3421}"/>
              </a:ext>
            </a:extLst>
          </p:cNvPr>
          <p:cNvSpPr/>
          <p:nvPr/>
        </p:nvSpPr>
        <p:spPr>
          <a:xfrm rot="10800000">
            <a:off x="6725879" y="5043444"/>
            <a:ext cx="2307462" cy="1038185"/>
          </a:xfrm>
          <a:custGeom>
            <a:avLst/>
            <a:gdLst>
              <a:gd name="connsiteX0" fmla="*/ 0 w 3339970"/>
              <a:gd name="connsiteY0" fmla="*/ 0 h 1127051"/>
              <a:gd name="connsiteX1" fmla="*/ 3339970 w 3339970"/>
              <a:gd name="connsiteY1" fmla="*/ 0 h 1127051"/>
              <a:gd name="connsiteX2" fmla="*/ 3339970 w 3339970"/>
              <a:gd name="connsiteY2" fmla="*/ 194335 h 1127051"/>
              <a:gd name="connsiteX3" fmla="*/ 3291840 w 3339970"/>
              <a:gd name="connsiteY3" fmla="*/ 189483 h 1127051"/>
              <a:gd name="connsiteX4" fmla="*/ 2926080 w 3339970"/>
              <a:gd name="connsiteY4" fmla="*/ 555243 h 1127051"/>
              <a:gd name="connsiteX5" fmla="*/ 3291840 w 3339970"/>
              <a:gd name="connsiteY5" fmla="*/ 921003 h 1127051"/>
              <a:gd name="connsiteX6" fmla="*/ 3339970 w 3339970"/>
              <a:gd name="connsiteY6" fmla="*/ 916151 h 1127051"/>
              <a:gd name="connsiteX7" fmla="*/ 3339970 w 3339970"/>
              <a:gd name="connsiteY7" fmla="*/ 1127051 h 1127051"/>
              <a:gd name="connsiteX8" fmla="*/ 0 w 3339970"/>
              <a:gd name="connsiteY8" fmla="*/ 1127051 h 1127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39970" h="1127051">
                <a:moveTo>
                  <a:pt x="0" y="0"/>
                </a:moveTo>
                <a:lnTo>
                  <a:pt x="3339970" y="0"/>
                </a:lnTo>
                <a:lnTo>
                  <a:pt x="3339970" y="194335"/>
                </a:lnTo>
                <a:lnTo>
                  <a:pt x="3291840" y="189483"/>
                </a:lnTo>
                <a:cubicBezTo>
                  <a:pt x="3089836" y="189483"/>
                  <a:pt x="2926080" y="353239"/>
                  <a:pt x="2926080" y="555243"/>
                </a:cubicBezTo>
                <a:cubicBezTo>
                  <a:pt x="2926080" y="757247"/>
                  <a:pt x="3089836" y="921003"/>
                  <a:pt x="3291840" y="921003"/>
                </a:cubicBezTo>
                <a:lnTo>
                  <a:pt x="3339970" y="916151"/>
                </a:lnTo>
                <a:lnTo>
                  <a:pt x="3339970" y="1127051"/>
                </a:lnTo>
                <a:lnTo>
                  <a:pt x="0" y="1127051"/>
                </a:lnTo>
                <a:close/>
              </a:path>
            </a:pathLst>
          </a:custGeom>
          <a:solidFill>
            <a:schemeClr val="tx1">
              <a:alpha val="75000"/>
            </a:schemeClr>
          </a:solidFill>
          <a:ln w="6350">
            <a:solidFill>
              <a:schemeClr val="bg1">
                <a:alpha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E00ACECD-B46A-41D4-9920-13EC853A6ADE}"/>
              </a:ext>
            </a:extLst>
          </p:cNvPr>
          <p:cNvSpPr>
            <a:spLocks noChangeAspect="1"/>
          </p:cNvSpPr>
          <p:nvPr/>
        </p:nvSpPr>
        <p:spPr>
          <a:xfrm>
            <a:off x="6540094" y="5279218"/>
            <a:ext cx="442208" cy="589611"/>
          </a:xfrm>
          <a:prstGeom prst="ellipse">
            <a:avLst/>
          </a:prstGeom>
          <a:solidFill>
            <a:srgbClr val="4781CB"/>
          </a:solidFill>
          <a:ln w="6350">
            <a:solidFill>
              <a:schemeClr val="bg1">
                <a:alpha val="15000"/>
              </a:schemeClr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chemeClr val="bg1"/>
              </a:solidFill>
              <a:latin typeface="Lato"/>
            </a:endParaRPr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A09226BD-CA69-44D0-B283-97B427CB3600}"/>
              </a:ext>
            </a:extLst>
          </p:cNvPr>
          <p:cNvSpPr/>
          <p:nvPr/>
        </p:nvSpPr>
        <p:spPr>
          <a:xfrm rot="10800000">
            <a:off x="5947241" y="5045137"/>
            <a:ext cx="778638" cy="1038185"/>
          </a:xfrm>
          <a:custGeom>
            <a:avLst/>
            <a:gdLst>
              <a:gd name="connsiteX0" fmla="*/ 0 w 1127051"/>
              <a:gd name="connsiteY0" fmla="*/ 0 h 1127051"/>
              <a:gd name="connsiteX1" fmla="*/ 1127051 w 1127051"/>
              <a:gd name="connsiteY1" fmla="*/ 0 h 1127051"/>
              <a:gd name="connsiteX2" fmla="*/ 1127051 w 1127051"/>
              <a:gd name="connsiteY2" fmla="*/ 1127051 h 1127051"/>
              <a:gd name="connsiteX3" fmla="*/ 0 w 1127051"/>
              <a:gd name="connsiteY3" fmla="*/ 1127051 h 1127051"/>
              <a:gd name="connsiteX4" fmla="*/ 0 w 1127051"/>
              <a:gd name="connsiteY4" fmla="*/ 916151 h 1127051"/>
              <a:gd name="connsiteX5" fmla="*/ 25584 w 1127051"/>
              <a:gd name="connsiteY5" fmla="*/ 913572 h 1127051"/>
              <a:gd name="connsiteX6" fmla="*/ 317630 w 1127051"/>
              <a:gd name="connsiteY6" fmla="*/ 555243 h 1127051"/>
              <a:gd name="connsiteX7" fmla="*/ 25584 w 1127051"/>
              <a:gd name="connsiteY7" fmla="*/ 196914 h 1127051"/>
              <a:gd name="connsiteX8" fmla="*/ 0 w 1127051"/>
              <a:gd name="connsiteY8" fmla="*/ 194335 h 1127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7051" h="1127051">
                <a:moveTo>
                  <a:pt x="0" y="0"/>
                </a:moveTo>
                <a:lnTo>
                  <a:pt x="1127051" y="0"/>
                </a:lnTo>
                <a:lnTo>
                  <a:pt x="1127051" y="1127051"/>
                </a:lnTo>
                <a:lnTo>
                  <a:pt x="0" y="1127051"/>
                </a:lnTo>
                <a:lnTo>
                  <a:pt x="0" y="916151"/>
                </a:lnTo>
                <a:lnTo>
                  <a:pt x="25584" y="913572"/>
                </a:lnTo>
                <a:cubicBezTo>
                  <a:pt x="192255" y="879467"/>
                  <a:pt x="317630" y="731997"/>
                  <a:pt x="317630" y="555243"/>
                </a:cubicBezTo>
                <a:cubicBezTo>
                  <a:pt x="317630" y="378490"/>
                  <a:pt x="192255" y="231020"/>
                  <a:pt x="25584" y="196914"/>
                </a:cubicBezTo>
                <a:lnTo>
                  <a:pt x="0" y="194335"/>
                </a:lnTo>
                <a:close/>
              </a:path>
            </a:pathLst>
          </a:custGeom>
          <a:blipFill dpi="0" rotWithShape="0">
            <a:blip r:embed="rId7" cstate="print"/>
            <a:srcRect/>
            <a:stretch>
              <a:fillRect/>
            </a:stretch>
          </a:blipFill>
          <a:ln w="6350">
            <a:solidFill>
              <a:schemeClr val="bg1">
                <a:alpha val="15000"/>
              </a:scheme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73907F2-E01B-49BC-BFE1-FD9E889B4E06}"/>
              </a:ext>
            </a:extLst>
          </p:cNvPr>
          <p:cNvSpPr txBox="1"/>
          <p:nvPr/>
        </p:nvSpPr>
        <p:spPr>
          <a:xfrm>
            <a:off x="7072330" y="5357826"/>
            <a:ext cx="1897304" cy="3693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ndara" panose="020E0502030303020204" pitchFamily="34" charset="0"/>
              </a:rPr>
              <a:t>Coordination </a:t>
            </a:r>
          </a:p>
        </p:txBody>
      </p:sp>
      <p:sp>
        <p:nvSpPr>
          <p:cNvPr id="91" name="Freeform 123">
            <a:extLst>
              <a:ext uri="{FF2B5EF4-FFF2-40B4-BE49-F238E27FC236}">
                <a16:creationId xmlns:a16="http://schemas.microsoft.com/office/drawing/2014/main" id="{26503EE2-7E4D-47B2-B7E3-FD209F1016C5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231784" y="2739620"/>
            <a:ext cx="685800" cy="914400"/>
          </a:xfrm>
          <a:custGeom>
            <a:avLst/>
            <a:gdLst/>
            <a:ahLst/>
            <a:cxnLst>
              <a:cxn ang="0">
                <a:pos x="31" y="62"/>
              </a:cxn>
              <a:cxn ang="0">
                <a:pos x="0" y="31"/>
              </a:cxn>
              <a:cxn ang="0">
                <a:pos x="31" y="0"/>
              </a:cxn>
              <a:cxn ang="0">
                <a:pos x="62" y="31"/>
              </a:cxn>
              <a:cxn ang="0">
                <a:pos x="31" y="62"/>
              </a:cxn>
              <a:cxn ang="0">
                <a:pos x="32" y="11"/>
              </a:cxn>
              <a:cxn ang="0">
                <a:pos x="17" y="19"/>
              </a:cxn>
              <a:cxn ang="0">
                <a:pos x="18" y="21"/>
              </a:cxn>
              <a:cxn ang="0">
                <a:pos x="23" y="25"/>
              </a:cxn>
              <a:cxn ang="0">
                <a:pos x="24" y="25"/>
              </a:cxn>
              <a:cxn ang="0">
                <a:pos x="25" y="25"/>
              </a:cxn>
              <a:cxn ang="0">
                <a:pos x="28" y="21"/>
              </a:cxn>
              <a:cxn ang="0">
                <a:pos x="32" y="20"/>
              </a:cxn>
              <a:cxn ang="0">
                <a:pos x="36" y="24"/>
              </a:cxn>
              <a:cxn ang="0">
                <a:pos x="33" y="28"/>
              </a:cxn>
              <a:cxn ang="0">
                <a:pos x="26" y="36"/>
              </a:cxn>
              <a:cxn ang="0">
                <a:pos x="26" y="38"/>
              </a:cxn>
              <a:cxn ang="0">
                <a:pos x="27" y="39"/>
              </a:cxn>
              <a:cxn ang="0">
                <a:pos x="35" y="39"/>
              </a:cxn>
              <a:cxn ang="0">
                <a:pos x="36" y="38"/>
              </a:cxn>
              <a:cxn ang="0">
                <a:pos x="40" y="34"/>
              </a:cxn>
              <a:cxn ang="0">
                <a:pos x="47" y="24"/>
              </a:cxn>
              <a:cxn ang="0">
                <a:pos x="32" y="11"/>
              </a:cxn>
              <a:cxn ang="0">
                <a:pos x="36" y="43"/>
              </a:cxn>
              <a:cxn ang="0">
                <a:pos x="35" y="42"/>
              </a:cxn>
              <a:cxn ang="0">
                <a:pos x="27" y="42"/>
              </a:cxn>
              <a:cxn ang="0">
                <a:pos x="26" y="43"/>
              </a:cxn>
              <a:cxn ang="0">
                <a:pos x="26" y="51"/>
              </a:cxn>
              <a:cxn ang="0">
                <a:pos x="27" y="52"/>
              </a:cxn>
              <a:cxn ang="0">
                <a:pos x="35" y="52"/>
              </a:cxn>
              <a:cxn ang="0">
                <a:pos x="36" y="51"/>
              </a:cxn>
              <a:cxn ang="0">
                <a:pos x="36" y="43"/>
              </a:cxn>
            </a:cxnLst>
            <a:rect l="0" t="0" r="r" b="b"/>
            <a:pathLst>
              <a:path w="62" h="62">
                <a:moveTo>
                  <a:pt x="31" y="62"/>
                </a:move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2" y="14"/>
                  <a:pt x="62" y="31"/>
                </a:cubicBezTo>
                <a:cubicBezTo>
                  <a:pt x="62" y="48"/>
                  <a:pt x="48" y="62"/>
                  <a:pt x="31" y="62"/>
                </a:cubicBezTo>
                <a:close/>
                <a:moveTo>
                  <a:pt x="32" y="11"/>
                </a:moveTo>
                <a:cubicBezTo>
                  <a:pt x="26" y="11"/>
                  <a:pt x="21" y="14"/>
                  <a:pt x="17" y="19"/>
                </a:cubicBezTo>
                <a:cubicBezTo>
                  <a:pt x="17" y="20"/>
                  <a:pt x="17" y="21"/>
                  <a:pt x="18" y="21"/>
                </a:cubicBezTo>
                <a:cubicBezTo>
                  <a:pt x="23" y="25"/>
                  <a:pt x="23" y="25"/>
                  <a:pt x="23" y="25"/>
                </a:cubicBezTo>
                <a:cubicBezTo>
                  <a:pt x="23" y="25"/>
                  <a:pt x="23" y="25"/>
                  <a:pt x="24" y="25"/>
                </a:cubicBezTo>
                <a:cubicBezTo>
                  <a:pt x="24" y="25"/>
                  <a:pt x="24" y="25"/>
                  <a:pt x="25" y="25"/>
                </a:cubicBezTo>
                <a:cubicBezTo>
                  <a:pt x="27" y="22"/>
                  <a:pt x="27" y="22"/>
                  <a:pt x="28" y="21"/>
                </a:cubicBezTo>
                <a:cubicBezTo>
                  <a:pt x="29" y="21"/>
                  <a:pt x="30" y="20"/>
                  <a:pt x="32" y="20"/>
                </a:cubicBezTo>
                <a:cubicBezTo>
                  <a:pt x="34" y="20"/>
                  <a:pt x="36" y="22"/>
                  <a:pt x="36" y="24"/>
                </a:cubicBezTo>
                <a:cubicBezTo>
                  <a:pt x="36" y="26"/>
                  <a:pt x="35" y="27"/>
                  <a:pt x="33" y="28"/>
                </a:cubicBezTo>
                <a:cubicBezTo>
                  <a:pt x="30" y="29"/>
                  <a:pt x="26" y="32"/>
                  <a:pt x="26" y="36"/>
                </a:cubicBezTo>
                <a:cubicBezTo>
                  <a:pt x="26" y="38"/>
                  <a:pt x="26" y="38"/>
                  <a:pt x="26" y="38"/>
                </a:cubicBezTo>
                <a:cubicBezTo>
                  <a:pt x="26" y="38"/>
                  <a:pt x="27" y="39"/>
                  <a:pt x="27" y="39"/>
                </a:cubicBezTo>
                <a:cubicBezTo>
                  <a:pt x="35" y="39"/>
                  <a:pt x="35" y="39"/>
                  <a:pt x="35" y="39"/>
                </a:cubicBezTo>
                <a:cubicBezTo>
                  <a:pt x="36" y="39"/>
                  <a:pt x="36" y="38"/>
                  <a:pt x="36" y="38"/>
                </a:cubicBezTo>
                <a:cubicBezTo>
                  <a:pt x="36" y="37"/>
                  <a:pt x="38" y="35"/>
                  <a:pt x="40" y="34"/>
                </a:cubicBezTo>
                <a:cubicBezTo>
                  <a:pt x="43" y="32"/>
                  <a:pt x="47" y="30"/>
                  <a:pt x="47" y="24"/>
                </a:cubicBezTo>
                <a:cubicBezTo>
                  <a:pt x="47" y="16"/>
                  <a:pt x="39" y="11"/>
                  <a:pt x="32" y="11"/>
                </a:cubicBezTo>
                <a:close/>
                <a:moveTo>
                  <a:pt x="36" y="43"/>
                </a:moveTo>
                <a:cubicBezTo>
                  <a:pt x="36" y="42"/>
                  <a:pt x="36" y="42"/>
                  <a:pt x="35" y="42"/>
                </a:cubicBezTo>
                <a:cubicBezTo>
                  <a:pt x="27" y="42"/>
                  <a:pt x="27" y="42"/>
                  <a:pt x="27" y="42"/>
                </a:cubicBezTo>
                <a:cubicBezTo>
                  <a:pt x="27" y="42"/>
                  <a:pt x="26" y="42"/>
                  <a:pt x="26" y="43"/>
                </a:cubicBezTo>
                <a:cubicBezTo>
                  <a:pt x="26" y="51"/>
                  <a:pt x="26" y="51"/>
                  <a:pt x="26" y="51"/>
                </a:cubicBezTo>
                <a:cubicBezTo>
                  <a:pt x="26" y="51"/>
                  <a:pt x="27" y="52"/>
                  <a:pt x="27" y="52"/>
                </a:cubicBezTo>
                <a:cubicBezTo>
                  <a:pt x="35" y="52"/>
                  <a:pt x="35" y="52"/>
                  <a:pt x="35" y="52"/>
                </a:cubicBezTo>
                <a:cubicBezTo>
                  <a:pt x="36" y="52"/>
                  <a:pt x="36" y="51"/>
                  <a:pt x="36" y="51"/>
                </a:cubicBezTo>
                <a:lnTo>
                  <a:pt x="36" y="43"/>
                </a:lnTo>
                <a:close/>
              </a:path>
            </a:pathLst>
          </a:cu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41" name="TextBox 66"/>
          <p:cNvSpPr txBox="1"/>
          <p:nvPr/>
        </p:nvSpPr>
        <p:spPr>
          <a:xfrm>
            <a:off x="0" y="214290"/>
            <a:ext cx="56435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Baskerville Old Face"/>
              </a:rPr>
              <a:t>Debriefing </a:t>
            </a:r>
          </a:p>
          <a:p>
            <a:pPr algn="r"/>
            <a:endParaRPr lang="en-US" dirty="0">
              <a:solidFill>
                <a:srgbClr val="56595E"/>
              </a:solidFill>
              <a:latin typeface="Candara" panose="020E0502030303020204" pitchFamily="34" charset="0"/>
            </a:endParaRPr>
          </a:p>
        </p:txBody>
      </p:sp>
      <p:pic>
        <p:nvPicPr>
          <p:cNvPr id="39" name="Picture 15">
            <a:extLst>
              <a:ext uri="{FF2B5EF4-FFF2-40B4-BE49-F238E27FC236}">
                <a16:creationId xmlns:a16="http://schemas.microsoft.com/office/drawing/2014/main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460" y="0"/>
            <a:ext cx="3682540" cy="214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972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500"/>
                            </p:stCondLst>
                            <p:childTnLst>
                              <p:par>
                                <p:cTn id="59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000"/>
                            </p:stCondLst>
                            <p:childTnLst>
                              <p:par>
                                <p:cTn id="67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45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500"/>
                            </p:stCondLst>
                            <p:childTnLst>
                              <p:par>
                                <p:cTn id="86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6000"/>
                            </p:stCondLst>
                            <p:childTnLst>
                              <p:par>
                                <p:cTn id="94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6500"/>
                            </p:stCondLst>
                            <p:childTnLst>
                              <p:par>
                                <p:cTn id="10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7000"/>
                            </p:stCondLst>
                            <p:childTnLst>
                              <p:par>
                                <p:cTn id="10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7500"/>
                            </p:stCondLst>
                            <p:childTnLst>
                              <p:par>
                                <p:cTn id="113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8000"/>
                            </p:stCondLst>
                            <p:childTnLst>
                              <p:par>
                                <p:cTn id="121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8500"/>
                            </p:stCondLst>
                            <p:childTnLst>
                              <p:par>
                                <p:cTn id="1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900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9500"/>
                            </p:stCondLst>
                            <p:childTnLst>
                              <p:par>
                                <p:cTn id="140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0000"/>
                            </p:stCondLst>
                            <p:childTnLst>
                              <p:par>
                                <p:cTn id="148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0500"/>
                            </p:stCondLst>
                            <p:childTnLst>
                              <p:par>
                                <p:cTn id="15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11000"/>
                            </p:stCondLst>
                            <p:childTnLst>
                              <p:par>
                                <p:cTn id="16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1500"/>
                            </p:stCondLst>
                            <p:childTnLst>
                              <p:par>
                                <p:cTn id="167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12000"/>
                            </p:stCondLst>
                            <p:childTnLst>
                              <p:par>
                                <p:cTn id="175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12500"/>
                            </p:stCondLst>
                            <p:childTnLst>
                              <p:par>
                                <p:cTn id="1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13000"/>
                            </p:stCondLst>
                            <p:childTnLst>
                              <p:par>
                                <p:cTn id="1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13500"/>
                            </p:stCondLst>
                            <p:childTnLst>
                              <p:par>
                                <p:cTn id="1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9" grpId="0" animBg="1"/>
      <p:bldP spid="20" grpId="0" animBg="1"/>
      <p:bldP spid="36" grpId="0" animBg="1"/>
      <p:bldP spid="37" grpId="0" animBg="1"/>
      <p:bldP spid="42" grpId="0" animBg="1"/>
      <p:bldP spid="43" grpId="0" animBg="1"/>
      <p:bldP spid="44" grpId="0" animBg="1"/>
      <p:bldP spid="45" grpId="0" animBg="1"/>
      <p:bldP spid="63" grpId="0" animBg="1"/>
      <p:bldP spid="64" grpId="0" animBg="1"/>
      <p:bldP spid="65" grpId="0" animBg="1"/>
      <p:bldP spid="66" grpId="0"/>
      <p:bldP spid="67" grpId="0" animBg="1"/>
      <p:bldP spid="68" grpId="0" animBg="1"/>
      <p:bldP spid="69" grpId="0" animBg="1"/>
      <p:bldP spid="70" grpId="0"/>
      <p:bldP spid="72" grpId="0" animBg="1"/>
      <p:bldP spid="73" grpId="0" animBg="1"/>
      <p:bldP spid="74" grpId="0" animBg="1"/>
      <p:bldP spid="75" grpId="0"/>
      <p:bldP spid="77" grpId="0" animBg="1"/>
      <p:bldP spid="78" grpId="0" animBg="1"/>
      <p:bldP spid="79" grpId="0" animBg="1"/>
      <p:bldP spid="80" grpId="0"/>
      <p:bldP spid="82" grpId="0" animBg="1"/>
      <p:bldP spid="83" grpId="0" animBg="1"/>
      <p:bldP spid="84" grpId="0" animBg="1"/>
      <p:bldP spid="85" grpId="0"/>
      <p:bldP spid="87" grpId="0" animBg="1"/>
      <p:bldP spid="88" grpId="0" animBg="1"/>
      <p:bldP spid="89" grpId="0" animBg="1"/>
      <p:bldP spid="90" grpId="0"/>
      <p:bldP spid="91" grpId="0" animBg="1"/>
      <p:bldP spid="4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/>
          <p:cNvPicPr>
            <a:picLocks noGrp="1" noChangeAspect="1"/>
          </p:cNvPicPr>
          <p:nvPr>
            <p:ph type="pic" sz="quarter" idx="21"/>
          </p:nvPr>
        </p:nvPicPr>
        <p:blipFill>
          <a:blip r:embed="rId3" cstate="print"/>
          <a:srcRect t="42" b="42"/>
          <a:stretch>
            <a:fillRect/>
          </a:stretch>
        </p:blipFill>
        <p:spPr>
          <a:xfrm>
            <a:off x="571472" y="2285992"/>
            <a:ext cx="1421516" cy="1894789"/>
          </a:xfrm>
          <a:ln>
            <a:solidFill>
              <a:srgbClr val="3EB8CD"/>
            </a:solidFill>
          </a:ln>
        </p:spPr>
      </p:pic>
      <p:sp>
        <p:nvSpPr>
          <p:cNvPr id="65" name="TextBox 64"/>
          <p:cNvSpPr txBox="1"/>
          <p:nvPr/>
        </p:nvSpPr>
        <p:spPr>
          <a:xfrm>
            <a:off x="2286000" y="2357438"/>
            <a:ext cx="6357938" cy="1477328"/>
          </a:xfrm>
          <a:prstGeom prst="rect">
            <a:avLst/>
          </a:prstGeom>
          <a:noFill/>
        </p:spPr>
        <p:txBody>
          <a:bodyPr lIns="0" tIns="0" rIns="0" bIns="0" anchor="ctr">
            <a:spAutoFit/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24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  <a:cs typeface="+mn-cs"/>
              </a:rPr>
              <a:t>L’entreprise :  un </a:t>
            </a:r>
            <a:r>
              <a:rPr lang="fr-FR" sz="2400" b="1" dirty="0">
                <a:solidFill>
                  <a:srgbClr val="FF0000"/>
                </a:solidFill>
                <a:latin typeface="Candara" pitchFamily="34" charset="0"/>
                <a:cs typeface="+mn-cs"/>
              </a:rPr>
              <a:t>type d’organisation </a:t>
            </a:r>
            <a:r>
              <a:rPr lang="fr-FR" sz="24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  <a:cs typeface="+mn-cs"/>
              </a:rPr>
              <a:t>ayant une </a:t>
            </a:r>
            <a:r>
              <a:rPr lang="fr-FR" sz="2400" b="1" dirty="0">
                <a:solidFill>
                  <a:srgbClr val="FF0000"/>
                </a:solidFill>
                <a:latin typeface="Candara" pitchFamily="34" charset="0"/>
                <a:cs typeface="+mn-cs"/>
              </a:rPr>
              <a:t>vocation économique</a:t>
            </a:r>
            <a:r>
              <a:rPr lang="fr-FR" sz="24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  <a:cs typeface="+mn-cs"/>
              </a:rPr>
              <a:t>: acheter, produire, vendre, des biens et/ou des services, réaliser des profits…</a:t>
            </a:r>
            <a:endParaRPr lang="en-US" sz="2400" b="1" dirty="0">
              <a:solidFill>
                <a:schemeClr val="tx2">
                  <a:lumMod val="75000"/>
                </a:schemeClr>
              </a:solidFill>
              <a:latin typeface="Candara" pitchFamily="34" charset="0"/>
              <a:cs typeface="+mn-cs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1500166" y="1785926"/>
            <a:ext cx="687388" cy="915987"/>
          </a:xfrm>
          <a:prstGeom prst="ellipse">
            <a:avLst/>
          </a:prstGeom>
          <a:solidFill>
            <a:srgbClr val="3EB8CD"/>
          </a:solidFill>
          <a:ln w="190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3733" dirty="0">
              <a:solidFill>
                <a:schemeClr val="accent3">
                  <a:lumMod val="75000"/>
                </a:schemeClr>
              </a:solidFill>
              <a:latin typeface="FontAwesome" pitchFamily="2" charset="0"/>
            </a:endParaRPr>
          </a:p>
        </p:txBody>
      </p:sp>
      <p:sp>
        <p:nvSpPr>
          <p:cNvPr id="26" name="TextBox 66"/>
          <p:cNvSpPr txBox="1">
            <a:spLocks noChangeArrowheads="1"/>
          </p:cNvSpPr>
          <p:nvPr/>
        </p:nvSpPr>
        <p:spPr bwMode="auto">
          <a:xfrm>
            <a:off x="428596" y="500042"/>
            <a:ext cx="5643563" cy="862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fr-FR" sz="3200" b="1" dirty="0" err="1">
                <a:solidFill>
                  <a:srgbClr val="FF0000"/>
                </a:solidFill>
                <a:latin typeface="Baskerville Old Face" pitchFamily="18" charset="0"/>
              </a:rPr>
              <a:t>Qu’est</a:t>
            </a:r>
            <a:r>
              <a:rPr lang="en-US" altLang="fr-FR" sz="3200" b="1" dirty="0">
                <a:solidFill>
                  <a:srgbClr val="FF0000"/>
                </a:solidFill>
                <a:latin typeface="Baskerville Old Face" pitchFamily="18" charset="0"/>
              </a:rPr>
              <a:t> </a:t>
            </a:r>
            <a:r>
              <a:rPr lang="en-US" altLang="fr-FR" sz="3200" b="1" dirty="0" err="1">
                <a:solidFill>
                  <a:srgbClr val="FF0000"/>
                </a:solidFill>
                <a:latin typeface="Baskerville Old Face" pitchFamily="18" charset="0"/>
              </a:rPr>
              <a:t>ce</a:t>
            </a:r>
            <a:r>
              <a:rPr lang="en-US" altLang="fr-FR" sz="3200" b="1" dirty="0">
                <a:solidFill>
                  <a:srgbClr val="FF0000"/>
                </a:solidFill>
                <a:latin typeface="Baskerville Old Face" pitchFamily="18" charset="0"/>
              </a:rPr>
              <a:t> </a:t>
            </a:r>
            <a:r>
              <a:rPr lang="en-US" altLang="fr-FR" sz="3200" b="1" dirty="0" err="1">
                <a:solidFill>
                  <a:srgbClr val="FF0000"/>
                </a:solidFill>
                <a:latin typeface="Baskerville Old Face" pitchFamily="18" charset="0"/>
              </a:rPr>
              <a:t>qu’une</a:t>
            </a:r>
            <a:r>
              <a:rPr lang="en-US" altLang="fr-FR" sz="3200" b="1" dirty="0">
                <a:solidFill>
                  <a:srgbClr val="FF0000"/>
                </a:solidFill>
                <a:latin typeface="Baskerville Old Face" pitchFamily="18" charset="0"/>
              </a:rPr>
              <a:t> </a:t>
            </a:r>
            <a:r>
              <a:rPr lang="en-US" altLang="fr-FR" sz="3200" b="1" dirty="0" err="1">
                <a:solidFill>
                  <a:srgbClr val="FF0000"/>
                </a:solidFill>
                <a:latin typeface="Baskerville Old Face" pitchFamily="18" charset="0"/>
              </a:rPr>
              <a:t>entreprise</a:t>
            </a:r>
            <a:r>
              <a:rPr lang="en-US" altLang="fr-FR" sz="3200" b="1" dirty="0">
                <a:solidFill>
                  <a:srgbClr val="FF0000"/>
                </a:solidFill>
                <a:latin typeface="Baskerville Old Face" pitchFamily="18" charset="0"/>
              </a:rPr>
              <a:t> ? </a:t>
            </a:r>
          </a:p>
          <a:p>
            <a:pPr algn="r"/>
            <a:endParaRPr lang="en-US" altLang="fr-FR" dirty="0">
              <a:solidFill>
                <a:srgbClr val="56595E"/>
              </a:solidFill>
              <a:latin typeface="Candara" pitchFamily="34" charset="0"/>
            </a:endParaRPr>
          </a:p>
        </p:txBody>
      </p:sp>
      <p:pic>
        <p:nvPicPr>
          <p:cNvPr id="7" name="Picture 15">
            <a:extLst>
              <a:ext uri="{FF2B5EF4-FFF2-40B4-BE49-F238E27FC236}">
                <a16:creationId xmlns:a16="http://schemas.microsoft.com/office/drawing/2014/main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460" y="0"/>
            <a:ext cx="3682540" cy="2146032"/>
          </a:xfrm>
          <a:prstGeom prst="rect">
            <a:avLst/>
          </a:prstGeom>
        </p:spPr>
      </p:pic>
      <p:sp>
        <p:nvSpPr>
          <p:cNvPr id="8" name="Isosceles Triangle 46">
            <a:extLst>
              <a:ext uri="{FF2B5EF4-FFF2-40B4-BE49-F238E27FC236}">
                <a16:creationId xmlns:a16="http://schemas.microsoft.com/office/drawing/2014/main" id="{295CE181-88D7-4815-BC0F-BC87C9322824}"/>
              </a:ext>
            </a:extLst>
          </p:cNvPr>
          <p:cNvSpPr/>
          <p:nvPr/>
        </p:nvSpPr>
        <p:spPr>
          <a:xfrm rot="5400000">
            <a:off x="-31494" y="674412"/>
            <a:ext cx="510899" cy="447911"/>
          </a:xfrm>
          <a:prstGeom prst="triangl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68" grpId="0" animBg="1"/>
      <p:bldP spid="26" grpId="0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rdrop 1"/>
          <p:cNvSpPr/>
          <p:nvPr/>
        </p:nvSpPr>
        <p:spPr>
          <a:xfrm>
            <a:off x="0" y="2000250"/>
            <a:ext cx="2786063" cy="2714625"/>
          </a:xfrm>
          <a:prstGeom prst="teardrop">
            <a:avLst/>
          </a:prstGeom>
          <a:blipFill>
            <a:blip r:embed="rId2" cstate="print"/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2928938" y="2500313"/>
            <a:ext cx="5929312" cy="168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0960" tIns="30480" rIns="60960" bIns="30480">
            <a:spAutoFit/>
          </a:bodyPr>
          <a:lstStyle/>
          <a:p>
            <a:pPr algn="just" defTabSz="1219170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fr-FR" dirty="0">
                <a:solidFill>
                  <a:schemeClr val="accent2">
                    <a:lumMod val="50000"/>
                  </a:schemeClr>
                </a:solidFill>
                <a:latin typeface="+mn-lt"/>
                <a:cs typeface="+mn-cs"/>
              </a:rPr>
              <a:t> </a:t>
            </a:r>
            <a:r>
              <a:rPr lang="fr-FR" sz="24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  <a:cs typeface="+mn-cs"/>
              </a:rPr>
              <a:t>L’entreprise est une </a:t>
            </a:r>
            <a:r>
              <a:rPr lang="fr-FR" sz="2400" b="1" dirty="0">
                <a:solidFill>
                  <a:srgbClr val="FF2B2A"/>
                </a:solidFill>
                <a:latin typeface="Candara" pitchFamily="34" charset="0"/>
                <a:cs typeface="+mn-cs"/>
              </a:rPr>
              <a:t>entité économique </a:t>
            </a:r>
          </a:p>
          <a:p>
            <a:pPr algn="just" defTabSz="1219170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fr-FR" sz="24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  <a:cs typeface="+mn-cs"/>
              </a:rPr>
              <a:t>du fait qu’elle échange </a:t>
            </a:r>
            <a:r>
              <a:rPr lang="fr-FR" sz="2400" b="1" dirty="0">
                <a:solidFill>
                  <a:srgbClr val="FF0000"/>
                </a:solidFill>
                <a:latin typeface="Candara" pitchFamily="34" charset="0"/>
                <a:cs typeface="Calibri" pitchFamily="34" charset="0"/>
              </a:rPr>
              <a:t>des biens et/ou des services </a:t>
            </a:r>
            <a:r>
              <a:rPr lang="fr-FR" sz="24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  <a:cs typeface="+mn-cs"/>
              </a:rPr>
              <a:t>sur</a:t>
            </a:r>
            <a:r>
              <a:rPr lang="fr-FR" sz="2400" dirty="0">
                <a:solidFill>
                  <a:srgbClr val="660033"/>
                </a:solidFill>
                <a:latin typeface="Candara" pitchFamily="34" charset="0"/>
                <a:cs typeface="Calibri" pitchFamily="34" charset="0"/>
              </a:rPr>
              <a:t> </a:t>
            </a:r>
            <a:r>
              <a:rPr lang="fr-FR" sz="2400" b="1" dirty="0">
                <a:solidFill>
                  <a:srgbClr val="FF0000"/>
                </a:solidFill>
                <a:latin typeface="Candara" pitchFamily="34" charset="0"/>
                <a:cs typeface="Calibri" pitchFamily="34" charset="0"/>
              </a:rPr>
              <a:t>un marché</a:t>
            </a:r>
            <a:r>
              <a:rPr lang="fr-FR" sz="2400" dirty="0">
                <a:solidFill>
                  <a:srgbClr val="660033"/>
                </a:solidFill>
                <a:latin typeface="Candara" pitchFamily="34" charset="0"/>
                <a:cs typeface="Calibri" pitchFamily="34" charset="0"/>
              </a:rPr>
              <a:t>.  </a:t>
            </a:r>
          </a:p>
          <a:p>
            <a:pPr algn="just" defTabSz="1219170" fontAlgn="auto">
              <a:spcBef>
                <a:spcPct val="20000"/>
              </a:spcBef>
              <a:spcAft>
                <a:spcPts val="0"/>
              </a:spcAft>
              <a:defRPr/>
            </a:pPr>
            <a:endParaRPr lang="en-US" sz="2400" dirty="0">
              <a:solidFill>
                <a:schemeClr val="bg2">
                  <a:lumMod val="50000"/>
                </a:schemeClr>
              </a:solidFill>
              <a:latin typeface="Candara" panose="020E0502030303020204" pitchFamily="34" charset="0"/>
              <a:cs typeface="+mn-cs"/>
            </a:endParaRPr>
          </a:p>
        </p:txBody>
      </p:sp>
      <p:sp>
        <p:nvSpPr>
          <p:cNvPr id="3" name="Oval 2"/>
          <p:cNvSpPr>
            <a:spLocks noChangeAspect="1"/>
          </p:cNvSpPr>
          <p:nvPr/>
        </p:nvSpPr>
        <p:spPr>
          <a:xfrm>
            <a:off x="2071670" y="3857628"/>
            <a:ext cx="895769" cy="822960"/>
          </a:xfrm>
          <a:prstGeom prst="ellipse">
            <a:avLst/>
          </a:prstGeom>
          <a:solidFill>
            <a:srgbClr val="FF2B2A"/>
          </a:solidFill>
          <a:ln w="6350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>
                <a:latin typeface="Lato"/>
              </a:rPr>
              <a:t>01</a:t>
            </a:r>
          </a:p>
        </p:txBody>
      </p:sp>
      <p:sp>
        <p:nvSpPr>
          <p:cNvPr id="19" name="TextBox 66"/>
          <p:cNvSpPr txBox="1">
            <a:spLocks noChangeArrowheads="1"/>
          </p:cNvSpPr>
          <p:nvPr/>
        </p:nvSpPr>
        <p:spPr bwMode="auto">
          <a:xfrm>
            <a:off x="500034" y="500042"/>
            <a:ext cx="5643563" cy="862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fr-FR" sz="3200" b="1" dirty="0" err="1">
                <a:solidFill>
                  <a:srgbClr val="FF0000"/>
                </a:solidFill>
                <a:latin typeface="Baskerville Old Face" pitchFamily="18" charset="0"/>
              </a:rPr>
              <a:t>Définition</a:t>
            </a:r>
            <a:r>
              <a:rPr lang="en-US" altLang="fr-FR" sz="3200" b="1" dirty="0">
                <a:solidFill>
                  <a:srgbClr val="FF0000"/>
                </a:solidFill>
                <a:latin typeface="Baskerville Old Face" pitchFamily="18" charset="0"/>
              </a:rPr>
              <a:t> de </a:t>
            </a:r>
            <a:r>
              <a:rPr lang="en-US" altLang="fr-FR" sz="3200" b="1" dirty="0" err="1">
                <a:solidFill>
                  <a:srgbClr val="FF0000"/>
                </a:solidFill>
                <a:latin typeface="Baskerville Old Face" pitchFamily="18" charset="0"/>
              </a:rPr>
              <a:t>l’entreprise</a:t>
            </a:r>
            <a:r>
              <a:rPr lang="en-US" altLang="fr-FR" sz="3200" b="1" dirty="0">
                <a:solidFill>
                  <a:srgbClr val="FF0000"/>
                </a:solidFill>
                <a:latin typeface="Baskerville Old Face" pitchFamily="18" charset="0"/>
              </a:rPr>
              <a:t> </a:t>
            </a:r>
          </a:p>
          <a:p>
            <a:pPr algn="r"/>
            <a:endParaRPr lang="en-US" altLang="fr-FR" dirty="0">
              <a:solidFill>
                <a:srgbClr val="56595E"/>
              </a:solidFill>
              <a:latin typeface="Candara" pitchFamily="34" charset="0"/>
            </a:endParaRP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BC3324-0207-4578-BA81-2648E05E4D66}" type="slidenum">
              <a:rPr lang="fr-BE"/>
              <a:pPr>
                <a:defRPr/>
              </a:pPr>
              <a:t>12</a:t>
            </a:fld>
            <a:endParaRPr lang="fr-BE"/>
          </a:p>
        </p:txBody>
      </p:sp>
      <p:pic>
        <p:nvPicPr>
          <p:cNvPr id="8" name="Picture 15">
            <a:extLst>
              <a:ext uri="{FF2B5EF4-FFF2-40B4-BE49-F238E27FC236}">
                <a16:creationId xmlns:a16="http://schemas.microsoft.com/office/drawing/2014/main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460" y="0"/>
            <a:ext cx="3682540" cy="2146032"/>
          </a:xfrm>
          <a:prstGeom prst="rect">
            <a:avLst/>
          </a:prstGeom>
        </p:spPr>
      </p:pic>
      <p:sp>
        <p:nvSpPr>
          <p:cNvPr id="9" name="Isosceles Triangle 46">
            <a:extLst>
              <a:ext uri="{FF2B5EF4-FFF2-40B4-BE49-F238E27FC236}">
                <a16:creationId xmlns:a16="http://schemas.microsoft.com/office/drawing/2014/main" id="{295CE181-88D7-4815-BC0F-BC87C9322824}"/>
              </a:ext>
            </a:extLst>
          </p:cNvPr>
          <p:cNvSpPr/>
          <p:nvPr/>
        </p:nvSpPr>
        <p:spPr>
          <a:xfrm rot="5400000">
            <a:off x="-31494" y="674412"/>
            <a:ext cx="510899" cy="447911"/>
          </a:xfrm>
          <a:prstGeom prst="triangl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9" grpId="0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ardrop 12"/>
          <p:cNvSpPr/>
          <p:nvPr/>
        </p:nvSpPr>
        <p:spPr>
          <a:xfrm>
            <a:off x="285750" y="1428750"/>
            <a:ext cx="2571750" cy="3214688"/>
          </a:xfrm>
          <a:prstGeom prst="teardrop">
            <a:avLst/>
          </a:prstGeom>
          <a:blipFill>
            <a:blip r:embed="rId2" cstate="print"/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Text Box 10"/>
          <p:cNvSpPr txBox="1">
            <a:spLocks noChangeArrowheads="1"/>
          </p:cNvSpPr>
          <p:nvPr/>
        </p:nvSpPr>
        <p:spPr bwMode="auto">
          <a:xfrm>
            <a:off x="3321815" y="2430483"/>
            <a:ext cx="5786437" cy="874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0960" tIns="30480" rIns="60960" bIns="30480">
            <a:spAutoFit/>
          </a:bodyPr>
          <a:lstStyle/>
          <a:p>
            <a:pPr algn="just" defTabSz="1219170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fr-FR" sz="24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  <a:cs typeface="+mn-cs"/>
              </a:rPr>
              <a:t>L’entreprise est </a:t>
            </a:r>
            <a:r>
              <a:rPr lang="fr-FR" sz="2400" b="1" dirty="0">
                <a:solidFill>
                  <a:srgbClr val="85C401"/>
                </a:solidFill>
                <a:latin typeface="Candara" pitchFamily="34" charset="0"/>
                <a:cs typeface="+mn-cs"/>
              </a:rPr>
              <a:t>une organisation sociale</a:t>
            </a:r>
            <a:r>
              <a:rPr lang="fr-FR" sz="2400" dirty="0">
                <a:solidFill>
                  <a:schemeClr val="accent2">
                    <a:lumMod val="50000"/>
                  </a:schemeClr>
                </a:solidFill>
                <a:latin typeface="Candara" pitchFamily="34" charset="0"/>
                <a:cs typeface="+mn-cs"/>
              </a:rPr>
              <a:t> </a:t>
            </a:r>
          </a:p>
          <a:p>
            <a:pPr algn="just" defTabSz="1219170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fr-FR" sz="24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  <a:cs typeface="+mn-cs"/>
              </a:rPr>
              <a:t>qui associe </a:t>
            </a:r>
            <a:r>
              <a:rPr lang="fr-FR" sz="2400" b="1" dirty="0">
                <a:solidFill>
                  <a:srgbClr val="85C401"/>
                </a:solidFill>
                <a:latin typeface="Candara" pitchFamily="34" charset="0"/>
                <a:cs typeface="+mn-cs"/>
              </a:rPr>
              <a:t>des hommes</a:t>
            </a:r>
            <a:r>
              <a:rPr lang="fr-FR" sz="2400" b="1" dirty="0">
                <a:solidFill>
                  <a:schemeClr val="accent1"/>
                </a:solidFill>
                <a:latin typeface="Candara" pitchFamily="34" charset="0"/>
                <a:cs typeface="+mn-cs"/>
              </a:rPr>
              <a:t>, </a:t>
            </a:r>
            <a:r>
              <a:rPr lang="fr-FR" sz="2400" b="1" dirty="0">
                <a:solidFill>
                  <a:srgbClr val="85C401"/>
                </a:solidFill>
                <a:latin typeface="Candara" pitchFamily="34" charset="0"/>
                <a:cs typeface="+mn-cs"/>
              </a:rPr>
              <a:t>des compétences </a:t>
            </a:r>
            <a:endParaRPr lang="en-US" sz="2400" b="1" dirty="0">
              <a:solidFill>
                <a:srgbClr val="85C401"/>
              </a:solidFill>
              <a:latin typeface="Candara" pitchFamily="34" charset="0"/>
              <a:cs typeface="+mn-cs"/>
            </a:endParaRPr>
          </a:p>
        </p:txBody>
      </p:sp>
      <p:sp>
        <p:nvSpPr>
          <p:cNvPr id="15" name="Oval 14"/>
          <p:cNvSpPr>
            <a:spLocks noChangeAspect="1"/>
          </p:cNvSpPr>
          <p:nvPr/>
        </p:nvSpPr>
        <p:spPr>
          <a:xfrm>
            <a:off x="1785918" y="4071942"/>
            <a:ext cx="857256" cy="822960"/>
          </a:xfrm>
          <a:prstGeom prst="ellipse">
            <a:avLst/>
          </a:prstGeom>
          <a:solidFill>
            <a:srgbClr val="85C401"/>
          </a:solidFill>
          <a:ln w="6350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>
                <a:latin typeface="Lato"/>
              </a:rPr>
              <a:t>02</a:t>
            </a:r>
          </a:p>
        </p:txBody>
      </p:sp>
      <p:sp>
        <p:nvSpPr>
          <p:cNvPr id="19" name="TextBox 66"/>
          <p:cNvSpPr txBox="1">
            <a:spLocks noChangeArrowheads="1"/>
          </p:cNvSpPr>
          <p:nvPr/>
        </p:nvSpPr>
        <p:spPr bwMode="auto">
          <a:xfrm>
            <a:off x="500034" y="571480"/>
            <a:ext cx="5643563" cy="862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fr-FR" sz="3200" b="1" dirty="0" err="1">
                <a:solidFill>
                  <a:srgbClr val="FF0000"/>
                </a:solidFill>
                <a:latin typeface="Baskerville Old Face" pitchFamily="18" charset="0"/>
              </a:rPr>
              <a:t>Définition</a:t>
            </a:r>
            <a:r>
              <a:rPr lang="en-US" altLang="fr-FR" sz="3200" b="1" dirty="0">
                <a:solidFill>
                  <a:srgbClr val="FF0000"/>
                </a:solidFill>
                <a:latin typeface="Baskerville Old Face" pitchFamily="18" charset="0"/>
              </a:rPr>
              <a:t> de </a:t>
            </a:r>
            <a:r>
              <a:rPr lang="en-US" altLang="fr-FR" sz="3200" b="1" dirty="0" err="1">
                <a:solidFill>
                  <a:srgbClr val="FF0000"/>
                </a:solidFill>
                <a:latin typeface="Baskerville Old Face" pitchFamily="18" charset="0"/>
              </a:rPr>
              <a:t>l’entreprise</a:t>
            </a:r>
            <a:r>
              <a:rPr lang="en-US" altLang="fr-FR" sz="3200" b="1" dirty="0">
                <a:solidFill>
                  <a:srgbClr val="FF0000"/>
                </a:solidFill>
                <a:latin typeface="Baskerville Old Face" pitchFamily="18" charset="0"/>
              </a:rPr>
              <a:t> </a:t>
            </a:r>
          </a:p>
          <a:p>
            <a:pPr algn="r"/>
            <a:endParaRPr lang="en-US" altLang="fr-FR" dirty="0">
              <a:solidFill>
                <a:srgbClr val="56595E"/>
              </a:solidFill>
              <a:latin typeface="Candara" pitchFamily="34" charset="0"/>
            </a:endParaRPr>
          </a:p>
        </p:txBody>
      </p:sp>
      <p:sp>
        <p:nvSpPr>
          <p:cNvPr id="22" name="Espace réservé du numéro de diapositive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B31A71-CE1E-47DE-94CC-DE1C7B73E667}" type="slidenum">
              <a:rPr lang="fr-BE"/>
              <a:pPr>
                <a:defRPr/>
              </a:pPr>
              <a:t>13</a:t>
            </a:fld>
            <a:endParaRPr lang="fr-BE"/>
          </a:p>
        </p:txBody>
      </p:sp>
      <p:pic>
        <p:nvPicPr>
          <p:cNvPr id="8" name="Picture 15">
            <a:extLst>
              <a:ext uri="{FF2B5EF4-FFF2-40B4-BE49-F238E27FC236}">
                <a16:creationId xmlns:a16="http://schemas.microsoft.com/office/drawing/2014/main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460" y="0"/>
            <a:ext cx="3682540" cy="2146032"/>
          </a:xfrm>
          <a:prstGeom prst="rect">
            <a:avLst/>
          </a:prstGeom>
        </p:spPr>
      </p:pic>
      <p:sp>
        <p:nvSpPr>
          <p:cNvPr id="9" name="Isosceles Triangle 46">
            <a:extLst>
              <a:ext uri="{FF2B5EF4-FFF2-40B4-BE49-F238E27FC236}">
                <a16:creationId xmlns:a16="http://schemas.microsoft.com/office/drawing/2014/main" id="{295CE181-88D7-4815-BC0F-BC87C9322824}"/>
              </a:ext>
            </a:extLst>
          </p:cNvPr>
          <p:cNvSpPr/>
          <p:nvPr/>
        </p:nvSpPr>
        <p:spPr>
          <a:xfrm rot="5400000">
            <a:off x="-31494" y="674412"/>
            <a:ext cx="510899" cy="447911"/>
          </a:xfrm>
          <a:prstGeom prst="triangl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9" grpId="0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ardrop 15"/>
          <p:cNvSpPr/>
          <p:nvPr/>
        </p:nvSpPr>
        <p:spPr>
          <a:xfrm>
            <a:off x="214313" y="1714500"/>
            <a:ext cx="2357437" cy="2824163"/>
          </a:xfrm>
          <a:prstGeom prst="teardrop">
            <a:avLst/>
          </a:prstGeom>
          <a:blipFill>
            <a:blip r:embed="rId2" cstate="print"/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7" name="Text Box 10"/>
          <p:cNvSpPr txBox="1">
            <a:spLocks noChangeArrowheads="1"/>
          </p:cNvSpPr>
          <p:nvPr/>
        </p:nvSpPr>
        <p:spPr bwMode="auto">
          <a:xfrm>
            <a:off x="3286125" y="2786063"/>
            <a:ext cx="5286375" cy="190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0960" tIns="30480" rIns="60960" bIns="30480">
            <a:spAutoFit/>
          </a:bodyPr>
          <a:lstStyle/>
          <a:p>
            <a:pPr algn="just" defTabSz="1219170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fr-FR" dirty="0">
                <a:solidFill>
                  <a:schemeClr val="accent2">
                    <a:lumMod val="50000"/>
                  </a:schemeClr>
                </a:solidFill>
                <a:latin typeface="+mn-lt"/>
                <a:cs typeface="+mn-cs"/>
              </a:rPr>
              <a:t> </a:t>
            </a:r>
            <a:r>
              <a:rPr lang="fr-FR" sz="24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  <a:cs typeface="+mn-cs"/>
              </a:rPr>
              <a:t>L’entreprise</a:t>
            </a:r>
            <a:r>
              <a:rPr lang="fr-FR" sz="2400" b="1" dirty="0">
                <a:solidFill>
                  <a:schemeClr val="accent1"/>
                </a:solidFill>
                <a:latin typeface="Candara" pitchFamily="34" charset="0"/>
                <a:cs typeface="+mn-cs"/>
              </a:rPr>
              <a:t> </a:t>
            </a:r>
            <a:r>
              <a:rPr lang="fr-FR" sz="24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  <a:cs typeface="+mn-cs"/>
              </a:rPr>
              <a:t>est</a:t>
            </a:r>
            <a:r>
              <a:rPr lang="fr-FR" sz="2400" b="1" dirty="0">
                <a:solidFill>
                  <a:schemeClr val="accent1"/>
                </a:solidFill>
                <a:latin typeface="Candara" pitchFamily="34" charset="0"/>
                <a:cs typeface="+mn-cs"/>
              </a:rPr>
              <a:t> </a:t>
            </a:r>
            <a:r>
              <a:rPr lang="fr-FR" sz="2400" b="1" dirty="0">
                <a:solidFill>
                  <a:srgbClr val="3EB8CD"/>
                </a:solidFill>
                <a:latin typeface="Candara" pitchFamily="34" charset="0"/>
                <a:cs typeface="+mn-cs"/>
              </a:rPr>
              <a:t>un acteur </a:t>
            </a:r>
            <a:r>
              <a:rPr lang="fr-FR" sz="24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  <a:cs typeface="+mn-cs"/>
              </a:rPr>
              <a:t>qui évolue dans un </a:t>
            </a:r>
            <a:r>
              <a:rPr lang="fr-FR" sz="2400" b="1" dirty="0">
                <a:solidFill>
                  <a:srgbClr val="3EB8CD"/>
                </a:solidFill>
                <a:latin typeface="Candara" pitchFamily="34" charset="0"/>
                <a:cs typeface="+mn-cs"/>
              </a:rPr>
              <a:t>environnement</a:t>
            </a:r>
            <a:r>
              <a:rPr lang="fr-FR" sz="2400" b="1" dirty="0">
                <a:solidFill>
                  <a:schemeClr val="accent2">
                    <a:lumMod val="50000"/>
                  </a:schemeClr>
                </a:solidFill>
                <a:latin typeface="Candara" pitchFamily="34" charset="0"/>
                <a:cs typeface="+mn-cs"/>
              </a:rPr>
              <a:t> </a:t>
            </a:r>
            <a:r>
              <a:rPr lang="fr-FR" sz="24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  <a:cs typeface="+mn-cs"/>
              </a:rPr>
              <a:t>économique, politique et social plus ou moins </a:t>
            </a:r>
            <a:r>
              <a:rPr lang="fr-FR" sz="2400" b="1" dirty="0">
                <a:solidFill>
                  <a:srgbClr val="3EB8CD"/>
                </a:solidFill>
                <a:latin typeface="Candara" pitchFamily="34" charset="0"/>
                <a:cs typeface="+mn-cs"/>
              </a:rPr>
              <a:t>contraignant </a:t>
            </a:r>
            <a:r>
              <a:rPr lang="fr-FR" sz="24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  <a:cs typeface="+mn-cs"/>
              </a:rPr>
              <a:t>sur lequel il </a:t>
            </a:r>
            <a:r>
              <a:rPr lang="fr-FR" sz="2400" b="1" dirty="0">
                <a:solidFill>
                  <a:srgbClr val="3EB8CD"/>
                </a:solidFill>
                <a:latin typeface="Candara" pitchFamily="34" charset="0"/>
                <a:cs typeface="+mn-cs"/>
              </a:rPr>
              <a:t>intervient </a:t>
            </a:r>
            <a:r>
              <a:rPr lang="fr-FR" sz="24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  <a:cs typeface="+mn-cs"/>
              </a:rPr>
              <a:t>et auquel il doit</a:t>
            </a:r>
            <a:r>
              <a:rPr lang="fr-FR" sz="2400" dirty="0">
                <a:solidFill>
                  <a:schemeClr val="accent2">
                    <a:lumMod val="50000"/>
                  </a:schemeClr>
                </a:solidFill>
                <a:latin typeface="Candara" pitchFamily="34" charset="0"/>
                <a:cs typeface="+mn-cs"/>
              </a:rPr>
              <a:t> </a:t>
            </a:r>
            <a:r>
              <a:rPr lang="fr-FR" sz="2400" b="1" dirty="0">
                <a:solidFill>
                  <a:srgbClr val="3EB8CD"/>
                </a:solidFill>
                <a:latin typeface="Candara" pitchFamily="34" charset="0"/>
                <a:cs typeface="+mn-cs"/>
              </a:rPr>
              <a:t>s’adapter.</a:t>
            </a:r>
            <a:r>
              <a:rPr lang="fr-FR" sz="2400" dirty="0">
                <a:solidFill>
                  <a:schemeClr val="accent2">
                    <a:lumMod val="50000"/>
                  </a:schemeClr>
                </a:solidFill>
                <a:latin typeface="Candara" pitchFamily="34" charset="0"/>
                <a:cs typeface="+mn-cs"/>
              </a:rPr>
              <a:t> </a:t>
            </a:r>
            <a:endParaRPr lang="en-US" sz="2400" b="1" dirty="0">
              <a:solidFill>
                <a:srgbClr val="3EB8CD"/>
              </a:solidFill>
              <a:latin typeface="Candara" pitchFamily="34" charset="0"/>
              <a:cs typeface="+mn-cs"/>
            </a:endParaRPr>
          </a:p>
        </p:txBody>
      </p:sp>
      <p:sp>
        <p:nvSpPr>
          <p:cNvPr id="18" name="Oval 17"/>
          <p:cNvSpPr>
            <a:spLocks noChangeAspect="1"/>
          </p:cNvSpPr>
          <p:nvPr/>
        </p:nvSpPr>
        <p:spPr>
          <a:xfrm>
            <a:off x="2000232" y="3429000"/>
            <a:ext cx="928694" cy="822960"/>
          </a:xfrm>
          <a:prstGeom prst="ellipse">
            <a:avLst/>
          </a:prstGeom>
          <a:solidFill>
            <a:srgbClr val="3EB8CD"/>
          </a:solidFill>
          <a:ln w="6350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>
                <a:latin typeface="Lato"/>
              </a:rPr>
              <a:t>03</a:t>
            </a:r>
          </a:p>
        </p:txBody>
      </p:sp>
      <p:sp>
        <p:nvSpPr>
          <p:cNvPr id="19" name="TextBox 66"/>
          <p:cNvSpPr txBox="1">
            <a:spLocks noChangeArrowheads="1"/>
          </p:cNvSpPr>
          <p:nvPr/>
        </p:nvSpPr>
        <p:spPr bwMode="auto">
          <a:xfrm>
            <a:off x="428596" y="571480"/>
            <a:ext cx="5643563" cy="862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fr-FR" sz="3200" b="1" dirty="0" err="1">
                <a:solidFill>
                  <a:srgbClr val="FF0000"/>
                </a:solidFill>
                <a:latin typeface="Baskerville Old Face" pitchFamily="18" charset="0"/>
              </a:rPr>
              <a:t>Définition</a:t>
            </a:r>
            <a:r>
              <a:rPr lang="en-US" altLang="fr-FR" sz="3200" b="1" dirty="0">
                <a:solidFill>
                  <a:srgbClr val="FF0000"/>
                </a:solidFill>
                <a:latin typeface="Baskerville Old Face" pitchFamily="18" charset="0"/>
              </a:rPr>
              <a:t> de </a:t>
            </a:r>
            <a:r>
              <a:rPr lang="en-US" altLang="fr-FR" sz="3200" b="1" dirty="0" err="1">
                <a:solidFill>
                  <a:srgbClr val="FF0000"/>
                </a:solidFill>
                <a:latin typeface="Baskerville Old Face" pitchFamily="18" charset="0"/>
              </a:rPr>
              <a:t>l’entreprise</a:t>
            </a:r>
            <a:r>
              <a:rPr lang="en-US" altLang="fr-FR" sz="3200" b="1" dirty="0">
                <a:solidFill>
                  <a:srgbClr val="FF0000"/>
                </a:solidFill>
                <a:latin typeface="Baskerville Old Face" pitchFamily="18" charset="0"/>
              </a:rPr>
              <a:t> </a:t>
            </a:r>
          </a:p>
          <a:p>
            <a:pPr algn="r"/>
            <a:endParaRPr lang="en-US" altLang="fr-FR" dirty="0">
              <a:solidFill>
                <a:srgbClr val="56595E"/>
              </a:solidFill>
              <a:latin typeface="Candara" pitchFamily="34" charset="0"/>
            </a:endParaRPr>
          </a:p>
        </p:txBody>
      </p:sp>
      <p:sp>
        <p:nvSpPr>
          <p:cNvPr id="22" name="Espace réservé du numéro de diapositive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B8C8B0-1375-4738-9311-E1DCDCC0007E}" type="slidenum">
              <a:rPr lang="fr-BE"/>
              <a:pPr>
                <a:defRPr/>
              </a:pPr>
              <a:t>14</a:t>
            </a:fld>
            <a:endParaRPr lang="fr-BE"/>
          </a:p>
        </p:txBody>
      </p:sp>
      <p:pic>
        <p:nvPicPr>
          <p:cNvPr id="8" name="Picture 15">
            <a:extLst>
              <a:ext uri="{FF2B5EF4-FFF2-40B4-BE49-F238E27FC236}">
                <a16:creationId xmlns:a16="http://schemas.microsoft.com/office/drawing/2014/main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460" y="0"/>
            <a:ext cx="3682540" cy="2146032"/>
          </a:xfrm>
          <a:prstGeom prst="rect">
            <a:avLst/>
          </a:prstGeom>
        </p:spPr>
      </p:pic>
      <p:sp>
        <p:nvSpPr>
          <p:cNvPr id="9" name="Isosceles Triangle 46">
            <a:extLst>
              <a:ext uri="{FF2B5EF4-FFF2-40B4-BE49-F238E27FC236}">
                <a16:creationId xmlns:a16="http://schemas.microsoft.com/office/drawing/2014/main" id="{295CE181-88D7-4815-BC0F-BC87C9322824}"/>
              </a:ext>
            </a:extLst>
          </p:cNvPr>
          <p:cNvSpPr/>
          <p:nvPr/>
        </p:nvSpPr>
        <p:spPr>
          <a:xfrm rot="5400000">
            <a:off x="-31494" y="674412"/>
            <a:ext cx="510899" cy="447911"/>
          </a:xfrm>
          <a:prstGeom prst="triangl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ardrop 15"/>
          <p:cNvSpPr/>
          <p:nvPr/>
        </p:nvSpPr>
        <p:spPr>
          <a:xfrm>
            <a:off x="214313" y="1714500"/>
            <a:ext cx="2357437" cy="2824163"/>
          </a:xfrm>
          <a:prstGeom prst="teardrop">
            <a:avLst/>
          </a:prstGeom>
          <a:blipFill>
            <a:blip r:embed="rId2" cstate="print"/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Oval 17"/>
          <p:cNvSpPr>
            <a:spLocks noChangeAspect="1"/>
          </p:cNvSpPr>
          <p:nvPr/>
        </p:nvSpPr>
        <p:spPr>
          <a:xfrm>
            <a:off x="2000232" y="3429000"/>
            <a:ext cx="928694" cy="822960"/>
          </a:xfrm>
          <a:prstGeom prst="ellipse">
            <a:avLst/>
          </a:prstGeom>
          <a:solidFill>
            <a:srgbClr val="FFC000"/>
          </a:solidFill>
          <a:ln w="6350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>
                <a:latin typeface="Lato"/>
              </a:rPr>
              <a:t>04</a:t>
            </a:r>
          </a:p>
        </p:txBody>
      </p:sp>
      <p:sp>
        <p:nvSpPr>
          <p:cNvPr id="19" name="TextBox 66"/>
          <p:cNvSpPr txBox="1">
            <a:spLocks noChangeArrowheads="1"/>
          </p:cNvSpPr>
          <p:nvPr/>
        </p:nvSpPr>
        <p:spPr bwMode="auto">
          <a:xfrm>
            <a:off x="428596" y="571480"/>
            <a:ext cx="5643563" cy="862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fr-FR" sz="3200" b="1" dirty="0" err="1">
                <a:solidFill>
                  <a:srgbClr val="FF0000"/>
                </a:solidFill>
                <a:latin typeface="Baskerville Old Face" pitchFamily="18" charset="0"/>
              </a:rPr>
              <a:t>Définition</a:t>
            </a:r>
            <a:r>
              <a:rPr lang="en-US" altLang="fr-FR" sz="3200" b="1" dirty="0">
                <a:solidFill>
                  <a:srgbClr val="FF0000"/>
                </a:solidFill>
                <a:latin typeface="Baskerville Old Face" pitchFamily="18" charset="0"/>
              </a:rPr>
              <a:t> de </a:t>
            </a:r>
            <a:r>
              <a:rPr lang="en-US" altLang="fr-FR" sz="3200" b="1" dirty="0" err="1">
                <a:solidFill>
                  <a:srgbClr val="FF0000"/>
                </a:solidFill>
                <a:latin typeface="Baskerville Old Face" pitchFamily="18" charset="0"/>
              </a:rPr>
              <a:t>l’entreprise</a:t>
            </a:r>
            <a:r>
              <a:rPr lang="en-US" altLang="fr-FR" sz="3200" b="1" dirty="0">
                <a:solidFill>
                  <a:srgbClr val="FF0000"/>
                </a:solidFill>
                <a:latin typeface="Baskerville Old Face" pitchFamily="18" charset="0"/>
              </a:rPr>
              <a:t> </a:t>
            </a:r>
          </a:p>
          <a:p>
            <a:pPr algn="r"/>
            <a:endParaRPr lang="en-US" altLang="fr-FR" dirty="0">
              <a:solidFill>
                <a:srgbClr val="56595E"/>
              </a:solidFill>
              <a:latin typeface="Candara" pitchFamily="34" charset="0"/>
            </a:endParaRPr>
          </a:p>
        </p:txBody>
      </p:sp>
      <p:sp>
        <p:nvSpPr>
          <p:cNvPr id="22" name="Espace réservé du numéro de diapositive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B8C8B0-1375-4738-9311-E1DCDCC0007E}" type="slidenum">
              <a:rPr lang="fr-BE"/>
              <a:pPr>
                <a:defRPr/>
              </a:pPr>
              <a:t>15</a:t>
            </a:fld>
            <a:endParaRPr lang="fr-BE"/>
          </a:p>
        </p:txBody>
      </p:sp>
      <p:pic>
        <p:nvPicPr>
          <p:cNvPr id="8" name="Picture 15">
            <a:extLst>
              <a:ext uri="{FF2B5EF4-FFF2-40B4-BE49-F238E27FC236}">
                <a16:creationId xmlns:a16="http://schemas.microsoft.com/office/drawing/2014/main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460" y="0"/>
            <a:ext cx="3682540" cy="2146032"/>
          </a:xfrm>
          <a:prstGeom prst="rect">
            <a:avLst/>
          </a:prstGeom>
        </p:spPr>
      </p:pic>
      <p:sp>
        <p:nvSpPr>
          <p:cNvPr id="9" name="Isosceles Triangle 46">
            <a:extLst>
              <a:ext uri="{FF2B5EF4-FFF2-40B4-BE49-F238E27FC236}">
                <a16:creationId xmlns:a16="http://schemas.microsoft.com/office/drawing/2014/main" id="{295CE181-88D7-4815-BC0F-BC87C9322824}"/>
              </a:ext>
            </a:extLst>
          </p:cNvPr>
          <p:cNvSpPr/>
          <p:nvPr/>
        </p:nvSpPr>
        <p:spPr>
          <a:xfrm rot="5400000">
            <a:off x="-31494" y="674412"/>
            <a:ext cx="510899" cy="447911"/>
          </a:xfrm>
          <a:prstGeom prst="triangl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3286116" y="2357430"/>
            <a:ext cx="5286375" cy="15388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0960" tIns="30480" rIns="60960" bIns="30480">
            <a:spAutoFit/>
          </a:bodyPr>
          <a:lstStyle/>
          <a:p>
            <a:pPr algn="just" defTabSz="1219170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fr-FR" dirty="0">
                <a:solidFill>
                  <a:schemeClr val="accent2">
                    <a:lumMod val="50000"/>
                  </a:schemeClr>
                </a:solidFill>
                <a:latin typeface="+mn-lt"/>
                <a:cs typeface="+mn-cs"/>
              </a:rPr>
              <a:t> </a:t>
            </a:r>
            <a:r>
              <a:rPr lang="fr-FR" sz="24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  <a:cs typeface="+mn-cs"/>
              </a:rPr>
              <a:t>L’entreprise est un </a:t>
            </a:r>
            <a:r>
              <a:rPr lang="fr-FR" sz="2400" b="1" dirty="0">
                <a:solidFill>
                  <a:srgbClr val="FFC000"/>
                </a:solidFill>
                <a:latin typeface="Candara" pitchFamily="34" charset="0"/>
                <a:cs typeface="+mn-cs"/>
              </a:rPr>
              <a:t>système</a:t>
            </a:r>
            <a:r>
              <a:rPr lang="fr-FR" sz="24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  <a:cs typeface="+mn-cs"/>
              </a:rPr>
              <a:t> ,composé de différentes  </a:t>
            </a:r>
            <a:r>
              <a:rPr lang="fr-FR" sz="2400" b="1" dirty="0">
                <a:solidFill>
                  <a:srgbClr val="FFC000"/>
                </a:solidFill>
                <a:latin typeface="Candara" pitchFamily="34" charset="0"/>
                <a:cs typeface="+mn-cs"/>
              </a:rPr>
              <a:t>fonctions</a:t>
            </a:r>
            <a:r>
              <a:rPr lang="fr-FR" sz="24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  <a:cs typeface="+mn-cs"/>
              </a:rPr>
              <a:t> en permanente </a:t>
            </a:r>
            <a:r>
              <a:rPr lang="fr-FR" sz="2400" b="1" dirty="0">
                <a:solidFill>
                  <a:srgbClr val="FFC000"/>
                </a:solidFill>
                <a:latin typeface="Candara" pitchFamily="34" charset="0"/>
                <a:cs typeface="+mn-cs"/>
              </a:rPr>
              <a:t>interaction</a:t>
            </a:r>
            <a:r>
              <a:rPr lang="fr-FR" sz="24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  <a:cs typeface="+mn-cs"/>
              </a:rPr>
              <a:t>, </a:t>
            </a:r>
            <a:r>
              <a:rPr lang="fr-FR" sz="2400" b="1" dirty="0">
                <a:solidFill>
                  <a:srgbClr val="FFC000"/>
                </a:solidFill>
                <a:latin typeface="Candara" pitchFamily="34" charset="0"/>
                <a:cs typeface="+mn-cs"/>
              </a:rPr>
              <a:t>organisé</a:t>
            </a:r>
            <a:r>
              <a:rPr lang="fr-FR" sz="24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  <a:cs typeface="+mn-cs"/>
              </a:rPr>
              <a:t> en vue de réaliser certains </a:t>
            </a:r>
            <a:r>
              <a:rPr lang="fr-FR" sz="2400" b="1" dirty="0">
                <a:solidFill>
                  <a:srgbClr val="FFC000"/>
                </a:solidFill>
                <a:latin typeface="Candara" pitchFamily="34" charset="0"/>
                <a:cs typeface="+mn-cs"/>
              </a:rPr>
              <a:t>buts</a:t>
            </a:r>
            <a:r>
              <a:rPr lang="fr-FR" sz="24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  <a:cs typeface="+mn-cs"/>
              </a:rPr>
              <a:t>.  </a:t>
            </a:r>
            <a:endParaRPr lang="en-US" sz="2400" b="1" dirty="0">
              <a:solidFill>
                <a:schemeClr val="tx2">
                  <a:lumMod val="75000"/>
                </a:schemeClr>
              </a:solidFill>
              <a:latin typeface="Candara" pitchFamily="34" charset="0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9" grpId="0" animBg="1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7"/>
          <p:cNvGrpSpPr/>
          <p:nvPr/>
        </p:nvGrpSpPr>
        <p:grpSpPr>
          <a:xfrm>
            <a:off x="500034" y="4643446"/>
            <a:ext cx="1280160" cy="508000"/>
            <a:chOff x="6572357" y="3914649"/>
            <a:chExt cx="1706880" cy="508000"/>
          </a:xfrm>
        </p:grpSpPr>
        <p:cxnSp>
          <p:nvCxnSpPr>
            <p:cNvPr id="29" name="Straight Connector 28"/>
            <p:cNvCxnSpPr/>
            <p:nvPr/>
          </p:nvCxnSpPr>
          <p:spPr>
            <a:xfrm rot="10800000">
              <a:off x="6572357" y="4207383"/>
              <a:ext cx="1706880" cy="2117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38100" dist="12700" sx="96000" sy="96000" algn="l" rotWithShape="0">
                <a:prstClr val="black">
                  <a:alpha val="9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rapezoid 29"/>
            <p:cNvSpPr/>
            <p:nvPr/>
          </p:nvSpPr>
          <p:spPr>
            <a:xfrm rot="10800000" flipH="1">
              <a:off x="6944891" y="4215215"/>
              <a:ext cx="1190624" cy="203200"/>
            </a:xfrm>
            <a:prstGeom prst="trapezoid">
              <a:avLst>
                <a:gd name="adj" fmla="val 62501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1" name="Parallelogram 30"/>
            <p:cNvSpPr/>
            <p:nvPr/>
          </p:nvSpPr>
          <p:spPr>
            <a:xfrm flipV="1">
              <a:off x="6698290" y="3914649"/>
              <a:ext cx="1312339" cy="508000"/>
            </a:xfrm>
            <a:prstGeom prst="parallelogram">
              <a:avLst>
                <a:gd name="adj" fmla="val 63243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8726896" y="6704111"/>
            <a:ext cx="247208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" dirty="0">
                <a:solidFill>
                  <a:schemeClr val="bg1">
                    <a:lumMod val="75000"/>
                  </a:schemeClr>
                </a:solidFill>
                <a:hlinkClick r:id="rId3"/>
              </a:rPr>
              <a:t>Free PowerPoint Templates</a:t>
            </a:r>
            <a:endParaRPr lang="en-US" sz="1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" name="Oval 1"/>
          <p:cNvSpPr/>
          <p:nvPr/>
        </p:nvSpPr>
        <p:spPr>
          <a:xfrm>
            <a:off x="1714480" y="785794"/>
            <a:ext cx="2277371" cy="2743200"/>
          </a:xfrm>
          <a:prstGeom prst="ellipse">
            <a:avLst/>
          </a:prstGeom>
          <a:blipFill>
            <a:blip r:embed="rId4" cstate="print"/>
            <a:stretch>
              <a:fillRect/>
            </a:stretch>
          </a:blipFill>
          <a:ln w="76200"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/>
          <p:cNvSpPr/>
          <p:nvPr/>
        </p:nvSpPr>
        <p:spPr>
          <a:xfrm rot="15548655">
            <a:off x="231943" y="2771703"/>
            <a:ext cx="2113148" cy="1283538"/>
          </a:xfrm>
          <a:custGeom>
            <a:avLst/>
            <a:gdLst>
              <a:gd name="connsiteX0" fmla="*/ 889000 w 889000"/>
              <a:gd name="connsiteY0" fmla="*/ 647700 h 647700"/>
              <a:gd name="connsiteX1" fmla="*/ 0 w 889000"/>
              <a:gd name="connsiteY1" fmla="*/ 0 h 647700"/>
              <a:gd name="connsiteX0" fmla="*/ 889000 w 889000"/>
              <a:gd name="connsiteY0" fmla="*/ 647700 h 647700"/>
              <a:gd name="connsiteX1" fmla="*/ 0 w 889000"/>
              <a:gd name="connsiteY1" fmla="*/ 0 h 647700"/>
              <a:gd name="connsiteX0" fmla="*/ 889000 w 889000"/>
              <a:gd name="connsiteY0" fmla="*/ 647700 h 647700"/>
              <a:gd name="connsiteX1" fmla="*/ 0 w 889000"/>
              <a:gd name="connsiteY1" fmla="*/ 0 h 647700"/>
              <a:gd name="connsiteX0" fmla="*/ 889000 w 889000"/>
              <a:gd name="connsiteY0" fmla="*/ 647700 h 647700"/>
              <a:gd name="connsiteX1" fmla="*/ 0 w 889000"/>
              <a:gd name="connsiteY1" fmla="*/ 0 h 64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89000" h="647700">
                <a:moveTo>
                  <a:pt x="889000" y="647700"/>
                </a:moveTo>
                <a:cubicBezTo>
                  <a:pt x="770467" y="431800"/>
                  <a:pt x="639233" y="95250"/>
                  <a:pt x="0" y="0"/>
                </a:cubicBezTo>
              </a:path>
            </a:pathLst>
          </a:custGeom>
          <a:ln w="317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6" name="Freeform 35"/>
          <p:cNvSpPr/>
          <p:nvPr/>
        </p:nvSpPr>
        <p:spPr>
          <a:xfrm rot="16200000" flipH="1" flipV="1">
            <a:off x="74981" y="4997061"/>
            <a:ext cx="1447800" cy="740570"/>
          </a:xfrm>
          <a:custGeom>
            <a:avLst/>
            <a:gdLst>
              <a:gd name="connsiteX0" fmla="*/ 0 w 838200"/>
              <a:gd name="connsiteY0" fmla="*/ 0 h 657225"/>
              <a:gd name="connsiteX1" fmla="*/ 838200 w 838200"/>
              <a:gd name="connsiteY1" fmla="*/ 0 h 657225"/>
              <a:gd name="connsiteX2" fmla="*/ 838200 w 838200"/>
              <a:gd name="connsiteY2" fmla="*/ 657225 h 657225"/>
              <a:gd name="connsiteX3" fmla="*/ 0 w 838200"/>
              <a:gd name="connsiteY3" fmla="*/ 657225 h 657225"/>
              <a:gd name="connsiteX4" fmla="*/ 0 w 838200"/>
              <a:gd name="connsiteY4" fmla="*/ 0 h 657225"/>
              <a:gd name="connsiteX0" fmla="*/ 0 w 838200"/>
              <a:gd name="connsiteY0" fmla="*/ 0 h 657225"/>
              <a:gd name="connsiteX1" fmla="*/ 609600 w 838200"/>
              <a:gd name="connsiteY1" fmla="*/ 0 h 657225"/>
              <a:gd name="connsiteX2" fmla="*/ 838200 w 838200"/>
              <a:gd name="connsiteY2" fmla="*/ 657225 h 657225"/>
              <a:gd name="connsiteX3" fmla="*/ 0 w 838200"/>
              <a:gd name="connsiteY3" fmla="*/ 657225 h 657225"/>
              <a:gd name="connsiteX4" fmla="*/ 0 w 838200"/>
              <a:gd name="connsiteY4" fmla="*/ 0 h 657225"/>
              <a:gd name="connsiteX0" fmla="*/ 0 w 838200"/>
              <a:gd name="connsiteY0" fmla="*/ 0 h 657225"/>
              <a:gd name="connsiteX1" fmla="*/ 483079 w 838200"/>
              <a:gd name="connsiteY1" fmla="*/ 0 h 657225"/>
              <a:gd name="connsiteX2" fmla="*/ 838200 w 838200"/>
              <a:gd name="connsiteY2" fmla="*/ 657225 h 657225"/>
              <a:gd name="connsiteX3" fmla="*/ 0 w 838200"/>
              <a:gd name="connsiteY3" fmla="*/ 657225 h 657225"/>
              <a:gd name="connsiteX4" fmla="*/ 0 w 838200"/>
              <a:gd name="connsiteY4" fmla="*/ 0 h 657225"/>
              <a:gd name="connsiteX0" fmla="*/ 0 w 838200"/>
              <a:gd name="connsiteY0" fmla="*/ 0 h 657225"/>
              <a:gd name="connsiteX1" fmla="*/ 483079 w 838200"/>
              <a:gd name="connsiteY1" fmla="*/ 0 h 657225"/>
              <a:gd name="connsiteX2" fmla="*/ 602916 w 838200"/>
              <a:gd name="connsiteY2" fmla="*/ 0 h 657225"/>
              <a:gd name="connsiteX3" fmla="*/ 838200 w 838200"/>
              <a:gd name="connsiteY3" fmla="*/ 657225 h 657225"/>
              <a:gd name="connsiteX4" fmla="*/ 0 w 838200"/>
              <a:gd name="connsiteY4" fmla="*/ 657225 h 657225"/>
              <a:gd name="connsiteX5" fmla="*/ 0 w 838200"/>
              <a:gd name="connsiteY5" fmla="*/ 0 h 657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38200" h="657225">
                <a:moveTo>
                  <a:pt x="0" y="0"/>
                </a:moveTo>
                <a:lnTo>
                  <a:pt x="483079" y="0"/>
                </a:lnTo>
                <a:lnTo>
                  <a:pt x="602916" y="0"/>
                </a:lnTo>
                <a:lnTo>
                  <a:pt x="838200" y="657225"/>
                </a:lnTo>
                <a:lnTo>
                  <a:pt x="0" y="6572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46" name="Freeform 62"/>
          <p:cNvSpPr>
            <a:spLocks noChangeAspect="1" noEditPoints="1"/>
          </p:cNvSpPr>
          <p:nvPr/>
        </p:nvSpPr>
        <p:spPr bwMode="auto">
          <a:xfrm>
            <a:off x="500034" y="5000636"/>
            <a:ext cx="408216" cy="548640"/>
          </a:xfrm>
          <a:custGeom>
            <a:avLst/>
            <a:gdLst/>
            <a:ahLst/>
            <a:cxnLst>
              <a:cxn ang="0">
                <a:pos x="58" y="33"/>
              </a:cxn>
              <a:cxn ang="0">
                <a:pos x="57" y="34"/>
              </a:cxn>
              <a:cxn ang="0">
                <a:pos x="50" y="35"/>
              </a:cxn>
              <a:cxn ang="0">
                <a:pos x="49" y="39"/>
              </a:cxn>
              <a:cxn ang="0">
                <a:pos x="53" y="44"/>
              </a:cxn>
              <a:cxn ang="0">
                <a:pos x="53" y="45"/>
              </a:cxn>
              <a:cxn ang="0">
                <a:pos x="53" y="46"/>
              </a:cxn>
              <a:cxn ang="0">
                <a:pos x="45" y="53"/>
              </a:cxn>
              <a:cxn ang="0">
                <a:pos x="44" y="52"/>
              </a:cxn>
              <a:cxn ang="0">
                <a:pos x="39" y="48"/>
              </a:cxn>
              <a:cxn ang="0">
                <a:pos x="36" y="50"/>
              </a:cxn>
              <a:cxn ang="0">
                <a:pos x="34" y="57"/>
              </a:cxn>
              <a:cxn ang="0">
                <a:pos x="33" y="58"/>
              </a:cxn>
              <a:cxn ang="0">
                <a:pos x="25" y="58"/>
              </a:cxn>
              <a:cxn ang="0">
                <a:pos x="23" y="57"/>
              </a:cxn>
              <a:cxn ang="0">
                <a:pos x="22" y="50"/>
              </a:cxn>
              <a:cxn ang="0">
                <a:pos x="19" y="48"/>
              </a:cxn>
              <a:cxn ang="0">
                <a:pos x="14" y="52"/>
              </a:cxn>
              <a:cxn ang="0">
                <a:pos x="13" y="53"/>
              </a:cxn>
              <a:cxn ang="0">
                <a:pos x="12" y="52"/>
              </a:cxn>
              <a:cxn ang="0">
                <a:pos x="5" y="46"/>
              </a:cxn>
              <a:cxn ang="0">
                <a:pos x="5" y="45"/>
              </a:cxn>
              <a:cxn ang="0">
                <a:pos x="5" y="44"/>
              </a:cxn>
              <a:cxn ang="0">
                <a:pos x="9" y="39"/>
              </a:cxn>
              <a:cxn ang="0">
                <a:pos x="8" y="35"/>
              </a:cxn>
              <a:cxn ang="0">
                <a:pos x="1" y="34"/>
              </a:cxn>
              <a:cxn ang="0">
                <a:pos x="0" y="33"/>
              </a:cxn>
              <a:cxn ang="0">
                <a:pos x="0" y="24"/>
              </a:cxn>
              <a:cxn ang="0">
                <a:pos x="1" y="23"/>
              </a:cxn>
              <a:cxn ang="0">
                <a:pos x="8" y="22"/>
              </a:cxn>
              <a:cxn ang="0">
                <a:pos x="9" y="18"/>
              </a:cxn>
              <a:cxn ang="0">
                <a:pos x="5" y="13"/>
              </a:cxn>
              <a:cxn ang="0">
                <a:pos x="5" y="12"/>
              </a:cxn>
              <a:cxn ang="0">
                <a:pos x="5" y="11"/>
              </a:cxn>
              <a:cxn ang="0">
                <a:pos x="13" y="5"/>
              </a:cxn>
              <a:cxn ang="0">
                <a:pos x="14" y="5"/>
              </a:cxn>
              <a:cxn ang="0">
                <a:pos x="19" y="9"/>
              </a:cxn>
              <a:cxn ang="0">
                <a:pos x="22" y="8"/>
              </a:cxn>
              <a:cxn ang="0">
                <a:pos x="23" y="1"/>
              </a:cxn>
              <a:cxn ang="0">
                <a:pos x="25" y="0"/>
              </a:cxn>
              <a:cxn ang="0">
                <a:pos x="33" y="0"/>
              </a:cxn>
              <a:cxn ang="0">
                <a:pos x="34" y="1"/>
              </a:cxn>
              <a:cxn ang="0">
                <a:pos x="36" y="8"/>
              </a:cxn>
              <a:cxn ang="0">
                <a:pos x="39" y="9"/>
              </a:cxn>
              <a:cxn ang="0">
                <a:pos x="44" y="5"/>
              </a:cxn>
              <a:cxn ang="0">
                <a:pos x="45" y="5"/>
              </a:cxn>
              <a:cxn ang="0">
                <a:pos x="46" y="5"/>
              </a:cxn>
              <a:cxn ang="0">
                <a:pos x="52" y="12"/>
              </a:cxn>
              <a:cxn ang="0">
                <a:pos x="53" y="12"/>
              </a:cxn>
              <a:cxn ang="0">
                <a:pos x="52" y="13"/>
              </a:cxn>
              <a:cxn ang="0">
                <a:pos x="48" y="18"/>
              </a:cxn>
              <a:cxn ang="0">
                <a:pos x="50" y="22"/>
              </a:cxn>
              <a:cxn ang="0">
                <a:pos x="57" y="23"/>
              </a:cxn>
              <a:cxn ang="0">
                <a:pos x="58" y="25"/>
              </a:cxn>
              <a:cxn ang="0">
                <a:pos x="58" y="33"/>
              </a:cxn>
              <a:cxn ang="0">
                <a:pos x="29" y="19"/>
              </a:cxn>
              <a:cxn ang="0">
                <a:pos x="19" y="29"/>
              </a:cxn>
              <a:cxn ang="0">
                <a:pos x="29" y="38"/>
              </a:cxn>
              <a:cxn ang="0">
                <a:pos x="39" y="29"/>
              </a:cxn>
              <a:cxn ang="0">
                <a:pos x="29" y="19"/>
              </a:cxn>
            </a:cxnLst>
            <a:rect l="0" t="0" r="r" b="b"/>
            <a:pathLst>
              <a:path w="58" h="58">
                <a:moveTo>
                  <a:pt x="58" y="33"/>
                </a:moveTo>
                <a:cubicBezTo>
                  <a:pt x="58" y="34"/>
                  <a:pt x="58" y="34"/>
                  <a:pt x="57" y="34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7"/>
                  <a:pt x="49" y="38"/>
                  <a:pt x="49" y="39"/>
                </a:cubicBezTo>
                <a:cubicBezTo>
                  <a:pt x="50" y="41"/>
                  <a:pt x="51" y="42"/>
                  <a:pt x="53" y="44"/>
                </a:cubicBezTo>
                <a:cubicBezTo>
                  <a:pt x="53" y="44"/>
                  <a:pt x="53" y="45"/>
                  <a:pt x="53" y="45"/>
                </a:cubicBezTo>
                <a:cubicBezTo>
                  <a:pt x="53" y="45"/>
                  <a:pt x="53" y="46"/>
                  <a:pt x="53" y="46"/>
                </a:cubicBezTo>
                <a:cubicBezTo>
                  <a:pt x="52" y="47"/>
                  <a:pt x="47" y="53"/>
                  <a:pt x="45" y="53"/>
                </a:cubicBezTo>
                <a:cubicBezTo>
                  <a:pt x="45" y="53"/>
                  <a:pt x="45" y="53"/>
                  <a:pt x="44" y="52"/>
                </a:cubicBezTo>
                <a:cubicBezTo>
                  <a:pt x="39" y="48"/>
                  <a:pt x="39" y="48"/>
                  <a:pt x="39" y="48"/>
                </a:cubicBezTo>
                <a:cubicBezTo>
                  <a:pt x="38" y="49"/>
                  <a:pt x="37" y="49"/>
                  <a:pt x="36" y="50"/>
                </a:cubicBezTo>
                <a:cubicBezTo>
                  <a:pt x="35" y="52"/>
                  <a:pt x="35" y="55"/>
                  <a:pt x="34" y="57"/>
                </a:cubicBezTo>
                <a:cubicBezTo>
                  <a:pt x="34" y="57"/>
                  <a:pt x="34" y="58"/>
                  <a:pt x="33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4" y="58"/>
                  <a:pt x="23" y="57"/>
                  <a:pt x="23" y="57"/>
                </a:cubicBezTo>
                <a:cubicBezTo>
                  <a:pt x="22" y="50"/>
                  <a:pt x="22" y="50"/>
                  <a:pt x="22" y="50"/>
                </a:cubicBezTo>
                <a:cubicBezTo>
                  <a:pt x="21" y="49"/>
                  <a:pt x="20" y="49"/>
                  <a:pt x="19" y="48"/>
                </a:cubicBezTo>
                <a:cubicBezTo>
                  <a:pt x="14" y="52"/>
                  <a:pt x="14" y="52"/>
                  <a:pt x="14" y="52"/>
                </a:cubicBezTo>
                <a:cubicBezTo>
                  <a:pt x="13" y="53"/>
                  <a:pt x="13" y="53"/>
                  <a:pt x="13" y="53"/>
                </a:cubicBezTo>
                <a:cubicBezTo>
                  <a:pt x="12" y="53"/>
                  <a:pt x="12" y="53"/>
                  <a:pt x="12" y="52"/>
                </a:cubicBezTo>
                <a:cubicBezTo>
                  <a:pt x="10" y="50"/>
                  <a:pt x="7" y="48"/>
                  <a:pt x="5" y="46"/>
                </a:cubicBezTo>
                <a:cubicBezTo>
                  <a:pt x="5" y="46"/>
                  <a:pt x="5" y="45"/>
                  <a:pt x="5" y="45"/>
                </a:cubicBezTo>
                <a:cubicBezTo>
                  <a:pt x="5" y="45"/>
                  <a:pt x="5" y="44"/>
                  <a:pt x="5" y="44"/>
                </a:cubicBezTo>
                <a:cubicBezTo>
                  <a:pt x="7" y="42"/>
                  <a:pt x="8" y="41"/>
                  <a:pt x="9" y="39"/>
                </a:cubicBezTo>
                <a:cubicBezTo>
                  <a:pt x="9" y="38"/>
                  <a:pt x="8" y="37"/>
                  <a:pt x="8" y="35"/>
                </a:cubicBezTo>
                <a:cubicBezTo>
                  <a:pt x="1" y="34"/>
                  <a:pt x="1" y="34"/>
                  <a:pt x="1" y="34"/>
                </a:cubicBezTo>
                <a:cubicBezTo>
                  <a:pt x="0" y="34"/>
                  <a:pt x="0" y="33"/>
                  <a:pt x="0" y="33"/>
                </a:cubicBezTo>
                <a:cubicBezTo>
                  <a:pt x="0" y="24"/>
                  <a:pt x="0" y="24"/>
                  <a:pt x="0" y="24"/>
                </a:cubicBezTo>
                <a:cubicBezTo>
                  <a:pt x="0" y="24"/>
                  <a:pt x="0" y="23"/>
                  <a:pt x="1" y="23"/>
                </a:cubicBezTo>
                <a:cubicBezTo>
                  <a:pt x="8" y="22"/>
                  <a:pt x="8" y="22"/>
                  <a:pt x="8" y="22"/>
                </a:cubicBezTo>
                <a:cubicBezTo>
                  <a:pt x="8" y="21"/>
                  <a:pt x="9" y="20"/>
                  <a:pt x="9" y="18"/>
                </a:cubicBezTo>
                <a:cubicBezTo>
                  <a:pt x="8" y="17"/>
                  <a:pt x="7" y="15"/>
                  <a:pt x="5" y="13"/>
                </a:cubicBezTo>
                <a:cubicBezTo>
                  <a:pt x="5" y="13"/>
                  <a:pt x="5" y="13"/>
                  <a:pt x="5" y="12"/>
                </a:cubicBezTo>
                <a:cubicBezTo>
                  <a:pt x="5" y="12"/>
                  <a:pt x="5" y="12"/>
                  <a:pt x="5" y="11"/>
                </a:cubicBezTo>
                <a:cubicBezTo>
                  <a:pt x="6" y="10"/>
                  <a:pt x="11" y="5"/>
                  <a:pt x="13" y="5"/>
                </a:cubicBezTo>
                <a:cubicBezTo>
                  <a:pt x="13" y="5"/>
                  <a:pt x="13" y="5"/>
                  <a:pt x="14" y="5"/>
                </a:cubicBezTo>
                <a:cubicBezTo>
                  <a:pt x="19" y="9"/>
                  <a:pt x="19" y="9"/>
                  <a:pt x="19" y="9"/>
                </a:cubicBezTo>
                <a:cubicBezTo>
                  <a:pt x="20" y="9"/>
                  <a:pt x="21" y="8"/>
                  <a:pt x="22" y="8"/>
                </a:cubicBezTo>
                <a:cubicBezTo>
                  <a:pt x="22" y="5"/>
                  <a:pt x="23" y="3"/>
                  <a:pt x="23" y="1"/>
                </a:cubicBezTo>
                <a:cubicBezTo>
                  <a:pt x="23" y="0"/>
                  <a:pt x="24" y="0"/>
                  <a:pt x="25" y="0"/>
                </a:cubicBezTo>
                <a:cubicBezTo>
                  <a:pt x="33" y="0"/>
                  <a:pt x="33" y="0"/>
                  <a:pt x="33" y="0"/>
                </a:cubicBezTo>
                <a:cubicBezTo>
                  <a:pt x="34" y="0"/>
                  <a:pt x="34" y="0"/>
                  <a:pt x="34" y="1"/>
                </a:cubicBezTo>
                <a:cubicBezTo>
                  <a:pt x="36" y="8"/>
                  <a:pt x="36" y="8"/>
                  <a:pt x="36" y="8"/>
                </a:cubicBezTo>
                <a:cubicBezTo>
                  <a:pt x="37" y="8"/>
                  <a:pt x="38" y="9"/>
                  <a:pt x="39" y="9"/>
                </a:cubicBezTo>
                <a:cubicBezTo>
                  <a:pt x="44" y="5"/>
                  <a:pt x="44" y="5"/>
                  <a:pt x="44" y="5"/>
                </a:cubicBezTo>
                <a:cubicBezTo>
                  <a:pt x="45" y="5"/>
                  <a:pt x="45" y="5"/>
                  <a:pt x="45" y="5"/>
                </a:cubicBezTo>
                <a:cubicBezTo>
                  <a:pt x="46" y="5"/>
                  <a:pt x="46" y="5"/>
                  <a:pt x="46" y="5"/>
                </a:cubicBezTo>
                <a:cubicBezTo>
                  <a:pt x="48" y="7"/>
                  <a:pt x="51" y="9"/>
                  <a:pt x="52" y="12"/>
                </a:cubicBezTo>
                <a:cubicBezTo>
                  <a:pt x="53" y="12"/>
                  <a:pt x="53" y="12"/>
                  <a:pt x="53" y="12"/>
                </a:cubicBezTo>
                <a:cubicBezTo>
                  <a:pt x="53" y="13"/>
                  <a:pt x="53" y="13"/>
                  <a:pt x="52" y="13"/>
                </a:cubicBezTo>
                <a:cubicBezTo>
                  <a:pt x="51" y="15"/>
                  <a:pt x="50" y="17"/>
                  <a:pt x="48" y="18"/>
                </a:cubicBezTo>
                <a:cubicBezTo>
                  <a:pt x="49" y="20"/>
                  <a:pt x="50" y="21"/>
                  <a:pt x="50" y="22"/>
                </a:cubicBezTo>
                <a:cubicBezTo>
                  <a:pt x="57" y="23"/>
                  <a:pt x="57" y="23"/>
                  <a:pt x="57" y="23"/>
                </a:cubicBezTo>
                <a:cubicBezTo>
                  <a:pt x="58" y="23"/>
                  <a:pt x="58" y="24"/>
                  <a:pt x="58" y="25"/>
                </a:cubicBezTo>
                <a:lnTo>
                  <a:pt x="58" y="33"/>
                </a:lnTo>
                <a:close/>
                <a:moveTo>
                  <a:pt x="29" y="19"/>
                </a:moveTo>
                <a:cubicBezTo>
                  <a:pt x="24" y="19"/>
                  <a:pt x="19" y="23"/>
                  <a:pt x="19" y="29"/>
                </a:cubicBezTo>
                <a:cubicBezTo>
                  <a:pt x="19" y="34"/>
                  <a:pt x="24" y="38"/>
                  <a:pt x="29" y="38"/>
                </a:cubicBezTo>
                <a:cubicBezTo>
                  <a:pt x="34" y="38"/>
                  <a:pt x="39" y="34"/>
                  <a:pt x="39" y="29"/>
                </a:cubicBezTo>
                <a:cubicBezTo>
                  <a:pt x="39" y="23"/>
                  <a:pt x="34" y="19"/>
                  <a:pt x="29" y="1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solidFill>
                <a:schemeClr val="accent4"/>
              </a:solidFill>
            </a:endParaRPr>
          </a:p>
        </p:txBody>
      </p:sp>
      <p:sp>
        <p:nvSpPr>
          <p:cNvPr id="32" name="Espace réservé du numéro de diapositive 3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16</a:t>
            </a:fld>
            <a:endParaRPr lang="fr-BE"/>
          </a:p>
        </p:txBody>
      </p:sp>
      <p:sp>
        <p:nvSpPr>
          <p:cNvPr id="15" name="Oval 2"/>
          <p:cNvSpPr>
            <a:spLocks noChangeAspect="1"/>
          </p:cNvSpPr>
          <p:nvPr/>
        </p:nvSpPr>
        <p:spPr>
          <a:xfrm>
            <a:off x="4000496" y="500042"/>
            <a:ext cx="895769" cy="822960"/>
          </a:xfrm>
          <a:prstGeom prst="ellipse">
            <a:avLst/>
          </a:prstGeom>
          <a:solidFill>
            <a:srgbClr val="FF2B2A"/>
          </a:solidFill>
          <a:ln w="6350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>
                <a:latin typeface="Lato"/>
              </a:rPr>
              <a:t>01</a:t>
            </a:r>
          </a:p>
        </p:txBody>
      </p:sp>
      <p:sp>
        <p:nvSpPr>
          <p:cNvPr id="17" name="Oval 14"/>
          <p:cNvSpPr>
            <a:spLocks noChangeAspect="1"/>
          </p:cNvSpPr>
          <p:nvPr/>
        </p:nvSpPr>
        <p:spPr>
          <a:xfrm>
            <a:off x="4929190" y="1285860"/>
            <a:ext cx="857256" cy="822960"/>
          </a:xfrm>
          <a:prstGeom prst="ellipse">
            <a:avLst/>
          </a:prstGeom>
          <a:solidFill>
            <a:srgbClr val="85C401"/>
          </a:solidFill>
          <a:ln w="6350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>
                <a:latin typeface="Lato"/>
              </a:rPr>
              <a:t>02</a:t>
            </a:r>
          </a:p>
        </p:txBody>
      </p:sp>
      <p:sp>
        <p:nvSpPr>
          <p:cNvPr id="18" name="Oval 17"/>
          <p:cNvSpPr>
            <a:spLocks noChangeAspect="1"/>
          </p:cNvSpPr>
          <p:nvPr/>
        </p:nvSpPr>
        <p:spPr>
          <a:xfrm>
            <a:off x="4929190" y="2428868"/>
            <a:ext cx="928694" cy="822960"/>
          </a:xfrm>
          <a:prstGeom prst="ellipse">
            <a:avLst/>
          </a:prstGeom>
          <a:solidFill>
            <a:srgbClr val="3EB8CD"/>
          </a:solidFill>
          <a:ln w="6350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>
                <a:latin typeface="Lato"/>
              </a:rP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2976" y="5072074"/>
            <a:ext cx="7000956" cy="1643074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0" name="Text Placeholder 3"/>
          <p:cNvSpPr txBox="1">
            <a:spLocks/>
          </p:cNvSpPr>
          <p:nvPr/>
        </p:nvSpPr>
        <p:spPr>
          <a:xfrm>
            <a:off x="1214414" y="4714884"/>
            <a:ext cx="6643734" cy="184665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algn="just"/>
            <a:r>
              <a:rPr lang="en-US" sz="2000" b="1" dirty="0">
                <a:solidFill>
                  <a:srgbClr val="4472C4"/>
                </a:solidFill>
              </a:rPr>
              <a:t>     </a:t>
            </a:r>
            <a:r>
              <a:rPr lang="fr-FR" sz="2400" b="1" dirty="0">
                <a:solidFill>
                  <a:srgbClr val="4472C4"/>
                </a:solidFill>
              </a:rPr>
              <a:t>Plusieurs  définitions</a:t>
            </a:r>
          </a:p>
          <a:p>
            <a:pPr algn="just"/>
            <a:r>
              <a:rPr lang="fr-FR" sz="2400" b="1" dirty="0">
                <a:solidFill>
                  <a:srgbClr val="4472C4"/>
                </a:solidFill>
              </a:rPr>
              <a:t>-Elles ne sont pas contradictoires mais plutôt complémentaires. </a:t>
            </a:r>
          </a:p>
          <a:p>
            <a:pPr algn="just"/>
            <a:r>
              <a:rPr lang="fr-FR" sz="2400" b="1" dirty="0">
                <a:solidFill>
                  <a:srgbClr val="4472C4"/>
                </a:solidFill>
              </a:rPr>
              <a:t>-Elles montrent la complexité de l’entreprise: La diversité de ses dimensions, de ses rôles. </a:t>
            </a:r>
            <a:endParaRPr lang="en-US" sz="2400" b="1" dirty="0">
              <a:solidFill>
                <a:srgbClr val="4472C4"/>
              </a:solidFill>
            </a:endParaRPr>
          </a:p>
        </p:txBody>
      </p:sp>
      <p:sp>
        <p:nvSpPr>
          <p:cNvPr id="21" name="Oval 17"/>
          <p:cNvSpPr>
            <a:spLocks noChangeAspect="1"/>
          </p:cNvSpPr>
          <p:nvPr/>
        </p:nvSpPr>
        <p:spPr>
          <a:xfrm>
            <a:off x="3786182" y="3143248"/>
            <a:ext cx="928694" cy="822960"/>
          </a:xfrm>
          <a:prstGeom prst="ellipse">
            <a:avLst/>
          </a:prstGeom>
          <a:solidFill>
            <a:srgbClr val="FFC000"/>
          </a:solidFill>
          <a:ln w="6350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>
                <a:latin typeface="Lato"/>
              </a:rPr>
              <a:t>04</a:t>
            </a:r>
          </a:p>
        </p:txBody>
      </p:sp>
      <p:pic>
        <p:nvPicPr>
          <p:cNvPr id="22" name="Picture 15">
            <a:extLst>
              <a:ext uri="{FF2B5EF4-FFF2-40B4-BE49-F238E27FC236}">
                <a16:creationId xmlns:a16="http://schemas.microsoft.com/office/drawing/2014/main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460" y="0"/>
            <a:ext cx="3682540" cy="214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79266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250"/>
                            </p:stCondLst>
                            <p:childTnLst>
                              <p:par>
                                <p:cTn id="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750"/>
                            </p:stCondLst>
                            <p:childTnLst>
                              <p:par>
                                <p:cTn id="6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6" grpId="0" animBg="1"/>
      <p:bldP spid="36" grpId="0" animBg="1"/>
      <p:bldP spid="46" grpId="0" animBg="1"/>
      <p:bldP spid="19" grpId="0" animBg="1"/>
      <p:bldP spid="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83E9EC-8CA2-4613-8134-D35374D8992F}" type="slidenum">
              <a:rPr lang="fr-BE" smtClean="0"/>
              <a:pPr>
                <a:defRPr/>
              </a:pPr>
              <a:t>17</a:t>
            </a:fld>
            <a:endParaRPr lang="fr-BE" dirty="0"/>
          </a:p>
        </p:txBody>
      </p:sp>
      <p:pic>
        <p:nvPicPr>
          <p:cNvPr id="5" name="Picture 6" descr="Lait de Normandie... et d&amp;#39;ailleurs : Revue de presse: Tunisie : Delice  Holding, un délice d&amp;#39;entrepris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846" y="857232"/>
            <a:ext cx="7699929" cy="2015277"/>
          </a:xfrm>
          <a:prstGeom prst="rect">
            <a:avLst/>
          </a:prstGeom>
          <a:noFill/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4532B92-D7C0-4F87-9B7D-BC224D4E91F4}"/>
              </a:ext>
            </a:extLst>
          </p:cNvPr>
          <p:cNvSpPr/>
          <p:nvPr/>
        </p:nvSpPr>
        <p:spPr>
          <a:xfrm>
            <a:off x="642910" y="4429132"/>
            <a:ext cx="7143800" cy="1928826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Box 10">
            <a:extLst>
              <a:ext uri="{FF2B5EF4-FFF2-40B4-BE49-F238E27FC236}">
                <a16:creationId xmlns:a16="http://schemas.microsoft.com/office/drawing/2014/main" id="{521EF548-6C24-45D5-87CC-CD0C61059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24" y="4929198"/>
            <a:ext cx="6000792" cy="15388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0960" tIns="30480" rIns="60960" bIns="30480">
            <a:spAutoFit/>
          </a:bodyPr>
          <a:lstStyle/>
          <a:p>
            <a:r>
              <a:rPr lang="en-US" sz="2000" b="1" dirty="0" err="1">
                <a:solidFill>
                  <a:srgbClr val="0070C0"/>
                </a:solidFill>
                <a:latin typeface="Candara" panose="020E0502030303020204" pitchFamily="34" charset="0"/>
              </a:rPr>
              <a:t>Quelle</a:t>
            </a:r>
            <a:r>
              <a:rPr lang="en-US" sz="2000" b="1" dirty="0">
                <a:solidFill>
                  <a:srgbClr val="0070C0"/>
                </a:solidFill>
                <a:latin typeface="Candara" panose="020E0502030303020204" pitchFamily="34" charset="0"/>
              </a:rPr>
              <a:t> </a:t>
            </a:r>
            <a:r>
              <a:rPr lang="en-US" sz="2000" b="1" dirty="0" err="1">
                <a:solidFill>
                  <a:srgbClr val="0070C0"/>
                </a:solidFill>
                <a:latin typeface="Candara" panose="020E0502030303020204" pitchFamily="34" charset="0"/>
              </a:rPr>
              <a:t>est</a:t>
            </a:r>
            <a:r>
              <a:rPr lang="en-US" sz="2000" b="1" dirty="0">
                <a:solidFill>
                  <a:srgbClr val="0070C0"/>
                </a:solidFill>
                <a:latin typeface="Candara" panose="020E0502030303020204" pitchFamily="34" charset="0"/>
              </a:rPr>
              <a:t> </a:t>
            </a:r>
            <a:r>
              <a:rPr lang="en-US" sz="2000" b="1" u="sng" dirty="0" err="1">
                <a:solidFill>
                  <a:srgbClr val="0070C0"/>
                </a:solidFill>
                <a:latin typeface="Candara" panose="020E0502030303020204" pitchFamily="34" charset="0"/>
              </a:rPr>
              <a:t>l’activité</a:t>
            </a:r>
            <a:r>
              <a:rPr lang="en-US" sz="2000" b="1" u="sng" dirty="0">
                <a:solidFill>
                  <a:srgbClr val="0070C0"/>
                </a:solidFill>
                <a:latin typeface="Candara" panose="020E0502030303020204" pitchFamily="34" charset="0"/>
              </a:rPr>
              <a:t> de </a:t>
            </a:r>
            <a:r>
              <a:rPr lang="en-US" sz="2000" b="1" u="sng" dirty="0" err="1">
                <a:solidFill>
                  <a:srgbClr val="0070C0"/>
                </a:solidFill>
                <a:latin typeface="Candara" panose="020E0502030303020204" pitchFamily="34" charset="0"/>
              </a:rPr>
              <a:t>l’entreprise</a:t>
            </a:r>
            <a:r>
              <a:rPr lang="en-US" sz="2000" b="1" u="sng" dirty="0">
                <a:solidFill>
                  <a:srgbClr val="0070C0"/>
                </a:solidFill>
                <a:latin typeface="Candara" panose="020E0502030303020204" pitchFamily="34" charset="0"/>
              </a:rPr>
              <a:t> </a:t>
            </a:r>
            <a:r>
              <a:rPr lang="en-US" sz="2000" b="1" dirty="0" err="1">
                <a:solidFill>
                  <a:srgbClr val="0070C0"/>
                </a:solidFill>
                <a:latin typeface="Candara" panose="020E0502030303020204" pitchFamily="34" charset="0"/>
              </a:rPr>
              <a:t>Délice</a:t>
            </a:r>
            <a:r>
              <a:rPr lang="en-US" sz="2000" b="1" dirty="0">
                <a:solidFill>
                  <a:srgbClr val="0070C0"/>
                </a:solidFill>
                <a:latin typeface="Candara" panose="020E0502030303020204" pitchFamily="34" charset="0"/>
              </a:rPr>
              <a:t> </a:t>
            </a:r>
            <a:r>
              <a:rPr lang="en-US" sz="2000" b="1" dirty="0" err="1">
                <a:solidFill>
                  <a:srgbClr val="0070C0"/>
                </a:solidFill>
                <a:latin typeface="Candara" panose="020E0502030303020204" pitchFamily="34" charset="0"/>
              </a:rPr>
              <a:t>Danone</a:t>
            </a:r>
            <a:r>
              <a:rPr lang="en-US" sz="2000" b="1" dirty="0">
                <a:solidFill>
                  <a:srgbClr val="0070C0"/>
                </a:solidFill>
                <a:latin typeface="Candara" panose="020E0502030303020204" pitchFamily="34" charset="0"/>
              </a:rPr>
              <a:t>? </a:t>
            </a:r>
          </a:p>
          <a:p>
            <a:r>
              <a:rPr lang="en-US" sz="2000" b="1" dirty="0" err="1">
                <a:solidFill>
                  <a:srgbClr val="0070C0"/>
                </a:solidFill>
                <a:latin typeface="Candara" panose="020E0502030303020204" pitchFamily="34" charset="0"/>
              </a:rPr>
              <a:t>Quelle</a:t>
            </a:r>
            <a:r>
              <a:rPr lang="en-US" sz="2000" b="1" dirty="0">
                <a:solidFill>
                  <a:srgbClr val="0070C0"/>
                </a:solidFill>
                <a:latin typeface="Candara" panose="020E0502030303020204" pitchFamily="34" charset="0"/>
              </a:rPr>
              <a:t> </a:t>
            </a:r>
            <a:r>
              <a:rPr lang="en-US" sz="2000" b="1" dirty="0" err="1">
                <a:solidFill>
                  <a:srgbClr val="0070C0"/>
                </a:solidFill>
                <a:latin typeface="Candara" panose="020E0502030303020204" pitchFamily="34" charset="0"/>
              </a:rPr>
              <a:t>est</a:t>
            </a:r>
            <a:r>
              <a:rPr lang="en-US" sz="2000" b="1" dirty="0">
                <a:solidFill>
                  <a:srgbClr val="0070C0"/>
                </a:solidFill>
                <a:latin typeface="Candara" panose="020E0502030303020204" pitchFamily="34" charset="0"/>
              </a:rPr>
              <a:t> </a:t>
            </a:r>
            <a:r>
              <a:rPr lang="en-US" sz="2000" b="1" u="sng" dirty="0">
                <a:solidFill>
                  <a:srgbClr val="0070C0"/>
                </a:solidFill>
                <a:latin typeface="Candara" panose="020E0502030303020204" pitchFamily="34" charset="0"/>
              </a:rPr>
              <a:t>la nature de </a:t>
            </a:r>
            <a:r>
              <a:rPr lang="en-US" sz="2000" b="1" u="sng" dirty="0" err="1">
                <a:solidFill>
                  <a:srgbClr val="0070C0"/>
                </a:solidFill>
                <a:latin typeface="Candara" panose="020E0502030303020204" pitchFamily="34" charset="0"/>
              </a:rPr>
              <a:t>l’activité</a:t>
            </a:r>
            <a:r>
              <a:rPr lang="en-US" sz="2000" b="1" u="sng" dirty="0">
                <a:solidFill>
                  <a:srgbClr val="0070C0"/>
                </a:solidFill>
                <a:latin typeface="Candara" panose="020E0502030303020204" pitchFamily="34" charset="0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Candara" panose="020E0502030303020204" pitchFamily="34" charset="0"/>
              </a:rPr>
              <a:t>?</a:t>
            </a:r>
          </a:p>
          <a:p>
            <a:r>
              <a:rPr lang="en-US" sz="2000" b="1" dirty="0">
                <a:solidFill>
                  <a:srgbClr val="0070C0"/>
                </a:solidFill>
                <a:latin typeface="Candara" panose="020E0502030303020204" pitchFamily="34" charset="0"/>
              </a:rPr>
              <a:t>De quoi </a:t>
            </a:r>
            <a:r>
              <a:rPr lang="en-US" sz="2000" b="1" dirty="0" err="1">
                <a:solidFill>
                  <a:srgbClr val="0070C0"/>
                </a:solidFill>
                <a:latin typeface="Candara" panose="020E0502030303020204" pitchFamily="34" charset="0"/>
              </a:rPr>
              <a:t>l’entreprise</a:t>
            </a:r>
            <a:r>
              <a:rPr lang="en-US" sz="2000" b="1" dirty="0">
                <a:solidFill>
                  <a:srgbClr val="0070C0"/>
                </a:solidFill>
                <a:latin typeface="Candara" panose="020E0502030303020204" pitchFamily="34" charset="0"/>
              </a:rPr>
              <a:t> a –t-</a:t>
            </a:r>
            <a:r>
              <a:rPr lang="en-US" sz="2000" b="1" dirty="0" err="1">
                <a:solidFill>
                  <a:srgbClr val="0070C0"/>
                </a:solidFill>
                <a:latin typeface="Candara" panose="020E0502030303020204" pitchFamily="34" charset="0"/>
              </a:rPr>
              <a:t>elle</a:t>
            </a:r>
            <a:r>
              <a:rPr lang="en-US" sz="2000" b="1" dirty="0">
                <a:solidFill>
                  <a:srgbClr val="0070C0"/>
                </a:solidFill>
                <a:latin typeface="Candara" panose="020E0502030303020204" pitchFamily="34" charset="0"/>
              </a:rPr>
              <a:t> </a:t>
            </a:r>
            <a:r>
              <a:rPr lang="en-US" sz="2000" b="1" dirty="0" err="1">
                <a:solidFill>
                  <a:srgbClr val="0070C0"/>
                </a:solidFill>
                <a:latin typeface="Candara" panose="020E0502030303020204" pitchFamily="34" charset="0"/>
              </a:rPr>
              <a:t>besoin</a:t>
            </a:r>
            <a:r>
              <a:rPr lang="en-US" sz="2000" b="1" dirty="0">
                <a:solidFill>
                  <a:srgbClr val="0070C0"/>
                </a:solidFill>
                <a:latin typeface="Candara" panose="020E0502030303020204" pitchFamily="34" charset="0"/>
              </a:rPr>
              <a:t> pour </a:t>
            </a:r>
            <a:r>
              <a:rPr lang="en-US" sz="2000" b="1" dirty="0" err="1">
                <a:solidFill>
                  <a:srgbClr val="0070C0"/>
                </a:solidFill>
                <a:latin typeface="Candara" panose="020E0502030303020204" pitchFamily="34" charset="0"/>
              </a:rPr>
              <a:t>produire</a:t>
            </a:r>
            <a:r>
              <a:rPr lang="en-US" sz="2000" b="1" dirty="0">
                <a:solidFill>
                  <a:srgbClr val="0070C0"/>
                </a:solidFill>
                <a:latin typeface="Candara" panose="020E0502030303020204" pitchFamily="34" charset="0"/>
              </a:rPr>
              <a:t> ?</a:t>
            </a:r>
          </a:p>
          <a:p>
            <a:r>
              <a:rPr lang="en-US" sz="2000" b="1" dirty="0" err="1">
                <a:solidFill>
                  <a:srgbClr val="0070C0"/>
                </a:solidFill>
                <a:latin typeface="Candara" panose="020E0502030303020204" pitchFamily="34" charset="0"/>
              </a:rPr>
              <a:t>Qu’est</a:t>
            </a:r>
            <a:r>
              <a:rPr lang="en-US" sz="2000" b="1" dirty="0">
                <a:solidFill>
                  <a:srgbClr val="0070C0"/>
                </a:solidFill>
                <a:latin typeface="Candara" panose="020E0502030303020204" pitchFamily="34" charset="0"/>
              </a:rPr>
              <a:t> </a:t>
            </a:r>
            <a:r>
              <a:rPr lang="en-US" sz="2000" b="1" dirty="0" err="1">
                <a:solidFill>
                  <a:srgbClr val="0070C0"/>
                </a:solidFill>
                <a:latin typeface="Candara" panose="020E0502030303020204" pitchFamily="34" charset="0"/>
              </a:rPr>
              <a:t>ce</a:t>
            </a:r>
            <a:r>
              <a:rPr lang="en-US" sz="2000" b="1" dirty="0">
                <a:solidFill>
                  <a:srgbClr val="0070C0"/>
                </a:solidFill>
                <a:latin typeface="Candara" panose="020E0502030303020204" pitchFamily="34" charset="0"/>
              </a:rPr>
              <a:t> </a:t>
            </a:r>
            <a:r>
              <a:rPr lang="en-US" sz="2000" b="1" dirty="0" err="1">
                <a:solidFill>
                  <a:srgbClr val="0070C0"/>
                </a:solidFill>
                <a:latin typeface="Candara" panose="020E0502030303020204" pitchFamily="34" charset="0"/>
              </a:rPr>
              <a:t>qu’elle</a:t>
            </a:r>
            <a:r>
              <a:rPr lang="en-US" sz="2000" b="1" dirty="0">
                <a:solidFill>
                  <a:srgbClr val="0070C0"/>
                </a:solidFill>
                <a:latin typeface="Candara" panose="020E0502030303020204" pitchFamily="34" charset="0"/>
              </a:rPr>
              <a:t> fait de </a:t>
            </a:r>
            <a:r>
              <a:rPr lang="en-US" sz="2000" b="1" dirty="0" err="1">
                <a:solidFill>
                  <a:srgbClr val="0070C0"/>
                </a:solidFill>
                <a:latin typeface="Candara" panose="020E0502030303020204" pitchFamily="34" charset="0"/>
              </a:rPr>
              <a:t>sa</a:t>
            </a:r>
            <a:r>
              <a:rPr lang="en-US" sz="2000" b="1" dirty="0">
                <a:solidFill>
                  <a:srgbClr val="0070C0"/>
                </a:solidFill>
                <a:latin typeface="Candara" panose="020E0502030303020204" pitchFamily="34" charset="0"/>
              </a:rPr>
              <a:t> production?   </a:t>
            </a:r>
            <a:endParaRPr lang="en-US" sz="1600" b="1" dirty="0">
              <a:solidFill>
                <a:srgbClr val="0070C0"/>
              </a:solidFill>
              <a:latin typeface="Candara" panose="020E0502030303020204" pitchFamily="34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andara" panose="020E0502030303020204" pitchFamily="34" charset="0"/>
              </a:rPr>
              <a:t> </a:t>
            </a:r>
          </a:p>
        </p:txBody>
      </p:sp>
      <p:sp>
        <p:nvSpPr>
          <p:cNvPr id="8" name="Freeform: Shape 8">
            <a:extLst>
              <a:ext uri="{FF2B5EF4-FFF2-40B4-BE49-F238E27FC236}">
                <a16:creationId xmlns:a16="http://schemas.microsoft.com/office/drawing/2014/main" id="{6AAE1D20-6859-42D9-B27F-908789726ED7}"/>
              </a:ext>
            </a:extLst>
          </p:cNvPr>
          <p:cNvSpPr/>
          <p:nvPr/>
        </p:nvSpPr>
        <p:spPr>
          <a:xfrm rot="5400000">
            <a:off x="3312699" y="3107546"/>
            <a:ext cx="1571637" cy="1357290"/>
          </a:xfrm>
          <a:custGeom>
            <a:avLst/>
            <a:gdLst>
              <a:gd name="connsiteX0" fmla="*/ 0 w 1212842"/>
              <a:gd name="connsiteY0" fmla="*/ 1306008 h 1741343"/>
              <a:gd name="connsiteX1" fmla="*/ 351992 w 1212842"/>
              <a:gd name="connsiteY1" fmla="*/ 870670 h 1741343"/>
              <a:gd name="connsiteX2" fmla="*/ 3 w 1212842"/>
              <a:gd name="connsiteY2" fmla="*/ 435336 h 1741343"/>
              <a:gd name="connsiteX3" fmla="*/ 508860 w 1212842"/>
              <a:gd name="connsiteY3" fmla="*/ 435336 h 1741343"/>
              <a:gd name="connsiteX4" fmla="*/ 508860 w 1212842"/>
              <a:gd name="connsiteY4" fmla="*/ 0 h 1741343"/>
              <a:gd name="connsiteX5" fmla="*/ 1212842 w 1212842"/>
              <a:gd name="connsiteY5" fmla="*/ 870672 h 1741343"/>
              <a:gd name="connsiteX6" fmla="*/ 508860 w 1212842"/>
              <a:gd name="connsiteY6" fmla="*/ 1741343 h 1741343"/>
              <a:gd name="connsiteX7" fmla="*/ 508860 w 1212842"/>
              <a:gd name="connsiteY7" fmla="*/ 1306008 h 1741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2842" h="1741343">
                <a:moveTo>
                  <a:pt x="0" y="1306008"/>
                </a:moveTo>
                <a:lnTo>
                  <a:pt x="351992" y="870670"/>
                </a:lnTo>
                <a:lnTo>
                  <a:pt x="3" y="435336"/>
                </a:lnTo>
                <a:lnTo>
                  <a:pt x="508860" y="435336"/>
                </a:lnTo>
                <a:lnTo>
                  <a:pt x="508860" y="0"/>
                </a:lnTo>
                <a:lnTo>
                  <a:pt x="1212842" y="870672"/>
                </a:lnTo>
                <a:lnTo>
                  <a:pt x="508860" y="1741343"/>
                </a:lnTo>
                <a:lnTo>
                  <a:pt x="508860" y="1306008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bg1">
                <a:alpha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Группа 365">
            <a:extLst>
              <a:ext uri="{FF2B5EF4-FFF2-40B4-BE49-F238E27FC236}">
                <a16:creationId xmlns:a16="http://schemas.microsoft.com/office/drawing/2014/main" id="{7AB4E466-6379-4D0E-BDAB-53795AB382E7}"/>
              </a:ext>
            </a:extLst>
          </p:cNvPr>
          <p:cNvGrpSpPr>
            <a:grpSpLocks noChangeAspect="1"/>
          </p:cNvGrpSpPr>
          <p:nvPr/>
        </p:nvGrpSpPr>
        <p:grpSpPr>
          <a:xfrm>
            <a:off x="857224" y="4643446"/>
            <a:ext cx="274320" cy="305412"/>
            <a:chOff x="5824538" y="3263900"/>
            <a:chExt cx="3636963" cy="3036887"/>
          </a:xfrm>
          <a:solidFill>
            <a:schemeClr val="bg1"/>
          </a:solidFill>
          <a:effectLst/>
        </p:grpSpPr>
        <p:sp>
          <p:nvSpPr>
            <p:cNvPr id="10" name="Freeform 326">
              <a:extLst>
                <a:ext uri="{FF2B5EF4-FFF2-40B4-BE49-F238E27FC236}">
                  <a16:creationId xmlns:a16="http://schemas.microsoft.com/office/drawing/2014/main" id="{F1CC6608-1B06-4A4F-BE3A-7A915CD7B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7146926" y="3263900"/>
              <a:ext cx="2314575" cy="2311400"/>
            </a:xfrm>
            <a:custGeom>
              <a:avLst/>
              <a:gdLst>
                <a:gd name="T0" fmla="*/ 244 w 2916"/>
                <a:gd name="T1" fmla="*/ 0 h 2912"/>
                <a:gd name="T2" fmla="*/ 2672 w 2916"/>
                <a:gd name="T3" fmla="*/ 0 h 2912"/>
                <a:gd name="T4" fmla="*/ 2716 w 2916"/>
                <a:gd name="T5" fmla="*/ 5 h 2912"/>
                <a:gd name="T6" fmla="*/ 2757 w 2916"/>
                <a:gd name="T7" fmla="*/ 16 h 2912"/>
                <a:gd name="T8" fmla="*/ 2796 w 2916"/>
                <a:gd name="T9" fmla="*/ 33 h 2912"/>
                <a:gd name="T10" fmla="*/ 2830 w 2916"/>
                <a:gd name="T11" fmla="*/ 57 h 2912"/>
                <a:gd name="T12" fmla="*/ 2858 w 2916"/>
                <a:gd name="T13" fmla="*/ 87 h 2912"/>
                <a:gd name="T14" fmla="*/ 2882 w 2916"/>
                <a:gd name="T15" fmla="*/ 121 h 2912"/>
                <a:gd name="T16" fmla="*/ 2901 w 2916"/>
                <a:gd name="T17" fmla="*/ 159 h 2912"/>
                <a:gd name="T18" fmla="*/ 2912 w 2916"/>
                <a:gd name="T19" fmla="*/ 199 h 2912"/>
                <a:gd name="T20" fmla="*/ 2916 w 2916"/>
                <a:gd name="T21" fmla="*/ 243 h 2912"/>
                <a:gd name="T22" fmla="*/ 2916 w 2916"/>
                <a:gd name="T23" fmla="*/ 2184 h 2912"/>
                <a:gd name="T24" fmla="*/ 2912 w 2916"/>
                <a:gd name="T25" fmla="*/ 2220 h 2912"/>
                <a:gd name="T26" fmla="*/ 2902 w 2916"/>
                <a:gd name="T27" fmla="*/ 2254 h 2912"/>
                <a:gd name="T28" fmla="*/ 2885 w 2916"/>
                <a:gd name="T29" fmla="*/ 2286 h 2912"/>
                <a:gd name="T30" fmla="*/ 2862 w 2916"/>
                <a:gd name="T31" fmla="*/ 2312 h 2912"/>
                <a:gd name="T32" fmla="*/ 2835 w 2916"/>
                <a:gd name="T33" fmla="*/ 2335 h 2912"/>
                <a:gd name="T34" fmla="*/ 2804 w 2916"/>
                <a:gd name="T35" fmla="*/ 2352 h 2912"/>
                <a:gd name="T36" fmla="*/ 2770 w 2916"/>
                <a:gd name="T37" fmla="*/ 2362 h 2912"/>
                <a:gd name="T38" fmla="*/ 2733 w 2916"/>
                <a:gd name="T39" fmla="*/ 2366 h 2912"/>
                <a:gd name="T40" fmla="*/ 1847 w 2916"/>
                <a:gd name="T41" fmla="*/ 2366 h 2912"/>
                <a:gd name="T42" fmla="*/ 2020 w 2916"/>
                <a:gd name="T43" fmla="*/ 2800 h 2912"/>
                <a:gd name="T44" fmla="*/ 2027 w 2916"/>
                <a:gd name="T45" fmla="*/ 2825 h 2912"/>
                <a:gd name="T46" fmla="*/ 2028 w 2916"/>
                <a:gd name="T47" fmla="*/ 2849 h 2912"/>
                <a:gd name="T48" fmla="*/ 2023 w 2916"/>
                <a:gd name="T49" fmla="*/ 2869 h 2912"/>
                <a:gd name="T50" fmla="*/ 2010 w 2916"/>
                <a:gd name="T51" fmla="*/ 2888 h 2912"/>
                <a:gd name="T52" fmla="*/ 1993 w 2916"/>
                <a:gd name="T53" fmla="*/ 2900 h 2912"/>
                <a:gd name="T54" fmla="*/ 1970 w 2916"/>
                <a:gd name="T55" fmla="*/ 2909 h 2912"/>
                <a:gd name="T56" fmla="*/ 1943 w 2916"/>
                <a:gd name="T57" fmla="*/ 2912 h 2912"/>
                <a:gd name="T58" fmla="*/ 1417 w 2916"/>
                <a:gd name="T59" fmla="*/ 2912 h 2912"/>
                <a:gd name="T60" fmla="*/ 1417 w 2916"/>
                <a:gd name="T61" fmla="*/ 1113 h 2912"/>
                <a:gd name="T62" fmla="*/ 1414 w 2916"/>
                <a:gd name="T63" fmla="*/ 1062 h 2912"/>
                <a:gd name="T64" fmla="*/ 1403 w 2916"/>
                <a:gd name="T65" fmla="*/ 1012 h 2912"/>
                <a:gd name="T66" fmla="*/ 1385 w 2916"/>
                <a:gd name="T67" fmla="*/ 967 h 2912"/>
                <a:gd name="T68" fmla="*/ 1362 w 2916"/>
                <a:gd name="T69" fmla="*/ 923 h 2912"/>
                <a:gd name="T70" fmla="*/ 1332 w 2916"/>
                <a:gd name="T71" fmla="*/ 884 h 2912"/>
                <a:gd name="T72" fmla="*/ 1298 w 2916"/>
                <a:gd name="T73" fmla="*/ 850 h 2912"/>
                <a:gd name="T74" fmla="*/ 1258 w 2916"/>
                <a:gd name="T75" fmla="*/ 821 h 2912"/>
                <a:gd name="T76" fmla="*/ 1216 w 2916"/>
                <a:gd name="T77" fmla="*/ 797 h 2912"/>
                <a:gd name="T78" fmla="*/ 1169 w 2916"/>
                <a:gd name="T79" fmla="*/ 780 h 2912"/>
                <a:gd name="T80" fmla="*/ 1121 w 2916"/>
                <a:gd name="T81" fmla="*/ 768 h 2912"/>
                <a:gd name="T82" fmla="*/ 1070 w 2916"/>
                <a:gd name="T83" fmla="*/ 764 h 2912"/>
                <a:gd name="T84" fmla="*/ 0 w 2916"/>
                <a:gd name="T85" fmla="*/ 764 h 2912"/>
                <a:gd name="T86" fmla="*/ 0 w 2916"/>
                <a:gd name="T87" fmla="*/ 243 h 2912"/>
                <a:gd name="T88" fmla="*/ 5 w 2916"/>
                <a:gd name="T89" fmla="*/ 199 h 2912"/>
                <a:gd name="T90" fmla="*/ 16 w 2916"/>
                <a:gd name="T91" fmla="*/ 159 h 2912"/>
                <a:gd name="T92" fmla="*/ 34 w 2916"/>
                <a:gd name="T93" fmla="*/ 121 h 2912"/>
                <a:gd name="T94" fmla="*/ 59 w 2916"/>
                <a:gd name="T95" fmla="*/ 87 h 2912"/>
                <a:gd name="T96" fmla="*/ 87 w 2916"/>
                <a:gd name="T97" fmla="*/ 57 h 2912"/>
                <a:gd name="T98" fmla="*/ 121 w 2916"/>
                <a:gd name="T99" fmla="*/ 33 h 2912"/>
                <a:gd name="T100" fmla="*/ 159 w 2916"/>
                <a:gd name="T101" fmla="*/ 16 h 2912"/>
                <a:gd name="T102" fmla="*/ 200 w 2916"/>
                <a:gd name="T103" fmla="*/ 5 h 2912"/>
                <a:gd name="T104" fmla="*/ 244 w 2916"/>
                <a:gd name="T105" fmla="*/ 0 h 29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916" h="2912">
                  <a:moveTo>
                    <a:pt x="244" y="0"/>
                  </a:moveTo>
                  <a:lnTo>
                    <a:pt x="2672" y="0"/>
                  </a:lnTo>
                  <a:lnTo>
                    <a:pt x="2716" y="5"/>
                  </a:lnTo>
                  <a:lnTo>
                    <a:pt x="2757" y="16"/>
                  </a:lnTo>
                  <a:lnTo>
                    <a:pt x="2796" y="33"/>
                  </a:lnTo>
                  <a:lnTo>
                    <a:pt x="2830" y="57"/>
                  </a:lnTo>
                  <a:lnTo>
                    <a:pt x="2858" y="87"/>
                  </a:lnTo>
                  <a:lnTo>
                    <a:pt x="2882" y="121"/>
                  </a:lnTo>
                  <a:lnTo>
                    <a:pt x="2901" y="159"/>
                  </a:lnTo>
                  <a:lnTo>
                    <a:pt x="2912" y="199"/>
                  </a:lnTo>
                  <a:lnTo>
                    <a:pt x="2916" y="243"/>
                  </a:lnTo>
                  <a:lnTo>
                    <a:pt x="2916" y="2184"/>
                  </a:lnTo>
                  <a:lnTo>
                    <a:pt x="2912" y="2220"/>
                  </a:lnTo>
                  <a:lnTo>
                    <a:pt x="2902" y="2254"/>
                  </a:lnTo>
                  <a:lnTo>
                    <a:pt x="2885" y="2286"/>
                  </a:lnTo>
                  <a:lnTo>
                    <a:pt x="2862" y="2312"/>
                  </a:lnTo>
                  <a:lnTo>
                    <a:pt x="2835" y="2335"/>
                  </a:lnTo>
                  <a:lnTo>
                    <a:pt x="2804" y="2352"/>
                  </a:lnTo>
                  <a:lnTo>
                    <a:pt x="2770" y="2362"/>
                  </a:lnTo>
                  <a:lnTo>
                    <a:pt x="2733" y="2366"/>
                  </a:lnTo>
                  <a:lnTo>
                    <a:pt x="1847" y="2366"/>
                  </a:lnTo>
                  <a:lnTo>
                    <a:pt x="2020" y="2800"/>
                  </a:lnTo>
                  <a:lnTo>
                    <a:pt x="2027" y="2825"/>
                  </a:lnTo>
                  <a:lnTo>
                    <a:pt x="2028" y="2849"/>
                  </a:lnTo>
                  <a:lnTo>
                    <a:pt x="2023" y="2869"/>
                  </a:lnTo>
                  <a:lnTo>
                    <a:pt x="2010" y="2888"/>
                  </a:lnTo>
                  <a:lnTo>
                    <a:pt x="1993" y="2900"/>
                  </a:lnTo>
                  <a:lnTo>
                    <a:pt x="1970" y="2909"/>
                  </a:lnTo>
                  <a:lnTo>
                    <a:pt x="1943" y="2912"/>
                  </a:lnTo>
                  <a:lnTo>
                    <a:pt x="1417" y="2912"/>
                  </a:lnTo>
                  <a:lnTo>
                    <a:pt x="1417" y="1113"/>
                  </a:lnTo>
                  <a:lnTo>
                    <a:pt x="1414" y="1062"/>
                  </a:lnTo>
                  <a:lnTo>
                    <a:pt x="1403" y="1012"/>
                  </a:lnTo>
                  <a:lnTo>
                    <a:pt x="1385" y="967"/>
                  </a:lnTo>
                  <a:lnTo>
                    <a:pt x="1362" y="923"/>
                  </a:lnTo>
                  <a:lnTo>
                    <a:pt x="1332" y="884"/>
                  </a:lnTo>
                  <a:lnTo>
                    <a:pt x="1298" y="850"/>
                  </a:lnTo>
                  <a:lnTo>
                    <a:pt x="1258" y="821"/>
                  </a:lnTo>
                  <a:lnTo>
                    <a:pt x="1216" y="797"/>
                  </a:lnTo>
                  <a:lnTo>
                    <a:pt x="1169" y="780"/>
                  </a:lnTo>
                  <a:lnTo>
                    <a:pt x="1121" y="768"/>
                  </a:lnTo>
                  <a:lnTo>
                    <a:pt x="1070" y="764"/>
                  </a:lnTo>
                  <a:lnTo>
                    <a:pt x="0" y="764"/>
                  </a:lnTo>
                  <a:lnTo>
                    <a:pt x="0" y="243"/>
                  </a:lnTo>
                  <a:lnTo>
                    <a:pt x="5" y="199"/>
                  </a:lnTo>
                  <a:lnTo>
                    <a:pt x="16" y="159"/>
                  </a:lnTo>
                  <a:lnTo>
                    <a:pt x="34" y="121"/>
                  </a:lnTo>
                  <a:lnTo>
                    <a:pt x="59" y="87"/>
                  </a:lnTo>
                  <a:lnTo>
                    <a:pt x="87" y="57"/>
                  </a:lnTo>
                  <a:lnTo>
                    <a:pt x="121" y="33"/>
                  </a:lnTo>
                  <a:lnTo>
                    <a:pt x="159" y="16"/>
                  </a:lnTo>
                  <a:lnTo>
                    <a:pt x="200" y="5"/>
                  </a:lnTo>
                  <a:lnTo>
                    <a:pt x="2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" name="Freeform 327">
              <a:extLst>
                <a:ext uri="{FF2B5EF4-FFF2-40B4-BE49-F238E27FC236}">
                  <a16:creationId xmlns:a16="http://schemas.microsoft.com/office/drawing/2014/main" id="{0B5E061F-422A-4A4A-95F3-34B48E6F53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24538" y="3990975"/>
              <a:ext cx="2312988" cy="2309812"/>
            </a:xfrm>
            <a:custGeom>
              <a:avLst/>
              <a:gdLst>
                <a:gd name="T0" fmla="*/ 1428 w 2914"/>
                <a:gd name="T1" fmla="*/ 1955 h 2911"/>
                <a:gd name="T2" fmla="*/ 1377 w 2914"/>
                <a:gd name="T3" fmla="*/ 1980 h 2911"/>
                <a:gd name="T4" fmla="*/ 1342 w 2914"/>
                <a:gd name="T5" fmla="*/ 2024 h 2911"/>
                <a:gd name="T6" fmla="*/ 1329 w 2914"/>
                <a:gd name="T7" fmla="*/ 2081 h 2911"/>
                <a:gd name="T8" fmla="*/ 1342 w 2914"/>
                <a:gd name="T9" fmla="*/ 2137 h 2911"/>
                <a:gd name="T10" fmla="*/ 1377 w 2914"/>
                <a:gd name="T11" fmla="*/ 2181 h 2911"/>
                <a:gd name="T12" fmla="*/ 1428 w 2914"/>
                <a:gd name="T13" fmla="*/ 2205 h 2911"/>
                <a:gd name="T14" fmla="*/ 1486 w 2914"/>
                <a:gd name="T15" fmla="*/ 2205 h 2911"/>
                <a:gd name="T16" fmla="*/ 1537 w 2914"/>
                <a:gd name="T17" fmla="*/ 2181 h 2911"/>
                <a:gd name="T18" fmla="*/ 1573 w 2914"/>
                <a:gd name="T19" fmla="*/ 2137 h 2911"/>
                <a:gd name="T20" fmla="*/ 1586 w 2914"/>
                <a:gd name="T21" fmla="*/ 2081 h 2911"/>
                <a:gd name="T22" fmla="*/ 1573 w 2914"/>
                <a:gd name="T23" fmla="*/ 2024 h 2911"/>
                <a:gd name="T24" fmla="*/ 1537 w 2914"/>
                <a:gd name="T25" fmla="*/ 1980 h 2911"/>
                <a:gd name="T26" fmla="*/ 1486 w 2914"/>
                <a:gd name="T27" fmla="*/ 1955 h 2911"/>
                <a:gd name="T28" fmla="*/ 349 w 2914"/>
                <a:gd name="T29" fmla="*/ 347 h 2911"/>
                <a:gd name="T30" fmla="*/ 2565 w 2914"/>
                <a:gd name="T31" fmla="*/ 1758 h 2911"/>
                <a:gd name="T32" fmla="*/ 349 w 2914"/>
                <a:gd name="T33" fmla="*/ 347 h 2911"/>
                <a:gd name="T34" fmla="*/ 2672 w 2914"/>
                <a:gd name="T35" fmla="*/ 0 h 2911"/>
                <a:gd name="T36" fmla="*/ 2757 w 2914"/>
                <a:gd name="T37" fmla="*/ 15 h 2911"/>
                <a:gd name="T38" fmla="*/ 2828 w 2914"/>
                <a:gd name="T39" fmla="*/ 56 h 2911"/>
                <a:gd name="T40" fmla="*/ 2882 w 2914"/>
                <a:gd name="T41" fmla="*/ 120 h 2911"/>
                <a:gd name="T42" fmla="*/ 2912 w 2914"/>
                <a:gd name="T43" fmla="*/ 198 h 2911"/>
                <a:gd name="T44" fmla="*/ 2914 w 2914"/>
                <a:gd name="T45" fmla="*/ 2183 h 2911"/>
                <a:gd name="T46" fmla="*/ 2900 w 2914"/>
                <a:gd name="T47" fmla="*/ 2254 h 2911"/>
                <a:gd name="T48" fmla="*/ 2862 w 2914"/>
                <a:gd name="T49" fmla="*/ 2312 h 2911"/>
                <a:gd name="T50" fmla="*/ 2804 w 2914"/>
                <a:gd name="T51" fmla="*/ 2350 h 2911"/>
                <a:gd name="T52" fmla="*/ 2733 w 2914"/>
                <a:gd name="T53" fmla="*/ 2365 h 2911"/>
                <a:gd name="T54" fmla="*/ 2019 w 2914"/>
                <a:gd name="T55" fmla="*/ 2799 h 2911"/>
                <a:gd name="T56" fmla="*/ 2027 w 2914"/>
                <a:gd name="T57" fmla="*/ 2849 h 2911"/>
                <a:gd name="T58" fmla="*/ 2010 w 2914"/>
                <a:gd name="T59" fmla="*/ 2887 h 2911"/>
                <a:gd name="T60" fmla="*/ 1970 w 2914"/>
                <a:gd name="T61" fmla="*/ 2908 h 2911"/>
                <a:gd name="T62" fmla="*/ 971 w 2914"/>
                <a:gd name="T63" fmla="*/ 2911 h 2911"/>
                <a:gd name="T64" fmla="*/ 923 w 2914"/>
                <a:gd name="T65" fmla="*/ 2900 h 2911"/>
                <a:gd name="T66" fmla="*/ 893 w 2914"/>
                <a:gd name="T67" fmla="*/ 2868 h 2911"/>
                <a:gd name="T68" fmla="*/ 888 w 2914"/>
                <a:gd name="T69" fmla="*/ 2824 h 2911"/>
                <a:gd name="T70" fmla="*/ 1069 w 2914"/>
                <a:gd name="T71" fmla="*/ 2365 h 2911"/>
                <a:gd name="T72" fmla="*/ 145 w 2914"/>
                <a:gd name="T73" fmla="*/ 2361 h 2911"/>
                <a:gd name="T74" fmla="*/ 81 w 2914"/>
                <a:gd name="T75" fmla="*/ 2334 h 2911"/>
                <a:gd name="T76" fmla="*/ 31 w 2914"/>
                <a:gd name="T77" fmla="*/ 2285 h 2911"/>
                <a:gd name="T78" fmla="*/ 4 w 2914"/>
                <a:gd name="T79" fmla="*/ 2220 h 2911"/>
                <a:gd name="T80" fmla="*/ 0 w 2914"/>
                <a:gd name="T81" fmla="*/ 242 h 2911"/>
                <a:gd name="T82" fmla="*/ 16 w 2914"/>
                <a:gd name="T83" fmla="*/ 157 h 2911"/>
                <a:gd name="T84" fmla="*/ 57 w 2914"/>
                <a:gd name="T85" fmla="*/ 86 h 2911"/>
                <a:gd name="T86" fmla="*/ 121 w 2914"/>
                <a:gd name="T87" fmla="*/ 32 h 2911"/>
                <a:gd name="T88" fmla="*/ 199 w 2914"/>
                <a:gd name="T89" fmla="*/ 4 h 2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914" h="2911">
                  <a:moveTo>
                    <a:pt x="1458" y="1952"/>
                  </a:moveTo>
                  <a:lnTo>
                    <a:pt x="1428" y="1955"/>
                  </a:lnTo>
                  <a:lnTo>
                    <a:pt x="1401" y="1965"/>
                  </a:lnTo>
                  <a:lnTo>
                    <a:pt x="1377" y="1980"/>
                  </a:lnTo>
                  <a:lnTo>
                    <a:pt x="1357" y="2000"/>
                  </a:lnTo>
                  <a:lnTo>
                    <a:pt x="1342" y="2024"/>
                  </a:lnTo>
                  <a:lnTo>
                    <a:pt x="1332" y="2051"/>
                  </a:lnTo>
                  <a:lnTo>
                    <a:pt x="1329" y="2081"/>
                  </a:lnTo>
                  <a:lnTo>
                    <a:pt x="1332" y="2110"/>
                  </a:lnTo>
                  <a:lnTo>
                    <a:pt x="1342" y="2137"/>
                  </a:lnTo>
                  <a:lnTo>
                    <a:pt x="1357" y="2161"/>
                  </a:lnTo>
                  <a:lnTo>
                    <a:pt x="1377" y="2181"/>
                  </a:lnTo>
                  <a:lnTo>
                    <a:pt x="1401" y="2195"/>
                  </a:lnTo>
                  <a:lnTo>
                    <a:pt x="1428" y="2205"/>
                  </a:lnTo>
                  <a:lnTo>
                    <a:pt x="1458" y="2210"/>
                  </a:lnTo>
                  <a:lnTo>
                    <a:pt x="1486" y="2205"/>
                  </a:lnTo>
                  <a:lnTo>
                    <a:pt x="1515" y="2195"/>
                  </a:lnTo>
                  <a:lnTo>
                    <a:pt x="1537" y="2181"/>
                  </a:lnTo>
                  <a:lnTo>
                    <a:pt x="1557" y="2161"/>
                  </a:lnTo>
                  <a:lnTo>
                    <a:pt x="1573" y="2137"/>
                  </a:lnTo>
                  <a:lnTo>
                    <a:pt x="1583" y="2110"/>
                  </a:lnTo>
                  <a:lnTo>
                    <a:pt x="1586" y="2081"/>
                  </a:lnTo>
                  <a:lnTo>
                    <a:pt x="1583" y="2051"/>
                  </a:lnTo>
                  <a:lnTo>
                    <a:pt x="1573" y="2024"/>
                  </a:lnTo>
                  <a:lnTo>
                    <a:pt x="1557" y="2000"/>
                  </a:lnTo>
                  <a:lnTo>
                    <a:pt x="1537" y="1980"/>
                  </a:lnTo>
                  <a:lnTo>
                    <a:pt x="1515" y="1965"/>
                  </a:lnTo>
                  <a:lnTo>
                    <a:pt x="1486" y="1955"/>
                  </a:lnTo>
                  <a:lnTo>
                    <a:pt x="1458" y="1952"/>
                  </a:lnTo>
                  <a:close/>
                  <a:moveTo>
                    <a:pt x="349" y="347"/>
                  </a:moveTo>
                  <a:lnTo>
                    <a:pt x="349" y="1758"/>
                  </a:lnTo>
                  <a:lnTo>
                    <a:pt x="2565" y="1758"/>
                  </a:lnTo>
                  <a:lnTo>
                    <a:pt x="2565" y="347"/>
                  </a:lnTo>
                  <a:lnTo>
                    <a:pt x="349" y="347"/>
                  </a:lnTo>
                  <a:close/>
                  <a:moveTo>
                    <a:pt x="243" y="0"/>
                  </a:moveTo>
                  <a:lnTo>
                    <a:pt x="2672" y="0"/>
                  </a:lnTo>
                  <a:lnTo>
                    <a:pt x="2716" y="4"/>
                  </a:lnTo>
                  <a:lnTo>
                    <a:pt x="2757" y="15"/>
                  </a:lnTo>
                  <a:lnTo>
                    <a:pt x="2794" y="32"/>
                  </a:lnTo>
                  <a:lnTo>
                    <a:pt x="2828" y="56"/>
                  </a:lnTo>
                  <a:lnTo>
                    <a:pt x="2858" y="86"/>
                  </a:lnTo>
                  <a:lnTo>
                    <a:pt x="2882" y="120"/>
                  </a:lnTo>
                  <a:lnTo>
                    <a:pt x="2900" y="157"/>
                  </a:lnTo>
                  <a:lnTo>
                    <a:pt x="2912" y="198"/>
                  </a:lnTo>
                  <a:lnTo>
                    <a:pt x="2914" y="242"/>
                  </a:lnTo>
                  <a:lnTo>
                    <a:pt x="2914" y="2183"/>
                  </a:lnTo>
                  <a:lnTo>
                    <a:pt x="2912" y="2220"/>
                  </a:lnTo>
                  <a:lnTo>
                    <a:pt x="2900" y="2254"/>
                  </a:lnTo>
                  <a:lnTo>
                    <a:pt x="2883" y="2285"/>
                  </a:lnTo>
                  <a:lnTo>
                    <a:pt x="2862" y="2312"/>
                  </a:lnTo>
                  <a:lnTo>
                    <a:pt x="2835" y="2334"/>
                  </a:lnTo>
                  <a:lnTo>
                    <a:pt x="2804" y="2350"/>
                  </a:lnTo>
                  <a:lnTo>
                    <a:pt x="2770" y="2361"/>
                  </a:lnTo>
                  <a:lnTo>
                    <a:pt x="2733" y="2365"/>
                  </a:lnTo>
                  <a:lnTo>
                    <a:pt x="1846" y="2365"/>
                  </a:lnTo>
                  <a:lnTo>
                    <a:pt x="2019" y="2799"/>
                  </a:lnTo>
                  <a:lnTo>
                    <a:pt x="2027" y="2824"/>
                  </a:lnTo>
                  <a:lnTo>
                    <a:pt x="2027" y="2849"/>
                  </a:lnTo>
                  <a:lnTo>
                    <a:pt x="2021" y="2868"/>
                  </a:lnTo>
                  <a:lnTo>
                    <a:pt x="2010" y="2887"/>
                  </a:lnTo>
                  <a:lnTo>
                    <a:pt x="1993" y="2900"/>
                  </a:lnTo>
                  <a:lnTo>
                    <a:pt x="1970" y="2908"/>
                  </a:lnTo>
                  <a:lnTo>
                    <a:pt x="1943" y="2911"/>
                  </a:lnTo>
                  <a:lnTo>
                    <a:pt x="971" y="2911"/>
                  </a:lnTo>
                  <a:lnTo>
                    <a:pt x="945" y="2908"/>
                  </a:lnTo>
                  <a:lnTo>
                    <a:pt x="923" y="2900"/>
                  </a:lnTo>
                  <a:lnTo>
                    <a:pt x="905" y="2887"/>
                  </a:lnTo>
                  <a:lnTo>
                    <a:pt x="893" y="2868"/>
                  </a:lnTo>
                  <a:lnTo>
                    <a:pt x="888" y="2849"/>
                  </a:lnTo>
                  <a:lnTo>
                    <a:pt x="888" y="2824"/>
                  </a:lnTo>
                  <a:lnTo>
                    <a:pt x="895" y="2799"/>
                  </a:lnTo>
                  <a:lnTo>
                    <a:pt x="1069" y="2365"/>
                  </a:lnTo>
                  <a:lnTo>
                    <a:pt x="182" y="2365"/>
                  </a:lnTo>
                  <a:lnTo>
                    <a:pt x="145" y="2361"/>
                  </a:lnTo>
                  <a:lnTo>
                    <a:pt x="111" y="2350"/>
                  </a:lnTo>
                  <a:lnTo>
                    <a:pt x="81" y="2334"/>
                  </a:lnTo>
                  <a:lnTo>
                    <a:pt x="54" y="2312"/>
                  </a:lnTo>
                  <a:lnTo>
                    <a:pt x="31" y="2285"/>
                  </a:lnTo>
                  <a:lnTo>
                    <a:pt x="14" y="2254"/>
                  </a:lnTo>
                  <a:lnTo>
                    <a:pt x="4" y="2220"/>
                  </a:lnTo>
                  <a:lnTo>
                    <a:pt x="0" y="2183"/>
                  </a:lnTo>
                  <a:lnTo>
                    <a:pt x="0" y="242"/>
                  </a:lnTo>
                  <a:lnTo>
                    <a:pt x="4" y="198"/>
                  </a:lnTo>
                  <a:lnTo>
                    <a:pt x="16" y="157"/>
                  </a:lnTo>
                  <a:lnTo>
                    <a:pt x="33" y="120"/>
                  </a:lnTo>
                  <a:lnTo>
                    <a:pt x="57" y="86"/>
                  </a:lnTo>
                  <a:lnTo>
                    <a:pt x="87" y="56"/>
                  </a:lnTo>
                  <a:lnTo>
                    <a:pt x="121" y="32"/>
                  </a:lnTo>
                  <a:lnTo>
                    <a:pt x="157" y="15"/>
                  </a:lnTo>
                  <a:lnTo>
                    <a:pt x="199" y="4"/>
                  </a:lnTo>
                  <a:lnTo>
                    <a:pt x="24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4040B62E-ECDA-4DD9-A6E6-142DF26E5F8A}"/>
              </a:ext>
            </a:extLst>
          </p:cNvPr>
          <p:cNvGrpSpPr/>
          <p:nvPr/>
        </p:nvGrpSpPr>
        <p:grpSpPr>
          <a:xfrm rot="10800000">
            <a:off x="1357290" y="4714884"/>
            <a:ext cx="4325218" cy="51094"/>
            <a:chOff x="4908400" y="1972933"/>
            <a:chExt cx="6290664" cy="55734"/>
          </a:xfrm>
          <a:solidFill>
            <a:srgbClr val="A5A5A5"/>
          </a:solidFill>
        </p:grpSpPr>
        <p:cxnSp>
          <p:nvCxnSpPr>
            <p:cNvPr id="13" name="Straight Connector 13">
              <a:extLst>
                <a:ext uri="{FF2B5EF4-FFF2-40B4-BE49-F238E27FC236}">
                  <a16:creationId xmlns:a16="http://schemas.microsoft.com/office/drawing/2014/main" id="{FFE5C481-8A4A-461C-A776-7213F8C3AB0D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4908400" y="1996044"/>
              <a:ext cx="5884885" cy="0"/>
            </a:xfrm>
            <a:prstGeom prst="line">
              <a:avLst/>
            </a:prstGeom>
            <a:grpFill/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Freeform 59">
              <a:extLst>
                <a:ext uri="{FF2B5EF4-FFF2-40B4-BE49-F238E27FC236}">
                  <a16:creationId xmlns:a16="http://schemas.microsoft.com/office/drawing/2014/main" id="{2345658E-D69D-4AFB-B26F-8E8303BF50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833304" y="1972933"/>
              <a:ext cx="365760" cy="55734"/>
            </a:xfrm>
            <a:custGeom>
              <a:avLst/>
              <a:gdLst>
                <a:gd name="connsiteX0" fmla="*/ 105727 w 1500187"/>
                <a:gd name="connsiteY0" fmla="*/ 0 h 228600"/>
                <a:gd name="connsiteX1" fmla="*/ 114300 w 1500187"/>
                <a:gd name="connsiteY1" fmla="*/ 0 h 228600"/>
                <a:gd name="connsiteX2" fmla="*/ 1385887 w 1500187"/>
                <a:gd name="connsiteY2" fmla="*/ 0 h 228600"/>
                <a:gd name="connsiteX3" fmla="*/ 1500187 w 1500187"/>
                <a:gd name="connsiteY3" fmla="*/ 114300 h 228600"/>
                <a:gd name="connsiteX4" fmla="*/ 1385887 w 1500187"/>
                <a:gd name="connsiteY4" fmla="*/ 228600 h 228600"/>
                <a:gd name="connsiteX5" fmla="*/ 114300 w 1500187"/>
                <a:gd name="connsiteY5" fmla="*/ 228600 h 228600"/>
                <a:gd name="connsiteX6" fmla="*/ 105727 w 1500187"/>
                <a:gd name="connsiteY6" fmla="*/ 228600 h 228600"/>
                <a:gd name="connsiteX7" fmla="*/ 105727 w 1500187"/>
                <a:gd name="connsiteY7" fmla="*/ 226869 h 228600"/>
                <a:gd name="connsiteX8" fmla="*/ 69809 w 1500187"/>
                <a:gd name="connsiteY8" fmla="*/ 219618 h 228600"/>
                <a:gd name="connsiteX9" fmla="*/ 0 w 1500187"/>
                <a:gd name="connsiteY9" fmla="*/ 114300 h 228600"/>
                <a:gd name="connsiteX10" fmla="*/ 69809 w 1500187"/>
                <a:gd name="connsiteY10" fmla="*/ 8982 h 228600"/>
                <a:gd name="connsiteX11" fmla="*/ 105727 w 1500187"/>
                <a:gd name="connsiteY11" fmla="*/ 1731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0187" h="228600">
                  <a:moveTo>
                    <a:pt x="105727" y="0"/>
                  </a:moveTo>
                  <a:lnTo>
                    <a:pt x="114300" y="0"/>
                  </a:lnTo>
                  <a:lnTo>
                    <a:pt x="1385887" y="0"/>
                  </a:lnTo>
                  <a:cubicBezTo>
                    <a:pt x="1449013" y="0"/>
                    <a:pt x="1500187" y="51174"/>
                    <a:pt x="1500187" y="114300"/>
                  </a:cubicBezTo>
                  <a:cubicBezTo>
                    <a:pt x="1500187" y="177426"/>
                    <a:pt x="1449013" y="228600"/>
                    <a:pt x="1385887" y="228600"/>
                  </a:cubicBezTo>
                  <a:lnTo>
                    <a:pt x="114300" y="228600"/>
                  </a:lnTo>
                  <a:lnTo>
                    <a:pt x="105727" y="228600"/>
                  </a:lnTo>
                  <a:lnTo>
                    <a:pt x="105727" y="226869"/>
                  </a:lnTo>
                  <a:lnTo>
                    <a:pt x="69809" y="219618"/>
                  </a:lnTo>
                  <a:cubicBezTo>
                    <a:pt x="28785" y="202266"/>
                    <a:pt x="0" y="161645"/>
                    <a:pt x="0" y="114300"/>
                  </a:cubicBezTo>
                  <a:cubicBezTo>
                    <a:pt x="0" y="66956"/>
                    <a:pt x="28785" y="26334"/>
                    <a:pt x="69809" y="8982"/>
                  </a:cubicBezTo>
                  <a:lnTo>
                    <a:pt x="105727" y="1731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75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750"/>
                            </p:stCondLst>
                            <p:childTnLst>
                              <p:par>
                                <p:cTn id="2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250"/>
                            </p:stCondLst>
                            <p:childTnLst>
                              <p:par>
                                <p:cTn id="2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6"/>
          <p:cNvSpPr txBox="1">
            <a:spLocks noChangeArrowheads="1"/>
          </p:cNvSpPr>
          <p:nvPr/>
        </p:nvSpPr>
        <p:spPr bwMode="auto">
          <a:xfrm>
            <a:off x="428596" y="428604"/>
            <a:ext cx="6429375" cy="862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fr-FR" sz="3200" b="1" dirty="0" err="1">
                <a:solidFill>
                  <a:srgbClr val="FF0000"/>
                </a:solidFill>
                <a:latin typeface="Baskerville Old Face" pitchFamily="18" charset="0"/>
              </a:rPr>
              <a:t>Rôle</a:t>
            </a:r>
            <a:r>
              <a:rPr lang="en-US" altLang="fr-FR" sz="3200" b="1" dirty="0">
                <a:solidFill>
                  <a:srgbClr val="FF0000"/>
                </a:solidFill>
                <a:latin typeface="Baskerville Old Face" pitchFamily="18" charset="0"/>
              </a:rPr>
              <a:t> </a:t>
            </a:r>
            <a:r>
              <a:rPr lang="en-US" altLang="fr-FR" sz="3200" b="1" dirty="0" err="1">
                <a:solidFill>
                  <a:srgbClr val="FF0000"/>
                </a:solidFill>
                <a:latin typeface="Baskerville Old Face" pitchFamily="18" charset="0"/>
              </a:rPr>
              <a:t>économique</a:t>
            </a:r>
            <a:r>
              <a:rPr lang="en-US" altLang="fr-FR" sz="3200" b="1" dirty="0">
                <a:solidFill>
                  <a:srgbClr val="FF0000"/>
                </a:solidFill>
                <a:latin typeface="Baskerville Old Face" pitchFamily="18" charset="0"/>
              </a:rPr>
              <a:t> de </a:t>
            </a:r>
            <a:r>
              <a:rPr lang="en-US" altLang="fr-FR" sz="3200" b="1" dirty="0" err="1">
                <a:solidFill>
                  <a:srgbClr val="FF0000"/>
                </a:solidFill>
                <a:latin typeface="Baskerville Old Face" pitchFamily="18" charset="0"/>
              </a:rPr>
              <a:t>l’entreprise</a:t>
            </a:r>
            <a:r>
              <a:rPr lang="en-US" altLang="fr-FR" sz="3200" b="1" dirty="0">
                <a:solidFill>
                  <a:srgbClr val="FF0000"/>
                </a:solidFill>
                <a:latin typeface="Baskerville Old Face" pitchFamily="18" charset="0"/>
              </a:rPr>
              <a:t> </a:t>
            </a:r>
          </a:p>
          <a:p>
            <a:pPr algn="r"/>
            <a:endParaRPr lang="en-US" altLang="fr-FR" dirty="0">
              <a:solidFill>
                <a:srgbClr val="56595E"/>
              </a:solidFill>
              <a:latin typeface="Candara" pitchFamily="34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947DEE-7D80-4932-BDEA-ED6CD23BCE6B}" type="slidenum">
              <a:rPr lang="fr-BE"/>
              <a:pPr>
                <a:defRPr/>
              </a:pPr>
              <a:t>18</a:t>
            </a:fld>
            <a:endParaRPr lang="fr-BE" dirty="0"/>
          </a:p>
        </p:txBody>
      </p:sp>
      <p:pic>
        <p:nvPicPr>
          <p:cNvPr id="18436" name="Picture 2" descr="RÃ©sultat de recherche d'images pour &quot;danone tunisie&quot;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86125" y="2714625"/>
            <a:ext cx="2643188" cy="228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8" name="AutoShape 6" descr="RÃ©sultat de recherche d'images pour &quot;danone tunisi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fr-FR" altLang="fr-FR">
              <a:latin typeface="Calibri" pitchFamily="34" charset="0"/>
            </a:endParaRPr>
          </a:p>
        </p:txBody>
      </p:sp>
      <p:pic>
        <p:nvPicPr>
          <p:cNvPr id="18439" name="Picture 10" descr="Image associÃ©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2938" y="1714500"/>
            <a:ext cx="2428875" cy="1214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40" name="Picture 12" descr="Image associÃ©e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42938" y="3500438"/>
            <a:ext cx="2393950" cy="159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41" name="Picture 14" descr="RÃ©sultat de recherche d'images pour &quot;lait&quot;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57188" y="5072063"/>
            <a:ext cx="2328862" cy="1633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42" name="Picture 16" descr="RÃ©sultat de recherche d'images pour &quot;aromes&quot;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000250" y="5329238"/>
            <a:ext cx="1895475" cy="152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43" name="Rectangle 16"/>
          <p:cNvSpPr>
            <a:spLocks noChangeArrowheads="1"/>
          </p:cNvSpPr>
          <p:nvPr/>
        </p:nvSpPr>
        <p:spPr bwMode="auto">
          <a:xfrm>
            <a:off x="214313" y="1071563"/>
            <a:ext cx="508158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altLang="fr-FR" sz="24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L’entreprise, une unité de production</a:t>
            </a:r>
            <a:endParaRPr lang="fr-FR" altLang="fr-FR" sz="24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" name="Diagram group"/>
          <p:cNvGrpSpPr/>
          <p:nvPr/>
        </p:nvGrpSpPr>
        <p:grpSpPr>
          <a:xfrm>
            <a:off x="3857620" y="5643578"/>
            <a:ext cx="1026914" cy="1026914"/>
            <a:chOff x="4247554" y="5370885"/>
            <a:chExt cx="1026914" cy="1026914"/>
          </a:xfrm>
          <a:scene3d>
            <a:camera prst="perspectiveLeft" zoom="91000"/>
            <a:lightRig rig="threePt" dir="t">
              <a:rot lat="0" lon="0" rev="20640000"/>
            </a:lightRig>
          </a:scene3d>
        </p:grpSpPr>
        <p:grpSp>
          <p:nvGrpSpPr>
            <p:cNvPr id="3" name="Groupe 18"/>
            <p:cNvGrpSpPr/>
            <p:nvPr/>
          </p:nvGrpSpPr>
          <p:grpSpPr>
            <a:xfrm>
              <a:off x="4247554" y="5370885"/>
              <a:ext cx="1026914" cy="1026914"/>
              <a:chOff x="4247554" y="5370885"/>
              <a:chExt cx="1026914" cy="1026914"/>
            </a:xfrm>
          </p:grpSpPr>
          <p:sp>
            <p:nvSpPr>
              <p:cNvPr id="20" name="Ellipse 19"/>
              <p:cNvSpPr/>
              <p:nvPr/>
            </p:nvSpPr>
            <p:spPr>
              <a:xfrm>
                <a:off x="4247554" y="5370885"/>
                <a:ext cx="1026914" cy="1026914"/>
              </a:xfrm>
              <a:prstGeom prst="ellipse">
                <a:avLst/>
              </a:prstGeom>
              <a:blipFill rotWithShape="0">
                <a:blip r:embed="rId8" cstate="print"/>
                <a:stretch>
                  <a:fillRect/>
                </a:stretch>
              </a:blipFill>
              <a:sp3d extrusionH="50600" prstMaterial="metal">
                <a:bevelT w="101600" h="80600" prst="relaxedInset"/>
                <a:bevelB w="80600" h="80600" prst="relaxedInset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1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/>
              </a:fontRef>
            </p:style>
            <p:txBody>
              <a:bodyPr/>
              <a:lstStyle/>
              <a:p>
                <a:endParaRPr lang="fr-TN"/>
              </a:p>
            </p:txBody>
          </p:sp>
          <p:sp>
            <p:nvSpPr>
              <p:cNvPr id="21" name="Ellipse 4"/>
              <p:cNvSpPr/>
              <p:nvPr/>
            </p:nvSpPr>
            <p:spPr>
              <a:xfrm>
                <a:off x="4397942" y="5521273"/>
                <a:ext cx="726138" cy="726138"/>
              </a:xfrm>
              <a:prstGeom prst="rect">
                <a:avLst/>
              </a:prstGeom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lIns="16510" tIns="16510" rIns="16510" bIns="16510" spcCol="1270" anchor="ctr"/>
              <a:lstStyle/>
              <a:p>
                <a:pPr algn="ctr" defTabSz="577850" fontAlgn="auto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fr-FR" sz="1300" b="1" dirty="0">
                    <a:solidFill>
                      <a:srgbClr val="FF0000"/>
                    </a:solidFill>
                  </a:rPr>
                  <a:t>Energie </a:t>
                </a:r>
              </a:p>
            </p:txBody>
          </p:sp>
        </p:grpSp>
      </p:grpSp>
      <p:sp>
        <p:nvSpPr>
          <p:cNvPr id="18445" name="ZoneTexte 21"/>
          <p:cNvSpPr txBox="1">
            <a:spLocks noChangeArrowheads="1"/>
          </p:cNvSpPr>
          <p:nvPr/>
        </p:nvSpPr>
        <p:spPr bwMode="auto">
          <a:xfrm>
            <a:off x="1500188" y="5643563"/>
            <a:ext cx="15716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altLang="fr-FR" b="1" dirty="0">
                <a:solidFill>
                  <a:srgbClr val="FF0000"/>
                </a:solidFill>
                <a:latin typeface="Calibri" pitchFamily="34" charset="0"/>
              </a:rPr>
              <a:t>MI </a:t>
            </a:r>
          </a:p>
        </p:txBody>
      </p:sp>
      <p:sp>
        <p:nvSpPr>
          <p:cNvPr id="18446" name="ZoneTexte 22"/>
          <p:cNvSpPr txBox="1">
            <a:spLocks noChangeArrowheads="1"/>
          </p:cNvSpPr>
          <p:nvPr/>
        </p:nvSpPr>
        <p:spPr bwMode="auto">
          <a:xfrm>
            <a:off x="857250" y="4286250"/>
            <a:ext cx="11430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altLang="fr-FR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Machine</a:t>
            </a:r>
            <a:r>
              <a:rPr lang="fr-FR" altLang="fr-FR" b="1" dirty="0">
                <a:solidFill>
                  <a:srgbClr val="FF0000"/>
                </a:solidFill>
                <a:latin typeface="Calibri" pitchFamily="34" charset="0"/>
              </a:rPr>
              <a:t> </a:t>
            </a:r>
          </a:p>
        </p:txBody>
      </p:sp>
      <p:sp>
        <p:nvSpPr>
          <p:cNvPr id="18447" name="ZoneTexte 23"/>
          <p:cNvSpPr txBox="1">
            <a:spLocks noChangeArrowheads="1"/>
          </p:cNvSpPr>
          <p:nvPr/>
        </p:nvSpPr>
        <p:spPr bwMode="auto">
          <a:xfrm>
            <a:off x="1143000" y="2643188"/>
            <a:ext cx="135731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altLang="fr-FR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Personnel</a:t>
            </a:r>
            <a:r>
              <a:rPr lang="fr-FR" altLang="fr-FR" b="1" dirty="0">
                <a:solidFill>
                  <a:srgbClr val="FF0000"/>
                </a:solidFill>
                <a:latin typeface="Calibri" pitchFamily="34" charset="0"/>
              </a:rPr>
              <a:t> </a:t>
            </a:r>
          </a:p>
        </p:txBody>
      </p:sp>
      <p:sp>
        <p:nvSpPr>
          <p:cNvPr id="18448" name="ZoneTexte 24"/>
          <p:cNvSpPr txBox="1">
            <a:spLocks noChangeArrowheads="1"/>
          </p:cNvSpPr>
          <p:nvPr/>
        </p:nvSpPr>
        <p:spPr bwMode="auto">
          <a:xfrm>
            <a:off x="2786063" y="2071688"/>
            <a:ext cx="12858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altLang="fr-FR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Travail</a:t>
            </a:r>
            <a:r>
              <a:rPr lang="fr-FR" altLang="fr-FR" sz="2800" b="1" dirty="0">
                <a:solidFill>
                  <a:srgbClr val="FF0000"/>
                </a:solidFill>
                <a:latin typeface="Calibri" pitchFamily="34" charset="0"/>
              </a:rPr>
              <a:t> </a:t>
            </a:r>
          </a:p>
        </p:txBody>
      </p:sp>
      <p:sp>
        <p:nvSpPr>
          <p:cNvPr id="18449" name="ZoneTexte 26"/>
          <p:cNvSpPr txBox="1">
            <a:spLocks noChangeArrowheads="1"/>
          </p:cNvSpPr>
          <p:nvPr/>
        </p:nvSpPr>
        <p:spPr bwMode="auto">
          <a:xfrm>
            <a:off x="2857500" y="5000625"/>
            <a:ext cx="16430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altLang="fr-FR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Capital</a:t>
            </a:r>
            <a:r>
              <a:rPr lang="fr-FR" altLang="fr-FR" sz="2800" b="1" dirty="0">
                <a:solidFill>
                  <a:srgbClr val="FF0000"/>
                </a:solidFill>
                <a:latin typeface="Calibri" pitchFamily="34" charset="0"/>
              </a:rPr>
              <a:t> </a:t>
            </a:r>
          </a:p>
        </p:txBody>
      </p:sp>
      <p:sp>
        <p:nvSpPr>
          <p:cNvPr id="18450" name="ZoneTexte 27"/>
          <p:cNvSpPr txBox="1">
            <a:spLocks noChangeArrowheads="1"/>
          </p:cNvSpPr>
          <p:nvPr/>
        </p:nvSpPr>
        <p:spPr bwMode="auto">
          <a:xfrm>
            <a:off x="6786578" y="2928934"/>
            <a:ext cx="12858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altLang="fr-FR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Produit</a:t>
            </a:r>
            <a:r>
              <a:rPr lang="fr-FR" altLang="fr-FR" sz="2800" b="1" dirty="0">
                <a:solidFill>
                  <a:srgbClr val="FF0000"/>
                </a:solidFill>
                <a:latin typeface="Calibri" pitchFamily="34" charset="0"/>
              </a:rPr>
              <a:t>  </a:t>
            </a:r>
          </a:p>
        </p:txBody>
      </p:sp>
      <p:pic>
        <p:nvPicPr>
          <p:cNvPr id="26626" name="Picture 2" descr="Résultat de recherche d'images pour &quot;yaourt delice danone&quot;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143636" y="4357694"/>
            <a:ext cx="2452667" cy="1928826"/>
          </a:xfrm>
          <a:prstGeom prst="rect">
            <a:avLst/>
          </a:prstGeom>
          <a:noFill/>
        </p:spPr>
      </p:pic>
      <p:pic>
        <p:nvPicPr>
          <p:cNvPr id="24" name="Picture 15">
            <a:extLst>
              <a:ext uri="{FF2B5EF4-FFF2-40B4-BE49-F238E27FC236}">
                <a16:creationId xmlns:a16="http://schemas.microsoft.com/office/drawing/2014/main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460" y="214290"/>
            <a:ext cx="3682540" cy="2146032"/>
          </a:xfrm>
          <a:prstGeom prst="rect">
            <a:avLst/>
          </a:prstGeom>
        </p:spPr>
      </p:pic>
      <p:sp>
        <p:nvSpPr>
          <p:cNvPr id="25" name="Isosceles Triangle 46">
            <a:extLst>
              <a:ext uri="{FF2B5EF4-FFF2-40B4-BE49-F238E27FC236}">
                <a16:creationId xmlns:a16="http://schemas.microsoft.com/office/drawing/2014/main" id="{295CE181-88D7-4815-BC0F-BC87C9322824}"/>
              </a:ext>
            </a:extLst>
          </p:cNvPr>
          <p:cNvSpPr/>
          <p:nvPr/>
        </p:nvSpPr>
        <p:spPr>
          <a:xfrm rot="5400000">
            <a:off x="-31494" y="531536"/>
            <a:ext cx="510899" cy="447911"/>
          </a:xfrm>
          <a:prstGeom prst="triangl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4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4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8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8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84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84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8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8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6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6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4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4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8443" grpId="0"/>
      <p:bldP spid="18445" grpId="0"/>
      <p:bldP spid="18446" grpId="0"/>
      <p:bldP spid="18447" grpId="0"/>
      <p:bldP spid="18448" grpId="0"/>
      <p:bldP spid="18449" grpId="0"/>
      <p:bldP spid="18450" grpId="0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071935" y="1785927"/>
            <a:ext cx="5072066" cy="1387797"/>
            <a:chOff x="6414487" y="1849045"/>
            <a:chExt cx="4988526" cy="925494"/>
          </a:xfrm>
        </p:grpSpPr>
        <p:sp>
          <p:nvSpPr>
            <p:cNvPr id="31" name="TextBox 30"/>
            <p:cNvSpPr txBox="1"/>
            <p:nvPr/>
          </p:nvSpPr>
          <p:spPr>
            <a:xfrm>
              <a:off x="6414487" y="1849045"/>
              <a:ext cx="2226673" cy="3899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 err="1">
                  <a:solidFill>
                    <a:schemeClr val="tx2">
                      <a:lumMod val="75000"/>
                    </a:schemeClr>
                  </a:solidFill>
                  <a:latin typeface="Candara" pitchFamily="34" charset="0"/>
                  <a:ea typeface="Roboto Light" panose="02000000000000000000" pitchFamily="2" charset="0"/>
                </a:rPr>
                <a:t>Activité</a:t>
              </a:r>
              <a:r>
                <a:rPr lang="en-US" sz="3200" b="1" dirty="0">
                  <a:solidFill>
                    <a:schemeClr val="tx2">
                      <a:lumMod val="75000"/>
                    </a:schemeClr>
                  </a:solidFill>
                  <a:latin typeface="Candara" pitchFamily="34" charset="0"/>
                  <a:ea typeface="Roboto Light" panose="02000000000000000000" pitchFamily="2" charset="0"/>
                </a:rPr>
                <a:t> 2:</a:t>
              </a:r>
              <a:endParaRPr lang="ru-RU" sz="32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  <a:ea typeface="Roboto Light" panose="02000000000000000000" pitchFamily="2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414490" y="2343514"/>
              <a:ext cx="4988523" cy="4310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ct val="20000"/>
                </a:spcBef>
                <a:defRPr/>
              </a:pPr>
              <a:r>
                <a:rPr lang="en-US" sz="3600" b="1" dirty="0" err="1">
                  <a:solidFill>
                    <a:schemeClr val="tx2">
                      <a:lumMod val="75000"/>
                    </a:schemeClr>
                  </a:solidFill>
                  <a:latin typeface="Candara" pitchFamily="34" charset="0"/>
                  <a:ea typeface="Roboto Light" panose="02000000000000000000" pitchFamily="2" charset="0"/>
                </a:rPr>
                <a:t>Organiser</a:t>
              </a:r>
              <a:r>
                <a:rPr lang="en-US" sz="3600" b="1" dirty="0">
                  <a:solidFill>
                    <a:schemeClr val="tx2">
                      <a:lumMod val="75000"/>
                    </a:schemeClr>
                  </a:solidFill>
                  <a:latin typeface="Candara" pitchFamily="34" charset="0"/>
                  <a:ea typeface="Roboto Light" panose="02000000000000000000" pitchFamily="2" charset="0"/>
                </a:rPr>
                <a:t> , </a:t>
              </a:r>
              <a:r>
                <a:rPr lang="en-US" sz="3600" b="1" dirty="0" err="1">
                  <a:solidFill>
                    <a:schemeClr val="tx2">
                      <a:lumMod val="75000"/>
                    </a:schemeClr>
                  </a:solidFill>
                  <a:latin typeface="Candara" pitchFamily="34" charset="0"/>
                  <a:ea typeface="Roboto Light" panose="02000000000000000000" pitchFamily="2" charset="0"/>
                </a:rPr>
                <a:t>c’est</a:t>
              </a:r>
              <a:r>
                <a:rPr lang="en-US" sz="3600" b="1" dirty="0">
                  <a:solidFill>
                    <a:schemeClr val="tx2">
                      <a:lumMod val="75000"/>
                    </a:schemeClr>
                  </a:solidFill>
                  <a:latin typeface="Candara" pitchFamily="34" charset="0"/>
                  <a:ea typeface="Roboto Light" panose="02000000000000000000" pitchFamily="2" charset="0"/>
                </a:rPr>
                <a:t> </a:t>
              </a:r>
              <a:r>
                <a:rPr lang="en-US" sz="3600" b="1" dirty="0" err="1">
                  <a:solidFill>
                    <a:schemeClr val="tx2">
                      <a:lumMod val="75000"/>
                    </a:schemeClr>
                  </a:solidFill>
                  <a:latin typeface="Candara" pitchFamily="34" charset="0"/>
                  <a:ea typeface="Roboto Light" panose="02000000000000000000" pitchFamily="2" charset="0"/>
                </a:rPr>
                <a:t>gagné</a:t>
              </a:r>
              <a:r>
                <a:rPr lang="en-US" sz="3600" b="1" dirty="0">
                  <a:solidFill>
                    <a:schemeClr val="tx2">
                      <a:lumMod val="75000"/>
                    </a:schemeClr>
                  </a:solidFill>
                  <a:latin typeface="Candara" pitchFamily="34" charset="0"/>
                  <a:ea typeface="Roboto Light" panose="02000000000000000000" pitchFamily="2" charset="0"/>
                </a:rPr>
                <a:t>   </a:t>
              </a:r>
            </a:p>
          </p:txBody>
        </p:sp>
      </p:grpSp>
      <p:grpSp>
        <p:nvGrpSpPr>
          <p:cNvPr id="3" name="Group 4"/>
          <p:cNvGrpSpPr/>
          <p:nvPr/>
        </p:nvGrpSpPr>
        <p:grpSpPr>
          <a:xfrm>
            <a:off x="928662" y="1500174"/>
            <a:ext cx="2304011" cy="4066253"/>
            <a:chOff x="917378" y="1693550"/>
            <a:chExt cx="3072015" cy="4066253"/>
          </a:xfrm>
        </p:grpSpPr>
        <p:sp>
          <p:nvSpPr>
            <p:cNvPr id="38" name="Shape 2180"/>
            <p:cNvSpPr/>
            <p:nvPr/>
          </p:nvSpPr>
          <p:spPr>
            <a:xfrm>
              <a:off x="1439040" y="1796893"/>
              <a:ext cx="889593" cy="8893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8" h="19678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bg1"/>
            </a:solidFill>
            <a:ln w="12700" cap="flat">
              <a:solidFill>
                <a:schemeClr val="accent1"/>
              </a:solidFill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lvl="0" algn="l" defTabSz="455612">
                <a:defRPr sz="1800">
                  <a:solidFill>
                    <a:srgbClr val="070707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39" name="Shape 2181"/>
            <p:cNvSpPr/>
            <p:nvPr/>
          </p:nvSpPr>
          <p:spPr>
            <a:xfrm>
              <a:off x="917378" y="2380512"/>
              <a:ext cx="2320078" cy="33792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50" h="21276" extrusionOk="0">
                  <a:moveTo>
                    <a:pt x="15139" y="153"/>
                  </a:moveTo>
                  <a:lnTo>
                    <a:pt x="10554" y="2666"/>
                  </a:lnTo>
                  <a:lnTo>
                    <a:pt x="8420" y="2691"/>
                  </a:lnTo>
                  <a:lnTo>
                    <a:pt x="9880" y="2576"/>
                  </a:lnTo>
                  <a:cubicBezTo>
                    <a:pt x="9292" y="2366"/>
                    <a:pt x="8640" y="2257"/>
                    <a:pt x="7977" y="2256"/>
                  </a:cubicBezTo>
                  <a:cubicBezTo>
                    <a:pt x="7299" y="2256"/>
                    <a:pt x="6632" y="2371"/>
                    <a:pt x="6033" y="2590"/>
                  </a:cubicBezTo>
                  <a:cubicBezTo>
                    <a:pt x="5847" y="2669"/>
                    <a:pt x="5686" y="2774"/>
                    <a:pt x="5559" y="2897"/>
                  </a:cubicBezTo>
                  <a:cubicBezTo>
                    <a:pt x="5268" y="3179"/>
                    <a:pt x="5183" y="3522"/>
                    <a:pt x="5134" y="3855"/>
                  </a:cubicBezTo>
                  <a:cubicBezTo>
                    <a:pt x="5083" y="4197"/>
                    <a:pt x="5069" y="4546"/>
                    <a:pt x="5094" y="4899"/>
                  </a:cubicBezTo>
                  <a:lnTo>
                    <a:pt x="5880" y="14818"/>
                  </a:lnTo>
                  <a:lnTo>
                    <a:pt x="591" y="18707"/>
                  </a:lnTo>
                  <a:cubicBezTo>
                    <a:pt x="-161" y="19253"/>
                    <a:pt x="-200" y="20099"/>
                    <a:pt x="500" y="20677"/>
                  </a:cubicBezTo>
                  <a:cubicBezTo>
                    <a:pt x="1276" y="21318"/>
                    <a:pt x="2661" y="21405"/>
                    <a:pt x="3592" y="20871"/>
                  </a:cubicBezTo>
                  <a:lnTo>
                    <a:pt x="9585" y="16419"/>
                  </a:lnTo>
                  <a:cubicBezTo>
                    <a:pt x="9810" y="16257"/>
                    <a:pt x="9989" y="16067"/>
                    <a:pt x="10111" y="15859"/>
                  </a:cubicBezTo>
                  <a:cubicBezTo>
                    <a:pt x="10235" y="15649"/>
                    <a:pt x="10300" y="15425"/>
                    <a:pt x="10302" y="15198"/>
                  </a:cubicBezTo>
                  <a:lnTo>
                    <a:pt x="10408" y="12572"/>
                  </a:lnTo>
                  <a:lnTo>
                    <a:pt x="10862" y="12365"/>
                  </a:lnTo>
                  <a:cubicBezTo>
                    <a:pt x="11063" y="12280"/>
                    <a:pt x="11241" y="12172"/>
                    <a:pt x="11387" y="12045"/>
                  </a:cubicBezTo>
                  <a:cubicBezTo>
                    <a:pt x="11527" y="11923"/>
                    <a:pt x="11636" y="11787"/>
                    <a:pt x="11710" y="11641"/>
                  </a:cubicBezTo>
                  <a:lnTo>
                    <a:pt x="12674" y="9915"/>
                  </a:lnTo>
                  <a:lnTo>
                    <a:pt x="11917" y="11736"/>
                  </a:lnTo>
                  <a:cubicBezTo>
                    <a:pt x="11847" y="11880"/>
                    <a:pt x="11742" y="12015"/>
                    <a:pt x="11605" y="12135"/>
                  </a:cubicBezTo>
                  <a:cubicBezTo>
                    <a:pt x="11462" y="12261"/>
                    <a:pt x="11287" y="12368"/>
                    <a:pt x="11089" y="12451"/>
                  </a:cubicBezTo>
                  <a:lnTo>
                    <a:pt x="10671" y="12648"/>
                  </a:lnTo>
                  <a:lnTo>
                    <a:pt x="14607" y="14752"/>
                  </a:lnTo>
                  <a:lnTo>
                    <a:pt x="16850" y="20281"/>
                  </a:lnTo>
                  <a:cubicBezTo>
                    <a:pt x="17307" y="21070"/>
                    <a:pt x="18592" y="21469"/>
                    <a:pt x="19755" y="21183"/>
                  </a:cubicBezTo>
                  <a:cubicBezTo>
                    <a:pt x="20783" y="20930"/>
                    <a:pt x="21400" y="20208"/>
                    <a:pt x="21219" y="19468"/>
                  </a:cubicBezTo>
                  <a:lnTo>
                    <a:pt x="18564" y="13517"/>
                  </a:lnTo>
                  <a:cubicBezTo>
                    <a:pt x="18484" y="13324"/>
                    <a:pt x="18361" y="13141"/>
                    <a:pt x="18198" y="12974"/>
                  </a:cubicBezTo>
                  <a:cubicBezTo>
                    <a:pt x="18060" y="12834"/>
                    <a:pt x="17897" y="12708"/>
                    <a:pt x="17711" y="12598"/>
                  </a:cubicBezTo>
                  <a:lnTo>
                    <a:pt x="12806" y="9592"/>
                  </a:lnTo>
                  <a:lnTo>
                    <a:pt x="12168" y="4943"/>
                  </a:lnTo>
                  <a:lnTo>
                    <a:pt x="12599" y="6696"/>
                  </a:lnTo>
                  <a:lnTo>
                    <a:pt x="13014" y="6844"/>
                  </a:lnTo>
                  <a:cubicBezTo>
                    <a:pt x="13142" y="6874"/>
                    <a:pt x="13274" y="6896"/>
                    <a:pt x="13407" y="6911"/>
                  </a:cubicBezTo>
                  <a:cubicBezTo>
                    <a:pt x="13587" y="6930"/>
                    <a:pt x="13769" y="6934"/>
                    <a:pt x="13950" y="6923"/>
                  </a:cubicBezTo>
                  <a:lnTo>
                    <a:pt x="19601" y="6672"/>
                  </a:lnTo>
                  <a:cubicBezTo>
                    <a:pt x="20440" y="6578"/>
                    <a:pt x="21026" y="6051"/>
                    <a:pt x="20937" y="5470"/>
                  </a:cubicBezTo>
                  <a:cubicBezTo>
                    <a:pt x="20848" y="4885"/>
                    <a:pt x="20105" y="4451"/>
                    <a:pt x="19250" y="4484"/>
                  </a:cubicBezTo>
                  <a:lnTo>
                    <a:pt x="14113" y="4776"/>
                  </a:lnTo>
                  <a:lnTo>
                    <a:pt x="13074" y="4140"/>
                  </a:lnTo>
                  <a:lnTo>
                    <a:pt x="12521" y="4445"/>
                  </a:lnTo>
                  <a:cubicBezTo>
                    <a:pt x="12361" y="4505"/>
                    <a:pt x="12192" y="4553"/>
                    <a:pt x="12017" y="4588"/>
                  </a:cubicBezTo>
                  <a:cubicBezTo>
                    <a:pt x="11788" y="4635"/>
                    <a:pt x="11551" y="4659"/>
                    <a:pt x="11312" y="4660"/>
                  </a:cubicBezTo>
                  <a:lnTo>
                    <a:pt x="10129" y="4744"/>
                  </a:lnTo>
                  <a:lnTo>
                    <a:pt x="11322" y="4611"/>
                  </a:lnTo>
                  <a:cubicBezTo>
                    <a:pt x="11528" y="4586"/>
                    <a:pt x="11730" y="4549"/>
                    <a:pt x="11926" y="4499"/>
                  </a:cubicBezTo>
                  <a:cubicBezTo>
                    <a:pt x="12100" y="4454"/>
                    <a:pt x="12268" y="4399"/>
                    <a:pt x="12429" y="4335"/>
                  </a:cubicBezTo>
                  <a:lnTo>
                    <a:pt x="16883" y="2016"/>
                  </a:lnTo>
                  <a:cubicBezTo>
                    <a:pt x="17624" y="1648"/>
                    <a:pt x="17778" y="933"/>
                    <a:pt x="17225" y="433"/>
                  </a:cubicBezTo>
                  <a:cubicBezTo>
                    <a:pt x="16734" y="-11"/>
                    <a:pt x="15837" y="-131"/>
                    <a:pt x="15139" y="153"/>
                  </a:cubicBezTo>
                  <a:close/>
                </a:path>
              </a:pathLst>
            </a:custGeom>
            <a:solidFill>
              <a:schemeClr val="bg1"/>
            </a:solidFill>
            <a:ln w="12700" cap="flat">
              <a:solidFill>
                <a:schemeClr val="accent1"/>
              </a:solidFill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lvl="0" algn="l" defTabSz="455612">
                <a:defRPr sz="1800">
                  <a:solidFill>
                    <a:srgbClr val="070707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40" name="Shape 2182"/>
            <p:cNvSpPr/>
            <p:nvPr/>
          </p:nvSpPr>
          <p:spPr>
            <a:xfrm>
              <a:off x="2583420" y="1693550"/>
              <a:ext cx="1405973" cy="15863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5" h="21458" extrusionOk="0">
                  <a:moveTo>
                    <a:pt x="14768" y="0"/>
                  </a:moveTo>
                  <a:cubicBezTo>
                    <a:pt x="11682" y="279"/>
                    <a:pt x="8751" y="1325"/>
                    <a:pt x="6316" y="3018"/>
                  </a:cubicBezTo>
                  <a:cubicBezTo>
                    <a:pt x="3974" y="4646"/>
                    <a:pt x="2184" y="6809"/>
                    <a:pt x="1141" y="9271"/>
                  </a:cubicBezTo>
                  <a:cubicBezTo>
                    <a:pt x="2104" y="9290"/>
                    <a:pt x="2984" y="9759"/>
                    <a:pt x="3451" y="10501"/>
                  </a:cubicBezTo>
                  <a:cubicBezTo>
                    <a:pt x="4024" y="11411"/>
                    <a:pt x="3878" y="12542"/>
                    <a:pt x="3086" y="13315"/>
                  </a:cubicBezTo>
                  <a:lnTo>
                    <a:pt x="0" y="15442"/>
                  </a:lnTo>
                  <a:lnTo>
                    <a:pt x="4923" y="15200"/>
                  </a:lnTo>
                  <a:cubicBezTo>
                    <a:pt x="5306" y="15206"/>
                    <a:pt x="5677" y="15267"/>
                    <a:pt x="6024" y="15374"/>
                  </a:cubicBezTo>
                  <a:cubicBezTo>
                    <a:pt x="6371" y="15481"/>
                    <a:pt x="6711" y="15640"/>
                    <a:pt x="6954" y="15902"/>
                  </a:cubicBezTo>
                  <a:cubicBezTo>
                    <a:pt x="7352" y="16332"/>
                    <a:pt x="7393" y="16938"/>
                    <a:pt x="7056" y="17405"/>
                  </a:cubicBezTo>
                  <a:cubicBezTo>
                    <a:pt x="6814" y="17687"/>
                    <a:pt x="6637" y="18007"/>
                    <a:pt x="6534" y="18348"/>
                  </a:cubicBezTo>
                  <a:cubicBezTo>
                    <a:pt x="6441" y="18655"/>
                    <a:pt x="6409" y="18974"/>
                    <a:pt x="6440" y="19291"/>
                  </a:cubicBezTo>
                  <a:cubicBezTo>
                    <a:pt x="6624" y="20412"/>
                    <a:pt x="7633" y="21288"/>
                    <a:pt x="8908" y="21436"/>
                  </a:cubicBezTo>
                  <a:cubicBezTo>
                    <a:pt x="10328" y="21600"/>
                    <a:pt x="11673" y="20831"/>
                    <a:pt x="12079" y="19622"/>
                  </a:cubicBezTo>
                  <a:cubicBezTo>
                    <a:pt x="12197" y="19191"/>
                    <a:pt x="12191" y="18740"/>
                    <a:pt x="12062" y="18311"/>
                  </a:cubicBezTo>
                  <a:cubicBezTo>
                    <a:pt x="11962" y="17978"/>
                    <a:pt x="11789" y="17666"/>
                    <a:pt x="11554" y="17390"/>
                  </a:cubicBezTo>
                  <a:cubicBezTo>
                    <a:pt x="11216" y="16965"/>
                    <a:pt x="11162" y="16414"/>
                    <a:pt x="11412" y="15944"/>
                  </a:cubicBezTo>
                  <a:cubicBezTo>
                    <a:pt x="11706" y="15392"/>
                    <a:pt x="12355" y="15058"/>
                    <a:pt x="13045" y="15102"/>
                  </a:cubicBezTo>
                  <a:lnTo>
                    <a:pt x="15810" y="15677"/>
                  </a:lnTo>
                  <a:lnTo>
                    <a:pt x="16049" y="14612"/>
                  </a:lnTo>
                  <a:cubicBezTo>
                    <a:pt x="15557" y="13797"/>
                    <a:pt x="15190" y="12927"/>
                    <a:pt x="14958" y="12027"/>
                  </a:cubicBezTo>
                  <a:cubicBezTo>
                    <a:pt x="14730" y="11140"/>
                    <a:pt x="14635" y="10231"/>
                    <a:pt x="14674" y="9322"/>
                  </a:cubicBezTo>
                  <a:cubicBezTo>
                    <a:pt x="14713" y="8979"/>
                    <a:pt x="14902" y="8663"/>
                    <a:pt x="15203" y="8441"/>
                  </a:cubicBezTo>
                  <a:cubicBezTo>
                    <a:pt x="15695" y="8077"/>
                    <a:pt x="16391" y="8018"/>
                    <a:pt x="16954" y="8292"/>
                  </a:cubicBezTo>
                  <a:cubicBezTo>
                    <a:pt x="17187" y="8445"/>
                    <a:pt x="17436" y="8578"/>
                    <a:pt x="17696" y="8690"/>
                  </a:cubicBezTo>
                  <a:cubicBezTo>
                    <a:pt x="17915" y="8785"/>
                    <a:pt x="18143" y="8864"/>
                    <a:pt x="18380" y="8912"/>
                  </a:cubicBezTo>
                  <a:cubicBezTo>
                    <a:pt x="18952" y="9030"/>
                    <a:pt x="19554" y="8967"/>
                    <a:pt x="20079" y="8734"/>
                  </a:cubicBezTo>
                  <a:cubicBezTo>
                    <a:pt x="21011" y="8266"/>
                    <a:pt x="21589" y="7396"/>
                    <a:pt x="21595" y="6452"/>
                  </a:cubicBezTo>
                  <a:cubicBezTo>
                    <a:pt x="21600" y="5680"/>
                    <a:pt x="21217" y="4947"/>
                    <a:pt x="20548" y="4448"/>
                  </a:cubicBezTo>
                  <a:cubicBezTo>
                    <a:pt x="20044" y="4129"/>
                    <a:pt x="19435" y="3967"/>
                    <a:pt x="18815" y="3986"/>
                  </a:cubicBezTo>
                  <a:cubicBezTo>
                    <a:pt x="18253" y="4004"/>
                    <a:pt x="17711" y="4171"/>
                    <a:pt x="17260" y="4465"/>
                  </a:cubicBezTo>
                  <a:cubicBezTo>
                    <a:pt x="16658" y="4811"/>
                    <a:pt x="15876" y="4793"/>
                    <a:pt x="15297" y="4418"/>
                  </a:cubicBezTo>
                  <a:cubicBezTo>
                    <a:pt x="14878" y="4147"/>
                    <a:pt x="14626" y="3721"/>
                    <a:pt x="14614" y="3264"/>
                  </a:cubicBezTo>
                  <a:lnTo>
                    <a:pt x="14768" y="0"/>
                  </a:lnTo>
                  <a:close/>
                </a:path>
              </a:pathLst>
            </a:cu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lvl="0" algn="l" defTabSz="455612">
                <a:defRPr sz="1800">
                  <a:solidFill>
                    <a:srgbClr val="070707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2214546" y="1500174"/>
            <a:ext cx="1633685" cy="3418171"/>
            <a:chOff x="3196499" y="2217615"/>
            <a:chExt cx="2178247" cy="3418171"/>
          </a:xfrm>
        </p:grpSpPr>
        <p:sp>
          <p:nvSpPr>
            <p:cNvPr id="36" name="Shape 2178"/>
            <p:cNvSpPr/>
            <p:nvPr/>
          </p:nvSpPr>
          <p:spPr>
            <a:xfrm>
              <a:off x="3938675" y="4782484"/>
              <a:ext cx="637136" cy="7049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18603"/>
                  </a:lnTo>
                  <a:lnTo>
                    <a:pt x="3317" y="21600"/>
                  </a:lnTo>
                  <a:lnTo>
                    <a:pt x="18095" y="21600"/>
                  </a:lnTo>
                  <a:lnTo>
                    <a:pt x="21600" y="18432"/>
                  </a:lnTo>
                  <a:lnTo>
                    <a:pt x="21600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7ABB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lvl="0" defTabSz="825500">
                <a:defRPr sz="320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37" name="Shape 2179"/>
            <p:cNvSpPr/>
            <p:nvPr/>
          </p:nvSpPr>
          <p:spPr>
            <a:xfrm>
              <a:off x="3806816" y="4537747"/>
              <a:ext cx="915351" cy="291882"/>
            </a:xfrm>
            <a:prstGeom prst="roundRect">
              <a:avLst>
                <a:gd name="adj" fmla="val 35919"/>
              </a:avLst>
            </a:prstGeom>
            <a:solidFill>
              <a:srgbClr val="A7ABB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lvl="0" defTabSz="825500">
                <a:defRPr sz="3200"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41" name="Shape 2183"/>
            <p:cNvSpPr/>
            <p:nvPr/>
          </p:nvSpPr>
          <p:spPr>
            <a:xfrm>
              <a:off x="4177346" y="2217615"/>
              <a:ext cx="1197400" cy="11463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4" h="21119" extrusionOk="0">
                  <a:moveTo>
                    <a:pt x="160" y="104"/>
                  </a:moveTo>
                  <a:lnTo>
                    <a:pt x="1" y="4052"/>
                  </a:lnTo>
                  <a:cubicBezTo>
                    <a:pt x="-7" y="4404"/>
                    <a:pt x="39" y="4740"/>
                    <a:pt x="129" y="5058"/>
                  </a:cubicBezTo>
                  <a:cubicBezTo>
                    <a:pt x="208" y="5333"/>
                    <a:pt x="325" y="5616"/>
                    <a:pt x="569" y="5794"/>
                  </a:cubicBezTo>
                  <a:cubicBezTo>
                    <a:pt x="1209" y="6259"/>
                    <a:pt x="1949" y="5684"/>
                    <a:pt x="2629" y="5313"/>
                  </a:cubicBezTo>
                  <a:cubicBezTo>
                    <a:pt x="2861" y="5186"/>
                    <a:pt x="3107" y="5086"/>
                    <a:pt x="3362" y="5016"/>
                  </a:cubicBezTo>
                  <a:cubicBezTo>
                    <a:pt x="5496" y="4484"/>
                    <a:pt x="7636" y="5868"/>
                    <a:pt x="8093" y="8076"/>
                  </a:cubicBezTo>
                  <a:cubicBezTo>
                    <a:pt x="8528" y="10173"/>
                    <a:pt x="7265" y="12246"/>
                    <a:pt x="5240" y="12761"/>
                  </a:cubicBezTo>
                  <a:cubicBezTo>
                    <a:pt x="4654" y="12914"/>
                    <a:pt x="4042" y="12925"/>
                    <a:pt x="3451" y="12793"/>
                  </a:cubicBezTo>
                  <a:cubicBezTo>
                    <a:pt x="3032" y="12700"/>
                    <a:pt x="2632" y="12536"/>
                    <a:pt x="2265" y="12308"/>
                  </a:cubicBezTo>
                  <a:cubicBezTo>
                    <a:pt x="1811" y="11919"/>
                    <a:pt x="1163" y="11880"/>
                    <a:pt x="667" y="12211"/>
                  </a:cubicBezTo>
                  <a:cubicBezTo>
                    <a:pt x="240" y="12497"/>
                    <a:pt x="10" y="13009"/>
                    <a:pt x="75" y="13529"/>
                  </a:cubicBezTo>
                  <a:cubicBezTo>
                    <a:pt x="95" y="14568"/>
                    <a:pt x="216" y="15603"/>
                    <a:pt x="436" y="16617"/>
                  </a:cubicBezTo>
                  <a:cubicBezTo>
                    <a:pt x="679" y="17735"/>
                    <a:pt x="1041" y="18822"/>
                    <a:pt x="1515" y="19858"/>
                  </a:cubicBezTo>
                  <a:lnTo>
                    <a:pt x="8609" y="21077"/>
                  </a:lnTo>
                  <a:cubicBezTo>
                    <a:pt x="8838" y="21129"/>
                    <a:pt x="9067" y="21131"/>
                    <a:pt x="9285" y="21090"/>
                  </a:cubicBezTo>
                  <a:cubicBezTo>
                    <a:pt x="9367" y="21074"/>
                    <a:pt x="9447" y="21053"/>
                    <a:pt x="9526" y="21024"/>
                  </a:cubicBezTo>
                  <a:cubicBezTo>
                    <a:pt x="9604" y="20995"/>
                    <a:pt x="9679" y="20958"/>
                    <a:pt x="9749" y="20913"/>
                  </a:cubicBezTo>
                  <a:cubicBezTo>
                    <a:pt x="9942" y="20788"/>
                    <a:pt x="10091" y="20596"/>
                    <a:pt x="10180" y="20365"/>
                  </a:cubicBezTo>
                  <a:cubicBezTo>
                    <a:pt x="10469" y="19621"/>
                    <a:pt x="10057" y="18873"/>
                    <a:pt x="9804" y="18157"/>
                  </a:cubicBezTo>
                  <a:cubicBezTo>
                    <a:pt x="9643" y="17702"/>
                    <a:pt x="9540" y="17226"/>
                    <a:pt x="9500" y="16737"/>
                  </a:cubicBezTo>
                  <a:cubicBezTo>
                    <a:pt x="9365" y="15414"/>
                    <a:pt x="9896" y="14111"/>
                    <a:pt x="10910" y="13283"/>
                  </a:cubicBezTo>
                  <a:cubicBezTo>
                    <a:pt x="11674" y="12658"/>
                    <a:pt x="12647" y="12367"/>
                    <a:pt x="13619" y="12473"/>
                  </a:cubicBezTo>
                  <a:cubicBezTo>
                    <a:pt x="14755" y="12578"/>
                    <a:pt x="15790" y="13189"/>
                    <a:pt x="16452" y="14144"/>
                  </a:cubicBezTo>
                  <a:cubicBezTo>
                    <a:pt x="17056" y="15017"/>
                    <a:pt x="17295" y="16103"/>
                    <a:pt x="17115" y="17158"/>
                  </a:cubicBezTo>
                  <a:cubicBezTo>
                    <a:pt x="17055" y="17619"/>
                    <a:pt x="16918" y="18062"/>
                    <a:pt x="16713" y="18470"/>
                  </a:cubicBezTo>
                  <a:cubicBezTo>
                    <a:pt x="16450" y="18993"/>
                    <a:pt x="16064" y="19547"/>
                    <a:pt x="16298" y="20112"/>
                  </a:cubicBezTo>
                  <a:cubicBezTo>
                    <a:pt x="16435" y="20441"/>
                    <a:pt x="16733" y="20628"/>
                    <a:pt x="17036" y="20741"/>
                  </a:cubicBezTo>
                  <a:cubicBezTo>
                    <a:pt x="17304" y="20841"/>
                    <a:pt x="17594" y="20892"/>
                    <a:pt x="17897" y="20880"/>
                  </a:cubicBezTo>
                  <a:lnTo>
                    <a:pt x="21448" y="20388"/>
                  </a:lnTo>
                  <a:cubicBezTo>
                    <a:pt x="21593" y="14575"/>
                    <a:pt x="19256" y="8988"/>
                    <a:pt x="15052" y="5098"/>
                  </a:cubicBezTo>
                  <a:cubicBezTo>
                    <a:pt x="10997" y="1345"/>
                    <a:pt x="5588" y="-469"/>
                    <a:pt x="160" y="104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lvl="0" algn="l" defTabSz="455612">
                <a:defRPr sz="1800">
                  <a:solidFill>
                    <a:srgbClr val="070707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42" name="Shape 2184"/>
            <p:cNvSpPr/>
            <p:nvPr/>
          </p:nvSpPr>
          <p:spPr>
            <a:xfrm>
              <a:off x="3196499" y="3390974"/>
              <a:ext cx="1445026" cy="11210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7" h="21571" extrusionOk="0">
                  <a:moveTo>
                    <a:pt x="0" y="314"/>
                  </a:moveTo>
                  <a:lnTo>
                    <a:pt x="4873" y="107"/>
                  </a:lnTo>
                  <a:cubicBezTo>
                    <a:pt x="5177" y="49"/>
                    <a:pt x="5475" y="84"/>
                    <a:pt x="5750" y="194"/>
                  </a:cubicBezTo>
                  <a:cubicBezTo>
                    <a:pt x="5978" y="285"/>
                    <a:pt x="6205" y="432"/>
                    <a:pt x="6345" y="709"/>
                  </a:cubicBezTo>
                  <a:cubicBezTo>
                    <a:pt x="6658" y="1329"/>
                    <a:pt x="6350" y="2057"/>
                    <a:pt x="6129" y="2710"/>
                  </a:cubicBezTo>
                  <a:cubicBezTo>
                    <a:pt x="6003" y="3083"/>
                    <a:pt x="5906" y="3473"/>
                    <a:pt x="5842" y="3879"/>
                  </a:cubicBezTo>
                  <a:cubicBezTo>
                    <a:pt x="5657" y="4975"/>
                    <a:pt x="5829" y="6120"/>
                    <a:pt x="6317" y="7049"/>
                  </a:cubicBezTo>
                  <a:cubicBezTo>
                    <a:pt x="6942" y="8238"/>
                    <a:pt x="7998" y="8928"/>
                    <a:pt x="9111" y="8873"/>
                  </a:cubicBezTo>
                  <a:cubicBezTo>
                    <a:pt x="9937" y="8859"/>
                    <a:pt x="10726" y="8423"/>
                    <a:pt x="11304" y="7660"/>
                  </a:cubicBezTo>
                  <a:cubicBezTo>
                    <a:pt x="11883" y="6896"/>
                    <a:pt x="12204" y="5865"/>
                    <a:pt x="12195" y="4796"/>
                  </a:cubicBezTo>
                  <a:cubicBezTo>
                    <a:pt x="12209" y="4355"/>
                    <a:pt x="12172" y="3913"/>
                    <a:pt x="12085" y="3486"/>
                  </a:cubicBezTo>
                  <a:cubicBezTo>
                    <a:pt x="12002" y="3084"/>
                    <a:pt x="11875" y="2699"/>
                    <a:pt x="11708" y="2342"/>
                  </a:cubicBezTo>
                  <a:cubicBezTo>
                    <a:pt x="11563" y="2084"/>
                    <a:pt x="11478" y="1788"/>
                    <a:pt x="11453" y="1486"/>
                  </a:cubicBezTo>
                  <a:cubicBezTo>
                    <a:pt x="11428" y="1189"/>
                    <a:pt x="11461" y="876"/>
                    <a:pt x="11590" y="606"/>
                  </a:cubicBezTo>
                  <a:cubicBezTo>
                    <a:pt x="11712" y="350"/>
                    <a:pt x="11902" y="175"/>
                    <a:pt x="12110" y="81"/>
                  </a:cubicBezTo>
                  <a:cubicBezTo>
                    <a:pt x="12322" y="-14"/>
                    <a:pt x="12557" y="-29"/>
                    <a:pt x="12785" y="54"/>
                  </a:cubicBezTo>
                  <a:lnTo>
                    <a:pt x="15202" y="732"/>
                  </a:lnTo>
                  <a:lnTo>
                    <a:pt x="14626" y="4996"/>
                  </a:lnTo>
                  <a:cubicBezTo>
                    <a:pt x="14456" y="5780"/>
                    <a:pt x="14650" y="6621"/>
                    <a:pt x="15126" y="7156"/>
                  </a:cubicBezTo>
                  <a:cubicBezTo>
                    <a:pt x="15656" y="7752"/>
                    <a:pt x="16420" y="7850"/>
                    <a:pt x="17031" y="7401"/>
                  </a:cubicBezTo>
                  <a:cubicBezTo>
                    <a:pt x="17428" y="7050"/>
                    <a:pt x="17871" y="6812"/>
                    <a:pt x="18332" y="6694"/>
                  </a:cubicBezTo>
                  <a:cubicBezTo>
                    <a:pt x="18760" y="6585"/>
                    <a:pt x="19207" y="6579"/>
                    <a:pt x="19641" y="6729"/>
                  </a:cubicBezTo>
                  <a:cubicBezTo>
                    <a:pt x="20809" y="7132"/>
                    <a:pt x="21600" y="8534"/>
                    <a:pt x="21539" y="10093"/>
                  </a:cubicBezTo>
                  <a:cubicBezTo>
                    <a:pt x="21597" y="11021"/>
                    <a:pt x="21348" y="11937"/>
                    <a:pt x="20851" y="12614"/>
                  </a:cubicBezTo>
                  <a:cubicBezTo>
                    <a:pt x="20191" y="13515"/>
                    <a:pt x="19198" y="13871"/>
                    <a:pt x="18271" y="13539"/>
                  </a:cubicBezTo>
                  <a:cubicBezTo>
                    <a:pt x="18003" y="13375"/>
                    <a:pt x="17745" y="13204"/>
                    <a:pt x="17495" y="13027"/>
                  </a:cubicBezTo>
                  <a:cubicBezTo>
                    <a:pt x="17264" y="12862"/>
                    <a:pt x="17035" y="12690"/>
                    <a:pt x="16785" y="12597"/>
                  </a:cubicBezTo>
                  <a:cubicBezTo>
                    <a:pt x="16368" y="12443"/>
                    <a:pt x="15905" y="12508"/>
                    <a:pt x="15521" y="12836"/>
                  </a:cubicBezTo>
                  <a:cubicBezTo>
                    <a:pt x="15219" y="13093"/>
                    <a:pt x="15015" y="13476"/>
                    <a:pt x="14886" y="13887"/>
                  </a:cubicBezTo>
                  <a:cubicBezTo>
                    <a:pt x="14743" y="14344"/>
                    <a:pt x="14689" y="14850"/>
                    <a:pt x="14743" y="15362"/>
                  </a:cubicBezTo>
                  <a:lnTo>
                    <a:pt x="15381" y="21571"/>
                  </a:lnTo>
                  <a:lnTo>
                    <a:pt x="7502" y="21086"/>
                  </a:lnTo>
                  <a:cubicBezTo>
                    <a:pt x="7111" y="20411"/>
                    <a:pt x="6769" y="19690"/>
                    <a:pt x="6481" y="18934"/>
                  </a:cubicBezTo>
                  <a:cubicBezTo>
                    <a:pt x="6130" y="18010"/>
                    <a:pt x="5862" y="17039"/>
                    <a:pt x="5681" y="16038"/>
                  </a:cubicBezTo>
                  <a:cubicBezTo>
                    <a:pt x="5501" y="15157"/>
                    <a:pt x="5192" y="14328"/>
                    <a:pt x="4772" y="13596"/>
                  </a:cubicBezTo>
                  <a:cubicBezTo>
                    <a:pt x="4534" y="13180"/>
                    <a:pt x="4261" y="12799"/>
                    <a:pt x="3990" y="12418"/>
                  </a:cubicBezTo>
                  <a:cubicBezTo>
                    <a:pt x="3744" y="12074"/>
                    <a:pt x="3500" y="11728"/>
                    <a:pt x="3256" y="11381"/>
                  </a:cubicBezTo>
                  <a:cubicBezTo>
                    <a:pt x="2270" y="9728"/>
                    <a:pt x="1486" y="7891"/>
                    <a:pt x="930" y="5932"/>
                  </a:cubicBezTo>
                  <a:cubicBezTo>
                    <a:pt x="417" y="4125"/>
                    <a:pt x="104" y="2234"/>
                    <a:pt x="0" y="314"/>
                  </a:cubicBezTo>
                  <a:close/>
                </a:path>
              </a:pathLst>
            </a:custGeom>
            <a:solidFill>
              <a:srgbClr val="00B05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lvl="0" algn="l" defTabSz="455612">
                <a:defRPr sz="1800">
                  <a:solidFill>
                    <a:srgbClr val="070707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43" name="Shape 2185"/>
            <p:cNvSpPr/>
            <p:nvPr/>
          </p:nvSpPr>
          <p:spPr>
            <a:xfrm>
              <a:off x="4203775" y="2934757"/>
              <a:ext cx="1166487" cy="15547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9" h="21444" extrusionOk="0">
                  <a:moveTo>
                    <a:pt x="1113" y="5524"/>
                  </a:moveTo>
                  <a:lnTo>
                    <a:pt x="50" y="9863"/>
                  </a:lnTo>
                  <a:cubicBezTo>
                    <a:pt x="-31" y="10120"/>
                    <a:pt x="-12" y="10380"/>
                    <a:pt x="91" y="10618"/>
                  </a:cubicBezTo>
                  <a:cubicBezTo>
                    <a:pt x="181" y="10828"/>
                    <a:pt x="339" y="11028"/>
                    <a:pt x="597" y="11160"/>
                  </a:cubicBezTo>
                  <a:cubicBezTo>
                    <a:pt x="871" y="11300"/>
                    <a:pt x="1200" y="11335"/>
                    <a:pt x="1514" y="11318"/>
                  </a:cubicBezTo>
                  <a:cubicBezTo>
                    <a:pt x="1872" y="11299"/>
                    <a:pt x="2227" y="11212"/>
                    <a:pt x="2541" y="11055"/>
                  </a:cubicBezTo>
                  <a:cubicBezTo>
                    <a:pt x="3686" y="10503"/>
                    <a:pt x="5126" y="10420"/>
                    <a:pt x="6371" y="10834"/>
                  </a:cubicBezTo>
                  <a:cubicBezTo>
                    <a:pt x="7680" y="11269"/>
                    <a:pt x="8582" y="12188"/>
                    <a:pt x="8744" y="13250"/>
                  </a:cubicBezTo>
                  <a:cubicBezTo>
                    <a:pt x="8916" y="14139"/>
                    <a:pt x="8522" y="15036"/>
                    <a:pt x="7680" y="15677"/>
                  </a:cubicBezTo>
                  <a:cubicBezTo>
                    <a:pt x="6641" y="16468"/>
                    <a:pt x="5093" y="16754"/>
                    <a:pt x="3679" y="16417"/>
                  </a:cubicBezTo>
                  <a:cubicBezTo>
                    <a:pt x="3315" y="16281"/>
                    <a:pt x="2953" y="16159"/>
                    <a:pt x="2587" y="16051"/>
                  </a:cubicBezTo>
                  <a:cubicBezTo>
                    <a:pt x="2030" y="15886"/>
                    <a:pt x="1394" y="15743"/>
                    <a:pt x="844" y="15975"/>
                  </a:cubicBezTo>
                  <a:cubicBezTo>
                    <a:pt x="546" y="16101"/>
                    <a:pt x="357" y="16313"/>
                    <a:pt x="245" y="16537"/>
                  </a:cubicBezTo>
                  <a:cubicBezTo>
                    <a:pt x="126" y="16776"/>
                    <a:pt x="90" y="17041"/>
                    <a:pt x="158" y="17308"/>
                  </a:cubicBezTo>
                  <a:lnTo>
                    <a:pt x="958" y="21444"/>
                  </a:lnTo>
                  <a:lnTo>
                    <a:pt x="11789" y="21421"/>
                  </a:lnTo>
                  <a:cubicBezTo>
                    <a:pt x="12290" y="21042"/>
                    <a:pt x="12711" y="20608"/>
                    <a:pt x="13035" y="20134"/>
                  </a:cubicBezTo>
                  <a:cubicBezTo>
                    <a:pt x="13378" y="19631"/>
                    <a:pt x="13609" y="19089"/>
                    <a:pt x="13717" y="18531"/>
                  </a:cubicBezTo>
                  <a:cubicBezTo>
                    <a:pt x="13955" y="17950"/>
                    <a:pt x="14289" y="17393"/>
                    <a:pt x="14713" y="16875"/>
                  </a:cubicBezTo>
                  <a:cubicBezTo>
                    <a:pt x="15148" y="16342"/>
                    <a:pt x="15674" y="15854"/>
                    <a:pt x="16276" y="15422"/>
                  </a:cubicBezTo>
                  <a:cubicBezTo>
                    <a:pt x="17987" y="14068"/>
                    <a:pt x="19334" y="12481"/>
                    <a:pt x="20243" y="10747"/>
                  </a:cubicBezTo>
                  <a:cubicBezTo>
                    <a:pt x="21043" y="9221"/>
                    <a:pt x="21492" y="7605"/>
                    <a:pt x="21569" y="5967"/>
                  </a:cubicBezTo>
                  <a:lnTo>
                    <a:pt x="18132" y="6285"/>
                  </a:lnTo>
                  <a:cubicBezTo>
                    <a:pt x="17862" y="6304"/>
                    <a:pt x="17593" y="6301"/>
                    <a:pt x="17330" y="6276"/>
                  </a:cubicBezTo>
                  <a:cubicBezTo>
                    <a:pt x="16700" y="6215"/>
                    <a:pt x="16071" y="6026"/>
                    <a:pt x="15700" y="5619"/>
                  </a:cubicBezTo>
                  <a:cubicBezTo>
                    <a:pt x="15375" y="5263"/>
                    <a:pt x="15332" y="4804"/>
                    <a:pt x="15590" y="4419"/>
                  </a:cubicBezTo>
                  <a:cubicBezTo>
                    <a:pt x="17038" y="3297"/>
                    <a:pt x="16870" y="1489"/>
                    <a:pt x="15230" y="526"/>
                  </a:cubicBezTo>
                  <a:cubicBezTo>
                    <a:pt x="14280" y="-32"/>
                    <a:pt x="12998" y="-156"/>
                    <a:pt x="11889" y="202"/>
                  </a:cubicBezTo>
                  <a:cubicBezTo>
                    <a:pt x="11204" y="429"/>
                    <a:pt x="10647" y="828"/>
                    <a:pt x="10317" y="1330"/>
                  </a:cubicBezTo>
                  <a:cubicBezTo>
                    <a:pt x="9996" y="1818"/>
                    <a:pt x="9907" y="2356"/>
                    <a:pt x="9979" y="2877"/>
                  </a:cubicBezTo>
                  <a:cubicBezTo>
                    <a:pt x="10052" y="3399"/>
                    <a:pt x="10288" y="3911"/>
                    <a:pt x="10686" y="4368"/>
                  </a:cubicBezTo>
                  <a:cubicBezTo>
                    <a:pt x="10959" y="4864"/>
                    <a:pt x="10859" y="5430"/>
                    <a:pt x="10422" y="5855"/>
                  </a:cubicBezTo>
                  <a:cubicBezTo>
                    <a:pt x="9948" y="6318"/>
                    <a:pt x="9161" y="6537"/>
                    <a:pt x="8396" y="6420"/>
                  </a:cubicBezTo>
                  <a:lnTo>
                    <a:pt x="1113" y="5524"/>
                  </a:lnTo>
                  <a:close/>
                </a:path>
              </a:pathLst>
            </a:custGeom>
            <a:solidFill>
              <a:srgbClr val="FF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lvl="0" algn="l" defTabSz="455612">
                <a:defRPr sz="1800">
                  <a:solidFill>
                    <a:srgbClr val="070707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44" name="Shape 2186"/>
            <p:cNvSpPr/>
            <p:nvPr/>
          </p:nvSpPr>
          <p:spPr>
            <a:xfrm>
              <a:off x="4056601" y="5519060"/>
              <a:ext cx="407295" cy="1167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98" extrusionOk="0">
                  <a:moveTo>
                    <a:pt x="0" y="102"/>
                  </a:moveTo>
                  <a:lnTo>
                    <a:pt x="2875" y="16209"/>
                  </a:lnTo>
                  <a:cubicBezTo>
                    <a:pt x="5436" y="19804"/>
                    <a:pt x="8177" y="21600"/>
                    <a:pt x="10940" y="21494"/>
                  </a:cubicBezTo>
                  <a:cubicBezTo>
                    <a:pt x="13546" y="21393"/>
                    <a:pt x="16123" y="19601"/>
                    <a:pt x="18539" y="16209"/>
                  </a:cubicBezTo>
                  <a:lnTo>
                    <a:pt x="21600" y="0"/>
                  </a:lnTo>
                  <a:lnTo>
                    <a:pt x="0" y="102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solidFill>
                <a:schemeClr val="accent1"/>
              </a:solidFill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lvl="0" algn="l" defTabSz="455612">
                <a:defRPr sz="1800">
                  <a:solidFill>
                    <a:srgbClr val="070707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45" name="Shape 2187"/>
            <p:cNvSpPr/>
            <p:nvPr/>
          </p:nvSpPr>
          <p:spPr>
            <a:xfrm>
              <a:off x="3684017" y="4467939"/>
              <a:ext cx="591994" cy="2492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4909" y="21584"/>
                  </a:lnTo>
                  <a:cubicBezTo>
                    <a:pt x="3985" y="20289"/>
                    <a:pt x="3089" y="18888"/>
                    <a:pt x="2222" y="17386"/>
                  </a:cubicBezTo>
                  <a:cubicBezTo>
                    <a:pt x="1456" y="16058"/>
                    <a:pt x="715" y="14653"/>
                    <a:pt x="0" y="13173"/>
                  </a:cubicBezTo>
                  <a:lnTo>
                    <a:pt x="110" y="0"/>
                  </a:lnTo>
                  <a:close/>
                </a:path>
              </a:pathLst>
            </a:custGeom>
            <a:solidFill>
              <a:srgbClr val="A7ABB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lvl="0" algn="l" defTabSz="455612">
                <a:defRPr sz="1800">
                  <a:solidFill>
                    <a:srgbClr val="070707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46" name="Shape 2188"/>
            <p:cNvSpPr/>
            <p:nvPr/>
          </p:nvSpPr>
          <p:spPr>
            <a:xfrm>
              <a:off x="4267407" y="4467939"/>
              <a:ext cx="589498" cy="2492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9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16691" y="21584"/>
                  </a:lnTo>
                  <a:cubicBezTo>
                    <a:pt x="17615" y="20289"/>
                    <a:pt x="18511" y="18888"/>
                    <a:pt x="19378" y="17386"/>
                  </a:cubicBezTo>
                  <a:cubicBezTo>
                    <a:pt x="20144" y="16058"/>
                    <a:pt x="20885" y="14653"/>
                    <a:pt x="21600" y="13173"/>
                  </a:cubicBezTo>
                  <a:lnTo>
                    <a:pt x="21490" y="0"/>
                  </a:lnTo>
                  <a:close/>
                </a:path>
              </a:pathLst>
            </a:custGeom>
            <a:solidFill>
              <a:srgbClr val="A7ABB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lvl="0" algn="l" defTabSz="455612">
                <a:defRPr sz="1800">
                  <a:solidFill>
                    <a:srgbClr val="070707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47" name="Shape 2189"/>
            <p:cNvSpPr/>
            <p:nvPr/>
          </p:nvSpPr>
          <p:spPr>
            <a:xfrm>
              <a:off x="3682883" y="4465437"/>
              <a:ext cx="1172956" cy="72311"/>
            </a:xfrm>
            <a:prstGeom prst="rect">
              <a:avLst/>
            </a:prstGeom>
            <a:solidFill>
              <a:srgbClr val="A7ABB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lvl="0" algn="l" defTabSz="455612">
                <a:defRPr sz="2400"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48" name="Shape 2190"/>
            <p:cNvSpPr/>
            <p:nvPr/>
          </p:nvSpPr>
          <p:spPr>
            <a:xfrm rot="21245215">
              <a:off x="3897603" y="4898824"/>
              <a:ext cx="719279" cy="72310"/>
            </a:xfrm>
            <a:prstGeom prst="roundRect">
              <a:avLst>
                <a:gd name="adj" fmla="val 50000"/>
              </a:avLst>
            </a:prstGeom>
            <a:solidFill>
              <a:srgbClr val="A7ABB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lvl="0" defTabSz="825500">
                <a:defRPr sz="3200"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49" name="Shape 2191"/>
            <p:cNvSpPr/>
            <p:nvPr/>
          </p:nvSpPr>
          <p:spPr>
            <a:xfrm rot="21245215">
              <a:off x="3897603" y="5021445"/>
              <a:ext cx="719279" cy="72310"/>
            </a:xfrm>
            <a:prstGeom prst="roundRect">
              <a:avLst>
                <a:gd name="adj" fmla="val 50000"/>
              </a:avLst>
            </a:prstGeom>
            <a:solidFill>
              <a:srgbClr val="A7ABB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lvl="0" defTabSz="825500">
                <a:defRPr sz="3200"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50" name="Shape 2192"/>
            <p:cNvSpPr/>
            <p:nvPr/>
          </p:nvSpPr>
          <p:spPr>
            <a:xfrm rot="21245215">
              <a:off x="3897603" y="5144066"/>
              <a:ext cx="719279" cy="72311"/>
            </a:xfrm>
            <a:prstGeom prst="roundRect">
              <a:avLst>
                <a:gd name="adj" fmla="val 50000"/>
              </a:avLst>
            </a:prstGeom>
            <a:solidFill>
              <a:srgbClr val="A7ABB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lvl="0" defTabSz="825500">
                <a:defRPr sz="3200"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51" name="Shape 2193"/>
            <p:cNvSpPr/>
            <p:nvPr/>
          </p:nvSpPr>
          <p:spPr>
            <a:xfrm rot="21245215">
              <a:off x="3897603" y="5266688"/>
              <a:ext cx="719279" cy="72310"/>
            </a:xfrm>
            <a:prstGeom prst="roundRect">
              <a:avLst>
                <a:gd name="adj" fmla="val 50000"/>
              </a:avLst>
            </a:prstGeom>
            <a:solidFill>
              <a:srgbClr val="A7ABB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lvl="0" defTabSz="825500">
                <a:defRPr sz="3200"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</p:grpSp>
      <p:sp>
        <p:nvSpPr>
          <p:cNvPr id="25" name="Espace réservé du numéro de diapositive 2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280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/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" b="42"/>
          <a:stretch>
            <a:fillRect/>
          </a:stretch>
        </p:blipFill>
        <p:spPr>
          <a:xfrm>
            <a:off x="785786" y="1357298"/>
            <a:ext cx="1421516" cy="1894789"/>
          </a:xfrm>
          <a:ln>
            <a:solidFill>
              <a:srgbClr val="FF2B2A"/>
            </a:solidFill>
          </a:ln>
        </p:spPr>
      </p:pic>
      <p:pic>
        <p:nvPicPr>
          <p:cNvPr id="9" name="Picture Placeholder 8"/>
          <p:cNvPicPr>
            <a:picLocks noGrp="1" noChangeAspect="1"/>
          </p:cNvPicPr>
          <p:nvPr>
            <p:ph type="pic" sz="quarter" idx="18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" b="42"/>
          <a:stretch>
            <a:fillRect/>
          </a:stretch>
        </p:blipFill>
        <p:spPr>
          <a:xfrm>
            <a:off x="2786050" y="2786058"/>
            <a:ext cx="1421516" cy="1894789"/>
          </a:xfrm>
          <a:ln>
            <a:solidFill>
              <a:srgbClr val="85C401"/>
            </a:solidFill>
          </a:ln>
        </p:spPr>
      </p:pic>
      <p:pic>
        <p:nvPicPr>
          <p:cNvPr id="10" name="Picture Placeholder 9"/>
          <p:cNvPicPr>
            <a:picLocks noGrp="1" noChangeAspect="1"/>
          </p:cNvPicPr>
          <p:nvPr>
            <p:ph type="pic" sz="quarter" idx="2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" b="42"/>
          <a:stretch>
            <a:fillRect/>
          </a:stretch>
        </p:blipFill>
        <p:spPr>
          <a:xfrm>
            <a:off x="4572000" y="1000108"/>
            <a:ext cx="1421516" cy="1894789"/>
          </a:xfrm>
          <a:ln>
            <a:solidFill>
              <a:srgbClr val="3EB8CD"/>
            </a:solidFill>
          </a:ln>
        </p:spPr>
      </p:pic>
      <p:pic>
        <p:nvPicPr>
          <p:cNvPr id="11" name="Picture Placeholder 10"/>
          <p:cNvPicPr>
            <a:picLocks noGrp="1" noChangeAspect="1"/>
          </p:cNvPicPr>
          <p:nvPr>
            <p:ph type="pic" sz="quarter" idx="24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" b="42"/>
          <a:stretch>
            <a:fillRect/>
          </a:stretch>
        </p:blipFill>
        <p:spPr>
          <a:xfrm>
            <a:off x="7000892" y="2500306"/>
            <a:ext cx="1421516" cy="1894789"/>
          </a:xfrm>
          <a:ln>
            <a:solidFill>
              <a:srgbClr val="FFA803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57224" y="3500438"/>
            <a:ext cx="1500198" cy="110799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Répartissez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vous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 en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équipes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de 5 à 6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étudiants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32" name="Oval 31"/>
          <p:cNvSpPr/>
          <p:nvPr/>
        </p:nvSpPr>
        <p:spPr>
          <a:xfrm>
            <a:off x="1785918" y="1071546"/>
            <a:ext cx="686790" cy="915720"/>
          </a:xfrm>
          <a:prstGeom prst="ellipse">
            <a:avLst/>
          </a:prstGeom>
          <a:blipFill>
            <a:blip r:embed="rId7" cstate="print"/>
            <a:stretch>
              <a:fillRect/>
            </a:stretch>
          </a:blipFill>
          <a:ln w="190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733" dirty="0">
              <a:solidFill>
                <a:schemeClr val="accent1">
                  <a:lumMod val="75000"/>
                </a:schemeClr>
              </a:solidFill>
              <a:latin typeface="FontAwesome" pitchFamily="2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071802" y="4857760"/>
            <a:ext cx="1009445" cy="110799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Vous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disposez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de 5 minutes </a:t>
            </a:r>
          </a:p>
        </p:txBody>
      </p:sp>
      <p:sp>
        <p:nvSpPr>
          <p:cNvPr id="63" name="Oval 62"/>
          <p:cNvSpPr/>
          <p:nvPr/>
        </p:nvSpPr>
        <p:spPr>
          <a:xfrm>
            <a:off x="3357554" y="2285992"/>
            <a:ext cx="686790" cy="915720"/>
          </a:xfrm>
          <a:prstGeom prst="ellipse">
            <a:avLst/>
          </a:prstGeom>
          <a:blipFill>
            <a:blip r:embed="rId7" cstate="print"/>
            <a:stretch>
              <a:fillRect/>
            </a:stretch>
          </a:blipFill>
          <a:ln w="190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733" dirty="0">
              <a:solidFill>
                <a:schemeClr val="accent2">
                  <a:lumMod val="50000"/>
                </a:schemeClr>
              </a:solidFill>
              <a:latin typeface="FontAwesome" pitchFamily="2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500562" y="3143248"/>
            <a:ext cx="2286016" cy="110799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Organisez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les phrases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présentées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pour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avoir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un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ordre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b="1">
                <a:solidFill>
                  <a:schemeClr val="tx2">
                    <a:lumMod val="75000"/>
                  </a:schemeClr>
                </a:solidFill>
              </a:rPr>
              <a:t>logique </a:t>
            </a: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68" name="Oval 67"/>
          <p:cNvSpPr/>
          <p:nvPr/>
        </p:nvSpPr>
        <p:spPr>
          <a:xfrm>
            <a:off x="5643570" y="857232"/>
            <a:ext cx="686790" cy="915720"/>
          </a:xfrm>
          <a:prstGeom prst="ellipse">
            <a:avLst/>
          </a:prstGeom>
          <a:blipFill>
            <a:blip r:embed="rId7" cstate="print"/>
            <a:stretch>
              <a:fillRect/>
            </a:stretch>
          </a:blipFill>
          <a:ln w="190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733" dirty="0">
              <a:solidFill>
                <a:schemeClr val="accent3">
                  <a:lumMod val="75000"/>
                </a:schemeClr>
              </a:solidFill>
              <a:latin typeface="FontAwesome" pitchFamily="2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7000892" y="4429132"/>
            <a:ext cx="1773234" cy="33239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Nommez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un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rapporteur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par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équipe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pour la restitution</a:t>
            </a:r>
          </a:p>
          <a:p>
            <a:pPr algn="ctr"/>
            <a:endParaRPr lang="en-US" sz="1600" b="1" dirty="0">
              <a:solidFill>
                <a:srgbClr val="FFA803"/>
              </a:solidFill>
            </a:endParaRPr>
          </a:p>
          <a:p>
            <a:pPr algn="ctr"/>
            <a:endParaRPr lang="en-US" sz="1600" b="1" dirty="0">
              <a:solidFill>
                <a:srgbClr val="FFA803"/>
              </a:solidFill>
            </a:endParaRPr>
          </a:p>
          <a:p>
            <a:pPr algn="ctr"/>
            <a:endParaRPr lang="en-US" sz="1600" b="1" dirty="0">
              <a:solidFill>
                <a:srgbClr val="FFA803"/>
              </a:solidFill>
            </a:endParaRPr>
          </a:p>
          <a:p>
            <a:pPr algn="ctr"/>
            <a:endParaRPr lang="en-US" sz="1600" b="1" dirty="0">
              <a:solidFill>
                <a:srgbClr val="FFA803"/>
              </a:solidFill>
            </a:endParaRPr>
          </a:p>
          <a:p>
            <a:pPr algn="ctr"/>
            <a:endParaRPr lang="en-US" sz="1600" b="1" dirty="0">
              <a:solidFill>
                <a:srgbClr val="FFA803"/>
              </a:solidFill>
            </a:endParaRPr>
          </a:p>
          <a:p>
            <a:pPr algn="ctr"/>
            <a:endParaRPr lang="en-US" sz="1600" b="1" dirty="0">
              <a:solidFill>
                <a:srgbClr val="FFA803"/>
              </a:solidFill>
            </a:endParaRPr>
          </a:p>
          <a:p>
            <a:pPr algn="ctr"/>
            <a:endParaRPr lang="en-US" sz="1600" b="1" dirty="0">
              <a:solidFill>
                <a:srgbClr val="FFA803"/>
              </a:solidFill>
            </a:endParaRPr>
          </a:p>
          <a:p>
            <a:pPr algn="ctr"/>
            <a:endParaRPr lang="en-US" sz="1600" b="1" dirty="0">
              <a:solidFill>
                <a:srgbClr val="FFA803"/>
              </a:solidFill>
            </a:endParaRPr>
          </a:p>
          <a:p>
            <a:pPr algn="ctr"/>
            <a:endParaRPr lang="en-US" sz="1600" b="1" dirty="0">
              <a:solidFill>
                <a:srgbClr val="FFA803"/>
              </a:solidFill>
            </a:endParaRPr>
          </a:p>
        </p:txBody>
      </p:sp>
      <p:sp>
        <p:nvSpPr>
          <p:cNvPr id="73" name="Oval 72"/>
          <p:cNvSpPr/>
          <p:nvPr/>
        </p:nvSpPr>
        <p:spPr>
          <a:xfrm>
            <a:off x="7786710" y="2071678"/>
            <a:ext cx="686790" cy="915720"/>
          </a:xfrm>
          <a:prstGeom prst="ellipse">
            <a:avLst/>
          </a:prstGeom>
          <a:blipFill>
            <a:blip r:embed="rId7" cstate="print"/>
            <a:stretch>
              <a:fillRect/>
            </a:stretch>
          </a:blipFill>
          <a:ln w="190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0" tIns="0" rIns="0" rtlCol="0" anchor="ctr"/>
          <a:lstStyle/>
          <a:p>
            <a:pPr algn="ctr"/>
            <a:endParaRPr lang="en-US" sz="3200" dirty="0">
              <a:solidFill>
                <a:schemeClr val="accent4">
                  <a:lumMod val="75000"/>
                </a:schemeClr>
              </a:solidFill>
              <a:latin typeface="FontAwesome" pitchFamily="2" charset="0"/>
            </a:endParaRPr>
          </a:p>
        </p:txBody>
      </p:sp>
      <p:sp>
        <p:nvSpPr>
          <p:cNvPr id="28" name="TextBox 66"/>
          <p:cNvSpPr txBox="1"/>
          <p:nvPr/>
        </p:nvSpPr>
        <p:spPr>
          <a:xfrm>
            <a:off x="571472" y="0"/>
            <a:ext cx="56435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Baskerville Old Face"/>
              </a:rPr>
              <a:t>Les </a:t>
            </a:r>
            <a:r>
              <a:rPr lang="en-US" sz="3200" b="1" dirty="0" err="1">
                <a:solidFill>
                  <a:srgbClr val="FF0000"/>
                </a:solidFill>
                <a:latin typeface="Baskerville Old Face"/>
              </a:rPr>
              <a:t>régles</a:t>
            </a:r>
            <a:r>
              <a:rPr lang="en-US" sz="3200" b="1" dirty="0">
                <a:solidFill>
                  <a:srgbClr val="FF0000"/>
                </a:solidFill>
                <a:latin typeface="Baskerville Old Face"/>
              </a:rPr>
              <a:t> du </a:t>
            </a:r>
            <a:r>
              <a:rPr lang="en-US" sz="3200" b="1" dirty="0" err="1">
                <a:solidFill>
                  <a:srgbClr val="FF0000"/>
                </a:solidFill>
                <a:latin typeface="Baskerville Old Face"/>
              </a:rPr>
              <a:t>jeu</a:t>
            </a:r>
            <a:r>
              <a:rPr lang="en-US" sz="3200" b="1" dirty="0">
                <a:solidFill>
                  <a:srgbClr val="FF0000"/>
                </a:solidFill>
                <a:latin typeface="Baskerville Old Face"/>
              </a:rPr>
              <a:t> </a:t>
            </a:r>
          </a:p>
          <a:p>
            <a:pPr algn="r"/>
            <a:endParaRPr lang="en-US" dirty="0">
              <a:solidFill>
                <a:srgbClr val="56595E"/>
              </a:solidFill>
              <a:latin typeface="Candara" panose="020E0502030303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460" y="0"/>
            <a:ext cx="3682540" cy="2146032"/>
          </a:xfrm>
          <a:prstGeom prst="rect">
            <a:avLst/>
          </a:prstGeom>
        </p:spPr>
      </p:pic>
      <p:sp>
        <p:nvSpPr>
          <p:cNvPr id="17" name="Isosceles Triangle 46">
            <a:extLst>
              <a:ext uri="{FF2B5EF4-FFF2-40B4-BE49-F238E27FC236}">
                <a16:creationId xmlns:a16="http://schemas.microsoft.com/office/drawing/2014/main" id="{295CE181-88D7-4815-BC0F-BC87C9322824}"/>
              </a:ext>
            </a:extLst>
          </p:cNvPr>
          <p:cNvSpPr/>
          <p:nvPr/>
        </p:nvSpPr>
        <p:spPr>
          <a:xfrm rot="5400000">
            <a:off x="-31494" y="174346"/>
            <a:ext cx="510899" cy="447911"/>
          </a:xfrm>
          <a:prstGeom prst="triangl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1805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60" grpId="0"/>
      <p:bldP spid="63" grpId="0" animBg="1"/>
      <p:bldP spid="65" grpId="0"/>
      <p:bldP spid="68" grpId="0" animBg="1"/>
      <p:bldP spid="70" grpId="0"/>
      <p:bldP spid="73" grpId="0" animBg="1"/>
      <p:bldP spid="28" grpId="0"/>
      <p:bldP spid="1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/>
          <p:cNvSpPr/>
          <p:nvPr/>
        </p:nvSpPr>
        <p:spPr>
          <a:xfrm>
            <a:off x="0" y="2786058"/>
            <a:ext cx="6286512" cy="2928958"/>
          </a:xfrm>
          <a:prstGeom prst="rect">
            <a:avLst/>
          </a:prstGeom>
          <a:solidFill>
            <a:srgbClr val="3EB8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0" y="2857496"/>
            <a:ext cx="6215074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chemeClr val="bg1"/>
                </a:solidFill>
                <a:latin typeface="Candara" panose="020E0502030303020204" pitchFamily="34" charset="0"/>
              </a:rPr>
              <a:t>Quelle</a:t>
            </a:r>
            <a:r>
              <a:rPr lang="en-US" sz="2000" b="1" dirty="0">
                <a:solidFill>
                  <a:schemeClr val="bg1"/>
                </a:solidFill>
                <a:latin typeface="Candara" panose="020E0502030303020204" pitchFamily="3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Candara" panose="020E0502030303020204" pitchFamily="34" charset="0"/>
              </a:rPr>
              <a:t>valeur</a:t>
            </a:r>
            <a:r>
              <a:rPr lang="en-US" sz="2000" b="1" dirty="0">
                <a:solidFill>
                  <a:schemeClr val="bg1"/>
                </a:solidFill>
                <a:latin typeface="Candara" panose="020E0502030303020204" pitchFamily="3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Candara" panose="020E0502030303020204" pitchFamily="34" charset="0"/>
              </a:rPr>
              <a:t>l’entreprise</a:t>
            </a:r>
            <a:r>
              <a:rPr lang="en-US" sz="2000" b="1" dirty="0">
                <a:solidFill>
                  <a:schemeClr val="bg1"/>
                </a:solidFill>
                <a:latin typeface="Candara" panose="020E0502030303020204" pitchFamily="3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Candara" panose="020E0502030303020204" pitchFamily="34" charset="0"/>
              </a:rPr>
              <a:t>crée-elle</a:t>
            </a:r>
            <a:r>
              <a:rPr lang="en-US" sz="2000" b="1" dirty="0">
                <a:solidFill>
                  <a:schemeClr val="bg1"/>
                </a:solidFill>
                <a:latin typeface="Candara" panose="020E0502030303020204" pitchFamily="34" charset="0"/>
              </a:rPr>
              <a:t>- en </a:t>
            </a:r>
            <a:r>
              <a:rPr lang="en-US" sz="2000" b="1" dirty="0" err="1">
                <a:solidFill>
                  <a:schemeClr val="bg1"/>
                </a:solidFill>
                <a:latin typeface="Candara" panose="020E0502030303020204" pitchFamily="34" charset="0"/>
              </a:rPr>
              <a:t>produisant</a:t>
            </a:r>
            <a:r>
              <a:rPr lang="en-US" sz="2000" b="1" dirty="0">
                <a:solidFill>
                  <a:schemeClr val="bg1"/>
                </a:solidFill>
                <a:latin typeface="Candara" panose="020E0502030303020204" pitchFamily="34" charset="0"/>
              </a:rPr>
              <a:t> ?</a:t>
            </a:r>
          </a:p>
          <a:p>
            <a:endParaRPr lang="en-US" sz="2000" b="1" dirty="0">
              <a:solidFill>
                <a:schemeClr val="bg1"/>
              </a:solidFill>
              <a:latin typeface="Candara" panose="020E0502030303020204" pitchFamily="34" charset="0"/>
            </a:endParaRPr>
          </a:p>
          <a:p>
            <a:r>
              <a:rPr lang="en-US" sz="2000" b="1" dirty="0" err="1">
                <a:solidFill>
                  <a:schemeClr val="bg1"/>
                </a:solidFill>
                <a:latin typeface="Candara" panose="020E0502030303020204" pitchFamily="34" charset="0"/>
              </a:rPr>
              <a:t>Qu’est</a:t>
            </a:r>
            <a:r>
              <a:rPr lang="en-US" sz="2000" b="1" dirty="0">
                <a:solidFill>
                  <a:schemeClr val="bg1"/>
                </a:solidFill>
                <a:latin typeface="Candara" panose="020E0502030303020204" pitchFamily="3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Candara" panose="020E0502030303020204" pitchFamily="34" charset="0"/>
              </a:rPr>
              <a:t>ce</a:t>
            </a:r>
            <a:r>
              <a:rPr lang="en-US" sz="2000" b="1" dirty="0">
                <a:solidFill>
                  <a:schemeClr val="bg1"/>
                </a:solidFill>
                <a:latin typeface="Candara" panose="020E0502030303020204" pitchFamily="3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Candara" panose="020E0502030303020204" pitchFamily="34" charset="0"/>
              </a:rPr>
              <a:t>que</a:t>
            </a:r>
            <a:r>
              <a:rPr lang="en-US" sz="2000" b="1" dirty="0">
                <a:solidFill>
                  <a:schemeClr val="bg1"/>
                </a:solidFill>
                <a:latin typeface="Candara" panose="020E0502030303020204" pitchFamily="34" charset="0"/>
              </a:rPr>
              <a:t> la </a:t>
            </a:r>
            <a:r>
              <a:rPr lang="en-US" sz="2000" b="1" dirty="0" err="1">
                <a:solidFill>
                  <a:schemeClr val="bg1"/>
                </a:solidFill>
                <a:latin typeface="Candara" panose="020E0502030303020204" pitchFamily="34" charset="0"/>
              </a:rPr>
              <a:t>valeur</a:t>
            </a:r>
            <a:r>
              <a:rPr lang="en-US" sz="2000" b="1" dirty="0">
                <a:solidFill>
                  <a:schemeClr val="bg1"/>
                </a:solidFill>
                <a:latin typeface="Candara" panose="020E0502030303020204" pitchFamily="3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Candara" panose="020E0502030303020204" pitchFamily="34" charset="0"/>
              </a:rPr>
              <a:t>ajoutée</a:t>
            </a:r>
            <a:r>
              <a:rPr lang="en-US" sz="2000" b="1" dirty="0">
                <a:solidFill>
                  <a:schemeClr val="bg1"/>
                </a:solidFill>
                <a:latin typeface="Candara" panose="020E0502030303020204" pitchFamily="34" charset="0"/>
              </a:rPr>
              <a:t> ? </a:t>
            </a:r>
          </a:p>
          <a:p>
            <a:endParaRPr lang="en-US" sz="2000" b="1" dirty="0">
              <a:solidFill>
                <a:schemeClr val="bg1"/>
              </a:solidFill>
              <a:latin typeface="Candara" panose="020E0502030303020204" pitchFamily="34" charset="0"/>
            </a:endParaRPr>
          </a:p>
          <a:p>
            <a:r>
              <a:rPr lang="en-US" sz="2000" b="1" dirty="0">
                <a:solidFill>
                  <a:schemeClr val="bg1"/>
                </a:solidFill>
                <a:latin typeface="Candara" panose="020E0502030303020204" pitchFamily="34" charset="0"/>
              </a:rPr>
              <a:t>Comment la </a:t>
            </a:r>
            <a:r>
              <a:rPr lang="en-US" sz="2000" b="1" dirty="0" err="1">
                <a:solidFill>
                  <a:schemeClr val="bg1"/>
                </a:solidFill>
                <a:latin typeface="Candara" panose="020E0502030303020204" pitchFamily="34" charset="0"/>
              </a:rPr>
              <a:t>valeur</a:t>
            </a:r>
            <a:r>
              <a:rPr lang="en-US" sz="2000" b="1" dirty="0">
                <a:solidFill>
                  <a:schemeClr val="bg1"/>
                </a:solidFill>
                <a:latin typeface="Candara" panose="020E0502030303020204" pitchFamily="3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Candara" panose="020E0502030303020204" pitchFamily="34" charset="0"/>
              </a:rPr>
              <a:t>ajoutée</a:t>
            </a:r>
            <a:r>
              <a:rPr lang="en-US" sz="2000" b="1" dirty="0">
                <a:solidFill>
                  <a:schemeClr val="bg1"/>
                </a:solidFill>
                <a:latin typeface="Candara" panose="020E0502030303020204" pitchFamily="3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Candara" panose="020E0502030303020204" pitchFamily="34" charset="0"/>
              </a:rPr>
              <a:t>est-elle</a:t>
            </a:r>
            <a:r>
              <a:rPr lang="en-US" sz="2000" b="1" dirty="0">
                <a:solidFill>
                  <a:schemeClr val="bg1"/>
                </a:solidFill>
                <a:latin typeface="Candara" panose="020E0502030303020204" pitchFamily="3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Candara" panose="020E0502030303020204" pitchFamily="34" charset="0"/>
              </a:rPr>
              <a:t>répartie</a:t>
            </a:r>
            <a:r>
              <a:rPr lang="en-US" sz="2000" b="1" dirty="0">
                <a:solidFill>
                  <a:schemeClr val="bg1"/>
                </a:solidFill>
                <a:latin typeface="Candara" panose="020E0502030303020204" pitchFamily="34" charset="0"/>
              </a:rPr>
              <a:t> par </a:t>
            </a:r>
            <a:r>
              <a:rPr lang="en-US" sz="2000" b="1" dirty="0" err="1">
                <a:solidFill>
                  <a:schemeClr val="bg1"/>
                </a:solidFill>
                <a:latin typeface="Candara" panose="020E0502030303020204" pitchFamily="34" charset="0"/>
              </a:rPr>
              <a:t>l’entreprise</a:t>
            </a:r>
            <a:r>
              <a:rPr lang="en-US" sz="2000" b="1" dirty="0">
                <a:solidFill>
                  <a:schemeClr val="bg1"/>
                </a:solidFill>
                <a:latin typeface="Candara" panose="020E0502030303020204" pitchFamily="34" charset="0"/>
              </a:rPr>
              <a:t>? , </a:t>
            </a:r>
            <a:r>
              <a:rPr lang="en-US" sz="2000" b="1" dirty="0" err="1">
                <a:solidFill>
                  <a:schemeClr val="bg1"/>
                </a:solidFill>
                <a:latin typeface="Candara" panose="020E0502030303020204" pitchFamily="34" charset="0"/>
              </a:rPr>
              <a:t>quels</a:t>
            </a:r>
            <a:r>
              <a:rPr lang="en-US" sz="2000" b="1" dirty="0">
                <a:solidFill>
                  <a:schemeClr val="bg1"/>
                </a:solidFill>
                <a:latin typeface="Candara" panose="020E0502030303020204" pitchFamily="3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Candara" panose="020E0502030303020204" pitchFamily="34" charset="0"/>
              </a:rPr>
              <a:t>sont</a:t>
            </a:r>
            <a:r>
              <a:rPr lang="en-US" sz="2000" b="1" dirty="0">
                <a:solidFill>
                  <a:schemeClr val="bg1"/>
                </a:solidFill>
                <a:latin typeface="Candara" panose="020E0502030303020204" pitchFamily="34" charset="0"/>
              </a:rPr>
              <a:t> les </a:t>
            </a:r>
            <a:r>
              <a:rPr lang="en-US" sz="2000" b="1" dirty="0" err="1">
                <a:solidFill>
                  <a:schemeClr val="bg1"/>
                </a:solidFill>
                <a:latin typeface="Candara" panose="020E0502030303020204" pitchFamily="34" charset="0"/>
              </a:rPr>
              <a:t>bénéficiaires</a:t>
            </a:r>
            <a:r>
              <a:rPr lang="en-US" sz="2000" b="1" dirty="0">
                <a:solidFill>
                  <a:schemeClr val="bg1"/>
                </a:solidFill>
                <a:latin typeface="Candara" panose="020E0502030303020204" pitchFamily="34" charset="0"/>
              </a:rPr>
              <a:t> ? </a:t>
            </a:r>
          </a:p>
          <a:p>
            <a:endParaRPr lang="en-US" sz="2000" b="1" dirty="0">
              <a:solidFill>
                <a:schemeClr val="bg1"/>
              </a:solidFill>
              <a:latin typeface="Candara" panose="020E0502030303020204" pitchFamily="34" charset="0"/>
            </a:endParaRPr>
          </a:p>
          <a:p>
            <a:r>
              <a:rPr lang="en-US" sz="2000" b="1" dirty="0" err="1">
                <a:solidFill>
                  <a:schemeClr val="bg1"/>
                </a:solidFill>
                <a:latin typeface="Candara" panose="020E0502030303020204" pitchFamily="34" charset="0"/>
              </a:rPr>
              <a:t>Pourquoi</a:t>
            </a:r>
            <a:r>
              <a:rPr lang="en-US" sz="2000" b="1" dirty="0">
                <a:solidFill>
                  <a:schemeClr val="bg1"/>
                </a:solidFill>
                <a:latin typeface="Candara" panose="020E0502030303020204" pitchFamily="34" charset="0"/>
              </a:rPr>
              <a:t>  </a:t>
            </a:r>
            <a:r>
              <a:rPr lang="en-US" sz="2000" b="1" dirty="0" err="1">
                <a:solidFill>
                  <a:schemeClr val="bg1"/>
                </a:solidFill>
                <a:latin typeface="Candara" panose="020E0502030303020204" pitchFamily="34" charset="0"/>
              </a:rPr>
              <a:t>perçoivent</a:t>
            </a:r>
            <a:r>
              <a:rPr lang="en-US" sz="2000" b="1" dirty="0">
                <a:solidFill>
                  <a:schemeClr val="bg1"/>
                </a:solidFill>
                <a:latin typeface="Candara" panose="020E0502030303020204" pitchFamily="34" charset="0"/>
              </a:rPr>
              <a:t> –</a:t>
            </a:r>
            <a:r>
              <a:rPr lang="en-US" sz="2000" b="1" dirty="0" err="1">
                <a:solidFill>
                  <a:schemeClr val="bg1"/>
                </a:solidFill>
                <a:latin typeface="Candara" panose="020E0502030303020204" pitchFamily="34" charset="0"/>
              </a:rPr>
              <a:t>ils</a:t>
            </a:r>
            <a:r>
              <a:rPr lang="en-US" sz="2000" b="1" dirty="0">
                <a:solidFill>
                  <a:schemeClr val="bg1"/>
                </a:solidFill>
                <a:latin typeface="Candara" panose="020E0502030303020204" pitchFamily="3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Candara" panose="020E0502030303020204" pitchFamily="34" charset="0"/>
              </a:rPr>
              <a:t>une</a:t>
            </a:r>
            <a:r>
              <a:rPr lang="en-US" sz="2000" b="1" dirty="0">
                <a:solidFill>
                  <a:schemeClr val="bg1"/>
                </a:solidFill>
                <a:latin typeface="Candara" panose="020E0502030303020204" pitchFamily="34" charset="0"/>
              </a:rPr>
              <a:t> part de la </a:t>
            </a:r>
            <a:r>
              <a:rPr lang="en-US" sz="2000" b="1" dirty="0" err="1">
                <a:solidFill>
                  <a:schemeClr val="bg1"/>
                </a:solidFill>
                <a:latin typeface="Candara" panose="020E0502030303020204" pitchFamily="34" charset="0"/>
              </a:rPr>
              <a:t>valeur</a:t>
            </a:r>
            <a:r>
              <a:rPr lang="en-US" sz="2000" b="1" dirty="0">
                <a:solidFill>
                  <a:schemeClr val="bg1"/>
                </a:solidFill>
                <a:latin typeface="Candara" panose="020E0502030303020204" pitchFamily="3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Candara" panose="020E0502030303020204" pitchFamily="34" charset="0"/>
              </a:rPr>
              <a:t>ajoutée</a:t>
            </a:r>
            <a:r>
              <a:rPr lang="en-US" sz="2000" b="1" dirty="0">
                <a:solidFill>
                  <a:schemeClr val="bg1"/>
                </a:solidFill>
                <a:latin typeface="Candara" panose="020E0502030303020204" pitchFamily="34" charset="0"/>
              </a:rPr>
              <a:t>? </a:t>
            </a:r>
          </a:p>
          <a:p>
            <a:r>
              <a:rPr lang="en-US" sz="2000" b="1" dirty="0">
                <a:solidFill>
                  <a:schemeClr val="bg1"/>
                </a:solidFill>
                <a:latin typeface="Candara" panose="020E0502030303020204" pitchFamily="34" charset="0"/>
              </a:rPr>
              <a:t> </a:t>
            </a:r>
          </a:p>
          <a:p>
            <a:endParaRPr lang="en-US" sz="8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286512" y="2786058"/>
            <a:ext cx="2571750" cy="29289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  <a:ln w="6350">
            <a:solidFill>
              <a:schemeClr val="bg1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2000" y="6793753"/>
            <a:ext cx="274320" cy="98854"/>
          </a:xfrm>
          <a:prstGeom prst="rect">
            <a:avLst/>
          </a:prstGeom>
          <a:noFill/>
          <a:effectLst>
            <a:glow rad="63500">
              <a:schemeClr val="bg1">
                <a:alpha val="45000"/>
              </a:schemeClr>
            </a:glow>
          </a:effectLst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460" y="0"/>
            <a:ext cx="3682540" cy="214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123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/>
      <p:bldP spid="3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47BAB3-CBE9-48B3-B166-24E7C5A1B070}" type="slidenum">
              <a:rPr lang="fr-BE" smtClean="0"/>
              <a:pPr>
                <a:defRPr/>
              </a:pPr>
              <a:t>22</a:t>
            </a:fld>
            <a:endParaRPr lang="fr-BE" dirty="0"/>
          </a:p>
        </p:txBody>
      </p:sp>
      <p:pic>
        <p:nvPicPr>
          <p:cNvPr id="67586" name="Picture 2" descr="Founa, supermarché en ligne tunisie, courses en ligne, livraison à domicile  | Yaourt Délice Danone nature | Alimentation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00232" y="1428736"/>
            <a:ext cx="4876800" cy="4229101"/>
          </a:xfrm>
          <a:prstGeom prst="rect">
            <a:avLst/>
          </a:prstGeom>
          <a:noFill/>
        </p:spPr>
      </p:pic>
      <p:cxnSp>
        <p:nvCxnSpPr>
          <p:cNvPr id="6" name="Straight Connector 21"/>
          <p:cNvCxnSpPr/>
          <p:nvPr/>
        </p:nvCxnSpPr>
        <p:spPr>
          <a:xfrm>
            <a:off x="1071538" y="928670"/>
            <a:ext cx="6858000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ZoneTexte 6"/>
          <p:cNvSpPr txBox="1"/>
          <p:nvPr/>
        </p:nvSpPr>
        <p:spPr>
          <a:xfrm>
            <a:off x="3500430" y="500042"/>
            <a:ext cx="1959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b="1" dirty="0">
                <a:solidFill>
                  <a:srgbClr val="002060"/>
                </a:solidFill>
                <a:latin typeface="Candara" pitchFamily="34" charset="0"/>
              </a:rPr>
              <a:t>Chiffre d’affaires </a:t>
            </a:r>
          </a:p>
        </p:txBody>
      </p:sp>
      <p:cxnSp>
        <p:nvCxnSpPr>
          <p:cNvPr id="8" name="Straight Connector 21"/>
          <p:cNvCxnSpPr/>
          <p:nvPr/>
        </p:nvCxnSpPr>
        <p:spPr>
          <a:xfrm>
            <a:off x="4357686" y="5857892"/>
            <a:ext cx="3438500" cy="9524"/>
          </a:xfrm>
          <a:prstGeom prst="line">
            <a:avLst/>
          </a:prstGeom>
          <a:ln>
            <a:headEnd type="oval"/>
            <a:tailEnd type="oval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0" name="Straight Connector 21"/>
          <p:cNvCxnSpPr/>
          <p:nvPr/>
        </p:nvCxnSpPr>
        <p:spPr>
          <a:xfrm>
            <a:off x="1142976" y="5857892"/>
            <a:ext cx="3000396" cy="1588"/>
          </a:xfrm>
          <a:prstGeom prst="line">
            <a:avLst/>
          </a:prstGeom>
          <a:ln>
            <a:headEnd type="oval"/>
            <a:tailEnd type="oval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500034" y="6143644"/>
            <a:ext cx="3714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002060"/>
                </a:solidFill>
                <a:latin typeface="Candara" pitchFamily="34" charset="0"/>
              </a:rPr>
              <a:t>Consommations intermédiaires 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786314" y="6143644"/>
            <a:ext cx="235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002060"/>
                </a:solidFill>
                <a:latin typeface="Candara" pitchFamily="34" charset="0"/>
              </a:rPr>
              <a:t>Valeur ajoutée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5" grpId="0"/>
      <p:bldP spid="1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 bwMode="auto">
          <a:xfrm>
            <a:off x="0" y="1371600"/>
            <a:ext cx="9144000" cy="5208588"/>
          </a:xfrm>
          <a:prstGeom prst="rect">
            <a:avLst/>
          </a:prstGeom>
          <a:noFill/>
          <a:ln w="6350">
            <a:noFill/>
            <a:round/>
            <a:headEnd/>
            <a:tailEnd/>
          </a:ln>
        </p:spPr>
        <p:txBody>
          <a:bodyPr wrap="none" lIns="121920" tIns="60960" rIns="121920" bIns="60960" anchor="ctr" anchorCtr="1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12" name="Freeform 5"/>
          <p:cNvSpPr>
            <a:spLocks/>
          </p:cNvSpPr>
          <p:nvPr/>
        </p:nvSpPr>
        <p:spPr bwMode="auto">
          <a:xfrm rot="16200000">
            <a:off x="2669382" y="1526381"/>
            <a:ext cx="3429000" cy="4948237"/>
          </a:xfrm>
          <a:custGeom>
            <a:avLst/>
            <a:gdLst>
              <a:gd name="T0" fmla="*/ 0 w 1594"/>
              <a:gd name="T1" fmla="*/ 3017 h 3017"/>
              <a:gd name="T2" fmla="*/ 1594 w 1594"/>
              <a:gd name="T3" fmla="*/ 1509 h 3017"/>
              <a:gd name="T4" fmla="*/ 0 w 1594"/>
              <a:gd name="T5" fmla="*/ 0 h 30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94" h="3017">
                <a:moveTo>
                  <a:pt x="0" y="3017"/>
                </a:moveTo>
                <a:cubicBezTo>
                  <a:pt x="880" y="3017"/>
                  <a:pt x="1594" y="2342"/>
                  <a:pt x="1594" y="1509"/>
                </a:cubicBezTo>
                <a:cubicBezTo>
                  <a:pt x="1594" y="676"/>
                  <a:pt x="880" y="0"/>
                  <a:pt x="0" y="0"/>
                </a:cubicBezTo>
              </a:path>
            </a:pathLst>
          </a:custGeom>
          <a:noFill/>
          <a:ln w="57150" cap="flat">
            <a:solidFill>
              <a:schemeClr val="bg1">
                <a:lumMod val="75000"/>
              </a:schemeClr>
            </a:solidFill>
            <a:prstDash val="solid"/>
            <a:miter lim="800000"/>
            <a:headEnd/>
            <a:tailEnd/>
          </a:ln>
        </p:spPr>
        <p:txBody>
          <a:bodyPr lIns="121920" tIns="60960" rIns="121920" bIns="60960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schemeClr val="bg1"/>
              </a:solidFill>
              <a:latin typeface="+mn-lt"/>
              <a:cs typeface="+mn-cs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4191000" y="2057400"/>
            <a:ext cx="303213" cy="406400"/>
          </a:xfrm>
          <a:prstGeom prst="ellipse">
            <a:avLst/>
          </a:prstGeom>
          <a:solidFill>
            <a:schemeClr val="bg1"/>
          </a:solidFill>
          <a:ln w="76200">
            <a:solidFill>
              <a:srgbClr val="A5A5A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1733">
              <a:solidFill>
                <a:schemeClr val="bg1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6248400" y="3429000"/>
            <a:ext cx="303213" cy="406400"/>
          </a:xfrm>
          <a:prstGeom prst="ellipse">
            <a:avLst/>
          </a:prstGeom>
          <a:solidFill>
            <a:schemeClr val="bg1"/>
          </a:solidFill>
          <a:ln w="76200"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1733">
              <a:solidFill>
                <a:schemeClr val="bg1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1757363" y="5045075"/>
            <a:ext cx="303212" cy="406400"/>
          </a:xfrm>
          <a:prstGeom prst="ellipse">
            <a:avLst/>
          </a:prstGeom>
          <a:solidFill>
            <a:schemeClr val="bg1"/>
          </a:solidFill>
          <a:ln w="76200">
            <a:solidFill>
              <a:srgbClr val="00B0F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1733">
              <a:solidFill>
                <a:schemeClr val="bg1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6705600" y="5410200"/>
            <a:ext cx="303213" cy="406400"/>
          </a:xfrm>
          <a:prstGeom prst="ellipse">
            <a:avLst/>
          </a:prstGeom>
          <a:solidFill>
            <a:schemeClr val="bg1"/>
          </a:solidFill>
          <a:ln w="76200">
            <a:solidFill>
              <a:srgbClr val="2F569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1733">
              <a:solidFill>
                <a:schemeClr val="bg1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2514600" y="2971800"/>
            <a:ext cx="303213" cy="406400"/>
          </a:xfrm>
          <a:prstGeom prst="ellipse">
            <a:avLst/>
          </a:prstGeom>
          <a:solidFill>
            <a:schemeClr val="bg1"/>
          </a:solidFill>
          <a:ln w="76200">
            <a:solidFill>
              <a:srgbClr val="ED7D3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1733">
              <a:solidFill>
                <a:schemeClr val="bg1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3276600" y="3276600"/>
            <a:ext cx="1982788" cy="2659063"/>
          </a:xfrm>
          <a:prstGeom prst="ellipse">
            <a:avLst/>
          </a:prstGeom>
          <a:blipFill>
            <a:blip r:embed="rId2" cstate="print"/>
            <a:stretch>
              <a:fillRect/>
            </a:stretch>
          </a:blip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1733">
              <a:solidFill>
                <a:schemeClr val="bg1"/>
              </a:solidFill>
            </a:endParaRPr>
          </a:p>
        </p:txBody>
      </p:sp>
      <p:sp>
        <p:nvSpPr>
          <p:cNvPr id="24" name="Freeform 5"/>
          <p:cNvSpPr>
            <a:spLocks/>
          </p:cNvSpPr>
          <p:nvPr/>
        </p:nvSpPr>
        <p:spPr bwMode="auto">
          <a:xfrm>
            <a:off x="7162800" y="2819400"/>
            <a:ext cx="882650" cy="800100"/>
          </a:xfrm>
          <a:custGeom>
            <a:avLst/>
            <a:gdLst>
              <a:gd name="T0" fmla="*/ 1728 w 2004"/>
              <a:gd name="T1" fmla="*/ 592 h 1362"/>
              <a:gd name="T2" fmla="*/ 1744 w 2004"/>
              <a:gd name="T3" fmla="*/ 472 h 1362"/>
              <a:gd name="T4" fmla="*/ 1271 w 2004"/>
              <a:gd name="T5" fmla="*/ 0 h 1362"/>
              <a:gd name="T6" fmla="*/ 929 w 2004"/>
              <a:gd name="T7" fmla="*/ 230 h 1362"/>
              <a:gd name="T8" fmla="*/ 579 w 2004"/>
              <a:gd name="T9" fmla="*/ 100 h 1362"/>
              <a:gd name="T10" fmla="*/ 246 w 2004"/>
              <a:gd name="T11" fmla="*/ 506 h 1362"/>
              <a:gd name="T12" fmla="*/ 258 w 2004"/>
              <a:gd name="T13" fmla="*/ 598 h 1362"/>
              <a:gd name="T14" fmla="*/ 0 w 2004"/>
              <a:gd name="T15" fmla="*/ 968 h 1362"/>
              <a:gd name="T16" fmla="*/ 394 w 2004"/>
              <a:gd name="T17" fmla="*/ 1362 h 1362"/>
              <a:gd name="T18" fmla="*/ 1609 w 2004"/>
              <a:gd name="T19" fmla="*/ 1362 h 1362"/>
              <a:gd name="T20" fmla="*/ 2004 w 2004"/>
              <a:gd name="T21" fmla="*/ 968 h 1362"/>
              <a:gd name="T22" fmla="*/ 1728 w 2004"/>
              <a:gd name="T23" fmla="*/ 592 h 13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004" h="1362">
                <a:moveTo>
                  <a:pt x="1728" y="592"/>
                </a:moveTo>
                <a:cubicBezTo>
                  <a:pt x="1738" y="553"/>
                  <a:pt x="1744" y="513"/>
                  <a:pt x="1744" y="472"/>
                </a:cubicBezTo>
                <a:cubicBezTo>
                  <a:pt x="1744" y="211"/>
                  <a:pt x="1532" y="0"/>
                  <a:pt x="1271" y="0"/>
                </a:cubicBezTo>
                <a:cubicBezTo>
                  <a:pt x="969" y="0"/>
                  <a:pt x="929" y="230"/>
                  <a:pt x="929" y="230"/>
                </a:cubicBezTo>
                <a:cubicBezTo>
                  <a:pt x="929" y="230"/>
                  <a:pt x="802" y="73"/>
                  <a:pt x="579" y="100"/>
                </a:cubicBezTo>
                <a:cubicBezTo>
                  <a:pt x="377" y="140"/>
                  <a:pt x="246" y="321"/>
                  <a:pt x="246" y="506"/>
                </a:cubicBezTo>
                <a:cubicBezTo>
                  <a:pt x="246" y="538"/>
                  <a:pt x="250" y="568"/>
                  <a:pt x="258" y="598"/>
                </a:cubicBezTo>
                <a:cubicBezTo>
                  <a:pt x="108" y="653"/>
                  <a:pt x="0" y="798"/>
                  <a:pt x="0" y="968"/>
                </a:cubicBezTo>
                <a:cubicBezTo>
                  <a:pt x="0" y="1185"/>
                  <a:pt x="177" y="1362"/>
                  <a:pt x="394" y="1362"/>
                </a:cubicBezTo>
                <a:cubicBezTo>
                  <a:pt x="1609" y="1362"/>
                  <a:pt x="1609" y="1362"/>
                  <a:pt x="1609" y="1362"/>
                </a:cubicBezTo>
                <a:cubicBezTo>
                  <a:pt x="1827" y="1362"/>
                  <a:pt x="2004" y="1185"/>
                  <a:pt x="2004" y="968"/>
                </a:cubicBezTo>
                <a:cubicBezTo>
                  <a:pt x="2004" y="791"/>
                  <a:pt x="1888" y="642"/>
                  <a:pt x="1728" y="592"/>
                </a:cubicBezTo>
                <a:close/>
              </a:path>
            </a:pathLst>
          </a:custGeom>
          <a:blipFill>
            <a:blip r:embed="rId3" cstate="print"/>
            <a:stretch>
              <a:fillRect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21920" tIns="60960" rIns="121920" bIns="60960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5" name="Freeform 5"/>
          <p:cNvSpPr>
            <a:spLocks/>
          </p:cNvSpPr>
          <p:nvPr/>
        </p:nvSpPr>
        <p:spPr bwMode="auto">
          <a:xfrm>
            <a:off x="7543800" y="4800600"/>
            <a:ext cx="882650" cy="800100"/>
          </a:xfrm>
          <a:custGeom>
            <a:avLst/>
            <a:gdLst>
              <a:gd name="T0" fmla="*/ 1728 w 2004"/>
              <a:gd name="T1" fmla="*/ 592 h 1362"/>
              <a:gd name="T2" fmla="*/ 1744 w 2004"/>
              <a:gd name="T3" fmla="*/ 472 h 1362"/>
              <a:gd name="T4" fmla="*/ 1271 w 2004"/>
              <a:gd name="T5" fmla="*/ 0 h 1362"/>
              <a:gd name="T6" fmla="*/ 929 w 2004"/>
              <a:gd name="T7" fmla="*/ 230 h 1362"/>
              <a:gd name="T8" fmla="*/ 579 w 2004"/>
              <a:gd name="T9" fmla="*/ 100 h 1362"/>
              <a:gd name="T10" fmla="*/ 246 w 2004"/>
              <a:gd name="T11" fmla="*/ 506 h 1362"/>
              <a:gd name="T12" fmla="*/ 258 w 2004"/>
              <a:gd name="T13" fmla="*/ 598 h 1362"/>
              <a:gd name="T14" fmla="*/ 0 w 2004"/>
              <a:gd name="T15" fmla="*/ 968 h 1362"/>
              <a:gd name="T16" fmla="*/ 394 w 2004"/>
              <a:gd name="T17" fmla="*/ 1362 h 1362"/>
              <a:gd name="T18" fmla="*/ 1609 w 2004"/>
              <a:gd name="T19" fmla="*/ 1362 h 1362"/>
              <a:gd name="T20" fmla="*/ 2004 w 2004"/>
              <a:gd name="T21" fmla="*/ 968 h 1362"/>
              <a:gd name="T22" fmla="*/ 1728 w 2004"/>
              <a:gd name="T23" fmla="*/ 592 h 13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004" h="1362">
                <a:moveTo>
                  <a:pt x="1728" y="592"/>
                </a:moveTo>
                <a:cubicBezTo>
                  <a:pt x="1738" y="553"/>
                  <a:pt x="1744" y="513"/>
                  <a:pt x="1744" y="472"/>
                </a:cubicBezTo>
                <a:cubicBezTo>
                  <a:pt x="1744" y="211"/>
                  <a:pt x="1532" y="0"/>
                  <a:pt x="1271" y="0"/>
                </a:cubicBezTo>
                <a:cubicBezTo>
                  <a:pt x="969" y="0"/>
                  <a:pt x="929" y="230"/>
                  <a:pt x="929" y="230"/>
                </a:cubicBezTo>
                <a:cubicBezTo>
                  <a:pt x="929" y="230"/>
                  <a:pt x="802" y="73"/>
                  <a:pt x="579" y="100"/>
                </a:cubicBezTo>
                <a:cubicBezTo>
                  <a:pt x="377" y="140"/>
                  <a:pt x="246" y="321"/>
                  <a:pt x="246" y="506"/>
                </a:cubicBezTo>
                <a:cubicBezTo>
                  <a:pt x="246" y="538"/>
                  <a:pt x="250" y="568"/>
                  <a:pt x="258" y="598"/>
                </a:cubicBezTo>
                <a:cubicBezTo>
                  <a:pt x="108" y="653"/>
                  <a:pt x="0" y="798"/>
                  <a:pt x="0" y="968"/>
                </a:cubicBezTo>
                <a:cubicBezTo>
                  <a:pt x="0" y="1185"/>
                  <a:pt x="177" y="1362"/>
                  <a:pt x="394" y="1362"/>
                </a:cubicBezTo>
                <a:cubicBezTo>
                  <a:pt x="1609" y="1362"/>
                  <a:pt x="1609" y="1362"/>
                  <a:pt x="1609" y="1362"/>
                </a:cubicBezTo>
                <a:cubicBezTo>
                  <a:pt x="1827" y="1362"/>
                  <a:pt x="2004" y="1185"/>
                  <a:pt x="2004" y="968"/>
                </a:cubicBezTo>
                <a:cubicBezTo>
                  <a:pt x="2004" y="791"/>
                  <a:pt x="1888" y="642"/>
                  <a:pt x="1728" y="592"/>
                </a:cubicBezTo>
                <a:close/>
              </a:path>
            </a:pathLst>
          </a:custGeom>
          <a:blipFill>
            <a:blip r:embed="rId4" cstate="print"/>
            <a:stretch>
              <a:fillRect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21920" tIns="60960" rIns="121920" bIns="60960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" name="Freeform 5"/>
          <p:cNvSpPr>
            <a:spLocks/>
          </p:cNvSpPr>
          <p:nvPr/>
        </p:nvSpPr>
        <p:spPr bwMode="auto">
          <a:xfrm>
            <a:off x="3810000" y="609600"/>
            <a:ext cx="882650" cy="800100"/>
          </a:xfrm>
          <a:custGeom>
            <a:avLst/>
            <a:gdLst>
              <a:gd name="T0" fmla="*/ 1728 w 2004"/>
              <a:gd name="T1" fmla="*/ 592 h 1362"/>
              <a:gd name="T2" fmla="*/ 1744 w 2004"/>
              <a:gd name="T3" fmla="*/ 472 h 1362"/>
              <a:gd name="T4" fmla="*/ 1271 w 2004"/>
              <a:gd name="T5" fmla="*/ 0 h 1362"/>
              <a:gd name="T6" fmla="*/ 929 w 2004"/>
              <a:gd name="T7" fmla="*/ 230 h 1362"/>
              <a:gd name="T8" fmla="*/ 579 w 2004"/>
              <a:gd name="T9" fmla="*/ 100 h 1362"/>
              <a:gd name="T10" fmla="*/ 246 w 2004"/>
              <a:gd name="T11" fmla="*/ 506 h 1362"/>
              <a:gd name="T12" fmla="*/ 258 w 2004"/>
              <a:gd name="T13" fmla="*/ 598 h 1362"/>
              <a:gd name="T14" fmla="*/ 0 w 2004"/>
              <a:gd name="T15" fmla="*/ 968 h 1362"/>
              <a:gd name="T16" fmla="*/ 394 w 2004"/>
              <a:gd name="T17" fmla="*/ 1362 h 1362"/>
              <a:gd name="T18" fmla="*/ 1609 w 2004"/>
              <a:gd name="T19" fmla="*/ 1362 h 1362"/>
              <a:gd name="T20" fmla="*/ 2004 w 2004"/>
              <a:gd name="T21" fmla="*/ 968 h 1362"/>
              <a:gd name="T22" fmla="*/ 1728 w 2004"/>
              <a:gd name="T23" fmla="*/ 592 h 13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004" h="1362">
                <a:moveTo>
                  <a:pt x="1728" y="592"/>
                </a:moveTo>
                <a:cubicBezTo>
                  <a:pt x="1738" y="553"/>
                  <a:pt x="1744" y="513"/>
                  <a:pt x="1744" y="472"/>
                </a:cubicBezTo>
                <a:cubicBezTo>
                  <a:pt x="1744" y="211"/>
                  <a:pt x="1532" y="0"/>
                  <a:pt x="1271" y="0"/>
                </a:cubicBezTo>
                <a:cubicBezTo>
                  <a:pt x="969" y="0"/>
                  <a:pt x="929" y="230"/>
                  <a:pt x="929" y="230"/>
                </a:cubicBezTo>
                <a:cubicBezTo>
                  <a:pt x="929" y="230"/>
                  <a:pt x="802" y="73"/>
                  <a:pt x="579" y="100"/>
                </a:cubicBezTo>
                <a:cubicBezTo>
                  <a:pt x="377" y="140"/>
                  <a:pt x="246" y="321"/>
                  <a:pt x="246" y="506"/>
                </a:cubicBezTo>
                <a:cubicBezTo>
                  <a:pt x="246" y="538"/>
                  <a:pt x="250" y="568"/>
                  <a:pt x="258" y="598"/>
                </a:cubicBezTo>
                <a:cubicBezTo>
                  <a:pt x="108" y="653"/>
                  <a:pt x="0" y="798"/>
                  <a:pt x="0" y="968"/>
                </a:cubicBezTo>
                <a:cubicBezTo>
                  <a:pt x="0" y="1185"/>
                  <a:pt x="177" y="1362"/>
                  <a:pt x="394" y="1362"/>
                </a:cubicBezTo>
                <a:cubicBezTo>
                  <a:pt x="1609" y="1362"/>
                  <a:pt x="1609" y="1362"/>
                  <a:pt x="1609" y="1362"/>
                </a:cubicBezTo>
                <a:cubicBezTo>
                  <a:pt x="1827" y="1362"/>
                  <a:pt x="2004" y="1185"/>
                  <a:pt x="2004" y="968"/>
                </a:cubicBezTo>
                <a:cubicBezTo>
                  <a:pt x="2004" y="791"/>
                  <a:pt x="1888" y="642"/>
                  <a:pt x="1728" y="592"/>
                </a:cubicBezTo>
                <a:close/>
              </a:path>
            </a:pathLst>
          </a:custGeom>
          <a:blipFill>
            <a:blip r:embed="rId5" cstate="print"/>
            <a:stretch>
              <a:fillRect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21920" tIns="60960" rIns="121920" bIns="60960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3" name="Freeform 5"/>
          <p:cNvSpPr>
            <a:spLocks/>
          </p:cNvSpPr>
          <p:nvPr/>
        </p:nvSpPr>
        <p:spPr bwMode="auto">
          <a:xfrm>
            <a:off x="677863" y="4802188"/>
            <a:ext cx="882650" cy="800100"/>
          </a:xfrm>
          <a:custGeom>
            <a:avLst/>
            <a:gdLst>
              <a:gd name="T0" fmla="*/ 1728 w 2004"/>
              <a:gd name="T1" fmla="*/ 592 h 1362"/>
              <a:gd name="T2" fmla="*/ 1744 w 2004"/>
              <a:gd name="T3" fmla="*/ 472 h 1362"/>
              <a:gd name="T4" fmla="*/ 1271 w 2004"/>
              <a:gd name="T5" fmla="*/ 0 h 1362"/>
              <a:gd name="T6" fmla="*/ 929 w 2004"/>
              <a:gd name="T7" fmla="*/ 230 h 1362"/>
              <a:gd name="T8" fmla="*/ 579 w 2004"/>
              <a:gd name="T9" fmla="*/ 100 h 1362"/>
              <a:gd name="T10" fmla="*/ 246 w 2004"/>
              <a:gd name="T11" fmla="*/ 506 h 1362"/>
              <a:gd name="T12" fmla="*/ 258 w 2004"/>
              <a:gd name="T13" fmla="*/ 598 h 1362"/>
              <a:gd name="T14" fmla="*/ 0 w 2004"/>
              <a:gd name="T15" fmla="*/ 968 h 1362"/>
              <a:gd name="T16" fmla="*/ 394 w 2004"/>
              <a:gd name="T17" fmla="*/ 1362 h 1362"/>
              <a:gd name="T18" fmla="*/ 1609 w 2004"/>
              <a:gd name="T19" fmla="*/ 1362 h 1362"/>
              <a:gd name="T20" fmla="*/ 2004 w 2004"/>
              <a:gd name="T21" fmla="*/ 968 h 1362"/>
              <a:gd name="T22" fmla="*/ 1728 w 2004"/>
              <a:gd name="T23" fmla="*/ 592 h 13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004" h="1362">
                <a:moveTo>
                  <a:pt x="1728" y="592"/>
                </a:moveTo>
                <a:cubicBezTo>
                  <a:pt x="1738" y="553"/>
                  <a:pt x="1744" y="513"/>
                  <a:pt x="1744" y="472"/>
                </a:cubicBezTo>
                <a:cubicBezTo>
                  <a:pt x="1744" y="211"/>
                  <a:pt x="1532" y="0"/>
                  <a:pt x="1271" y="0"/>
                </a:cubicBezTo>
                <a:cubicBezTo>
                  <a:pt x="969" y="0"/>
                  <a:pt x="929" y="230"/>
                  <a:pt x="929" y="230"/>
                </a:cubicBezTo>
                <a:cubicBezTo>
                  <a:pt x="929" y="230"/>
                  <a:pt x="802" y="73"/>
                  <a:pt x="579" y="100"/>
                </a:cubicBezTo>
                <a:cubicBezTo>
                  <a:pt x="377" y="140"/>
                  <a:pt x="246" y="321"/>
                  <a:pt x="246" y="506"/>
                </a:cubicBezTo>
                <a:cubicBezTo>
                  <a:pt x="246" y="538"/>
                  <a:pt x="250" y="568"/>
                  <a:pt x="258" y="598"/>
                </a:cubicBezTo>
                <a:cubicBezTo>
                  <a:pt x="108" y="653"/>
                  <a:pt x="0" y="798"/>
                  <a:pt x="0" y="968"/>
                </a:cubicBezTo>
                <a:cubicBezTo>
                  <a:pt x="0" y="1185"/>
                  <a:pt x="177" y="1362"/>
                  <a:pt x="394" y="1362"/>
                </a:cubicBezTo>
                <a:cubicBezTo>
                  <a:pt x="1609" y="1362"/>
                  <a:pt x="1609" y="1362"/>
                  <a:pt x="1609" y="1362"/>
                </a:cubicBezTo>
                <a:cubicBezTo>
                  <a:pt x="1827" y="1362"/>
                  <a:pt x="2004" y="1185"/>
                  <a:pt x="2004" y="968"/>
                </a:cubicBezTo>
                <a:cubicBezTo>
                  <a:pt x="2004" y="791"/>
                  <a:pt x="1888" y="642"/>
                  <a:pt x="1728" y="592"/>
                </a:cubicBezTo>
                <a:close/>
              </a:path>
            </a:pathLst>
          </a:custGeom>
          <a:blipFill>
            <a:blip r:embed="rId6" cstate="print"/>
            <a:stretch>
              <a:fillRect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21920" tIns="60960" rIns="121920" bIns="60960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2" name="Freeform 5"/>
          <p:cNvSpPr>
            <a:spLocks/>
          </p:cNvSpPr>
          <p:nvPr/>
        </p:nvSpPr>
        <p:spPr bwMode="auto">
          <a:xfrm>
            <a:off x="1295400" y="2057400"/>
            <a:ext cx="958850" cy="952500"/>
          </a:xfrm>
          <a:custGeom>
            <a:avLst/>
            <a:gdLst>
              <a:gd name="T0" fmla="*/ 1728 w 2004"/>
              <a:gd name="T1" fmla="*/ 592 h 1362"/>
              <a:gd name="T2" fmla="*/ 1744 w 2004"/>
              <a:gd name="T3" fmla="*/ 472 h 1362"/>
              <a:gd name="T4" fmla="*/ 1271 w 2004"/>
              <a:gd name="T5" fmla="*/ 0 h 1362"/>
              <a:gd name="T6" fmla="*/ 929 w 2004"/>
              <a:gd name="T7" fmla="*/ 230 h 1362"/>
              <a:gd name="T8" fmla="*/ 579 w 2004"/>
              <a:gd name="T9" fmla="*/ 100 h 1362"/>
              <a:gd name="T10" fmla="*/ 246 w 2004"/>
              <a:gd name="T11" fmla="*/ 506 h 1362"/>
              <a:gd name="T12" fmla="*/ 258 w 2004"/>
              <a:gd name="T13" fmla="*/ 598 h 1362"/>
              <a:gd name="T14" fmla="*/ 0 w 2004"/>
              <a:gd name="T15" fmla="*/ 968 h 1362"/>
              <a:gd name="T16" fmla="*/ 394 w 2004"/>
              <a:gd name="T17" fmla="*/ 1362 h 1362"/>
              <a:gd name="T18" fmla="*/ 1609 w 2004"/>
              <a:gd name="T19" fmla="*/ 1362 h 1362"/>
              <a:gd name="T20" fmla="*/ 2004 w 2004"/>
              <a:gd name="T21" fmla="*/ 968 h 1362"/>
              <a:gd name="T22" fmla="*/ 1728 w 2004"/>
              <a:gd name="T23" fmla="*/ 592 h 13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004" h="1362">
                <a:moveTo>
                  <a:pt x="1728" y="592"/>
                </a:moveTo>
                <a:cubicBezTo>
                  <a:pt x="1738" y="553"/>
                  <a:pt x="1744" y="513"/>
                  <a:pt x="1744" y="472"/>
                </a:cubicBezTo>
                <a:cubicBezTo>
                  <a:pt x="1744" y="211"/>
                  <a:pt x="1532" y="0"/>
                  <a:pt x="1271" y="0"/>
                </a:cubicBezTo>
                <a:cubicBezTo>
                  <a:pt x="969" y="0"/>
                  <a:pt x="929" y="230"/>
                  <a:pt x="929" y="230"/>
                </a:cubicBezTo>
                <a:cubicBezTo>
                  <a:pt x="929" y="230"/>
                  <a:pt x="802" y="73"/>
                  <a:pt x="579" y="100"/>
                </a:cubicBezTo>
                <a:cubicBezTo>
                  <a:pt x="377" y="140"/>
                  <a:pt x="246" y="321"/>
                  <a:pt x="246" y="506"/>
                </a:cubicBezTo>
                <a:cubicBezTo>
                  <a:pt x="246" y="538"/>
                  <a:pt x="250" y="568"/>
                  <a:pt x="258" y="598"/>
                </a:cubicBezTo>
                <a:cubicBezTo>
                  <a:pt x="108" y="653"/>
                  <a:pt x="0" y="798"/>
                  <a:pt x="0" y="968"/>
                </a:cubicBezTo>
                <a:cubicBezTo>
                  <a:pt x="0" y="1185"/>
                  <a:pt x="177" y="1362"/>
                  <a:pt x="394" y="1362"/>
                </a:cubicBezTo>
                <a:cubicBezTo>
                  <a:pt x="1609" y="1362"/>
                  <a:pt x="1609" y="1362"/>
                  <a:pt x="1609" y="1362"/>
                </a:cubicBezTo>
                <a:cubicBezTo>
                  <a:pt x="1827" y="1362"/>
                  <a:pt x="2004" y="1185"/>
                  <a:pt x="2004" y="968"/>
                </a:cubicBezTo>
                <a:cubicBezTo>
                  <a:pt x="2004" y="791"/>
                  <a:pt x="1888" y="642"/>
                  <a:pt x="1728" y="592"/>
                </a:cubicBezTo>
                <a:close/>
              </a:path>
            </a:pathLst>
          </a:custGeom>
          <a:blipFill>
            <a:blip r:embed="rId7" cstate="print"/>
            <a:stretch>
              <a:fillRect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21920" tIns="60960" rIns="121920" bIns="60960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2" name="Group 24"/>
          <p:cNvGrpSpPr/>
          <p:nvPr/>
        </p:nvGrpSpPr>
        <p:grpSpPr>
          <a:xfrm>
            <a:off x="7090543" y="3862115"/>
            <a:ext cx="1012854" cy="203200"/>
            <a:chOff x="4168751" y="2495551"/>
            <a:chExt cx="1012854" cy="152400"/>
          </a:xfrm>
          <a:solidFill>
            <a:schemeClr val="bg1"/>
          </a:solidFill>
        </p:grpSpPr>
        <p:sp>
          <p:nvSpPr>
            <p:cNvPr id="59" name="Oval 58"/>
            <p:cNvSpPr/>
            <p:nvPr/>
          </p:nvSpPr>
          <p:spPr>
            <a:xfrm>
              <a:off x="4598977" y="2495551"/>
              <a:ext cx="152400" cy="1524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 dirty="0">
                <a:solidFill>
                  <a:schemeClr val="tx2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60" name="Oval 59"/>
            <p:cNvSpPr/>
            <p:nvPr/>
          </p:nvSpPr>
          <p:spPr>
            <a:xfrm flipV="1">
              <a:off x="4816297" y="2522221"/>
              <a:ext cx="99060" cy="9906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 dirty="0">
                <a:solidFill>
                  <a:schemeClr val="tx2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61" name="Oval 60"/>
            <p:cNvSpPr/>
            <p:nvPr/>
          </p:nvSpPr>
          <p:spPr>
            <a:xfrm flipV="1">
              <a:off x="4434997" y="2522221"/>
              <a:ext cx="99060" cy="9906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 dirty="0">
                <a:solidFill>
                  <a:schemeClr val="tx2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62" name="Oval 61"/>
            <p:cNvSpPr>
              <a:spLocks noChangeAspect="1"/>
            </p:cNvSpPr>
            <p:nvPr/>
          </p:nvSpPr>
          <p:spPr>
            <a:xfrm flipV="1">
              <a:off x="4980277" y="2531632"/>
              <a:ext cx="80239" cy="8023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 dirty="0">
                <a:solidFill>
                  <a:schemeClr val="tx2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63" name="Oval 62"/>
            <p:cNvSpPr>
              <a:spLocks noChangeAspect="1"/>
            </p:cNvSpPr>
            <p:nvPr/>
          </p:nvSpPr>
          <p:spPr>
            <a:xfrm flipV="1">
              <a:off x="4289838" y="2531632"/>
              <a:ext cx="80239" cy="8023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 dirty="0">
                <a:solidFill>
                  <a:schemeClr val="tx2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64" name="Oval 63"/>
            <p:cNvSpPr>
              <a:spLocks noChangeAspect="1"/>
            </p:cNvSpPr>
            <p:nvPr/>
          </p:nvSpPr>
          <p:spPr>
            <a:xfrm flipV="1">
              <a:off x="5125438" y="2543668"/>
              <a:ext cx="56167" cy="561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 dirty="0">
                <a:solidFill>
                  <a:schemeClr val="tx2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65" name="Oval 64"/>
            <p:cNvSpPr>
              <a:spLocks noChangeAspect="1"/>
            </p:cNvSpPr>
            <p:nvPr/>
          </p:nvSpPr>
          <p:spPr>
            <a:xfrm flipV="1">
              <a:off x="4168751" y="2543668"/>
              <a:ext cx="56167" cy="561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 dirty="0">
                <a:solidFill>
                  <a:schemeClr val="tx2">
                    <a:lumMod val="40000"/>
                    <a:lumOff val="60000"/>
                  </a:schemeClr>
                </a:solidFill>
              </a:endParaRPr>
            </a:p>
          </p:txBody>
        </p:sp>
      </p:grpSp>
      <p:sp>
        <p:nvSpPr>
          <p:cNvPr id="79" name="Rectangle 78"/>
          <p:cNvSpPr/>
          <p:nvPr/>
        </p:nvSpPr>
        <p:spPr>
          <a:xfrm>
            <a:off x="685800" y="5715000"/>
            <a:ext cx="904875" cy="365125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 err="1"/>
              <a:t>Etat</a:t>
            </a:r>
            <a:r>
              <a:rPr lang="en-US" sz="2000" b="1" dirty="0"/>
              <a:t> 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0" y="3124200"/>
            <a:ext cx="2133600" cy="9144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/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2000" b="1" dirty="0"/>
              <a:t>Banques et autres préteurs de fond 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000" b="1" dirty="0"/>
          </a:p>
        </p:txBody>
      </p:sp>
      <p:sp>
        <p:nvSpPr>
          <p:cNvPr id="107" name="Rectangle 106"/>
          <p:cNvSpPr/>
          <p:nvPr/>
        </p:nvSpPr>
        <p:spPr>
          <a:xfrm>
            <a:off x="3810000" y="1524000"/>
            <a:ext cx="1600200" cy="6096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Enterprise 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934200" y="3810000"/>
            <a:ext cx="1905000" cy="6096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 err="1"/>
              <a:t>Actionnaires</a:t>
            </a:r>
            <a:r>
              <a:rPr lang="en-US" sz="2000" b="1" dirty="0"/>
              <a:t> 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239000" y="5791200"/>
            <a:ext cx="1447800" cy="4572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 err="1"/>
              <a:t>Employés</a:t>
            </a:r>
            <a:r>
              <a:rPr lang="en-US" sz="2000" b="1" dirty="0"/>
              <a:t> </a:t>
            </a:r>
          </a:p>
        </p:txBody>
      </p:sp>
      <p:sp>
        <p:nvSpPr>
          <p:cNvPr id="19477" name="Titre 1"/>
          <p:cNvSpPr txBox="1">
            <a:spLocks/>
          </p:cNvSpPr>
          <p:nvPr/>
        </p:nvSpPr>
        <p:spPr bwMode="auto">
          <a:xfrm>
            <a:off x="0" y="214313"/>
            <a:ext cx="8229600" cy="500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fr-FR" altLang="fr-FR" sz="2400" b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L’entreprise, une unité de répartition des richesses </a:t>
            </a:r>
          </a:p>
        </p:txBody>
      </p:sp>
      <p:pic>
        <p:nvPicPr>
          <p:cNvPr id="29" name="Picture 15">
            <a:extLst>
              <a:ext uri="{FF2B5EF4-FFF2-40B4-BE49-F238E27FC236}">
                <a16:creationId xmlns:a16="http://schemas.microsoft.com/office/drawing/2014/main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460" y="0"/>
            <a:ext cx="3682540" cy="214603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13" grpId="0" animBg="1"/>
      <p:bldP spid="16" grpId="0" animBg="1"/>
      <p:bldP spid="17" grpId="0" animBg="1"/>
      <p:bldP spid="18" grpId="0" animBg="1"/>
      <p:bldP spid="19" grpId="0" animBg="1"/>
      <p:bldP spid="5" grpId="0" animBg="1"/>
      <p:bldP spid="79" grpId="0" animBg="1"/>
      <p:bldP spid="106" grpId="0" animBg="1"/>
      <p:bldP spid="107" grpId="0" animBg="1"/>
      <p:bldP spid="108" grpId="0" animBg="1"/>
      <p:bldP spid="10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47BAB3-CBE9-48B3-B166-24E7C5A1B070}" type="slidenum">
              <a:rPr lang="fr-BE" smtClean="0"/>
              <a:pPr>
                <a:defRPr/>
              </a:pPr>
              <a:t>24</a:t>
            </a:fld>
            <a:endParaRPr lang="fr-BE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357158" y="1000108"/>
            <a:ext cx="2357454" cy="642942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Travail </a:t>
            </a:r>
          </a:p>
        </p:txBody>
      </p:sp>
      <p:sp>
        <p:nvSpPr>
          <p:cNvPr id="7" name="Rectangle à coins arrondis 6"/>
          <p:cNvSpPr/>
          <p:nvPr/>
        </p:nvSpPr>
        <p:spPr>
          <a:xfrm>
            <a:off x="3786182" y="928670"/>
            <a:ext cx="2357454" cy="642942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Capital </a:t>
            </a:r>
          </a:p>
        </p:txBody>
      </p:sp>
      <p:sp>
        <p:nvSpPr>
          <p:cNvPr id="8" name="Flèche à trois pointes 7"/>
          <p:cNvSpPr/>
          <p:nvPr/>
        </p:nvSpPr>
        <p:spPr>
          <a:xfrm rot="10800000">
            <a:off x="2786050" y="1071546"/>
            <a:ext cx="928694" cy="1000132"/>
          </a:xfrm>
          <a:prstGeom prst="leftRightUp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Organigramme : Processus 8"/>
          <p:cNvSpPr/>
          <p:nvPr/>
        </p:nvSpPr>
        <p:spPr>
          <a:xfrm>
            <a:off x="1357290" y="2214554"/>
            <a:ext cx="2286016" cy="3714776"/>
          </a:xfrm>
          <a:prstGeom prst="flowChartProcess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/>
              <a:t>CA  </a:t>
            </a:r>
          </a:p>
        </p:txBody>
      </p:sp>
      <p:sp>
        <p:nvSpPr>
          <p:cNvPr id="10" name="Organigramme : Processus 9"/>
          <p:cNvSpPr/>
          <p:nvPr/>
        </p:nvSpPr>
        <p:spPr>
          <a:xfrm>
            <a:off x="4429124" y="2214554"/>
            <a:ext cx="2286016" cy="2428892"/>
          </a:xfrm>
          <a:prstGeom prst="flowChartProcess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/>
              <a:t>Consommations Intermédiaires</a:t>
            </a:r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r>
              <a:rPr lang="fr-FR" sz="2800" dirty="0"/>
              <a:t>=</a:t>
            </a:r>
          </a:p>
        </p:txBody>
      </p:sp>
      <p:pic>
        <p:nvPicPr>
          <p:cNvPr id="1028" name="Picture 4" descr="Icône Moins, cercle, hd Gratuit de SnipIcons H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flipH="1">
            <a:off x="3643306" y="3357562"/>
            <a:ext cx="684202" cy="571505"/>
          </a:xfrm>
          <a:prstGeom prst="rect">
            <a:avLst/>
          </a:prstGeom>
          <a:noFill/>
        </p:spPr>
      </p:pic>
      <p:sp>
        <p:nvSpPr>
          <p:cNvPr id="15" name="Rectangle 14"/>
          <p:cNvSpPr/>
          <p:nvPr/>
        </p:nvSpPr>
        <p:spPr>
          <a:xfrm>
            <a:off x="7143768" y="4572008"/>
            <a:ext cx="1785950" cy="28575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Salaires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43768" y="5000636"/>
            <a:ext cx="1785950" cy="28575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intérêt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43768" y="5357826"/>
            <a:ext cx="1785950" cy="28575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Impôt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43768" y="5786454"/>
            <a:ext cx="1785950" cy="28575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Profit </a:t>
            </a:r>
          </a:p>
        </p:txBody>
      </p:sp>
      <p:sp>
        <p:nvSpPr>
          <p:cNvPr id="20" name="Organigramme : Processus 19"/>
          <p:cNvSpPr/>
          <p:nvPr/>
        </p:nvSpPr>
        <p:spPr>
          <a:xfrm>
            <a:off x="4429124" y="4786322"/>
            <a:ext cx="2286016" cy="1204922"/>
          </a:xfrm>
          <a:prstGeom prst="flowChartProcess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r>
              <a:rPr lang="fr-FR" sz="2000" b="1" dirty="0"/>
              <a:t>Valeur ajoutée</a:t>
            </a:r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</p:txBody>
      </p:sp>
      <p:sp>
        <p:nvSpPr>
          <p:cNvPr id="22" name="ZoneTexte 21"/>
          <p:cNvSpPr txBox="1"/>
          <p:nvPr/>
        </p:nvSpPr>
        <p:spPr>
          <a:xfrm>
            <a:off x="2571736" y="1643050"/>
            <a:ext cx="1714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Combinaison </a:t>
            </a:r>
          </a:p>
        </p:txBody>
      </p:sp>
      <p:pic>
        <p:nvPicPr>
          <p:cNvPr id="23" name="Picture 15">
            <a:extLst>
              <a:ext uri="{FF2B5EF4-FFF2-40B4-BE49-F238E27FC236}">
                <a16:creationId xmlns:a16="http://schemas.microsoft.com/office/drawing/2014/main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460" y="0"/>
            <a:ext cx="3682540" cy="214603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3A861C5-1E4C-3014-735B-F93AEB88A250}"/>
              </a:ext>
            </a:extLst>
          </p:cNvPr>
          <p:cNvSpPr/>
          <p:nvPr/>
        </p:nvSpPr>
        <p:spPr>
          <a:xfrm>
            <a:off x="6374935" y="6493157"/>
            <a:ext cx="1392746" cy="245328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dk1"/>
                </a:solidFill>
              </a:rPr>
              <a:t>Dividendes </a:t>
            </a:r>
            <a:endParaRPr lang="fr-TN" dirty="0">
              <a:solidFill>
                <a:schemeClr val="dk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BFD425-6A1A-5733-D513-4FB255FE4D3D}"/>
              </a:ext>
            </a:extLst>
          </p:cNvPr>
          <p:cNvSpPr/>
          <p:nvPr/>
        </p:nvSpPr>
        <p:spPr>
          <a:xfrm>
            <a:off x="7885019" y="6476814"/>
            <a:ext cx="1264620" cy="253166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Réserves  </a:t>
            </a:r>
          </a:p>
        </p:txBody>
      </p:sp>
      <p:sp>
        <p:nvSpPr>
          <p:cNvPr id="5" name="Demi-cadre 4">
            <a:extLst>
              <a:ext uri="{FF2B5EF4-FFF2-40B4-BE49-F238E27FC236}">
                <a16:creationId xmlns:a16="http://schemas.microsoft.com/office/drawing/2014/main" id="{25966103-E5C3-359E-4D75-61FDB610E2FD}"/>
              </a:ext>
            </a:extLst>
          </p:cNvPr>
          <p:cNvSpPr/>
          <p:nvPr/>
        </p:nvSpPr>
        <p:spPr>
          <a:xfrm rot="2566319">
            <a:off x="7668344" y="6191984"/>
            <a:ext cx="432048" cy="477376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071935" y="1785927"/>
            <a:ext cx="5072066" cy="2052594"/>
            <a:chOff x="6414487" y="1849045"/>
            <a:chExt cx="4988526" cy="1368834"/>
          </a:xfrm>
        </p:grpSpPr>
        <p:sp>
          <p:nvSpPr>
            <p:cNvPr id="31" name="TextBox 30"/>
            <p:cNvSpPr txBox="1"/>
            <p:nvPr/>
          </p:nvSpPr>
          <p:spPr>
            <a:xfrm>
              <a:off x="6414487" y="1849045"/>
              <a:ext cx="2226673" cy="3899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 err="1">
                  <a:solidFill>
                    <a:schemeClr val="tx2">
                      <a:lumMod val="75000"/>
                    </a:schemeClr>
                  </a:solidFill>
                  <a:latin typeface="Candara" pitchFamily="34" charset="0"/>
                  <a:ea typeface="Roboto Light" panose="02000000000000000000" pitchFamily="2" charset="0"/>
                </a:rPr>
                <a:t>Activité</a:t>
              </a:r>
              <a:r>
                <a:rPr lang="en-US" sz="3200" b="1" dirty="0">
                  <a:solidFill>
                    <a:schemeClr val="tx2">
                      <a:lumMod val="75000"/>
                    </a:schemeClr>
                  </a:solidFill>
                  <a:latin typeface="Candara" pitchFamily="34" charset="0"/>
                  <a:ea typeface="Roboto Light" panose="02000000000000000000" pitchFamily="2" charset="0"/>
                </a:rPr>
                <a:t> 3:</a:t>
              </a:r>
              <a:endParaRPr lang="ru-RU" sz="32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  <a:ea typeface="Roboto Light" panose="02000000000000000000" pitchFamily="2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414490" y="2343514"/>
              <a:ext cx="4988523" cy="8743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ct val="20000"/>
                </a:spcBef>
                <a:defRPr/>
              </a:pPr>
              <a:endParaRPr lang="en-US" sz="36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  <a:ea typeface="Roboto Light" panose="02000000000000000000" pitchFamily="2" charset="0"/>
              </a:endParaRPr>
            </a:p>
            <a:p>
              <a:pPr>
                <a:spcBef>
                  <a:spcPct val="20000"/>
                </a:spcBef>
                <a:defRPr/>
              </a:pPr>
              <a:r>
                <a:rPr lang="en-US" sz="3600" b="1" dirty="0" err="1">
                  <a:solidFill>
                    <a:schemeClr val="tx2">
                      <a:lumMod val="75000"/>
                    </a:schemeClr>
                  </a:solidFill>
                  <a:latin typeface="Candara" pitchFamily="34" charset="0"/>
                  <a:ea typeface="Roboto Light" panose="02000000000000000000" pitchFamily="2" charset="0"/>
                </a:rPr>
                <a:t>Cas</a:t>
              </a:r>
              <a:r>
                <a:rPr lang="en-US" sz="3600" b="1" dirty="0">
                  <a:solidFill>
                    <a:schemeClr val="tx2">
                      <a:lumMod val="75000"/>
                    </a:schemeClr>
                  </a:solidFill>
                  <a:latin typeface="Candara" pitchFamily="34" charset="0"/>
                  <a:ea typeface="Roboto Light" panose="02000000000000000000" pitchFamily="2" charset="0"/>
                </a:rPr>
                <a:t>      </a:t>
              </a:r>
            </a:p>
          </p:txBody>
        </p:sp>
      </p:grpSp>
      <p:grpSp>
        <p:nvGrpSpPr>
          <p:cNvPr id="3" name="Group 4"/>
          <p:cNvGrpSpPr/>
          <p:nvPr/>
        </p:nvGrpSpPr>
        <p:grpSpPr>
          <a:xfrm>
            <a:off x="928662" y="1500174"/>
            <a:ext cx="2304011" cy="4066253"/>
            <a:chOff x="917378" y="1693550"/>
            <a:chExt cx="3072015" cy="4066253"/>
          </a:xfrm>
        </p:grpSpPr>
        <p:sp>
          <p:nvSpPr>
            <p:cNvPr id="38" name="Shape 2180"/>
            <p:cNvSpPr/>
            <p:nvPr/>
          </p:nvSpPr>
          <p:spPr>
            <a:xfrm>
              <a:off x="1439040" y="1796893"/>
              <a:ext cx="889593" cy="8893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8" h="19678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bg1"/>
            </a:solidFill>
            <a:ln w="12700" cap="flat">
              <a:solidFill>
                <a:schemeClr val="accent1"/>
              </a:solidFill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lvl="0" algn="l" defTabSz="455612">
                <a:defRPr sz="1800">
                  <a:solidFill>
                    <a:srgbClr val="070707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39" name="Shape 2181"/>
            <p:cNvSpPr/>
            <p:nvPr/>
          </p:nvSpPr>
          <p:spPr>
            <a:xfrm>
              <a:off x="917378" y="2380512"/>
              <a:ext cx="2320078" cy="33792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50" h="21276" extrusionOk="0">
                  <a:moveTo>
                    <a:pt x="15139" y="153"/>
                  </a:moveTo>
                  <a:lnTo>
                    <a:pt x="10554" y="2666"/>
                  </a:lnTo>
                  <a:lnTo>
                    <a:pt x="8420" y="2691"/>
                  </a:lnTo>
                  <a:lnTo>
                    <a:pt x="9880" y="2576"/>
                  </a:lnTo>
                  <a:cubicBezTo>
                    <a:pt x="9292" y="2366"/>
                    <a:pt x="8640" y="2257"/>
                    <a:pt x="7977" y="2256"/>
                  </a:cubicBezTo>
                  <a:cubicBezTo>
                    <a:pt x="7299" y="2256"/>
                    <a:pt x="6632" y="2371"/>
                    <a:pt x="6033" y="2590"/>
                  </a:cubicBezTo>
                  <a:cubicBezTo>
                    <a:pt x="5847" y="2669"/>
                    <a:pt x="5686" y="2774"/>
                    <a:pt x="5559" y="2897"/>
                  </a:cubicBezTo>
                  <a:cubicBezTo>
                    <a:pt x="5268" y="3179"/>
                    <a:pt x="5183" y="3522"/>
                    <a:pt x="5134" y="3855"/>
                  </a:cubicBezTo>
                  <a:cubicBezTo>
                    <a:pt x="5083" y="4197"/>
                    <a:pt x="5069" y="4546"/>
                    <a:pt x="5094" y="4899"/>
                  </a:cubicBezTo>
                  <a:lnTo>
                    <a:pt x="5880" y="14818"/>
                  </a:lnTo>
                  <a:lnTo>
                    <a:pt x="591" y="18707"/>
                  </a:lnTo>
                  <a:cubicBezTo>
                    <a:pt x="-161" y="19253"/>
                    <a:pt x="-200" y="20099"/>
                    <a:pt x="500" y="20677"/>
                  </a:cubicBezTo>
                  <a:cubicBezTo>
                    <a:pt x="1276" y="21318"/>
                    <a:pt x="2661" y="21405"/>
                    <a:pt x="3592" y="20871"/>
                  </a:cubicBezTo>
                  <a:lnTo>
                    <a:pt x="9585" y="16419"/>
                  </a:lnTo>
                  <a:cubicBezTo>
                    <a:pt x="9810" y="16257"/>
                    <a:pt x="9989" y="16067"/>
                    <a:pt x="10111" y="15859"/>
                  </a:cubicBezTo>
                  <a:cubicBezTo>
                    <a:pt x="10235" y="15649"/>
                    <a:pt x="10300" y="15425"/>
                    <a:pt x="10302" y="15198"/>
                  </a:cubicBezTo>
                  <a:lnTo>
                    <a:pt x="10408" y="12572"/>
                  </a:lnTo>
                  <a:lnTo>
                    <a:pt x="10862" y="12365"/>
                  </a:lnTo>
                  <a:cubicBezTo>
                    <a:pt x="11063" y="12280"/>
                    <a:pt x="11241" y="12172"/>
                    <a:pt x="11387" y="12045"/>
                  </a:cubicBezTo>
                  <a:cubicBezTo>
                    <a:pt x="11527" y="11923"/>
                    <a:pt x="11636" y="11787"/>
                    <a:pt x="11710" y="11641"/>
                  </a:cubicBezTo>
                  <a:lnTo>
                    <a:pt x="12674" y="9915"/>
                  </a:lnTo>
                  <a:lnTo>
                    <a:pt x="11917" y="11736"/>
                  </a:lnTo>
                  <a:cubicBezTo>
                    <a:pt x="11847" y="11880"/>
                    <a:pt x="11742" y="12015"/>
                    <a:pt x="11605" y="12135"/>
                  </a:cubicBezTo>
                  <a:cubicBezTo>
                    <a:pt x="11462" y="12261"/>
                    <a:pt x="11287" y="12368"/>
                    <a:pt x="11089" y="12451"/>
                  </a:cubicBezTo>
                  <a:lnTo>
                    <a:pt x="10671" y="12648"/>
                  </a:lnTo>
                  <a:lnTo>
                    <a:pt x="14607" y="14752"/>
                  </a:lnTo>
                  <a:lnTo>
                    <a:pt x="16850" y="20281"/>
                  </a:lnTo>
                  <a:cubicBezTo>
                    <a:pt x="17307" y="21070"/>
                    <a:pt x="18592" y="21469"/>
                    <a:pt x="19755" y="21183"/>
                  </a:cubicBezTo>
                  <a:cubicBezTo>
                    <a:pt x="20783" y="20930"/>
                    <a:pt x="21400" y="20208"/>
                    <a:pt x="21219" y="19468"/>
                  </a:cubicBezTo>
                  <a:lnTo>
                    <a:pt x="18564" y="13517"/>
                  </a:lnTo>
                  <a:cubicBezTo>
                    <a:pt x="18484" y="13324"/>
                    <a:pt x="18361" y="13141"/>
                    <a:pt x="18198" y="12974"/>
                  </a:cubicBezTo>
                  <a:cubicBezTo>
                    <a:pt x="18060" y="12834"/>
                    <a:pt x="17897" y="12708"/>
                    <a:pt x="17711" y="12598"/>
                  </a:cubicBezTo>
                  <a:lnTo>
                    <a:pt x="12806" y="9592"/>
                  </a:lnTo>
                  <a:lnTo>
                    <a:pt x="12168" y="4943"/>
                  </a:lnTo>
                  <a:lnTo>
                    <a:pt x="12599" y="6696"/>
                  </a:lnTo>
                  <a:lnTo>
                    <a:pt x="13014" y="6844"/>
                  </a:lnTo>
                  <a:cubicBezTo>
                    <a:pt x="13142" y="6874"/>
                    <a:pt x="13274" y="6896"/>
                    <a:pt x="13407" y="6911"/>
                  </a:cubicBezTo>
                  <a:cubicBezTo>
                    <a:pt x="13587" y="6930"/>
                    <a:pt x="13769" y="6934"/>
                    <a:pt x="13950" y="6923"/>
                  </a:cubicBezTo>
                  <a:lnTo>
                    <a:pt x="19601" y="6672"/>
                  </a:lnTo>
                  <a:cubicBezTo>
                    <a:pt x="20440" y="6578"/>
                    <a:pt x="21026" y="6051"/>
                    <a:pt x="20937" y="5470"/>
                  </a:cubicBezTo>
                  <a:cubicBezTo>
                    <a:pt x="20848" y="4885"/>
                    <a:pt x="20105" y="4451"/>
                    <a:pt x="19250" y="4484"/>
                  </a:cubicBezTo>
                  <a:lnTo>
                    <a:pt x="14113" y="4776"/>
                  </a:lnTo>
                  <a:lnTo>
                    <a:pt x="13074" y="4140"/>
                  </a:lnTo>
                  <a:lnTo>
                    <a:pt x="12521" y="4445"/>
                  </a:lnTo>
                  <a:cubicBezTo>
                    <a:pt x="12361" y="4505"/>
                    <a:pt x="12192" y="4553"/>
                    <a:pt x="12017" y="4588"/>
                  </a:cubicBezTo>
                  <a:cubicBezTo>
                    <a:pt x="11788" y="4635"/>
                    <a:pt x="11551" y="4659"/>
                    <a:pt x="11312" y="4660"/>
                  </a:cubicBezTo>
                  <a:lnTo>
                    <a:pt x="10129" y="4744"/>
                  </a:lnTo>
                  <a:lnTo>
                    <a:pt x="11322" y="4611"/>
                  </a:lnTo>
                  <a:cubicBezTo>
                    <a:pt x="11528" y="4586"/>
                    <a:pt x="11730" y="4549"/>
                    <a:pt x="11926" y="4499"/>
                  </a:cubicBezTo>
                  <a:cubicBezTo>
                    <a:pt x="12100" y="4454"/>
                    <a:pt x="12268" y="4399"/>
                    <a:pt x="12429" y="4335"/>
                  </a:cubicBezTo>
                  <a:lnTo>
                    <a:pt x="16883" y="2016"/>
                  </a:lnTo>
                  <a:cubicBezTo>
                    <a:pt x="17624" y="1648"/>
                    <a:pt x="17778" y="933"/>
                    <a:pt x="17225" y="433"/>
                  </a:cubicBezTo>
                  <a:cubicBezTo>
                    <a:pt x="16734" y="-11"/>
                    <a:pt x="15837" y="-131"/>
                    <a:pt x="15139" y="153"/>
                  </a:cubicBezTo>
                  <a:close/>
                </a:path>
              </a:pathLst>
            </a:custGeom>
            <a:solidFill>
              <a:schemeClr val="bg1"/>
            </a:solidFill>
            <a:ln w="12700" cap="flat">
              <a:solidFill>
                <a:schemeClr val="accent1"/>
              </a:solidFill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lvl="0" algn="l" defTabSz="455612">
                <a:defRPr sz="1800">
                  <a:solidFill>
                    <a:srgbClr val="070707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40" name="Shape 2182"/>
            <p:cNvSpPr/>
            <p:nvPr/>
          </p:nvSpPr>
          <p:spPr>
            <a:xfrm>
              <a:off x="2583420" y="1693550"/>
              <a:ext cx="1405973" cy="15863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5" h="21458" extrusionOk="0">
                  <a:moveTo>
                    <a:pt x="14768" y="0"/>
                  </a:moveTo>
                  <a:cubicBezTo>
                    <a:pt x="11682" y="279"/>
                    <a:pt x="8751" y="1325"/>
                    <a:pt x="6316" y="3018"/>
                  </a:cubicBezTo>
                  <a:cubicBezTo>
                    <a:pt x="3974" y="4646"/>
                    <a:pt x="2184" y="6809"/>
                    <a:pt x="1141" y="9271"/>
                  </a:cubicBezTo>
                  <a:cubicBezTo>
                    <a:pt x="2104" y="9290"/>
                    <a:pt x="2984" y="9759"/>
                    <a:pt x="3451" y="10501"/>
                  </a:cubicBezTo>
                  <a:cubicBezTo>
                    <a:pt x="4024" y="11411"/>
                    <a:pt x="3878" y="12542"/>
                    <a:pt x="3086" y="13315"/>
                  </a:cubicBezTo>
                  <a:lnTo>
                    <a:pt x="0" y="15442"/>
                  </a:lnTo>
                  <a:lnTo>
                    <a:pt x="4923" y="15200"/>
                  </a:lnTo>
                  <a:cubicBezTo>
                    <a:pt x="5306" y="15206"/>
                    <a:pt x="5677" y="15267"/>
                    <a:pt x="6024" y="15374"/>
                  </a:cubicBezTo>
                  <a:cubicBezTo>
                    <a:pt x="6371" y="15481"/>
                    <a:pt x="6711" y="15640"/>
                    <a:pt x="6954" y="15902"/>
                  </a:cubicBezTo>
                  <a:cubicBezTo>
                    <a:pt x="7352" y="16332"/>
                    <a:pt x="7393" y="16938"/>
                    <a:pt x="7056" y="17405"/>
                  </a:cubicBezTo>
                  <a:cubicBezTo>
                    <a:pt x="6814" y="17687"/>
                    <a:pt x="6637" y="18007"/>
                    <a:pt x="6534" y="18348"/>
                  </a:cubicBezTo>
                  <a:cubicBezTo>
                    <a:pt x="6441" y="18655"/>
                    <a:pt x="6409" y="18974"/>
                    <a:pt x="6440" y="19291"/>
                  </a:cubicBezTo>
                  <a:cubicBezTo>
                    <a:pt x="6624" y="20412"/>
                    <a:pt x="7633" y="21288"/>
                    <a:pt x="8908" y="21436"/>
                  </a:cubicBezTo>
                  <a:cubicBezTo>
                    <a:pt x="10328" y="21600"/>
                    <a:pt x="11673" y="20831"/>
                    <a:pt x="12079" y="19622"/>
                  </a:cubicBezTo>
                  <a:cubicBezTo>
                    <a:pt x="12197" y="19191"/>
                    <a:pt x="12191" y="18740"/>
                    <a:pt x="12062" y="18311"/>
                  </a:cubicBezTo>
                  <a:cubicBezTo>
                    <a:pt x="11962" y="17978"/>
                    <a:pt x="11789" y="17666"/>
                    <a:pt x="11554" y="17390"/>
                  </a:cubicBezTo>
                  <a:cubicBezTo>
                    <a:pt x="11216" y="16965"/>
                    <a:pt x="11162" y="16414"/>
                    <a:pt x="11412" y="15944"/>
                  </a:cubicBezTo>
                  <a:cubicBezTo>
                    <a:pt x="11706" y="15392"/>
                    <a:pt x="12355" y="15058"/>
                    <a:pt x="13045" y="15102"/>
                  </a:cubicBezTo>
                  <a:lnTo>
                    <a:pt x="15810" y="15677"/>
                  </a:lnTo>
                  <a:lnTo>
                    <a:pt x="16049" y="14612"/>
                  </a:lnTo>
                  <a:cubicBezTo>
                    <a:pt x="15557" y="13797"/>
                    <a:pt x="15190" y="12927"/>
                    <a:pt x="14958" y="12027"/>
                  </a:cubicBezTo>
                  <a:cubicBezTo>
                    <a:pt x="14730" y="11140"/>
                    <a:pt x="14635" y="10231"/>
                    <a:pt x="14674" y="9322"/>
                  </a:cubicBezTo>
                  <a:cubicBezTo>
                    <a:pt x="14713" y="8979"/>
                    <a:pt x="14902" y="8663"/>
                    <a:pt x="15203" y="8441"/>
                  </a:cubicBezTo>
                  <a:cubicBezTo>
                    <a:pt x="15695" y="8077"/>
                    <a:pt x="16391" y="8018"/>
                    <a:pt x="16954" y="8292"/>
                  </a:cubicBezTo>
                  <a:cubicBezTo>
                    <a:pt x="17187" y="8445"/>
                    <a:pt x="17436" y="8578"/>
                    <a:pt x="17696" y="8690"/>
                  </a:cubicBezTo>
                  <a:cubicBezTo>
                    <a:pt x="17915" y="8785"/>
                    <a:pt x="18143" y="8864"/>
                    <a:pt x="18380" y="8912"/>
                  </a:cubicBezTo>
                  <a:cubicBezTo>
                    <a:pt x="18952" y="9030"/>
                    <a:pt x="19554" y="8967"/>
                    <a:pt x="20079" y="8734"/>
                  </a:cubicBezTo>
                  <a:cubicBezTo>
                    <a:pt x="21011" y="8266"/>
                    <a:pt x="21589" y="7396"/>
                    <a:pt x="21595" y="6452"/>
                  </a:cubicBezTo>
                  <a:cubicBezTo>
                    <a:pt x="21600" y="5680"/>
                    <a:pt x="21217" y="4947"/>
                    <a:pt x="20548" y="4448"/>
                  </a:cubicBezTo>
                  <a:cubicBezTo>
                    <a:pt x="20044" y="4129"/>
                    <a:pt x="19435" y="3967"/>
                    <a:pt x="18815" y="3986"/>
                  </a:cubicBezTo>
                  <a:cubicBezTo>
                    <a:pt x="18253" y="4004"/>
                    <a:pt x="17711" y="4171"/>
                    <a:pt x="17260" y="4465"/>
                  </a:cubicBezTo>
                  <a:cubicBezTo>
                    <a:pt x="16658" y="4811"/>
                    <a:pt x="15876" y="4793"/>
                    <a:pt x="15297" y="4418"/>
                  </a:cubicBezTo>
                  <a:cubicBezTo>
                    <a:pt x="14878" y="4147"/>
                    <a:pt x="14626" y="3721"/>
                    <a:pt x="14614" y="3264"/>
                  </a:cubicBezTo>
                  <a:lnTo>
                    <a:pt x="14768" y="0"/>
                  </a:lnTo>
                  <a:close/>
                </a:path>
              </a:pathLst>
            </a:cu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lvl="0" algn="l" defTabSz="455612">
                <a:defRPr sz="1800">
                  <a:solidFill>
                    <a:srgbClr val="070707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2214546" y="1500174"/>
            <a:ext cx="1633685" cy="3418171"/>
            <a:chOff x="3196499" y="2217615"/>
            <a:chExt cx="2178247" cy="3418171"/>
          </a:xfrm>
        </p:grpSpPr>
        <p:sp>
          <p:nvSpPr>
            <p:cNvPr id="36" name="Shape 2178"/>
            <p:cNvSpPr/>
            <p:nvPr/>
          </p:nvSpPr>
          <p:spPr>
            <a:xfrm>
              <a:off x="3938675" y="4782484"/>
              <a:ext cx="637136" cy="7049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18603"/>
                  </a:lnTo>
                  <a:lnTo>
                    <a:pt x="3317" y="21600"/>
                  </a:lnTo>
                  <a:lnTo>
                    <a:pt x="18095" y="21600"/>
                  </a:lnTo>
                  <a:lnTo>
                    <a:pt x="21600" y="18432"/>
                  </a:lnTo>
                  <a:lnTo>
                    <a:pt x="21600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7ABB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lvl="0" defTabSz="825500">
                <a:defRPr sz="320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37" name="Shape 2179"/>
            <p:cNvSpPr/>
            <p:nvPr/>
          </p:nvSpPr>
          <p:spPr>
            <a:xfrm>
              <a:off x="3806816" y="4537747"/>
              <a:ext cx="915351" cy="291882"/>
            </a:xfrm>
            <a:prstGeom prst="roundRect">
              <a:avLst>
                <a:gd name="adj" fmla="val 35919"/>
              </a:avLst>
            </a:prstGeom>
            <a:solidFill>
              <a:srgbClr val="A7ABB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lvl="0" defTabSz="825500">
                <a:defRPr sz="3200"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41" name="Shape 2183"/>
            <p:cNvSpPr/>
            <p:nvPr/>
          </p:nvSpPr>
          <p:spPr>
            <a:xfrm>
              <a:off x="4177346" y="2217615"/>
              <a:ext cx="1197400" cy="11463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4" h="21119" extrusionOk="0">
                  <a:moveTo>
                    <a:pt x="160" y="104"/>
                  </a:moveTo>
                  <a:lnTo>
                    <a:pt x="1" y="4052"/>
                  </a:lnTo>
                  <a:cubicBezTo>
                    <a:pt x="-7" y="4404"/>
                    <a:pt x="39" y="4740"/>
                    <a:pt x="129" y="5058"/>
                  </a:cubicBezTo>
                  <a:cubicBezTo>
                    <a:pt x="208" y="5333"/>
                    <a:pt x="325" y="5616"/>
                    <a:pt x="569" y="5794"/>
                  </a:cubicBezTo>
                  <a:cubicBezTo>
                    <a:pt x="1209" y="6259"/>
                    <a:pt x="1949" y="5684"/>
                    <a:pt x="2629" y="5313"/>
                  </a:cubicBezTo>
                  <a:cubicBezTo>
                    <a:pt x="2861" y="5186"/>
                    <a:pt x="3107" y="5086"/>
                    <a:pt x="3362" y="5016"/>
                  </a:cubicBezTo>
                  <a:cubicBezTo>
                    <a:pt x="5496" y="4484"/>
                    <a:pt x="7636" y="5868"/>
                    <a:pt x="8093" y="8076"/>
                  </a:cubicBezTo>
                  <a:cubicBezTo>
                    <a:pt x="8528" y="10173"/>
                    <a:pt x="7265" y="12246"/>
                    <a:pt x="5240" y="12761"/>
                  </a:cubicBezTo>
                  <a:cubicBezTo>
                    <a:pt x="4654" y="12914"/>
                    <a:pt x="4042" y="12925"/>
                    <a:pt x="3451" y="12793"/>
                  </a:cubicBezTo>
                  <a:cubicBezTo>
                    <a:pt x="3032" y="12700"/>
                    <a:pt x="2632" y="12536"/>
                    <a:pt x="2265" y="12308"/>
                  </a:cubicBezTo>
                  <a:cubicBezTo>
                    <a:pt x="1811" y="11919"/>
                    <a:pt x="1163" y="11880"/>
                    <a:pt x="667" y="12211"/>
                  </a:cubicBezTo>
                  <a:cubicBezTo>
                    <a:pt x="240" y="12497"/>
                    <a:pt x="10" y="13009"/>
                    <a:pt x="75" y="13529"/>
                  </a:cubicBezTo>
                  <a:cubicBezTo>
                    <a:pt x="95" y="14568"/>
                    <a:pt x="216" y="15603"/>
                    <a:pt x="436" y="16617"/>
                  </a:cubicBezTo>
                  <a:cubicBezTo>
                    <a:pt x="679" y="17735"/>
                    <a:pt x="1041" y="18822"/>
                    <a:pt x="1515" y="19858"/>
                  </a:cubicBezTo>
                  <a:lnTo>
                    <a:pt x="8609" y="21077"/>
                  </a:lnTo>
                  <a:cubicBezTo>
                    <a:pt x="8838" y="21129"/>
                    <a:pt x="9067" y="21131"/>
                    <a:pt x="9285" y="21090"/>
                  </a:cubicBezTo>
                  <a:cubicBezTo>
                    <a:pt x="9367" y="21074"/>
                    <a:pt x="9447" y="21053"/>
                    <a:pt x="9526" y="21024"/>
                  </a:cubicBezTo>
                  <a:cubicBezTo>
                    <a:pt x="9604" y="20995"/>
                    <a:pt x="9679" y="20958"/>
                    <a:pt x="9749" y="20913"/>
                  </a:cubicBezTo>
                  <a:cubicBezTo>
                    <a:pt x="9942" y="20788"/>
                    <a:pt x="10091" y="20596"/>
                    <a:pt x="10180" y="20365"/>
                  </a:cubicBezTo>
                  <a:cubicBezTo>
                    <a:pt x="10469" y="19621"/>
                    <a:pt x="10057" y="18873"/>
                    <a:pt x="9804" y="18157"/>
                  </a:cubicBezTo>
                  <a:cubicBezTo>
                    <a:pt x="9643" y="17702"/>
                    <a:pt x="9540" y="17226"/>
                    <a:pt x="9500" y="16737"/>
                  </a:cubicBezTo>
                  <a:cubicBezTo>
                    <a:pt x="9365" y="15414"/>
                    <a:pt x="9896" y="14111"/>
                    <a:pt x="10910" y="13283"/>
                  </a:cubicBezTo>
                  <a:cubicBezTo>
                    <a:pt x="11674" y="12658"/>
                    <a:pt x="12647" y="12367"/>
                    <a:pt x="13619" y="12473"/>
                  </a:cubicBezTo>
                  <a:cubicBezTo>
                    <a:pt x="14755" y="12578"/>
                    <a:pt x="15790" y="13189"/>
                    <a:pt x="16452" y="14144"/>
                  </a:cubicBezTo>
                  <a:cubicBezTo>
                    <a:pt x="17056" y="15017"/>
                    <a:pt x="17295" y="16103"/>
                    <a:pt x="17115" y="17158"/>
                  </a:cubicBezTo>
                  <a:cubicBezTo>
                    <a:pt x="17055" y="17619"/>
                    <a:pt x="16918" y="18062"/>
                    <a:pt x="16713" y="18470"/>
                  </a:cubicBezTo>
                  <a:cubicBezTo>
                    <a:pt x="16450" y="18993"/>
                    <a:pt x="16064" y="19547"/>
                    <a:pt x="16298" y="20112"/>
                  </a:cubicBezTo>
                  <a:cubicBezTo>
                    <a:pt x="16435" y="20441"/>
                    <a:pt x="16733" y="20628"/>
                    <a:pt x="17036" y="20741"/>
                  </a:cubicBezTo>
                  <a:cubicBezTo>
                    <a:pt x="17304" y="20841"/>
                    <a:pt x="17594" y="20892"/>
                    <a:pt x="17897" y="20880"/>
                  </a:cubicBezTo>
                  <a:lnTo>
                    <a:pt x="21448" y="20388"/>
                  </a:lnTo>
                  <a:cubicBezTo>
                    <a:pt x="21593" y="14575"/>
                    <a:pt x="19256" y="8988"/>
                    <a:pt x="15052" y="5098"/>
                  </a:cubicBezTo>
                  <a:cubicBezTo>
                    <a:pt x="10997" y="1345"/>
                    <a:pt x="5588" y="-469"/>
                    <a:pt x="160" y="104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lvl="0" algn="l" defTabSz="455612">
                <a:defRPr sz="1800">
                  <a:solidFill>
                    <a:srgbClr val="070707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42" name="Shape 2184"/>
            <p:cNvSpPr/>
            <p:nvPr/>
          </p:nvSpPr>
          <p:spPr>
            <a:xfrm>
              <a:off x="3196499" y="3390974"/>
              <a:ext cx="1445026" cy="11210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7" h="21571" extrusionOk="0">
                  <a:moveTo>
                    <a:pt x="0" y="314"/>
                  </a:moveTo>
                  <a:lnTo>
                    <a:pt x="4873" y="107"/>
                  </a:lnTo>
                  <a:cubicBezTo>
                    <a:pt x="5177" y="49"/>
                    <a:pt x="5475" y="84"/>
                    <a:pt x="5750" y="194"/>
                  </a:cubicBezTo>
                  <a:cubicBezTo>
                    <a:pt x="5978" y="285"/>
                    <a:pt x="6205" y="432"/>
                    <a:pt x="6345" y="709"/>
                  </a:cubicBezTo>
                  <a:cubicBezTo>
                    <a:pt x="6658" y="1329"/>
                    <a:pt x="6350" y="2057"/>
                    <a:pt x="6129" y="2710"/>
                  </a:cubicBezTo>
                  <a:cubicBezTo>
                    <a:pt x="6003" y="3083"/>
                    <a:pt x="5906" y="3473"/>
                    <a:pt x="5842" y="3879"/>
                  </a:cubicBezTo>
                  <a:cubicBezTo>
                    <a:pt x="5657" y="4975"/>
                    <a:pt x="5829" y="6120"/>
                    <a:pt x="6317" y="7049"/>
                  </a:cubicBezTo>
                  <a:cubicBezTo>
                    <a:pt x="6942" y="8238"/>
                    <a:pt x="7998" y="8928"/>
                    <a:pt x="9111" y="8873"/>
                  </a:cubicBezTo>
                  <a:cubicBezTo>
                    <a:pt x="9937" y="8859"/>
                    <a:pt x="10726" y="8423"/>
                    <a:pt x="11304" y="7660"/>
                  </a:cubicBezTo>
                  <a:cubicBezTo>
                    <a:pt x="11883" y="6896"/>
                    <a:pt x="12204" y="5865"/>
                    <a:pt x="12195" y="4796"/>
                  </a:cubicBezTo>
                  <a:cubicBezTo>
                    <a:pt x="12209" y="4355"/>
                    <a:pt x="12172" y="3913"/>
                    <a:pt x="12085" y="3486"/>
                  </a:cubicBezTo>
                  <a:cubicBezTo>
                    <a:pt x="12002" y="3084"/>
                    <a:pt x="11875" y="2699"/>
                    <a:pt x="11708" y="2342"/>
                  </a:cubicBezTo>
                  <a:cubicBezTo>
                    <a:pt x="11563" y="2084"/>
                    <a:pt x="11478" y="1788"/>
                    <a:pt x="11453" y="1486"/>
                  </a:cubicBezTo>
                  <a:cubicBezTo>
                    <a:pt x="11428" y="1189"/>
                    <a:pt x="11461" y="876"/>
                    <a:pt x="11590" y="606"/>
                  </a:cubicBezTo>
                  <a:cubicBezTo>
                    <a:pt x="11712" y="350"/>
                    <a:pt x="11902" y="175"/>
                    <a:pt x="12110" y="81"/>
                  </a:cubicBezTo>
                  <a:cubicBezTo>
                    <a:pt x="12322" y="-14"/>
                    <a:pt x="12557" y="-29"/>
                    <a:pt x="12785" y="54"/>
                  </a:cubicBezTo>
                  <a:lnTo>
                    <a:pt x="15202" y="732"/>
                  </a:lnTo>
                  <a:lnTo>
                    <a:pt x="14626" y="4996"/>
                  </a:lnTo>
                  <a:cubicBezTo>
                    <a:pt x="14456" y="5780"/>
                    <a:pt x="14650" y="6621"/>
                    <a:pt x="15126" y="7156"/>
                  </a:cubicBezTo>
                  <a:cubicBezTo>
                    <a:pt x="15656" y="7752"/>
                    <a:pt x="16420" y="7850"/>
                    <a:pt x="17031" y="7401"/>
                  </a:cubicBezTo>
                  <a:cubicBezTo>
                    <a:pt x="17428" y="7050"/>
                    <a:pt x="17871" y="6812"/>
                    <a:pt x="18332" y="6694"/>
                  </a:cubicBezTo>
                  <a:cubicBezTo>
                    <a:pt x="18760" y="6585"/>
                    <a:pt x="19207" y="6579"/>
                    <a:pt x="19641" y="6729"/>
                  </a:cubicBezTo>
                  <a:cubicBezTo>
                    <a:pt x="20809" y="7132"/>
                    <a:pt x="21600" y="8534"/>
                    <a:pt x="21539" y="10093"/>
                  </a:cubicBezTo>
                  <a:cubicBezTo>
                    <a:pt x="21597" y="11021"/>
                    <a:pt x="21348" y="11937"/>
                    <a:pt x="20851" y="12614"/>
                  </a:cubicBezTo>
                  <a:cubicBezTo>
                    <a:pt x="20191" y="13515"/>
                    <a:pt x="19198" y="13871"/>
                    <a:pt x="18271" y="13539"/>
                  </a:cubicBezTo>
                  <a:cubicBezTo>
                    <a:pt x="18003" y="13375"/>
                    <a:pt x="17745" y="13204"/>
                    <a:pt x="17495" y="13027"/>
                  </a:cubicBezTo>
                  <a:cubicBezTo>
                    <a:pt x="17264" y="12862"/>
                    <a:pt x="17035" y="12690"/>
                    <a:pt x="16785" y="12597"/>
                  </a:cubicBezTo>
                  <a:cubicBezTo>
                    <a:pt x="16368" y="12443"/>
                    <a:pt x="15905" y="12508"/>
                    <a:pt x="15521" y="12836"/>
                  </a:cubicBezTo>
                  <a:cubicBezTo>
                    <a:pt x="15219" y="13093"/>
                    <a:pt x="15015" y="13476"/>
                    <a:pt x="14886" y="13887"/>
                  </a:cubicBezTo>
                  <a:cubicBezTo>
                    <a:pt x="14743" y="14344"/>
                    <a:pt x="14689" y="14850"/>
                    <a:pt x="14743" y="15362"/>
                  </a:cubicBezTo>
                  <a:lnTo>
                    <a:pt x="15381" y="21571"/>
                  </a:lnTo>
                  <a:lnTo>
                    <a:pt x="7502" y="21086"/>
                  </a:lnTo>
                  <a:cubicBezTo>
                    <a:pt x="7111" y="20411"/>
                    <a:pt x="6769" y="19690"/>
                    <a:pt x="6481" y="18934"/>
                  </a:cubicBezTo>
                  <a:cubicBezTo>
                    <a:pt x="6130" y="18010"/>
                    <a:pt x="5862" y="17039"/>
                    <a:pt x="5681" y="16038"/>
                  </a:cubicBezTo>
                  <a:cubicBezTo>
                    <a:pt x="5501" y="15157"/>
                    <a:pt x="5192" y="14328"/>
                    <a:pt x="4772" y="13596"/>
                  </a:cubicBezTo>
                  <a:cubicBezTo>
                    <a:pt x="4534" y="13180"/>
                    <a:pt x="4261" y="12799"/>
                    <a:pt x="3990" y="12418"/>
                  </a:cubicBezTo>
                  <a:cubicBezTo>
                    <a:pt x="3744" y="12074"/>
                    <a:pt x="3500" y="11728"/>
                    <a:pt x="3256" y="11381"/>
                  </a:cubicBezTo>
                  <a:cubicBezTo>
                    <a:pt x="2270" y="9728"/>
                    <a:pt x="1486" y="7891"/>
                    <a:pt x="930" y="5932"/>
                  </a:cubicBezTo>
                  <a:cubicBezTo>
                    <a:pt x="417" y="4125"/>
                    <a:pt x="104" y="2234"/>
                    <a:pt x="0" y="314"/>
                  </a:cubicBezTo>
                  <a:close/>
                </a:path>
              </a:pathLst>
            </a:custGeom>
            <a:solidFill>
              <a:srgbClr val="00B05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lvl="0" algn="l" defTabSz="455612">
                <a:defRPr sz="1800">
                  <a:solidFill>
                    <a:srgbClr val="070707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43" name="Shape 2185"/>
            <p:cNvSpPr/>
            <p:nvPr/>
          </p:nvSpPr>
          <p:spPr>
            <a:xfrm>
              <a:off x="4203775" y="2934757"/>
              <a:ext cx="1166487" cy="15547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9" h="21444" extrusionOk="0">
                  <a:moveTo>
                    <a:pt x="1113" y="5524"/>
                  </a:moveTo>
                  <a:lnTo>
                    <a:pt x="50" y="9863"/>
                  </a:lnTo>
                  <a:cubicBezTo>
                    <a:pt x="-31" y="10120"/>
                    <a:pt x="-12" y="10380"/>
                    <a:pt x="91" y="10618"/>
                  </a:cubicBezTo>
                  <a:cubicBezTo>
                    <a:pt x="181" y="10828"/>
                    <a:pt x="339" y="11028"/>
                    <a:pt x="597" y="11160"/>
                  </a:cubicBezTo>
                  <a:cubicBezTo>
                    <a:pt x="871" y="11300"/>
                    <a:pt x="1200" y="11335"/>
                    <a:pt x="1514" y="11318"/>
                  </a:cubicBezTo>
                  <a:cubicBezTo>
                    <a:pt x="1872" y="11299"/>
                    <a:pt x="2227" y="11212"/>
                    <a:pt x="2541" y="11055"/>
                  </a:cubicBezTo>
                  <a:cubicBezTo>
                    <a:pt x="3686" y="10503"/>
                    <a:pt x="5126" y="10420"/>
                    <a:pt x="6371" y="10834"/>
                  </a:cubicBezTo>
                  <a:cubicBezTo>
                    <a:pt x="7680" y="11269"/>
                    <a:pt x="8582" y="12188"/>
                    <a:pt x="8744" y="13250"/>
                  </a:cubicBezTo>
                  <a:cubicBezTo>
                    <a:pt x="8916" y="14139"/>
                    <a:pt x="8522" y="15036"/>
                    <a:pt x="7680" y="15677"/>
                  </a:cubicBezTo>
                  <a:cubicBezTo>
                    <a:pt x="6641" y="16468"/>
                    <a:pt x="5093" y="16754"/>
                    <a:pt x="3679" y="16417"/>
                  </a:cubicBezTo>
                  <a:cubicBezTo>
                    <a:pt x="3315" y="16281"/>
                    <a:pt x="2953" y="16159"/>
                    <a:pt x="2587" y="16051"/>
                  </a:cubicBezTo>
                  <a:cubicBezTo>
                    <a:pt x="2030" y="15886"/>
                    <a:pt x="1394" y="15743"/>
                    <a:pt x="844" y="15975"/>
                  </a:cubicBezTo>
                  <a:cubicBezTo>
                    <a:pt x="546" y="16101"/>
                    <a:pt x="357" y="16313"/>
                    <a:pt x="245" y="16537"/>
                  </a:cubicBezTo>
                  <a:cubicBezTo>
                    <a:pt x="126" y="16776"/>
                    <a:pt x="90" y="17041"/>
                    <a:pt x="158" y="17308"/>
                  </a:cubicBezTo>
                  <a:lnTo>
                    <a:pt x="958" y="21444"/>
                  </a:lnTo>
                  <a:lnTo>
                    <a:pt x="11789" y="21421"/>
                  </a:lnTo>
                  <a:cubicBezTo>
                    <a:pt x="12290" y="21042"/>
                    <a:pt x="12711" y="20608"/>
                    <a:pt x="13035" y="20134"/>
                  </a:cubicBezTo>
                  <a:cubicBezTo>
                    <a:pt x="13378" y="19631"/>
                    <a:pt x="13609" y="19089"/>
                    <a:pt x="13717" y="18531"/>
                  </a:cubicBezTo>
                  <a:cubicBezTo>
                    <a:pt x="13955" y="17950"/>
                    <a:pt x="14289" y="17393"/>
                    <a:pt x="14713" y="16875"/>
                  </a:cubicBezTo>
                  <a:cubicBezTo>
                    <a:pt x="15148" y="16342"/>
                    <a:pt x="15674" y="15854"/>
                    <a:pt x="16276" y="15422"/>
                  </a:cubicBezTo>
                  <a:cubicBezTo>
                    <a:pt x="17987" y="14068"/>
                    <a:pt x="19334" y="12481"/>
                    <a:pt x="20243" y="10747"/>
                  </a:cubicBezTo>
                  <a:cubicBezTo>
                    <a:pt x="21043" y="9221"/>
                    <a:pt x="21492" y="7605"/>
                    <a:pt x="21569" y="5967"/>
                  </a:cubicBezTo>
                  <a:lnTo>
                    <a:pt x="18132" y="6285"/>
                  </a:lnTo>
                  <a:cubicBezTo>
                    <a:pt x="17862" y="6304"/>
                    <a:pt x="17593" y="6301"/>
                    <a:pt x="17330" y="6276"/>
                  </a:cubicBezTo>
                  <a:cubicBezTo>
                    <a:pt x="16700" y="6215"/>
                    <a:pt x="16071" y="6026"/>
                    <a:pt x="15700" y="5619"/>
                  </a:cubicBezTo>
                  <a:cubicBezTo>
                    <a:pt x="15375" y="5263"/>
                    <a:pt x="15332" y="4804"/>
                    <a:pt x="15590" y="4419"/>
                  </a:cubicBezTo>
                  <a:cubicBezTo>
                    <a:pt x="17038" y="3297"/>
                    <a:pt x="16870" y="1489"/>
                    <a:pt x="15230" y="526"/>
                  </a:cubicBezTo>
                  <a:cubicBezTo>
                    <a:pt x="14280" y="-32"/>
                    <a:pt x="12998" y="-156"/>
                    <a:pt x="11889" y="202"/>
                  </a:cubicBezTo>
                  <a:cubicBezTo>
                    <a:pt x="11204" y="429"/>
                    <a:pt x="10647" y="828"/>
                    <a:pt x="10317" y="1330"/>
                  </a:cubicBezTo>
                  <a:cubicBezTo>
                    <a:pt x="9996" y="1818"/>
                    <a:pt x="9907" y="2356"/>
                    <a:pt x="9979" y="2877"/>
                  </a:cubicBezTo>
                  <a:cubicBezTo>
                    <a:pt x="10052" y="3399"/>
                    <a:pt x="10288" y="3911"/>
                    <a:pt x="10686" y="4368"/>
                  </a:cubicBezTo>
                  <a:cubicBezTo>
                    <a:pt x="10959" y="4864"/>
                    <a:pt x="10859" y="5430"/>
                    <a:pt x="10422" y="5855"/>
                  </a:cubicBezTo>
                  <a:cubicBezTo>
                    <a:pt x="9948" y="6318"/>
                    <a:pt x="9161" y="6537"/>
                    <a:pt x="8396" y="6420"/>
                  </a:cubicBezTo>
                  <a:lnTo>
                    <a:pt x="1113" y="5524"/>
                  </a:lnTo>
                  <a:close/>
                </a:path>
              </a:pathLst>
            </a:custGeom>
            <a:solidFill>
              <a:srgbClr val="FF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lvl="0" algn="l" defTabSz="455612">
                <a:defRPr sz="1800">
                  <a:solidFill>
                    <a:srgbClr val="070707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44" name="Shape 2186"/>
            <p:cNvSpPr/>
            <p:nvPr/>
          </p:nvSpPr>
          <p:spPr>
            <a:xfrm>
              <a:off x="4056601" y="5519060"/>
              <a:ext cx="407295" cy="1167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98" extrusionOk="0">
                  <a:moveTo>
                    <a:pt x="0" y="102"/>
                  </a:moveTo>
                  <a:lnTo>
                    <a:pt x="2875" y="16209"/>
                  </a:lnTo>
                  <a:cubicBezTo>
                    <a:pt x="5436" y="19804"/>
                    <a:pt x="8177" y="21600"/>
                    <a:pt x="10940" y="21494"/>
                  </a:cubicBezTo>
                  <a:cubicBezTo>
                    <a:pt x="13546" y="21393"/>
                    <a:pt x="16123" y="19601"/>
                    <a:pt x="18539" y="16209"/>
                  </a:cubicBezTo>
                  <a:lnTo>
                    <a:pt x="21600" y="0"/>
                  </a:lnTo>
                  <a:lnTo>
                    <a:pt x="0" y="102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solidFill>
                <a:schemeClr val="accent1"/>
              </a:solidFill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lvl="0" algn="l" defTabSz="455612">
                <a:defRPr sz="1800">
                  <a:solidFill>
                    <a:srgbClr val="070707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45" name="Shape 2187"/>
            <p:cNvSpPr/>
            <p:nvPr/>
          </p:nvSpPr>
          <p:spPr>
            <a:xfrm>
              <a:off x="3684017" y="4467939"/>
              <a:ext cx="591994" cy="2492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4909" y="21584"/>
                  </a:lnTo>
                  <a:cubicBezTo>
                    <a:pt x="3985" y="20289"/>
                    <a:pt x="3089" y="18888"/>
                    <a:pt x="2222" y="17386"/>
                  </a:cubicBezTo>
                  <a:cubicBezTo>
                    <a:pt x="1456" y="16058"/>
                    <a:pt x="715" y="14653"/>
                    <a:pt x="0" y="13173"/>
                  </a:cubicBezTo>
                  <a:lnTo>
                    <a:pt x="110" y="0"/>
                  </a:lnTo>
                  <a:close/>
                </a:path>
              </a:pathLst>
            </a:custGeom>
            <a:solidFill>
              <a:srgbClr val="A7ABB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lvl="0" algn="l" defTabSz="455612">
                <a:defRPr sz="1800">
                  <a:solidFill>
                    <a:srgbClr val="070707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46" name="Shape 2188"/>
            <p:cNvSpPr/>
            <p:nvPr/>
          </p:nvSpPr>
          <p:spPr>
            <a:xfrm>
              <a:off x="4267407" y="4467939"/>
              <a:ext cx="589498" cy="2492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9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16691" y="21584"/>
                  </a:lnTo>
                  <a:cubicBezTo>
                    <a:pt x="17615" y="20289"/>
                    <a:pt x="18511" y="18888"/>
                    <a:pt x="19378" y="17386"/>
                  </a:cubicBezTo>
                  <a:cubicBezTo>
                    <a:pt x="20144" y="16058"/>
                    <a:pt x="20885" y="14653"/>
                    <a:pt x="21600" y="13173"/>
                  </a:cubicBezTo>
                  <a:lnTo>
                    <a:pt x="21490" y="0"/>
                  </a:lnTo>
                  <a:close/>
                </a:path>
              </a:pathLst>
            </a:custGeom>
            <a:solidFill>
              <a:srgbClr val="A7ABB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lvl="0" algn="l" defTabSz="455612">
                <a:defRPr sz="1800">
                  <a:solidFill>
                    <a:srgbClr val="070707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47" name="Shape 2189"/>
            <p:cNvSpPr/>
            <p:nvPr/>
          </p:nvSpPr>
          <p:spPr>
            <a:xfrm>
              <a:off x="3682883" y="4465437"/>
              <a:ext cx="1172956" cy="72311"/>
            </a:xfrm>
            <a:prstGeom prst="rect">
              <a:avLst/>
            </a:prstGeom>
            <a:solidFill>
              <a:srgbClr val="A7ABB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lvl="0" algn="l" defTabSz="455612">
                <a:defRPr sz="2400"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48" name="Shape 2190"/>
            <p:cNvSpPr/>
            <p:nvPr/>
          </p:nvSpPr>
          <p:spPr>
            <a:xfrm rot="21245215">
              <a:off x="3897603" y="4898824"/>
              <a:ext cx="719279" cy="72310"/>
            </a:xfrm>
            <a:prstGeom prst="roundRect">
              <a:avLst>
                <a:gd name="adj" fmla="val 50000"/>
              </a:avLst>
            </a:prstGeom>
            <a:solidFill>
              <a:srgbClr val="A7ABB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lvl="0" defTabSz="825500">
                <a:defRPr sz="3200"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49" name="Shape 2191"/>
            <p:cNvSpPr/>
            <p:nvPr/>
          </p:nvSpPr>
          <p:spPr>
            <a:xfrm rot="21245215">
              <a:off x="3897603" y="5021445"/>
              <a:ext cx="719279" cy="72310"/>
            </a:xfrm>
            <a:prstGeom prst="roundRect">
              <a:avLst>
                <a:gd name="adj" fmla="val 50000"/>
              </a:avLst>
            </a:prstGeom>
            <a:solidFill>
              <a:srgbClr val="A7ABB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lvl="0" defTabSz="825500">
                <a:defRPr sz="3200"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50" name="Shape 2192"/>
            <p:cNvSpPr/>
            <p:nvPr/>
          </p:nvSpPr>
          <p:spPr>
            <a:xfrm rot="21245215">
              <a:off x="3897603" y="5144066"/>
              <a:ext cx="719279" cy="72311"/>
            </a:xfrm>
            <a:prstGeom prst="roundRect">
              <a:avLst>
                <a:gd name="adj" fmla="val 50000"/>
              </a:avLst>
            </a:prstGeom>
            <a:solidFill>
              <a:srgbClr val="A7ABB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lvl="0" defTabSz="825500">
                <a:defRPr sz="3200"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51" name="Shape 2193"/>
            <p:cNvSpPr/>
            <p:nvPr/>
          </p:nvSpPr>
          <p:spPr>
            <a:xfrm rot="21245215">
              <a:off x="3897603" y="5266688"/>
              <a:ext cx="719279" cy="72310"/>
            </a:xfrm>
            <a:prstGeom prst="roundRect">
              <a:avLst>
                <a:gd name="adj" fmla="val 50000"/>
              </a:avLst>
            </a:prstGeom>
            <a:solidFill>
              <a:srgbClr val="A7ABB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lvl="0" defTabSz="825500">
                <a:defRPr sz="3200"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</p:grpSp>
      <p:sp>
        <p:nvSpPr>
          <p:cNvPr id="25" name="Espace réservé du numéro de diapositive 2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25</a:t>
            </a:fld>
            <a:endParaRPr lang="fr-FR"/>
          </a:p>
        </p:txBody>
      </p:sp>
      <p:pic>
        <p:nvPicPr>
          <p:cNvPr id="26626" name="Picture 2" descr="Société Générale Pro : Offres, tarifs et avis sur cette banque  professionnell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86380" y="2428868"/>
            <a:ext cx="2755899" cy="17391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4280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/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" b="42"/>
          <a:stretch>
            <a:fillRect/>
          </a:stretch>
        </p:blipFill>
        <p:spPr>
          <a:xfrm>
            <a:off x="785786" y="1357298"/>
            <a:ext cx="1421516" cy="1894789"/>
          </a:xfrm>
          <a:ln>
            <a:solidFill>
              <a:srgbClr val="FF2B2A"/>
            </a:solidFill>
          </a:ln>
        </p:spPr>
      </p:pic>
      <p:pic>
        <p:nvPicPr>
          <p:cNvPr id="9" name="Picture Placeholder 8"/>
          <p:cNvPicPr>
            <a:picLocks noGrp="1" noChangeAspect="1"/>
          </p:cNvPicPr>
          <p:nvPr>
            <p:ph type="pic" sz="quarter" idx="18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" b="42"/>
          <a:stretch>
            <a:fillRect/>
          </a:stretch>
        </p:blipFill>
        <p:spPr>
          <a:xfrm>
            <a:off x="2786050" y="2786058"/>
            <a:ext cx="1421516" cy="1894789"/>
          </a:xfrm>
          <a:ln>
            <a:solidFill>
              <a:srgbClr val="85C401"/>
            </a:solidFill>
          </a:ln>
        </p:spPr>
      </p:pic>
      <p:pic>
        <p:nvPicPr>
          <p:cNvPr id="10" name="Picture Placeholder 9"/>
          <p:cNvPicPr>
            <a:picLocks noGrp="1" noChangeAspect="1"/>
          </p:cNvPicPr>
          <p:nvPr>
            <p:ph type="pic" sz="quarter" idx="2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" b="42"/>
          <a:stretch>
            <a:fillRect/>
          </a:stretch>
        </p:blipFill>
        <p:spPr>
          <a:xfrm>
            <a:off x="4572000" y="1000108"/>
            <a:ext cx="1421516" cy="1894789"/>
          </a:xfrm>
          <a:ln>
            <a:solidFill>
              <a:srgbClr val="3EB8CD"/>
            </a:solidFill>
          </a:ln>
        </p:spPr>
      </p:pic>
      <p:pic>
        <p:nvPicPr>
          <p:cNvPr id="11" name="Picture Placeholder 10"/>
          <p:cNvPicPr>
            <a:picLocks noGrp="1" noChangeAspect="1"/>
          </p:cNvPicPr>
          <p:nvPr>
            <p:ph type="pic" sz="quarter" idx="24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" b="42"/>
          <a:stretch>
            <a:fillRect/>
          </a:stretch>
        </p:blipFill>
        <p:spPr>
          <a:xfrm>
            <a:off x="7000892" y="2500306"/>
            <a:ext cx="1421516" cy="1894789"/>
          </a:xfrm>
          <a:ln>
            <a:solidFill>
              <a:srgbClr val="FFA803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57224" y="3500438"/>
            <a:ext cx="1500198" cy="110799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Répartissez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vous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 en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équipes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de 5 à 6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étudiants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32" name="Oval 31"/>
          <p:cNvSpPr/>
          <p:nvPr/>
        </p:nvSpPr>
        <p:spPr>
          <a:xfrm>
            <a:off x="1785918" y="1071546"/>
            <a:ext cx="686790" cy="915720"/>
          </a:xfrm>
          <a:prstGeom prst="ellipse">
            <a:avLst/>
          </a:prstGeom>
          <a:blipFill>
            <a:blip r:embed="rId7" cstate="print"/>
            <a:stretch>
              <a:fillRect/>
            </a:stretch>
          </a:blipFill>
          <a:ln w="190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733" dirty="0">
              <a:solidFill>
                <a:schemeClr val="accent1">
                  <a:lumMod val="75000"/>
                </a:schemeClr>
              </a:solidFill>
              <a:latin typeface="FontAwesome" pitchFamily="2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071802" y="4857760"/>
            <a:ext cx="1009445" cy="110799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Vous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disposez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de 15 minutes </a:t>
            </a:r>
          </a:p>
        </p:txBody>
      </p:sp>
      <p:sp>
        <p:nvSpPr>
          <p:cNvPr id="63" name="Oval 62"/>
          <p:cNvSpPr/>
          <p:nvPr/>
        </p:nvSpPr>
        <p:spPr>
          <a:xfrm>
            <a:off x="3357554" y="2285992"/>
            <a:ext cx="686790" cy="915720"/>
          </a:xfrm>
          <a:prstGeom prst="ellipse">
            <a:avLst/>
          </a:prstGeom>
          <a:blipFill>
            <a:blip r:embed="rId7" cstate="print"/>
            <a:stretch>
              <a:fillRect/>
            </a:stretch>
          </a:blipFill>
          <a:ln w="190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733" dirty="0">
              <a:solidFill>
                <a:schemeClr val="accent2">
                  <a:lumMod val="50000"/>
                </a:schemeClr>
              </a:solidFill>
              <a:latin typeface="FontAwesome" pitchFamily="2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500562" y="3143248"/>
            <a:ext cx="2286016" cy="5539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Lisez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le document,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remplissez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la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trame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68" name="Oval 67"/>
          <p:cNvSpPr/>
          <p:nvPr/>
        </p:nvSpPr>
        <p:spPr>
          <a:xfrm>
            <a:off x="5643570" y="857232"/>
            <a:ext cx="686790" cy="915720"/>
          </a:xfrm>
          <a:prstGeom prst="ellipse">
            <a:avLst/>
          </a:prstGeom>
          <a:blipFill>
            <a:blip r:embed="rId7" cstate="print"/>
            <a:stretch>
              <a:fillRect/>
            </a:stretch>
          </a:blipFill>
          <a:ln w="190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733" dirty="0">
              <a:solidFill>
                <a:schemeClr val="accent3">
                  <a:lumMod val="75000"/>
                </a:schemeClr>
              </a:solidFill>
              <a:latin typeface="FontAwesome" pitchFamily="2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7000892" y="4429132"/>
            <a:ext cx="1773234" cy="33239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Nommez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un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rapporteur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par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équipe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pour la restitution</a:t>
            </a:r>
          </a:p>
          <a:p>
            <a:pPr algn="ctr"/>
            <a:endParaRPr lang="en-US" sz="1600" b="1" dirty="0">
              <a:solidFill>
                <a:srgbClr val="FFA803"/>
              </a:solidFill>
            </a:endParaRPr>
          </a:p>
          <a:p>
            <a:pPr algn="ctr"/>
            <a:endParaRPr lang="en-US" sz="1600" b="1" dirty="0">
              <a:solidFill>
                <a:srgbClr val="FFA803"/>
              </a:solidFill>
            </a:endParaRPr>
          </a:p>
          <a:p>
            <a:pPr algn="ctr"/>
            <a:endParaRPr lang="en-US" sz="1600" b="1" dirty="0">
              <a:solidFill>
                <a:srgbClr val="FFA803"/>
              </a:solidFill>
            </a:endParaRPr>
          </a:p>
          <a:p>
            <a:pPr algn="ctr"/>
            <a:endParaRPr lang="en-US" sz="1600" b="1" dirty="0">
              <a:solidFill>
                <a:srgbClr val="FFA803"/>
              </a:solidFill>
            </a:endParaRPr>
          </a:p>
          <a:p>
            <a:pPr algn="ctr"/>
            <a:endParaRPr lang="en-US" sz="1600" b="1" dirty="0">
              <a:solidFill>
                <a:srgbClr val="FFA803"/>
              </a:solidFill>
            </a:endParaRPr>
          </a:p>
          <a:p>
            <a:pPr algn="ctr"/>
            <a:endParaRPr lang="en-US" sz="1600" b="1" dirty="0">
              <a:solidFill>
                <a:srgbClr val="FFA803"/>
              </a:solidFill>
            </a:endParaRPr>
          </a:p>
          <a:p>
            <a:pPr algn="ctr"/>
            <a:endParaRPr lang="en-US" sz="1600" b="1" dirty="0">
              <a:solidFill>
                <a:srgbClr val="FFA803"/>
              </a:solidFill>
            </a:endParaRPr>
          </a:p>
          <a:p>
            <a:pPr algn="ctr"/>
            <a:endParaRPr lang="en-US" sz="1600" b="1" dirty="0">
              <a:solidFill>
                <a:srgbClr val="FFA803"/>
              </a:solidFill>
            </a:endParaRPr>
          </a:p>
          <a:p>
            <a:pPr algn="ctr"/>
            <a:endParaRPr lang="en-US" sz="1600" b="1" dirty="0">
              <a:solidFill>
                <a:srgbClr val="FFA803"/>
              </a:solidFill>
            </a:endParaRPr>
          </a:p>
        </p:txBody>
      </p:sp>
      <p:sp>
        <p:nvSpPr>
          <p:cNvPr id="73" name="Oval 72"/>
          <p:cNvSpPr/>
          <p:nvPr/>
        </p:nvSpPr>
        <p:spPr>
          <a:xfrm>
            <a:off x="7786710" y="2071678"/>
            <a:ext cx="686790" cy="915720"/>
          </a:xfrm>
          <a:prstGeom prst="ellipse">
            <a:avLst/>
          </a:prstGeom>
          <a:blipFill>
            <a:blip r:embed="rId7" cstate="print"/>
            <a:stretch>
              <a:fillRect/>
            </a:stretch>
          </a:blipFill>
          <a:ln w="190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0" tIns="0" rIns="0" rtlCol="0" anchor="ctr"/>
          <a:lstStyle/>
          <a:p>
            <a:pPr algn="ctr"/>
            <a:endParaRPr lang="en-US" sz="3200" dirty="0">
              <a:solidFill>
                <a:schemeClr val="accent4">
                  <a:lumMod val="75000"/>
                </a:schemeClr>
              </a:solidFill>
              <a:latin typeface="FontAwesome" pitchFamily="2" charset="0"/>
            </a:endParaRPr>
          </a:p>
        </p:txBody>
      </p:sp>
      <p:sp>
        <p:nvSpPr>
          <p:cNvPr id="28" name="TextBox 66"/>
          <p:cNvSpPr txBox="1"/>
          <p:nvPr/>
        </p:nvSpPr>
        <p:spPr>
          <a:xfrm>
            <a:off x="428596" y="357166"/>
            <a:ext cx="56435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Baskerville Old Face"/>
              </a:rPr>
              <a:t>Les </a:t>
            </a:r>
            <a:r>
              <a:rPr lang="en-US" sz="3200" b="1" dirty="0" err="1">
                <a:solidFill>
                  <a:srgbClr val="FF0000"/>
                </a:solidFill>
                <a:latin typeface="Baskerville Old Face"/>
              </a:rPr>
              <a:t>régles</a:t>
            </a:r>
            <a:r>
              <a:rPr lang="en-US" sz="3200" b="1" dirty="0">
                <a:solidFill>
                  <a:srgbClr val="FF0000"/>
                </a:solidFill>
                <a:latin typeface="Baskerville Old Face"/>
              </a:rPr>
              <a:t> du </a:t>
            </a:r>
            <a:r>
              <a:rPr lang="en-US" sz="3200" b="1" dirty="0" err="1">
                <a:solidFill>
                  <a:srgbClr val="FF0000"/>
                </a:solidFill>
                <a:latin typeface="Baskerville Old Face"/>
              </a:rPr>
              <a:t>jeu</a:t>
            </a:r>
            <a:r>
              <a:rPr lang="en-US" sz="3200" b="1" dirty="0">
                <a:solidFill>
                  <a:srgbClr val="FF0000"/>
                </a:solidFill>
                <a:latin typeface="Baskerville Old Face"/>
              </a:rPr>
              <a:t> </a:t>
            </a:r>
          </a:p>
          <a:p>
            <a:pPr algn="r"/>
            <a:endParaRPr lang="en-US" dirty="0">
              <a:solidFill>
                <a:srgbClr val="56595E"/>
              </a:solidFill>
              <a:latin typeface="Candara" panose="020E0502030303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460" y="0"/>
            <a:ext cx="3682540" cy="2146032"/>
          </a:xfrm>
          <a:prstGeom prst="rect">
            <a:avLst/>
          </a:prstGeom>
        </p:spPr>
      </p:pic>
      <p:sp>
        <p:nvSpPr>
          <p:cNvPr id="17" name="Isosceles Triangle 46">
            <a:extLst>
              <a:ext uri="{FF2B5EF4-FFF2-40B4-BE49-F238E27FC236}">
                <a16:creationId xmlns:a16="http://schemas.microsoft.com/office/drawing/2014/main" id="{295CE181-88D7-4815-BC0F-BC87C9322824}"/>
              </a:ext>
            </a:extLst>
          </p:cNvPr>
          <p:cNvSpPr/>
          <p:nvPr/>
        </p:nvSpPr>
        <p:spPr>
          <a:xfrm rot="5400000">
            <a:off x="-31494" y="460098"/>
            <a:ext cx="510899" cy="447911"/>
          </a:xfrm>
          <a:prstGeom prst="triangl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1805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60" grpId="0"/>
      <p:bldP spid="63" grpId="0" animBg="1"/>
      <p:bldP spid="65" grpId="0"/>
      <p:bldP spid="68" grpId="0" animBg="1"/>
      <p:bldP spid="70" grpId="0"/>
      <p:bldP spid="73" grpId="0" animBg="1"/>
      <p:bldP spid="28" grpId="0"/>
      <p:bldP spid="1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/>
          <p:cNvGrpSpPr/>
          <p:nvPr/>
        </p:nvGrpSpPr>
        <p:grpSpPr>
          <a:xfrm>
            <a:off x="2500298" y="2571744"/>
            <a:ext cx="3786214" cy="2000264"/>
            <a:chOff x="6804029" y="534479"/>
            <a:chExt cx="2376021" cy="1326088"/>
          </a:xfrm>
          <a:solidFill>
            <a:srgbClr val="FF2B2A"/>
          </a:solidFill>
        </p:grpSpPr>
        <p:sp>
          <p:nvSpPr>
            <p:cNvPr id="76" name="Freeform 7"/>
            <p:cNvSpPr>
              <a:spLocks/>
            </p:cNvSpPr>
            <p:nvPr/>
          </p:nvSpPr>
          <p:spPr bwMode="auto">
            <a:xfrm>
              <a:off x="6804029" y="534479"/>
              <a:ext cx="2376021" cy="902687"/>
            </a:xfrm>
            <a:custGeom>
              <a:avLst/>
              <a:gdLst>
                <a:gd name="T0" fmla="*/ 1027 w 1882"/>
                <a:gd name="T1" fmla="*/ 1 h 715"/>
                <a:gd name="T2" fmla="*/ 1192 w 1882"/>
                <a:gd name="T3" fmla="*/ 13 h 715"/>
                <a:gd name="T4" fmla="*/ 1345 w 1882"/>
                <a:gd name="T5" fmla="*/ 34 h 715"/>
                <a:gd name="T6" fmla="*/ 1483 w 1882"/>
                <a:gd name="T7" fmla="*/ 65 h 715"/>
                <a:gd name="T8" fmla="*/ 1607 w 1882"/>
                <a:gd name="T9" fmla="*/ 105 h 715"/>
                <a:gd name="T10" fmla="*/ 1710 w 1882"/>
                <a:gd name="T11" fmla="*/ 151 h 715"/>
                <a:gd name="T12" fmla="*/ 1791 w 1882"/>
                <a:gd name="T13" fmla="*/ 204 h 715"/>
                <a:gd name="T14" fmla="*/ 1848 w 1882"/>
                <a:gd name="T15" fmla="*/ 263 h 715"/>
                <a:gd name="T16" fmla="*/ 1879 w 1882"/>
                <a:gd name="T17" fmla="*/ 324 h 715"/>
                <a:gd name="T18" fmla="*/ 1879 w 1882"/>
                <a:gd name="T19" fmla="*/ 389 h 715"/>
                <a:gd name="T20" fmla="*/ 1848 w 1882"/>
                <a:gd name="T21" fmla="*/ 452 h 715"/>
                <a:gd name="T22" fmla="*/ 1791 w 1882"/>
                <a:gd name="T23" fmla="*/ 510 h 715"/>
                <a:gd name="T24" fmla="*/ 1710 w 1882"/>
                <a:gd name="T25" fmla="*/ 564 h 715"/>
                <a:gd name="T26" fmla="*/ 1607 w 1882"/>
                <a:gd name="T27" fmla="*/ 610 h 715"/>
                <a:gd name="T28" fmla="*/ 1483 w 1882"/>
                <a:gd name="T29" fmla="*/ 650 h 715"/>
                <a:gd name="T30" fmla="*/ 1345 w 1882"/>
                <a:gd name="T31" fmla="*/ 680 h 715"/>
                <a:gd name="T32" fmla="*/ 1192 w 1882"/>
                <a:gd name="T33" fmla="*/ 702 h 715"/>
                <a:gd name="T34" fmla="*/ 1027 w 1882"/>
                <a:gd name="T35" fmla="*/ 714 h 715"/>
                <a:gd name="T36" fmla="*/ 856 w 1882"/>
                <a:gd name="T37" fmla="*/ 714 h 715"/>
                <a:gd name="T38" fmla="*/ 691 w 1882"/>
                <a:gd name="T39" fmla="*/ 702 h 715"/>
                <a:gd name="T40" fmla="*/ 537 w 1882"/>
                <a:gd name="T41" fmla="*/ 680 h 715"/>
                <a:gd name="T42" fmla="*/ 399 w 1882"/>
                <a:gd name="T43" fmla="*/ 650 h 715"/>
                <a:gd name="T44" fmla="*/ 276 w 1882"/>
                <a:gd name="T45" fmla="*/ 610 h 715"/>
                <a:gd name="T46" fmla="*/ 172 w 1882"/>
                <a:gd name="T47" fmla="*/ 564 h 715"/>
                <a:gd name="T48" fmla="*/ 91 w 1882"/>
                <a:gd name="T49" fmla="*/ 510 h 715"/>
                <a:gd name="T50" fmla="*/ 34 w 1882"/>
                <a:gd name="T51" fmla="*/ 452 h 715"/>
                <a:gd name="T52" fmla="*/ 4 w 1882"/>
                <a:gd name="T53" fmla="*/ 389 h 715"/>
                <a:gd name="T54" fmla="*/ 4 w 1882"/>
                <a:gd name="T55" fmla="*/ 324 h 715"/>
                <a:gd name="T56" fmla="*/ 34 w 1882"/>
                <a:gd name="T57" fmla="*/ 263 h 715"/>
                <a:gd name="T58" fmla="*/ 91 w 1882"/>
                <a:gd name="T59" fmla="*/ 204 h 715"/>
                <a:gd name="T60" fmla="*/ 172 w 1882"/>
                <a:gd name="T61" fmla="*/ 151 h 715"/>
                <a:gd name="T62" fmla="*/ 276 w 1882"/>
                <a:gd name="T63" fmla="*/ 105 h 715"/>
                <a:gd name="T64" fmla="*/ 399 w 1882"/>
                <a:gd name="T65" fmla="*/ 65 h 715"/>
                <a:gd name="T66" fmla="*/ 537 w 1882"/>
                <a:gd name="T67" fmla="*/ 34 h 715"/>
                <a:gd name="T68" fmla="*/ 691 w 1882"/>
                <a:gd name="T69" fmla="*/ 13 h 715"/>
                <a:gd name="T70" fmla="*/ 856 w 1882"/>
                <a:gd name="T71" fmla="*/ 1 h 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82" h="715">
                  <a:moveTo>
                    <a:pt x="941" y="0"/>
                  </a:moveTo>
                  <a:lnTo>
                    <a:pt x="1027" y="1"/>
                  </a:lnTo>
                  <a:lnTo>
                    <a:pt x="1110" y="6"/>
                  </a:lnTo>
                  <a:lnTo>
                    <a:pt x="1192" y="13"/>
                  </a:lnTo>
                  <a:lnTo>
                    <a:pt x="1270" y="22"/>
                  </a:lnTo>
                  <a:lnTo>
                    <a:pt x="1345" y="34"/>
                  </a:lnTo>
                  <a:lnTo>
                    <a:pt x="1416" y="49"/>
                  </a:lnTo>
                  <a:lnTo>
                    <a:pt x="1483" y="65"/>
                  </a:lnTo>
                  <a:lnTo>
                    <a:pt x="1547" y="84"/>
                  </a:lnTo>
                  <a:lnTo>
                    <a:pt x="1607" y="105"/>
                  </a:lnTo>
                  <a:lnTo>
                    <a:pt x="1661" y="127"/>
                  </a:lnTo>
                  <a:lnTo>
                    <a:pt x="1710" y="151"/>
                  </a:lnTo>
                  <a:lnTo>
                    <a:pt x="1753" y="177"/>
                  </a:lnTo>
                  <a:lnTo>
                    <a:pt x="1791" y="204"/>
                  </a:lnTo>
                  <a:lnTo>
                    <a:pt x="1823" y="233"/>
                  </a:lnTo>
                  <a:lnTo>
                    <a:pt x="1848" y="263"/>
                  </a:lnTo>
                  <a:lnTo>
                    <a:pt x="1867" y="293"/>
                  </a:lnTo>
                  <a:lnTo>
                    <a:pt x="1879" y="324"/>
                  </a:lnTo>
                  <a:lnTo>
                    <a:pt x="1882" y="357"/>
                  </a:lnTo>
                  <a:lnTo>
                    <a:pt x="1879" y="389"/>
                  </a:lnTo>
                  <a:lnTo>
                    <a:pt x="1867" y="422"/>
                  </a:lnTo>
                  <a:lnTo>
                    <a:pt x="1848" y="452"/>
                  </a:lnTo>
                  <a:lnTo>
                    <a:pt x="1823" y="482"/>
                  </a:lnTo>
                  <a:lnTo>
                    <a:pt x="1791" y="510"/>
                  </a:lnTo>
                  <a:lnTo>
                    <a:pt x="1753" y="538"/>
                  </a:lnTo>
                  <a:lnTo>
                    <a:pt x="1710" y="564"/>
                  </a:lnTo>
                  <a:lnTo>
                    <a:pt x="1661" y="588"/>
                  </a:lnTo>
                  <a:lnTo>
                    <a:pt x="1607" y="610"/>
                  </a:lnTo>
                  <a:lnTo>
                    <a:pt x="1547" y="631"/>
                  </a:lnTo>
                  <a:lnTo>
                    <a:pt x="1483" y="650"/>
                  </a:lnTo>
                  <a:lnTo>
                    <a:pt x="1416" y="666"/>
                  </a:lnTo>
                  <a:lnTo>
                    <a:pt x="1345" y="680"/>
                  </a:lnTo>
                  <a:lnTo>
                    <a:pt x="1270" y="693"/>
                  </a:lnTo>
                  <a:lnTo>
                    <a:pt x="1192" y="702"/>
                  </a:lnTo>
                  <a:lnTo>
                    <a:pt x="1110" y="709"/>
                  </a:lnTo>
                  <a:lnTo>
                    <a:pt x="1027" y="714"/>
                  </a:lnTo>
                  <a:lnTo>
                    <a:pt x="941" y="715"/>
                  </a:lnTo>
                  <a:lnTo>
                    <a:pt x="856" y="714"/>
                  </a:lnTo>
                  <a:lnTo>
                    <a:pt x="772" y="709"/>
                  </a:lnTo>
                  <a:lnTo>
                    <a:pt x="691" y="702"/>
                  </a:lnTo>
                  <a:lnTo>
                    <a:pt x="613" y="693"/>
                  </a:lnTo>
                  <a:lnTo>
                    <a:pt x="537" y="680"/>
                  </a:lnTo>
                  <a:lnTo>
                    <a:pt x="466" y="666"/>
                  </a:lnTo>
                  <a:lnTo>
                    <a:pt x="399" y="650"/>
                  </a:lnTo>
                  <a:lnTo>
                    <a:pt x="335" y="631"/>
                  </a:lnTo>
                  <a:lnTo>
                    <a:pt x="276" y="610"/>
                  </a:lnTo>
                  <a:lnTo>
                    <a:pt x="221" y="588"/>
                  </a:lnTo>
                  <a:lnTo>
                    <a:pt x="172" y="564"/>
                  </a:lnTo>
                  <a:lnTo>
                    <a:pt x="129" y="538"/>
                  </a:lnTo>
                  <a:lnTo>
                    <a:pt x="91" y="510"/>
                  </a:lnTo>
                  <a:lnTo>
                    <a:pt x="60" y="482"/>
                  </a:lnTo>
                  <a:lnTo>
                    <a:pt x="34" y="452"/>
                  </a:lnTo>
                  <a:lnTo>
                    <a:pt x="15" y="422"/>
                  </a:lnTo>
                  <a:lnTo>
                    <a:pt x="4" y="389"/>
                  </a:lnTo>
                  <a:lnTo>
                    <a:pt x="0" y="357"/>
                  </a:lnTo>
                  <a:lnTo>
                    <a:pt x="4" y="324"/>
                  </a:lnTo>
                  <a:lnTo>
                    <a:pt x="15" y="293"/>
                  </a:lnTo>
                  <a:lnTo>
                    <a:pt x="34" y="263"/>
                  </a:lnTo>
                  <a:lnTo>
                    <a:pt x="60" y="233"/>
                  </a:lnTo>
                  <a:lnTo>
                    <a:pt x="91" y="204"/>
                  </a:lnTo>
                  <a:lnTo>
                    <a:pt x="129" y="177"/>
                  </a:lnTo>
                  <a:lnTo>
                    <a:pt x="172" y="151"/>
                  </a:lnTo>
                  <a:lnTo>
                    <a:pt x="221" y="127"/>
                  </a:lnTo>
                  <a:lnTo>
                    <a:pt x="276" y="105"/>
                  </a:lnTo>
                  <a:lnTo>
                    <a:pt x="335" y="84"/>
                  </a:lnTo>
                  <a:lnTo>
                    <a:pt x="399" y="65"/>
                  </a:lnTo>
                  <a:lnTo>
                    <a:pt x="466" y="49"/>
                  </a:lnTo>
                  <a:lnTo>
                    <a:pt x="537" y="34"/>
                  </a:lnTo>
                  <a:lnTo>
                    <a:pt x="613" y="22"/>
                  </a:lnTo>
                  <a:lnTo>
                    <a:pt x="691" y="13"/>
                  </a:lnTo>
                  <a:lnTo>
                    <a:pt x="772" y="6"/>
                  </a:lnTo>
                  <a:lnTo>
                    <a:pt x="856" y="1"/>
                  </a:lnTo>
                  <a:lnTo>
                    <a:pt x="94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2" name="Freeform 6"/>
            <p:cNvSpPr>
              <a:spLocks/>
            </p:cNvSpPr>
            <p:nvPr/>
          </p:nvSpPr>
          <p:spPr bwMode="auto">
            <a:xfrm>
              <a:off x="6804029" y="947780"/>
              <a:ext cx="2376021" cy="912787"/>
            </a:xfrm>
            <a:custGeom>
              <a:avLst/>
              <a:gdLst>
                <a:gd name="T0" fmla="*/ 0 w 1882"/>
                <a:gd name="T1" fmla="*/ 0 h 723"/>
                <a:gd name="T2" fmla="*/ 1882 w 1882"/>
                <a:gd name="T3" fmla="*/ 0 h 723"/>
                <a:gd name="T4" fmla="*/ 1882 w 1882"/>
                <a:gd name="T5" fmla="*/ 365 h 723"/>
                <a:gd name="T6" fmla="*/ 1877 w 1882"/>
                <a:gd name="T7" fmla="*/ 398 h 723"/>
                <a:gd name="T8" fmla="*/ 1867 w 1882"/>
                <a:gd name="T9" fmla="*/ 430 h 723"/>
                <a:gd name="T10" fmla="*/ 1848 w 1882"/>
                <a:gd name="T11" fmla="*/ 460 h 723"/>
                <a:gd name="T12" fmla="*/ 1823 w 1882"/>
                <a:gd name="T13" fmla="*/ 491 h 723"/>
                <a:gd name="T14" fmla="*/ 1791 w 1882"/>
                <a:gd name="T15" fmla="*/ 519 h 723"/>
                <a:gd name="T16" fmla="*/ 1753 w 1882"/>
                <a:gd name="T17" fmla="*/ 546 h 723"/>
                <a:gd name="T18" fmla="*/ 1710 w 1882"/>
                <a:gd name="T19" fmla="*/ 572 h 723"/>
                <a:gd name="T20" fmla="*/ 1660 w 1882"/>
                <a:gd name="T21" fmla="*/ 596 h 723"/>
                <a:gd name="T22" fmla="*/ 1606 w 1882"/>
                <a:gd name="T23" fmla="*/ 618 h 723"/>
                <a:gd name="T24" fmla="*/ 1547 w 1882"/>
                <a:gd name="T25" fmla="*/ 639 h 723"/>
                <a:gd name="T26" fmla="*/ 1483 w 1882"/>
                <a:gd name="T27" fmla="*/ 658 h 723"/>
                <a:gd name="T28" fmla="*/ 1416 w 1882"/>
                <a:gd name="T29" fmla="*/ 674 h 723"/>
                <a:gd name="T30" fmla="*/ 1344 w 1882"/>
                <a:gd name="T31" fmla="*/ 688 h 723"/>
                <a:gd name="T32" fmla="*/ 1269 w 1882"/>
                <a:gd name="T33" fmla="*/ 701 h 723"/>
                <a:gd name="T34" fmla="*/ 1190 w 1882"/>
                <a:gd name="T35" fmla="*/ 710 h 723"/>
                <a:gd name="T36" fmla="*/ 1110 w 1882"/>
                <a:gd name="T37" fmla="*/ 717 h 723"/>
                <a:gd name="T38" fmla="*/ 1026 w 1882"/>
                <a:gd name="T39" fmla="*/ 722 h 723"/>
                <a:gd name="T40" fmla="*/ 940 w 1882"/>
                <a:gd name="T41" fmla="*/ 723 h 723"/>
                <a:gd name="T42" fmla="*/ 855 w 1882"/>
                <a:gd name="T43" fmla="*/ 722 h 723"/>
                <a:gd name="T44" fmla="*/ 772 w 1882"/>
                <a:gd name="T45" fmla="*/ 717 h 723"/>
                <a:gd name="T46" fmla="*/ 690 w 1882"/>
                <a:gd name="T47" fmla="*/ 710 h 723"/>
                <a:gd name="T48" fmla="*/ 613 w 1882"/>
                <a:gd name="T49" fmla="*/ 701 h 723"/>
                <a:gd name="T50" fmla="*/ 537 w 1882"/>
                <a:gd name="T51" fmla="*/ 688 h 723"/>
                <a:gd name="T52" fmla="*/ 466 w 1882"/>
                <a:gd name="T53" fmla="*/ 674 h 723"/>
                <a:gd name="T54" fmla="*/ 398 w 1882"/>
                <a:gd name="T55" fmla="*/ 658 h 723"/>
                <a:gd name="T56" fmla="*/ 335 w 1882"/>
                <a:gd name="T57" fmla="*/ 639 h 723"/>
                <a:gd name="T58" fmla="*/ 275 w 1882"/>
                <a:gd name="T59" fmla="*/ 618 h 723"/>
                <a:gd name="T60" fmla="*/ 221 w 1882"/>
                <a:gd name="T61" fmla="*/ 596 h 723"/>
                <a:gd name="T62" fmla="*/ 172 w 1882"/>
                <a:gd name="T63" fmla="*/ 572 h 723"/>
                <a:gd name="T64" fmla="*/ 128 w 1882"/>
                <a:gd name="T65" fmla="*/ 546 h 723"/>
                <a:gd name="T66" fmla="*/ 91 w 1882"/>
                <a:gd name="T67" fmla="*/ 519 h 723"/>
                <a:gd name="T68" fmla="*/ 58 w 1882"/>
                <a:gd name="T69" fmla="*/ 491 h 723"/>
                <a:gd name="T70" fmla="*/ 34 w 1882"/>
                <a:gd name="T71" fmla="*/ 460 h 723"/>
                <a:gd name="T72" fmla="*/ 15 w 1882"/>
                <a:gd name="T73" fmla="*/ 430 h 723"/>
                <a:gd name="T74" fmla="*/ 3 w 1882"/>
                <a:gd name="T75" fmla="*/ 398 h 723"/>
                <a:gd name="T76" fmla="*/ 0 w 1882"/>
                <a:gd name="T77" fmla="*/ 365 h 723"/>
                <a:gd name="T78" fmla="*/ 0 w 1882"/>
                <a:gd name="T79" fmla="*/ 0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882" h="723">
                  <a:moveTo>
                    <a:pt x="0" y="0"/>
                  </a:moveTo>
                  <a:lnTo>
                    <a:pt x="1882" y="0"/>
                  </a:lnTo>
                  <a:lnTo>
                    <a:pt x="1882" y="365"/>
                  </a:lnTo>
                  <a:lnTo>
                    <a:pt x="1877" y="398"/>
                  </a:lnTo>
                  <a:lnTo>
                    <a:pt x="1867" y="430"/>
                  </a:lnTo>
                  <a:lnTo>
                    <a:pt x="1848" y="460"/>
                  </a:lnTo>
                  <a:lnTo>
                    <a:pt x="1823" y="491"/>
                  </a:lnTo>
                  <a:lnTo>
                    <a:pt x="1791" y="519"/>
                  </a:lnTo>
                  <a:lnTo>
                    <a:pt x="1753" y="546"/>
                  </a:lnTo>
                  <a:lnTo>
                    <a:pt x="1710" y="572"/>
                  </a:lnTo>
                  <a:lnTo>
                    <a:pt x="1660" y="596"/>
                  </a:lnTo>
                  <a:lnTo>
                    <a:pt x="1606" y="618"/>
                  </a:lnTo>
                  <a:lnTo>
                    <a:pt x="1547" y="639"/>
                  </a:lnTo>
                  <a:lnTo>
                    <a:pt x="1483" y="658"/>
                  </a:lnTo>
                  <a:lnTo>
                    <a:pt x="1416" y="674"/>
                  </a:lnTo>
                  <a:lnTo>
                    <a:pt x="1344" y="688"/>
                  </a:lnTo>
                  <a:lnTo>
                    <a:pt x="1269" y="701"/>
                  </a:lnTo>
                  <a:lnTo>
                    <a:pt x="1190" y="710"/>
                  </a:lnTo>
                  <a:lnTo>
                    <a:pt x="1110" y="717"/>
                  </a:lnTo>
                  <a:lnTo>
                    <a:pt x="1026" y="722"/>
                  </a:lnTo>
                  <a:lnTo>
                    <a:pt x="940" y="723"/>
                  </a:lnTo>
                  <a:lnTo>
                    <a:pt x="855" y="722"/>
                  </a:lnTo>
                  <a:lnTo>
                    <a:pt x="772" y="717"/>
                  </a:lnTo>
                  <a:lnTo>
                    <a:pt x="690" y="710"/>
                  </a:lnTo>
                  <a:lnTo>
                    <a:pt x="613" y="701"/>
                  </a:lnTo>
                  <a:lnTo>
                    <a:pt x="537" y="688"/>
                  </a:lnTo>
                  <a:lnTo>
                    <a:pt x="466" y="674"/>
                  </a:lnTo>
                  <a:lnTo>
                    <a:pt x="398" y="658"/>
                  </a:lnTo>
                  <a:lnTo>
                    <a:pt x="335" y="639"/>
                  </a:lnTo>
                  <a:lnTo>
                    <a:pt x="275" y="618"/>
                  </a:lnTo>
                  <a:lnTo>
                    <a:pt x="221" y="596"/>
                  </a:lnTo>
                  <a:lnTo>
                    <a:pt x="172" y="572"/>
                  </a:lnTo>
                  <a:lnTo>
                    <a:pt x="128" y="546"/>
                  </a:lnTo>
                  <a:lnTo>
                    <a:pt x="91" y="519"/>
                  </a:lnTo>
                  <a:lnTo>
                    <a:pt x="58" y="491"/>
                  </a:lnTo>
                  <a:lnTo>
                    <a:pt x="34" y="460"/>
                  </a:lnTo>
                  <a:lnTo>
                    <a:pt x="15" y="430"/>
                  </a:lnTo>
                  <a:lnTo>
                    <a:pt x="3" y="398"/>
                  </a:lnTo>
                  <a:lnTo>
                    <a:pt x="0" y="3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10D0C"/>
            </a:solidFill>
            <a:ln w="0">
              <a:noFill/>
              <a:prstDash val="solid"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/>
            </a:p>
          </p:txBody>
        </p:sp>
        <p:sp>
          <p:nvSpPr>
            <p:cNvPr id="51" name="Freeform 7"/>
            <p:cNvSpPr>
              <a:spLocks/>
            </p:cNvSpPr>
            <p:nvPr/>
          </p:nvSpPr>
          <p:spPr bwMode="auto">
            <a:xfrm>
              <a:off x="6804029" y="547796"/>
              <a:ext cx="2376021" cy="902687"/>
            </a:xfrm>
            <a:custGeom>
              <a:avLst/>
              <a:gdLst>
                <a:gd name="T0" fmla="*/ 1027 w 1882"/>
                <a:gd name="T1" fmla="*/ 1 h 715"/>
                <a:gd name="T2" fmla="*/ 1192 w 1882"/>
                <a:gd name="T3" fmla="*/ 13 h 715"/>
                <a:gd name="T4" fmla="*/ 1345 w 1882"/>
                <a:gd name="T5" fmla="*/ 34 h 715"/>
                <a:gd name="T6" fmla="*/ 1483 w 1882"/>
                <a:gd name="T7" fmla="*/ 65 h 715"/>
                <a:gd name="T8" fmla="*/ 1607 w 1882"/>
                <a:gd name="T9" fmla="*/ 105 h 715"/>
                <a:gd name="T10" fmla="*/ 1710 w 1882"/>
                <a:gd name="T11" fmla="*/ 151 h 715"/>
                <a:gd name="T12" fmla="*/ 1791 w 1882"/>
                <a:gd name="T13" fmla="*/ 204 h 715"/>
                <a:gd name="T14" fmla="*/ 1848 w 1882"/>
                <a:gd name="T15" fmla="*/ 263 h 715"/>
                <a:gd name="T16" fmla="*/ 1879 w 1882"/>
                <a:gd name="T17" fmla="*/ 324 h 715"/>
                <a:gd name="T18" fmla="*/ 1879 w 1882"/>
                <a:gd name="T19" fmla="*/ 389 h 715"/>
                <a:gd name="T20" fmla="*/ 1848 w 1882"/>
                <a:gd name="T21" fmla="*/ 452 h 715"/>
                <a:gd name="T22" fmla="*/ 1791 w 1882"/>
                <a:gd name="T23" fmla="*/ 510 h 715"/>
                <a:gd name="T24" fmla="*/ 1710 w 1882"/>
                <a:gd name="T25" fmla="*/ 564 h 715"/>
                <a:gd name="T26" fmla="*/ 1607 w 1882"/>
                <a:gd name="T27" fmla="*/ 610 h 715"/>
                <a:gd name="T28" fmla="*/ 1483 w 1882"/>
                <a:gd name="T29" fmla="*/ 650 h 715"/>
                <a:gd name="T30" fmla="*/ 1345 w 1882"/>
                <a:gd name="T31" fmla="*/ 680 h 715"/>
                <a:gd name="T32" fmla="*/ 1192 w 1882"/>
                <a:gd name="T33" fmla="*/ 702 h 715"/>
                <a:gd name="T34" fmla="*/ 1027 w 1882"/>
                <a:gd name="T35" fmla="*/ 714 h 715"/>
                <a:gd name="T36" fmla="*/ 856 w 1882"/>
                <a:gd name="T37" fmla="*/ 714 h 715"/>
                <a:gd name="T38" fmla="*/ 691 w 1882"/>
                <a:gd name="T39" fmla="*/ 702 h 715"/>
                <a:gd name="T40" fmla="*/ 537 w 1882"/>
                <a:gd name="T41" fmla="*/ 680 h 715"/>
                <a:gd name="T42" fmla="*/ 399 w 1882"/>
                <a:gd name="T43" fmla="*/ 650 h 715"/>
                <a:gd name="T44" fmla="*/ 276 w 1882"/>
                <a:gd name="T45" fmla="*/ 610 h 715"/>
                <a:gd name="T46" fmla="*/ 172 w 1882"/>
                <a:gd name="T47" fmla="*/ 564 h 715"/>
                <a:gd name="T48" fmla="*/ 91 w 1882"/>
                <a:gd name="T49" fmla="*/ 510 h 715"/>
                <a:gd name="T50" fmla="*/ 34 w 1882"/>
                <a:gd name="T51" fmla="*/ 452 h 715"/>
                <a:gd name="T52" fmla="*/ 4 w 1882"/>
                <a:gd name="T53" fmla="*/ 389 h 715"/>
                <a:gd name="T54" fmla="*/ 4 w 1882"/>
                <a:gd name="T55" fmla="*/ 324 h 715"/>
                <a:gd name="T56" fmla="*/ 34 w 1882"/>
                <a:gd name="T57" fmla="*/ 263 h 715"/>
                <a:gd name="T58" fmla="*/ 91 w 1882"/>
                <a:gd name="T59" fmla="*/ 204 h 715"/>
                <a:gd name="T60" fmla="*/ 172 w 1882"/>
                <a:gd name="T61" fmla="*/ 151 h 715"/>
                <a:gd name="T62" fmla="*/ 276 w 1882"/>
                <a:gd name="T63" fmla="*/ 105 h 715"/>
                <a:gd name="T64" fmla="*/ 399 w 1882"/>
                <a:gd name="T65" fmla="*/ 65 h 715"/>
                <a:gd name="T66" fmla="*/ 537 w 1882"/>
                <a:gd name="T67" fmla="*/ 34 h 715"/>
                <a:gd name="T68" fmla="*/ 691 w 1882"/>
                <a:gd name="T69" fmla="*/ 13 h 715"/>
                <a:gd name="T70" fmla="*/ 856 w 1882"/>
                <a:gd name="T71" fmla="*/ 1 h 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82" h="715">
                  <a:moveTo>
                    <a:pt x="941" y="0"/>
                  </a:moveTo>
                  <a:lnTo>
                    <a:pt x="1027" y="1"/>
                  </a:lnTo>
                  <a:lnTo>
                    <a:pt x="1110" y="6"/>
                  </a:lnTo>
                  <a:lnTo>
                    <a:pt x="1192" y="13"/>
                  </a:lnTo>
                  <a:lnTo>
                    <a:pt x="1270" y="22"/>
                  </a:lnTo>
                  <a:lnTo>
                    <a:pt x="1345" y="34"/>
                  </a:lnTo>
                  <a:lnTo>
                    <a:pt x="1416" y="49"/>
                  </a:lnTo>
                  <a:lnTo>
                    <a:pt x="1483" y="65"/>
                  </a:lnTo>
                  <a:lnTo>
                    <a:pt x="1547" y="84"/>
                  </a:lnTo>
                  <a:lnTo>
                    <a:pt x="1607" y="105"/>
                  </a:lnTo>
                  <a:lnTo>
                    <a:pt x="1661" y="127"/>
                  </a:lnTo>
                  <a:lnTo>
                    <a:pt x="1710" y="151"/>
                  </a:lnTo>
                  <a:lnTo>
                    <a:pt x="1753" y="177"/>
                  </a:lnTo>
                  <a:lnTo>
                    <a:pt x="1791" y="204"/>
                  </a:lnTo>
                  <a:lnTo>
                    <a:pt x="1823" y="233"/>
                  </a:lnTo>
                  <a:lnTo>
                    <a:pt x="1848" y="263"/>
                  </a:lnTo>
                  <a:lnTo>
                    <a:pt x="1867" y="293"/>
                  </a:lnTo>
                  <a:lnTo>
                    <a:pt x="1879" y="324"/>
                  </a:lnTo>
                  <a:lnTo>
                    <a:pt x="1882" y="357"/>
                  </a:lnTo>
                  <a:lnTo>
                    <a:pt x="1879" y="389"/>
                  </a:lnTo>
                  <a:lnTo>
                    <a:pt x="1867" y="422"/>
                  </a:lnTo>
                  <a:lnTo>
                    <a:pt x="1848" y="452"/>
                  </a:lnTo>
                  <a:lnTo>
                    <a:pt x="1823" y="482"/>
                  </a:lnTo>
                  <a:lnTo>
                    <a:pt x="1791" y="510"/>
                  </a:lnTo>
                  <a:lnTo>
                    <a:pt x="1753" y="538"/>
                  </a:lnTo>
                  <a:lnTo>
                    <a:pt x="1710" y="564"/>
                  </a:lnTo>
                  <a:lnTo>
                    <a:pt x="1661" y="588"/>
                  </a:lnTo>
                  <a:lnTo>
                    <a:pt x="1607" y="610"/>
                  </a:lnTo>
                  <a:lnTo>
                    <a:pt x="1547" y="631"/>
                  </a:lnTo>
                  <a:lnTo>
                    <a:pt x="1483" y="650"/>
                  </a:lnTo>
                  <a:lnTo>
                    <a:pt x="1416" y="666"/>
                  </a:lnTo>
                  <a:lnTo>
                    <a:pt x="1345" y="680"/>
                  </a:lnTo>
                  <a:lnTo>
                    <a:pt x="1270" y="693"/>
                  </a:lnTo>
                  <a:lnTo>
                    <a:pt x="1192" y="702"/>
                  </a:lnTo>
                  <a:lnTo>
                    <a:pt x="1110" y="709"/>
                  </a:lnTo>
                  <a:lnTo>
                    <a:pt x="1027" y="714"/>
                  </a:lnTo>
                  <a:lnTo>
                    <a:pt x="941" y="715"/>
                  </a:lnTo>
                  <a:lnTo>
                    <a:pt x="856" y="714"/>
                  </a:lnTo>
                  <a:lnTo>
                    <a:pt x="772" y="709"/>
                  </a:lnTo>
                  <a:lnTo>
                    <a:pt x="691" y="702"/>
                  </a:lnTo>
                  <a:lnTo>
                    <a:pt x="613" y="693"/>
                  </a:lnTo>
                  <a:lnTo>
                    <a:pt x="537" y="680"/>
                  </a:lnTo>
                  <a:lnTo>
                    <a:pt x="466" y="666"/>
                  </a:lnTo>
                  <a:lnTo>
                    <a:pt x="399" y="650"/>
                  </a:lnTo>
                  <a:lnTo>
                    <a:pt x="335" y="631"/>
                  </a:lnTo>
                  <a:lnTo>
                    <a:pt x="276" y="610"/>
                  </a:lnTo>
                  <a:lnTo>
                    <a:pt x="221" y="588"/>
                  </a:lnTo>
                  <a:lnTo>
                    <a:pt x="172" y="564"/>
                  </a:lnTo>
                  <a:lnTo>
                    <a:pt x="129" y="538"/>
                  </a:lnTo>
                  <a:lnTo>
                    <a:pt x="91" y="510"/>
                  </a:lnTo>
                  <a:lnTo>
                    <a:pt x="60" y="482"/>
                  </a:lnTo>
                  <a:lnTo>
                    <a:pt x="34" y="452"/>
                  </a:lnTo>
                  <a:lnTo>
                    <a:pt x="15" y="422"/>
                  </a:lnTo>
                  <a:lnTo>
                    <a:pt x="4" y="389"/>
                  </a:lnTo>
                  <a:lnTo>
                    <a:pt x="0" y="357"/>
                  </a:lnTo>
                  <a:lnTo>
                    <a:pt x="4" y="324"/>
                  </a:lnTo>
                  <a:lnTo>
                    <a:pt x="15" y="293"/>
                  </a:lnTo>
                  <a:lnTo>
                    <a:pt x="34" y="263"/>
                  </a:lnTo>
                  <a:lnTo>
                    <a:pt x="60" y="233"/>
                  </a:lnTo>
                  <a:lnTo>
                    <a:pt x="91" y="204"/>
                  </a:lnTo>
                  <a:lnTo>
                    <a:pt x="129" y="177"/>
                  </a:lnTo>
                  <a:lnTo>
                    <a:pt x="172" y="151"/>
                  </a:lnTo>
                  <a:lnTo>
                    <a:pt x="221" y="127"/>
                  </a:lnTo>
                  <a:lnTo>
                    <a:pt x="276" y="105"/>
                  </a:lnTo>
                  <a:lnTo>
                    <a:pt x="335" y="84"/>
                  </a:lnTo>
                  <a:lnTo>
                    <a:pt x="399" y="65"/>
                  </a:lnTo>
                  <a:lnTo>
                    <a:pt x="466" y="49"/>
                  </a:lnTo>
                  <a:lnTo>
                    <a:pt x="537" y="34"/>
                  </a:lnTo>
                  <a:lnTo>
                    <a:pt x="613" y="22"/>
                  </a:lnTo>
                  <a:lnTo>
                    <a:pt x="691" y="13"/>
                  </a:lnTo>
                  <a:lnTo>
                    <a:pt x="772" y="6"/>
                  </a:lnTo>
                  <a:lnTo>
                    <a:pt x="856" y="1"/>
                  </a:lnTo>
                  <a:lnTo>
                    <a:pt x="94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/>
            </a:p>
          </p:txBody>
        </p:sp>
      </p:grpSp>
      <p:sp>
        <p:nvSpPr>
          <p:cNvPr id="29" name="TextBox 66"/>
          <p:cNvSpPr txBox="1"/>
          <p:nvPr/>
        </p:nvSpPr>
        <p:spPr>
          <a:xfrm>
            <a:off x="571472" y="214290"/>
            <a:ext cx="642938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solidFill>
                  <a:srgbClr val="FF0000"/>
                </a:solidFill>
                <a:latin typeface="Baskerville Old Face"/>
              </a:rPr>
              <a:t>Acteurs</a:t>
            </a:r>
            <a:r>
              <a:rPr lang="en-US" sz="3200" b="1" dirty="0">
                <a:solidFill>
                  <a:srgbClr val="FF0000"/>
                </a:solidFill>
                <a:latin typeface="Baskerville Old Face"/>
              </a:rPr>
              <a:t> de </a:t>
            </a:r>
            <a:r>
              <a:rPr lang="en-US" sz="3200" b="1" dirty="0" err="1">
                <a:solidFill>
                  <a:srgbClr val="FF0000"/>
                </a:solidFill>
                <a:latin typeface="Baskerville Old Face"/>
              </a:rPr>
              <a:t>l’entreprise</a:t>
            </a:r>
            <a:r>
              <a:rPr lang="en-US" sz="3200" b="1" dirty="0">
                <a:solidFill>
                  <a:srgbClr val="FF0000"/>
                </a:solidFill>
                <a:latin typeface="Baskerville Old Face"/>
              </a:rPr>
              <a:t> </a:t>
            </a:r>
          </a:p>
          <a:p>
            <a:pPr algn="r"/>
            <a:endParaRPr lang="en-US" dirty="0">
              <a:solidFill>
                <a:srgbClr val="56595E"/>
              </a:solidFill>
              <a:latin typeface="Candara" panose="020E0502030303020204" pitchFamily="34" charset="0"/>
            </a:endParaRPr>
          </a:p>
        </p:txBody>
      </p:sp>
      <p:pic>
        <p:nvPicPr>
          <p:cNvPr id="40962" name="Picture 2" descr="Image associÃ©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29058" y="2143116"/>
            <a:ext cx="1057257" cy="874110"/>
          </a:xfrm>
          <a:prstGeom prst="rect">
            <a:avLst/>
          </a:prstGeom>
          <a:noFill/>
        </p:spPr>
      </p:pic>
      <p:sp>
        <p:nvSpPr>
          <p:cNvPr id="40964" name="AutoShape 4" descr="RÃ©sultat de recherche d'images pour &quot;salariÃ©s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40966" name="Picture 6" descr="RÃ©sultat de recherche d'images pour &quot;salariÃ©s&quot;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71868" y="2928934"/>
            <a:ext cx="1500170" cy="1042975"/>
          </a:xfrm>
          <a:prstGeom prst="rect">
            <a:avLst/>
          </a:prstGeom>
          <a:noFill/>
        </p:spPr>
      </p:pic>
      <p:pic>
        <p:nvPicPr>
          <p:cNvPr id="40968" name="Picture 8" descr="RÃ©sultat de recherche d'images pour &quot;syndicats&quot;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1383701"/>
            <a:ext cx="3217506" cy="157027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0970" name="Picture 10" descr="RÃ©sultat de recherche d'images pour &quot;clients&quot;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00034" y="2786058"/>
            <a:ext cx="2351620" cy="103807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0972" name="Picture 12" descr="RÃ©sultat de recherche d'images pour &quot;fournisseur&quot;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072066" y="2857496"/>
            <a:ext cx="917558" cy="91755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0974" name="Picture 14" descr="RÃ©sultat de recherche d'images pour &quot;ong&quot;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785918" y="4214818"/>
            <a:ext cx="1928826" cy="192882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0976" name="Picture 16" descr="RÃ©sultat de recherche d'images pour &quot;banques&quot;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000496" y="4500570"/>
            <a:ext cx="2476470" cy="155912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050" name="Picture 2" descr="RÃ©sultat de recherche d'images pour &quot;pouvoirs publiques&quot;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929322" y="2071678"/>
            <a:ext cx="1928826" cy="15811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7" name="Picture 15">
            <a:extLst>
              <a:ext uri="{FF2B5EF4-FFF2-40B4-BE49-F238E27FC236}">
                <a16:creationId xmlns:a16="http://schemas.microsoft.com/office/drawing/2014/main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460" y="0"/>
            <a:ext cx="3682540" cy="2146032"/>
          </a:xfrm>
          <a:prstGeom prst="rect">
            <a:avLst/>
          </a:prstGeom>
        </p:spPr>
      </p:pic>
      <p:sp>
        <p:nvSpPr>
          <p:cNvPr id="18" name="Isosceles Triangle 46">
            <a:extLst>
              <a:ext uri="{FF2B5EF4-FFF2-40B4-BE49-F238E27FC236}">
                <a16:creationId xmlns:a16="http://schemas.microsoft.com/office/drawing/2014/main" id="{295CE181-88D7-4815-BC0F-BC87C9322824}"/>
              </a:ext>
            </a:extLst>
          </p:cNvPr>
          <p:cNvSpPr/>
          <p:nvPr/>
        </p:nvSpPr>
        <p:spPr>
          <a:xfrm rot="5400000">
            <a:off x="-31494" y="388660"/>
            <a:ext cx="510899" cy="447911"/>
          </a:xfrm>
          <a:prstGeom prst="triangl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7410" name="Picture 2" descr="Qu&amp;#39;est-ce que la gestion de la relation client ?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6572264" y="3643314"/>
            <a:ext cx="1928826" cy="192882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802733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214282" y="1643050"/>
            <a:ext cx="871543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rgbClr val="FF0000"/>
                </a:solidFill>
                <a:latin typeface="Candara" pitchFamily="34" charset="0"/>
              </a:rPr>
              <a:t>Les parties </a:t>
            </a:r>
            <a:r>
              <a:rPr lang="en-US" sz="2000" b="1" dirty="0" err="1">
                <a:solidFill>
                  <a:srgbClr val="FF0000"/>
                </a:solidFill>
                <a:latin typeface="Candara" pitchFamily="34" charset="0"/>
              </a:rPr>
              <a:t>prenantes</a:t>
            </a:r>
            <a:r>
              <a:rPr lang="en-US" sz="2000" b="1" dirty="0">
                <a:solidFill>
                  <a:srgbClr val="FF0000"/>
                </a:solidFill>
                <a:latin typeface="Candara" pitchFamily="34" charset="0"/>
              </a:rPr>
              <a:t> </a:t>
            </a:r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ou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 les </a:t>
            </a:r>
            <a:r>
              <a:rPr lang="en-US" sz="2000" b="1" dirty="0">
                <a:solidFill>
                  <a:srgbClr val="FF0000"/>
                </a:solidFill>
                <a:latin typeface="Candara" pitchFamily="34" charset="0"/>
              </a:rPr>
              <a:t>stakeholders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 : </a:t>
            </a:r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sont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 </a:t>
            </a:r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tous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andara" pitchFamily="34" charset="0"/>
              </a:rPr>
              <a:t>les </a:t>
            </a:r>
            <a:r>
              <a:rPr lang="en-US" sz="2000" b="1" dirty="0" err="1">
                <a:solidFill>
                  <a:srgbClr val="FF0000"/>
                </a:solidFill>
                <a:latin typeface="Candara" pitchFamily="34" charset="0"/>
              </a:rPr>
              <a:t>groupes</a:t>
            </a:r>
            <a:r>
              <a:rPr lang="en-US" sz="2000" b="1" dirty="0">
                <a:solidFill>
                  <a:srgbClr val="FF0000"/>
                </a:solidFill>
                <a:latin typeface="Candara" pitchFamily="34" charset="0"/>
              </a:rPr>
              <a:t> </a:t>
            </a:r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ou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 </a:t>
            </a:r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individus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andara" pitchFamily="34" charset="0"/>
              </a:rPr>
              <a:t>internes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 </a:t>
            </a:r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ou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Candara" pitchFamily="34" charset="0"/>
              </a:rPr>
              <a:t>externes</a:t>
            </a:r>
            <a:r>
              <a:rPr lang="en-US" sz="2000" b="1" dirty="0">
                <a:solidFill>
                  <a:srgbClr val="FF0000"/>
                </a:solidFill>
                <a:latin typeface="Candara" pitchFamily="34" charset="0"/>
              </a:rPr>
              <a:t> 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à </a:t>
            </a:r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l’entreprise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, qui </a:t>
            </a:r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ont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andara" pitchFamily="34" charset="0"/>
              </a:rPr>
              <a:t>un </a:t>
            </a:r>
            <a:r>
              <a:rPr lang="en-US" sz="2000" b="1" dirty="0" err="1">
                <a:solidFill>
                  <a:srgbClr val="FF0000"/>
                </a:solidFill>
                <a:latin typeface="Candara" pitchFamily="34" charset="0"/>
              </a:rPr>
              <a:t>intérêt</a:t>
            </a:r>
            <a:r>
              <a:rPr lang="en-US" sz="2000" b="1" dirty="0">
                <a:solidFill>
                  <a:srgbClr val="FF0000"/>
                </a:solidFill>
                <a:latin typeface="Candara" pitchFamily="34" charset="0"/>
              </a:rPr>
              <a:t> 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(stake) vis  à vis </a:t>
            </a:r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d’elle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. </a:t>
            </a:r>
          </a:p>
          <a:p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Ils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 </a:t>
            </a:r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sont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andara" pitchFamily="34" charset="0"/>
              </a:rPr>
              <a:t>exposés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andara" pitchFamily="34" charset="0"/>
              </a:rPr>
              <a:t>et  </a:t>
            </a:r>
            <a:r>
              <a:rPr lang="en-US" sz="2000" b="1" dirty="0" err="1">
                <a:solidFill>
                  <a:srgbClr val="FF0000"/>
                </a:solidFill>
                <a:latin typeface="Candara" pitchFamily="34" charset="0"/>
              </a:rPr>
              <a:t>concernés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  par les </a:t>
            </a:r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activités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 de </a:t>
            </a:r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l’entreprise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  </a:t>
            </a:r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d’une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 </a:t>
            </a:r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maniére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Candara" pitchFamily="34" charset="0"/>
              </a:rPr>
              <a:t>volontaire</a:t>
            </a:r>
            <a:r>
              <a:rPr lang="en-US" sz="2000" b="1" dirty="0">
                <a:solidFill>
                  <a:srgbClr val="FF0000"/>
                </a:solidFill>
                <a:latin typeface="Candara" pitchFamily="34" charset="0"/>
              </a:rPr>
              <a:t>  </a:t>
            </a:r>
            <a:r>
              <a:rPr lang="en-US" sz="2000" b="1" dirty="0" err="1">
                <a:solidFill>
                  <a:srgbClr val="002060"/>
                </a:solidFill>
                <a:latin typeface="Candara" pitchFamily="34" charset="0"/>
              </a:rPr>
              <a:t>o</a:t>
            </a:r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u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Candara" pitchFamily="34" charset="0"/>
              </a:rPr>
              <a:t>involontaire</a:t>
            </a:r>
            <a:r>
              <a:rPr lang="en-US" sz="2000" b="1" dirty="0">
                <a:solidFill>
                  <a:srgbClr val="FF0000"/>
                </a:solidFill>
                <a:latin typeface="Candara" pitchFamily="34" charset="0"/>
              </a:rPr>
              <a:t> 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 et </a:t>
            </a:r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cette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 exposition a des </a:t>
            </a:r>
            <a:r>
              <a:rPr lang="en-US" sz="2000" b="1" dirty="0" err="1">
                <a:solidFill>
                  <a:srgbClr val="FF0000"/>
                </a:solidFill>
                <a:latin typeface="Candara" pitchFamily="34" charset="0"/>
              </a:rPr>
              <a:t>conséquences</a:t>
            </a:r>
            <a:r>
              <a:rPr lang="en-US" sz="2000" b="1" dirty="0">
                <a:solidFill>
                  <a:srgbClr val="FF0000"/>
                </a:solidFill>
                <a:latin typeface="Candara" pitchFamily="34" charset="0"/>
              </a:rPr>
              <a:t> positives </a:t>
            </a:r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ou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Candara" pitchFamily="34" charset="0"/>
              </a:rPr>
              <a:t>négatives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 pour </a:t>
            </a:r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ces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 </a:t>
            </a:r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groupes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 et </a:t>
            </a:r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individus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</a:rPr>
              <a:t> .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3857628"/>
            <a:ext cx="1428728" cy="30003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643438" y="3857628"/>
            <a:ext cx="1000132" cy="30003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786446" y="3857628"/>
            <a:ext cx="3143240" cy="3000372"/>
          </a:xfrm>
          <a:prstGeom prst="rect">
            <a:avLst/>
          </a:prstGeom>
          <a:solidFill>
            <a:srgbClr val="36B8E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428728" y="3857628"/>
            <a:ext cx="3203054" cy="3000372"/>
          </a:xfrm>
          <a:prstGeom prst="rect">
            <a:avLst/>
          </a:prstGeom>
          <a:solidFill>
            <a:srgbClr val="44D7F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7"/>
          <p:cNvGrpSpPr/>
          <p:nvPr/>
        </p:nvGrpSpPr>
        <p:grpSpPr>
          <a:xfrm>
            <a:off x="1500166" y="4000504"/>
            <a:ext cx="3214710" cy="1938992"/>
            <a:chOff x="3169546" y="820951"/>
            <a:chExt cx="4199142" cy="2506257"/>
          </a:xfrm>
        </p:grpSpPr>
        <p:sp>
          <p:nvSpPr>
            <p:cNvPr id="19" name="TextBox 18"/>
            <p:cNvSpPr txBox="1"/>
            <p:nvPr/>
          </p:nvSpPr>
          <p:spPr>
            <a:xfrm>
              <a:off x="3169546" y="820951"/>
              <a:ext cx="4176326" cy="25062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 err="1">
                  <a:solidFill>
                    <a:srgbClr val="002060"/>
                  </a:solidFill>
                  <a:latin typeface="Candara" panose="020E0502030303020204" pitchFamily="34" charset="0"/>
                </a:rPr>
                <a:t>Acteurs</a:t>
              </a:r>
              <a:r>
                <a:rPr lang="en-US" sz="2000" b="1" dirty="0">
                  <a:solidFill>
                    <a:srgbClr val="002060"/>
                  </a:solidFill>
                  <a:latin typeface="Candara" panose="020E0502030303020204" pitchFamily="34" charset="0"/>
                </a:rPr>
                <a:t> </a:t>
              </a:r>
              <a:r>
                <a:rPr lang="en-US" sz="2000" b="1" dirty="0" err="1">
                  <a:solidFill>
                    <a:srgbClr val="002060"/>
                  </a:solidFill>
                  <a:latin typeface="Candara" panose="020E0502030303020204" pitchFamily="34" charset="0"/>
                </a:rPr>
                <a:t>externes</a:t>
              </a:r>
              <a:r>
                <a:rPr lang="en-US" sz="2000" b="1" dirty="0">
                  <a:solidFill>
                    <a:srgbClr val="002060"/>
                  </a:solidFill>
                  <a:latin typeface="Candara" panose="020E0502030303020204" pitchFamily="34" charset="0"/>
                </a:rPr>
                <a:t> </a:t>
              </a:r>
              <a:r>
                <a:rPr lang="en-US" sz="2000" b="1" dirty="0">
                  <a:solidFill>
                    <a:srgbClr val="92D050"/>
                  </a:solidFill>
                  <a:latin typeface="Candara" panose="020E0502030303020204" pitchFamily="34" charset="0"/>
                </a:rPr>
                <a:t>:</a:t>
              </a:r>
            </a:p>
            <a:p>
              <a:r>
                <a:rPr lang="en-US" sz="2000" b="1" dirty="0">
                  <a:solidFill>
                    <a:srgbClr val="92D050"/>
                  </a:solidFill>
                  <a:latin typeface="Candara" panose="020E0502030303020204" pitchFamily="34" charset="0"/>
                </a:rPr>
                <a:t> </a:t>
              </a:r>
            </a:p>
            <a:p>
              <a:r>
                <a:rPr lang="en-US" sz="2000" b="1" dirty="0" err="1">
                  <a:solidFill>
                    <a:schemeClr val="bg1"/>
                  </a:solidFill>
                  <a:latin typeface="Candara" panose="020E0502030303020204" pitchFamily="34" charset="0"/>
                </a:rPr>
                <a:t>Constitués</a:t>
              </a:r>
              <a:r>
                <a:rPr lang="en-US" sz="2000" b="1" dirty="0">
                  <a:solidFill>
                    <a:schemeClr val="bg1"/>
                  </a:solidFill>
                  <a:latin typeface="Candara" panose="020E0502030303020204" pitchFamily="34" charset="0"/>
                </a:rPr>
                <a:t>  par les </a:t>
              </a:r>
              <a:r>
                <a:rPr lang="en-US" sz="2000" b="1" dirty="0" err="1">
                  <a:solidFill>
                    <a:schemeClr val="bg1"/>
                  </a:solidFill>
                  <a:latin typeface="Candara" panose="020E0502030303020204" pitchFamily="34" charset="0"/>
                </a:rPr>
                <a:t>fournisseurs</a:t>
              </a:r>
              <a:r>
                <a:rPr lang="en-US" sz="2000" b="1" dirty="0">
                  <a:solidFill>
                    <a:schemeClr val="bg1"/>
                  </a:solidFill>
                  <a:latin typeface="Candara" panose="020E0502030303020204" pitchFamily="34" charset="0"/>
                </a:rPr>
                <a:t> ,  clients , </a:t>
              </a:r>
              <a:r>
                <a:rPr lang="en-US" sz="2000" b="1" dirty="0" err="1">
                  <a:solidFill>
                    <a:schemeClr val="bg1"/>
                  </a:solidFill>
                  <a:latin typeface="Candara" panose="020E0502030303020204" pitchFamily="34" charset="0"/>
                </a:rPr>
                <a:t>Banques</a:t>
              </a:r>
              <a:r>
                <a:rPr lang="en-US" sz="2000" b="1" dirty="0">
                  <a:solidFill>
                    <a:schemeClr val="bg1"/>
                  </a:solidFill>
                  <a:latin typeface="Candara" panose="020E0502030303020204" pitchFamily="34" charset="0"/>
                </a:rPr>
                <a:t> ,ONG ,</a:t>
              </a:r>
              <a:r>
                <a:rPr lang="en-US" sz="2000" b="1" dirty="0" err="1">
                  <a:solidFill>
                    <a:schemeClr val="bg1"/>
                  </a:solidFill>
                  <a:latin typeface="Candara" panose="020E0502030303020204" pitchFamily="34" charset="0"/>
                </a:rPr>
                <a:t>Pouvoirs</a:t>
              </a:r>
              <a:r>
                <a:rPr lang="en-US" sz="2000" b="1" dirty="0">
                  <a:solidFill>
                    <a:schemeClr val="bg1"/>
                  </a:solidFill>
                  <a:latin typeface="Candara" panose="020E0502030303020204" pitchFamily="34" charset="0"/>
                </a:rPr>
                <a:t> publics, </a:t>
              </a:r>
              <a:r>
                <a:rPr lang="en-US" sz="2000" b="1" dirty="0" err="1">
                  <a:solidFill>
                    <a:schemeClr val="bg1"/>
                  </a:solidFill>
                  <a:latin typeface="Candara" panose="020E0502030303020204" pitchFamily="34" charset="0"/>
                </a:rPr>
                <a:t>Syndicats</a:t>
              </a:r>
              <a:r>
                <a:rPr lang="en-US" sz="2000" b="1" dirty="0">
                  <a:solidFill>
                    <a:schemeClr val="bg1"/>
                  </a:solidFill>
                  <a:latin typeface="Candara" panose="020E0502030303020204" pitchFamily="34" charset="0"/>
                </a:rPr>
                <a:t> 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268982" y="2268585"/>
              <a:ext cx="4099706" cy="5669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  <a:latin typeface="Candara" panose="020E0502030303020204" pitchFamily="34" charset="0"/>
                </a:rPr>
                <a:t> </a:t>
              </a:r>
              <a:endParaRPr lang="en-US" dirty="0">
                <a:solidFill>
                  <a:schemeClr val="bg1"/>
                </a:solidFill>
                <a:latin typeface="Candara" panose="020E0502030303020204" pitchFamily="34" charset="0"/>
              </a:endParaRPr>
            </a:p>
          </p:txBody>
        </p:sp>
      </p:grpSp>
      <p:grpSp>
        <p:nvGrpSpPr>
          <p:cNvPr id="3" name="Group 20"/>
          <p:cNvGrpSpPr/>
          <p:nvPr/>
        </p:nvGrpSpPr>
        <p:grpSpPr>
          <a:xfrm>
            <a:off x="5857884" y="3857628"/>
            <a:ext cx="3286116" cy="2862322"/>
            <a:chOff x="4516751" y="2516563"/>
            <a:chExt cx="3252627" cy="6775089"/>
          </a:xfrm>
        </p:grpSpPr>
        <p:sp>
          <p:nvSpPr>
            <p:cNvPr id="22" name="TextBox 21"/>
            <p:cNvSpPr txBox="1"/>
            <p:nvPr/>
          </p:nvSpPr>
          <p:spPr>
            <a:xfrm>
              <a:off x="4516751" y="2516563"/>
              <a:ext cx="3252627" cy="677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002060"/>
                  </a:solidFill>
                  <a:latin typeface="Candara" panose="020E0502030303020204" pitchFamily="34" charset="0"/>
                </a:rPr>
                <a:t>Les </a:t>
              </a:r>
              <a:r>
                <a:rPr lang="en-US" sz="2000" b="1" dirty="0" err="1">
                  <a:solidFill>
                    <a:srgbClr val="002060"/>
                  </a:solidFill>
                  <a:latin typeface="Candara" panose="020E0502030303020204" pitchFamily="34" charset="0"/>
                </a:rPr>
                <a:t>acteurs</a:t>
              </a:r>
              <a:r>
                <a:rPr lang="en-US" sz="2000" b="1" dirty="0">
                  <a:solidFill>
                    <a:srgbClr val="002060"/>
                  </a:solidFill>
                  <a:latin typeface="Candara" panose="020E0502030303020204" pitchFamily="34" charset="0"/>
                </a:rPr>
                <a:t> </a:t>
              </a:r>
              <a:r>
                <a:rPr lang="en-US" sz="2000" b="1" dirty="0" err="1">
                  <a:solidFill>
                    <a:srgbClr val="002060"/>
                  </a:solidFill>
                  <a:latin typeface="Candara" panose="020E0502030303020204" pitchFamily="34" charset="0"/>
                </a:rPr>
                <a:t>internes</a:t>
              </a:r>
              <a:r>
                <a:rPr lang="en-US" sz="2000" b="1" dirty="0">
                  <a:solidFill>
                    <a:srgbClr val="002060"/>
                  </a:solidFill>
                  <a:latin typeface="Candara" panose="020E0502030303020204" pitchFamily="34" charset="0"/>
                </a:rPr>
                <a:t>: </a:t>
              </a:r>
            </a:p>
            <a:p>
              <a:endParaRPr lang="en-US" sz="2000" b="1" dirty="0">
                <a:solidFill>
                  <a:srgbClr val="002060"/>
                </a:solidFill>
                <a:latin typeface="Candara" panose="020E0502030303020204" pitchFamily="34" charset="0"/>
              </a:endParaRPr>
            </a:p>
            <a:p>
              <a:r>
                <a:rPr lang="en-US" sz="2000" b="1" dirty="0">
                  <a:solidFill>
                    <a:schemeClr val="bg1"/>
                  </a:solidFill>
                  <a:latin typeface="Candara" panose="020E0502030303020204" pitchFamily="34" charset="0"/>
                </a:rPr>
                <a:t>C</a:t>
              </a:r>
              <a:r>
                <a:rPr lang="fr-FR" sz="2000" b="1" dirty="0" err="1">
                  <a:solidFill>
                    <a:schemeClr val="bg1"/>
                  </a:solidFill>
                  <a:latin typeface="Candara" panose="020E0502030303020204" pitchFamily="34" charset="0"/>
                </a:rPr>
                <a:t>onstitués</a:t>
              </a:r>
              <a:r>
                <a:rPr lang="fr-FR" sz="2000" b="1" dirty="0">
                  <a:solidFill>
                    <a:schemeClr val="bg1"/>
                  </a:solidFill>
                  <a:latin typeface="Candara" panose="020E0502030303020204" pitchFamily="34" charset="0"/>
                </a:rPr>
                <a:t> par le personnel de l’entreprise qui contribuent directement au fonctionnement de l’entreprise. </a:t>
              </a:r>
            </a:p>
            <a:p>
              <a:r>
                <a:rPr lang="fr-FR" sz="2000" b="1" dirty="0">
                  <a:solidFill>
                    <a:schemeClr val="bg1"/>
                  </a:solidFill>
                  <a:latin typeface="Candara" panose="020E0502030303020204" pitchFamily="34" charset="0"/>
                </a:rPr>
                <a:t>(La Direction Générale, salariés, ,actionnaires)  </a:t>
              </a:r>
              <a:endParaRPr lang="en-US" sz="2000" b="1" dirty="0">
                <a:solidFill>
                  <a:schemeClr val="bg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575651" y="3441749"/>
              <a:ext cx="2793036" cy="7735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  <a:latin typeface="Candara" panose="020E0502030303020204" pitchFamily="34" charset="0"/>
                </a:rPr>
                <a:t> </a:t>
              </a:r>
              <a:endParaRPr lang="en-US" dirty="0">
                <a:solidFill>
                  <a:schemeClr val="bg1"/>
                </a:solidFill>
                <a:latin typeface="Candara" panose="020E0502030303020204" pitchFamily="34" charset="0"/>
              </a:endParaRPr>
            </a:p>
          </p:txBody>
        </p:sp>
      </p:grpSp>
      <p:pic>
        <p:nvPicPr>
          <p:cNvPr id="24" name="Picture 23">
            <a:hlinkClick r:id="rId4"/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2000" y="6793753"/>
            <a:ext cx="274320" cy="98854"/>
          </a:xfrm>
          <a:prstGeom prst="rect">
            <a:avLst/>
          </a:prstGeom>
          <a:noFill/>
          <a:effectLst>
            <a:glow rad="63500">
              <a:schemeClr val="bg1">
                <a:alpha val="45000"/>
              </a:schemeClr>
            </a:glow>
          </a:effectLst>
        </p:spPr>
      </p:pic>
      <p:sp>
        <p:nvSpPr>
          <p:cNvPr id="18" name="TextBox 66"/>
          <p:cNvSpPr txBox="1"/>
          <p:nvPr/>
        </p:nvSpPr>
        <p:spPr>
          <a:xfrm>
            <a:off x="500034" y="285728"/>
            <a:ext cx="56435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Baskerville Old Face"/>
              </a:rPr>
              <a:t>Les </a:t>
            </a:r>
            <a:r>
              <a:rPr lang="en-US" sz="3200" b="1" dirty="0" err="1">
                <a:solidFill>
                  <a:srgbClr val="FF0000"/>
                </a:solidFill>
                <a:latin typeface="Baskerville Old Face"/>
              </a:rPr>
              <a:t>acteurs</a:t>
            </a:r>
            <a:r>
              <a:rPr lang="en-US" sz="3200" b="1" dirty="0">
                <a:solidFill>
                  <a:srgbClr val="FF0000"/>
                </a:solidFill>
                <a:latin typeface="Baskerville Old Face"/>
              </a:rPr>
              <a:t> de </a:t>
            </a:r>
            <a:r>
              <a:rPr lang="en-US" sz="3200" b="1" dirty="0" err="1">
                <a:solidFill>
                  <a:srgbClr val="FF0000"/>
                </a:solidFill>
                <a:latin typeface="Baskerville Old Face"/>
              </a:rPr>
              <a:t>l’entreprise</a:t>
            </a:r>
            <a:r>
              <a:rPr lang="en-US" sz="3200" b="1" dirty="0">
                <a:solidFill>
                  <a:srgbClr val="FF0000"/>
                </a:solidFill>
                <a:latin typeface="Baskerville Old Face"/>
              </a:rPr>
              <a:t> </a:t>
            </a:r>
          </a:p>
          <a:p>
            <a:pPr algn="r"/>
            <a:endParaRPr lang="en-US" dirty="0">
              <a:solidFill>
                <a:srgbClr val="56595E"/>
              </a:solidFill>
              <a:latin typeface="Candara" panose="020E0502030303020204" pitchFamily="34" charset="0"/>
            </a:endParaRPr>
          </a:p>
        </p:txBody>
      </p:sp>
      <p:pic>
        <p:nvPicPr>
          <p:cNvPr id="25" name="Picture 15">
            <a:extLst>
              <a:ext uri="{FF2B5EF4-FFF2-40B4-BE49-F238E27FC236}">
                <a16:creationId xmlns:a16="http://schemas.microsoft.com/office/drawing/2014/main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460" y="0"/>
            <a:ext cx="3682540" cy="2146032"/>
          </a:xfrm>
          <a:prstGeom prst="rect">
            <a:avLst/>
          </a:prstGeom>
        </p:spPr>
      </p:pic>
      <p:sp>
        <p:nvSpPr>
          <p:cNvPr id="26" name="Isosceles Triangle 46">
            <a:extLst>
              <a:ext uri="{FF2B5EF4-FFF2-40B4-BE49-F238E27FC236}">
                <a16:creationId xmlns:a16="http://schemas.microsoft.com/office/drawing/2014/main" id="{295CE181-88D7-4815-BC0F-BC87C9322824}"/>
              </a:ext>
            </a:extLst>
          </p:cNvPr>
          <p:cNvSpPr/>
          <p:nvPr/>
        </p:nvSpPr>
        <p:spPr>
          <a:xfrm rot="5400000">
            <a:off x="-31494" y="388660"/>
            <a:ext cx="510899" cy="447911"/>
          </a:xfrm>
          <a:prstGeom prst="triangl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7657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5" grpId="0" animBg="1"/>
      <p:bldP spid="16" grpId="0" animBg="1"/>
      <p:bldP spid="17" grpId="0" animBg="1"/>
      <p:bldP spid="18" grpId="0"/>
      <p:bldP spid="2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/>
          <p:cNvSpPr>
            <a:spLocks noChangeAspect="1"/>
          </p:cNvSpPr>
          <p:nvPr/>
        </p:nvSpPr>
        <p:spPr>
          <a:xfrm>
            <a:off x="4714876" y="2685299"/>
            <a:ext cx="3929090" cy="2315337"/>
          </a:xfrm>
          <a:custGeom>
            <a:avLst/>
            <a:gdLst>
              <a:gd name="connsiteX0" fmla="*/ 1508760 w 3395096"/>
              <a:gd name="connsiteY0" fmla="*/ 0 h 3017520"/>
              <a:gd name="connsiteX1" fmla="*/ 2759848 w 3395096"/>
              <a:gd name="connsiteY1" fmla="*/ 665198 h 3017520"/>
              <a:gd name="connsiteX2" fmla="*/ 2819931 w 3395096"/>
              <a:gd name="connsiteY2" fmla="*/ 764098 h 3017520"/>
              <a:gd name="connsiteX3" fmla="*/ 3395096 w 3395096"/>
              <a:gd name="connsiteY3" fmla="*/ 964653 h 3017520"/>
              <a:gd name="connsiteX4" fmla="*/ 3014512 w 3395096"/>
              <a:gd name="connsiteY4" fmla="*/ 1449195 h 3017520"/>
              <a:gd name="connsiteX5" fmla="*/ 3017520 w 3395096"/>
              <a:gd name="connsiteY5" fmla="*/ 1508760 h 3017520"/>
              <a:gd name="connsiteX6" fmla="*/ 1508760 w 3395096"/>
              <a:gd name="connsiteY6" fmla="*/ 3017520 h 3017520"/>
              <a:gd name="connsiteX7" fmla="*/ 0 w 3395096"/>
              <a:gd name="connsiteY7" fmla="*/ 1508760 h 3017520"/>
              <a:gd name="connsiteX8" fmla="*/ 1508760 w 3395096"/>
              <a:gd name="connsiteY8" fmla="*/ 0 h 301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95096" h="3017520">
                <a:moveTo>
                  <a:pt x="1508760" y="0"/>
                </a:moveTo>
                <a:cubicBezTo>
                  <a:pt x="2029551" y="0"/>
                  <a:pt x="2488713" y="263865"/>
                  <a:pt x="2759848" y="665198"/>
                </a:cubicBezTo>
                <a:lnTo>
                  <a:pt x="2819931" y="764098"/>
                </a:lnTo>
                <a:lnTo>
                  <a:pt x="3395096" y="964653"/>
                </a:lnTo>
                <a:lnTo>
                  <a:pt x="3014512" y="1449195"/>
                </a:lnTo>
                <a:lnTo>
                  <a:pt x="3017520" y="1508760"/>
                </a:lnTo>
                <a:cubicBezTo>
                  <a:pt x="3017520" y="2342025"/>
                  <a:pt x="2342025" y="3017520"/>
                  <a:pt x="1508760" y="3017520"/>
                </a:cubicBezTo>
                <a:cubicBezTo>
                  <a:pt x="675495" y="3017520"/>
                  <a:pt x="0" y="2342025"/>
                  <a:pt x="0" y="1508760"/>
                </a:cubicBezTo>
                <a:cubicBezTo>
                  <a:pt x="0" y="675495"/>
                  <a:pt x="675495" y="0"/>
                  <a:pt x="1508760" y="0"/>
                </a:cubicBezTo>
                <a:close/>
              </a:path>
            </a:pathLst>
          </a:custGeom>
          <a:solidFill>
            <a:srgbClr val="3EB8CD"/>
          </a:solidFill>
          <a:ln w="63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 err="1">
                <a:solidFill>
                  <a:schemeClr val="bg1"/>
                </a:solidFill>
                <a:latin typeface="Candara" pitchFamily="34" charset="0"/>
                <a:ea typeface="Roboto Light" panose="02000000000000000000" pitchFamily="2" charset="0"/>
              </a:rPr>
              <a:t>Classifiez</a:t>
            </a:r>
            <a:r>
              <a:rPr lang="en-US" sz="2400" b="1" dirty="0">
                <a:solidFill>
                  <a:schemeClr val="bg1"/>
                </a:solidFill>
                <a:latin typeface="Candara" pitchFamily="34" charset="0"/>
                <a:ea typeface="Roboto Light" panose="02000000000000000000" pitchFamily="2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Candara" pitchFamily="34" charset="0"/>
                <a:ea typeface="Roboto Light" panose="02000000000000000000" pitchFamily="2" charset="0"/>
              </a:rPr>
              <a:t>ces</a:t>
            </a:r>
            <a:r>
              <a:rPr lang="en-US" sz="2400" b="1" dirty="0">
                <a:solidFill>
                  <a:schemeClr val="bg1"/>
                </a:solidFill>
                <a:latin typeface="Candara" pitchFamily="34" charset="0"/>
                <a:ea typeface="Roboto Light" panose="02000000000000000000" pitchFamily="2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Candara" pitchFamily="34" charset="0"/>
                <a:ea typeface="Roboto Light" panose="02000000000000000000" pitchFamily="2" charset="0"/>
              </a:rPr>
              <a:t>différentes</a:t>
            </a:r>
            <a:r>
              <a:rPr lang="en-US" sz="2400" b="1" dirty="0">
                <a:solidFill>
                  <a:schemeClr val="bg1"/>
                </a:solidFill>
                <a:latin typeface="Candara" pitchFamily="34" charset="0"/>
                <a:ea typeface="Roboto Light" panose="02000000000000000000" pitchFamily="2" charset="0"/>
              </a:rPr>
              <a:t>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 err="1">
                <a:solidFill>
                  <a:schemeClr val="bg1"/>
                </a:solidFill>
                <a:latin typeface="Candara" pitchFamily="34" charset="0"/>
                <a:ea typeface="Roboto Light" panose="02000000000000000000" pitchFamily="2" charset="0"/>
              </a:rPr>
              <a:t>Entreprises</a:t>
            </a:r>
            <a:r>
              <a:rPr lang="en-US" sz="2400" b="1" dirty="0">
                <a:solidFill>
                  <a:schemeClr val="bg1"/>
                </a:solidFill>
                <a:latin typeface="Candara" pitchFamily="34" charset="0"/>
                <a:ea typeface="Roboto Light" panose="02000000000000000000" pitchFamily="2" charset="0"/>
              </a:rPr>
              <a:t>   </a:t>
            </a:r>
          </a:p>
        </p:txBody>
      </p:sp>
      <p:grpSp>
        <p:nvGrpSpPr>
          <p:cNvPr id="2" name="Group 75"/>
          <p:cNvGrpSpPr>
            <a:grpSpLocks noChangeAspect="1"/>
          </p:cNvGrpSpPr>
          <p:nvPr/>
        </p:nvGrpSpPr>
        <p:grpSpPr>
          <a:xfrm>
            <a:off x="6286512" y="2714620"/>
            <a:ext cx="327659" cy="548640"/>
            <a:chOff x="6743700" y="2347912"/>
            <a:chExt cx="273050" cy="342900"/>
          </a:xfr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22" name="Freeform 268"/>
            <p:cNvSpPr>
              <a:spLocks noEditPoints="1"/>
            </p:cNvSpPr>
            <p:nvPr/>
          </p:nvSpPr>
          <p:spPr bwMode="auto">
            <a:xfrm>
              <a:off x="6743700" y="2347912"/>
              <a:ext cx="273050" cy="342900"/>
            </a:xfrm>
            <a:custGeom>
              <a:avLst/>
              <a:gdLst/>
              <a:ahLst/>
              <a:cxnLst>
                <a:cxn ang="0">
                  <a:pos x="17" y="57"/>
                </a:cxn>
                <a:cxn ang="0">
                  <a:pos x="59" y="15"/>
                </a:cxn>
                <a:cxn ang="0">
                  <a:pos x="102" y="57"/>
                </a:cxn>
                <a:cxn ang="0">
                  <a:pos x="89" y="89"/>
                </a:cxn>
                <a:cxn ang="0">
                  <a:pos x="87" y="89"/>
                </a:cxn>
                <a:cxn ang="0">
                  <a:pos x="80" y="66"/>
                </a:cxn>
                <a:cxn ang="0">
                  <a:pos x="73" y="62"/>
                </a:cxn>
                <a:cxn ang="0">
                  <a:pos x="71" y="62"/>
                </a:cxn>
                <a:cxn ang="0">
                  <a:pos x="45" y="62"/>
                </a:cxn>
                <a:cxn ang="0">
                  <a:pos x="39" y="66"/>
                </a:cxn>
                <a:cxn ang="0">
                  <a:pos x="32" y="88"/>
                </a:cxn>
                <a:cxn ang="0">
                  <a:pos x="30" y="89"/>
                </a:cxn>
                <a:cxn ang="0">
                  <a:pos x="17" y="57"/>
                </a:cxn>
                <a:cxn ang="0">
                  <a:pos x="55" y="70"/>
                </a:cxn>
                <a:cxn ang="0">
                  <a:pos x="56" y="69"/>
                </a:cxn>
                <a:cxn ang="0">
                  <a:pos x="63" y="69"/>
                </a:cxn>
                <a:cxn ang="0">
                  <a:pos x="64" y="70"/>
                </a:cxn>
                <a:cxn ang="0">
                  <a:pos x="64" y="74"/>
                </a:cxn>
                <a:cxn ang="0">
                  <a:pos x="68" y="89"/>
                </a:cxn>
                <a:cxn ang="0">
                  <a:pos x="67" y="91"/>
                </a:cxn>
                <a:cxn ang="0">
                  <a:pos x="61" y="97"/>
                </a:cxn>
                <a:cxn ang="0">
                  <a:pos x="59" y="97"/>
                </a:cxn>
                <a:cxn ang="0">
                  <a:pos x="53" y="91"/>
                </a:cxn>
                <a:cxn ang="0">
                  <a:pos x="52" y="89"/>
                </a:cxn>
                <a:cxn ang="0">
                  <a:pos x="55" y="74"/>
                </a:cxn>
                <a:cxn ang="0">
                  <a:pos x="55" y="70"/>
                </a:cxn>
                <a:cxn ang="0">
                  <a:pos x="59" y="0"/>
                </a:cxn>
                <a:cxn ang="0">
                  <a:pos x="0" y="59"/>
                </a:cxn>
                <a:cxn ang="0">
                  <a:pos x="59" y="149"/>
                </a:cxn>
                <a:cxn ang="0">
                  <a:pos x="119" y="59"/>
                </a:cxn>
                <a:cxn ang="0">
                  <a:pos x="59" y="0"/>
                </a:cxn>
              </a:cxnLst>
              <a:rect l="0" t="0" r="r" b="b"/>
              <a:pathLst>
                <a:path w="119" h="149">
                  <a:moveTo>
                    <a:pt x="17" y="57"/>
                  </a:moveTo>
                  <a:cubicBezTo>
                    <a:pt x="17" y="34"/>
                    <a:pt x="36" y="15"/>
                    <a:pt x="59" y="15"/>
                  </a:cubicBezTo>
                  <a:cubicBezTo>
                    <a:pt x="83" y="15"/>
                    <a:pt x="102" y="34"/>
                    <a:pt x="102" y="57"/>
                  </a:cubicBezTo>
                  <a:cubicBezTo>
                    <a:pt x="102" y="70"/>
                    <a:pt x="97" y="81"/>
                    <a:pt x="89" y="89"/>
                  </a:cubicBezTo>
                  <a:cubicBezTo>
                    <a:pt x="89" y="89"/>
                    <a:pt x="88" y="89"/>
                    <a:pt x="87" y="89"/>
                  </a:cubicBezTo>
                  <a:cubicBezTo>
                    <a:pt x="80" y="66"/>
                    <a:pt x="80" y="66"/>
                    <a:pt x="80" y="66"/>
                  </a:cubicBezTo>
                  <a:cubicBezTo>
                    <a:pt x="79" y="64"/>
                    <a:pt x="76" y="62"/>
                    <a:pt x="73" y="62"/>
                  </a:cubicBezTo>
                  <a:cubicBezTo>
                    <a:pt x="72" y="62"/>
                    <a:pt x="72" y="62"/>
                    <a:pt x="71" y="62"/>
                  </a:cubicBezTo>
                  <a:cubicBezTo>
                    <a:pt x="45" y="62"/>
                    <a:pt x="45" y="62"/>
                    <a:pt x="45" y="62"/>
                  </a:cubicBezTo>
                  <a:cubicBezTo>
                    <a:pt x="42" y="62"/>
                    <a:pt x="40" y="64"/>
                    <a:pt x="39" y="66"/>
                  </a:cubicBezTo>
                  <a:cubicBezTo>
                    <a:pt x="32" y="88"/>
                    <a:pt x="32" y="88"/>
                    <a:pt x="32" y="88"/>
                  </a:cubicBezTo>
                  <a:cubicBezTo>
                    <a:pt x="31" y="89"/>
                    <a:pt x="30" y="89"/>
                    <a:pt x="30" y="89"/>
                  </a:cubicBezTo>
                  <a:cubicBezTo>
                    <a:pt x="22" y="81"/>
                    <a:pt x="17" y="70"/>
                    <a:pt x="17" y="57"/>
                  </a:cubicBezTo>
                  <a:moveTo>
                    <a:pt x="55" y="70"/>
                  </a:moveTo>
                  <a:cubicBezTo>
                    <a:pt x="55" y="69"/>
                    <a:pt x="55" y="69"/>
                    <a:pt x="56" y="69"/>
                  </a:cubicBezTo>
                  <a:cubicBezTo>
                    <a:pt x="63" y="69"/>
                    <a:pt x="63" y="69"/>
                    <a:pt x="63" y="69"/>
                  </a:cubicBezTo>
                  <a:cubicBezTo>
                    <a:pt x="64" y="69"/>
                    <a:pt x="65" y="69"/>
                    <a:pt x="64" y="70"/>
                  </a:cubicBezTo>
                  <a:cubicBezTo>
                    <a:pt x="64" y="70"/>
                    <a:pt x="64" y="73"/>
                    <a:pt x="64" y="74"/>
                  </a:cubicBezTo>
                  <a:cubicBezTo>
                    <a:pt x="65" y="77"/>
                    <a:pt x="68" y="89"/>
                    <a:pt x="68" y="89"/>
                  </a:cubicBezTo>
                  <a:cubicBezTo>
                    <a:pt x="68" y="90"/>
                    <a:pt x="67" y="91"/>
                    <a:pt x="67" y="91"/>
                  </a:cubicBezTo>
                  <a:cubicBezTo>
                    <a:pt x="61" y="97"/>
                    <a:pt x="61" y="97"/>
                    <a:pt x="61" y="97"/>
                  </a:cubicBezTo>
                  <a:cubicBezTo>
                    <a:pt x="60" y="97"/>
                    <a:pt x="59" y="97"/>
                    <a:pt x="59" y="97"/>
                  </a:cubicBezTo>
                  <a:cubicBezTo>
                    <a:pt x="53" y="91"/>
                    <a:pt x="53" y="91"/>
                    <a:pt x="53" y="91"/>
                  </a:cubicBezTo>
                  <a:cubicBezTo>
                    <a:pt x="52" y="91"/>
                    <a:pt x="52" y="90"/>
                    <a:pt x="52" y="89"/>
                  </a:cubicBezTo>
                  <a:cubicBezTo>
                    <a:pt x="52" y="89"/>
                    <a:pt x="54" y="77"/>
                    <a:pt x="55" y="74"/>
                  </a:cubicBezTo>
                  <a:cubicBezTo>
                    <a:pt x="55" y="73"/>
                    <a:pt x="55" y="70"/>
                    <a:pt x="55" y="70"/>
                  </a:cubicBezTo>
                  <a:moveTo>
                    <a:pt x="59" y="0"/>
                  </a:moveTo>
                  <a:cubicBezTo>
                    <a:pt x="27" y="0"/>
                    <a:pt x="0" y="26"/>
                    <a:pt x="0" y="59"/>
                  </a:cubicBezTo>
                  <a:cubicBezTo>
                    <a:pt x="0" y="92"/>
                    <a:pt x="53" y="149"/>
                    <a:pt x="59" y="149"/>
                  </a:cubicBezTo>
                  <a:cubicBezTo>
                    <a:pt x="66" y="149"/>
                    <a:pt x="119" y="92"/>
                    <a:pt x="119" y="59"/>
                  </a:cubicBezTo>
                  <a:cubicBezTo>
                    <a:pt x="119" y="26"/>
                    <a:pt x="92" y="0"/>
                    <a:pt x="59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lIns="121920" tIns="60960" rIns="121920" bIns="6096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latin typeface="+mn-lt"/>
                <a:cs typeface="+mn-cs"/>
              </a:endParaRPr>
            </a:p>
          </p:txBody>
        </p:sp>
        <p:sp>
          <p:nvSpPr>
            <p:cNvPr id="23" name="Oval 269"/>
            <p:cNvSpPr>
              <a:spLocks noChangeArrowheads="1"/>
            </p:cNvSpPr>
            <p:nvPr/>
          </p:nvSpPr>
          <p:spPr bwMode="auto">
            <a:xfrm>
              <a:off x="6838950" y="2401887"/>
              <a:ext cx="80962" cy="79375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lIns="121920" tIns="60960" rIns="121920" bIns="6096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latin typeface="+mn-lt"/>
                <a:cs typeface="+mn-cs"/>
              </a:endParaRPr>
            </a:p>
          </p:txBody>
        </p:sp>
      </p:grpSp>
      <p:pic>
        <p:nvPicPr>
          <p:cNvPr id="1028" name="Picture 4" descr="Image associÃ©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785813"/>
            <a:ext cx="1833563" cy="183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0" name="Picture 39" descr="http://t3.gstatic.com/images?q=tbn:ANd9GcRt36L4FySWVluJsezFTggpe7kLFQbb7W3nj2DYDOfA5FzcQht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2875" y="2357438"/>
            <a:ext cx="1000125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" name="Picture 33" descr="http://t3.gstatic.com/images?q=tbn:ANd9GcSTLG09egMFAJmi8RyP2no7UNVedeSILpvRdIdMcExG5i2nkdHH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00188" y="1214438"/>
            <a:ext cx="200025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2" name="Picture 41" descr="http://fr.ragzag.com/wp-content/uploads/culture/amazon_logo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785938" y="2928938"/>
            <a:ext cx="2286000" cy="54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706" name="AutoShape 8" descr="RÃ©sultat de recherche d'images pour &quot;steg tunisi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fr-FR" altLang="fr-FR">
              <a:latin typeface="Calibri" pitchFamily="34" charset="0"/>
            </a:endParaRPr>
          </a:p>
        </p:txBody>
      </p:sp>
      <p:sp>
        <p:nvSpPr>
          <p:cNvPr id="29707" name="AutoShape 10" descr="RÃ©sultat de recherche d'images pour &quot;steg tunisi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fr-FR" altLang="fr-FR">
              <a:latin typeface="Calibri" pitchFamily="34" charset="0"/>
            </a:endParaRPr>
          </a:p>
        </p:txBody>
      </p:sp>
      <p:sp>
        <p:nvSpPr>
          <p:cNvPr id="29708" name="AutoShape 12" descr="RÃ©sultat de recherche d'images pour &quot;steg tunisi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fr-FR" altLang="fr-FR">
              <a:latin typeface="Calibri" pitchFamily="34" charset="0"/>
            </a:endParaRPr>
          </a:p>
        </p:txBody>
      </p:sp>
      <p:pic>
        <p:nvPicPr>
          <p:cNvPr id="1038" name="Picture 14" descr="Image associÃ©e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286125" y="928688"/>
            <a:ext cx="2838450" cy="160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2" name="Picture 2" descr="Image associÃ©e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715000" y="571500"/>
            <a:ext cx="2000250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6" name="Picture 6" descr="RÃ©sultat de recherche d'images pour &quot;patisserie hachicha&quot;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14375" y="5143500"/>
            <a:ext cx="1571625" cy="146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712" name="Titre 1"/>
          <p:cNvSpPr txBox="1">
            <a:spLocks/>
          </p:cNvSpPr>
          <p:nvPr/>
        </p:nvSpPr>
        <p:spPr bwMode="auto">
          <a:xfrm>
            <a:off x="428596" y="285728"/>
            <a:ext cx="8072437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fr-FR" altLang="fr-FR" sz="3200" b="1" dirty="0">
                <a:solidFill>
                  <a:srgbClr val="FF0000"/>
                </a:solidFill>
                <a:latin typeface="Baskerville Old Face" pitchFamily="18" charset="0"/>
              </a:rPr>
              <a:t> Classification de l’entreprise</a:t>
            </a:r>
          </a:p>
        </p:txBody>
      </p:sp>
      <p:pic>
        <p:nvPicPr>
          <p:cNvPr id="29713" name="Picture 4" descr="RÃ©sultat de recherche d'images pour &quot;google t&quot;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428875" y="3429000"/>
            <a:ext cx="2179638" cy="130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714" name="Picture 6" descr="RÃ©sultat de recherche d'images pour &quot;uber&quot;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3071813" y="5286375"/>
            <a:ext cx="217646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715" name="Picture 8" descr="RÃ©sultat de recherche d'images pour &quot;gat assurance&quot;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5786438" y="5214938"/>
            <a:ext cx="2333625" cy="140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716" name="Picture 12" descr="RÃ©sultat de recherche d'images pour &quot;renault logo&quot;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71500" y="3500438"/>
            <a:ext cx="1285875" cy="139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15">
            <a:extLst>
              <a:ext uri="{FF2B5EF4-FFF2-40B4-BE49-F238E27FC236}">
                <a16:creationId xmlns:a16="http://schemas.microsoft.com/office/drawing/2014/main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460" y="0"/>
            <a:ext cx="3682540" cy="2146032"/>
          </a:xfrm>
          <a:prstGeom prst="rect">
            <a:avLst/>
          </a:prstGeom>
        </p:spPr>
      </p:pic>
      <p:sp>
        <p:nvSpPr>
          <p:cNvPr id="25" name="Isosceles Triangle 46">
            <a:extLst>
              <a:ext uri="{FF2B5EF4-FFF2-40B4-BE49-F238E27FC236}">
                <a16:creationId xmlns:a16="http://schemas.microsoft.com/office/drawing/2014/main" id="{295CE181-88D7-4815-BC0F-BC87C9322824}"/>
              </a:ext>
            </a:extLst>
          </p:cNvPr>
          <p:cNvSpPr/>
          <p:nvPr/>
        </p:nvSpPr>
        <p:spPr>
          <a:xfrm rot="5400000">
            <a:off x="-31494" y="317222"/>
            <a:ext cx="510899" cy="447911"/>
          </a:xfrm>
          <a:prstGeom prst="triangl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ransition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14313" y="214313"/>
            <a:ext cx="8072437" cy="492125"/>
          </a:xfrm>
        </p:spPr>
        <p:txBody>
          <a:bodyPr rtlCol="0">
            <a:no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fr-FR" sz="3200" b="1" dirty="0">
                <a:solidFill>
                  <a:srgbClr val="FF0000"/>
                </a:solidFill>
                <a:latin typeface="Baskerville Old Face"/>
                <a:ea typeface="+mn-ea"/>
                <a:cs typeface="+mn-cs"/>
              </a:rPr>
              <a:t> Classification de l’entreprise</a:t>
            </a:r>
          </a:p>
        </p:txBody>
      </p:sp>
      <p:graphicFrame>
        <p:nvGraphicFramePr>
          <p:cNvPr id="4" name="Diagramme 3"/>
          <p:cNvGraphicFramePr/>
          <p:nvPr>
            <p:extLst>
              <p:ext uri="{D42A27DB-BD31-4B8C-83A1-F6EECF244321}">
                <p14:modId xmlns:p14="http://schemas.microsoft.com/office/powerpoint/2010/main" val="4127632451"/>
              </p:ext>
            </p:extLst>
          </p:nvPr>
        </p:nvGraphicFramePr>
        <p:xfrm>
          <a:off x="990600" y="1524000"/>
          <a:ext cx="7772400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object 3"/>
          <p:cNvSpPr txBox="1"/>
          <p:nvPr/>
        </p:nvSpPr>
        <p:spPr>
          <a:xfrm>
            <a:off x="533400" y="914400"/>
            <a:ext cx="7634288" cy="43656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27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24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  <a:cs typeface="Times New Roman" pitchFamily="18" charset="0"/>
              </a:rPr>
              <a:t>Toute entreprise est classifiée selon 3 critères</a:t>
            </a:r>
            <a:r>
              <a:rPr sz="2800" spc="-5" dirty="0">
                <a:latin typeface="Times New Roman" pitchFamily="18" charset="0"/>
                <a:cs typeface="Times New Roman" pitchFamily="18" charset="0"/>
              </a:rPr>
              <a:t>: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15">
            <a:extLst>
              <a:ext uri="{FF2B5EF4-FFF2-40B4-BE49-F238E27FC236}">
                <a16:creationId xmlns:a16="http://schemas.microsoft.com/office/drawing/2014/main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460" y="0"/>
            <a:ext cx="3682540" cy="2146032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à coins arrondis 1"/>
          <p:cNvSpPr/>
          <p:nvPr/>
        </p:nvSpPr>
        <p:spPr>
          <a:xfrm>
            <a:off x="914400" y="3124200"/>
            <a:ext cx="2057400" cy="914400"/>
          </a:xfrm>
          <a:prstGeom prst="roundRect">
            <a:avLst/>
          </a:prstGeom>
          <a:gradFill flip="none" rotWithShape="1">
            <a:gsLst>
              <a:gs pos="0">
                <a:srgbClr val="0070C0">
                  <a:tint val="66000"/>
                  <a:satMod val="160000"/>
                </a:srgbClr>
              </a:gs>
              <a:gs pos="50000">
                <a:srgbClr val="0070C0">
                  <a:tint val="44500"/>
                  <a:satMod val="160000"/>
                </a:srgbClr>
              </a:gs>
              <a:gs pos="100000">
                <a:srgbClr val="0070C0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12700"/>
          </a:effectLst>
          <a:scene3d>
            <a:camera prst="perspectiveFront"/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2000" b="1" dirty="0">
                <a:solidFill>
                  <a:srgbClr val="0070C0"/>
                </a:solidFill>
              </a:rPr>
              <a:t>Entreprises publiques </a:t>
            </a:r>
          </a:p>
        </p:txBody>
      </p:sp>
      <p:sp>
        <p:nvSpPr>
          <p:cNvPr id="3" name="Rectangle à coins arrondis 2"/>
          <p:cNvSpPr/>
          <p:nvPr/>
        </p:nvSpPr>
        <p:spPr>
          <a:xfrm>
            <a:off x="5791200" y="3962400"/>
            <a:ext cx="2057400" cy="914400"/>
          </a:xfrm>
          <a:prstGeom prst="roundRect">
            <a:avLst/>
          </a:prstGeom>
          <a:gradFill flip="none" rotWithShape="1">
            <a:gsLst>
              <a:gs pos="0">
                <a:srgbClr val="0070C0">
                  <a:tint val="66000"/>
                  <a:satMod val="160000"/>
                </a:srgbClr>
              </a:gs>
              <a:gs pos="50000">
                <a:srgbClr val="0070C0">
                  <a:tint val="44500"/>
                  <a:satMod val="160000"/>
                </a:srgbClr>
              </a:gs>
              <a:gs pos="100000">
                <a:srgbClr val="0070C0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12700"/>
          </a:effectLst>
          <a:scene3d>
            <a:camera prst="perspectiveFront"/>
            <a:lightRig rig="glow" dir="t">
              <a:rot lat="0" lon="0" rev="4800000"/>
            </a:lightRig>
          </a:scene3d>
          <a:sp3d prstMaterial="matte">
            <a:bevelT w="127000" h="635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2000" b="1" dirty="0">
                <a:solidFill>
                  <a:srgbClr val="0070C0"/>
                </a:solidFill>
              </a:rPr>
              <a:t>Entreprises individuelles  </a:t>
            </a:r>
          </a:p>
        </p:txBody>
      </p:sp>
      <p:sp>
        <p:nvSpPr>
          <p:cNvPr id="4" name="Rectangle à coins arrondis 3"/>
          <p:cNvSpPr/>
          <p:nvPr/>
        </p:nvSpPr>
        <p:spPr>
          <a:xfrm>
            <a:off x="6096000" y="2743200"/>
            <a:ext cx="2057400" cy="914400"/>
          </a:xfrm>
          <a:prstGeom prst="roundRect">
            <a:avLst/>
          </a:prstGeom>
          <a:gradFill flip="none" rotWithShape="1">
            <a:gsLst>
              <a:gs pos="0">
                <a:srgbClr val="0070C0">
                  <a:tint val="66000"/>
                  <a:satMod val="160000"/>
                </a:srgbClr>
              </a:gs>
              <a:gs pos="50000">
                <a:srgbClr val="0070C0">
                  <a:tint val="44500"/>
                  <a:satMod val="160000"/>
                </a:srgbClr>
              </a:gs>
              <a:gs pos="100000">
                <a:srgbClr val="0070C0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12700"/>
          </a:effectLst>
          <a:scene3d>
            <a:camera prst="perspectiveFront"/>
            <a:lightRig rig="glow" dir="t">
              <a:rot lat="0" lon="0" rev="4800000"/>
            </a:lightRig>
          </a:scene3d>
          <a:sp3d prstMaterial="matte">
            <a:bevelT w="127000" h="635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2000" b="1" dirty="0">
                <a:solidFill>
                  <a:srgbClr val="0070C0"/>
                </a:solidFill>
              </a:rPr>
              <a:t>Entreprises sociétaires  </a:t>
            </a:r>
          </a:p>
        </p:txBody>
      </p:sp>
      <p:grpSp>
        <p:nvGrpSpPr>
          <p:cNvPr id="5" name="Groupe 5"/>
          <p:cNvGrpSpPr/>
          <p:nvPr/>
        </p:nvGrpSpPr>
        <p:grpSpPr>
          <a:xfrm>
            <a:off x="3048000" y="2667000"/>
            <a:ext cx="2971800" cy="1713249"/>
            <a:chOff x="2362202" y="1460"/>
            <a:chExt cx="2331597" cy="1332249"/>
          </a:xfrm>
          <a:scene3d>
            <a:camera prst="perspectiveLeft"/>
            <a:lightRig rig="threePt" dir="t">
              <a:rot lat="0" lon="0" rev="7500000"/>
            </a:lightRig>
          </a:scene3d>
        </p:grpSpPr>
        <p:sp>
          <p:nvSpPr>
            <p:cNvPr id="7" name="Ellipse 6"/>
            <p:cNvSpPr/>
            <p:nvPr/>
          </p:nvSpPr>
          <p:spPr>
            <a:xfrm>
              <a:off x="2362202" y="1460"/>
              <a:ext cx="2331597" cy="1332249"/>
            </a:xfrm>
            <a:prstGeom prst="ellipse">
              <a:avLst/>
            </a:prstGeom>
            <a:blipFill rotWithShape="0">
              <a:blip r:embed="rId2" cstate="print"/>
              <a:stretch>
                <a:fillRect/>
              </a:stretch>
            </a:blipFill>
            <a:effectLst>
              <a:innerShdw blurRad="63500" dist="50800" dir="13500000">
                <a:prstClr val="black">
                  <a:alpha val="50000"/>
                </a:prstClr>
              </a:innerShdw>
            </a:effectLst>
            <a:sp3d prstMaterial="plastic">
              <a:bevelT w="127000" h="254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fr-TN"/>
            </a:p>
          </p:txBody>
        </p:sp>
        <p:sp>
          <p:nvSpPr>
            <p:cNvPr id="8" name="Ellipse 4"/>
            <p:cNvSpPr/>
            <p:nvPr/>
          </p:nvSpPr>
          <p:spPr>
            <a:xfrm>
              <a:off x="2703657" y="196563"/>
              <a:ext cx="1648687" cy="942043"/>
            </a:xfrm>
            <a:prstGeom prst="rect">
              <a:avLst/>
            </a:prstGeom>
            <a:sp3d>
              <a:bevelT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30480" tIns="30480" rIns="30480" bIns="30480" spcCol="1270" anchor="ctr"/>
            <a:lstStyle/>
            <a:p>
              <a:pPr algn="ctr" defTabSz="1066800" fontAlgn="auto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fr-FR" sz="2400" b="1" dirty="0">
                  <a:solidFill>
                    <a:srgbClr val="7030A0"/>
                  </a:solidFill>
                </a:rPr>
                <a:t>Juridique </a:t>
              </a:r>
            </a:p>
          </p:txBody>
        </p:sp>
      </p:grpSp>
      <p:sp>
        <p:nvSpPr>
          <p:cNvPr id="31750" name="Rectangle 8"/>
          <p:cNvSpPr>
            <a:spLocks noChangeArrowheads="1"/>
          </p:cNvSpPr>
          <p:nvPr/>
        </p:nvSpPr>
        <p:spPr bwMode="auto">
          <a:xfrm>
            <a:off x="838200" y="381000"/>
            <a:ext cx="75438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389188"/>
            <a:r>
              <a:rPr lang="fr-FR" altLang="fr-FR" sz="3200" b="1" dirty="0">
                <a:solidFill>
                  <a:srgbClr val="00B050"/>
                </a:solidFill>
                <a:latin typeface="Baskerville Old Face" pitchFamily="18" charset="0"/>
              </a:rPr>
              <a:t>Critère juridique</a:t>
            </a:r>
          </a:p>
        </p:txBody>
      </p:sp>
      <p:sp>
        <p:nvSpPr>
          <p:cNvPr id="11" name="Rectangle avec flèche vers le haut 10"/>
          <p:cNvSpPr/>
          <p:nvPr/>
        </p:nvSpPr>
        <p:spPr>
          <a:xfrm>
            <a:off x="5929322" y="5072074"/>
            <a:ext cx="2057400" cy="1066800"/>
          </a:xfrm>
          <a:prstGeom prst="upArrowCallout">
            <a:avLst/>
          </a:prstGeom>
          <a:solidFill>
            <a:srgbClr val="FF0000"/>
          </a:solidFill>
          <a:scene3d>
            <a:camera prst="perspectiveRelaxedModerately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Entreprise secteur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Privé</a:t>
            </a:r>
          </a:p>
        </p:txBody>
      </p:sp>
      <p:sp>
        <p:nvSpPr>
          <p:cNvPr id="12" name="Rectangle avec flèche vers le haut 11"/>
          <p:cNvSpPr/>
          <p:nvPr/>
        </p:nvSpPr>
        <p:spPr>
          <a:xfrm>
            <a:off x="1000100" y="4357694"/>
            <a:ext cx="2057400" cy="1066800"/>
          </a:xfrm>
          <a:prstGeom prst="upArrowCallout">
            <a:avLst/>
          </a:prstGeom>
          <a:solidFill>
            <a:srgbClr val="FF0000"/>
          </a:solidFill>
          <a:scene3d>
            <a:camera prst="perspectiveRelaxedModerately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Entreprise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Secteur publique </a:t>
            </a:r>
          </a:p>
        </p:txBody>
      </p:sp>
      <p:pic>
        <p:nvPicPr>
          <p:cNvPr id="13" name="Picture 15">
            <a:extLst>
              <a:ext uri="{FF2B5EF4-FFF2-40B4-BE49-F238E27FC236}">
                <a16:creationId xmlns:a16="http://schemas.microsoft.com/office/drawing/2014/main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460" y="0"/>
            <a:ext cx="3682540" cy="2146032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à coins arrondis 1"/>
          <p:cNvSpPr/>
          <p:nvPr/>
        </p:nvSpPr>
        <p:spPr>
          <a:xfrm>
            <a:off x="4786314" y="1785926"/>
            <a:ext cx="3048000" cy="914400"/>
          </a:xfrm>
          <a:prstGeom prst="roundRect">
            <a:avLst/>
          </a:prstGeom>
          <a:gradFill flip="none" rotWithShape="1">
            <a:gsLst>
              <a:gs pos="0">
                <a:srgbClr val="0070C0">
                  <a:tint val="66000"/>
                  <a:satMod val="160000"/>
                </a:srgbClr>
              </a:gs>
              <a:gs pos="50000">
                <a:srgbClr val="0070C0">
                  <a:tint val="44500"/>
                  <a:satMod val="160000"/>
                </a:srgbClr>
              </a:gs>
              <a:gs pos="100000">
                <a:srgbClr val="0070C0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12700"/>
          </a:effectLst>
          <a:scene3d>
            <a:camera prst="perspectiveFront"/>
            <a:lightRig rig="glow" dir="t">
              <a:rot lat="0" lon="0" rev="4800000"/>
            </a:lightRig>
          </a:scene3d>
          <a:sp3d prstMaterial="matte">
            <a:bevelT w="127000" h="635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2800" dirty="0"/>
              <a:t>Entreprises publiques </a:t>
            </a:r>
          </a:p>
        </p:txBody>
      </p:sp>
      <p:sp>
        <p:nvSpPr>
          <p:cNvPr id="4" name="Larme 3"/>
          <p:cNvSpPr/>
          <p:nvPr/>
        </p:nvSpPr>
        <p:spPr>
          <a:xfrm>
            <a:off x="1000100" y="2928934"/>
            <a:ext cx="3838572" cy="3171820"/>
          </a:xfrm>
          <a:prstGeom prst="teardrop">
            <a:avLst/>
          </a:prstGeom>
          <a:solidFill>
            <a:srgbClr val="3EB8CD"/>
          </a:solidFill>
          <a:ln w="63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fr-FR" altLang="fr-FR" sz="2400" b="1" dirty="0">
                <a:solidFill>
                  <a:schemeClr val="bg1"/>
                </a:solidFill>
                <a:latin typeface="Times New Roman" pitchFamily="18" charset="0"/>
                <a:ea typeface="Roboto Light"/>
                <a:cs typeface="Times New Roman" pitchFamily="18" charset="0"/>
              </a:rPr>
              <a:t>Leur  capital est détenu en totalité ou en partie (semi-  publiques) par l’Etat ou les collectivités publiques  (STEG, TT, SONEDE).</a:t>
            </a:r>
          </a:p>
        </p:txBody>
      </p:sp>
      <p:sp>
        <p:nvSpPr>
          <p:cNvPr id="32774" name="Rectangle 5"/>
          <p:cNvSpPr>
            <a:spLocks noChangeArrowheads="1"/>
          </p:cNvSpPr>
          <p:nvPr/>
        </p:nvSpPr>
        <p:spPr bwMode="auto">
          <a:xfrm>
            <a:off x="-1857375" y="285750"/>
            <a:ext cx="7643813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389188"/>
            <a:r>
              <a:rPr lang="fr-FR" altLang="fr-FR" sz="3200" b="1">
                <a:solidFill>
                  <a:srgbClr val="00B050"/>
                </a:solidFill>
                <a:latin typeface="Baskerville Old Face" pitchFamily="18" charset="0"/>
              </a:rPr>
              <a:t>Entreprises du secteur public</a:t>
            </a:r>
          </a:p>
        </p:txBody>
      </p:sp>
      <p:pic>
        <p:nvPicPr>
          <p:cNvPr id="6" name="Picture 15">
            <a:extLst>
              <a:ext uri="{FF2B5EF4-FFF2-40B4-BE49-F238E27FC236}">
                <a16:creationId xmlns:a16="http://schemas.microsoft.com/office/drawing/2014/main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460" y="0"/>
            <a:ext cx="3682540" cy="2146032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à coins arrondis 1"/>
          <p:cNvSpPr/>
          <p:nvPr/>
        </p:nvSpPr>
        <p:spPr>
          <a:xfrm>
            <a:off x="2000232" y="1142984"/>
            <a:ext cx="2057400" cy="914400"/>
          </a:xfrm>
          <a:prstGeom prst="roundRect">
            <a:avLst/>
          </a:prstGeom>
          <a:gradFill flip="none" rotWithShape="1">
            <a:gsLst>
              <a:gs pos="0">
                <a:srgbClr val="0070C0">
                  <a:tint val="66000"/>
                  <a:satMod val="160000"/>
                </a:srgbClr>
              </a:gs>
              <a:gs pos="50000">
                <a:srgbClr val="0070C0">
                  <a:tint val="44500"/>
                  <a:satMod val="160000"/>
                </a:srgbClr>
              </a:gs>
              <a:gs pos="100000">
                <a:srgbClr val="0070C0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12700"/>
          </a:effectLst>
          <a:scene3d>
            <a:camera prst="perspectiveFront"/>
            <a:lightRig rig="glow" dir="t">
              <a:rot lat="0" lon="0" rev="4800000"/>
            </a:lightRig>
          </a:scene3d>
          <a:sp3d prstMaterial="matte">
            <a:bevelT w="127000" h="635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2000" b="1" dirty="0">
                <a:latin typeface="Times New Roman" pitchFamily="18" charset="0"/>
                <a:cs typeface="Times New Roman" pitchFamily="18" charset="0"/>
              </a:rPr>
              <a:t>Entreprises individuelles  </a:t>
            </a:r>
          </a:p>
        </p:txBody>
      </p:sp>
      <p:sp>
        <p:nvSpPr>
          <p:cNvPr id="3" name="Larme 2"/>
          <p:cNvSpPr/>
          <p:nvPr/>
        </p:nvSpPr>
        <p:spPr>
          <a:xfrm>
            <a:off x="0" y="2571744"/>
            <a:ext cx="4014814" cy="2805122"/>
          </a:xfrm>
          <a:prstGeom prst="teardrop">
            <a:avLst/>
          </a:prstGeom>
          <a:solidFill>
            <a:srgbClr val="3EB8CD"/>
          </a:solidFill>
          <a:ln w="63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fr-FR" altLang="fr-FR" sz="2400" b="1" dirty="0">
                <a:solidFill>
                  <a:schemeClr val="bg1"/>
                </a:solidFill>
                <a:latin typeface="Times New Roman" pitchFamily="18" charset="0"/>
                <a:ea typeface="Roboto Light"/>
                <a:cs typeface="Times New Roman" pitchFamily="18" charset="0"/>
              </a:rPr>
              <a:t>Le propriétaire  assume seul tous les risques </a:t>
            </a:r>
          </a:p>
          <a:p>
            <a:pPr algn="ctr">
              <a:defRPr/>
            </a:pPr>
            <a:r>
              <a:rPr lang="fr-FR" altLang="fr-FR" sz="2400" b="1" dirty="0">
                <a:solidFill>
                  <a:schemeClr val="bg1"/>
                </a:solidFill>
                <a:latin typeface="Times New Roman" pitchFamily="18" charset="0"/>
                <a:ea typeface="Roboto Light"/>
                <a:cs typeface="Times New Roman" pitchFamily="18" charset="0"/>
              </a:rPr>
              <a:t>(artisans, commerçants, professions libérales</a:t>
            </a:r>
            <a:r>
              <a:rPr lang="fr-FR" altLang="fr-FR" sz="2400" b="1" dirty="0">
                <a:solidFill>
                  <a:schemeClr val="bg1"/>
                </a:solidFill>
                <a:latin typeface="Candara" pitchFamily="34" charset="0"/>
                <a:ea typeface="Roboto Light"/>
                <a:cs typeface="Roboto Light"/>
              </a:rPr>
              <a:t>)</a:t>
            </a:r>
          </a:p>
        </p:txBody>
      </p:sp>
      <p:sp>
        <p:nvSpPr>
          <p:cNvPr id="33798" name="Rectangle 3"/>
          <p:cNvSpPr>
            <a:spLocks noChangeArrowheads="1"/>
          </p:cNvSpPr>
          <p:nvPr/>
        </p:nvSpPr>
        <p:spPr bwMode="auto">
          <a:xfrm>
            <a:off x="685800" y="304800"/>
            <a:ext cx="62484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altLang="fr-FR" sz="3200" b="1">
                <a:solidFill>
                  <a:srgbClr val="00B050"/>
                </a:solidFill>
                <a:latin typeface="Baskerville Old Face" pitchFamily="18" charset="0"/>
              </a:rPr>
              <a:t>Entreprises du secteur privé</a:t>
            </a:r>
          </a:p>
        </p:txBody>
      </p:sp>
      <p:sp>
        <p:nvSpPr>
          <p:cNvPr id="5" name="Rectangle à coins arrondis 4"/>
          <p:cNvSpPr/>
          <p:nvPr/>
        </p:nvSpPr>
        <p:spPr>
          <a:xfrm>
            <a:off x="6215074" y="1142984"/>
            <a:ext cx="2057400" cy="914400"/>
          </a:xfrm>
          <a:prstGeom prst="roundRect">
            <a:avLst/>
          </a:prstGeom>
          <a:gradFill flip="none" rotWithShape="1">
            <a:gsLst>
              <a:gs pos="0">
                <a:srgbClr val="0070C0">
                  <a:tint val="66000"/>
                  <a:satMod val="160000"/>
                </a:srgbClr>
              </a:gs>
              <a:gs pos="50000">
                <a:srgbClr val="0070C0">
                  <a:tint val="44500"/>
                  <a:satMod val="160000"/>
                </a:srgbClr>
              </a:gs>
              <a:gs pos="100000">
                <a:srgbClr val="0070C0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12700"/>
          </a:effectLst>
          <a:scene3d>
            <a:camera prst="perspectiveFront"/>
            <a:lightRig rig="glow" dir="t">
              <a:rot lat="0" lon="0" rev="4800000"/>
            </a:lightRig>
          </a:scene3d>
          <a:sp3d prstMaterial="matte">
            <a:bevelT w="127000" h="635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2000" b="1" dirty="0">
                <a:latin typeface="Times New Roman" pitchFamily="18" charset="0"/>
                <a:cs typeface="Times New Roman" pitchFamily="18" charset="0"/>
              </a:rPr>
              <a:t>Entreprises sociétaires  </a:t>
            </a:r>
          </a:p>
        </p:txBody>
      </p:sp>
      <p:sp>
        <p:nvSpPr>
          <p:cNvPr id="6" name="Larme 5"/>
          <p:cNvSpPr/>
          <p:nvPr/>
        </p:nvSpPr>
        <p:spPr>
          <a:xfrm>
            <a:off x="4429124" y="2571744"/>
            <a:ext cx="4000496" cy="2947998"/>
          </a:xfrm>
          <a:prstGeom prst="teardrop">
            <a:avLst/>
          </a:prstGeom>
          <a:solidFill>
            <a:srgbClr val="3EB8CD"/>
          </a:solidFill>
          <a:ln w="63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defRPr/>
            </a:pPr>
            <a:r>
              <a:rPr lang="fr-FR" altLang="fr-FR" sz="2400" b="1" dirty="0">
                <a:solidFill>
                  <a:schemeClr val="bg1"/>
                </a:solidFill>
                <a:latin typeface="Times New Roman" pitchFamily="18" charset="0"/>
                <a:ea typeface="Roboto Light"/>
                <a:cs typeface="Times New Roman" pitchFamily="18" charset="0"/>
              </a:rPr>
              <a:t>Plusieurs  associés assument tous les risques, ou une  partie seulement (SARL, SA).</a:t>
            </a:r>
          </a:p>
        </p:txBody>
      </p:sp>
      <p:pic>
        <p:nvPicPr>
          <p:cNvPr id="8" name="Picture 15">
            <a:extLst>
              <a:ext uri="{FF2B5EF4-FFF2-40B4-BE49-F238E27FC236}">
                <a16:creationId xmlns:a16="http://schemas.microsoft.com/office/drawing/2014/main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460" y="0"/>
            <a:ext cx="3682540" cy="2146032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2786063" y="428625"/>
            <a:ext cx="8229601" cy="492125"/>
          </a:xfrm>
        </p:spPr>
        <p:txBody>
          <a:bodyPr lIns="0" tIns="0" rIns="0" bIns="0" rtlCol="0">
            <a:spAutoFit/>
          </a:bodyPr>
          <a:lstStyle/>
          <a:p>
            <a:pPr marL="1827530" eaLnBrk="1" fontAlgn="auto" hangingPunct="1">
              <a:spcAft>
                <a:spcPts val="0"/>
              </a:spcAft>
              <a:defRPr/>
            </a:pPr>
            <a:r>
              <a:rPr lang="fr-FR" sz="3200" b="1" dirty="0">
                <a:solidFill>
                  <a:srgbClr val="00B05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Critère dimensionnel</a:t>
            </a:r>
            <a:endParaRPr sz="28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819" name="object 3"/>
          <p:cNvSpPr txBox="1">
            <a:spLocks noChangeArrowheads="1"/>
          </p:cNvSpPr>
          <p:nvPr/>
        </p:nvSpPr>
        <p:spPr bwMode="auto">
          <a:xfrm>
            <a:off x="323528" y="338199"/>
            <a:ext cx="8534400" cy="14696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2700" indent="114300"/>
            <a:endParaRPr lang="fr-FR" altLang="fr-FR" sz="3000" dirty="0">
              <a:latin typeface="Trebuchet MS" pitchFamily="34" charset="0"/>
            </a:endParaRPr>
          </a:p>
          <a:p>
            <a:pPr marL="12700" indent="114300" algn="just"/>
            <a:endParaRPr lang="fr-FR" altLang="fr-FR" sz="3000" b="1" dirty="0">
              <a:solidFill>
                <a:srgbClr val="17375E"/>
              </a:solidFill>
              <a:latin typeface="Trebuchet MS" pitchFamily="34" charset="0"/>
              <a:cs typeface="Times New Roman" pitchFamily="18" charset="0"/>
            </a:endParaRPr>
          </a:p>
          <a:p>
            <a:pPr marL="12700" indent="114300">
              <a:spcBef>
                <a:spcPts val="925"/>
              </a:spcBef>
            </a:pPr>
            <a:endParaRPr lang="fr-FR" altLang="fr-FR" sz="2800" dirty="0">
              <a:latin typeface="Trebuchet MS" pitchFamily="34" charset="0"/>
            </a:endParaRPr>
          </a:p>
        </p:txBody>
      </p:sp>
      <p:graphicFrame>
        <p:nvGraphicFramePr>
          <p:cNvPr id="6" name="Diagramme 5"/>
          <p:cNvGraphicFramePr/>
          <p:nvPr/>
        </p:nvGraphicFramePr>
        <p:xfrm>
          <a:off x="1371600" y="1571612"/>
          <a:ext cx="7272366" cy="4854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15">
            <a:extLst>
              <a:ext uri="{FF2B5EF4-FFF2-40B4-BE49-F238E27FC236}">
                <a16:creationId xmlns:a16="http://schemas.microsoft.com/office/drawing/2014/main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460" y="0"/>
            <a:ext cx="3682540" cy="2146032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607425" cy="1230313"/>
          </a:xfrm>
        </p:spPr>
        <p:txBody>
          <a:bodyPr rtlCol="0">
            <a:normAutofit fontScale="90000"/>
          </a:bodyPr>
          <a:lstStyle/>
          <a:p>
            <a:pPr marL="127000" eaLnBrk="1" fontAlgn="auto" hangingPunct="1">
              <a:spcBef>
                <a:spcPts val="919"/>
              </a:spcBef>
              <a:spcAft>
                <a:spcPts val="0"/>
              </a:spcAft>
              <a:defRPr/>
            </a:pPr>
            <a:r>
              <a:rPr lang="fr-FR" b="1" spc="-5" dirty="0">
                <a:solidFill>
                  <a:srgbClr val="00AF50"/>
                </a:solidFill>
              </a:rPr>
              <a:t> </a:t>
            </a:r>
            <a:r>
              <a:rPr lang="fr-FR" sz="2400" b="1" spc="-5" dirty="0">
                <a:solidFill>
                  <a:srgbClr val="00AF50"/>
                </a:solidFill>
              </a:rPr>
              <a:t>Effectif du personnel employé</a:t>
            </a:r>
            <a:r>
              <a:rPr lang="fr-FR" sz="2400" spc="-5" dirty="0">
                <a:solidFill>
                  <a:srgbClr val="00AF50"/>
                </a:solidFill>
              </a:rPr>
              <a:t> : </a:t>
            </a:r>
            <a:r>
              <a:rPr lang="fr-FR" sz="2400" spc="-5" dirty="0"/>
              <a:t>selon</a:t>
            </a:r>
            <a:r>
              <a:rPr lang="fr-FR" sz="2400" spc="15" dirty="0"/>
              <a:t> </a:t>
            </a:r>
            <a:r>
              <a:rPr lang="fr-FR" sz="2400" spc="-10" dirty="0"/>
              <a:t>ce critère, </a:t>
            </a:r>
            <a:r>
              <a:rPr lang="fr-FR" sz="2400" spc="-5" dirty="0"/>
              <a:t>en </a:t>
            </a:r>
            <a:r>
              <a:rPr lang="fr-FR" sz="2400" spc="-10" dirty="0">
                <a:solidFill>
                  <a:srgbClr val="FF0000"/>
                </a:solidFill>
              </a:rPr>
              <a:t>Tunisie </a:t>
            </a:r>
            <a:r>
              <a:rPr lang="fr-FR" sz="2400" spc="-5" dirty="0"/>
              <a:t>on </a:t>
            </a:r>
            <a:r>
              <a:rPr lang="fr-FR" sz="2400" spc="-10" dirty="0"/>
              <a:t>distingue</a:t>
            </a:r>
            <a:r>
              <a:rPr lang="fr-FR" sz="2400" spc="55" dirty="0"/>
              <a:t> </a:t>
            </a:r>
            <a:br>
              <a:rPr lang="fr-FR" sz="2400" spc="-5" dirty="0"/>
            </a:br>
            <a:endParaRPr lang="fr-FR" sz="2400" dirty="0"/>
          </a:p>
        </p:txBody>
      </p:sp>
      <p:graphicFrame>
        <p:nvGraphicFramePr>
          <p:cNvPr id="7" name="Diagramme 6"/>
          <p:cNvGraphicFramePr/>
          <p:nvPr/>
        </p:nvGraphicFramePr>
        <p:xfrm>
          <a:off x="457200" y="685800"/>
          <a:ext cx="83058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5844" name="ZoneTexte 8"/>
          <p:cNvSpPr txBox="1">
            <a:spLocks noChangeArrowheads="1"/>
          </p:cNvSpPr>
          <p:nvPr/>
        </p:nvSpPr>
        <p:spPr bwMode="auto">
          <a:xfrm>
            <a:off x="1676400" y="4953000"/>
            <a:ext cx="41148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altLang="fr-FR" sz="2400" dirty="0">
                <a:latin typeface="Calibri" pitchFamily="34" charset="0"/>
              </a:rPr>
              <a:t>TPE: Très petite entreprise ou micro-entreprise . &lt;10 employés </a:t>
            </a:r>
          </a:p>
        </p:txBody>
      </p:sp>
      <p:sp>
        <p:nvSpPr>
          <p:cNvPr id="35845" name="ZoneTexte 11"/>
          <p:cNvSpPr txBox="1">
            <a:spLocks noChangeArrowheads="1"/>
          </p:cNvSpPr>
          <p:nvPr/>
        </p:nvSpPr>
        <p:spPr bwMode="auto">
          <a:xfrm>
            <a:off x="2743200" y="4038600"/>
            <a:ext cx="3810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altLang="fr-FR" sz="2400">
                <a:latin typeface="Calibri" pitchFamily="34" charset="0"/>
              </a:rPr>
              <a:t>PE: Entre 10&lt;salariés&lt;49</a:t>
            </a:r>
          </a:p>
        </p:txBody>
      </p:sp>
      <p:sp>
        <p:nvSpPr>
          <p:cNvPr id="35846" name="AutoShape 10" descr="Résultat de recherche d'images pour &quot;entreprise picto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fr-FR" altLang="fr-FR">
              <a:latin typeface="Calibri" pitchFamily="34" charset="0"/>
            </a:endParaRPr>
          </a:p>
        </p:txBody>
      </p:sp>
      <p:sp>
        <p:nvSpPr>
          <p:cNvPr id="35847" name="AutoShape 12" descr="Résultat de recherche d'images pour &quot;entreprise picto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fr-FR" altLang="fr-FR">
              <a:latin typeface="Calibri" pitchFamily="34" charset="0"/>
            </a:endParaRPr>
          </a:p>
        </p:txBody>
      </p:sp>
      <p:sp>
        <p:nvSpPr>
          <p:cNvPr id="35848" name="AutoShape 14" descr="Résultat de recherche d'images pour &quot;entreprise picto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fr-FR" altLang="fr-FR">
              <a:latin typeface="Calibri" pitchFamily="34" charset="0"/>
            </a:endParaRPr>
          </a:p>
        </p:txBody>
      </p:sp>
      <p:pic>
        <p:nvPicPr>
          <p:cNvPr id="35849" name="Picture 18" descr="Image associée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85800" y="4724400"/>
            <a:ext cx="762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850" name="Picture 20" descr="Image associée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066800" y="3505200"/>
            <a:ext cx="1219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851" name="Picture 22" descr="Image associée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981200" y="2057400"/>
            <a:ext cx="1371600" cy="1395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852" name="ZoneTexte 22"/>
          <p:cNvSpPr txBox="1">
            <a:spLocks noChangeArrowheads="1"/>
          </p:cNvSpPr>
          <p:nvPr/>
        </p:nvSpPr>
        <p:spPr bwMode="auto">
          <a:xfrm>
            <a:off x="2971800" y="3200400"/>
            <a:ext cx="6172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55600" indent="-342900">
              <a:buClr>
                <a:srgbClr val="CC9900"/>
              </a:buClr>
              <a:buSzPct val="64000"/>
              <a:tabLst>
                <a:tab pos="354013" algn="l"/>
                <a:tab pos="355600" algn="l"/>
              </a:tabLst>
            </a:pPr>
            <a:r>
              <a:rPr lang="fr-FR" altLang="fr-FR" sz="2400" dirty="0">
                <a:latin typeface="Calibri" pitchFamily="34" charset="0"/>
              </a:rPr>
              <a:t>              ME :  50 &lt;salariés&lt;150</a:t>
            </a:r>
          </a:p>
        </p:txBody>
      </p:sp>
      <p:pic>
        <p:nvPicPr>
          <p:cNvPr id="35853" name="Picture 24" descr="Image associée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3048000" y="1143000"/>
            <a:ext cx="1619250" cy="125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854" name="ZoneTexte 25"/>
          <p:cNvSpPr txBox="1">
            <a:spLocks noChangeArrowheads="1"/>
          </p:cNvSpPr>
          <p:nvPr/>
        </p:nvSpPr>
        <p:spPr bwMode="auto">
          <a:xfrm>
            <a:off x="5257800" y="2667000"/>
            <a:ext cx="3886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-449263">
              <a:spcBef>
                <a:spcPts val="675"/>
              </a:spcBef>
              <a:buClr>
                <a:srgbClr val="CC9900"/>
              </a:buClr>
              <a:buSzPct val="64000"/>
              <a:tabLst>
                <a:tab pos="460375" algn="l"/>
                <a:tab pos="461963" algn="l"/>
              </a:tabLst>
            </a:pPr>
            <a:r>
              <a:rPr lang="fr-FR" altLang="fr-FR" sz="2400" dirty="0">
                <a:latin typeface="Calibri" pitchFamily="34" charset="0"/>
              </a:rPr>
              <a:t>Grande entreprise : &gt; 150  </a:t>
            </a:r>
          </a:p>
        </p:txBody>
      </p:sp>
      <p:sp>
        <p:nvSpPr>
          <p:cNvPr id="35855" name="ZoneTexte 27"/>
          <p:cNvSpPr txBox="1">
            <a:spLocks noChangeArrowheads="1"/>
          </p:cNvSpPr>
          <p:nvPr/>
        </p:nvSpPr>
        <p:spPr bwMode="auto">
          <a:xfrm>
            <a:off x="6477000" y="2057400"/>
            <a:ext cx="3124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61963" indent="-449263">
              <a:spcBef>
                <a:spcPts val="675"/>
              </a:spcBef>
              <a:buClr>
                <a:srgbClr val="CC9900"/>
              </a:buClr>
              <a:buSzPct val="64000"/>
              <a:tabLst>
                <a:tab pos="460375" algn="l"/>
                <a:tab pos="461963" algn="l"/>
              </a:tabLst>
            </a:pPr>
            <a:r>
              <a:rPr lang="fr-FR" altLang="fr-FR" sz="2400">
                <a:latin typeface="Calibri" pitchFamily="34" charset="0"/>
              </a:rPr>
              <a:t>Groupe d’entreprise </a:t>
            </a:r>
          </a:p>
        </p:txBody>
      </p:sp>
      <p:pic>
        <p:nvPicPr>
          <p:cNvPr id="35856" name="Picture 26" descr="Image associée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4876800" y="838200"/>
            <a:ext cx="993775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Picture 15">
            <a:extLst>
              <a:ext uri="{FF2B5EF4-FFF2-40B4-BE49-F238E27FC236}">
                <a16:creationId xmlns:a16="http://schemas.microsoft.com/office/drawing/2014/main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460" y="0"/>
            <a:ext cx="3682540" cy="2146032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31B9D0-4B63-47D1-BB3B-C76C5B4CC79D}" type="slidenum">
              <a:rPr lang="fr-FR" smtClean="0"/>
              <a:pPr>
                <a:defRPr/>
              </a:pPr>
              <a:t>36</a:t>
            </a:fld>
            <a:endParaRPr lang="fr-FR"/>
          </a:p>
        </p:txBody>
      </p:sp>
      <p:sp>
        <p:nvSpPr>
          <p:cNvPr id="37891" name="AutoShape 2" descr="RÃ©sultat de recherche d'images pour &quot;poulina group holding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fr-FR" altLang="fr-FR">
              <a:latin typeface="Calibri" pitchFamily="34" charset="0"/>
            </a:endParaRPr>
          </a:p>
        </p:txBody>
      </p:sp>
      <p:sp>
        <p:nvSpPr>
          <p:cNvPr id="37892" name="AutoShape 4" descr="Image associÃ©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fr-FR" altLang="fr-FR">
              <a:latin typeface="Calibri" pitchFamily="34" charset="0"/>
            </a:endParaRPr>
          </a:p>
        </p:txBody>
      </p:sp>
      <p:pic>
        <p:nvPicPr>
          <p:cNvPr id="82950" name="Picture 6" descr="Image associÃ©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00364" y="1785926"/>
            <a:ext cx="3000396" cy="3429024"/>
          </a:xfrm>
          <a:prstGeom prst="ellipse">
            <a:avLst/>
          </a:prstGeom>
          <a:ln w="63500" cap="rnd">
            <a:solidFill>
              <a:srgbClr val="00B0F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7894" name="ZoneTexte 5"/>
          <p:cNvSpPr txBox="1">
            <a:spLocks noChangeArrowheads="1"/>
          </p:cNvSpPr>
          <p:nvPr/>
        </p:nvSpPr>
        <p:spPr bwMode="auto">
          <a:xfrm>
            <a:off x="500063" y="357188"/>
            <a:ext cx="478631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altLang="fr-FR" sz="2400" b="1" u="sng">
                <a:solidFill>
                  <a:srgbClr val="00B0F0"/>
                </a:solidFill>
                <a:latin typeface="Candara" pitchFamily="34" charset="0"/>
              </a:rPr>
              <a:t>Exemple de groupe d’entreprise </a:t>
            </a:r>
          </a:p>
        </p:txBody>
      </p:sp>
      <p:sp>
        <p:nvSpPr>
          <p:cNvPr id="37896" name="AutoShape 8" descr="data:image/png;base64,iVBORw0KGgoAAAANSUhEUgAAAu4AAAGlCAYAAAClanP4AAAgAElEQVR4XuydB7xU1bX/v/uUqbcX4F56lapixYq9xBZ77zGxv7T3T2ISk5cYzUvviUaN5dmwI6hYMDYsoKKgAtKU3m6/0077f9Y+M4BGo05AUM4xRJw5ZZ/f2TPzW2v/1m+pGTNmBERbhECEQIRAhECEQIRAhECEQIRAhMBWjYCKiPtW/XyiwUUIRAhECEQIRAhECEQIRAhECGgEIuIeTYQIgQiBCIEIgQiBCIEIgQiBCIHPAQIRcf8cPKRoiBECEQIRAhECEQIRAhECEQIRAhFxj+ZAhECEQIRAhECEQIRAhECEwOcKgcrKSpqamj5XY94Ug42I+6ZAMTpHhECEQIRAhECEQIRAhECEwGeGgBD3YcOGfWbX21ouFBH3Mp7EthrllQHVJzjED/cJlP7jBz7KlH8HKKXkDeT/la9A/jsI9L8D+Ucp/R4BBH6AYej/Ql4MAl9eBmUQyLkCed/Qr8nf9U7FfTcepD4vAYY+rYHv+5hGgI9cq3g9fQH9PwIV7r/hvfDcSt+PH45FydlKl/PxPQfDtItXKd6+3JY+k9yenC00e5Kx+8pA6REIVgpPjyvAUgpDecV7McBzCQyl9wcDQ58zHKf8JTw+3D+8wyIeJTRK49XvCU7hsfoxRFuEQIRAhECEQITAJkSgs7OTFStWlH3GiLiXDd22d6AszTQ3N297N74Z7thzMyghpr4icG180yeIGeS9AqZpEgQuphdgexZKWWgKbRm4mjSHdDlwfQw/wDRMfM9FWYpA+SGBNYok1/NRhqFZqOF5IRE3hRCD5/sYpoHrS9AgV3AxfR/HiQnvJ2ZlcQILA0uTYZQJgQQE4JgOPh4WJqaSgMPTpNhyLAy/ABa4ZpyC7xMzwAxy+PlujHgaXyXxAnBdD8u0MJUci6bXlpy1UMCIx8ljYgR5bKOg98+qJL5rkFYGMaMDzzdQKolyOvBNi24sLCNJXIKZQOEZSt+HIosRdBPI2M0UbpDA98FSYHgFDMMjMAw8wqDCkLhDyL8ZkffNMPWjU0YIRAhECGzTCCxfvjwi7mXMgCjjXgZoEXEvA7SPOMT38poAm6aF45maJOacHMoycT2PmGURJ5BkMrZlaSaZKzh4ZkBgSpbZwDYMbEkLe5Kh9vQ5hJqjLDzXI6YJupBbCLw8yjMIbBPPdzD0Na0wc66z0gG+7+h9nYJFPG4SqBwqKGaodfbeCskvAa7KYBkKU9k6C+4Zkn03MF0LFeQJTMgYCQo+JFSAmesiFovpHHcuMPANS5N0lc9i2TaFANq7OqmvrsLwJTtu4fgGhiWhiotnGBR8g7gfw3bBtzs1s1bEcJxObDsOKh6uVshYMfW45J5My0MpOcgnUElcbDxXETN8jMCRZQ08w8RTlg5MTCHtflAk7lHafdPN+uhMEQIRAhECEQIRcS9vDkTEvQzcIuJeBmgfcYjnuJosO0DetnUG3NLajqIkRsi7EHfDInAdbC09MSngEpgK0xOS6eEHLimVIDB8CkFBq1QMK64lN5JDxje05IUgjxHE8IXYS0I+kLMrPJHWSFZast+WQc4tELcSFPIF7ISBUGOnKEWxVRxXUt86od+NIcFCIPQ7Ri7wdRBiuwr8DI5l0mUkwQ+IOS5pycDnPVzLwrUtcgGkjIC4m9PSF0dWBizJ9JsYboGg4KHsJIYVkHULuIaJaRhYWYXlGARVDgUlmfUYtsrji6RIBxmypuBpHDDikuoXFHVgg+tgmkLwY6H4x3NQQUGvQDhC3GWZAAM7EEIvKxXy39EWIRAhECEQIRAhsOkQiIh7eVhGxL0M3CLiXgZoH3GIWxAyCZ6lWNTZyYyXprNk7js0Nzaw34EH0LOhDsMLKNgGvuuT8gMCX5EzPEnBExceKgTTMjCFBVtouY2hTBxP4QmpFbmLyFh8Fz9wsFQcz3eLUhzJSAvNDTBMkdEEGEKglS8JbmzT0MGACGVcPFylsAKR1QQSC2C4rSRkXy+Gb1eQFSIsGfiCT8x26PB9ZsxfxnbNzTRXpDABx/VYkynw5IszWLxyCYOaenLk/nuRJMDWKw+GXBhL1Oyei+fZemwFfPIS5ngOsbxBApuuWJ4Zb71NV2eOA8eNIWbFcfVoPeyggO84eHYFBVPp8Vu+Iql1+aFW3tASpTwxUzLrsoJgiVBIE3obD1Pr3u0NNQGb7tFHZ4oQiBCIEIgQ2IYRiIh7eQ8/Iu5l4BYR9zJA+6hD/LAAcm3W5Ve33cqQAQM58aDxTHvqOV6Z+SrnnXM2PeuqWSuacy8gbUrm3KDL8SgYkBQBiU7OK+Kej2EbWk6C5+OJdEWy+b6i2lTkXclem/occozne7ieZMiFTouCXfb1cYOAuGFgOAam7dLpe5i+QWXC1vKTjOeTcQNilkGVlSchkhs/Tt6K0+b5Ws9eIfpzy2D28mX8bcJkLj3jBPpXVpGUc5s2L85dwMTnX+KM047mxutv4eSjj2DM4P5kPI9uN7x+QuVJmjGyhbCgVhmKnBcQT1haxhLkXYKESbsv8iHol1B0ux55KVz1AxoSEqz4dCmbDs/Tev+YMknqhLxPxvGxTUXKNIgrX5N9IfPyRxP3wA3LVyPivgknfHSqCIEIgQiBCAFBICLu5c2DiLiXgVtE3MsA7SMOcUQKokzefm85tzw1lVOPP4oBtdXEXJHHhLKZeW/NY/L06XiWjfxz0P7jmfryq8xbspQdBzTx2lsL6DtoMPHuteTNGCeceSJTHnyU5UuW0au5J2/PXcz2g/rR3t2Fa6e47KxjmbNgKY88PY0KVSCRqubYEw5nzsz5PPTIQ4waM5wdthtGV7fihZdeIJUW9YnNGaedyhuvzuTFV2dipyuprqnljKP2Je17xFScN99rY9JzL5D1stTGkxx26N48P3s2dz32AvsObeJbp59MSolGXfH4a2/wl3se4rhTT2CnEcOoiytaV7Uz+fEndHBhegbHHrE/3dlurv373YwY1ExzXQ2zZs3nS6cfr2VC/7juZv778q/y9CtzeHdlB2d/aVcemvIUnYUMtLdzwhGHUtvQg1snPUU224Zn2Iw/cB+GNvfk3nsfZF1HJ9msy1EH7sNuo4boWoLQTUcCBUNTeO1uI0UDJReeTffoozNFCEQIRAhECGzDCETEvbyHHxH3MnCLiHsZoH0UcXek6NLk+dfe5L6XXubiC86kR9zWmfR84OPk8ky4/W7S/QeyxwF7M/HBJ1mzZClWj75kTZuvHrYLv7tlIjvuPZ5RFXmunTCJC799Kc888hS5zg6OOvoQ/nHLQ+y362iq6uu59Z7H+d//Po2b73mSyub+HLBTX26940EOPeIIsq2tPDX1SS668FxUPs9P//APjj3mKHYe1MBby1dTXVfHHbfczsGHHEayuoI//+0mfv7di2mM2cSUwR2TXma163D4MXty2433sc9eO1Hdu5HfXHcfP//a8QxOx1GeS95O8May1fxlwkTmrepktzGjOf/48bz80lyWr1zGKScdyp23T2aH0QOpb+7DTf/3CJeecxR90wkeum8K7VU11A/pzUvPT+MH55zKw0+/wZylbYxoSjF/6buccsaxmC3rqEulePa1d5j57kpOPeYg/vncDHJxxSF77sr/XvMLBg0fzZ57jaOpKkavZIr6uKn9ZET5IysQ2p5SMv1SBBxtEQIRAhECEQIRApsQgYi4lwdmRNzLwC0i7mWA9hGH+L4nqhZmzV/K7VOe4Cvnn0aVmSBp+QSWQXdHBzdceyNfOvkM6ns38twzr/LE5IcZsddBxOp7ctTYZv5w6yQOOPoYmt1V/O3OSZx32dd44clnSCdtxu29C9f/4wFOOGQf7HSK3113P7++4nR+//d7eXPxSvrWQFcuwwUXXcLa95YwY/oLfOuyr7B2VQf/+/fbOO+s09mlbxUtChatWMvt/7iVNWtaqKzroQtav3vpufSpqCRpKv5y6yM89fpMUnWVVCeTHLDvOPpvN4C/3PAgV5x3DH1TFgntvRijI4CFbTluvfsRFix8jy8ffSSLFy1k9pw3qapMQzbDsUcfStOA/vzjzqe55PTxmvi/M3sxV95yL807bc/Y0YM4ecxQJv1zNm8ub2N4zxTdfoY9D9ibRgMqTbjj/qd46Lnp9OlRR0vrWvY57EAOH78rjz32DFOeeRFl2Zxw+P4cvvsO1CqI+aF5u+TeQ2MasciMiPumm/HRmSIEIgQiBCIEBIGIuJc3DyLiXgZuEXEvA7SPOESIoR8oOjJ5/nzrXey1527sOGY4ixcvZvact9lv/H48dO8DEE9z2JGHc/c9k4kpyCZrCFJVnDZ+JL+44R4OPfY4envr+OOt93DZFd/giYmPUxm32Xf8Htx484McPn43khVp/nLjg1x1xVd46JGn8WNpDt1/DK++9jo77bgzy+cvYOq057j4wvMwu/L84aZ7GTJsMPvuPIyHnp/GPnvsw2P3TWLQmFH0H9qP1197nWMO2Z+UWE76Jo8++wrvtKzhiOMPZeaM2Ww3sDexmM0f/nInV1xyKk3pBAkpMi0UmDFvEWvcgMHbDeO6G+5m3z33JNfdybvLl3P8SYfw+rRXGbndIDJ+jH/cOYVLzziUQWmbXKfHd669lfa4xTmnfYl9mnry8NTXeHneu5xw4M5MnDKFs752LovemkNDMkE+r3h02mucfNrRzHxjJv3796ZHRZrX35xLjwGDeGbadMx8J5ecdiJ1ltLa+NAUU3tjhg2wog5Mm27CR2eKEIgQiBCIENAIRMS9vIkQEfcycIuIexmgfcQhBUfM1z0MM8aCJUu4/6GHmTN/Lo1NPTn6y8cyfOhQMh0dTJhwH/PeWcBOu+7KsUcdxp2P/JOGvoPYdXAv/nrL7Rxx/PFU5Vu5/s57uPw739FZ+bRpcdgB47n2xjvZb5/d6NnYg+tvupcrfnAhreu6uPX/7mH1uvcYO3YsJx91BK9Pf53nZ77M+RdeQJ2vWLS0lZtuu522tuXsd+SR7L/nHqxduIy/3zOBzlye4445inFjR5JwHOIqxqq2Lm57ZCLPvDaD3XYcx1knfVlr9CdMmMRbs17mz7+6hpjYMQJvLVnBdXc+QFchT3OvJs4//QQCV/HIY0/w1LPPsfOY7TnzlGNY0bqWux54hm+cexw1gG3EuXHK08xbs4xzzziRIfE4Dz8xjQVrWzn72IN59PEneeyZ52jq1cQl55xOY201d09+mhfemElNTRUXnX0KdRVJbrv7QZ56aToVNbWce+oJjO7fm9q4NI2S0ZloV0ndZTXAFF/3aIsQiBCIEIgQiBDYhAhExL08MCPiXgZuEXEvA7R/Q9yVNP5xXWwrQT4I8G1DO6OIE7m4mkgTIHGC0TxSiKQBnY4UryqSlsKRDqZOQGVchcfpjqph109TNzEyKChf2ziKG0vBDLQ/e1U8QUchSzKe1IQ1HrZF1d7nyvfIiTuN+MrnXXJi8ShuLrp5kaE7mEolp+kXSASKIO9hxG06lEdBScdXg0pRxbhid2nhSu8o39PuLZZYVQYq9K4PFLYMSgwpfelwaujOqaIzd3LrSKVTdDkxKpVBwvMJPJ/OuEW355GwAmqxyDsKR7i1GehAQe5eMDGkiVQuTzIep7XgEo9bSOsnKULtyORQyaRu+JQwIYWP5buhB7xhaRtN8cYXH3fLCBtGRdvHIaAbEPwbrML5Vdp0/UBxNUMMOsPWBZsK59JY/t14Pu5+ovcjBCIEIgQ2HwIRcS8P24i4l4FbRNzLAO0jDhEPd9G5G5okK929VMpVvSKpkfeFvJuBkPiQjPq6u5I2KpS+RuupkFHyJw85EKbsqxsqmdKuSZdbij+K2DWKpaRYLMr1guK5UdIMKiT8Qry1raSQf9cHy8CR83le6O0etllFBeJ1Ln819H14lqGLaqVlk7ifS0dXuQe5JyFqWuJefC2k68ULanFKGCjo1/QtCrUXe8qw+FXpaAE9jsDQV8SU1HjYain0lRe8JJAoytLlXYFL+kEJJ9TGl/q+5Ziig4zuzyodYXXIACoMHoRM6uZSUcb9Q2fv+2l4uJKygbh/kIALmvKMw/kQknbp+KV0DwE9nwR9PafCXgKlp1PqR+YreUbhhJe5rCev3sJzh5+EYsdcJTMiHFM468PPl57c7wvCNlWgsOm+E6IzRQhECGwbCETEvbznHBH3MnCLiHsZoG31h/h4gauJjVBiFYQWiJIBFa5U4jqaZAlh1hTsX4s2hZCFBGzrIkQbZ3e3+kfxORnghmkRhjnFkKs4Wd4/N2TOrCfuRTothLoUIL2PuBdXmTSJV2GAKlu4r68DLJlfYtmpPGHxAYE0JAtkpUdHtijDQSlZQZHloxiBX5zPsp8EDBvC3c8J2tEwIwQiBL5oCETEvbwnGhH3MnCLiHsZoH0ODhFSFFqqCGH/EFJevIcSAdu6qPnnAOAv7BBLxH2jrPcHgjqRHYn8SK8w6cy3Dg8xdZAYTruN55MvKx2ygqI99MNN7yarJcV5Kqs6YdZdsvehJEwvu+hhSMMtWeeRtsChdEve1vvpuV06b+QY9IWdltGNRQhs5QhExL28BxQR9zJwi4h7GaB9Hg7RGpWQIoUqhFL2vPR6mH3f2rLpnwdov9hjXD9xirf5YWRYagZCQUuJoodZ8zAprol78Y8Wvthhjj5c+XmfMl5bdGrNWNjXVh9saeIuPD18XWtutFRGMvFFlyB9EUc31FJayCVbRNy/2HMzursIga0XgYi4l/dsIuJeBm4RcS8DtM/BIWL4EipchLiHcoQN8oeQPokU4cOy8Z+D24uGuFkQ+CSkXTLlRXm5zK5ivUGpRkOrq4rvS72EZNV92ws5uNRfiCRGl1QIkZcZGc5NTymkKkPqGiyZr5qoy0EWqliDoU/sFyU2SgqrHRRSyVxyCoqI+2aZFtFJIwQiBD4WgYi4fyxEH7pDRNzLwC0i7mWA9nk4pMR7hLhrmUFp84oFftojMXReCQXIn4e7isa4uRDQ6e5Qux5uRe140XEofK2YE9fEfEMBqrwq080pymdkT8mtW7p2Qo5y1p+3WHJaKj0N5TLF2lSZmXKU5NDRPkWhF5OQc12Ovd5cRgbgEogERzfXioj75poW0XkjBCIEPhkCEXH/ZDh9cK+IuJeBW0TcywDtc3BI4AXaNca0FY6XxzBtHE8ylJ62qpS0qc50Oj7KMDHNyN/8c/BYN8sQdbHvxo6LIi0PFL4UhmqmHa7WiLOLqFr0/kVdubjDbODTOsUeushoXi+rOkK5bW2D6ntaEa+z7bq2wjK1xl0XQUuWXSfUTQJDvPdzGEXybhBDBTE8J8CwZJWolHUPA8/SqlG4ghQFoJtlkkQnjRCIEPi3CETEvbwJEhH3MnCLiHsZoG31h4ieQIiWeMK7mGL/6CsMU3Kgkn1XOAWHZMyikHeIxeKavEfbtonAB4l7mEwXeh3KYgIxIA3EhFTcXUIdjM6yi92pFrX7Orsel+y3L3NPH4FvihWngR3E9M7i/S8EXWamtoO0itIW7bEvPQ6k+FShrBien8fzOonZCkPZ+J7YlkoDgTCQCHwDZVSEc7rkHx8R921zAkd3HSGwFSAQEffyHkJE3MvALSLuZYC21R/i43s5LXfwhMxYFtl8gGVbBL6PLb7v4oOufPK5PHFN3CN98Fb/WDfTAP+VuG/IWvu6SZeDYfisWr2U116fQbfTId26UKbML0+aFxALwBbZi+tjWCaO8nEtA1cajvlxlOdhCAm3Fb4l8i3d1EBn8JXnEAcShiGnxStIV10TZeSxTBdpaiZEXQ4QJ0hl2ihqaG7ehYaeAzXRD7eSEGczARWdNkIgQiBC4CMQiIh7eVMjIu5l4BYR9zJA2+oPcfF9Ie4mGAm685LptHhw4lTGjRvNwndW0N3ZwgH7j6MyndQqZEM7e0TbtojAvyPumjTj4Ac5nn7mca66+sd05FYTS7gkUMS8AENLanw8W9El++omYT5WPEYC6CmE2i9ApYVfaWmXGctUGK5DTSJOdTJJOm6SisdIxQJSBMSIY9vg+h0k4gHJipS2oHQNh8BIkc01MmbEKQwdfRSm1bP42KLgc1ucv9E9RwhsDQhExL28pxAR9zJwi4h7GaBt9Ye4+EEGz7fASJHJO7S2GRx33Gn85Cf/zdNPvcTqlUv4wx9+SkVSspe6eWu0baMIaI150Q2mJEUJoQg91T0/R0Cep599nJ/97AfUxXI0GDlqsj7VuVAmk0soMo0Jlht5uuLgOg41dpJ6z6BnVwGXHPm6OIU6Cy/mk7YsqjyoVQY1cRvDClBJk1QlJCyHuFGBZRoYZjdWLI8ZDwjiAUYSVLyBVStr6Nf3NPpvdzyB0aMol4km8TY6haPbjhDY4ghsC8R91qxZ3H777ZsU64i4lwFnRNzLAG0LHFIqAPxgXjwsFBSVwMbVhR5ekAOVxPEs3ABefnkJl1z6La6+5grenLWIma++wB//eCUNtRWhl8eH23VvcAP5DIv+PtjI/v1w//t3Q7oZbv+CVfG193cJlRsv2SCWNNeyo7y2sfRi47OWHMf/dZVivWV+8Xhdjqn98terxsOOoLqT7cZ39kErxtIdbNjp/Xe+4b82fvLlrJtoZxft4xjef8lkSApHPb+gZTIEOZ6aOolf/OR7DCXLkGw3jZ0edd0+tlJ0VxqsqDd5r9qnuyGFV3BId7jUrPLonxfNu0++V4JsD5tCGioTMeIrOomt80l4AbFKqBlYSdWACrq9dgprPLpaPZoHJqkdEqNgdWJUgJnyCWINLFneSJ/e5zN4+5MIrPqIuG+B76St6ZIbfwY+7LP/YWMtdYYO5/wHPjkf9SWyNd10NJatCoFtgbgL4N/73vc2Ke4RcS8Dzs8DcZcIb1NHeWVA9bGHTJo06WP3KXcHTztei0OH9JgsWTmWziZ2e+LOIbrjAM+XvcWxI4YbmDhBwNVX38p99z3GVdd8hwXz1nH//Xfy+z99h1EjB2l9clxazXuiZTa0K0igjbeLP2jynh8WJEoRaznk8JPed2gtGGDoQsMPEvBSV8/wdeGauUKOmJUicGVsHp5uuClCaC3DxpL7MBxNzd1AYSqLnBTm2iYi6MAQnFxU4FHwbUwlr8soXHwlBZC2SLgxcfDcAspKQVAAUwp+LU1qXdfFMGKhT7kfYIqNoeXp6znK1jGVhYsp9oVKUZCxmjFMbZ8YyBD09SRLbUsdQuDjy7iVPAtpLhQWinoyDhUUjwuLjEUCJUWiYTDgY8pL2jHokxcbrycw6595gG/4eITWofIsDC/H81MmcO2Pv8kumRwj23PUFEzS+bAYlZoEq808i2phXd8k2VyBxlUOg1oUVd3o7HmH7+H1jtM1MElB5C/zOkivDkgV9G2QaYDmcY205fO0P9dB2gWnJ9QcHqN5j3pi9Q6e307OqOXdVU307Hcpg8ccB0ZNcXpFGfdP+jn7ouwX+hP5ukhaPiPy+dXfg77IsUykHlqHpKYRNgczwuZe2sFIPth6tVEscYufl1KPgtIKlDQj+AyTFlviuUS/r5sG9W2FuG8atDacJSLuZSD6eSDum2N5pgyoPvaQa6655mP3KXcHoeJhEsgI282Eznthtlhnd8GTZjfFTpSOJ9lSU9tAznjtHX7ww2tZ29LKVddcxDtvZ/nNb37JBRcey+WXn03KgpguVhVXbDmlZPFDu8h/+dHSmePNR93lZ1iIu1wj/KeUOS/9kpaywyEWflDA9wJsM0Z3tgszmSIvpN/wSGJiuWKwUwibBsUSG0iu62BLRtlUmKYLfg5fVYOQcc8lMPICiOgydBBjKA8lhFqcTYw8rueijLQOM4QAGMrS9okxw8J3cihL4Uhhpx3T5NcMXCzZV4IjO4UrxZaBj2kovCLe8nfxJpdn6HkBpiWOKUJE5D7FtlOCNqnedITThwGDFdeBiiCm6z2L7Us/DXEPgyCZUKUnK8RdcuRiE2mgPBPDzfHioxO49epvsndrlh1W5Uh7JgmxW1c+uQqLFsthZZ1Jpn8V61a00mMdDM6IDh5iElEpkxa7wLqBCbLVBvacbnq7MYxOFzMW0NUQEBueptP1sGblSLmKloqAyqMNeh9QS7qxgKkyZKhk3op6eg74L4bscCoYdRFxL/eL5fN+XPglWKTvIY2XWgj5ThBCbss3mpB3+WxIsF10RTKlU29RIlayPN3wDVtawJTP/ecdoI8fvxB3+Y3dmrcxY8Zw2mmnbc1DJCLu5T2eiLiXgdvngbiXcVtfuEO0hZ6mqhvIbOh/rTSJDIQ4KnCExFpKt6SXzG5Xt8vFl/6IMaPHM/mRB/nuD85i3ltdTHpoEoFq58wzT+DsM47AEmu/ghA1n2TM1Fld2Tb+3drQfXXzZTZD4i7rBRsyxuEYQuL+weVtP/A0MdfZa2VS8OXHWUIbh7gEImKHadp4gWThDQLTJ1/wSAoplkydkgxcDjwh2z20HaG+O5XB8V0MM4ERWKF7CgE2Nq7Kh1m+vE88JsQcndmTLJ9pGwSeRyDOPYaPr+ReJEsvTzBP4BUwVBIMsTwUku5gGpKVN/HlerrYQFYJfBzH04GXaYZBmc4o6hSiE57HjGtHFbmCnhsyHfTREsx9umekn3YxNtI+64YYOsrKh0QIMoAczz16B7dc820OWpdj5+VZUq5J0jfwlE9H3KcjFbA8bRAMqKRjdQe9Og3qWiWogrhjkjBjLPW7yYyupi3tYy/upKHDIp03yBkOLbUBDXvU4qVg7bRWgk6I9YfGI+NUj4mRqnNIqAKOUcU7K+to6H8ZQ8acDkZ9RNy/cN94n/CGSvUZ2txf5r0Qd+kAEH6PWIHCDkyUK+5IEpeLRemGz0pRtaYbiIW0X1Y1dUpAD8Be35X3E44n2m2bRSAi7uU9+oi4l4FbRNzLAG0LHKKlMMVMdImeyW+WEDrRsC9eupqC41NbV6N17V1dLbz6ymL+ft2dHHbEQZx++uGccMrFfP0bZwDnkNcAACAASURBVLN2heKpqVM5+ZTDuOHauxk5ajDHHb8f/fvWEYvZuNlucpkcPXs0UFNdEWabi1l9nZXVy8qbKxUV/niW9NYbgoeNiXtISiXLnCsIMXQx3C5MadzjWyg7qW0w9Xq4ARnPIy8SH6VIBCK3MLEMhXLzuGaAaQb659kJUgg/j5mBJvS6yZAvZF3hCJH2XGIiPyqm4URi5AWOlqaYvtJOKZ7roEyLXN4hnghEUYOTt7BiMQJkdSCHbabwXEN7nYvVomXZ5LrzVKST4YqJXvQQKiGuQJJx9whEvhSAGTj6OsoVamJoyY0EbbK3EHfdWEv+yIU/xaazjcWMuxyvu+3q+glZGRD/dIepD9/G9Vf9Fwe3Fhi3yiHtGCRcpWU1WdMnY/ms6WmzdmAlK9vbaWqBPmsDDM8n5RlYpsWy2oDc7r1YYnWRWtpJj2U+yVYfv1LROdCgcs86gnowVjkYWZ90nwQM88jEWqlIBaQ8RTzZyNLWJmr6fJXho07EjDLun+JJf7F2LU75MGAtlaXI51I7ECkK0jRMCLjYlcqUlkx7UQKoub6QeRHLGWG+Xd619OdM6wLD76HN9VX3xXoU2/zdRMS9vCkQEfcycIuIexmgbYFD3p9pDn9kRFJS8BXdGYdrb7yTR6c8R019H5SK07K2jcaGHpx8yqHsvNtIYnGDM8/8L84/7wRWLjE0cf/r366gta2dxx57kRdefJNMZzvVVQlWLF1Az4YKvvPfF7LT2FE6Gy/uIloLLo1zNM3dXJ1WS8S9qLFf/6tZksqEBDYU80DOhUKuQGVCmvfIsTaFwJKGmrrJjyHa6QAySjrIQqWsnBfrQCW5nZMknQpImD4FP9TvCwGQYChlg+lKt1BFzpdsffgbXiiWs1pacu8Tl8regkuFBAHKpDMHsYSg5GDr2teYluh0ZgtUpkxMaR6EIqsbZKEDB2k05OZdLFs89mXFRCQ0nrb70feqtfCioZeVBHFyKcpblKVXGqQIdgNx9/Vxn6aLqC5QLYmgBEeRD+kVjrDxkW/kefTR2/jT/1zCnpkC4zoUPboNKrs9HZx0JKEtGbBmcJq363xWF3KkW3z6dUCTb5DOK8xEjDXNJmsG2ayKZ6juDmjutPDXZYn3TuEMNFDNBoGVp4dZgy3PJlHAb8yS87NUYFBVMKlKNLGyo4mageczfPvjMSKN+xb4Rto6LikfQU9LxPQiVUjeXZm3UsRskJPPNdLgCxJSHxT4YbMvST4Ic9eSQg8ly1qq2HlXVs+KmnndIyAi7lvHw97KRxER9/IeUETcy8AtIu5lgLYlDimSzUBrNEMZg2RZfWJkHI/WLsXbb6/k8akv8+JLs1i2ZA3JlMsuuw7h6GMOpWePJq666mpOOvEoCl2VPPLIFH75y2+x+L0lTHvhDZ7850zenv0me+w2lqOPOoD99h5D/75pLKVC4q7lF2EzHIUUTH7y4sdPB1eJuJe09KVfzRJxDzNmQt6FXL/1Xjez33yDYw7bQ0sylqxoY9Kjz7N4yQL22GNHDjxgb267515ef3upJvUJ2+eEE09h8uQpdGW7acnl2HmHERx5yHgmPvwss96YQyqRZIexIznm4D2ojysWL1vNxMmPsnjpKlwjSbIyxlHHHM3EyY/jZHMYnscpJx7NLsOayXR6THjwaU44+QBNsJOWwT+feokdd96deydO5vBD96V3QyUzX1uAm4A1qzr1OJ999jnGjNqBXr0qmTdvKStWtrHb7qOZOfsNpkx5inQ6xaEH78fOo4diSMMiJU5ApsQqYZ5QiEux5kGHNEK4dcD18axDOxNJRj+MQ0LCrhx9vC619U08o8CUp+7g9z+9lKGqwI6uzZAWg8Z1jvZqX1dr0to7wTuN8ILXQqpHDXa3T3JVJ6PtShIdeRK1laytV7yl1uDUBtQpk/qMRW0siWq0abFbqGi0MPMOlUGcunQa3+yGqqwmT5UkaCgkqLB6sKKtgfoRFzB4+2NBVRan2KdbZfh08zLae2tEQOpKJMSUPhRaKiY1F46sEAYENuRNcOR7SwJs+QbwHPCk6jmAghf+WyZ+RRpsCyxLy+XWe1NZdhgVRFuEwMcgEBH38qZIRNzLwC0i7mWAtgUOkY6nsoXLu5L9loy7Sa7g8dKrb/Hnv/0ffQaMZPsdR9PQ2IfubpM5c19k/vz5LF74Hl2dHeQLHfzoym/j5mP88AdX09Srr6b+PXv3YtjIfhxy8AH0bEixZsUS5s5ewNy33uDCC85m2ODe4bV1waqJKUWbm20rEfTwiuEfcVnRqXGdiRZyKWSzoExufWI2ybo0owc3UludYs7b86mqbGBAvzoWv7OAIf37EkvEWN0S8Myzr3DCUbuQDWDiQ0/x5WP2Jx+eXmfr7rh7EmeccqQmAE+/MIdRfaoZ2bsazxBqGrB8XTuzlqxk7A4jae3IMmfpMnYZM4Su9gyzZr/LQXuNYPHiFuYvbqOqJsGOo5tImYqpT73MuD1344ZbH2bMyIHstuNgFi1qoTPIsnTZCg4+cE9emjaLbFfArrsOw3F8Xpn5NgMGNZF3HYYO66dRmP7CTA7YcyxpS5b+PcwgwLLCwlStf9duGSXnHVni//jntPFKjt6/RNyLGndXJ+9tHAo8+fTd/OonF9FQ4dJccBm9QjGk3dCe7GvqTd5JZJhf47G8VpFzfBr9BD2yioquHDWi4VeQ6ZNkeaqLQiqgt2/Qq9MmmXFJNMTx6goYFQYpK0alnyZlm6iKPLnKNk3CUqZNOqOoSPdiVaYX1YPPZtiY4zHMsDhVnHU+SaCy2aZudOLPHgEvXCmSMgxdnC3ZcsfX0peC9CBQLtJiTuUKmAUHZ9VSWubMpfXtRcx7eSarVreyqGUtIw/aj0POPYMeI7ej4PksX7qCAUOHFT9UH/85+uxvPLri1oZARNzLeyIRcS8Dt4i4lwHaljikSKi0blt3sxS7PkW24LGuPcv0V+Zy3Q0TWPTuaurqe5OqrGHwoCZ23mV3+vXuhWGuZe2a1ew+bgyGYXLD9XczeOAQRo0ehueneGvOIt6cNZt35s5h4dw3GDtmMHuM25Ejv3QQ/Xr3QOmrCXkWJ0TJuG+u7KYsc4cAh7yzyKyFX2spjKSWDbIZh9XtGf65qIseA2tQ3QWGDaol193NogXLWbpwPgP79mW3nUYRGIqWDNz/wFTOOe0A2rrgxlvuo7o2zcrOVnYdO4I9dhzD32+8j6qKSrLZDD2bmzj+gLE0JkQna2uS3NKZ5fn5i9hj7Ghau7Lc9NAz1MRM8tluxu6yIzuP6M/MV5bQd0AjL788h/H7jKa6wmLqY6+w+x47c//EfzJu9+2104WHTbuzloWLl3L4IXsx48XZ7DB6KPPmraC+voGZb8ymqW8P+g3siRVXPP3Uy3Ss7eT0E75EQ4WJ5YhER4xviisQ8lw0cPKcZI4Ijf9kzygscg5XOPRfixp3varjiq1eHI88U5+cwG9/fCGDgjxDujyGtiqau8Sg1GdtCtbUwIKe8F4vi66MQ/92g6GtBnbWpUpcdJSio2+CJT1cuit8atY49F+tqOkIoFLhDTSoHdKIynl0LGrDyQek+ijSOxqoBrATiirRN8VqWNBSS+N2FzF69EmYRMWpW+IraWu4pgT0oWZdpGFholxifCkKd/0CyneJSZX+ilbenfwEK96YTtfqleQ6umlb10GX67Okq4MlXp7G0cO5/H+upGn4KF576SX22P9A9IcsyrhvDY96qx9DRNzLe0QRcS8Dt4i4lwHaljik1J9HRJxF4h7SNAPXsxA77a5MNz+75h9Mevgp9j/kMBYuWMi7C5cRj6U4/LDduOL75xGL6ZVkPMdlxquLuPfeybz++hzWre2kuakXrWuWc/nF53L6KYeQToaNmWTZWX4NtVFj4Gki90lJ4aeGSq9cF5n7+sYo4lEfFLPultZzyw/209Ne55HX5tJVCBjQVM+5px1CV6ZALG5jG4rXpr9Jv+ZmevWpZWWrw+xZczlgn9FkHJj06EscdvTuZDXhFdcTnwcfepajjhyvZSy9+jYzqjlJWklJqThTQEt7tybue+08mvaOPNMXr2KXUf2Y8fIcRo8dSqVhcPftk+nq7tI47b3XOMaOHcz0afPYYcdhPPbEMxx95L7MePEdcg7YNTHa2tvZe4/teXX6bPbeYyTz562hra3AspVLaO7XTM/mGup71GgKPv3FOey43UB6VceplNjJFTvJUBIThjiyIrJRxv0TEnedrS6VG2+Ucdeva1u9mHaVefrxCfzlhxexV85jp1aXxpxFVV5HVLTFXFqSAQubDZb2TdLZmWHg8oAxLQa2r0g6JoET0NLDZOkAk5YKl4olefqugvpug7zYQfYNqB/dg87WDjJv5fBF0dAIlfsrmselqeppkYh5dAcJ3lxRScOQS9h+9OlYqrE4zT5ZoPKp52R0wFaLwHr/dvmKUoZe1dFU3nOwfQ8jlyc3bxGP/uUG1Io1DB3Sl2RtmmRtLWYqRWWPHsSqq2ktFHhnyRKqe/SgurEHRixO03ZDIZmUIpSt9v6jgW09CETEvbxnERH3MnCLiHsZoG2BQ6TYKtyKnVKLVKvgumCKI3n4o7V6TRf//b2r6L/dMM46+1TeXfAu1/35UZYumcvd9/yF7sxaKiqreO75OVz5w18zcvQIDjpwZ3bYfji3/d9t7DhmOKeccAxVKRWasugMe4DneZimFG8qrSfdbAVbJQF7CWPtJR8Sd5FBuOKGqBSdnVlmvvE2O+62o9Zhv/3mAqqqa1nV0caajk4CHEzPZbex21NXnSLreNx/3wOcdfKxtGYVd97/GD17V1MwfeqqKhk7dCgPTnyC008+UheMPvPiG4wd3pvm2mqMmEXMhSXLVrK4o4Oxw4fR0tbFrOVL2HXMCFrWdGsdvBDTxrokA/s3abvGWW/OY/T22/HM1BkceMDu3HLTzXz1/HPp6HK578GnGLnTMBYsWMThh+3HKy+9yl7jdsB14MknXsS0bXbYZRRvzV1ErtCBFUviuwH77TaGyphJUops8zli8bj2dy+mzEsi9TLsIIuuMkVnjsBwdPFz4AbYRlwuxouPTeDGH1/Ofm15dlid097sKScs+MvZPq3xgGU9TNr6pil0ZOmxwmFwp6UbYdkF8RsNaK+AtiEVrInlSS/P0tBuUeMnyJOntcohvl2C1m6H+AJPTDTprIHUwYq++1dT2UtkyFlyqoK3V9TSOOAyho05FRXZQW6Bb6St45LiwqRb0xVrNCSolzjWyOexHZ93n3qOR274B/WVKfY6/CB6jB6G1aMBPx3Hj0uzswBL5DUFn+zaNuLK5I3XXkMlYozZa2+MqtqIuG8dj3qrH0VE3Mt7RBFxLwO3iLiXAdoWOKTUHEQrZbQQuWiPqMdiSvJVd/MUx5RZby3j69+9ht/98Urqqms4/ZRvcOGFZ7LnuGFceOFVNPbsydcuOptvfusnnHjKcXzlvIOYOWM21193A7/99VXUVqUxpAmQk8U2TWJS9SmSDC3FMIpe45sJhI0l7qXMu3RuFXGQL9lfybhDLueSzeVIV6SwTYNMV5Z8wSdenaSlO6ObEyUMk8bqSpxCgCwSdHW2UJ2M4xopVrWHPu05I9Ba6p7JuJbfJJJJ4rZJu2hiUaSlYM1UxPwAJ5el0/OpTITFue2eT1U8huMGdBcc3MCjKpXQ9pG+65ATR5p4HCeX1/sVuruoqKqio7tAQQiHaeF5DhWpJG4hj+UbJBI2maxDPudjp2zynkd3vks7x8jY6pMWXi5DpS1jKDbJ0r1eJfO+oZA37J31ybW5OjAKq1F1DOAbjvSO1f70MRXDcPO8OGUCN/3Pf7F/W57tVxeI+QYxX3TlAXnTxzU91lYZdPapoDOXJ70qT/+MSYUTYBSULiJsSQd0jqpmldlNakGBHqJZd8S1xtUNmIydKsnW2zgvt6BaIT7AwjzQJjXaoLoB4kLx/SrmLW+k98BvMmqnk1BW1WeWcS8FkJtp9n/kabfUdT/r+/y01/N9CS9FHibyM6WTF/JpsDoLOO8s5o/f+R6jxmzH+HOOx6lN4npxgkSaDj9PqraKKtsm7oK7qo15/3yGJx5/jAu+81/EBvbWXvDJip5hW99oixD4GAS2ZeL+vi7En3KmRMT9UwImu0fEvQzQtsAh600Stbe2sKuS33eA47jaO9wwpRkPtHT4nP21/+HkU4/jwfsmMWRQM1/72vH86Ie/Y8G8daxe18IZ55xAojLGH/70d26+4fdMfuAeBvXvwwVfORFRdccNyWNLxt3AyTtYtnTxDLPfoRXkZlo+fh9xD1cYpOosFM8oPE8bH2oyLfprsXv03BxxK0YgBZC69VIo5NEuK1JcqVNwoZ2l6MBdJZptRcEX8izdFQNi4seu7FI7WjzdrVQ84otWjNIpVTJ7hoUSNisjs2K4jottW0inWgmcXNcjZpja+96XFQLxhNZWjVJMKvaPLlY8rm08xV5Sy9GlW6rjkozFdXMokb+I9aN2DSp6Tbu6K67SbjLi4R4Ti3lP3DOEOFsfIO6hvOnTE3cZT7iaIt7sUkdRCpYCN8OzU+7mr1d+g/EZj53WOdQ7BrYrtRY+jvi+mwGraw1W9E2zys1RuarA8A6DBvHCdAJyNqypVbSMqOJds5uKlS49ugMqugJsWxH0s/G3r6StxiG1NEcqZ9MwrCft/bKsVaL9h2pTnkIl761uZvCo7zNyR3GVkfLDzVOcunFAI9BIMbN8DHTYpD+LMr9U2CBLcCv6/ktdhbym10KKAVSIaLiSJU5NOvzW+4RZ4pKnuI7BdaFxsZeAPAddd6C0x3goihJNt3bv13PPNCWwLr1XfPaBuEDJdWR+FD9KclXp1GuYen6FQ/O0paJITcxA6SZfvmHo12ScMhaZh/pei1UUEoQJBrpngDi4FFfE1kvoigHgegnWZvrO1MRdugrr2pfiM3E8/LUd/Onb36O5poZxRxzIxOcfo2JoX3r3Hs6gISNZ2b6aN956g2xbG/uMHMNOA7bjydvvYtpLz/ODP/4KpzpOvLYWRUXYzyHaIgQi4v4vCCxZsoSHH36YtWvX6u+AmpoaDj30UIYOHfqJ50tE3D8xVBt2jIh7GaBtgUNkOThsH1L8BdaWf8Ufe92rx9IyEtkr4ypOOuvHKFVJZ/s6fvvrb/Low09w1533ceWVP2Tlygy333MX3//xN7jhhnuxDYt8VwsXX3gy++w1FN/toDIuvUtNDLHzKP1wKbdoRSldR9+fhQpNX4re658i0/ufQhkS+vUO5OvR+fBcc0k7H4Y+JSRD75pPQjFK+2w4z8bj//BXP/oONyj5/73y6F/HWhp56Sb+U+mSXs8ICUqxQ2sJPyGMnkilyPDMMw9x1bcvY5zns0u7Q9+ugJTj4geulhxRl2RJL5uZDT7v+Vn6rIVd2216CnH0PLIJn46eCRY3mSy2s6S8gNoOh5qMT0XCwmm06WrwUXUePe0kaZljtkmhyqMQtFOb9qWGFcOqYmVrHwaO/H+M3uE4UCKq2fT6dl1D4vt6tUDLpm1YJ914jYAK3RBLPoCBDm7FoNUVkut5xD2DgiUdfH1NhF1PYVmBJsKeobC9gJQ0BhPCL6tI8mnSxFmCTh9TKWx5pDowkxUudJApw0gFCqfgY1s2McPRZLvb8UnETDxPgngfK2bh+h5xIwxau3wLR+RK0sFWAjrp7GuGr+kAz5AmbiIuU6SVNNXyyCpTj98OFLHivUq9i0QdWV/hKUVSGo+VgkgBSGvBTZSswhQDEWmEVApMwrBi024lVyT9nPS1IMhmmfbwFCbffQ8XX3o5199yEwcdcyTDdh1LPFUderhbipybZebrr/DkpMl8/dwLSBQ8HQQletbT1t1O3yFDUUg9z6Ye9abFIDrb1oHAtpZxf/7557n55pvf181cnkQsFuPMM89k9913/0TJo4i4lzF/I+JeBmhb4JD3U85iWloyuK6r5SPyo+k4AaatWLbG46Szr2DVmjU8cO91zHpjOj+84udc8f1vc8JJe9PWqvjeD/6IFU9z+dfP4ILz/x+dLa386fc/Zvw+AxHFfCHXRkVcJDOxDT9cOvMt+ewiQV+fgwuznaVtQ6a3lD7f9KRqCzyCL/AlQ52wIUS5aGtd8rEWYuQaHg4ZnnvuYa789kWMrAoY4mTp3enT5FvETYP2mEd7rxSzUgVm21kyRkCvXIz+GYtGO4EtnSyVS3dK0Z70aVUZYqZJVcGl2jCIpUzySYN8wsFKQlPCpDYeozuXw08bpFImlTGlV0biqR60dDYzeNAljNn+yyhDfNw3/RzTazR+QNyX1RfoVvD6mjZ+8cvf0rqihWS6RhNvX6pobYvddxvJpV85jZgHd0x+mgeeeIauLpfa2loK2TaSMdh73/047/j9dLHzT66/h5den0uuu0B1slIXFksA8/WvncqwIU2sWtfKz391M8tbWnAwyBQCEpVJ9tltN849bl/qLY8/3XAbx5x8ChVut5ZypSuqyWaz/O66G7niyu/y4P1PMOmpaeR8G9/1aUg6XH31j5jzznJu+7876OxqJZ20cAs5fE9xwN57c8GpR+MYMOHhF/jns0/zv9+/lFjBJ5fN4tkWM16fyYC+fRg3ejvistAUOAQS3MnimGFr4l5sQ6qboAmNL307bGoKHJScppQ4IBV0wNPZ2sbvr76ac049g7ZsnrvuvINv/eAK0g11FAoehWyBiooKOjo6dEfkq35xDYcedjBH7Hcg+XWttK5aSd53GLj9GJD6joi4f4G/+zbdrW1LxP29997j17/+NZlM5kMBFPJ+2WWXMXz48I8FOCLuHwvRv+4QEfcyQNsCh3wwm6uXh4NQ7S7r3fKjWSj4Wp4xecqLXPHTv3P5N77C6JEDufL7v6AyWcOBB+5Da8e7JJJ1WHYlt9x2P9+54mKy3Rl+9fPfc+FXT+b8c48gaYlXjUNcfoQlC7u++ZNcSyQjJeFKafG8mLMu+jhGxH0LTJD/6JJFEUcQrqKUVjHCv4QyGMm4z5gxle9/62s0WV30c/IMaIfmPCQVdFQoFtTAG1UBC9KiplL0yZn07zBIZaWrrKHlN53JgI56k1xKkfQDqttcqqQ4MK3oro/hVtvElENfH+oTcVzLI1flo+IeNRUJ8HMEdhWt7U3sMOJytt/xBFCicd8cxF1wCXC6C8TsBFlb8draddx2+wMcuM94YvEqpL+CFbdpz3Rxz6RH2WmHMQyoS3PfpCkc8+Uv01DTg1jMpnXdCrKFLLffP5XTjz+YebNf5d11WQ4/6mgWzl/Bwnfe4cAD9mLBO3OZN38hF3z1FP7wl5sYMWJ7Bg8fQUpsCQODNZ1tTHvxVYY19eGSo3Zm4jPPc8cjU/j1ld+lsiJFNpNn0gOTWd3WwbnnnUV7azvvdeS48c6H2HfvPRnSECeRSvG3Gx7k8PFj6d27F77IuJQiny9w730PcsjB+xNP9+SWO++luW8t2w8dyPGHHYDTkaGuIcV1/7iNvcbtwu6jhLhLAXNed/yVOgyRsb2fuIfSts1G3GUVQzqfivuVBJ8BvPvOfF55bhrHnXIqr78yg2tvvomBY0ZRWV/LwL796dOzmbZVraxZvoo1a9exfM1qdtl3HAfuuw9mLs+Dt9zCHofsR6/+zZiJ6oi4/0ffLdvOwdsKcXcch1/84hcsXrz43z7cnXbaiYsuuuhf9hGji5ImXtOXGTNmbLz6vO3MmP/gTiPi/h+A9xkeGnbI3Dj3ExYTal2sSGRE3wnMX7iUy77+PYaP3ZszzjyVn/30t7w9ay577b4PI0cNI11p0tGZYdqLM5j11lwqq1L8+pc/4sYbb6Vt3XKu/evP6NVQCX6BmOi5P6jvVKK7DTXeofO3VuOGYpOSkLb0roh59bbpSdVnCP02cKlisbMW3ReLU0V+VCTunghBVIY335zGD7/+NZoz7WyXLejmSw1dHpbvka0wWFTlM6fZYmGjIuO79F8TMHI11GZ90oaJ0P81VYoV/Ww6GxOk12ZpXO5Q1wl+AloGpfH7VWEWstQu7aTSh0RTDHeoRTbVTU2dRTqlcIwqlqyqYYcR32D7nU8GVbNZ5pjctxQwx4IYga/oUj6zW1qYPPkRzj/9NLq6clRVpmjr6MBKpZjy+nLuuncix+49jJpEJUcctCdeZ46KdJK29jaS9dX8+a5pGLbLigWvc9n5Z1NXUcWLL87i1Tde59xzT8aIKf5+y4Psvs947rjrbr77ra/R2dbJ4KYa1q1aTV3PHkydPocpU17mT18/le4gyy9uuoPKqnpOPfMEWtZ1cevfbuRbF59FDJPG+kpaFHz353/mmKMO5uDRw3hk6iu89vYavn/hIaxa1UJ9zzpa2gvE0hYzZs/jpdmzmP9uF/vusRdNtQX+cdv9/P6XV+K2ZulbleKeByYxaOQwxo0YRlIFxCTbrZvCKUwh7yKVkSklWXhD5CsbPv+bOuMuoZWrjds9bJH0eC4L356LU3AZMXw4r7w5m7/ddCPf+dlP8G2LuGGEnXq7pWuqr/cLXJ90dQUxQzFr+sv885HJXPKD/8aoiGPYEoVu6lFvA18p2+AtbivEXZo6/uY3v0EI/L/bbNvm6quv1rr3jbd77rmH6dOnr38pIu5lfFgi4l4GaFvgkI0z7qGuUzLuoYhVSL0Q+GzO4+lnp/HTa/6XP//9Fq79281MfWIq3//e1znumP3I50Vra+jePN35PLfd8SB//cutHHrIIZx04nF89/9dxje//lWOOupAEqYUp4rmuWg1uD5qkF9kKU2TMUgmbQNxl11KzZNKrjeh3D0i7ltgynyKS76fuIfmMqFmRto7+SKPUhnemTOdH19+IaNWtLHLWpfeXYq0tJfHJW+5dKUNljRZzOkJq4IcfVcF7LBGkcxCXFrPG0G4z4AkbXUJKua30NwCPbtFTB6wZkAFuaG1tHWsoXFejnQONCHrVgAAIABJREFUnF6g9lckRip69DeprLDp9ip5691qhgz7OqN3PgVMyYpu+jkmRbeu72LmDUzTImvB3NZ1PDhxIhedcQbdmTyFXDe+61Lb3MR1U97k5TkL2XtEFQnf4tjD9qFjdSsVqRqymVYt1bj+wVex7AzHHTKOWkxSMcXEJ55nxptzuejCs3RtSVfOZe78FiZMuJeffP9ikglYtmwVqXQFjTVpHnltEdffNZXbfnI2yimg0iku+M6fOenc4/ndb3/PeUeM54g99yPhQ1VNjM6YwSmXXcHZZ53MsbvuwOTHX2H2whw/umAvOtpztOcDPCdHz761THjiGeasWk1bvp5+tXWcc8T2XPrj33PkUUdy5C5DaDbh2pvvZey4MYwaOowq+QrypbjVwbBsrck3hbjrcpDPgLjrNsqhXaw0I/MKDssWvUtVVRU19XXMX7SYX/3xD1xw+SUMGTZMZ+Rjnq/lTE42S1u2kwcmTWTnYaMY1TyAn/2/73LiV85h+wP2JkjaKN1sLiLun+LLZJvddVsh7k888QQTJkz4F237hz344447jsMPP/x9b4ku/rnnnouI+3/ySYmI+3+C3md3bOgq4xV/EIUhl1xlwky3FJpZlk0ml6ejK6PVLU8+8RyjR41gxzFDcMSaUH7YPA/DsrT7iRUzee75Wdx790ROOuEY4rGAutpK3aREMu5WsdgsbMIjJmu+LmbTZKboYrEhIy8uF6Wsu6bw651vdDFYtG3lCOgUqR5jWJkQoEQGITIEnU3NsnDODH7+rUvZ6b117L46R02XR0oy6VKcagV0mS5rqk2W1Bu0WB51XQGDMwkMx9JuPL4F3X6eZXWKfMJkwLI8fXMGlZ0F7XuyvNEkM6yW1V2t9Hk3T1VB0VIToA5X1O6ZprG/TToRY213ijcW1DB0xDcYufOXUTorujmIe4DrBcQDQ3/csjbMWrOOB+57kK+ecQaGb9DW0koqaRGvqeTeV1Zx470Pc8zBw1i+pJPRIwdrLDvb89RVmMQsk8dfXsrwgWmOHb89jYaNHYsx+elpzFr4Hl89+xRsT9YlFO+1evzxr9dzzOH7YFo+eU+KSG0SyuTVJd28ungdV188Hnf1Kgb1788DL8zj7ideoHdjNddcdCzty1bQsrqDkSMH05Y0ufiHv+SUU45l34F9eOHVBbz4+hquvmg8XR0OLV2+tj2tbLCZ+NyLzF62jEVrkuw8YgTnHDKQ6+5/lmXvLeZnF55Mkhi33T2R0TuNZLdRQ3RwoDPugaeTB4YyP3Pi7hW/F0WoI1mMrs4uUskk0pwpn8tz54S7WLJ8GfuOH0/v/v2pqEhT6G6nq20t89+ezYI33+SUw77M849Opaszy1d/9hMCsWgVj3er6Ka1lX96o+FteQS2FeJ+0003IYWpG2/bbbcd+Xz+X+Qzffv25corr4yI+6aenhFx39SIbtrzhdl1sZqTrJL8pEtWW3SjUggm2fYw4y5ew1JeKF7eYedA2VfppkniQhEzDa0DFZbv+eIEEr7nedDR0Y1tWlRUJLQxhEhhfN/RVm9C2EsWLJ7rYcYsfaxhGOt1ajJE2e/99oNhFkwn6iPivmknxWY4W+gqs4G4hww+dCBBrC3dDG+9No3f//Db7LJ0JeNau0nlpDlTjJZchq64QXfCwm+swerXC7uxjtqKanqmG6iu7ydWMLoNfWvLaha0LGPJogVUv7qIvnmfOjzdnv69Go/CqCoyMahf1IVq87GG2rh7W7j9AvoMbsQgRS7oQaJ2X5qaTiVdNwS0p/2mJ+4SykjtiO0KHwy0xn322hbuvWcS55x4Kso3cXI5gqBAqj7N7f+cz+Mvz2bPcT155NGX6d1/CL5l4zoOKd8haRi8uXAdxx08huP2GUXcCUhVpHni+enMfGcBF55xOjHPwbcMluRNvvvjn9MkeCq32HjMIkaMpbk4tf2HcuGJQ1gyfSaH7rUPb61bzU//dDcnHXsMZ+w7iBnTXmXevPmcePJxdCVNLvnRbzj2y1/ioNHDmPrs67y5oIUrz9uftasyUs1C2rIwE/DSW7OZsWAB77YmGNKvP+ccMZL2vMvPf/ILrrjgLJp69eGOe+5h1113YLeRQ5GQKSjkseOWxuqzzrh70g9B3HtKBbCh0Q+eJ8kFk0B6NWSyrFq2jOXLlmNWVlBRXwlGgfal79InHqdRWUy57W7m/3/2zgNOrqp8/99bps9sy25674UkkAChI02adKQpKtj4KwooIs2fogKCVAtVBRFBpIMgIJ3QQwgkIb1nk022l+m3/D/vuTPZ2RAgCRNa7uUTdnfm3nPvPOfcO895z/M+b30D37v8dySGDseWagyuiRkQu9VtcMP5TX7hENheiLvo2xctWtSj/y666CIWLlzIvffe2+P1UCjEddddpybAxc2PuJdh6PvEvQwgbsMmNhB35bVsKV272MMp/2flqy5RdK8EiRRR1QMBJW8Qzaehe5Z1rqtjFjzGJbHUMLzjXBHGK7/vQnBcilvmM8qpWSKB0qok3wlJ90ySC9FY11R+1RJ1lyQTj8RbPW7OnpCUn1RtQ8i3y6Y9V5mexF386qVyqiZm3uSY/cZLXH3BOUxZv54d25LoWY1IPIHeu47gmBEERo2gctQIaseOwejfDzcSxdFN9LwkLBZglee3naRj3lzm3nIH6VdeJ9S+Fifu0jXSoHNUgmbTom/GIN/SRWhgmNwIjaSpE4n2YdCAnRg6Zg9q++xKkEmgR5V//LYg7mrNSFkeij+7Qy5oMKe5mXvveYhzvnMqdl6jsy0l/oP0HdSXu59bysPPvMyX9hxETbyavfeeTNqy1H1ZFdCIGQZ/vPt1aqM5Dpk2nl41NQrbJ5+fydvzF3Lud0+iwnRZ05rnvWabf/zrHi4771tUmy7JLuXdSEVc45E3F3Hrvc/x1yu/R5WsCJg6l976CCkrz6wZb3LNby9gZN9K2te30rtPNc0afPvcS/j2aaew3/iRPP3iW8xd1MwFpx+sqvEuWrVeJbbW1SV4+uU3eHPFSlY0ukzbYRKnHDSGrGVxwy13MHXSRA7YYxf+ff9/mLDDaHYdO5qIkORsmmAkqIi7yFU+SY27er6JL72nzCmoWlQtVfX8srJZZWepiR5XVanTcE3J38hgdbXT/OoM3rj3Qda2tbHfD89g5EEHQKCSXF4Kz4lbV9Hrfrt8LPgfegsQ2F6Iu0TQ165d2wOZG264gdmzZ3PjjTf2eF107ldddRXRqFj2eptP3LdgUH3Qrj5xLwOI27CJYtRaSntbdl4RcEWW5QtS6IpE1C2brOViFGwhFRF3hVCrsCmWvCeBc1WMqFD1R0XCVQheffGJB7KKqJuGiuRLJEveE0LuReYdTEMKFMmXs5zTWwkQzbxl5RT5N0Q/30MPWgxV+cR9Gw6RsjTtFRPy/OC9dRLJofDMuNUPN8ebLz/LNb+6gEmaxl59+jN0xCh6jR5DeMBAzP79oKoXhCMQCmKbJlldSnl5/tpBNAKY5PNZAqaGkU2TXTifxf99gJcevxu9LktXbY72Kh07BuGkQ22iCi0WoslJUdd7NFMmHsroEXsSifcCvQLD7oOmhdG8ClslRYDKAomHgkyQLU3dI7mgxuymZh556L+cfuLx5DIOsZDBuoZVDBo+hHtfWMajL7zGXjv3IYbOUYftT1tnikg0gJvOUJWo5I/3vkoskObovaYysLaKrAsPv/AmL89dwnlnnEjvILSlc7xTr3H7HXdx5QXfglRK+a/LZDyWMHl6zmr++uDz3HDRaZhWjjdnLeTBZ6dz4dmn89gjT9LQmeTMb52E09lJ797VtGoaZ55/KV87+Vj2mTSW6S/OYP6SFn74jYPp6uhCNzWSFlRHgsyas5Cn5s5iXZvJziPH8M0Dx7O+uYllTe08+OxMfv3jr/HQg48xfvxIdp0whrCQZrHD1CXybWxITu22g9zWrjIFG0oV7S/2u002k+Ktl19BSyYZnKgmbrmY6Rxue5ca220t60gn25nzzjtEa6qYdvKxJCZOQItXoutRLCnmJjalhh9xL9/d9MVuaXsh7ueddx6tra0bOlOi6X/+859ZsmSJcpsp3eS9K664QuWc+MS9jOPfJ+5lBHMbNNVdYESs2j1WpaLdQlZclKNFRWWFqrgZCHqVQ4V8ZfOqJhOdXUmqEjG6UkkCgbAi7hJIEicaIWSK0OeF5MsXlBSLUSobFWkypECpAZmsSGZEkaCRT4vlmq4S5jKZPDKj1g3RQUtE0AOgp2tz0TJyG4DjN1kWBDZImgouRa5i7JL0J5M9nZxlEwoZ5DIdLHt3JnWREDUVVWgVFSoxUhi+JYWJHJn0ie2jRloX8Y1H6ux8F5l0SiVpmoGIlPWCbBbTzNG2dj63//1KFq55k3SwjXzQobIqSIVRSapdrBYr2Xn3vdh96uEMqJ5MgGplSZrTsuDEMPUEuiqSU/7JocorcWx021Tyi5QJ7zS38OSTL3DaSUcp3/NoSCOTc9B0nZvuf5W331vAQXsOo5ceZt9pO5HOWcQrIqRaWqmpruCGx98laHRxzB5T6RMO45gGj7z+Ni/NW8E53zyaOtOhM9nB7LVB7rrnYS499yScZBe11QlaW5vJ5jO825jmb/c/xz9//V1Wr23jJ7+8gu9//zscsOMINDvHGZfdyOmnfJXRA/sQiRi0O3DZtbdz2CF7sfvEkYq4P/fcu5zzo9OJhi1CYYOuHMQ1eOTBZ1ncuZa2bBWThw7l5N0H4tg6q/MGv77lbq66+Dv867a72Ge3Kew5aSwB20G3c2gB79kjVXw/SR93kQkWHleFkLvcEjaa4/DUffdy26VXEG3pZJgRY1A4Sv9EAjNgYNRUkgyYTDh4PwYe+CX0vr2wzACOEcQ0gkixX5nKSlXlnsGIwjPO18+U5dnzRWpkeyHuP/7xj1WtiOIWiUSUHEa83S+99NL3EffLL7+8h7OMH3Evw6j3iXsZQNyGTYieXTkUuxpdXWlefP5lDj74S17SVEHhIpHy1o5OnvrfdDpTSVU0pra2NwMH92OHHcbw9NMv0dTcRDxRTcPaVvLZNIMHD2B9QwMDBvZlp50m8/yz02lubmfYsOHq02TzObq62vnKEYcrF5kXnn+V+fMXM2mHiWj5LmqqI+y2+xTC4Ygi7tlsimhUSs8Xv+g8i8juQunbECS/6Y+FgIq2Fwto6ULZvUqqXvhdJ19wMQpoQmLTuLLaI6sv6SyOnccVByKZANo5OlNtrGhYSX39cjpXryG1qp7GFctI2xaRun6Mm7o7U/c6gL4DBoKVxXY7ePn1R7ntjqsIxLO4gTRGUKfC7Mf4UXsxadI+jB47mWigDsOJ46azJJMrWbJmLpV1QxnYf0dMvXqbEHchgOKWYrg6Nibtus6splauuPpWRg8dj+WGyFt54hUx2pJtNDU2ceqJR7Bq3gxiWZsjDjqETDZHJKqTT6YIRWJc+/DTVFcE+dZRB9G2voFQrJIX3pzDjAXL+N4xh1Nld6JFAizsCPDXf9zFed85ET2VoqqqmqxrkHN0Xpw/n0efn84N55/B7Xc/TFve5ocnH4sp2OQtXl+5hAceeYpfXnQec+cu4u0FK3lj1jwGDRjIwN5h9t9nV/772HQ6ujIMGlBHJt1GIBQi355n3fIVfPP7x3DHf95iaP8hnH7gKLSsQz4W444nn2XuwuUMqgpx5snHMLQmoZJpdUlMlUCCMlP/pCunepp2NdeUAnFqtdFWY1G387z936d49M+3YK1uYGA8TkVNlLqxwxg0dWcG7rQL0cFDURW/tACuaZDVXBwDRCio7CWlwU2Q9J75PB/r9vMP/oIgsL0Q97POOqtH4aVwOMz1119PfX09v/71r3v0pqzWiyVkTU2NH3Ev5zj3iXs50dyytja2eCwWNsrlcgSCknAnm0tOOU2YNDenufTXf+BHP/geo0bXKQ2nbujkci5XXX0TsUSMr554pKJdzz33MsmuJN/6xvHc8+/7mThpByKRSq69+p/06d+bU795OA1r1rBg/jyOPupobv3r3Tz33Jv88fpfq0qKmVye2bPnMGrUCEYMH8hd/36WW269k99fcREBw+H3V17HoYfuz+mnnYDu5jB0B0Os09SHki9wFW8tkD/57vMzvLZsdHyCexdyF8QxqEjbpe9sxYJUxgSOJb7+NrqbV+MxINZ/mRx0teE2NdC5eAENq5fzyrJ3eHntfDqyndQ0JBnXrhPryKCZBlYiRq6mDnPKFI792c+p6zUAjTzNa+dx9W/PZW1qBUZdiMHjxrPP1MOYPHIvKqL9vYquehbNamL9yunMW/AaC1c3MHnayUyZfCSmJl8KxUliOXErODkVKhdk0GnJWby3YInydReHciF1ApMUAepT14uh/WtpXd9IhRmkIhbHsryCZfIvEAqyvLkN3dAYUFuj9Nfi8NTc1klrV5KhfXoTdC2CoRCNqRwr1qxhwvAhUllNtWBphiKpnXaOtc1tjBvYnxWr66nr34+Y3F+5vIo+ZwyNhctWMnbsSNY2NLF2fZOSsUjk2NRsdpgwho72JMuWr1IrabKyJvI7E53eVdUMGtKHecvXkYgnGFIVJpfK4IZCrOvsZPXadQwb0JdB1ZVITWW9IMmT42XVQSU4lzzYSp9x5eyZYlsi4ZNcH5ESdifDo+R7UtFXMGlbvpLmtY1UhIPEqiuI1lZAJEZG0wiEZMVIElE1srk8wWiQvOsQ1HRymQyBQFA9Y9WTuKTAnP882xa9+fluc3sh7hdeeCGNjY09OusPf/gDbW1tGxxkRBojjjJDhgzhkEMOQaLy8+fPZ9WqVcrDfdmyZRuO933ct2Lc+8R9K0ArwyGeQrzEIVhpjL0EtFzWc2kofhmKJZ1tBFm+cj0/PuNSdt9tGj/96SlKTuy4Fq1tWX505gUc9pVDOeb4L2MEDNataaF++Up2nzaZbKZdkXqRpf3fL25g+KihnPGDo9B1h1XLVzB0xDD+fNM9PPzIdP79zz9QWwUiYc9kHSW3CRga9z/8Oldecwt3/P1q+g+o4be/uZmOljX86U+XoNlZTF2ca0Ig5c4VdxeqotzAVTTM/6Irw6DZhk0oLfcGiYxMugwcTVdeM7mcRVgXgpTH6upAk2zLhiayM9+mYfZMGhfNpXnxAnLZLlZFsyyv08kYMHS9xU4NGtV5TYYDuYBOU8BkXv86+h93HKd89ydogTCuZtE453WWti8mOrQPA4ZNIOJUErJDHml30iS75tPZ+grtrdNZ27iSJfU6O037CTvteDw64uNemDCWGaMi8SxttuB6v+GlnkaaojLrnqSWTleLNpsqQfIj1gi8O6dUdtbzg3XXS9h08mTxGlUAuuRZU7yeHs+ejZ9FG6rnvt/BvBDY9iYjn4HJuDwjX3vtNUUa+vfvr1YiV61YqfJypPBLQ0MDlYkEw4cPp6mpSa0jTZw4US31v/TydAYOHKjIxWOPPaYIxooVK1hVv5qhQ4fSq1cv3p31jgI+Foux7777en3yGfjcZR7mfnNlQGB7Ie4SQS8l3gLdz372M3XPSNS9rq6OeDz+PkTvvvtunn322fe97hP3rRh8PnHfCtDKcEjR5XyDMrdA3NWXbCF6JWRKEu9ylkPeDfDAQy/QuLaDf/7jX9z29+sZPaaWXD6HqQf469/u5q67H+TQww/j0MP3Zeyo4WTTWSoTIRUtlZLkyaTLxRfdxIAhfTnzzK8SCLjojoPlavzx5nt4/vlZ/OGaX1KVsFjb0Eg2bzNu3EgMzeHeh17l+j/fwV9v/T3BoMGFF1zKtJ3HcdaPv4kjCYe6S0jE86p6j1cYyiPu4lbi+7iXYchs0yY2RdylhL0ap3kb03BZs2wej/zz7/RZsIJ+81ejNTbiZtvRtLSqAZBx8rTVGKyvDbCisZNJdoAdkiFSmRTBgIFr26RcnZX9q1nYqxffOO8S+u2yF5iyUmND1MI2DHQ7iJaXmWMHHS1LWL78ZTpTc6hINJBINJLMuMyZbzB64o/ZcepJaPq2I+4bg14k8qWEvkjci6+VlCx7X58VSfRHEfdydHaPFb1Cg0Ui700KNgoebOZJP2trZy+88AKZTAb5LhOCvmLZckUcBg8ezKxZs+jbt69a+ZCInxD83XbbTUX+8ralgiNynBARWfKXTa0VapqaCCycv4Da2lqSySRf+tKXVNRdJgee05a/+Qh0I7C9EPdbb72VN954o0fXy73xta997UOHg0/cy3i3+MS9jGBuQVObirjLV4Zns+i5uMgSre2ItZnG+uYUd971AN/8xkmccNz3OPKogzjjjFMIBCWh1CWTzfL4469w22230drRymnf+hbHHXMwiWgCkZ5LeeJsxuWii/7MwCH9OOeck5R2XUqAZx0h7v/mzn8+xmmnHo1ut9DQ2MakHSdzzFEHIQWY7rrvRa68+haOPeYQ5s5+j68e/xUOPGBHTMOkIhpEYrNC3r1IoLcsr7znlaDAJ+5bMDQ+lV17EHcvbVn1nMqjsPPoWMyZ8RJXXvxz9mjqYLeWLhXnNk2pLtqJZjikNZuGhEFb/zhrGlsZmwowulHDdORomzwWrbZL6/Aoc4M6NSOn8uVv/ZA+U/f2sqHjhtrLyElxgXYWvvsib731MC3JOfTqm2L4iAB9+2g0tcCCJRWMnXwuk6ceh64qp8q2DcjUpkLuJcx1U28XSfGmOrJ0/3IQ4I0j5x9r8BQb21jfUnqSsp7wY12tOlgKykmUvKWlRRHvcePGKVKeSCQQD+nW5hYVAVy3bp16TYh3c3Oz+llR5Y0bIeFCzIWsC0mXRH6RK0qUPZvOqHblfVn6Vwn81odZ3378z+S38PlEYHsh7o8//jgPPvhgj06Se0scZUr92jfuRZ+4l3Fc+8S9jGBuYVPdX+IFkXEhIVDIu/zTDVNV75Oo0I23/INUJseuu+7KC8++zLvvzuZPf7qMWLyCWMwkZ1nKjnHVynXcfse9PPr4kxx31FH8/GffwxGbR0Oksjbn//w6hgwfwDlnfU3pi03XJa8FufbGu3lp+iz+dsvvqE5oLK9vprOji2HDBhOPaPzr/pe55vpb+erxh/O/J/7Hr351AVOnDBNBhdTnQShXOCQaXIk/Fom7H3HfwiHxqe3eLfcQuyGRbMlky6uEq0k03E2z4N3X+N3F57LzunVMa28npkEAC1207zokgxqrq0yWV5s0d6YYkwwwYpVDn0yEnJUjGbJojri0jAyxKqZRv8Zm8IiJ7LnfkQyeMIng2EG02h10rV/Ju6++yluvPEUs1kGsLo1mphgwAHpVa7S0mjS3D2PXvX/Bjjsdrez7PlHi/iHM/KM03eUm7mUbMB80A/mgE5Rj1lGGixcC3tHRoZ6RwWBQVW8UfW1nZ6eKsA8bMlSRcYnId3R2EjBNQuEw0ViUrq4ulWQnxF3IvZB1sbnL5fNU11QTi8ZobmpSkwOZBEgUX1y0hLz7cpkydN4XrInthbi/9dZb3HLLLRsKMBa78YILLlArXh+0+cS9jAPeJ+5lBHMLm+pJ3Lupk5B20brnLUdZly1Zvpp7H3iEQw87SJ1BKqFefukfOf200zjgoKl0JZNqqXf8hLEq6mg5Ovc9+Bh33nEP/77rVqoqQ4qLZdI5Lr7oOoYOG8wPfngSAd0hIEWX0PnT3+7loUef4a47/kxNwiCvPKyhqbGNvrVV3PfIi9xw0+387a/X8+hDjzNr5gwuOP8shg3uSyggBn9eIRiPuHse8R+l091CuPzdtyEC3YHUnsTdkkmfLuW90iyY+yYXnnMGY1vq2du0qUAn4lhEzQB526Y1CB0j6ngl18bqtjQ76FHGrDMY2BxQ+RutsSwd/WBtP5Ol+RQJK4jZpREP9iLSrw/5kX1Y5TTT0rySbFM7/asrqEjYZOkkUWUTi7hEDBvLqqAzM5zd9zmPnad8Ra7ikyfum+qLLSCzysnnA7TSH/beNhsCn2PiLrpZIeAjR45UJdf33HNPpXsXjbuQeNGwC9kQ4i0kX6QzEk2fOXMmUqpd/Kd32mknlXAnBF8cMGTVU457/vnnN0Tix48fr7TxkmjnS2W22Uj83Da8vRB3yRv5zW9+oya6pduRRx7JEUcc4RP3T2IE+8T9k0B50+fwyFKxpKS3Tz5vq6hOKp3HkFLumsNjjz/PkOEjGTlyMMGg59H+t788wLuzFnPdH84jnU1zww03c9yxRzBq5Ajlwz5z7lz+/MfbuO7qy6mpCpDPiSe1xXnnXcm48WM5/bTjiIQkYgpdeZdb/n4/Tzw9nb//5ToiAdCD0LC+g6efepbjjzmc/z3/Fr+9/Gru//et9Kmt4Jf/93vCwQCX/PInyhfeyllEQqJxF/cF8XWXT+MVxfG/5D69Mba5Zy4l7pKXoCl5U8EOT8ooOV0sWTyLs3/0bfpk1jIhaDE0WkHcBieTxjZMMvEwi4MWrzS3kzZc6hyTnRP9CK1pJ1AdId3HZLndwlorgxF26ReOk2pPUVNbTUc+Q7tukzTyGGEIpDX6JOIk4uIL34VhOlSEdeUMglVJe1cfdt/7THaZejSBbSmV2VwA/f0+FQQk0v7KK68osi3BCyHeQh7+97//KfI9YMAAhg0bxrvvvquIhmjcJbouJF/2mTBhgvKflpVMIfVLly7dQPglevjSSy8psi4yGSHuEtX3I+6fSld/5k+6vRB3+U6X6qlC4Eu3ESNGcP75539gP0m1VZG0yX03d+7cDfv5yalbMbR94r4VoJXpEI8sFdXuXqO27ZLNOQRDXhSzvr6Fm2/5C/vsuz/7HTBNWbSk0i4P3PcEj/3nGb526nHsuddkbv3LzUTDMXYYPwVdD/HGu2+z46RxHPClXXFEk6nrvDd/FbfffreymvzRj75D39o4ug1N7Z3c+o/7ePPtOZx43FHUVkVpT6eYOfNtDtr/AHYYM4J//Pu/vPr6G5x3zhnssMNwGtY0cNlvr2PSxPEceeTsugULAAAgAElEQVQhDBlYpyzVpBCTTEY0XYpEBXCkWquqbOlvn2kENjB3MRT0UifFw1pJZXQLlzRvvvUiZ5/zXSoDnVQHslQFAlQFQsRk5oZGczrNskyaxoBGsDpBIK8R6spQGwQn7JAMOaQCNpYhWQ8alWYIcT21nYyq1BuMhEi7ORwd4k6MiqBJwEyjB7JEY7qyH6wwglSE+9HVVcVue32XqTsfh6aJj7s3UfS37QsBIREibxEdupB2Iee9e/dWBEEIt8hchLyLhEZIuwRFRIdbWVnJ+vXr1fvShhwjx7a3t6t9RBojEXvRxsuxEqGvrq5WQQg/GLF9jbHN/bTbC3EXPJ5++mnuueeeHtDIRPmSSy6hT58+HwqZX4Bpc0fUh+znE/cygLiVTXRHObvJu2WJk4zO+sY2orE4bZ0ZUqk0ubxNn35CUIQUR1m9ei2xeEAKUBJPBDH0HKYWpH51K5btEK+uoLYmIQF7NC1LMBCiuSWpnBSyOajtFcdwc4TNAJ0pi6ybI21ryuovGrTpzEmSrE7v2j7kkhm6MmlFqMKGQU11Jdlsjs62DLqWQdcNgqZGLBImEQ+DK3p7IX0GVt4hFCp60m8lUP5h2x4BNRjlf0XiLhF3XcmlbCeHq+d48eUnOeun3ycUyZGoNsnYslRqU1tZQbKpjaAZIh8KsCaVJG9AdayKsFSxpJVIRMcwTFW8iVCUQDhGPpWiImyg5TLKclSTomJBjVQ2TdgKUxkKUlWloYUlcTBPVA9SFYxSHelDe3uYnaedxM67nQBar21G3Lc0+XTbd5R/hlIEit7qQrqLbi+SiC8kQki28tGXqr4FFxjZT6LmEqmXfeR9+SmbvFY8Rl4rRtaL5yie119B9MfgphDYnoi7TGbPPvtsdf+Ubrvssgvf+973fOK+rW8Rn7hva4Q3p/1u4u44GitW1nPt9X8il5dwtYFhBgkEDDKZFEZAx7YDBMNBZbMXDiXAzZBMNYMdoCJeSzqVRw+Z5LJp4tEguUwn0m4sUaWsH+VsuVwSU7MIG2HS2RziG+KaQcKmTldbC5W11arqo2u5xENxpXmXUuzVFWFSqS50PYChBcmk0iQSMQKGi21l+O53v8XoUcNxrDyaFDbRDAzDj7hvzij49PcR2VbRAVycjVSygkqUxszzwvSnOOenP0B3pLqpTVfEwQ3qhGRCl/MK+AQq4zRJRVQDrFSesGOTSLjkchkMTcdyTXK2FCMKqQJFUqFSy+cJBU0y6Sw5J0NldYyYk8BKyXhPEe9tEggZVIQqsNqSuGkd3ajhuBPPYs+9jwcS24y4f/p94l/BRyEghFvVvCgh6HJM0f2lmDNQ3K9I1IukvXis/JRou0ThS8m8HF/824+2f1RvbL/vb0/EXXpZii7Nnj27R4dvqlLqxiPCj7iX4R7xiXsZQPzYTZQQd1dTchmJTApvF1tIVUpcSuKYqogioZBGa6foyDVCwpo0Bycn1FojZErhJilT77mBBE1JHPUsJcVbXTzhA2Eh/yiZQj6dJ2CYdKXzaAEpoegSMU0skbxIxCpvY6U0IpXiHyMRd1dFYeVc4hNvaCFyWXFdgGjEQJdrkTLomq7+yWeRBFt/+2wj4EWWpYclQi6bgWN7xWYsy0EPuixcNpf/Pf04VZUxUlaSd5bOY33TWgb2qWPEwEGsXrOK1Y3rCFcklARsxKAhpNs7aGxqRDzhY4lKBgwYTE1lBbaVY9myRbS0tqjVoFgiQf++/QkFdBYsnkMgG2HMiDHowRzZQJKFS5eQT9mMHzKauoo6GtZ1sOPOX2bK5D0IiShebb5U5rM9ysp/dUKki2RaiLcaBYXouhDworSl9HUh7PK6jO3SRODi76WvyT7FdqSN4nu+q0z5+/Lz3uL2RtwlKVycYjbevvGNb7D33mLxu+nNJ+5lGOk+cS8DiB+7iW7irkqbqwRPIdnwxJPPU11Tw+tvvMKpX/86a9a00NrWzKr69dT17suYMcOQB8aaVauprIxRVVFNNFLNm2/PZNDAAaxasZhdd96J+x54iAsvPocFi5dx732PcuaPzmDRwjm8/OJrfO/b3+GNN2fw3qLF9O/Th4njxrBybT29+/blvdlzqYxVkbUy7LPvXlTGw0oG89TTLxEMhFnf0ELv2jrq6qrYafIIDwk3j2uLNMKbcPhLyx97gGzzBsRx3yPuMsWT/3Rcx/vNFstQO8Py1Yuw3CyBeJAb/nYzTz7xH5xMhr69qjn7nLO5/9EHeOHVN6mIB1Wp+euvupLpL73CnXc/QiReRSZnMW3XXTnj9FPZdceJXHHt77jr3gcwIwEczeTYo4/mxOOP5Q/XX8N7by/lut9fx4QdxnLfM/dz1TXXkuzIceFPfs5Jx57EvHnLiMb7MGzAYCIbVnS2AXH/mFqZT83+cUtdYrZ0hH2GFtFKCXfxY5RGzYvvF18rSl/kuSSvqSlrQSZTJPTFdkqj8cWI/qfi+rOl/ePv/4kjsL0Rd0k2FU178R4qAj558mTOPPNMn7hvyxHoE/dtie6Ht12MFnlaSi9yJITdVtpiF8vWuOb6m5g8eSrvvPuuKs8djcQxTYP6NfVM2203Bg+q5dFHn+LII7+Mplk88vBz1NX1ZUX9GsaMHsOsWTOZPHkSjz3+JEceeQTZbIYHHniIc392Di+99CLhUJi6mhj77L0rN958G8ceczTpVMZzU8hm+PZp31RVM//+938xavRopkyZhBkK8Pc7HiAcCiGcafy4MfSurWHAwBr1t/pOlwqDuoZTsuz86SHtn/kjRmIhIbXocCSRSC8JT8am4+RBt1i0ZB6ulufRZx7l4l9fzqknH8leu+7BuvoGdtp5KpdfeyVrm9Zxxhnfo39dNeNHjeamG2/ivgef5YwffAc0k3/c8Q+GDR3M32//KzfdegP3PXAfP/v5z7n3/oeU88flv/0tjz/6CM898xIPPfgQAwcP4tzzz2XZ8hXkUjmGDR7Jdb//E81NSQJajHGjRhFQE0R/8xHwEfAR+PQQ2N6IuyB9/fXXM2fOnB6gS67JNddco2xTN7X5EfcyjFGfuJcBxK1sojTpqUjcVXJqwFTJqLph8Ocb72DUyLEEQ2HC4SCrVtZTWVVJV1cb06ZNpao6zhNPvMCwoUMwDY2Fi1ZQW1tHY2uzyu6eMUOI+0S6OrPK7kzcF1asXKHIfFtbC+PHD+W1V97ikIP25YknnubAA7+kCjW9/PIrVFZW0LdvHbat8/TTz3DSSSeSt9LkbYM5782noiJBS+N6JkwYS3V1JaOGD6AQZEdzJfmrEHEviC+2Eib/sG2OQFHXXkyX9mwglaOMJhPILJpms279ahYtnc8f//IHZs2bxV233cn4EWMwjSAr6lfxw3POYsmqpYwbP4aB/Xrz9RNO4J677+apZ6dzy19uZsLYifzuqiv4z6OPcu311/DS9Bd46OEHOf/8n/PfJ56ifnUDv/zFxfzl5puZO/c9/va320llMpxzztkcfvhhxGMJ7vz7PVx9xR8YPmQc2S6LcWPGYRaSC7c5TP4JfAR8BHwEPgCB7ZG4y2cWT/eNk1T32WcfTj31VJ+4b6u7xSfu2wrZj253U8RdpDJZy6s+msm7tDS3E69IKL1xPG7Q1mYp27Jg0KG2zivh3dqaZfnyFZhmgOHDB3puLq5NRSLI0uVNmHpAOSnE4oZKNEwlxVkmR1VVmGgkQntbB/FoiJbmTvr3r1H6987OJIlEhHXr2lm6dLkqFz5hwihWrFjL+uYmho8cSjCgs3z5ajVhqEzEGT1iAJmsl2gY0DUsFW3X0X3i/tGD4VPfo+gm4xH2ol5cCmqJL7/lZGhra2Th4ve45R838drbr3HHLbczdYcdVbGtVWtW8/0fncmy+uUcfPCBDB8ymAP23Zubbvgzj//vZf52281Mnbozl/zqEh7/73+55tqrmfX2W/z5xpuxLJ1hQwdy2WW/ZeTIYfz83At4b94c7rzzTqa//Cq//c2lnHTKV6murOGuf9zDWT88l1NOPI21q9YzYvhoAqbvWvSpDx//AnwEtnMEtkfiLl1+7bXX8t57770v6n7llVcq3rDx5kfcy3Cj+MS9DCBuZRMeQRI5gvdTSLgkfqazeVbX15O3JSFV3DbEpkzCn6ZK+tN0IVNeEmtAEkqxVdRRnJkcx8aV/XRH2XFLQquVFx9uCASCZDKWSkrVjQCuk8fQdfJ5qaAqSYjeBxF7R8/L2yGf1wkEvKqunlWlXIZchbIcUdduGrqKsMvf/fr1JhgIKpmMXJNUTxU3EX/7rCPQsxCYjC/ZLCuvHI3EEnLN2pU0t67judee4sprrmHf3adyzFeOUjkW4ydO5Iqrr2J9SzM/PPP7VMaijB8zmptuuJEn/jedk792EroZ4O4772XXabty7TVXctnvLuXV115ht2m78vprMzn926fx5QP35+fn/ZylS5Zw+ZVXcPvt/+C1V99kyLABakiuq29k6k67cdHPf4WpRxg+dCSGIQ7v/uYj4CPgI/DpIbC9EvfnnnuOu+66qwfwIrE844wzmDJlik/ct8WQ9In7tkB189r0pAjFfYW4S4qgpmwYH3z4P4rEB4IRlSCoaqw6DrbjkXTx3BaSHgyGVIEQSaoquiqIBl5NAhwHV9MImEHVgkTZRXfW1dlBMBTCssVRxlBJiKYeUstd0o5YOknxEvm9sqKKtvY29btt2QRDQXJ2Dk3XCAZNsukMwaC0IRVfTfbcYzeqq6pUESaJhMo5RQvvb591BHoS92LE3UvOc8hbWRrWrSaV7iAYd7j3wTt55olnSLZ30KtXHeeedy7/uu9+Zs+fh2Haqu7qLy+8kNdefY3Hn3pZJTSbRojJk6ZywgnHMnr0KP74pz8wZ867XHTh+fz1L/9g5coV/PAHZ/Cf/zzMmjUNfOXIo3jg/oeYvOMkjj76KFzH5Zmnn+ONV2dy6tdOZ8rkafTu3V+tNPmbj4CPgI/Ap4nA9krcpYLqL3/5yw38o9gH+++/PyeffLJP3LfFoPSJ+7ZAdfPa7Enc5RghSJ62XULbqhxOwRJSrBVVtFuDfF5IstSeLMTFlSOCRL89iq8cJAtJovLTlhmA471g2xYBU9r3JBEiQxc9Pa5BIKBySlW1U3W8OEiKQ6S8rSLxEoEF4UniMS9xd8MU20BZNZAphzhOegmp8p6QPqlA6G+fBwTeT9zFLaA7cdph5aqlzHz7TYaPGUgoojFvzns0rlnHyBEjCUai5HFobG4iHAmSz2bpW9uLZGeSjlSWqupaMpkc/fsPUC4EkvDa1LReHEqJx2I4tqaqVNbV1WLls2oyGYpE6ejoIhaLkqiIq+q/rW3taK5Jc2MnO07aheHDR6hVKX/zEfAR8BH4NBHYXom7BAklGXX+/Pk94JdqxJdeeqlP3LfFoPSJ+7ZAdevbLHVxK6YMbk1rXozeI9wbO7cVX5d2i+95sp2P3pRx5UYNKiFMyerBZ8gp7qM/kL9HCQLdtqQScS/mYMgETlaDcvkM6XQSC1mZ0QjoJroksTqOsjCVlRpHuSM5nnRK6eMdb3Knkl1lXykVICtLtjeBVBIrmfjJRFRWikSCJf+8yq3FESqSHcfNEwrJCpSJlXcJB+OEIiE1ufA3HwEfAR+BTxOB7ZW4C+bLli3j8ssv3/CdUewHea22trZHt/ga9zKMUp+4lwHEMjZRyp9FH969bRk52RJVuUfXPI26R/VLKf2mPlz3fp7T96amB2UExW/qE0SglLx70z/PFtKbnSk5V2EoaqrIl6bs313dGwXF96Tol9rU/t6YEmKuyLj6uzAtVQRfVndkxHouRC6WWgESMu+t48gmZN9S12LoAVUJ2LUNdLNUbvYJwuSfykfAR8BHoASB7Zm4CwwXXnghjY2NPcbEsccey6GHHuoT93LfKT5xLzeiH789jzr1DIF7IpjN33ruvalwevceci6PuG/eVnotPc+zJdOFzTuXv9cnjcD7ibvi34UKlR7L9vzdPS4v4fjCj5LBoBXJvnrPS272iHvpJhqs4rgTuYu0JToted37e8PIlYq8UthLEXcTV96XSynIxz5plPzz+Qj4CPgIlCKwvRP3m266ibfeeqvHoBg0aBD/93//5xP3ct8qPnEvN6Ifv71Sm8itba1Yzts7flOkvCim8fYQjXr5t57nKH/7fovlR6Ckiq8aEl7uROnmuLaSuqjeFWKuxk8hhl7QXEmuQyFIL4kPXjRdyWW8yZ1E7nVxR9oQUxdSL+9L7oRnh4oUgZKdC1osl3zhMort6V5uR/lB8Fv0EfAR8BHYIgS2F+Iu/ERqwkh0vampiV69ejFq1Cj++9//8sADD/TATGyor7vuOgKSQFfYfKnMFg2rTe/sE/cygFjGJraMtJdSlo0i9IVKrJt3aULONjdaLkytIHNQp/+w43zivnn4f5b22nTEXRKWN1T6NTwbUImqF3Mj1ERRyLu8pmi3NzbV/zXxGZVoes+Iu7jVFFd6NKWpl7Hk6d+9iLtXAUDJbyQKj41MGTx5luxrlqjgP0sY+tfiI+AjsL0hsD0Q92eeeYaHH35Yuc4Vt4MPPpjjjz+emTNncuONN/bodiHsV111FdFo1Cfu5bwhfOJeTjTL09bmkfeN44wbE3e5lm5i9WFX5kVUtyBuuYG4bw7Z34J2ywOf38rHRqBnbsX7EpcLKQ5e0mrJyUpTJHpcg0z0ijkU3pjxxpxH3Ltj5pKc6tlPCokvTibVVKKQ0LohB0OTwl5C7DdnDH5sQPwGPkMIvG/IbW5mfWFlqOdH+WBRoRrOIvkqSMGKi5IbsoAKr3dPUD3nrk1lJm1O5tBnCGL/UrYCge2BuN9///088cQTPdA54IADOOmkk1iwYIEi6aWbaZpcccUVVFRU+MR9K8bUBx7iE/dyork9teUnpG5Pvb3tPuumKM0Hja2N5Vz+pHDb9Ut5Wt6cIMT7XIFKmfFGAQVvEtd9bWr+t0XEfVOSwIIkq9CsNCd7KYWXIu6ymuQR+GKAQ43QIqEvXo6Q9pLJbFFhpi6vsHPpiPXNkMozxj4rrWwPxP2hhx7iscce6wH5vvvuy9e//nVWr17NJZdc0uM9cRoTS0iR0xQ3XypThhHrE/cygOg34SPgI+Aj4COwSQQ+iLx/oI2n61V69oht94qK5zDkUd8eyfsb+9N+UD+oWhOF8tBe9kahrdJVG+/30uwL73zeVrqotPHv8rcnBivu7U1AvXmFt+KkXJiKm5oZ+NsXBYHtgbg/+uijPPLIIz26bI899uC0005TdTguvvjiHu9JxF2Ie01NzYbXfeJehhHvE/cygOg34SPgI+Aj4COwSQQ2Ju4f7rsvyRSSz1BSL8L1EqRLiXvxREqEtakg+qavBFPlSmxqRadI3rsnB9K2SsHeWCpT4NtyRaWEXki7sZERQOln76bpXmheqlqryYAfev9C3DnbA3F/6qmnuPfee3v014477sgPfvAD1q5dqyqolm6+VGYbDW2fuG8jYP1mfQR8BHwEfAQ+EoGexL7gKvQ+BVW3nKWb6Eq1gM03shWirQsV30D0vboBXvy+NPeieMmyt7eLCpSL/WjJhGJj4u6139PBS7kmbUT8N6wiaBvbo34kVP4On2EEtgfi/uabb3LLLbf06IXBgwerSPvy5cu57LLLerwnyam///3vicViG173I+5lGMQ+cS8DiH4TPgI+Aj4CPgKbjcDGQXLPFrRoISquQiWZpIotFyLiojspRqgLZFq5EG3m1lOcYhSKgW2iHLQKhXvJqYq7Kxcl7yQeiZfrLUTcC+9JBH1T4peNJTUf7sS1mR/E3+0zh8D2QNyXLFnC7373ux7Yi2OMJKDOnTsX8XIv3cQO8pprriEUCvnEvZwj1ifu5UTTb8tHwEfAR8BHYGMECvS35OVNaNWLCnbHc2fZoCApqRVQytuLOZ/Knra0nG/p7xtsXqSwlxD1jVxfiky7cI7S61ZvFcl6jw+kvFF7luxV7XbLX4oHFqm87YhbkjglFeYkrsuGWgf+cPlCILA9EPdsNstZZ52FbfecLI8fP55kMsmKFSt69KUkpV5++eU95GB+xL0Mw90n7mUA0W/CR8BHwEfAR2CTCFiOja4XpChSXst11Bd/wOwuylIalZaaAapOwEbhaxXfVnp3T9wi0XBd/i7GuUtIeI8LKbyuguclgXvFywvEvHB574uYK36+KamMirj3nC/YqgiZptxolAinZMJhl0wAipdpevMTf/uCILA9EHfpql/96lfU19dvVq/tt99+nHLKKT329Yn7ZkH34Tv5xL0MIPpN+Aj4CPgI+AhsEgHRoRc3IdmKcEuyqcoqLWW0BR90Tci9otXqsGJaqvytSnKVVHmWPeyijKbk7KVSHEWOhew7qEq7RcKuPNq9OLmKCKq0VNV29zRC0fPSXNaiZmaDBr+QYKqSZL3JhJpKbJgsuDiOg25IjQJdMXrHcbEdm5Bp+sT9C3TPbC/E/b777uPJJ5/8yJ6Te+o3v/kNffr08Yn7R6K1hTv4xH0LAfN39xHwEfAR8BHYbAQkwu7Yjoq6y5e5bVkYRglp7WEL44JeIPQqZF3ICC2SddvzevE2DQwdt1j1ubuMb49rcyWEL3vrUs/XKOSjlk4aHE/DXkhU9eYLIoeRYr8irykmsXruNsossocFZYGoF+uMlZ69WNzOsZWLjKYIvCTUuhh694rDZoPp7/iZRWB7Ie4LFy7kuuuuI5/Pf2hfTJgwgbPPPvt9+/gR9zIMYZ+4lwFEvwkfAR8BHwEfgQ9EQEWdNR3HtjfoXdNdSRSpFuLueNITpGquk/Eq5UqI3CmSdHnfwbVsXPF5L5J9zaPxmpDhwj+h2co+UhPZSqEikpBmTScQEncLTy+jEk/FelIdZ+MKuba98yoSr2tYQsY38luX6/SkP4b6qbTqunw2maC8P99VitDkbYt4RQWaaRKIRFTUXQ9GevjU+8Pn843A9kLcReb24IMPfmjUXe6LM888k4kTJ/rEfVsMa5+4bwtUN7fNHmuwG4qLeEdvymu42O77vNI+5IQb+zf4qsrN7Z3ufugRQvuAwz+sv7bsjP7ePgJfJARsK4+hG9i2g5DY9Q3r+Mstt7B82TJ0IewFWYyiwpqL4WQwDQ3TNNRP9ZoGAUMnFDQJBUxPaqM07o73vq5jmIYi0F5SqUvespRMJWCaWI5DVzLN2tYMlqtLoF6RbrkuXXepSMTRXAcxnRQLu1AwQMDUcfJ59bqaFDieFEbmGkpgoyQvjjqHEHZL17EMQ01OlGxGCfW9RQOJsOuBAEYozMmnfoPhY8ZAQCYRviXkF2Wsby/EvdhfN998M2+//fb7ElUTiQSHH344BxxwwCa71o+4l2HE+8S9DCBuRRNiYeZ5/OqFEI18FZRWCZRvB3moF5KxCqW31an0jLJHc92gilB52VOyDF3IoipaqalvxJ7Z392ma0rR6Qk/CxrR4uqvyuEqyjxLLNDke0i+gIp+EBt/7B66Urneori05HNtBVSf4iHFYi2FiZTCVb7avTIrnoWd6G69nz1t3kqrMX4QUv4k6lPsXP/UnwgCLo6dLxRQ0pH/5s6Zy4knfJXVS5ai2RYmqH+KNOsapuYQC+tEwga9EjFCOti5NH3rqgkHdOLRMOFQmHw+R0RIvOsQlEh2KEAwaKrk12ICa65A3i3Lob2ji9mLGmhJ2mTyrtq/siKBlU4zeuhgKiIB8ulOqqoqMQI6oVAALZfFsbLowYAiKLlcDkfTyeUdsnnI5izSGQvb1Ug7FlrAJNWRIm+5BMNhMlZarRRkMxm1vxuOccn1f2Tvw76CGYz7xP0TGYOfzEm2N+KeyWRYvHgxM2bMQD67eLUPGjSIXXfdlYEDB34g6HIPWVZJBeMZM2ZsHF78ZHrsc3wWn7h/Op3nEXcHzTVBk/p8MnS7oy/Km1jeU8S9EM1VskxZwk0psu04YTRDbgAh4HLsRmW1FTcvVCEsqfHnTRAKxH2DvlSsEHoWM5HTetEwWXZ2cTTl5bCBhvewS1NOCqVEtKghlXN9GIn9dPDfnLN6n1bVTkQr6GSFuDuaEHevx4pFV7zyMO8vnb7p85RiszlX4u/jI/B5RcDFdSxvkqt59HzOO+9y0lePo37pUoJA1NAxXQdT04iEDAKaQyISoLoyQm0iQpA8bj5FXXWcmkRMkXOJsAuRNoS0G7qKjptBE1007/Ls1BzMQIBMLks+bxMKhelIZli6uoXG9iwtXVlilb1wLJt4KEBVwKBfdYIAFrFEBEf3Ag9hCWxgYdkWmq7haBo52yWbd0hnIWdrZHMOqUyenLjlyPPZ0kmnsriGjqWL9CdPPpMlk3Ho0AKcd9X17HnUsUSjlT2CNZ/XHvav20NgeyPu5ep3zSfuWw6lT9y3HLNyHOGRQo/6ec4GQrA9ou4V/ZC/vYi7WpgtRK/Ve1pKvec6YdAlQaRIjrslNFrBNq1gnLYhPuydr9sJwcvnKhYTcQrrAJ5HsaRybXBYk+8jTSYbEJB3CuF5+en9Wlp8pCTxS731+VwO3mDnVtDQFvtdlsBVulsBHF2BWLrC4EfSy3GP+G18QRAQTbo8UnRT/Zw98x2+duLx1C9ZTNTQiAcNDNdWxD0eDlCTCBENGsTDJjWVEapiQXQ3i5vPqKh7LBbBMHTCwSCZVBq5/8ygSF7kLnTU40bcY0LhEOlshlw2TyAYJGdDa5fFomVraUulsVyDykQFYcMg7NrUJSLEpB3TJRQLY8gzMC9SG51MNqNkOIFgiLzjkLMgk3PIWqjoe0dXhrzrks7lCWphUsmc+t0JyspoHitrkctCY87lrEt/z77HfZVIvPIL0sH+x/CJ+9aPAZ+4bwV2PnHfCtDKdIgXH/eIs/dPffMUfpdofCEyruQwHlNUAXItq/bVCOIixF0rRO69w5WeUvkbF0h5iSFyz/Li3VFjL1oPtkTWC5+vINRR7YhmU+JmEoIXP8nhkNgAACAASURBVIgiNe2eAsi1dxcl6X7980tiuyPuRR2ulzxX7CFvwiSx92JpRS+i6G8+Aj4C3Qi4kgCqEkYN9Zh59623+eZJJ7Ju5VKimkNVJEA0oCnduUhh+lSGqEpE0JwcNVUx+tZWoZPHcTJEggbV1ZVeNDwSwcrmlNZc9PCGCXk7j2FoBEOBghG8Rk7JWTKEwzHWNLWTt3VWN6wjmclSkajAdCXqr5EImIRMeSZaVFTGCYdC2BlPny/tS4Rf1huNQADb0cnb0JlMK7lMJmspom67BrmUjW3rdKWzJK2cCtBYmRyOHWJdFs745aV86YQTCMVEKuNvXxQE/Ij71vWkT9y3AjefuG8FaGU6xNOL91SMFxOrVAS3IFNR0Xel15AvFaNA1uUihLx7tmUSgVdOCkX34wJxVw4JG7izRzK9uHxBKlPwKVbyeEP5Nmwg7l4cX65DlogLPsUF27RCsW91Bd5Zvespklp5VRUj+TxTWXG2kE9RuuygiHtxatONpucwLfZuPnEv0+3hN/OFQUCcWmTO7wUmZr85g+98/RTWLVtEVIdeMZ2qhOjWA0RDOhEtS7/e1UTCJrFoiMqKCKbpEg6Jc0ueaDSs5CyRSFh5o1t5sZp0VeJrzsqoxNVgMKC07roq8qSTSqYwTJP169vQzCDNra20dXaQzeboXd2LfDJFPBxSxD0UMDACEAmHMXVTPYdD4gRju1iWixGUNg0VROnoTJLLWyoRtqMrhaYFSbZmcJwA6bxDc1en6sV8Jo9tB2lIw7cvvIR9jz+RUIVP3L8wQ9yXymx1V/rEfSug84n7VoBWlkO6pTLF1MZis4r6FTyJPfIuESupHiIUWaK6hai6knAUNe5eqUHlZFBgzxtyQ5UhsReL79484q5STSWg7+iKuIvsRUi6ouFqFiD0u/BCQSIi7ysdqYr0e0VLvD26ibsn+fHa+dxWCPQyUHEVEB42ImlSsialo+nGRSZUnt+zXw2xLLeH38gXBoFiKECeMXI/zXnjdX7wza/TtGIxCRNq4jqJaIB4PKIi7VE9Q0U8TF3vXhimRjQWpq6uikBQRzdcuro6qOtTSzgSRtcCWI44uVgqKp7Np9XvkWhUucYo20Uh32i0trQT0E3WrVtHzsrS1t5GMpWmV3Utqc4k0WAY3bWpqYrj2BkSlXGC4agKS9iOS9AMoxuSpOooyYysXmYyWfWzK52iva2DbCqLkzFIJm0sDFo6O0ml0+TTeSw7yLq0xmnn/4q9jj2BYDzhPyy+MKPc17hvbVf6xH0rkPOJ+1aAVoZDPJ9iS5HtnCUlwF0C4bAihKKtlGVZU+zF8ln1haSSH8VizBCdqCRHelZobj6vvtxc8Uc2g7jKDkb+2WTSGbXc6+QtVblPYuCOk1e2ZKo5idKL7tR26OroIhoXn2GdbN4mEBArBwdDSKstUWfJPtVxXI2s49m6CWk3dZS7Q8D0CovIF5wpUS71GTzmLpZun8vNcrHyFlrIUE4SxWRUU7NxLEsWzdXsxtVMbHQ1QdmwFaooFku9fy4/v3/RPgJlQECIu1gmao6GrhvMfe1lfvrd08m3rkXPdhINwIB+1UTjIaVfrwjZBEyNioo4AwcPIiB690SUcDxKMGyC4ZLNZoirv+PqeWhbkoAaoLNTItxC1nXi8TipVJpgIEQ+b2GLKbuVI9nZRkdHM6l0F22t7XQm8wwdMpKuti5qqirJptvV9TQ0rqH3oMFoRoC80rpHSCQqSXYllewnEomQziSVfWRzcyPpZBcRI0j9svWKuNtakK5MmrbWZtpa5LoiNGVNvnne/zHtK8cRqhCNu79CV4Yh9plowpfKbF03+MR9K3DziftWgFaWQxzyVk4RYHEPztreUm/edlRlwUgoRC6XVR7EyiZNllvzOTQh3UaArmSWaChAQNXQzqEZnjmhpRkIX9Y0ifdIARLvS01s1mzHQheSrwqOeEmjti3aUjFpE4cEIf+mJ7kRcq7JldnY+RzBYIhcNqciUDlLEjF18nJ94oVs6Nj5LIGAWLGJ641BLpMjFIoolwUz4K0SfO62QjEW29DJopGTlQnNISTL8sqeUyY+Lqm8jasHCevF9OLumi2q8MyGydTnDgH/gn0EPjYCirgrz3VdFUp696Xn+cl3v03MbqNXVEO3U4q0V9XUKJJeVxWiqipOJBqj/+BBasJcU1dLvLKCZCZJTW01y1YsZcSIEbS3pwiGYqq4UyrVRV3vWkXe5b5LdqWora1TjrdZ0ZhbNh0ta6mMB2hrXU9XVyvr1jXR1JKkb79hhENx9RyriJoEjRzBqIEVCJGoqMZxdEwzQigYVS418gyV553o6ZtbGulVU83q5UvIdyXJdTmkUi6NzR3YuktrcxOtjS04TpDmXJATfvhTdjvieMKVtT5x/9ij67PTgE/ct64vfOK+Fbj5xH0rQCvDIY5j4ygibSpnArEOEzJtuS65vEtQdJZivyhfEEKORSmjO3RkspjhMJalETIgJFFey0bTLXLSgBkmLdF7Q4XU1bHiYWyoiLGFLclbUqhEM1VylVicCamXZpTnsexv2wQlyu9ayppNc2xF7r3cU5O8SsxylQ2bJhUHrZwip7pE1tWEwKuQKAQ+n8sTiX5OtZyOq5a53WiEDumjgPf5ZKoVEumM7SoL/LyL8mjuE9Y9IZP0g+hrVXVFT0rUnVNQzDHwV8nLcBv5TXwOEBDibju2Iu6ySjj/9Vf4xVn/DzrXMLBXnEhAXGFMKmqqVVJpdVWYRCJKbe++xCqrGDZyNGsa1lHXvy+Jmhoy6aRMBWhYs5baur4qUTQWjWLZeWU9KauV8jyToIW4uEbCMcKRmHKYSTWvIJNsBCdDc2MDXaksqYxGS3ueceMmEzR1WptXEQ3mqKiMYIk8xgxTEa8hnxf/dqjpVUtbaxtV1ZVEoiaNjQ3YTg6yadJt7RhWiKVL1hJNVNGV6mRN/Uram1tIdmRos8Mc+e0fsttXvkq4ss4n7p+D8bu5l+gT981Fqud+PnHfCtx84r4VoJXxkI5UEj0QobkzzbPPv8iK1auIV1Zx8EFfpqa6klDA5cknXmTqxPH0G9Aby3D5298f4ctfPpABfWPUL2qmq6OBiZOGYQSj/OeZ6bz1zmzyVopxY8ZxyEFfpmHtOqorK6irS6gvNMuFtvYuVdq7orJCRaRamlpYtHQZmhFk/A6jiIbCBHUHw7G9SYAlS8UhRFH/9ntLGDZyCLNmvsOeu+2s7NgkKi+R94Bh4Apxd2wlm5FVhKiUBC8jZp9UU7YFTzwzncl77cHTr73DuwuXYbsZJo8fywF7T2HWm/N54ZXpdOUsRgwbw2lHfonqsFcwS3zfhbh7n7s0t8CT3ChC/0l9EP88PgKfIgJC3MUHXQR/umOz4I1XuPzCcwhmWqkOQ11Ngkg8ihGO0Kt3LcGgQ1VNtXoWBaIJOtM59t3/QNLZvFqRlBXBREUF6XQXWRuqq6tpWr+eisoEmXSaUDCkdO5dnWlqautIdqa56PyLqKyo4NeXnMXaVfOpiJssWzifZMbC0eIYoVrmvLeEO+98mJOPn8Z+e03CdVJEq3rjOCaxWBXxWC8MQ8h8CCubZdmSBcybN5f9DtgT0wQrmyLbmYS0BC4CrFi5lr/e/k+m7jiavr3i1K9aR3Na59BTv8fuR0rE3Sfun+KwLPupfeK+dZD6xH0rcPOJ+1aAVoZDJHot/r9GUKcr6/Lc9DcYOmoktX1qyOQt6levZeSowaRSeWbNmKskMfvsO4lO2+a2Ox9nx0k7MX50X9Yt78TKNLDLLmPJOvD8a7PZYco4AsEAq1auYfmStUzeYSzxWJCFC5aQzaYZPXYMs+cuUAR+8qRJLFm0hL61teQdl4bGDkzTIp1OMm3KeIK6Sdu6dQzq35f6+nWYwTB3Pf4cex+4F0FdtKl1LF+6ko7WVsaOHklVVYw5cxeQEn19OMwO40bSJ2goqc/nbbNs+PfDT7PXVw7kxXdWMGzCEAJBmPXGPKbtNI4lC5YzaFhfzFiYBXPXsMvAavpXBNVqSSHtV8meJEehe/OJ++dtHPjX+/EQkOi4RMElMVTMzOe++iJX/uKn1JgWfSqD1PWqJJKI05HOUlVXS/8BvQiFI/QdOJjb7rifdD7P/zvrHKoqqglGomiGZ1S7etUKGtatV8Xhdt9zT3KZFOlkUuXYiLNMIJLgbzf9hfvvfYChQ4YwbdedOebo/TH1FK3N9STCQZavXEtrp8vDj8/ghemvs++++zNxTIIpEwdh6nl61/bDEG17dR/emTGHF1+eweLFy+ns7CKd6WTPvb7EGT/6Bk4uhW3nCGomnU0p/vXPB7n//mfYc98pDB9UweC+vWmoX8/KphT7ffVU9jz6BEKVvfyI+8cbWp+po33ivnXd4RP3rcDNJ+5bAVoZDpGoazprowUN1jd38eRzL/OVY7/M/EWrefzJZxjQfzCHHbYvS5c1UF0Zo2HVekaNHka4KsC9Dz7HbtMmods62Q6RurQzakw/jECQl2fMZ8wOIwmGTLVMfNc/H2e3XXYin7NpalzP5MkjiSVirFi1mnTOoV+/wbz5ygymTZ3C2+8uUvZp4ybU0by+nYAWZOiQviyeP5dpU3bgsUefY78D9uaOx15h74N2Y9mSZoYO7sei+bPYYdxw3nzjPfbfbzfu/feDHPqVA5g/fxEH7jmFfgFxnP/8baJpf/CJF9ntoH146LmZzF6yAsvO0KuyktO+fhjvzljMa2+8QdZ2GDJgKN8/Yk+qApIf4FVcNQ3JL8hjSjhuw/ZJEfdilYCN4/qbsrMs7tOzUJay/FR2ot3Wod1W/aWrCJvTt8VzFC00S+VDpddauh7xQb9v6tzFa/yw47uxKJ59c67c3+fjI2BZtkq61+wcC996jT9dehEJN0XEcFi1aiXtKZeOrE6vWp3v/79vUde7N/m8wTnnXkpXJs/3zvw2X/vWt0gqwpzj0kt+S21NL955dx4YNnfdd7dXLVU3SLZ1KIeYn/7kp8ybs5SamgQBM0hnVwfnX3Q2g4fUYuc6icfCzJu/jAsuvokVa9Zjuxq9amqpqwlz8XmnMHxQHTWVvXnj1bd4afobvPHqbCqqqnFd8YkPEomFOOlrx7PT1B2IRiQBNk+yM8P5P76QxvVtDBkymFWrV6r2jjxkf7KpNItWN7PnkSexx7EnE4pX+8tuH39ofWZa8In71nWFT9y3AjefuG8FaGU4RJI2LcfF1jRF/O558DEOP+IQjHCQTB5mz1nJ8BF9ue++J0D0oQ4MHTqQvffdmYcefpJjjz2EGW8sADdIdZXOmHFDlETj9TfeY9LkUapIyLr1KV559W3GjhtB/75x3np7IctWrGXnXXYhHDXRTZtQuBcd61YzdthgXnp9NqFYjIk7DFQFQxrXddC3Xx8WL13CpImjee6p6Rx20J7885GnOfzog3hnVj21tTVY+VbGjurP/56YybSpO/LWW69xyKF7MPPNOew6eQJ1IY3Po7GMrGDc/eATHHj4wTz7ytvs8aUpWBq89OJMdt95JxbNmcPEccOpisUIahDTvVq3n/4mZebzKvlY6t+qolHKlEjcPbIYZg4seT+Ik8+pyZqrBUEXizupE+DJfSzR7boy8dCxHenDEHYexDTI1UQ0VVpzq9vT/v2fv5tUFy1CvUqzmybbanJQqPUrbUkidM/MAHFk6ibongOq5GAUK9iWns+j6MXKw44kY0syddHuVH0GcSEplXN1Twxk8uu97+UrCDmbN28e0WiUkSNH0tTURGtrq3IYkWep7Cf71NfXq89XVVVFZWUlmUxGuY+sXbtWJU726dOHUCi0oc2gVPbMSUJ3CEsci3RdHSN/F88vr4v0TN6TfeWY4mseThqzZ8/mxhtv5De/+Q01NTUq0p3NZtXqV/EzSHuyr7xXvF65NrkulSxfkHkV35d9pA25Frkm+ayyj7RT3F/1QAGjjfvfsaSaqZfDY7h53nnxf9x+7W+J0oFOlAcen0G/3r3o7Gpj5Nh+nH/hj6muqOEnZ/1CjbeR48YzYvwYDj3+CHr17cUzjz/FtZddzT677M3SRYvpstL8+8WnyeQyWLksTkeay849n6XzFjBu/BgyOYsVq1dSUV3JoHHDOPtnZ2NbOZYtW85p3z6H1s4cnRkXR/zfdZe+tRHOO+cUaitj/PP2/7B4/kpMLcTYkUNwLVtF80VPn7ZSHHXiERx13BHqnlmzqonzz7mYrtY0g/rXkEqnyFqSwJ/hsP13p7amkkX1Ley0/7HsfsQphCt94v7pPyvLdwU+cd86LH3ivhW4+cR9K0ArwyFCJ/KWg6OrEkosXbmGJStWs2Z9A1ogxqjRY5R7gRCHyZOGKk/1d2YtZuDAGl6a/jLHHXMEyWSeRx55lgk7DFdkXXIgX5r+Fs3NLcoaMhZPMG7sMNY1tRGJxFlVv5zmls7/z951wMlVVt/z2vSZ7dlNNgkJARISCL2KQhCkKKCC0kRREQsiCDYUAQVFAQVEsYANQRARG91/6DV0EiMgNXWT7Tv1zWv/37lv3u4kJBKGAIt+T8Puzrx63vdmzr3fueeirX0iuqe04fHHn8Jee++F5c89h5mbTMZdDz2BTHMLRob7YWkatpu7JTJNTbh1/gPIpFOoFkZw0P574U833oq2rkkwjSbMmtWNhx9aAM+1kct0YMdtt8Rdd96NDxw8DwsWPImdt9sG2ZjQx7fdUvECXH/DP7DXvnvjpv+7E4jFpCjOshLY8527YOm/n8dmU7rRzgYxJCXjRrTO0cU28/TNZiEyaWro4++5JZRLfSgWBhEzs0hYBuKZNDQrhSAgkbSkAJn+15rhw/ds1hhLltFAHNT9k/gG0ogqLNalVEGa6gp7DG8zm3ZF/veh9ehoD7HwTLj/Wu3DK3PkYTuraL3QlWdsH+HvdTut/Tq63ijxr51L3bbUWwvB19gcLCL4IekdW2rdcWvtD/geCTJnTgYGBnDGGWcIgf3Zz36GBQsW4Etf+hJ23nlneZ0WhCTyn//852XdD33oQ/jEJz4hpJ2E/6tf/SomT56M733ve8jlcrJfEnCSfcGjdh7i7FQj2OIC5YeWitwPl+jvtYn2Sy+9JKT9wgsvRDablf1xHS4k4jwOiXe0iE1j7ZgRYY+CIl4vCTvPj69xWx6//jzlXoxFY2vhWDuKyyJuOl5xdLlYdM8/cNn5Z6It6cJxLPz15sfgw0AqYeBd79oGnz3xWPzj5v/DX/80H3NmzsJgqYylvStw4mkn4cD3vw+333ALfn/ZFQjyPjzbxQ577IJPn3Uaqqgi19yGsz59AnqeeR4t2QzSuSwKdhkDhWHsfeB+2PPde8BKJbF40bP46lfOxMBQBdVAw0C+BEI7Z9YmOPrD+2PP3bfDuWd/Dw8/ugqTOtoRNwzEpdbHxuTuSdhxp+0xdfZMzNlqc+l/YSTSOOWEr2LVSyvRkmIQ5EggQenjge/ZHRPbU6gUhvHc8iFsusM+2OP9xyKRa1UZ97fdt8L6T1gR98ZupiLuDeCmiHsDoG2ETTzPDVt1WxZKlSr0mAmHZAcBqqRPtCB0auRGq2VyAxZ5+dL222UGlLxMvNNpte6GX9I6iRrdUALEknr4RVojSRU3gK4x06+LfbCsV/LQljEQ1zRxo6E8hP7rGcmSh02HSGBJa+LczA9gc5e+hrKtIZdm2+8qTMNEMsaspSadDNkBkRr+hKGLFn7ccNrXcO9I3wbzNuLZOJwgEMvOYpUe9ybSlga7WEYuEYcl7j30qB4vV1kj7rzJJO5wxoi7U8Dq1S9g1crlMJAUu894MoHuqdORzHUgcOhNH4emszNkFZrOZlMcW8xo69B8yn7MsHFXmOCWwJOXLlnyUeK+Rn+qsF9VjeAJTutN0EuLTQ5CBJwxkELnkNpzu9CwJ8zghs3JxpY1uHcUHDCTzvHqMWvuy0wBnz2O17CIWvLx0qRnbeLOd8IGPlE2PyTMy5YtExLf3d0tzXx23XVXybb/+te/xrRp0/D0008LWR8aGsKBBx6Iiy++GKVSCb/5zW9wwQUX4KijjsIpp5wiRZUk1cViUbLZ3GeEEQl99Duf4UhuVS6X5Xy4fpQhj0g5/3755ZclKOBxSNy5bhR0rJ25Hx4eFhIfEfP6THxE9rktyXq0Lcl/9HsUXNTjs2YAFBF3gB85LnzE4GDhPfPx24vORmeOrlkp/O4Pd0sfhLbWNN6x+zY46mOH4rSTT8e7994LLz2/DH0jeex/6EH48MePghdU8cxTi3H+N7+LCclWJKw4tt5pOxxx6udR1Tz84de/wa2/vw5bzZghTjPFqo1Bu4jjTzoBk7fYFOXB5ZxEwmc/fSaGBgoSMBQqBawc6MEOO83FpZd8E3fcdgsSMHDe9y7DYMnAxM5JyKSSmDqxFWed8VU0tbegPDKCgaF+6YmRam7BeedfgvvvWYBpXW0IKkWZPZiz1Swc9+ljYQQF5PuWoJQfwsohBx2b74ad9j8KydYJSuP+Gj6Px/uqirg3docUcW8AN0XcGwBtY2ziuyKBIenWDBNuoIUe7iRCgYtYnIaDYaYzCPi1potnuONUYLAft2RTdWm+5NIPnp2Q2IhbM+C4zHayRVPY/IjkhOxFHGU8B5ZBS0ce3ocZM6A5VZgkMXzdY0Y1dEUhQWIzJjPOjBv9y9mUqQpWaLKXCaeM2ZgkHgvJAYvPpAGTwdcriFkxOLaLZOLtqHDnfWBzJcB2KWkK4DL1XCOcJI0MSJijpl0m8WKjlvERoTD8c4S0M+TTNEpe6Gfpira3VOqDXSkibmSlC2XFLsLxXLS1TUJbx5Sa2aUhWVK2kvf9KnRm2X0RmCBwNWh6mHkNE991shdhwrUMeU0fL+9HWfNQeyIdfkVaEYnmhYSHkQDrA+i5zVS/YZjwHFfa1Y9149WEuDNi4DlptekcaULGYLN2k9YmkZKl12xZh4EnsWHnTel4KzsZa4YTdfvkAGCmOSLOHOe33HKLyF/e8Y53CHk+9thj8cgjj+C8887DwQcfjGuuuUay3jxOR0cHbrrpJvn9mGOOkaw7M/N77703rrvuOvzzn/9Eb2+veJIzANh///3xt7/9TfbHfe2yyy7yXL/44ov44x//KCT7hBNOkGw+98sMO8+NUpjDDz9czueTn/wk3v3ud0uwwCBh9uzZEmDcfffdeOaZZ5BOpzF37lzZN8k9l5///Ody/KeeekqI+iGHHCJBxb333iuvMbiYOXOmbMPghAuPFQZUY4HNOom7x3kqkncNZlDFonv/gb/88kew88vQ1j4Fv7v6TpQcH81NKZz5zVPwz8WP4+mFizGlaxIGBvNomzgRJ595Ggp2HolUAkuXLMcvv3chupsmoFwsY/O5c3Dkl0/C4oVP4syvfBX77rgbTMdHsZyHn4jjg5/4CNqmdWOwbxWaUsDtN87HpRdfjVS8W5ILLyx9Fltvvym+fNpHMNC3FNVCBQmk8MOLfo3lwzHEYwm05lLYatZ0NDcl8fijC7Bq1RBmzZ6O7//wh3j6medx/KdPxoS2VsS0MDjZfLNN8O2zz8BIoQ89y56G7gyB01WrhwM0Td8Z2847DIm2LkXcN8Z36TjZhyLujd0IRdwbwE0R9wZA2xib1PzPaXnGrJ5L7/WYJV9w1K9SjsB/QtSlyZGJcpn60pjYN3o+nRp8JOIpOK4tjUBCIkXiQj1pSJboIsNGSGFekTzJkewii8W4DjsUkvDwGGXbFTcHcinHrQjBZ6dD+XqWaXtffJh97kn00wwqfOlKyEPHrEQ4vc9uouzqKpl6HfoariobA7w3ax8eqrYNM56QOoQqNcDsThsEiDGTy7+l0630RA/F3+Mi6U7a6Qj2DO6CoATPqcB3bHhuHoODK6Qjb0drt9xjL7CxunelkJhJ3VsgmW6jab0ElExrF4vD4C0kgSepsysVGU8M3ELZCWBZMaHc7DTLPgGc+WFmm4TbZcOaWjdLkkHXcaRVPAmkH7A7L7vuhk16EHhy7nTi4cwNd+65ATLZHJyqC03X5X441Sqq5Ypk+hlP8Vng+GcmuupU5b5lstlQUiIt6i0UC3nwkkzDQomt6WEhm22FbsbDjLuQ91Ciw6iAM2LRDY0IKQksSTm161/+8pdl/3fccQeOP/54Icxf+9rX8K1vfUtI9Xve8x7ceOONQtB5XiTc1LiT2F9yySXyHmUz73rXu4RUMwN+2mmnSaaeUpftt98el19+uejp+fOiiy7Ce9/7XjkGj83P7t13312CZi4k1ZTpnHnmmfjMZz4jxJs6fGb2P/7xj8uxGBhQlz9//nwh++eee67IezgzQPkP93HYYYdhm222kUDkhRdewLx58yRQeeihh4TE8/q23nrrNWYIoidy3cTdk4QEcw2GX8WTd9+KP//yIkxsZeIhh5//6jZUXA+tbTkcctC78dTj92NCaxtSsTQMK45jv3Ai4pk4jKSJeDyG5ctW4KqLfopNWruQL5Ywa4dtsM8Rh+HPf/sL7r3hFmw1aRM0J1NY3b8am+2wLeYdcoD0YBjOD6OjJYUTP3kihnp1uJU08oUy+kaW41dXnY9SZQlWrXoRKSOOpf9eic5Js3H13+/Dw48+ibmzt0C1PIhMysBAXw98V8ePL70ITW0d+MlPf4HfX3UDJk/qEKealkwMH/voEZg5azqK5QF4lT4E9qAQ92V9DhITt8GO7zkKidZORdzfrI/yN+E4irg3BrIi7g3gpoh7A6BtjE0CShCYMqQOJiQMlKiERXvMYgFujZBXq8xeJ0W+UKnQpzgxShBJSighCAkzs6Jhdj3MiAVijSaNnnTaT1ZhGcyUhoWK/CU/MhJm3Zg90w2R4kQkjFaGJO5cl0EEvZG5ns4CttHj1bKtGhXDzGSG769pVv42bevNLLU0wSKN0+DWOtESXbtaRcI0pTutY5cFVxHJjhPizmZbkkGWLu+DsCsFuNUSslkL5X5hkgAAIABJREFUhfxqBJ6P5paJks32vBIQ2FjZ0wvXszB52mzEEy3whHADvX090HUPvldFKk3iXpJZHpFpMegzDCHhlHHwH+UXzAK7riNBI5vfkJQyICUJJbnj7ySOka6a45X7Ajv1+lVkMmlUKlXY7GwVaOjsnIhisSy9BFLZLIYHBjAyUoDFplgag0dH9sexXCgUhPxOmjRp9BxJnHt6epBJpRGLJTEwOAJNi2FC1xQkEllgHcQ90vBHkhCeI6+PxJ3HIYHmwmw2SToz0pdddhnOOussPP/88/jOd74jhJkEmOSa+va2tjYh7H/5y1/Q3t6ObbfdVrLo999/P77yla9gp512En38pz71KQkOfvnLX6Krqwtf/OIXceutt0oQQKwpxbnnnnsEy6hAlfdj0aJF+OEPfyhSGRanEucvfOELmDJlipD9qCiVARgz9CTyH/vYx3DooYfiAx/4gJB2au+vvfZa/Pa3v8WvfvUrmTXg/eS9YgDBAliSdwYEkUZ+fYWpEvP7YeDGu2vBw5N33YQ//vwCNCermNA1HT/4yQ1wAx9z5szC0iVP4x07zkXSMrF65Sp89FOfwq7v2B15twwkLAnIBgeHceUPLsHcaZthycoezNl9F+x9+Adxxc9/hkfuuAc7z9gSgW1j0uRuLH75BXzoc59CV2cHqoGLVCKGQ957GGJoQ+CmUCiU0D+yAvscuAtO/don8cSj90P3fLTl2vHUoiU4/yd/QC7XiqZ0HMm4AxMVbLftHOy2227Ycced0ds7gG+e+R2pDxkYGEFLLoWWdAKdnc044fPHoeqMwK30ozy0Uoj7yiEfbnZz7PK+jyLTpoj7xvgqHS/7UMS9sTuhiHsDuCni3gBoG2WTMCsdOmaEWb6oxkt4txDrkMiE6gwS43DdcEqfUhjSyajALiLHYb5QZAGj63M97oti35rLiPzNwIF/1zTHowV/obPImGEfC/pCGYIEGvKTEUK0BqUG9eR8XLDX13+XGFzJfAOvmWrwENNQyT8qG5c27iK4lohrPFx7AI8zK8wg+wGGB5YiZgWImQysinCdEelsm05NgCcuGQ78oAzbrmLFigF0TpqBXGu3OMyMDBdhVytIxHUMD/fCND00N2dRrpSQqDmglCtlNOWaUCyVUMjnhdBxYet5Evd0pglDgyNwXAddnZ0oFIpIpZKha0oyiYH+fiHClXIFVoxuKgXEYhZSqQz6+wdhGjFk6cxStpFJ5xCLJ5DPj8BmF2FLl7oNmaUyTaRTYQAxPDIshJOEngGBFI0ODCCRiMvM0MDgMHQjgfYJk2EYcegic1oz415P3KMAg+f8zW9+U8g0depR4ejnPvc53Hnnnbj66qtFYz516lQhzMcddxze9773CTn/wQ9+IAT8s5/9rAQWTzzxhGS0KXehZObJJ5+UzDcJ/0c/+lEsWbJEttluu+3wzne+E3PmzMFVV10lWfuTTjpJSPcOO+wg5HmLLbaQoIiSmnPOOQfnn3++BAaU5nAmgPIbBg31xa98j4EG1z/iiCMkU7/jjjvKuZHMU2az5ZZbjhbJEkvugwEAZwaYdY/072sXrK7x8MksCovwA5iBi6fuuhn33XAVigMvoqt7M1x46Y0wkgm0trWgKRtDRyaGSn4Ye++5Jw478nA4vocSZ3uyaZndGxkp4tIzz8Zuc+biny88hx323RsHHvlh3PznP+PvV/0B0zKtaEmmYcQs5J0KlvaswJTNpmG/gw7GrB13xkeOOhaDvXl4dlgzsWT5cphpC9NndGCvvXbC9nO3QDpm4ZxzfoinX/TQ2pKD55RxyPveifcfPA+ZVExqWuxyFdlcG8477yI8/viLmLrJFFSrNia2N8MyfKzuXYEddtwK8961I1rTOoYH+lEMMhgxJ2GnA45GuqVjnAT6r/+jUu0BUMS9sVGgiHsDuCni3gBoG2mTiPquUWNX48L8mtOFNK5JxOntQd07ZSthVpULM9w1oa9U7PE9+oWHJDJU/db0qKP+LqShHrSAUphat08h8iSghhSL8UuNXNSQ43Af4eshRQ/3FwUV/wmS8UBlG7pl1GJHxH10CoF7ioIUznSEnF0WPdJ6N3S0jbiR9KoUbYIW+CgMr0Tc9GCy0BQVDPQtF6Lb1TkDGsmq5gBeGbQoXbmqH1Yyh67JW8D3DBQKtkhNYnEDVbsAwwoQtyzkiwWZZaAcpkKrwFitJkMLLRP5N72uRRaPUA7GbrqpFDPpZcRicdFgM3vc398vZD/MBjsyrinlSiZTIo+JHGiqVVey6slkWt4vl8pIJCyp8+C+qnYV8URY5Blm9JOS9Sex5e92pQzDon6ez4cBV7T6MSRS2VBOFonlZbSPueaEmviwEy6JOzXqEyZMEPIcubr84he/kEz3vvvuK/p0vkeNOrPnJMIk+M8++yyuv/560bMzu84sO11bSIA333xzycQzk8tiVhL0r3/965K9p2MNJTLf+MY3RJLDfbEAlm42xI7nMH36dMmyM1hiYPHjH/9YiDs16pTDkLhHWvQoS06ST+tIHoMZfF4Xz4U6+JNPPlky/ryXXCI3Gs5mcGFwQTlNZBkpnwV1rjj1g1lqI3hvSdx9B0/eeRPuu+H3MLxemPFm/Pw3d2Kk6iDXnMOUrjagPIJ37rITPvO1LwEDqzFcKSHd1ooCa3HMmARmPzztdGw2oQtLBvqx96EfxL7HfBiFZStwy7V/xgM33IZpXZNEHkVHGbHhXLECpUoFnz/7uyj6Ab59+jexqqcHppVAqeJi9UAJ1YC9F4Ddd52Lb535GXz962fiscf7kEmmRJZ1/Kfej33m7Yy4yd4ZmgSu6WQKFdvFN08/F4PDJbS0tSNhBOJoQ2lOPj+A7q4mnPiZj0pN08u9ZQxbXdjzA59Esql5Iz7zaldvNQKKuDd2BxRxbwA3RdwbAG0jbUL6EHG+iGRHuw6V6iFBDteqZdBHCTqJxTqIOwmHRtqxpgEj7ST5+mi2ONo35Q61bLkpZC8kNY5G7TNgavQQCYk7XydxD3P+4b6iRQoQ19KJjGXsNxJgb/JuwhmQsTsUBi/RK2PkffSejaMIhSOAhJca/FKhR4i7HtjQ9CpWr34ZlVIV3ZNnwTBYOOzAcQowDR29A4MoVFxsuvk2gE4pSwwaAwC5Nnq/Uz5kwq2S5FAXHlXranCrjhSxjgwPCzFPpVMyUjxXg0GveBbwUnrFglKSYUpjdANONfQID0dQOH6l0JRZcJl8qkWQYotIfs1C7ZqrDF9gkQHfk+JUTo5EY792bqNdo7gxJT6eFNeSwNtVX44tGfdXFKeGxbdrE3dmpilDIXGW8wsCka0ww07ZCv9deeWV2GqrrfDtb38bV1xxhWT8Sa4pd7nvvvtECsMZgZ/85CeSSefrlNJQY06bSTrXMKPOIlNm90nqL730UikqjeRJkWPMyMiIaOZnzZolenmeF/Xw3D+z6symc/8MjuodYpjxp96ex6WkhwSeZJzBCWU0/JvnxtkCHpP/+Dt1/gygon0RA+mMWrOqXPsx5f1mcoAFySYcPDH/Bsy/7nJ05Dzky8CV19+PJatK0jSuNZfAjM4OvG+/fTBvvz3RFNehpxJiJembFqx4EsWBYfz64ouRX7ES6Qkd2PtDh2L2rjtIfUVzKosnb7sDN1z3J7mOVDoNSzNgeqHjzq6HfhBHfO7TWPTwg7j6yqtw620PIdB1DObLcDwWPbNWR8f5550i215wwW/x9OLnpRXCZz51GHbefjYmd7Zj4ZNPoHf1Ehz8vgPEvcaMpfG73/0Bjz2+EG6xJDM/fAY830M5vxqfPPYIbDl7Czy9pBeFZDd2OfAo5Jpa3+RPNHW4NxIBRdwbQ1cR9wZwU8S9AdA2yiahVEYWccIYo+xrE+JQkUKFtXx71bZhFiuy+YuFEhjZF18nbQvXi4Q0Y6c8VnAX0lJfxDhcz6RPGuUhmoEqm/OI8R+bptCVxIdPwqaZQm+if+F+wwY/a8/7ijVgwCLGjQLYm74TqZVksCPXFhJKkcXUkJXQqk4iNJ4uk3c1oGUoAhTzK5DQXehiNFpB/8By2BUXEzo3F892zt5QCmBYGnoH+pEvV7D5ltvADxLQtLQUqkbFyULcAwNMxLKgWfTfET+u1TeM2Q46UlQdWklqUlDNglaxdaxZPEbr8mf4O58FP/SBH22+FPm+E+5wlkNqOmozRWF8FdVa1I30Gt8Pa4fDWSdeK2+Z/M33WXzNAIdByOgSNWCqzaisI+NOEkyNe3T+lLtQksIsNrPnJOuUlTBzTqLP9UjsKa8hcWfxKIk1CTYJJrXjN998s6xLeQ3JP7P2d911l0hgqFEncWcWnftilj3CjPeAGX/+pMPNqaeeKo43kcsM9egk96effrpk0bkdz5eZecphKOVhRp8SHxJ3ZuRZXEv7SgYedKXhOZKcM8ghQY8y7VFQU+8xv/aDykCJXUn5+WBqHp68/e+49ZqfoSlRhu3Hce3fH8RzSwuSJdCDAFtNnYiWdEyCzd123R5Tt9wCu+y6KzJdE2EXKpJx/+l3vosW08Dq/AiOOekLmLn7zigPD0OveojrBnpWrMTCRx7BPffeA9gOzLKDkaFhzJ63B4496bMojfRLoPfgQ0/gN7+9Hg8//gxslvBoGpJJHWed9QXsPW8vnHH2j3D9H29CLkVt/L4oDPeiZ1kfeleuwgH7b4VPHXc0HKcotReGkUDPyn48+sBDePC+hzCxawpKFRt2cRDvPWBP7DnvnVi8bDWGzQ5sv89haGmZMD5KYt70T9b/zgMq4t7YfVXEvQHcFHFvALSNsYkQwFr3yRrjC+lzlMkl2akdSAhIOGUtJEo4MrOfJGJcicSdrzPd6EpzHA21v9c61zVkOaPmeyHlNnwbGgsydQuORvcUkm5Ob9tSlOrrJhw9Jrl8ZtzJ2Gptcmqa79q5S3OeUK4jmvC1DbY3Bn5vwj7CmY6QlYYO+5QWyU0Ib4UEXFGNAkny+KHuXkCplSaBRmFoKWK6A9NgYGajr38ZqraLzs5ZMosi10evdt1Dz8AqUKwyfdPZ8II4NC0DDXQLkvJp8f6X38RNJ7QBlDstxckQW8nQy9+RrHjUsEesA2vwcF0JhWqBK/+OPMSjOaiwpxPJeLguM5eRFCMMeGszPGvUVoTeSVI4vY5bER4jvEsOHYFkJXq5h77uY5v8Z+JOcs0sOF1iok6mJJOUl9xwww046KCD8N3vfley7I899pjIUKIsPF1eKOWh3SK7qxKfqDMpC1WZbY/81//xj3+A2nmS5BNPPHE0w0/7SEpgmJWnZIda+Ntvv1308MyQP/7443Iu1Nkza077Ru6HBbPU0FPuQskOdewMIJg933PPPWV7nkMUjPD4zN4zi8+iWWb9KfGhDj6SDvFnZJUZbbf2oylFxxK969I59Z933YK7b7gC1ZElaGqfjN9cOx9PvzAsrjP86OhIJdDdlkJXRwaV8jCK5QI2nT0bu+45D+/eZz+krBh+ft75SOse8hUHx3zpy2ibMgHDhTximgG/UBZno0z3RCx8+BFcfsGFaNbjWPLc89jvmEPw4ROOwwilM8UiMrkOpFum4GtfOwe/ufI6dHS2IZHUcemlP8DgQB/uuPcp/Oynv0ZMCyWCHHtdTRo4HXnGNz6NuXM3Q1NzQuon9EBDMp7GpNYJmH/bXfjF5Vdim222x4plL+LkEz+JaZtOwQt9w3ihoGOX/Q9HR9ukWt3Sm/Bhpg7xhiOgiHtjECvi3gBuirg3ANpG2SS0vgvpR41O14iEkMI1Mtg1jbpwyLrMek3CInnxIMoY1goqtdD3eu1lbeIe0VCx6yN5k6JYHb5m1cQ5ATS/ltmnfEYz6gQFtUznmhYyY1WbcmVvX+JeR9FrSNZqAKJ4Su5XiHFofDmOiLtXhaGbIk8pDK2GoVcRo1xGq2BVz4uwqzYmT94COmdWXEfuu6/5WNbTg2S2CV2TZ8DxSCrTYWBYiyIlay2NkEL7RRK3+qx51BSontgZsn5I7iNizt8j4l4/Rsc6edY3PhrDdSwI5HFDNyUJBMSaMmwqFsZbQrNqXuPM8vMooT0mNfuaWSNiteZkEvOOnsjYUxLuM7xOCSA8T5xdOjs7hdBGmW+Sb8plSHYpd9lvv/1kO+rb6ZFOLT/J+iabbCJ6cZJvkmc6tHAfJMYk1STicqa6LoScmvZ///vf4uHObDhfp50jNezUt0d4UOpC+8jQmSf0faffPPdLos0aAGb6eTxmzWkjyfUjVxrODFCWQ8vI8PMn7JRKOQ1nAkj2WQh7wAEHiDUkl8hth+tRQrO+hXjzBvDMDK+Chffehifu/AsKfS/IOPvpr/+Cfz4/KLdni2ndQLEIv5JHLpdFc85EPJWAkUjC12O4+JKLoVkWfvydc1At5mH7Ho4/6WRM2myqtBmrFIow2d9C11Gybbz44ku45NzzMDHXjoRp4JRzvgwjSSceD65Dpy0dbROm4rwLfoJr//RXjBTy2HXX3XDhxd9BuWzj8iuux08vvUwagsU1YMa0ZszdchY+fOg+mDa1E5XSEFynjPbWVrgeEx0WUmYaC+59FFf97hpMmDQBc7beDEd89MNY+dKLGHINjFht2Havg9Hc3KWI+0b5Lh0fO1HEvbH7oIh7A7gp4t4AaBt9kzH5xfp3vabEJVxvfduta90NOel6Wl9PQjfk/NYVIowfIrshV//q66wd9ozX66s1TaKe3Atgl8twqwUgoFWji77eJXCrZUyaOBmBx+w4bT81jOQLGBwpY+KUGUg2d8L1TGg6O3SSCNFPnd7m1DlbMqtTv4ife61bQNSQaVROUZuviEhmJHOJsuj1VoLRfqIAICLmJPlRVj4kjeHRwhx7KMOp7yTKgGV01ErRZLg+Zwl4XmPZ+zBAWNcyek11AYr40ItNqj5a7BkR+8hqMXqP8pJoxoHb8H3+HQUB/BlZOUbb8DxIskmw6ZnODDwz4vSKryfH0T6iDqevePpGp+vWfOetmP0S11sd0n04pjl45PYb8MQdf0XGrMBMZHDlH2/ComcHpFHbFz77EWw/axqeXfwMHn1sIfr7VmHFylXINrdjz732wPFfOBGV4gh+efllMhZfXPIiTv3KlzBl1kxUhkfgVB3ErLj0BnjphZdx8QU/RNyIYXB1P4489hjsf/Be6Fm9rOZ0VEY8mcNvfnc1rrjiz8g1J+EFLn7z619Lv4wJXZNxwilnSGEvn6O9dpuDzx3/IaQsdgCw4ZOwtzSL5IZBcjLbgnSmHff/3/34+7V/Q2trE4p+AV849Xhkc0n0949g6aoC9Nbp2Hmf9yPTrBowvfpn7ttnDUXcG7tXirg3gJsi7g2ApjZRCIxrBEhZ2ZqeWXEDgeujWh5BuTwA06hgcGA5XKeC7s6JYXGqD+QLeazuH0Rr+yS0dk0BjBQCusFI9jIWCoaCUMjl1WwySTajrGs9qa6Hpt5nvP71iNRHpFkaJdWy9xGxrielkXtLtI8xAhqS9/r91FseSngb6d8pTqsj3RtyC6NtoxmEaPt6wh0R9yjbHWnQec50t4mKO9cIXGrNq6ICU/6MMGDxJ+0g6e5C2QzdYvbaa681NO31Gvd1BR5R0LH2Nb4VxF2CDF2Hw+7LmofH7rgB9990DTqbTOhWDFdceyNWrAowe/YkHPiePTF7ky605JrR0dmFFStW45l/P4c77rpH3Iu+/6MfSSfns0//OmzHxo477yD69/YJnaMOOEGg45+L/oVf/Ozn8B0fvSt7cPTRH8ERRxwOT8sjXxqC7xtoaurAZb/6LW6/8z78a/FL6OhowfV/vR7JhIWRkWE4voZb5j+Ic87+Lj548Dwc/4kj8M+nFqCjOQ6LDc4CDy25LJLxOBPyyLa149Zb7sDjdz8GK7CwfMUyfOxzx2Ln3bZGYaQPxZKHnkEXRss0bLvne5FumagaMG3IQ/g2WUcR98ZulCLuDeCmiHsDoKlNFALjGoEAfuDUiHatw61fgefk4Xl5FIt9CBwb2UwWlRK7mDoYGhpGOteEzu5pMOLsaEpf85g4yFBUQmmBKW4tocuRbmgiwxEJzFoEPsyoh2nxaE6CendxkSFVYQOvmvQkIpiRVaEQfceBWedQErrFRIUgYyRd9PV0qomy77X6g5AMe6Jz5jpVZmFjYc0HG4pFZD6S5azPxrD+FkeFoCTsJOIk5JG2O3J5qZfU8BwoIeFPkmz+HunhI/K/dhASzRjQIvJPf/qTyGw23XRTsZjkwu2jQCmEd7zO+Kz5cEgXZU2Hy161gYsn7roJD970B6RQkDG3ZNUgsq0TJUPNTHZXc1oqLyZ2TxG3n3SuBVYsjsF8Hu3tHRgcGsLqoQEkYjFMnT4NxUIhtP9MZWRsscN0MV+EHkvgpWefw/Ily/DhI49CuZiHoZfh+rb0KLArHvqHS9JgicXBBx10CGbMmBaOG99F/9AIXlreh2VLXsL++74LS196GoXBHsApIhlj/YgLyzCkhwG7A2txC7btIla18O9Fz6GzcwI2nTMNwyM90rHatoHl/S6M1unYYd/3I93SrYj7uP4cfW0np4j7a8Nr9PPvkUceWZeEt7G9/Y9spYj7/8iNVpf5P4QAqTULn2lnGDZh0sTK0WbvTwwP9mCov1e04eVihXQKra1taO3oghFPwfXYBJbadgOFUhmlQhktLc2oFMrwHBvNrc1iwUiyFHUsJalkgSabINk1iQgJLdehJpofzOx6yUWsH2tSDr7PhXIQdqO1TFO8yNl9lQsJPJ1oqo4j21NqQsLMQEBer/I1M5St1LLr7AYcdWnla7SnjDq2lsqO6M35L8pUvxoBjoh5NCPA84tIO887yn5HGfPBwUHBhTp4urewIHX16tVyjTyPiMBH+4vkNxGG1JPTbpJSG8pmeHxm3rl9ROAj6U1E5sfz4KarDN1apHMqfdzvuhkP3vwHWNUBJNJJmKkmZJo74LI7qkONuo3uSd3ivZ9tapGuts0tbbA9Fheb0mWVWXfiE7NCq0rakFZdD4lkSkh0LJaA7bpwKg7aWtswNDiEZDwGTWPTrzgGB4bR1jYBhQLHvy49CTjWKnYJyUQc5XIR2eZmDOTLMHUN+f4eWIaD1ctfkux5KmHApG2pH6A51ywzWxW3gkndE1HoycMKYkimkhgorIbnl6XrsF3WsKzfhzVhc+z83g8p4j6eB20D56aIewOg8VtKEffXDpwi7q8dM7WFQmB8IxBKZaT1ljRh4tmSyFfguUX09a3AYF+vdCaNxxJIZ5qRzrVBM1jMSgKsQzfYNImNd1y8+PyLaG7KCnFetmQpMtm0NLchOSZpikgwJR65XE4KGWmXSHJJMh8RX2aSI+Ie+YKTvNKikHaH0uQnncbK5ctHCzu5HvdTn72OMuUksmwAxcwmiW0ka+EXaE9Pj+yXC0mz/E6yb8TQ3tEhRaAk35G85T9pxXnePBaPy2ukows/N1lgyow4Czp5TB6D58FGSzw+fdxpq3jYYYdh8eLFkqnncUjouS73yyCG10eHGbrQ0GucxJ+FonSKYTEri0yPPPJIwZvBBo8dZd7Xd97jaXyGxD1s2WYFvjRgmn/t5ZjcYsKM0dndQDXQ0NqShu/kkTCBXCaLeDqDrondYiUZT6bF198mKU8moemmZMa9qiM2n/mRgnThZeE015OGYIYF3YwjPzgoQd2Eri4M96+WRk/VioNisSI2jnRICv36GSiG2fZEIiZ6eZvNu2IWnHIe+eE+DPWvRGGYVpLs4ptG4LpIJVMyI2AlNBRHBjEh14WgqqG3rw+JrBUWsNoVBF4CfeU44pNmY9t9P4BUq8q4j6dx+nrPRRH3xhBUxL0B3BRxbwA0tYlCYFwjwIy7mJ2PTsWH+U7KZ+iDXYDv2NLFVNfjYv8JughJTTNFCvzHLqZht9D88AhilolkIiHZ61AqE1o4Ui4jRZNa2L1UiKjjSGaZ75OUin/7eqQylMFYsZiQf5JzkmlmUikCYZZdZCxiHTk2mRplqpl9d50qUqmkZEu5L/4kwZUmQfG4nBeDB8lW08XP02HGLPk7Ir//KePOayDBjopM6YdOdxZeH2cSeO0k8NwHf6dTC7uaMiAYHh4WMs7rYQadWLzwwgsSNLAZE+0cSe5pGcl9cd+UxzCIoYPMQw89JLgxEGBwwHPhsd7znvdIgMBlfYW142d4hrM/nPNxA/oTBXjy9pC458wSWlqaEFgWMi2t8L0SLKMKE5Q3VZFtbsGECZ3QTAvtE7pQrjoYKZQwcdJkDI0UkE5n4FRKSFihPIY3mPeAhN1xPZFFpTJZcW7JF4syNprb2jDUPyCZetrZ2hUblhnKqGhsynFu2xUpxmbGvFy14VYrcozBgVXi/z4yNIDVPcsxedJEGVu6ZiAWTyCZMmCXhtCSbIHmmSjbzOY70vjMLhaRH/LQV00hN2N7bLvfh5Bpm6SkMuNnoL7uM1HEvTEIFXFvADdF3BsATW2iEBjnCJCERI4roeacxNdF4FXgesyUO+KEYZrMTNLKj3Qp0kzXu6yEXvCjixSmvkXLupxSwumEVy7rWJdZX88PC2rrde3r07hHAUJEkLkeiTOJNsn3pEmTJNPOfyTWlPeQgLOodIsttpAmTGzKdOGFF0rWnSSeMxHsZrp06VLsvPPOQuDnz5+PXXfdVTLsbMrEoILEfcGCBZK5598kpGzoxNmM7bbbTo4VzRasr2PpW3SX1jrs2sQdePL2G3HXdb+BUVmFjs52uLqOptY2+EEZrc1xFEeGJYDLNDWjia4tAdDS0gYrkcJwoShSrpaWdnFBasmlUB4ZkpmaocFhtLV3yOu5XLP0WaAtKHsa0DqUM0rpTBOqthN2gbXiMA0DpUIRjusgk0kJvtl0WoKtTC6Nkl1BfngQE7s60NuzHKWRITh2AUP9fVi+bLnMuNh2VQKHbMaEoTlIanFkEs2ouFUUS0MiDwpsByMjHnorSbRsuRu23f9rd8xdAAAgAElEQVQwZNpUcer4GKMb5ywUcW8MR0XcG8BNEfcGQFObKATGOQL1xJ2nGjrM+CgUhmBQ9u4H8F0fphGDFUuIznddvv/cdrTp1PpI8puExbqcUsL6zHq70lpzrPXwebrkrE3auYd1kd/oeFFhKWUpzL4/99xzQsApC+K+KG1hlp1knYSemXO+v2jRIuk6SlvHmTNnSmMkziyQwPM1dislQWXWnP7vXJfknKSRPwcGBuR4kRyG2zNYmDVrlmwX+eeP76w7Z37YFE46AMAIgIV33IR/XPMLZI0ydN1Ha1cXjEQC6bQBzynAMsNiXrvqykxFU0uTEPBUOotkKgPXD5BIpDE0PILWpixcl3UAgWTO+wcG0DlhIlwvLIil5l2aP7Gew67C9XS0tnXAsZmhh1ihyqyPEY4LHpcxn0ij+MxYJvIjg9B8F5YO2MURlAsjKOSHpYET14/Hw9oDPSihvSmDaskXm1XWXpQrw3CLwzAcD4URHy8PG5i6y37Y7sDDkGqhZ/+6rUjfpEdKHWYjIqCIe2NgKuLeAG6KuDcAmtpEITDOEaCuOOw6GjYpChcfVacsWUaRjbhsXmSKE8eaCeqx3PuaHQHewtr/OoeaeuhrNH3U0z1UUkf+7tH5Ege+HhawRku9RGZdcpl6T/nI9abeDafeorLecjJaNypajYi/kDtdF2JPWRFJPjO/JOGRHCci6ZGLTeQNz3W4DTPtEWGPjvlqxbVv7VANENSIO7v0Gr6PhXfejBuu+An00iq0dbQi0dwCPRZDNhtDOq4hnoijt7dP6heoOe+ePBnlSgXZbA5tbe0oFktIZ3IyY1Su0iWG1oyaFLOyJoOFoi3NrahUGfRYMCmZkjFvIF8oIZFMwzJ1ZDMZlIol+J4rXXTpPsTnwDRDr336J1HkE4uZ8J0q4FYx1NeLZEzHQH8vAs9DsVgQkr+qZxXSMSCmB0jHcvA9dhd24VQLqAz2IuYFKBd1PNfvYct9DsOOBx+OZFPbeoPlt/aeqaM3goAi7o2gpopTG0JNEfeGYFMbKQTGNQIk7iKVYbfSNVi5Jyl0raZjD7uPSt3mKLlf34Wtrz3XWwvEWPfajX0e9Q2Yot+pU2d2PtLj85iRVzt/ryfw4noSi402aoqkN1wn0sxHGnrWBvB97ity1OH+IjlMlFWndp9Z+6gwmOuOe+LuM+POeRETRhAS9z9ddiEyWgF6TEfF07DprFmwTA9xKwywpK4iYWFlz0pMmdKNCRM6pL6ia+IksV+0K1XE4kkUqEHXNSRicbhVFzHLwtDQCNraOpBOZeD5gRB3yqToeFSths2zUukkqpWKBLGUgpVLJXFWYjBbqdhwXR+51laUqhVpTlYtFzHQuwpN6QRWLl+ChElHpgJWLFsqMyLt7e0Y6luF4uAA2ps7UXU8DI8MoaujCSOrlgElG44dwwuDAbY/+BjscujRSGTD4mm1/HcgoIh7Y/dRZdwbwE0R9wZAU5soBMY5AiFxj9rSj/l9azW5i2h+pQlQPWGP/qj7WfMKDwtX31rf8HVLZdYj8VnP5MD6rmB95DfKfEdZbqIV2T7y9/oMedSkqT4jHjVWigh9vV99lL2PiL94kYtTDptnjfnjR57wfJ0Ev94Tvv68xueQrEllxPuFGXcPT911K6659HwkvGHqSzBn+x2Qt13E48yCx1Eq5NHU1IxlK1YgkbREUz6xs0O06F3dUzAwMISJXV2cMoKWSuPZFSuw/XbbY9lLS9GcbRKb0+effwGZbBb5YhlbbzMXueYmPPzwo9h7//3x0H33YHJ3F5qyqVAGJnXcOp5++jn09KzCzC1mYeqUKVi4+F+wmujR7sIuDmPmptMQVG089/QiDKxeiRyz/oaGUrkotpBOsYBMzMJgfx7ZXAuam5sw1L8c7kg/Sn0DAFJYkjex0wePxe6HfQTJbNP4vGXqrBpCQBH3hmBTdpCNwKaIeyOoqW0UAuMdgTVFLq/tbMOsZygv4bIuHe5bKJtZ42Le3GCiPgsfncbamfn6rPurNUyK1l3Xfrn/+n1FgcFru5dv9doBAreKQGfzKBMa7SDvmY+fff9MZPw8TM3DwR/8EC77/R+x+dwd8Pzz/8LR752HgYqHq/9+Gz7xiY/ALPagd+kzSGWaMWO7PfD1sy7E1085FqWXn0Kuqxvn/OQa/PD8c/DoggfR3UXdeIDW1nacc+738YHDDsPWc7eWTPx11/8Zw1ULk7s7sdXmXZg+qRma76FsA/Hmyfj8F76K8y+8BEuefxqzNpuMn/7ip2iavCVoWPPswsfw0x98G1f99o9Y8vy/8JHD9sfpZ/wARx11JKjE+evf/oED3r0nbv7b33D40Udh/l0PY8tZM7D1Vlvg0VtvACpl2I6GFWUD+xz9Gbzj/UcgkWteX1nJW33T1PEbQEAR9wZAUz7ujYGmiHtjuKmtFAIKAYWAQuDVEfB96s5p62mIRekT996OS845HVqhB9m4jnn7vAd//sfd0HJdaG9vwbyZnShZWZx3+VXYd593YpOMg6GlT2OzWVvj+SEN/3pxGfbaeRa6sQpIZHHVTQ/i85/7FF5+7hl0tbdieGQYc7ffHl/66mk47rhPYlJ3V802NIsPHPMNnP2tU7DN5m14btF9mDZlMnQrBz/eifn3LcI1116PX/zshzC8YVxz7R+wvKCjf6CKzuYUvnHysTj1i2dhWncHDj/kXbjoJ9di+rRNsc3cWbjiyr9gm9kz0dmaxor+YUzdbCZuu+12zJ0xFa2Wi/7ly1BxfPS7MRxy3EnY45DDEVfE/dUHz9toDUXcG7tZSirTAG6KuDcAmtpEIaAQUAgoBDYIgVC2FUqaKJh54p7bcdG3vwaM9CBl+XjfQQdh/gOPYeYOu+PuO+/AB3bZEki34YZ7FuDggw+EP/gyVjy3GE1tE1CKd6ClcxIW3HUTjt5nG4yUq7jlgcXYfedt4NtFdE+cgBUrlmHuNtvi7HPPx0eOOQqtrU3wXBtdEyfjhFO/j1NP+Ry6WyxUB1fA42yAkYSVm4TnVgzgtlvvxlazpuKg/ffGFb+/EqnuGRgeqWJ49TJ84siD8c9FL+LZxU9htx1n4c83PIAtZs1BLpfGQw//C9vPmYOXn3saq4eL2G7X3bDHHu/EFb+4HM1aCW4xj3y5in7PxJGf/wreeciHERPirlxlNmgQvQ1WUsS9sZukiHsDuCni3gBoahOFgEJAIaAQ2CAERMtPS0b54eHJe27HD878Esq9L6MjG0dXZwemz56LEU9HJp7A8sfuw5RNt0Bz9wz0D/Qi7hWx+IlH0T1tBtxEC8x4Ch1ZA/HKCgzm85g+a2v09axESzYuji99fatEKpNubpImWPSG6e5iwaiD3ITpKJXLWP3yc5jUksPypS+jvbMLZcTg6BY830DcMJA0dZTKJeiZJphWGiODvXBL/SiVAzQ1ZbB8yb/RNnFL3HjLnWhpbce0GVvjsYcWoDg8CCOVxcRNpqO5pRmlgV6seHYxdL+KfMnGiJbAcV85A3u9/whY2Vyt4dkGwahWGucIKOLe2A1SxL0B3BRxbwA0tYlCQCGgEFAIbBACnjQAI3FnB10fi+6Zj++ffirMUi+CyjBymRQ0Ft1qcaQTCTS5ZTge0Nw5GctXLEfS1FCtOBgYLiLX2Q3Xc9DZlkHSG5Fst26amNCche5XUMoPor29Vch5Mp2CETNRKoygrTUnvupeOodiqQy9WoXp+VLg6us64rksAtOEBx2DfUOwYKK5qQWFYkEaNjXl0uhduRyOr4ldZP/gECpIYfmqEQznK3hxaS98V0PMSkCLxdEzMIQpm3RDd8rQ7RLSloGC7WI4MPH5b3wLe3/wCFjMuCsf9w0aQ2+HlRRxb+wuKeLeAG6KuDcAmtpEIaAQUAgoBDYIAXY+FUMijy2YPCy+73ace9oX4Q6uRNbypEBVN0zo8SRipoVs4IuvfSyVga8ZGBoaBjQTPauHkcplkUmn0NKchOEWkU0a6GjKIXBKaMnEYWoufNdFIpWAG3hC1pnqN3UfyVQcg74tXVoLfSOI66Y40IwUhtHa1QqfVu+6geHBMryKhnQ8Cd13YZfLUtxK/3if6xfLIq/51wvLkWufgudeWoWRkoe+/jxgxFDxdcQzSfT0rMbUiS3QXRuZRBwV10NRs/DFM7+NfQ89Epa4yiipzAYNorfBSoq4N3aTFHFvADdF3BsATW2iEFAIKAQUAhuEAP2HXBcw4AoRXnTv7fje6V9GpXcpmmIaLOa5dR1mzIIu3VV9ZNIZLF+xAp3dk7Fs+WrYng7X17B0eRHTp2bhexVsv90clAZWoSMVR0IPRCrj2nnxdE9kkijbFfHLTyRMOOUSYnED8eY4qq4DzTXgVQK4votMLonh4iByzVlobGjgxzDcX4apWYjrQOC5sKsObDeQYMB2NYzYAfrzFQwUXcBswiNPvSCZ+3zZg6Np0OMsxPWQjFlA1UUmZcHXDVRMC2edfyH2PuQDiKVzirhv0Ah6e6ykiHtj90kR9wZwU8S9AdDUJgoBhYBCQCGwQQhQkcKMu84i1aqNZxbcj2+f9iUM9yxFxvBhBC4sDYjFLPHFp7TG0Nnl1kfJdmA7wKq+MJttV3wYuoemXAypVBxNMQNd2Tjam7LQvTLSSUssJ002vjIN2Z9p6NB8F6bBrLsucnt4BlzbF5cbgyRbc8RTXpcsfBzVcoBS2YGhB7BMAzYbKpUq4unuwMCqfAVuYODFlf1wtRSG8mWs6CuiGABSimvo8AMfCUtHTGdeXYMRi6FqmPjOhRdhvw8cikQmq4j7Bo2gt8dKirg3dp8UcW8AN0XcGwBNbaIQUAgoBBQCG4SA9DgKAgSODcPz8OKip/CFTx+H4tAAzMCB4TmSdY9ZJkzThBOE3WizLAJduRqJVAYrVw/DD3TEEikURgpozsVRKlbR1RZHUvfQ3daCllwCScMQ0mxaFqxEAoZuSFfgVMKCEXgwvQrS8Rh8X4PjuNA1A57vSCfVUqkknVQBE7oew3ChgIrPTrlx2FUPg4UC7FIVrm6gt1hCxfbRO1zGykEbuqFhuOKhElCYE4hZDJuWmboGinWScQuODxRdF1dddx322m8/WImkOO2o5b8DAUXcG7uPirg3gJsi7g2ApjZRCCgEFAIKgQ1CwPVDKQybHTEbvvKFF/D9s8/G8qVLpDkTXOaww6w7O5H6mgXbcWBYupBp6t+rToBVfSPQzVjYlIqE2giQiFlIJ01k4gYmtDTBJDk3TFixOKxEGoH4x/vIJOMi00n4PpIJC17gw/E8yci7VReJRBLVclUCB+lkm4ijVK1ioJiHBh1U51dcH3bRQcmxUfQ9VApV2AjQXyrBdwOR8xSrnswUjBJ3dtcV+U2on8+2tODHP/8Ztt1xR2gmgwS1/LcgoIh7Y3dSEfcGcFPEvQHQ1CYKAYWAQkAhsEEIVH1Xst4Gs+7VKmgP2bNiJQb7B+E4jhSsGtS5e8yA04EmDjcIUGUm3jLgulUk4ilUXQ2BRgmMCd+xkbAClO0yNMuC5lSg+w4Shi6Zbsf1oRkxsDA2oHRG16B7HnSSfi2Ap7nwNHYGptsNs+JxwCNF1+EGNmth4WvMnevQAgOaYYjrjGbrKLtVmE1xwAZcZtbj4Tqep0MzLATwJFgQeZAPxI0YSsUKUqksrGQck6dPlcDAUMR9g8bP22UlRdwbu1OKuDeAmyLuDYCmNlEIKAQUAgqBDULAhQffp3uMRhm5aEg8P4BuWEKwmWXXSaI9h28i8HRpTBSI5ITaE+a7KQe3AN1ExfYQjxuwRwYRy2Ykq24wpR24gOtBogQyb+4jCKUozPaDx9ZNBJ4tevbA8OHxvHSSdkPIt6xjBggCBxrPyef2pgQDvh7A8HgOgGe6sPM2ktk0CtUCUoksEPA6atKXwJNusbI/X4PvEAPK9A15SeM1i9heLf8tCPwvEPeFCxfi97///Ua9ZYq4NwCnIu4NgKY2UQgoBBQCCoENQoBEVcizUNZoWRdprb0vP2rva9E2TJ1zD1poLSnL2J7D3yW9Hm47SqDr9hPtd3SfzLjXjhWsZcs4ug53W7+PNfcX7lIigvWr1eWc6q9pg2BTK73NEPhfIO68JaeddtpGvTOKuDcA59uBuDPC29hRXgNQveomN9xww6uuo1ZQCCgEFAIKAYXAeEFAfb9unDvxv0LcNw5aY3tRxL0BRN8OxJ3TM/w33pejjjpqvJ+iOj+FgEJAIaAQUAiMIqC+XzfOYFDEvTEcFXFvALe3A3Fv4LLUJgoBhYBCQCGgEFAIKATeFAQUcW8MZkXcG8BNEfcGQFObKAQUAgoBhYBCQCGgEKghoIh7Y0NBEfcGcFPEvQHQ1CYKAYWAQkAhoBBQCCgEFHF/XWNAEfcG4FPEvQHQ1CYKAYWAQkAhoBBQCCgEFHF/XWNAEfcG4FPEvQHQ1CYKAYWAQkAhoBBQCCgEFHF/XWNAEfcG4FPEvQHQ1CYKAYWAQkAhoBBQCCgEFHF/XWNAEfcG4FPEvQHQ1CYKAYWAQkAhoBBQCCgEFHF/XWNAEfcG4FPEvQHQ1CYKAYWAQkAhoBBQCCgEFHF/XWNAEfcG4FPEvQHQxv0mbP3tI4COINCg6ezKHSDQNPBVzSuHDboDE4AP6Aag8/faslaH7vpG5VxjXc3Kxz0k6gTfIATqWtLLmIoOw1HCccgf7ug489n+XQYkxyY702sYbTY/uqsAvu/LsJQdaGGrexl5bD8v/+fKbFnP19dqV/8GXWmjuw1qLe95rWsv4VUEcjW8Cnku6x7D6PUQRz7DIRJy7bX9yXNee1VQWuv5bfS81XYKAYXAhiOg7CA3HKv6NRVxbwA3RdwbAG3cb+IDgQc/MOB7esjLEcDXNThwYbkj0Kse/KoJ1yki1tKGwEjKVY3SBmFVdTyMvEG4mAZdMfc3fwSMIzIWUWYSTYaC4eIDPt8hq+bACcl0AB+eXYJhmRIg+hI86rCrVcTjCfgex2qAmGHIYPNcD4ZOYs/9+nBcG9A5hi1ominBqKbxvz60wAM0snth+ONqGY1faqR9lIzXPTuaHwgenhbACwJYAaDLY6eBD5k8bzUiLmScxJ0g6X4tcOHjyBCGaIR3g9vrEs/wF/WgvmJQrJ2FeLVRoyB8NYTU+zUEFHFvbCgo4t4Aboq4NwDaON8kEELjw/cN+L4OQw+Ju3zJBy70fA/swTweW7AIixc/jk+cciqQbZEvfiEN8F55haPZwvGd3Rznt6bx0xvHxJ0ZZSHwo+eoC3En8RTeqnFEkXLqcD0fFddFMh6D6/uIc3B6HvTAh6EH8CWjbgC+Dz+ohsl5+Y8BXwi6Dl2yzuE245641wXDxInZdS7MrGuej4DkWufTGZL20TioljYXbKPMem3CgStFcxBR6ETirnN2bTTjroh74w+b2lIh8NoRUMT9tWMmiYlHHnnktcbTjR3pv2grRdz/i25m7VJI3H2Sb5HCkOgwARdOyAdOFS89dBdWLn4aViyHlauX4ZDjj4efa4cmGbqIKNQY15j2oTahr0GTLKdKRb2pI6f+k+0thr4+4y5MU4j7WGQRyVr4igcNJc+HX5PGMJnuuAAT7LofIG5qCFwPlh4Sd8f14OkxkXqZ5P+BU8tAG5Jxl/Es/40y7vxrHGfc13pS6uMv33HDp4gBNQMYyaqHM1s6Ix7JsDNxHpJ7TwKgSBzEMGZsSizMvAfQSN5H9TVv6ghVB1MI/E8joIh7Y7dfEfcGcFPEvQHQxvkmJO78nwZTMp+iPPDCLHyxrxePXPs7bLf1NtCTTXjwnv/DPsd8HH5LJ3STuuMacRdGUZua589Ipyua+ZBAqeVNRGCcEvdRqUwoWJdxwsw6OSUVG6SmNgDbA0byNhY89CgWPrVQxtYO226N7bbZGt0dOdHBc1++ZqHkA3Em4t0qTC1A3LBktiikrKEmPiTuzLiHf423ZY0M0toadylB8cNTlygoQCCxR0jOHQBxJsxF3x9eGWtV+DrfZ15dBELROrWDRdIaWeMtDu7G2/1Q56MQeKMRUMS9MYQVcW8AN0XcGwBtnG9C4h7UEXf58mfmkqk4p4rbL7kA79h5VzixFO6afyMO/MSnoXVsIhpkydpJIi/M9kWlcxEPCKlTKFlQy/8mAmvGEJHGvUYwwzkbEXOExB1Y9PxSzL/jbjzw4EMoFctoyjWhUirBrpQxoaMVBx64P/Z61+7IZVMoVAMM5gtY9vJS5Pt7sPWWm2GT7u5QWhJWq45b4l4va4lGRphEj+YgmDL34bseHK+KqmcjqVswfMDls2maCCwTJc1HygUs35MiXQmadR2+GYMnUxWSa4dVI+9RjS4LV7msqwj2f3OkqqtWCLx5CCji3hjWirg3gJsi7g2ANu43CYtTAVMydSJ60UihXGiVMv523jl474H7Y0S38MBdt+LAYz+NoHkKAk2HF1BbHEA3Qt1tSNgDmZaXPUlGXkllxv0Q2IgnWE9IbdtGLB4PCWItsBsjqRqq1SrMWByVqgvdMvHwI4/i8it+jy1nb4Xddt0RUzaZKpp11rGuWrUa/3f7Pbj51lux/wEH4OOfOBJ//tt83HPvgxjqX4UzvnwS5s7cFEnThGEwixyO5fEqlVmXe0woK5KSWrAYVWh81cG/Fi1CMd+HKZlmGBUXQSoB19Bg5DJwUxZGnl+K1lhCnkfPcxFYMei5HCZuNgNV8njDEqmRxShb9DO+zEpQ7jb23G7EQfDfsqvXKqZVMxf/LXf+Db8ORdwbg1gR9wZwU8S9AdDG/SYk7vxniHzBF0WBB1+rQrdt3HT+uXj3PnuhmEzigbtvw4GHH4ugbSoCzZBiOZE6SPkfqX9I2EPiHk7rK7eKcT8ANuoJijUjCyiDAK7rwrSY630lca+6LgzdQrFqI55IYOE/F+PiH12CU774JczYdBpMy4BHiYiho+L4oIjddoA77luAH/345zj6mI/DdlxcdtnlmLXpJjjxk0djjx1nw4yGXE3SzXHIUtUwpx/+NR6WiLjXZ735uIQSlgAGf/FdBLaLhQseRKo8gg5XQ5Nvwo6ZsC0D2c02wWAlD3dJL+KlSmj/aGhw4nEkp0xBr13GxC1mQk8k5RG3ND004OHTSk2cIu7/eSgo4j4eHpX/ynNQxL2x26qIewO4KeLeAGjjfpMacQelL5p8wYfE3YXmVHHLBd/FvL33RKUpi4fvnI99DzsSWsskuIEm9nTi/W5Yoh8mXafbBfW0UfGc8CSViRr3o2BjnSCJO7PdjuPAsqxwRkavdxwPj1Sp2jBME16goW9wSAj4AQfsj+3mbiWhoOM68j6zwgwKS44HXzdRDQJcfd3NuO7PN+LEL56M315xDZ5d+Ci+efIJ+OD+85CNc5uaXESGXhhaUuc+nnzcI8cYKlYiuUpE3Enq5bFxXfhVF8sXPomVd85H4ZGFaPJM9BG7lhzmvvudiG82GUMLFqH3ycVSZO5rPtyWZmyxz96wpk5G84wZsA0TeiwhmXwG14E85GHGXcXW/2HkK+K+sT4W1H7WQkAR98aGhCLuDeCmiHsDoI37TUIPbE8s+XRokowjrSBxt3HrBedi3j7zMByP4+F/3Iz3fvgooL0LgU6vbCPMEJrxMIMn1KDmeEFGwKn5qE5wHODwWr+H35pTfqV4IdQ9v/7o5/XvYf2IRBlk/iRRJ4EPGyOJR+NYo5/aLlw/wHA+L7T6F7/8JfbZ593YYouZSMdNcYiR4lPqtkWKRcKuwWGvAR0YyNs457yLUawGmDlnWzx63x342QVnoSOVgO46MM1Q4+7xuDXd+NoNi96aezt21P9E3DnTIDMHnidSmZceuB8r/vpHlO5/At1WDssLwxjWfLTOmYF3HX8sBu94CC/f9QAszlLoPuzmZuibb4qdP3gIis1NSHRPhpZMCZYmq1yFrYfzIBxZb2cLd2kSt9az8XqelzW3DZ/F+udGqnlqwVb9k7qumoW3eoyp449fBP4XiHu5XN7oN0AR9wYgVcS9AdDG/SbM03lwJeOuw/QCsdrTfBewK7jpe9/B3vvtjVI6g4X/dyv2/OChcAINQ4NDiGdzSHVOhJFMhUVwJjPvYTFq6Ncd2teNl+XtQdzfOLTeyDsREReRx5hhZ90lS5ZgEotFDf0VxJ3ckQT1kcefRO/AAPbca09YpgVTmjPR1tGHZdDWMdRhe54Pl3lzw4Tt+ShUHHzscyfj8GOPx/SJHdhx825kNGaUuVat2ZAUUNe07nVx5BuH8IbveV3EnTMLYT8kdiz2QrlMxcaiW2/Eqj9djfztDyBb8DDgu6imk6h25DD34H2waQl48q+3IpYwQw/8jjYUuzqx5X77YuI7dkN80xko6wasOLPuod1rFFG/3Yn7eHqm38jna8NHllrz7YDA/wJxX758OTY2eVfEvYHRrYh7A6C9xZuskb9dh00g27y48r+wq6Tlkrjzy90FqlXceu452HOfefCamrDgj1djztxtsapYREXX4BoGXCuJ2dtuh7ZNpgIWM++m+HCH/hik8KGrxRu/vPLi6hU79e9Gr/OcQkPCWlatBlaE2dqTBWHx4LqXyBEkEoWMGRK+cn05lwDwa82G+CdREnkECW3NHlFerxHO6NhRRjCsLAibFnE/9ZnC+iLHyACx3unn9d6L+kLkcF/R3gO4jlNrEqTjjjvuxO7v2B3JRGzNMcBr9Hzki0Xc98CD2PUdeyCdTkoimNl22jpKuTNlN+wY6ntSpKqZJhxaSNKnPAAu+8OfsPClHnzj1BPQZBjIaQEMn0aI1Hqz82qobuci6pk3ZyBuELzrI+7simow2GVXWO6pUsUTf/8rnv7Vj+A+8DhayxqGaNVqGShkLGy+x06Yqaex+Na7YFkaRsolZKZMASZ1o3O3XbDdEYfDmL4JnFQaMDibEc1+cDYsdHsau3v1d3PsiamF4Gusu0EX+SasJEFdrZxG7nNdroDPKseJPGFQLR8AACAASURBVEe0t6+dz5gLVjhHGC3Rs13/3Ms+6tx+ovX5evTZsS6T0fp9rDnswqcn+gwa89sKi/nDRMfYFtFdGEdD9024q//9h1DEvbF7rIh7A7gp4t4AaG/BJgG9nukwEXZTCgUszOLVsVdq08U/W/PhBK5IXwwS97IHWKRNHvRqGTdecAH2239/IBng2tNPRNuUGXjXZ05FMhuDF09g+YpBLH3iGex4wN6Id7QCSIvkRpwrdB77jSwGHKPgPN8wUOC5U6pBP3BPLPNscsCAxXlh8R+pXSUAbDdA0tIQCwB6n3CbsHNn+HuabnrS1Ca0KizZDsy4JWTA80fr+8SUp8p1dMDwaiTBBxIaENeActlFLGXCd3wYMR2uC5gGMBQAgwEQ04CsD7QQqgowYgJlE2L918J9cvJDB4o8rrSpD9AU16B74blWdIifOb/zkwAKDuCZQKzm8Z3mvjw2LhobjHKPassrFejrH7RRAEFKzAsXGlJzDgo4S+N7CAwLQ7aPX135R3z0yMPQnqbWHXhowcPo7JyAaZMni/PLs888i3Qmjdb2CTATCTgeu6NG3us1HiPMMpDaC+khxALqmvvKs8t6cPIZ38FlP/mBuKqkWW/pudB1dv7lP7OmcA8DIqFE44QBrRFmiqwsDMBq4Rh0uchAMu4PXHstnvrdZag++AhaHR+DvgvfTMCJxTBl5gxM0IC+p5+RrrJlPnGZFDKTuuBvOgP7nHQy0jvsBKTScB0PZoxBjwPXd5GwYvBtH7ppoeJ4MOKcKfEBz4Eh3vGc4dBh14ikqZljxb9vwefaKw/pw/ZcVPUYhhkvGoDlAmkOfA0YcuVxkt85NtK0xdQgnwcVTxw1xQOfwWFgaOLAw88GPhkmn++aRWmJvQWM2msVIJkASkH4mZACkNHD/RYZZGqaPHdwfaT4wDHQ9ByY0iCDNQXsmUEZlyGfT7rvIWkaso4ElvLZaYbBby2Il8BDlQqNixG3sU5CEffGkFTEvQHcFHFvALS3YhO2Sw8CeDW2QmLGzK3okGvZXJ36dH5hUYts+KhQVwsT8WoALcYvHBtB/v/Zew/4uM4q/f87vap3yaq2JFuS5d4dlziOUzchJIGEENrClrAElmUXlg67mx811CRAIBBIhZAA6XZixyVxkW1Z7rYsS7Jk9TqaXu7/c947Y5uQgD1/i4TdGX/0scrcdu77zn3OeZ/zPIM88917WH3ZldhdNh765Ie48v1/j3P6bLp2bKRw6XIyaudw9OmXyJpaRMGsmWDI1JGuWNILbSFOnZmcMCSAe0wY0eoQUjsX/yivP4TV6eRk7zDb9+6nf2iQbHsGixbPx12Yxffvf5CMrDR8nnFqy6axcuFCgl4/e/Y10z3QR1lJMSsXzSbN5WLH7halYLJw0Rx5HvPsCxsYGRlRIDUvr4A1q5ex/UArTYcOYwqO4rY7ee/Nt5JtE9CtMeb18PzGJq655hK8YSPbd59k+tQSntn8EsPhCWwmEwuqq1k1u5FTbf28sncnrf3dzG+cw+o5DbjsTl47eJyDRw+hRSLU1daxeGEdwUCU7TuaOdXTSdRgZtklS4li5rmXN2E0GrBEA6y7ZDENlVOwKrUfHS6qerbILJ7tSjjv26NXOGVfAtLj2YJyKRVUHcEQixIxmOkLwF3fuY9//+cPUJZhZ8euJl7a+DL/8A//RJrbpdKrk20nKCkuweZwEVEKJwYlWZhYTYifrH5u5/gFqGqnpjEaivCN+35KpsPNv3z4vSppkYxKVoxi0qwhlU2DCaNSaIljorcrcBfILImHah6Nw/qYhsEf4tXHHqXpgR8RPXAQezBANNPNiCeIw5ZGWVERhTYTXYf267z+zCzCoQDpbhfewiKu+bfPkLVgMbHMLLBZMJhiRGNhfD4vLocLY8xILGpgwu/FmZ1GWAur8WgK66scUbORkMGgemCsBqHS6QD57fHSlATmsQEfjz+/hWjUT7pmprKokEXL5/Grp19jyO/BZImQa3Nx8zUrGB4Yo2lvC97AKDGMXLJsNcVFGfz4vl+wYPFCZs+dwdCol1c27mXtqkU8/sRviVhjDIU1FtY3MDUrm61btjAUDqHZrTRWFnPF8pW0tfZwsOM4a9Ysx2E2cmDvIeprK1RhQBx/TfJ5G40plaVgEIYmvDgynFiNRuyIs60I9EcwSjYhzsFqhsS1kOLFl7fJ0H173Pq/8bNIAffkbmAKuCcRtxRwTyJob8EmCs4q8C6PJqms6x/5sjwvVT2hDyjJxqhUg6KKlh426CKO5nAIUyRA2DvE8Z2b6D/cxpLV1xKLmNh873dZd8N1bNq6id3PPkHj1ddw6cf/g+GDrQyGxqhbvRLMOWhmIzEpGWox9cCaPAm+c4G7DnYUfSQmwNTEsMfPMxs2sWzVMhxp6QQHfbQe76FyVjmPPPMiN737KswG2LXlBKW52Rxsbubqa5dhd1rp7RnAbjXjcGby7IbNFJaUUFtTTprbwuaN27ji0mUqOTp6/CS9/eOEXRlUzCgm12HDYQC7BmkKRhto7RxgW3MrxZUlFE0tZ/PO06xaXMKePftZumwm4ZhGmsFAYCTI1q17Wb5yDukZNvqHxnBbbHj9RlraT7J8TjXOWJRduw8oatLAWBCbKcKcmjL8E146+/3EMiz0D48wq7YCOxoOTcNGSFXczUZRXImvSJyB8SLjef7CPwlKkIB0SVzU2Iq74xpk6UGLEdSM9Hoj3PHvX+Brn/44U1zw0KOP4w34ueOOj2Gz2wj6/Xg8HvJy8zCpim9YgZoEaD8DUs7hCpz15pVitEbAYGTDa01855t386uf3EdhVhpmGfdCrZHcU1UwTRhE+Uhy1reRD9ifVNz/DHDf/uij7P35/QztfI3cNAcli+Zw7GQ3PR39TC8to9Ri5PTRI2TmZJPX2MDE0DCjnafw5xfwd5/4NyxTawjm5WIvzsOZ4abz8FH8Hi+FU8pwZmQy1n2akZFBymZOB4cVqzSbh6Mq6RY5TqkRSyVZ0bZi0iz89oCQMh4CEY1RjPzst+t51zvX4o7Clg1NNMyfztNb9nP1DUvU4D6w4yRpLifdnZ2sXDydzKw0eofHaD48yoz6UtY/u576qgrmzq3hyMkhjnQMsWTeVPbtbWbFZfPxaCDriZky5DWNzQcOMaW2ijynAy0ET/1uE2U1lRQU5DCl0E3LrhYap1eR5jBhNIhzr8w9q0qovRNRdh08RtWMCnLSHGplTr7USodkRSpJTQxWfanpYjSnvwWPotQh3yQCKeCe3NBIAfck4pYC7kkE7S3YJEFnkJX2hDSjgHZZDpaX4vsqK/V4MTMcwSCNbaEAJr+X8WPHePWl57BnWli27kosWZUMHT/Nq7/6MddeuZbnf/4A/kPNpM+ezYr/+AwTHh8d3SeYffVVYM5VVbqoQZrrhDYisHCyENMZGCkpSbyWLMY+UcwWGz2Dwxw92UXd7Eah9+KMQnNzO8acbJ7etof9rR1oZjMrFtawcsFs2g+f4NJF01XV1mwTigAcbPXgDZkIG8YpKckly2nmaPNxFs2t1gvCBvjZg3+gqHEOv37xVezRQcpz3Xz0A++hyCzV4xjDEwG2H2wjEHPgzC/jZM8Iq5cUct8PHmIiPIY/GOH6y1Yxc2oDO/fs4/LL5/DMcxvZd/AoV65apyqr5gwTtcVZZJo0Bod9NB07TXZhEVMKbRQ6LIRknd9qoLlrlAce/Q0+7zBZdjPvv/kGZlVVYFNV8gQv/lzgJUoj5w8LzgL3sM5Bl0TAEJd91EQK0qhoSF2eELd88A6+/6VPoQ218eyzz5Odl89N77qFkill+AIBrFY7FrOZWFSqwFEFCEXbPZGAvX7qSDKq65wLZUgjaDDSO+7nA7e/n0/e8U9ctmI5dpMRs0mnJMh79RUfXdT97UKTUePmnIvTzZbevOIuwH3Xj+8hfGA/GQYjnRE/QbMdzWijMC+HMpeNkROtmCJRNFc6UX9Acf2Dhflc/p73M2qxYa6uoGDeTGJWM+PHu5gY9FBQUYEh3YXVO05neyvVixfgmFJMxGTGYrJjignxTH9JLGV1Tr6MZr1p+K1+RdAYDgXwGR18695H6RvqI9NmZ82SWSxePId7fvUCza3duDNsLKor48plyzh+uItLL6lWFDOhuuzd78edbmF/cxO56Q5mzZnKxm2HcWROoWZmHg899DQ93a248zNY1VDHzSuXEQqE2XbsKIU108h22BnoD3Ly9Ch55RlEAlBdaOdE8wHm1VbiNBkRA1tMumnWwbZeHn3qRVo72snMcHH9VWtZvqBR0fKkIdki0qnx2J4lhUntPeVA/VaPt4t5/BRwTy6aKeCeRNxSwD2JoP2VN5EqVCheo7EIPSAifHeNqIB2cZSMA3epQCqau4Ahnw/NH2BiZIDje3bgHRlmemMdedWlGOzpELUz3j3IE9/+PB+44Xo2/OQXRJr3kr14EXO/+AXGJjwcO3GYJe+4EUzZRC0mwloIq9Ec57hPJnDXm8TOAnfhtxsQuUFfMMRLm19jzuLFON1Owr4wTc3HmD53Oo//4RVueNelHD48QJo9SnlhIa+9soMVy+fhTjPT3jXCeDDMocOdhCIhotEgZrOFa65YzqtbdnH56gWKp959aoTjrafwZxSQVZVNUYZFr7abIFOLYUFjfCLA/pNdTK+v5dmXjzMeNHHNmip27j7IzGX1UtwkU6puPti0ZQ/zLmnA6LLS1+8hOuSjrCiLAyc6mD9nKlaMtLScID07S9GBLGYTNVV5BAJBjrQNkJaTQb9vnLKqEkUdEV6v2wTWWAybUe840JVFBNQm7LPOH4QlgLvhHKpMTAF3fb+aISb1fbo9YW68/R94/zUrsI93MeH14Q8G+ejHPkFmdi6hCFgsNl3uUUgBKpOMYlTA/Y3HyxnJSVk10jRCBiOeKPy/u75OQWY6d/7jRwj5fYomoq8viXOvTjlQVffzv8xJn7UXBtwfZ9/Pf4J/ZxM5JhPd4QB+q4PRSJTiyjKKXFaGDh0hWxPTKgtmk5GJsJdoaT4r117B6e5+cmbVk79wJpklJbRt2klnaxfzV67EVT6F1m2bGOjtpuGKy5iyZBHRtHQiaqSZznC91flKL4zcnbhq0KQH6S8cQFJ1SRJ7vTFe2LKLNWsXqTEvK01RLcIjf9jKFdet5sixU2pOzigvYedrLdQ21pKV52BsPMjR/T3UTy/juRc2Ul03FbPVjNWaxsDgBGV1+Wx7bR9XrZ2PPwL5FsgRelgUNh84QEFNNel2B1u3tXB6YACL1aTkO2++fi2Hm49QU1VGfpZT8dwj4YhqDpaVC58/xr4jbVTWTCHdaVOg3SbJcySM1SJrdPpL96OWVSwZx5NZAHmr7+T/veOngHty9zwF3JOIWwq4JxG0v/ImikIQVymxJcpKAmule0rhIV0jQoCM6rCMhggM9XNg81aGOzupmlVLcf0MnC47/t4eDr62h9o5izHbTPzyq3fy4XfdwrZfPUXo1R1kLlxA4//8F+MTYxxsPcwl171TVdw1q4VQNITVYtF13SdRV0bn7SdIFEINMhETbrDBRCAcYWBkhG1N++geGMCVVsqcBfUUFGXx69/8gffefC3mmMbuHUeZUpxNOGqhpbWNzoEOcgqLKJ9SQTgYYv7scrV6sH37UfIKCmjv7OTosSM4LFaqSspYsbSerYf62Lz/ME6TF4shxnVXrqUqPwOrFuN0/whd/cPUN1Rz8tQoO3a383drZ/PA408QcpoIBkIsqK5i3eI5dLUPseXAYXp8HopyC7lsXgMFmVb2HG6n5XArkZiRqvIqli2oxO8NceBgBweOH8ZsdzJnTiPpbgu/fXYDBrsVcyTIJQvmMqe2GqdJX31RwF0NBV0oUZqWdQnP83slgLtRQJws2YjCixJxFHCsV84jJgs9EzFuev8/UJtjY1FVLrFoGL/Px63veS+V1dPBKMxeAxFpSBVqVTSkzkuZeZ0HcJf7HsKINA5u2/IaT/7mce76ypexmy24nTZdmUWOoPgxbyPEnqhgnxPuv1Rxf+3Rx9nx4x+itRwgIxJjIs1B+4QPj9FMVWMtxS4bJ7buoMLuJOzVMFjMjBmCOOsqWLdsJe07m8kpK6F46Xx8WphD61/FarRTXldHwG5m4mQb4WiY3IVzKLt0Fa4ZdUSsLsW8Fj15NToU716nIKnmybfDSxpEIzAYiPLsK5u5et1K0s1GtJBG2BDjoSee5sZ3X6eWN/buPEZ+jksl8HuPneZY+3Hy8/JYUF9PSX4mDz/+DItXL+XlzU3c+M61HNnfSWFVEc+9sIGwfxSTxUR9aRFXL1mEzWxma8sBSmpriATDtLX3M2/uVJUcHDrYSsRgZMwXoHl/CyaLkZqplaxeukA1wdslbuEYfR4PhnQ3DosJQzhMmtWiGlR1qkx8ZVSNXL0VO1VxfzsMuIt3DingnlwsU8A9ibilgHsSQXsLNhGKRyQUwR6HzSKfFzbEqQNxmT0R6IsOefCc6mDj1ucoLClmyfJLwOEgJr/f28yrP/8pJ7u6ed9/fQVLaSG//n+f5tZ3vovmZzbj2fgK7lmzmfWlLzBs0ti/bzeX3vAuMOfpnGeTLgcp7oyT+Uo03OoV94R6iF6rUsAwriIjfxWNEcWBT8RFz2OUEoXyjTLqKi0ixyi/kvfLozMh93ZWRi5h7KMfTxYzZJVDFCmkwi4v0cYXeor0GIgqeRjTGTgq+xY1C9kmaJBtdJ65RZnuQMCkq9TI7+VBL3+L197iDaUCpoRjLs94s7pGOW95yXvlPGTfci6icCHq3gKq1ZUo5HVWGC+ucn7etyjRP2EQZ11FXRHgruulC/dKgLJf0xjXDNzy958kTfOxor6cSNCrvpYvWcKll1+JZrApio2o5Jik6i77U0T0P19ZTFTdpZ4ewqCus/VEJz/43t3868fvpLaygphQDkxC8zhn7F0AHei8g/H/441/qeKujKzk/L1BtjzyCLt/9QCept2kY6BLizBoNNMV8HPV9dcSHemje+cu8mImIgEZpWYCVgPTLlvAsumNHHvkKebUzmDMFGIw5MffM0SaO0Px2d0ZGQRHR7G402BaFdOuvQr3oiVo6RkEjVYlzynqRrrgSVwcUfjaSSxfXHSTIjUpRD3LSCju+2aNyXiShFIkbq1qfEiNQlYfpZ8loSol406+T4y2BL1QyUfqzKq4DOTZm+wQNlpM0hnU8SLxRmr9HYk+IojEFWfUMeKJsqhLyXy0aNIrIDQvg5rjsi+LSpGkk0BeMjflp0TPjt6npH8KpV7/WyKQAu7J3ckUcE8ibingnkTQ3oJNAiJbaJEqqK4JHQz61RJwVOBjOIolGGawrZO2I4fxeEeZtWQueUXF4Ang3dXMiT88T9vOHXg8vVhLi7nxC1/EkJ/Hk1//HO+46d3s3vAqg797Gnd9I0vu+m/G3Xb27NrOZdfdCNYCvRnVrAPhyW4I1IG78tmMP/ZE9lJ/isuytDTj6sreIo8YUxVmgURGpToiNCKRytS3FalBOWGloC2AMhZE08QdVnQhdXsc1SamidGURFffBwaLQgGxmJj/BJXOuIBS1V8gCVI8GRCwrXrQ0ClEeiIQ1o8vx9CMusSjUkWJV8eVs6V+ferRHqd8mFQjqN5xKQ6h5wJ3AdHys9xxkZszKPUXHRSoazlzU+L2RAke+HmMVR24S8h14K5iLKsciiojKx3g12DCYORTX/wuLbu3c/nSeaQLogqMkeN28L4PfBBXWg4xg03RhMxG4d/L9YiW5ptX3NU9iiuuSOSCkuRoGr5AkI9+9A7+9eMfZ+aMGTisFgXSzoU6Ig95lrF9Hhc6yW+5EOC++dFH2fbTH+M7eBAt4KPdEKNX4paZzZ2fvJPm9c9zencTaZqRYDCmEsW0vFzW3nYd/iPHsR48iXXYg2Y3MhDwEAuIu6yZrJwssjPSVY9xvzdAqCCfuhuup/iyNdikmuxwq/urUj01bxIN528T4B4/H5mv4fgckRU0s4xNQsQMDjWX1Vw4o+OvX4/EX4g/OlyOKbAvs1L93qCIYKqxXBJbvSgg5l4GJdOpkn8lNypNp1GVQKsEVikjJRRh4n0MZyhp0T9qvJZPEoHkqvVX5mh8XIsykMxR/d36sd6ea0aTPEH+l+8+BdyTu8Ep4J5E3FLAPYmgvQWbhIVALFUoQ1Q3s1FVopjiUMaGh9m3eQunjh1j4RVryK8oxSRlqY5umh5+lM6nX6TAaGLAN4ilupAlN91E9orLOdlyiGfv+xofuvNf2Letid4nfk9m/SyWfv0uPE4LO7du5orrbwZXsV41FRx6dtV30qJwFrgnDJ8EnOvAXYB4wsxIHr1SfVZUavXgDesVY9XBG9F5pAKmDVb9xEWRJxKSGpky8hGBdsG7SlpQdUhGwBBWD3lNmLVKX11gQlDJIcp+BCwkeglEntCk+XTtc6k248AgD35DUIF3TZNMR6+PK2FESQyUTrrerCamVvKTgBC5Pr1urtv46EZOujupSgcUB1yAhoYC+IoyooMKBQN06R1ds1uuO64Kcz43KSEvrlcIY3GVIrMC1AmfUgHuPoOZ7z/4O37+y0eYWl7K4royrIEhnIYQf3fNNdRMn0lM6DIGaYQ0KPCiA/fzq7irvg0MBGIawViM//7v/+JDH/wA5aWlumyhUj6N2y/JtUusz1ptnc+lTup7LgS4b33kMXY+8DMGmptVA7Jj7gwGYxYycou48eqreeGBn9K1p4l0u43CmlqlU15RXo6rwE375m1kdw+R4Y/gDwcZi4VwOhz4vRMUZKWT6XDgTM+i5WQn1qJiipctZeHt78UypxEtIwO/0YDRaNJHZbwfQVeKuvDXRa+4q/EbUfNNgLaMCBmDZrW6FNZXdNQs0JM2NZfUHNGBuDhAS5Isc1mSXLN8bshalkr2owjRT8C8AtmqChFf0TvjwivzNK6uhEZEGkvVVvHVJ01iJvqZsoGcoUw8SUxV14UOzGXcy5fMbKXfrn/eJBx/5T0pDfcLH2tv9y1SwD25O5QC7knELQXckwjaW7CJArPC81YmTFG0SJjo6DhDu/fRenA/rmwX8y5dpqzlw2MBBp7ayL6nnmXidCdOtwm/3UTtFSupvmYdPmsmp5vbGB0dx396N8uvWsvBLbvoeegJ0qfXs/QbX8PrsrL9lU1cce0NkF2uHj6aUY4tNJILsfe58GCpQpWSuEwAd/05mZDtEG3sBEtUr1wlCC8RBXb1hW+9eq307pUspljOSCXcQjRmU9U8SQCkSi9yg6oSp4nBlDRiykNemiz1pXiLNKKp+rgRm4BndW4CcKOYY0JikmV8C7GYAHddb1zOXTfJigMElXfodT5jTM5JP++IQZb/5XuLTsmJG/dEDFKNN2LSBLDGVNOmWoaPn9PrYZZexYvTHmScXChwV46uAjT0BX1pwdWbnnUgFcaM12jitxua+Op3f4LRYmNRdQF1BXaswWHKCvJ5xzvfhc2dQzhmwix8DAW2JDn68+oZZyruEmcx2YrFGB4f56t3/Tcf+vDfU1c7XTX66QY6utKQxFn3GzvjkXvhA+0ib3EhwH3bw4+z5/6f09WyF0O2g7RV8+kcDZBuz2ZOSQV9O7bT2byTjLwsZl61lh27dpMeM2IzRCk0GRk6cgxXDPyxGD408rJyCY6N4jZquIwGHLk5DHkD+DUjjimlLL/9vZRdsQbT9Gq9km0UhweZFzrgTJb8dtGBuxp8Yh4nq0666rkxJvKfcrNkZsr4lERW5qsjfuZhxf1Ra2xafDyIKZJB1uXkd7K6poN1obwY1WqaUa3aKaAdv3j53FEwX40rSbLFs8KsVvsU/UwLn5Htks8JAe46cU0KA7pBnUosE8BdcWrk2LrztKwEJuKsaErJBv0ij9vU7i5OBFLAPbk4poB7EnFLAfckgvYWbBISaT0BmqEQhnAE32A/zVu24DRoVFZXKuMhRkYYaNpLyx+eIXCsFcNEEEOai5wls6m+5lr1MD/UepQBb5C6ucsoqajiyAsPUFhaQs+uA3Te/0us5VNZ8c1vEMxPZ/emTay64lrIqQCh6RhlyV7DYpCa1eTxM/8ScNcL5AIJdXUdnfmsw01p5BUqjE7glaq0VI2l4ivvFjitQxXlfqioFnpVXgCgDrz0ZEHws6LcKHqLVABVXRxzvDov7rSylC6gX5c0FL67AFT5fcI4XVYABE5INT6+FC9nq7T4BSTrx5Aqs5yDUYCGWj2QVYL48eVvBkkbdLlEfTE+XmBXlXapNernriRBDfoSfcL59HyGqh4ZOQMFbfQEKW7AZIhru0eNFrwGE7uOnubjd/2IEX+UQvMEaxqKSYsMY9VCrF1zJdNnLcDmzFRV+4S6fGKF4c3O5Yw5URy4d/b2smvvHh797W/47Oc+S3XlVFXTtKk7LeeoKZyk53ev472fzwVP0nsuBLhvfuTXvPrLB2nbtR1rtouitSuw5k2hoW4umZqZZ3/0Q7pb9uDKcLPm9ls4tHc/MzJzWF7XwKHXttK0fRvD/iATwq0G8jNySZcTGB8jTXBpmg1nZibD/aMYHGnUXLqaRbffQvbyxcScdmJGm97MrpIh4xv2Mp8PKD+f91xouGNiIKcobnKPhbpi1Dn5qsKd8NiVCS7eyPKSCrhqs1U/qeq7amaXOSTzTKQu9ZGj5pCsbikzuzjejgPqmFpKk+ZuI/K9/JP+f4Om+wYIkFcxU30bOudeUn61gpdIAuLJrioCxBup9XWrs5+X6qMp4R52ocFJvf9tG4EUcE/u1qSAexJxSwH3JIJ2sTaJV5Z1uHiuTkbcC16vB6m/yjJvOBLCHolhHPez/dmnySvMompOA4ZoBPa2sOmeH9O9u5lsl52g5iW/tIzF77oVw/IlHN69n23b97Dq6iupWrUSo10MWULse+Kn5OdkM7b7KP0/+TmGsjIWf/MuQgU57HllMyvWXEEsmtiHMwAAIABJREFUrwxsTlVJln9Sq5MHof4A+vMyf3pF68JKSwngrkPoeFwUTUIH3IKmVaOZPHyFymI06y6yYk8eE7CsK5kYhAqjHv5mZQiqG1XpbWJGxU3XnSTl71FNqCF6FUy5kSo6ilBapAouHHe9yqeJwZVaXzehGS36srs0rsXAJrhdgG58IR9DKN7c6dAFPNRZS5IQVpVtVVyPCSSVREOuK3yWeasZ1fUYJGEwahhisl/RWdcTBXVuJquq9KtVhjj3XuQgdQLN+SVWytQrQcMRMKKuW+Jg0uMhoCimOikISfPkqI+Pfe1Bth/pIMvoobHIzuJpBdgCHrxj49x4y23UzpyjCA7imKp04eMgLFFiPBfg6rmSnnTJ/33DI2x45VVWrlnNnZ/8BJ///OeoKhfjKaE4CIiLr7DEV13kOid3/efCJnvi2t5QVUbup4wdX5CXH/s1L/7ipxzfuYOSqnJm3XAtBTV1TK+fzdCpbh793nc5vH0r06uruO49t/LwfT8mzxui0GQl5JugzzOK125hHAO+iIFsu4vStDR8fb1q/g+GxjGZzaSbHQR8EYpnNbD4lpuY/c5r0XJzMQjXXWWHkjAK7SgxPv/4es+du3+UmMTfdrGBu+Kjq/4Qffwqr1wFpqOYJCmNKwopwlQccMvwUnNAtw1W81tvG9c/OxOgWgS3xCxJ8c+jEYTJJmNS5rRK3NWHiM5TU+2jqhk6oir+Kg1NfDCpzeJd52q2ySeGrLIJuDdikjmokmz9U/1MseDMZ3yiD+X85uiFjcDUu9+qCKSAe3KRTwH3JOKWAu5JBO1ibJIQc9CLpqqpSmlexykUCRif0EwRzXEBUaZIDP/+Vg62NDHnqpUEj7TR8fBvOLlhE/awn4Dmx1FZQuG6y5m6bAkDYx5G9h8jmldM7eXrsJWUgcWuAKEhOE7zrx8iKy2TWGsn7f91F7a6KuZ/67+IlVfStH4jy5asRCudStTqxiTcWC2g+JpSrdJBlM7XPrvcLg8vHW4nHvQXS4QmUZlNgAlVxU40gMUf0omD6so3Z2CUjg/j901PI9TW56RLZ883fgHnJBw6PUN/JR7gsulZyJgA/fp7EvtNbPd6YssbQaA/PcOzwyxxrq+HvGdb3P742i58gJ6NxOv3FPcMUA1+EIwa+PkLu/jUN39CepaNdFOI5bXl1GenYZwYVknJsjWrqG2YRYYrG2NMYqSTnvSKp970Z4j7D6hYibFQwMvxI4fZ39bJnOWXcqqrlx/f+0Pu/tr/kJXmJt0u0D0BeHRBPaVe80cqIBd+3X9pizOrAW+QgJ77t9fvR+8/0Ole+jwRpoWAQIPSBd/0myd47r57OdDSTNnMOm6982NMqa2lpKyCPVtf4yff/jbtBw5QO7WCr337G9x5wzvJ8wX17NNh57R3HGtWNun5BRw53orNYKI8L4/AyAhEwvgIYbFYKE7Pxjc6BlYri6+9kto1lzDzqisx5eQSCIPZbCMUDONw2eIJlH4lipqiruGsy9WZ64mnn38pdsn+/U8SuzPz9s3mzdnZqX/yvPnrT8d54r1v/HmRAN9qdsaB+9k6xJ/7fEn26lPb/a1GIAXck7tzKeCeRNxSwD2JoF2MTc4WdXXZwji0OQPFzjwT4gAgElK270LVWH/X91mwfB5Z1fls/fL/0PX0BnKiGrH8DGr+7jLyL7uEWCjEnu27OLCjhWtvej9ll14GhYVoFouQrDHE/BAO0PHkc4SFyzncz/H/uYv06irm/c+Xic2oZffTz7N03lIM1XXEzC69jmwIqEqvqkidcQOMPy5lOfmc2MTx+9uqInoxbt3/xn2cm8K8/voSgE0ZJGlwdDjIbZ/4CoMBr3LmvXrZfN6zcj77NzyHFhzC7DThzspl6eJLqalu0E1s1PKMWsvQ1XJUcVMUkqCzo53XXt1KyO9n7XXvxJCRx/fv+RGeoQE+/x+fJMflxBCN6W6VCkjqTPe4GOZ5ri0kd9cS3RPxtsM/AYWJivPrQbxewdZTFpXeCT1KLlxMe2Lw4uOP89y997J33x5KZ9bz8S9+gfKZjThsNna9spUffP0bnDh0kNn1M/jRz37MBy5bh3tsXCXNXk1jJBLGlplNbnEJg0NDeEaHSbc5KMjIpK/3NDEzBIJBaoumEBgdJxgJKVfQj3zhP8mqqyVr2jRFlwmFYljMFkzCCUnUqAWgqi9d9zCRhMSjr+7B22mVI7k7m9oqFYGLG4EUcE8uningnkTcUsA9iaBdpE3OWXmN71GnAuhVyDhPOr6MHZV1YOFSh8Jsu+dn1NRNpbimkD333s/JlzZRX13D9KvXEJ4xjT3bt3Kqo5Xl8y8hv6CSXdtbyK2tpWzRAiwZDlSXnzRahaOMvNzEaGgC4/hptv3bf5JXWcHKr3wJFs9l/0sbmT1jJqa6WWB0EBXAZAxiNohivC6veEaWIe5bn/iVjgLOgoGLFLLUbiYpAn8JuMtho9IYrRnwGA385uUWPvvt7yjwV1mQzyPf/ByRU0d46fcPEQmOETUJ99dBVlYxS1YsJTM3h6ysTHX2EXHYwUj3qS5efnkjw8PDzJ8zj8vWriVqc9M26OH9H/gQH/nArdx64/WYozHMhpiiIOgKOnGJvjNygJMUlHPWWRJH+LPV3Pjqj5rB8TeqNRfVWB7DIg3DAtw1A7994AG2//4pXt70Mmuuu5Z33HY7NY2NZOTmsu25F3j4gV/QvHMHyxfP58tf/hK3XXMVNo9XqaZ4QmFCRhPlNbUUl5dz9Nhx+ntOE/R6KckX6dYogyPDBMJhCt1p5NlcjE6ME7KYmL/uMta95xbmrF6FZrZhNtsxGY3Su3kGuKtv4pQslZzHl8zevN49efFP7TkVgb+VCKSAe3J3KgXck4hbCrgnEbSLsMmfEjXiVch4tUupDZ/DDY8rlGOMhRg/fIQDTdtpWDCLTKwER0fUGbW37KOn4ziO4nwaV6zEmVdKaMhDyDNB67HDhD3DFNRUUbpgPganC7Fj9ew9SmfXcXI1H6/8++fJLa9i+ef+HePC2RzcupXK8grS584jjAPNbCakhXFKm6DifcYdT85QNXXZwrO82MRVpricF2HITOou/hxwj6eS6vjCExajmqEQfObun7JhRwtWk5lPve9G3rd2IWbvafZuf5n2jk66ekaIaGYCxjBmqxGXw6Hs3yOhEAF/ELvNSWlpBbPnLqCwuBSr1U7QYOM3L2zke9/9Pr+4/x6mlhWr1l5pENZbcNUAi5vHT27dV19pOAtozwXt5xIrztyYBG0rTpNJqAipyrsWxaI4cVFioTCPP/ggW59/Bs+Eh/nLl1FUXsXqtWvJzsnlmSee5InHHiPs9zFj+lTqG+r59S8fxBIKKV66uAd7gxEa5sylYmo1O3fuJBT0k+Zy4RkfV0ZVHr+Xgtw8wuNesmwOvN4JplRPpaS+hspZjdTMmUNGTgFmk0WteugKPX+sMPNHNLQLa1OZ1LGa2nkqAm/HCKSAe3J3JQXck4hbCrgnEbSLsImuOaAE/+I64rpxULzn6o+OoJ6ZYZQVt8kcwRgN0bFjGyf3NlFhdtLdc5rWvm7yplWxaN06sqdUEO0do33DJpp+9xT5Oeks/+AtBIsLOdS8D28owuzli8kuKsTXcoT2/j6m5Gbx5Kf/k0AoyK1f+TyuVcs58MIrlOSVkLN8BRGzTWkRxrQAFoMj7uf5x9xSOc2zMmcJyCO/TQH3izBkJnUXfwm4Jw4uTbChSJiAwcie9h6+ePcv2LP/MJfMmckPv/xRStOtmCITBL0eenr6aT3RzpBnRGmux8JBpHk2PyeHosJi8gpLyMjOw2h2EDNaVaLa2TfMpz773yyaP5ePfuQ2LEaR3xRJwBBmqfzqmaG+2CNqHwrETw6qTOiX6CNYl/JLAPZzgXvcTziu5nNuB4XeGKlrGcUN7oVOFovRtO1VNm9cz9DQIGuuvJKqqdMoK69Sle5jh4/y9O+fYqC/l0tWLKe8vIznnv0D40OD2Kx2vfXYaGX27Lk43WnsbGoiHA5RUVHOyPAQ/UMDikZUNmUK1qiGZ2CQaCjMnMULaFg4D1OaG1t6JmabjUgwgtNuU9T5xGzW6XpvsFqWKrlP6hxM7fxvOwIp4J7c/UsB9yTilgLuSQTtImyiuLOiNaxURuLyhKL5LUIccc67/D6m3P/EJj2slrTFNIiIH3zjBFv28/MvfonsilLWfOh2shvmgsUJERP9O/ay/rvfIXxoPzkmjRGzgbUf+TC5S5fjmRhj1/6dVJYXkedw0396gNqrr2GkaSctu3Yya8VK0ufNoeX36ynOLCD/irVoFlEwkSd6OA6yRJJBh+rn1tXjdkDn1CpTwP0iDJdJ38X5Ane9qKzLgo7FTGxsOsSXv/4DPOMeVi9dwCf/8X2U57mxG8XtUm/MjInqkVL6EIWZOEBUcnwWQiIgYnESMhgYnYjywM9/xebNm3nowXuxma3YzRAN+HDZReNQtPmFc60ngrrM5OR5UOr943GFkHgTrFIMTIx85eyp/6QETeJNqGpWxP+m60PF23OVtFEMLRqju+sU217dTE9PLytWrKBuRgNOm0tt19HRwc6d2+nobGfNmtUUlhTz2KOPqDjK9UZCEbIzcpg9a67a++GjR+jt6yUnLwd3hpvTp3vx+H24nU4qikoY6u7B7/MxpbyURZcsJ6sgX7pSsVltCd1T1Sys5rGYbp1JjKSn5ZxVjRRwn/R5mDrA324EUsA9uXuXAu5JxC0F3JMI2kXZJAF3BR3EtcUNunKH+opFMItrX0x3+9O8Ad3URrS+TRrHNm5kdF8LBbm5FC6Zi624kJ797QTDRspnzsQQDOBta6PzqSc5/tzzxHoGMJmt5DTUUX3LO8honEZv6yE6t2yhzxtk6XveR9H0OiJh4RJbMGSm0/K7p7FpGrXvvAZsbjBYlSxlzGIiZjQo2oTZbNXlEeN1dYFRCtKL+Y7SMtabEi9UEvKihDi1k0mJQCQawmgyEYoaCRoMvLTjEPc9+AhHTpxk4fy5/PP7b6G+qgirFsVuMGBRMnyCbnUzJ6OARDXOTYSU26WJsWCQ3z/zEr/8xYN84o47uGrdcrUSJRKbonkvcoAiwad0tM+hy8TXeCblOlUjrTKR0ivuCRO0hG6oxEDkSEU2UBp3BfCGQ2EFdjVpRjXHk1uRL1XiLGIapBGNRBgY7Odg6xFCgaDSqc/PLcDlcKvEZmBwkGOtx/BMjFNdW016ehq7du0iFtOU9GksEsVldzGtqpo0l5tDR4/QPzCAK81FVm42/YODjEx4lJtqUW4+oQkvA/195ORkU1s3g4zsLCxWq2pKlQq/SCTKKoCegOhyp3Jdch3KO0IlR7ojsbqGRO9K/P/Xqz1Nys1I7TQVgbd5BFLAPbkblALuScQtBdyTCNpF2SQO3KXErsqdupNniBgTAT9Oh42wz6sMftx2h3ITJBjg1IEWtqx/ntKSYuYtWoTTlQ3BCFtefom2421UVpRjNBlZfsVlIFrtGgQOHGL33d+hb8dOXGYrXrOZkoVzmfP378FUU0Lz+vW88tJOGktnsuq22zGXFiNoKzzSx8M/vo+qyqksuvoGrAUlSpUmaoioh71UI0W/XBRm5JiK9nMGuIv2uG5GpMyALlDL/aKEOLWTSYmA+NOGAj6cVgfhiEbQbOHVI6e4+ye/ZOfufUydUsodH7yNK1bPxm0CUxgsCcMko/REx/AGg5htVuWQKU6pP3/ocX72i1/xqU/cyY1XXKaSVuFeS5VebatcLBOUqwRpZXIpWErjPq6gIqBVjhYIBLDZbKqKrqnkNar00hXcldWFSFSB4HAohMPtJhgKYbGdNejRolHMRhP+YIAR3zhmg0kpRTmtduwOB6FQSOmYj3jG1MdCepqbqOK2a4x7fOoYFpOeEORm52A0GvH5fASDQTDJipyRSDSqu44aDKQ7XQQmfCr5iGkRcvPy8Hq9OJ1O/H4/DrudWDSm9hmNRhWgD0fCig4l16kS8njnqm52dha4/zmpzEkZeKmdpiLwNo5ACrgnd3NSwD2JuKWAexJBuyibKMcg3brvHOAeiEUQYGQ1aFhjMUwCfr1+xvr6ObKniVA0TGV5KaVVlQR9AU4dPMSJ9k7yykqZvWIVBCK0HTrC0UN7Ka+uorpxJjYB8N39dP3hWdo3bGDsRBvhcBBXXg5zbrgK18pL8I752fH0JkYnJqhdOI/pyxfhLitU6/+Htu+md2CMooppFFdVkF5SoPj54hYqVXzNZNENgJS1fZwykNCjV6XGyQVYF+V2pHZy3hGIiMNpOIDdYFIV5ojZgtdm5bQnwnPPb+Kl51/mdPsJZjdOZ9WqZSyYOZPsTDcWqxOTaDoaNaLRCKPj4xxtbePZ555nYHCA66+/lmvWrcWmxbAIRcMghloRrLKNVL7PJH8J4D453PZzA6GAuagpRYSmI9VnqU5rqsouS06aWW+ZVdQ3VRE3MjE2htVmU6DdZrer+accO4U+I/szmRUnXaZ+RCr0UbAJFU2u0WImrAnwlmljAgH6GBgaGMSdnonFolyDsJhNip5kt9sxmy2qwi/JsQD8hLhsJBrBbDJhNsmqWISJCS8jw8NMmTJFXaIAb9k26PcT9gXVvQmGg1htdsxWswLxeoO8nHtc/vVc5Zz4NaVW08576qTe+L84AingntzNTQH3JOKWAu5JBO2ibCIc97jVn/pPr7hLtS0U8uMwG7EEAgq0H972GiPtpyitnkb+rHrs6Wm0Ne3hyGs7KK0ooXLxbOxFhcRMLgzYsUSNePtPcXLPLk61t1I2ZxbT62ZjihjxHjzIyScfo3PjS5j7hrCZbVhrplFx1TryFy7idNsxdr70IuFAhMpVy6lbcylphSX4vSH62zrobWvFkptJ7bx5uHLy0MzCfRcXURMGoQYkls8TBJo4ReCihCy1k7dFBELKrdaIKSjShhA2G5iQSq/BSDSiMT4wTNOugzz70gt0DfQh6o95OQUUlZSQlpamqsNDQwNMjI2S7nJy6aplzJs1g4opRWjhGDYLquIulWsFlP8EIOrA/QzXfBKjEotz0uU8xoaGFbVFDpybm4vRJmNfgHxU9aYoq6lIhN1NuykvLaP1+HFq6maQV1igU09M4kYr1BQj4XCYSCSEZ3gUo6ZhtVhJy8hQwD0kdDSV+BqUH4PDYueFZ55lRv1MSkunIIA8ZtDYsmUztbXTKSwsxKwq5jHMZjMezzj+sTHyiosI+nxM+P2kpbkZGBzipQ0buO2223QuuxwrFCQWDnNk70Gys3LY27KPsopyXOlpVE+vVRwntZpwDkVGwv16sC5xev17JvG2pHadisDbLgIp4J7cLUkB9yTilgLuSQTtImyiK1HErbbjCESAu/w+HA7glL+PjvG7H/2U2MQE197+Hkzp6QT6B9m5bTtDPi+rr7marMry+MNVKOhm5cBqMphRXX/hENHRAZ7+zeOkYWD5JSuwZmdhcDuZ2Pgyu376ACNNO3Br4ItA+ZJLafjw+7CU5LDtFw/R5h3AWZrPzMoaKpauxlJUjiEQZu/mVzjReoyG2XOYOnc+FocTbHb9y6i7WioGkOL96oAm9XqbR+BNulPP7UfUy7R6cinj1Bozqn7RkCFC2BxTzdY2owlT2IjRbGEMOHCql/3H2jjZ0UHL/kMcOHCIKcUlrFy2mMvXrKKuqhibBi6jhiESwWoVqkdYB4YC2I16MmCRivQ5YP3caE7q6JKFsUiESDjM8cNHWf/Ci1RVVDKjbgZTZ8xAi0Yw2q3EotJoLkVzjc0vvUxVZRWRWJTcwgLS09J0YG8yKcAulW0B737fBE//5knKS6YQjYSYv2wpRjGrslpU1V0oLE6TTfH6n3zkMRoaG6mur1cKPbIasWfPHvIK85RDakFeAQFfAIfTyVBfP08+/DB/d801DE2M07R7Nzff8m46Tp1SCVfJlCkqwXCkpRGJhDFbrPz2p7+ioa6Bhx97jA985O+x2m0UVZYj1B5DPOEQcC7nLfde6DiSJMjPyqDpHCnMt/lIT51eKgKTEoEUcE8urCngnkTcUsA9iaBdlE3OiMjpeCgOnAQSRcNhZHEbX4D+k+20tRzAajUoZ8lwIEx2WTk1c2Zjyc0mKg1mAmlk+d6sq9DIsrxZWlqFoxvwo/km6Ni3l+OHD5FVWMCMObNIt5jRurvp3PAc7c+vx9/aRdDgJFZdwdVf/A+lPNPnHaTu8jWc2LKD9lP95BdXUTW1FlduGv7xEU4cOU7/wCCl1dOZOnc2xrR0NItJVV6l+1DpfRhSLosXZbhc8E7OQu5E8/C5AFf4zDrokp5RHSAL6FR9n3HvrAQrQv1aErL4LvUKuBjwKn6U4lNHtIiiWJvj4ueiIeOLaUQsJoJRiJrgxVd28c3v3Ev1tCru/tpncJtMODRN6bRL1VkleqqRM35uSNOnSJ+La6pJNX/qc0VoKVKN18//jfLC1zuZJsKXUKQ5v3DGGzJFjTUQ5PjBw3zvm99i3ty5lJdOYfGSZfT191JdP4O+nl7dHdVg5OUNG8jKyFRNoEUlxcrBVOZkWVUFXae7MRlNVFRWEgkG+cG37uaqdevY/tprLFy0CJvLDhaL4v8LFWZ67XSGe3p58Oe/YMnSpUyfMUPNcZvNSntnB4FQiJPtJ1m0dClev5+KqVVMjE/w6Ts+yq0334xmMvLii+v52re/RUvzPiqnVtHS3IzZalH7OtXVRf2MOr7xxa+yfOlyfvXIw3zm85+joKRI8ft7+vooKS2lf7BfcfnTMzJUVn66u5eKqkocaW4F4i1WS9z9WZ/3iSRP/3A6v2in3pWKwN9yBFLAPbm7lwLuScQtBdyTCNokbJIoeIqrpFSwhFebsB0PjY9z+tABtECAvLIy3MJRNZuURGP4HHdSJcUYB1c62BJZDNGKF8fVIIGRYY4eOMC+XdtZMKuR2pkNCgz5Dx3k6KOP8dr6V3AUFXD9Hf9IbGYtTfv2cPm7bkbTLPgHPfTsO0Lv8ZNE0mDJpSuwOtIYbzvFkdY2Zq9ZhVXoOlItVNJ5ZhG/UeejN6imnt6TMGzedJcCfs/gJyXplwC9OptJgK+iNihTJVFsiUsryr1SfO2IGn7RmPCgbURiGr5gCIdDGp5lkEWIRjVF0RBQL+NWuNuyb13+UG/dEM61PxDAYHfwyp6jfPIzX6Kuvo7vfv0/yTSbcGphLKLxjomwrBRpxGUk9cRWTxZEpUV+iOgOpGaRUBWpwvg1xY+p+4HpmumSOEplWp2N0n7X1VIubBzqdDapthvCUQ7tbeH+e35IXlYOs+obqKmuZnBoUFFKTpw4QX5ujnKBPXb0KFNKSjhx8iRzF8xj67ZtVFZPo6S8jP7BAQxmE0svWaFcVL/79W+w8pIVbN60icaGmRw9epSS0ilUV1cTikYoLimh51QXW7duYe7s2YSCQQoLCsjOzubI4WOYrGYOtx5n5ZpLMTkdTKmqwOOZ4LN3fIzLV6zA5XKxfv167vr619m/fz+HDh8iIyuTqdXTGB0dIxQO0TizkZ/98F7mzZ7L75/+A++65RZ1TQMjQ3i8E9RMn86efXvJzc3D6Xbhdmawd3cLVdXVzJw7G01MtYQKZNab0NVoS1Tg4x5tFxb3v+ZMSR0rFYGLE4EUcE8ujingnkTcUsA9iaBN8iaqoqn0r2W5PKrAEUH/WaFoUWmxWonIA1L45ecAdqlcClhRzW1KSiKGQfSfhU8fiyplmrGeHna99irBiQmWLlqEuyQTiz3G8a2v4RsP0HDJKjzjXlWZW3bVVRjT03RJx7ABT2c3zft2MtzbQ01VDblTyjm8ew8Lr7wSu6wAWM1Kk1sq/ingPskD5c/s/k2Be5wZrsB1TAelogtkteqgW/jO8o1qjIzFCEYiWAS4CzdbmiBlbEXDWMx6NVwwsoB2kRaUyn1C5VxV+eMuujHNiFeD3Yc6+cAdH2fZ0qV87SufUMDdZRCfAmmdNKrxLC8hxSRWoM5mHwlXT5kbct5BzHLCJouicih9d9lOCa2f872cooD4ONHmwgCkNMfqKjHGqMaW9S/zox/8kCx3Grff9h76+wfIyspkcHiQgD9ATkYGpzo7sJot5OXn0XriBPPmzWPDxpcV171q2lTKKit47oXnuea665SSy73f+z4+rxe3w6lUYoRKUzt9Ol6fV136+NgYmRmZdJ06pRKW091dLFq4mKzMbA4dPEhQzLAiIabV1XOsvY07PvkJjh8/zjc/90VmVU/H7XbRsn8//3zHHer/lgP7yc3PY+26y8nIyGT9+heVO/LG59dTO62a5198gdve+16yc7I5earzjHTkzqadzKirx+VyMu4N0LL/MKsuW8Oi5cswyFiQ4Jv0Rl1Jq/QbqPKl17kpv3VzInXkVAQmMwIp4J5cdFPAPYm4pYB7EkGbpE3Uo050nqVKLhrKcRk2AVDRsB+T6LgrGTqjUnTRoUycQS4PStUIqp9cJP6N2kISAamghoI6NBK5uoCPjsOH6epox2AI0TB7Ojn5hRDUiI362LdlB/a8HGasXU3MaSdmkmOZMUZjGMIBRrtP09XWweF9BzCYLVx7663YsjOJiSqGkvEzYRIAJbSGOICbpLCldvsGEdCB+xm4esZhNFFdj0aiCpwLNUVoHIpaElcCEmqK6r8w6uC8ed9+opoOrJ0ukTgMq6ZGi9WmgL8omwSDgXj1Xed5J4g6Mkb9AnztDpqPdXP3vfdTVVHOJz/2IZxaCLsWVl4FIikalTGvGZD0QJ2fyaCbjsXHtRgQ2awWaqdWYrWI1oqmmlgTlfe/NBAERIou+YW8lJ+CwaQSms0bXuaH3/kul196KTXTprJz+04aZzXy8qaN1NbUUJSdS+uRI6Snp6uY9PX1Ma2mht17dlM0pYTG2bOwOOxseOklPvjP/6TkUu/+xjfITM+gYXodJ9vaVOOuNPEGfD5VLd+xfTvz581V3h68AAAgAElEQVRjfGxUJRCvbd3Gddddj8PhoLPzlJKVDEYjXH7VVdzzkx/zrR98n76e0zx4z48Y6elj5syZtHd0cOmaNQRDQXUOTz71O1asvARnRga/e+IJZtROp3lHExVlZQr0z1+0UElBtnd2kpefr5pY9x86QE1NDTm5ubS2dzB/6XLqGxtFmxKjxazLZgr9LgHc459lEvMLDvqF3KDUe1MReJtEIAXck7sRKeCeRNxSwD2JoE3SJgm6TIKfKw/qSFjXTMciS/9KdA4LIr+YMKMxxpel43QUoR1oBkKK4iAqFlJF1SX1RHlduSYJqFOGKxqR8TFOHNjPpuefITMrm8hEQNFiGhpns/CaqzBmpxM0a1jsDgXAZYfScKr5/OAPEzVaGO3rJbMgH3OGm5ioi6iHt1Bl4jaTCdL0JMUttdvXRyCuWJQod8qf4w6jccII3kBQKZmYTAYCIZEh1KulMtQSXHbZzOMN8oUvf5Xh0XFMVhuhiEbMYMTvDyk1E6kISyVYJZSxqGoslcRTKtvSNCkNjFa7lRFvgIkwuLIL8Pm9QhrHZY5hifgwSoOn2awceaVXQ3TN1T6Egy+JRSSqGrZFy33uzJnc8u6bKCnKU+PeLEmiMjbSqdS6GsvZSq+69ETV9wKBu07VEUMyowLS6595lnu+933uvOMONXeef/pZCooLmfB6Cfj9ZDvd+Mc8Sm4xJydHOZqWlZWxactmGhoaFD98bMKD1+/jn+/8GBa3iy9+5jOKIlNRWqZAuei4SxKwb98+ysrLad69h5kNDcr5NM3l5IXnn2fVqlXU19dz6NAR/KLQMzrCzbe+mw2bNvFPH70DXzjMbx/4JScOHaa0tJS9+5p57+23s2fvHubOm8fRY8fU+ezevZuRsVFmN85i19ZXaWxsVEZPwqWXe/fss88ya85s8vLy1D6ysrJoqKtn+75mZi9ewmVXrCMrLweTxYI/FFSyl3q7vX4PEiuHKeCe+oT6vxCBFHBP7i6ngHsScUsB9ySCdrE2eQMlD6EvKLARV2qQh59UM8Wx1GK3KRBh1HSjI0MswdnVmwU10ceORQkLgArpyg9SmRMtZx3YiJupVN/lh5gO4qWiKWDL72NkZJSIL0RBTgEGqbK7bASVAY4ZU1TXnRere6n1q0poVCMWDGOwCLfViMFmVsBJjJnMshJwRvNZHF8vsNR5sWL8f3I/Yhwkjp/ylYi73sUpXHW5ldLsOe7x4vUGcKU5cbp0858J7wRulwu71YYvFFaNlP2jHsVhzsrKoHdwjMzMNJwOC53dQ8rJMzM9jYB/ArfbqXTGE7c6HI6oBkynyaiaLaX3oat/nPz8DEWnEJhnEq1xgzS2mgmGowRCEQwmG1bRhEyYrQpAN+nV9UgoiNNuIRIKYZVxp5YJZKzpNzpOZz+jcvL622+Mew2cz7CQ5FhPdCAaivDgAw/w1BNP8A8f/jB52Tk8/PCvGB0bZe7ceTQ3N9PV1k5JfoECy+npGRw5cpjCkmIOHTrMrFmzMFvMvLxxo6pm3/vTn2CyW7njo3ewYvkKbn7HDfzovvtUlf6KK67g+WefY0pxMXarnVPt7YyMjlBdU8Mr8e1XrlzJqVNduNPTOXr8GGvWXkZbRyef+/KXVHX+yYcfwzsyqhL8vXv38L73f4CHHvoVV1x1JT29vYyNjtHT10t3dzeXrl5NV0cnM+tn0tKyj2nTpqkVg1deeUXRqa6++mpeXL+e/v5+RXMyuZy0HDvKN7/9bWob6tUxJO5nVgjP6UdNSHmeT7xT70lF4G85AingntzdSwH3JOKWAu5JBO1ibfIGwD3xoJP/o0JpiYS5/yf3Uzm1ksvXrVPAPegPqgd6QmYxKnbwZiNhLawUPuSB/sPv3ceCeQvp6urk5ptvoqR4iuIlSxVfAJBwdxPNiZrQXxLcBmFYSNJgNBA0xoiYFEEGo+rz0whHo9gsFh38S8PihAA2t2rik3OQB7iAnQTPVV2PMW79frHiltrPX4yAQHfhrv9xumRUuZo/JPQWG52n+xkeGaO0bArpaQ4mxj0MDA0o0Cl0DwH3UmHv7O6hu7ePufNmc6y1k5LiQtwuB8+9sB6nzcGMGbW0t7VRUlKk9mUzG5Q7qiQCwYCPvMx0pfU/ODbBMy+s59prryEU8OO223DbzRALKb66UHQCflkJsKkxJqA8HIkS9AdIz3Cr1Z5YOKiaVHVOfYRIRMPmElnDiN4TIio1NqtqthVHUVX1V9QyvYov128T2dJzXm/Ge5d9SZJjFCOoSJQNL66n/cQJ1q1dqxSemvc1qxUxs82C1zdB0BsgNytbrTLI+YiuutVmVedhtlhURbqvt08lyze+6yY1tx597DHmNs6isaGBlze8pOgxDpudtrY2bGJsNe5R90GSIVeai6GhIbVSIg2qQ8MjSulFEvTKqipOnT7N9e98p0r0t7+ymcHTvSpZ8Hg8lJaXq/9ra2vp6OzEarXiD/jp6OhQKydyfVJRVy6sgYCi6gn3/uTJk8gzwuV2qR6GzPR0okYjjswMlSzYnU7dWOocrfdzP9ZSwP0vTtXUG/6XRCAF3JO7kSngnkTcUsA9iaBdrE3eBLifqRxiUODn3z/1Kd797nezYMEC9YC1Wm2qAihUAllCt7udSvdZmbdoIQ4eOshn/+1z/Oz++7n//p/R2trK3XffrapoAubE9CYSEd1tDa/XT7rTofjo0ZAOfMx2XUdaMxkYGvfgTpPmVKGzmvBMTKhifbrbqSpsQq0QR0aX04lZNadJE6yu96yAlnxv0qunqddfLwI6cNcVYs59eQUYO1wcO9HOnub95BUWMT7uwemyk5OZod4qXOiWfS3cdNON7Ni1l6zcXAJBL4MjE0phZnhoiLVrLmX37l3K+bOubgbdpzrJzcumfka14rjL+BoY7GdoaJD6mTM5ePgYdlcaO3fvweVOIzcvh77u0yya28jgQB9pDjsezxhZbhcB7zizGmcqKkhWVrYat5kZGexpaiI3K1PRYzLS02lra8XuSlcUnul1dcoV1Cvj02hUIFUAqIw/oa0I7aS3tw9XWgZud/p5Afe4sqVusBSNsXPHDvp7+1i14hJGR0fUvEqA/pGRIWSFISs7RwF34arbrJJA6HM4Ek/C/X6/As1rL78ccUne9tqrTKusYlrVVHV9TodTJex9PT3qugf7+rEKx95oUCsjXq9XrXZlZWcTEtfacESBfTFMmpjwsWjpEqKhMPv3NtPX3a2AvSRvou8u4HrqtGl0dnSoZEBA+sDAgKLCSMzs4vYaDCrHV0mCAl4fmzZtUrz2xYsWqb+lud2yXENecbGi24hDrN4UrIdUrRSeW3FPqUH+9SZ96khvaQRSwD258KeAexJxSwH3JII2yZsonWpVqZaHfphPfvJfec+7b2HR/IVK3UWqYcFwiH3N+9jZ1ER2fg7XXPd3yrxF9BePHj3Gnf/wL9x7z3389qkn6erq4t8/9W/satqNAIc5c+ZQWVGugJFIwjksVqZPq+bY0WMMj43SMLtR7WvH9p2MDA2zcOEC6hvq2b59Jz6PlyNHj5Gdl83qS1dxureXw4cOKcnJW26+EbuqdiacFeU65HuhNKRef80I6HA9XnFPSENK1Vn6HyIxuvoG2L5rD860DIbHxpS0o3CpheoSCgbYvHkLCxcu5NSpU8xbsIDDR48zPDqGFjMwNNjPZatXKppFmstFRUUpPV3d+H1epkwpJhQUp840enq6OdneybyFyzlw8Liqzo6MjWCzO8gvKOLA/gNMKS7C6xllVsM0Qj5ZSYKJsT6m19aq5svs7BzcLrcCu0ePHCY3K4uOtpMUFeYx4fFgsdmxOV3KyTQQ8Cvw7Pf71PwJBAKqsVUaLMV0SK4lLS2DjMzsMyAzcU/evOouqjmi7GRQjZujo6PMmT0br9dH56l2lZxmZGbS09PDhNdHRlaWqvIrpR2LRZ1HQuJVQLfMP6GvzZzVqMD48dZWivLyyc/Pp6O9QyW8smIgCYIA93AwxPjIiGrUdWekM+4ZV+A4KzNLrWzFotLMHsOpKt9GplXXEA4G6enuUjrwshImc1DoOZLMVFSUMzQ4pMC5z+dVYFwSG1HmkYRAubIKnSoaVfHd8spmVc2vrKokGomQk52jtnW6nEqyUq7x3Nfr4/gGtYm/5jRIHSsVgb9aBFLAPblQp4B7EnFLAfckgvZX2kQa48KhMJ/+9Ke56YZ3sGTJUgXcwxGNI0eOqGqdVCS3vraNz372P8nNzVbNdE1NTfzLP32UD37wQwwODnLrrbcqANF9uoft27fT29PLRz7yEb7+jW/wmc98hjSHk/279/Cj+37Ef3/9LsprqjhxskPZuz/20CPkZWVzxx0f5bZbb+N73/seX/qvr+JIc7H0kuW8sm2z4r2+tP4Fvvutb5Ge5lJKJcKxTsiBGElV3P9KQ+bMYRLAXbmPqnuhV0UjIoVuNEmbMqNev5INVQ2FUWFwmJV+uymu5X6yvUMBa7tD+fgSikovhaykCEUlTJrDoaqtdrtFgX2fZxyX26lWXKIiQapKsCZau/rpHxiidvoM0tKcjIx66OjqUeMxPy+PKcWFlBXlqGZmkyGi9u/36y6gUr0Xnr1UiIUm4p/wEA4GyM3OxOVy4wtHVRV9YmJCVdcFOApIVTKV4Qh2uwOjKCIZDAz0D2C12JUGusyHBCdbtpP9v9FLQGxcGR6f30c4HCIjI12BYc+ER8VBVgOkN2DC58fpdKl9CfBN/J9wF5VzlJdU5DMyMhR9R7Zz2R0KAEsFXN4r349LUmIxK2rc+MiootxY7BZ8fr+6B3LtclPk/AKB4P/H3nnA2VGW7fuacvrZns0m2VQSQhISEgKhNxUBFfSP3U8UC35iowZQAeETEbEgiA0EERUbYEPlExFQ6RAgCYT0vtnN9rN7+rT/73nnnGSDAZJDEPh4j7+Yze7MnDn3zOr1PnM/90MiFlML+nRdSoG8nFfYLOypzxqNRMgMDalzlchJeQogCxuptKsquiyupY1FhkjJtFrPZ2gow4MPPsT06XurCn8sHqelqZFMZkj1Ojc3NakeiheK2NTg/p/+zdfv90opoMG9NuU1uNegmwb3GkR7GXcZ6QmVr+X/ZC+88EJOOultHHnkkTgy9Ma2uf7Gm5g6dRqHHXaYahqNWuJED4fCL1m8mG9dfTVfvuwyVYlMJhMMDGR4+KFHeOihB1Vl8Btfv4If3/RTfvSjH3HxFy/khOPezM9vuYXb//B7vn7VN1WVc+Wy5dz917+RTiX55Cc/xZVf/wYLDjyQf/zznxx7/HE8seQpps3YW3nohQgluSamIivDyUvSpOoFPhEjfJyuX/85BVSiumpI9raNQ1L9B4HJUL6k4hl7B4dUQoz43ePihR7I09KUUiAWtw3KjhcmtqgBSz521CKXLShbzUAmQ1NDPb7rylUmWollHMz0K8uUYLBYOGSaZySaVJ53eRITsaPquGYkpiJspEIu92/CEiuWT9lxKPpi20gwnC+oXg4Ba7FwRaTfQqXMlFWSTalUxrSjBDL4SSXiyLlK/4avqsdyLAXolkXUtlXvR11S4HPHivtIiB95hVQoUiWKUqrulqQ0IYuScLaCaCyZ9vJ9NXdBTX4N+zmqc5FlIS22EyFdNRFZnkhVfhvC8VDhecsx5SWwL99XsZ2VLUVjVb03wHFKKsbTtsTjL30qlrLx2PJ7F67PKp85tKzIOYVLM+kh8FTSlMrwl/OSyE2ZuSBzIqrDrqTJVBrMpRdCfPxPPUVbWxsTJk0Mox5VOpUMv5LtZDDW9kFYO7u7Nbj/537n9Tu9sgpocK9Nfw3uNeimwb0G0V6uXbbRViXTTvzGpRILFy7kxLe/jaOOPpotXd0MZ3MsX7WSxx97gv96//tVg+DkCeOJCTR4Hps6NnPu58/nhhtvpK4urew2P//5Lcq3PG5cO08++SRXXHGFqvAJzPzlf//CR077KNlCXmVOy/TH+niSiGGzpWOLigc874sXcNNPf6ZGu8+cujdvOeEEFi1+ih/eeD0Lzz2X5sZ65u67r4qKVJM3JXRGdbwaKhpSg/vLddPs/LjbwT1sUhWylGvgyjRULNZ3dHLPvx4gmkiTTKZpaR6F7/gKiseOGc2kCePo6e5WkCeWir2nTVY+dbFo9PT1MmHKFHJDGaSxed26tRxz1BH0dXfT072VZCJKMpFQfwb6+wg8j4a6OsrForKNNI8aHTaJJlMK6CV3HKfA+HFtbOjsZm1fjokTJ7F81VqV0NK5ZYsCxn333YeOzZuYt99sMgODKuO8rr5B2bjE297d00MiHlcLhngioaxkkYjFfvvNpbVFhhh10JJO0dwUevmrr+erGIfTWgNlU5GFi1nt4RCwVk8y5CmFEVap5anFtqp1JexGAbBMoZXqvmwXpjFJlVz+HQ6sCl8qFapKuSMTmKqzGeSHsoBynLC3RFXFpaofpvgE0kVbMZvL14Zd7W4IY2KV3UfFdoZVerXIqcD6yN/N6sBmAX5ZAMkTu2Qqpaw44ZMJieiUKbuVqNfKwkMVHMIVizrPkZ0V+nf/P/u7r9/tlVFAg3ttumtwr0E3De41iPYy7zIyElL86X/+859VxW302DblTxVv6Zw5+3Hbbbdz3733KXDed99Zkv1CuVzk0Uce5bEnHufkk09m0qRJ6v+4lyxZwt13382ECZNUJW3u3HmsWCEe90GOOOIIcoUcS5cuUY/EpRFNmtbE37pgwcE8s2wZ7373u7jwwot46qnFCpIE3D/z2U8rv/sdd9zBKR/6IAfsv391cGZlxLxCEg3tL/P98uKHD+MhBeEVgNo2i5Ys4d57/8GkSZMZO2ESW3uGOeTgA/jnPx8iErWZN2eOSjYR+O7YsoW3vvVYbr3190ybtjdr162jWC4wob2djk2bGBrs55gjD6Oxrl5VoBOxCP29PTQ3NbJ2zRr1hEgAfFRLizpmKlWnrDATJ0vSSY7Vq1eq5JfZs2ayYt1mHl22hv3mzVeWr0lTJtM+dhxDQ0MKyFesfJZ3vONE1q9ZzzPPLKWuPkVjYzP5YpFMxf8tzbNz95vLpo0bGc4McsD8A5gxfS/6e/qpj5k0NtSrc6q+VAN1ddjZi4uptng1gum23PTK1No98YsXzpSoTMHdRW30ZlqB16MCGtxru+oa3GvQTYN7DaK9jLtUfbrbGlRHVN+qgCEgXh1yI1XzMI4xbChTj9ornt1qY5xASTWiTvaVbVR8XiUzXn4m+1a3F49w9XjSFCh2naeffpoHH3yQY489VoG/VOVlUTB16lT18+p7vIzS6EPXqEBolpC6e6Cenkg1NTM8TCYzSGtbm/K2P/7EM3T39NI6apRqtpQFndwf7ePCHPL29nZi8aiCZ7FcSA64YfiUlL86QkNdmrZRzfT19igPen0qQVNjo/KF5wtl1VwqzZHirZb/zRG/utwz4jeX+1HuQanqburqxTWjNLc0smbtRuVTl23l/KdNncLiJUtpG93G6LZWli9foQZIzZs3h2y+SGYoQ3NLCxs3bWLi+PGsXrmKwf4+DjvkEMaOblFPixpTSeqkD8OS4WRhNVpHFtZ4Y+ndtAJagW0KaHCv7WbQ4F6DbhrcaxDtZdylOjVV3qIK1s/14Fahvtr0NnKfKogIiMvPqyBf3UZlt0vucqXKWN2++l5VqK9uJ8cQyJdH5jJVcWBgQA1okcmNkvVdTcyoPr5/GaXRh65RgSq4Vz3PoY0moCx9CZGIsnNIM6LcAxHbVpYN5bk2DGRgkYpD9H2VdiJZ64FhkiuUqUtHw3YG8TtXLB2eU1bNqbHI9gbNgNB3Xl1syr1SvR+rC0q57+RPyXGV71484Wo6sAFl8bJXFp/SHCrnVL2HxX9vmai8ecksl0FR26wvvk/guuqpgUwPdt2yavYUT38V1l+osbJGufVuWgGtwOtQAQ3utV10De416KbBvQbRXuZdqmAub1MFi2oFvBq/JokQUsWsQlAV7kdW3mV/+ffI1AzVWLdtQIynLDhVeJftq5aBavVdtq1CjlRL5VgSUzdyISD7SdVdzke/Xh0K7Jjevv2cHPFcVxJVpAEy9DobGIH42111b1QXbdvguOq/lmSZchkrFldpNGqiqDStWmLSQkUXRiKmSoEJF3TSzCg/Cf3Y1Ze8fzUysfoe1X/L/Vd96lR9sjTy/hWfthxbPSVyZe6ANGZaCvIF6JWjX+55eYLke2G6TYCKYAw93bIY2b5w0OD+6rhf9VloBV7rCmhwr+0KanCvQTcN7jWI9jLuMrJ6PjJpovqWI+0wIy0z1Uf/I20yI6EkbFBztzW2qaSOiqVmpMd35NeyfRWSqlBfBftq9bQaeSfnPdI3/DJKpA+9Cwo8H7gru4xqigyfuqiGSUPVxFVKiMCtVOIlTaaaIiKwrhZ4qqHSV5Nw3aDytRp1L2guDYsh4W9f1FWfGoVPeaoLQLmH5JjVhV71ntt2Twnry7mpfEIpvstZGWoiqB2RKn+1uTM8f6m0S7KKNGBGolEF8zIhWDWTBjIQLFyQSkZ5xE6EzZMVm8wuSKk30QpoBbQCL6qABvcXlWinG2hwr0E3De41iPYy7lKFnmrVsVqBrFZJR0KO/Kxa6a5WLuXUqlAi21Yr5iNPeWR1vgpU26qwMja+sl/V3lCF9ZG+YDle1V5T/bmuXr6MN8ZuHvp5wT2QoUwhCId9DgERWybgVuIBJRZIYFmyB8WxYhhqloCqxFsGvutj2Pa2iEY5LUlKCa/99kr2c+83+Xk1CaV6j++0IVQBtZyjHCvsuxAPvpyUqp5L/KHvYUUsNcE3vNcrzaKyILEEyqsxLZV8RGXVCfs/MMInCtWXBvjdvLH05loBrcBOFdDgXtuNocG9Bt00uNcgmt5FK/AqV+D5wP35o/mkui3+l8qeL/R1mDS+owI7TMeVkvlLee3KuVS2UW+z/ZwDozJ1WHzy27JfVE5imHA0MmrxpZyi3lcroBXQCoxQQIN7bbeDBvcadNPgXoNoehetwKtcgZ2B+0hof26PQnUYUHU/FdNd2aGKvfKRw1q9lLork3FVVGD43e2vlwbu6lxe4P2rzbbSEKvOqfLWz/3M1X9Xt5fNdj4f9VV+MfXpaQW0Aq96BTS413aJNLjXoJsG9xpE07toBV7lCjwXYqtYPbKHYuRH8Cue9hf7WKEhRqwsgtfPB+gvDdyllv98Twyee34C+DsMEBrxj+rSQk1ArSwt7O2zzV7so+qfawW0AlqBXVZAg/suS7XDhhrca9BNg3sNouldtAKvcgV2F9y3la13+XNVUXhHcN7l3V9gw12F9uohpIl1e80/3Lsyx1MtL+Rr5XsHNLjviSukj6EV0Ao8VwEN7rXdExrca9BNg3sNouldtAKvcgV2F9xDu8lzTTHbjDPbauAjgXikBNUa+4i2zxE/3t2h99VFwb+//87PsWL02WbfCT+LWH2q0C7PCEJwD5Nz9EsroBXQCuxJBTS416amBvcadNPgXoNor8Fdng/kXoMf5SWe8kjn84tbOrbXlbfbLeQEnouUrzYY3H1w39U6t1SvjTDHfYRNZWTPZ6hFNdFFvn5xnXe8qCP33ZXLPRLcd9xegi6rXv0w+lISavRLK6AV0ArsWQU0uNempwb3GnTT4F6DaK+JXUKY2VZxrETmVS0FglI7AtaOcDUS415tUPqS5A/c0EahsgTDz7x9yJX6VxiFKHBugF/xRI9scBxZl66ap3e0aoxQ7Dk8XA1tUW+wuzz7kj74v+880u++u2krIxc0e/i0ajjcCy06wsz26mt3P2cNJ6N30QpoBV6HCmhwr+2ia3CvQTcN7jWI9lrYRQ3Z2YYrYYW4Qpz/ZmdQ1Pl/Cs+f9wqpgTwhlqtM8OrXYQ1dYD78WQjuFYCvbB9uW0X0kZX78PvPb8J47jKoir3bl0+vhVtKn6NWQCugFdAK7FwBDe613Rka3GvQTYN7DaK9FnapTMesFht3qPRWqsnidVDDeJTn4fUC7s9XnQ0H/4QWj+ofNU90myc6xO3tMB/OFt1uoRF03/ElbZPV9wsXDNufcsiiIfqcGMXXwo2lz1EroBXQCmgFnquABvfa7gkN7jXopsG9BtFeA7tsG48TQDXveqQxO2zcC+0ggpCvE2yX+Zvh1QtkGE9Y8Q6tFCFghzGHXsVKI35oazeyCbeFLlZovnJctWr69wo9RF43yr8GfmX0KWoFtAJagZoV0OBem3Qa3GvQTYN7DaK9ErvsrFD8PLQtmzqVITlSSLcFUqul4QqsC7B7QaASuS3DxH5doLuPH5QqnnappFsE1ZE82/T1MbaB9nbn+g6XXIzvivJHNFEqX/zOTevV5sjnrgC03/qV+EXS76kV0ApoBfa8Ahrca9NUg3sNumlwr0G0V2KX54sJ2cm5yKZl30GwXIDcNKThcntVPay2B7hBQGCYygwSeV2kbYTgHr5CcEf53Cvm/6q/XVmIUNnfVbj2lfUowDStcGhodYOq1ajS1Fp9krHNmrRDET60JlXtM6b5+njO8Ur8uuj31ApoBbQC/0kFNLjXprYG9xp00+Beg2ivxC4vEvMido+RFVw/8PCDIIT2SrV92zYyJTPww0AUQ8whI2LyKqZ4dazqe/6f4Uv5pOFcToXhlY5dUcgPfEzTVLYZ35eqO3h+gG3HFGx7vqe2t8ywoVX93Ku43tXXPnZkhB++8gYC54Ff8bcrmjfwfU/ZdGQRoF9aAa2AVkAr8NpXQIN7bddQg3sNumlwr0G0V2KXXYDokZt4pSKWZSqgNKwImBaOU8ayLKTG7rklbMtEbN6eoL0VCY0eIxcAu/Cer4QUL+U9PU+gWfztlaZctWwBx5OYyECBuR8Y2FJZx6BUNnAdj2jURPhbKu+eC6YJ0aj8Gxwn/Nq0qhaa7U2sskiQbxuGLKRc8F1kURW147o59aVcSL2vVkAroBV4FSmgwb22iy6ouTkAACAASURBVKHBvQbdNLjXINorsUs1QfAF3js0cwTKFhO4TlgWtmxcqfJKJnklPEaaVQ0ZRuN7mFJ5tywC09oWdLhDgX0X3veVkKPW9/Sl4K5AWrQKod31fTJDwxQLLpYVp1wOMIMogxmXFSu3smbNOrZ2bWX16nV0dXVRKjmquVUq5qViCc/3GT16FPMPnIHjZmkd3cyCA+cyc+Yk0ukUA/1baG5OEo+bJONRbBtc1yMaSe9Gc+r/mccetV46vZ9WQCugFXjVKqDBvbZLo8G9Bt00uNcg2qtol531rCqPuydAbpD3DDwLypWQQ8E/yTKRP7EgICKo7wdErIoFZERS+c4+5mud40PXSiXlxQwzZMQCMzBQorurSG9vgUceXsLjjy1lzeoBtm51KJVcpVE2l1cTmSwrqmDdtiLKRlOSJxmmiRUt4njD2JbHqNZ6Zs6cyLRpYzjyyHlMn95Oc0uc+roI9emYqs6bu9VX8DyNsq+ie1GfilZAK6AVeL0qoMG9tiuvwb0G3TS41yDaq2SXkdBe/VpAVCB9IIDevEchMMj6Dus7+xjT3spwJoeTL7P3hBZifkDSMmiNWaRUvkqYRL6zfJQXsdi/ShR58dMIAif09QdQKvvkCx7FgsHip9bw+989wPJlnaxa0clAf5nAjIAdI/ACXFkI+eKDF8+7qew04cglUy0DLMvGNMT+Iv8q4AdZLCtPxM7T1hbh0EP35S1vPZzZs/di7Lhm6tJRYvEdZrC+yMlrcH/xq6u30ApoBbQCr4wCGtxr012Dew26aXCvQbQ9tcvzlK93Bsll8WabkoXiYQXitYDANHFtKAmtm+D4UAQ6y3D3WrF49DBt72k8tX4jjy95ksMPO5SujR30bO7jTYctwA5y9GbyHD5rPAdMqCdtmQh61sn7iJVDPPBSqfd8PLGWiKUGqdJLNvyI+as7eOGlSTasaosVRV4qvWV34iYl7aayZ9gE6ilvfrVWrv6upORIIqN6J8mrt6TxM1B/e56r/OoDA4M0NTRSyBeJxqOU/WGKJY+I3Uhvr8PTSzq44w//4p57FrFpwwC2XU9ZVj5EMCybwAgIAukVyKqYSIMGbEtUEs+7AL2Daav2VQJf+gfAMB1isYB0XQSCEn29Xdh2wLgxjcyZN4U3H3cIbzh2Dq1jIqTiJkbgEY/FcEoudkw093F98dtHQ+3kM5peqGdgYhqWai5W019l4RBURkEp7344PGq3Nd9T97Q+jlZAK6AVeB0qoMG9touuwb0G3TS41yDantplJ+C+M+uLcLCKblRAVsIo+Fh2ggImwxH5DnR059i0tYetrsOdS1fyVI/H9Ikz2GvCZO5b+jTZUo6DD9qfwa4eOtb2M7ouxux9xnL/klVY+UGOmtHGvKmTaLJc9ps0ijY7wPYCUtEQmAWMi2rxYBK3pL1VjPTbk2dUQkvY3botB92vgLukxO8yuMthhU8rGemS9OI4JWw7UslNDxcTQWWiaTGbIxaLCS1L5AuuJ0kwAu4C0j7d3d14ZY/GukYyuUEaRqcZGCxRKqT57a3385Mb76RjU5FyORY2ixoGblDGjtgKnvFtlQATMIiBQyreTr7ghJaZSJSyU8KMSjU+R+CWSCSj+L6sqlzSdXWYRoTB/gKJRB3lUgGfDC2jY8ybP47zv/BfzJwxhuJwD77jMrZtHNniENGkhWUlsK0EXtknLs3FER+PMoFrYUlSTSD3QOXZSCDwHgI8ljTZlrHUVFbRXb+0AloBrYBW4OVWQIN7bQprcK9BNw3uNYj2CuziChj7DrYYYQKbnGHRa1qsK7gsWdVNoeRRP7aBZR0DPLZyEy4R9puxD50dfTy5ehNBLMJBhx3A5o519HbkMMs5jj5oNkPDAVvWbyRtuhwwezrtjQmc/i3s1RRh/tQxNEZsYr5HzLSwpOwuwG770t1aUUEgUs7NgEoueRhLWW39FJ7f+WCinckox5IGUsOsLAAMn2Ixp2BcKtEScRnmWEolOsDzyoR56OI7N8NcejsSxl36Hv29vRTzBZKJOHYkQiZXIJsL+NnP7uCnN/0Z2xxNZlCYP000lqJYLuJ6xUrco3zOGHXpetrbmxka3EpT/Shs28QpexSLHlk5t2iA72Vx3AKBXKNIQjWtGkaCWCyJbUSIRCMUCzlM06dUzhGJuux/wBTOPecDTJpUTzoZIxGvxzMcSoHDcKZEfX0dibhNwrZwXYd4PKY+k2E5BF5efUZDkvrNOAQxZXYKDA9MWdLJUwEN7q/Ar6p+S62AVuB1qIAG99ouugb3GnTT4F6DaK/ALp4PpnRWeiUyZY9cOs0DHYPcft/TdA8UOPDAAxgsDbC2p0w8PZrWlMdeE1tZtXozhh2nP1dm0qwx9BUzDGfBzTtMHl3HXq0JFj3RTcHxKGSHGddaT8TNsXbJwxw6ezJH77c3+45tI+17pAUTBYhN+VPJh69oIc2b0mypmFqq3zW+FJf7AYYl8S8OXlAgm+0hFpOmUEljcSRgXdlYXCdgOFvGtlMkEo3ksj52NEk0mlILB6fsKJB2nCKF3DB1dQ1s3NzLTT/+JX+760EM6vGcJAFJXNdUP7eiJtnCsIptNCIOxVKONxz5Rt721rfR07WZxkaDulSMfL7E0ECJ4eE8iaTEbZbI5mUFYBGPNeC7UTw3fFpRXx8nlY4ylO3HKQcUC55afLS1pmgfn2D2nEnKjpRKN5MrFiibZfLFfiLRgGQiojRPRmNETIH2YQyjjOeVCDy5BjGikRYsa5SCd0xZbJTAlIq7zomv8TbUu2kFtAJagd1SQIP7bsm1bWMN7jXopsG9BtFegV1UhrinStFkbIO/ru7j+jv+Sa4cZ96c2bSNquMvf/sbQbSFYsHn6LlTCIwCS59dim3GKHoRDj/pRJ7q3MiWwQIU83g96zlpwYGsWbuZDVsH8IKAxoYEhx48jzXLFtO97hkOnjmVdx51KNNHNZHyHRIqSzHMOFdR6EqLSkqLsvPI9yvgXmMEjVhNDFMsH3k8hhjKdhCxy1h2WeXPyysWFU+4STbbSDYbo1gy6e4qYUfq6dk6SFdXN6NaGhkY3MrE8WMI/BLxeIJp02YTjSQZ6M9jmDb1dXF6+wJlOyk7YTRkd++AKvtHEkXypT72mzWX3/zyNi7/ny+Sqt/ChPH1GL5BfthjoD+L7zsUSi7jJrVg2AkCL460+0YiSRy3RHfPBsaNbyIwXAo5F5M0qUQz06ftzcaNzxCNBWrb8RNm07k1TyQV51NnvoeZs6ZQV1dHaXiQcjZDS1NAKViF72exzBixWB1OySIRHUc8NhWChvBaSN6nGu5U+wLqFbjF9VtqBbQCWoHXrAIa3Gu7dBrca9BNg3sNor0CuziBT85xyVoR/rmhk4c3DrFk1UbefOD+HLFvK+VMAV+aI+0oXhnSJriWx6DjMJQb4p8PryIybiaLenOs7Oqnnjwz43k+feLhjKmLM5gpkkjHcTyPeFLMLT7lbAGz5DC2Ls3oRIRI2VcuGU8GOwm0q2ZZGUYUNkpG7TBhxahYZmqVyZMpplI1Zpiy38vg4BrKbh+GmcNzcsqmE4/HKRZs4tGDMY0pPL1kAz+56Xd4XopS0WTLli7GjmllMNNFa2sK389jmQFHHn4EqXQDjuPjuvDY408SiycxzQjlskOhWCJfLChPfqE4xLixozntox/lmqu+Sb74LCe+s45cYRlGUCYZq8cIBP7TYHqUXIti2aKvN0s+69LW1q6mqTrOEJGYT744zHCmQGN9G3XJNnw/hmX4lJwsdjROb0+UG254iGhsKjf85Jv8/Gc30bFhCx9498ksWDCVltYMZWsxbiB++4h6suA6Bqn4JBKRGRhBM4Efx5CYyZd4DWq9dno/rYBWQCvwelRAg3ttV12Dew26aXCvQbQ9tMvzFaSDyvRS+Vu9DINi4NIfmPxzQw/X3PkkZlMbc6dNYk7C4bD2Om7+9s30dpcJvIhqiBT3c5DwyAXDvOUdx7HggBkszxjc8I9VLO0dYHzS5xNH7c1xM8ew5qmtPHb/IgoFgVaXWDylpoMagYXhm9iBR8TwsPEwJd3E95SfO5Yw8b0C8Sic8JZjmDVrmoLqaqqMqsVLbGL4jV16yWdWTbiGo2IVXX+Icqkfwyzi+0V816tYRGwwUpRcgXObO//yAI89vIrmlqnU17XR35ehpaWOXK6XSKTECW85mHQ6TcT2GRRTuzwrCExcN2BLV7dE5jA8nCUSiVMsueSyeYayGfafN4cJ45s583On8fb/N5XTPtcG1nIMhonaSZyiaGISjUnej6TPoKwwmcwwTU3NxGJRXLeELEZkQeOLdmVP2XIkWjJwpfk1Tq5gY/ozOP0TvyDCgZx59hlccvG5FIf7KOfz7DdvHxZ+4WNMmxXFDbIMDuewzLh6wlGXHkMiMg4jSBEEUmkPME3tb9+lG05vpBXQCmgF9oACGtxrE1GDew26aXCvQbQ9tMuugLtAr7i9pQb8bM7h63cu459dAWXfZ1aTx1ffs4CxmRwXf/orPPzAMupTLcojbiXjDDn9+DEXI5bgqm9/mUnzJ3LlX1bz2OZOZjRH+NJJ81n6wAquv+pGNq7eAr6FRQzPMQg8i2g0iYC0b0iajNhXxGPtkYzZGH4I1sViP3PnTuUbV17KPjMnqOSXMJIwjGwUQDakkXRXX6r3VHW7YhhhQgp+IZx2qpJspCk1otJVDDNK3vXo7S/wi1vu4Oaf3kFz0xSckk0kEqFUGiaRDCgV+/ngB09mILOFDeuXK9Du6+vDcTzq65vo7RlQEZHyxMIyInieSf/AILn8ANdeeyWD/Vu5+urL+cKF7+TAwzNgrSEec/HKAcl4nbjpKZfzOK6jpqmmUilKpXwY32hYxOwEA4P5SsQjpNIW8aSlGmsLWZtkchyu28z99w1w4QV/4IKFN6nm0p/c/CUuvfQUhnt7+fFP/sjkqQfyrve+k/aJoxg1uplILEpPb696YlCXbiJqp5RGAS6W0lxbZXb1ttPbaQW0AlqBl6KABvfa1NPgXoNuGtxrEG0P7fKi4F55H0Hkbh/+uHyIb/11PT0NE8AfYlasn/PevC8zIzbfvugq7vv7Y1z4+TMZ0zoap1hgVHuaZ9d38T9X/phDjtiXM6/8HNfevY5nO7fy/+ZN5p1TWjjjoxezcsUGFhxyOBPHTSRmx4lI1KKkxAQC7ALuLoHyTUt4uolbCojZMVx3iHHjUhx77P7sNaWNeEJgOswRV+CuQNvcfXBXwlTgXcGvRxBIxKLUl6WSbKtFhkRCDgz188RTy7j99rsA8XjXqSZNxynj+QVSqYC3vfUoEnHJVY+xsWM9Q5khFZ8YsWPkckUKeUeBb1/fMBvWd5BK1rN48RLGjU/zxYs/w9XfupY//eGPHHH4vrj+alJ1JfLZIo31aUpFX8VH1jfE1L87twwrL7tTzhKJmrS3j6W3u6SsLS2tjQz099DYHCVfypBORYnHWhjo88lkbNasK1EuN3HuOZfwza99nVn79XPxpQeS6VvDmtVpfnt7HzFrFmec8zkmT2vBMwtYtqX+2JYNQbKSNe9gq6msGtz30K+qPoxWQCugFXhBBTS413aDaHCvQTcN7jWItod2eaHezbDdM2z2FLf3cge+fNsSHhlooNuKk7ZyHDe1iflJj6Mmj+IHX7mWB+9dxM9uuorf3vZbFi96mmkzJ/DFi8/iYx+9mqLRzTd/eSV3b8zSPTjEW2aMxVm8nPe+57Mc/7YT+dLFH6W3J04uUxBOZnhwSIGoVJOlghs2PYaNpwYJZVkplzOkEg5HHTWDVDJQg4jUZKjKS+A4rLjvulVGfWrpxFV7VsDT8FXlP5wGJT+RGa8GrvTq2j6rVm3ksceeobs7j2Gl1CAkaXC1LJf29kYmTGims3MtU6ZMYP2mDrq7+5QVZq+99qZzSy/Ll6/lgPkH0d83zNo16xk7pp2169Zy/FsP5ahj9ueeux5gaGBYDZ1atXI5o1uayeeLDA4O4rhFDDvPcK4P3wkYP34yEyaMw/VK5HJZnnxiCc3N41izehP77bcfGzduIF8YIhqNkko0qjjJcrlEqq6eXAmOPe6tpFMpLjr/Qr74xcM55dQ4lr2YUnkci58Yw/XfWckB84/jU587jfSocBCTbxjhmkqNxhKrkquGNGlw30O/qPowWgGtgFbgRRTQ4F7bLaLBvQbdNLjXINoe2uXFwN0PWz3JAX/r9Tjrx3czXD+FHD6NVomT9ptMfvlyTnvLwfz02z/iof99gN/84lrOPedi1q7o5M1vP4qPfPwU/vtDl3PQG2fwkS99mO/f+QheoZ+FJ5/EXT+8g6t+cB1XX3M53Vv6+N61N6ppoPF4CsuKUC5JnrmBoSrd8kfZ7fHdgGQqQj7fx9FHzuOrVyykqTGh/OMhWYeDgUJwD/fZ9ZdU1qvHsNSQp+oiJlwAhEOfZItyyVXNpDfecDOPP/40sXgzuXwZ4f5EMkZLS5r3vOdtWFaZQr6frVs7sRNpJk/ai84t3axf30E8miYWTTE0VFD58fISf7jEM9oRj/UbVhOPSQqMTdeWTnAlFDNKMllHX38/puWzccsKTv3oe5k1cw5/v+ceNRBqKJNVNhx5OiBAfdRRR7JqVQcrl68hlW4knWxiKOPgB0WMSBk7FpAvDzNv/72JWDY3/+gGnnrsFs4+cyZHvKGHgXw3fjCXu34b45EHylzznRsZPzWFGQ2fagR+FLMyNVU9rVAV990Sftcvkd5SK6AV0ApoBXZQQIN7bTeEBvcadNPgXoNo/4FdBFZlyL3A1zBwzaNd/ODB1eSiMZJJk0RxiJMOmMvGRU/y8RPfwO3f/REP3PFXfvXz6/jaV7+H56Q468LTufr717N6aSdnX3I66X1auPX+JxhXF/Dho47iis9cS8Yb5AsXnMFlF/6Azs4ODjniUNINdQSmpRpclac8MFQ8uBkE2PJds4wfZGlvb+C97z6aceOasC1Jggkr5cohIxniAu7iTd8tfnQIxKKjqu3b7R4Vu3xYea8EUJZLDn29ef521/309+XJFwNcxycSjSpbzLj2JpXGsrWrk1Gj6lmzdjWBFSUaTzGUyVEouEwcP4l8zlfxkRvXbWTOnDnq+OKBt+2kqlxbts3w8CZGj24g029QLLiqkTdd10i+lKOzay0nv/sE7vn73/jpz69nypQxOGInio5i88Yh4okWrrjiK1zw+StZtbyDiNWEaSZUDr0MRXX9IlgebpCnoSHJggPmsvCsU/jVTd+lY90fOeuCBtr37iaWbGDN0ul8/6qNvPnYT/LB044jEpcnIhZ4KQxTns2I+FGQ5tTd0v0/cFPrt9AKaAW0Av9HFdDgXtuF1eBeg24a3GsQ7WXbJaw0q+mh8ncFvPp9uOKeFfzm6S6caIJorEyLk+fEefuz6LHH+eSJx/Gna6/j3j/dx09uuJpbfv5rOrpKnPLxUzj3gvNpaZ7G1649m0HP46FFz3LcG2YRc3J87tRLWHj+OTiuwde+/gtMysyZtQ/1KZn4mSCwTPJuWVVvowKHpTJJfKJxcLxB2sYkOfe8DxOPBdi2G1bl1UmbIbSrBtWqxWbXKDK05cixxAYido+wyu55kt5iYcqhK48qZBbTU09t5NRTzyAebSY7JEOXXMpOnro6g3PP/2/qGuUhgDSOFtiwYT2tY8dh21EeevBxxrdPoVyWlBfo2NypKvW5XI7+/n5sW6I14wwPO0TtBI7TpxJ1EpHxamGw7Jnl2FZSNexOmpri8q+dw1mf+jSHHh7nc+csYGxbC8ufhs+f9zvypfF89LQv8vkLryKfiRK4SSJWnKLnYJgJfEPsLmUMM6amsgb+IIcsaOPqb5zO2We+ize/tcAnT28hleykkN+Pi87txCkczg9+dilGNItpeKqpWAkTiP8/Gs5e2jXJX7a7WR9YK6AV0Aq8XhTQ4F7bldbgXoNuGtxrEO1l26VqETHwKnAq7o2MD7esdbhrYw4/HsM3SzQ6BQ6d3MqqFR2cvP8k/vrdm/nlDX/kmqsuplgq89Urr+OCL57DijXdXHfjLRx9wgFcevnprFk1zP5z6/jtb+7llz+5lZ/95Ptcc/Vt/PVvjzO2rYlkTBJlHExsSq6LaUsmeIDh+8RMG8PzcZwc8VTAKR96K29/x+HYEfGgl4jIaFNpRlXAHTaYigdbklV23ecuSTKybBGrTTWNJiRQv+J9l0NKzOTgYJZ7/7GUxYs3KGjfsnGQhoZG8vlBkkmH//rwiTh+HxHLY8PGtUydvreqyJcdj97eAeWFz+ccYrEUthUllyvglMuUymWVPJMrlnA9g0LWwzQKWCYUc0mKpSKpVB2NDaNZvPgRDj96OjNm1vGe//dGvn3t8bz7g62Us2WefDjNp/77D7ztnecybcYbOfOMK4nYo0lHxqgoyZ6BrSrSUh5J+JYsVqLhMiUYpLFpmKu+8Sn+cuc38c0HuPKK2bS1rmMgO5ZrvxFhxTMzuPaGrzFqrIUt0C+6q6Zdlawf5rjv3qOOl+2u1gfWCmgFtAL/1xXQ4F7bFdbgXoNuGtxrEO1l22U7uIeZKuGfTADfvG8Ltz6zmVLSwDVNmmMmR87cm8UPPMZn33Ig5sp1fP70r/DJ/z6F973/eD7wX2cyecq+fP6iT3HuBd9i6Yon+MKXzubooxcwqsnisou/g5sr8dWvnM3HTrmIrVuyzJm3D23jWig5RWwzqXLC/ZKHZbtYtke+7OIbNhYuo1sSfOwTb2XUqBSYEj8ocBtW2gUiq+AetthKssyuln9lqSKfXsC9uk84pVWq7nKcctnFtiJs3drPrbffx913P4ptNZCONbN+/XoGh7ZywAHTOfEdR/H4E/9g8sRxlEolGlua2bx5C47rE48l2drVRy5XwinLMKaA3p5+FSMpcY6GaZIZymBaNvmcSzwGiXicTL9HNBGnvqGBUtFj/bpnuPiSM+gfXMpVV32CH95wIrPmlcn3N/CHXxf4/e15Lrn8Rm782b3cfvu/KOYDGpPjyQ85eF5R+d8Ny8KV1BxRynBJJXxSyRzXXPU5/vTnr7G5625+cN0CJk/tpn+4ha9dOsSGtfP4wQ3foWmUeNsd1TiLL/YYWShJCL80qupUmZftV1UfWCugFdAKjFBAg3ttt4MG9xp00+Beg2h7apeddaeqAURhR2c4jxSGgJ8+meWae59gMGWT9W1StsFxh+7D8geX8P9mjuUd06Zw3qnnq4z1G276Mt+48hfcccc9XHDhhZSNAS6/4jra2lr5/g/Pp6Wpmfe/81Q++dHTmDppBh/5wGlMm7Y3k2ftRS7IY0TssNmxHMHyxKaSw7MciEcw43HKvZ0c/4ZDePe7j6WuMQqUsAyBTslYl8QXAUZpkKy2ldYC7mKVqYK7VO7DQUeeqvj7WKbFP/7xMH/800OUnTipRAtOwaent5tkyuBzZ3yEdD1s2LSCMa2tZLMFxrZPYHAwQy4vXvJm+vuGSCbqGR7OKXDv6uxW1p5kMqmq+7n8EKVSUVliAt8lYltkcx7DuSFGt43m6WeeZfr08UzdexxXXnEuba3LueoHJ2DEVlMamMaln38Cv/RGTvv0+Sz8/I08/MCzxNMJ/LJNUDaVmyWQgVVmgOMV1eeNxR1cr4sF+03lskvO5EuXfpCZczu59PI51DVtJDM8hS+c+yz9vfO56Sc/YlRrndLZ9CtNqhIJZJQwDLkuegjTnvpV1cfRCmgFtAIvpIAG99ruDw3uNeimwb0G0fbULs8D7mHBWaZshlbxPHDvZp//+f2/WB9LMox4pOHI+RMYWNNBe76Hi951KPf99B5u+O51LDz/Ambu3crpp19Bur6ei79yJrfdeg933HEH3/3hhQRulCsuu5xvXXkhzQ0TeOT+x0ik64m21eOmIpSCAMuxsFyI21ECO8AJymAblApZYoUsB+23D+MnNhONBPieTDV1iUYSIyrutYJ7CPthxb1SuDcCNX1U8sp95SGSKniJ3/3uf3n4kZUMZjzKJbF1W+QLw1h2mTe+aQHpeotINFDRloYRY2i4wNp162hubiGbzZFONxCLJlizZgP10miaL1IslrY1pIKD6zrEY3XqfV3XBdMiV8hiR02Gh4c47rgjOPTQ/Tn37FM4/4JZHPGmAkT6WP/MVD778bv4yIe+h5loYuEFV+B6SVLpOpyCRTlv4gcunu+rPlLfF3tOlKYmiwULJnDOme9i2TOPcPXVZ3LNDW9gwcFDxCJFVjwzmUsveorjj1vIaaefQixmh64YtcoLvwjEOqMq7rsx+GpP3dP6OFoBrYBW4HWogAb32i66BvcadNPgXoNoe2qXnYJ75eDifBDXg/iqgc0efOFXD3H/sEW3GyGRSjFn6hhmtto8/tvfcsZJx7J/s82Fn/kKy55axo+u+w4P/Ospfnj9TznlI+/jnSe/kyuu/AaXXnYa133vt2xYt4Frr/08gz2WGq40ac4ouvB4enORoWyelniS8W1ptmzNM+A4JBIxrPIws9vTTEpFSFgWkYiB5+ZVQ6W8LMOuREBWKu5qeJKsPuzdsMpUaL3SpBvmkgcKcuVr1/WJ2HFWrdjIV796FctXbiWebKWpcRS9W3tpbW1g9Ng6TjjhcNJ1Fql0nGwmz9BgkZbRY1XM5cDgIOWyo+If+/oG8VyPaDSh9N66tVcNaDItE99zsEyTcknOwaJ/YAgzYhIYDls6NzFh4hjOOuMTLHr8fm655Qq+/8ODaB27ksCIcNvNNj+5votrrvkDgWWz5NllDGZyuGUL32liQns7azZuVFn0kUhM6RSzk0yenGb06IDFi/+XX9/6DQ4+IsF5X5qLbW4gbrRz1x2N3P6bbr70P99h6owmbCOG1O7D5zPVe6fSILyn7lN9HK2AVkAroBV4QQU0uNd2g2hwr0E3De41iLandnkhcK8UUOWtZHLqAPCnVf18794VrClFIJ6gJWXxx7/xBQAAIABJREFU3jdMY+2jSzh4yiSOnN7MlkWrWfvYUmbuM4lJk6Zw7nmXsXp1J+ctvIA3H78/vf3dfOzUC3jTscfwvve/jdM/cT5j953OqV/6LHev3ILZNIpiLkc0P0hLY5p7H13EkJ0k4nu0m0Uuet+b2H98MwlVE5ekeQFqaSaV/4i9JcxvF9hWDn1DfibV3917ba+2y34evoqIRNlkbCvG+nW9/PlPd7NsRRfxRBOlootTKpFIWpSdQQ46eB+8IKcWHF0dvcSj9QznHNW4G09EWL9+E5MmTiKbzSsbjSnefcumUCgTi8aUfSYasYlaNgODRSLRJJYVpeDIkCcXw3SYNGkMn/3Ue/jKVy6lr+/vfP+62fjmYgqF0fzPwk7Wr5rEly+7jt/d8Ruwh3DcHG2tUxjstUgkkjSMFtuPhL/EKebLeC70dXexatVjrN14Fx89fV/e8a4pjG13KRZ9sv2T+OI5DzK+/Y1cfuUlFLwe6hJNmETVlNuwnyCcKCtVeP3SCmgFtAJagf+MAhrca9NZg3sNumlwr0G0PbXLCHDf9mW14CzvEc4aUmic8T06HYPr717G39b10+ubzN13Cicc2E7v2i7+9feHOeaQ2bz/oGn46we4/75/MnvWHALf4UsXfY9S3uGMsz5K59Zerrn2B1x86UJcz2HhmV/mlIvPZczRh/CLfy0i0tRKU32SN+8/BSMocec/FrEpW6DRDvjEMQfxrn1GMyZqElEDmaTKK8Aof0uqSXXoUkiN2+C9Bq/1c8E9wKNQKBKNJHEdk2ef3sRVV/2QfNEkkWphaCgXesYp0TomxTvecTR19TZ9/X1EzQTFokdn1yBNTc0qwrG3N0M0amPbthrEVFcndhgYHi6or3PZonrk4ZY9tm4dBiNK2fXJFoZIpGwcJ8PBC+bwhqMO5dyF7+b4t8b49GdiJJJ5Vq6s45MfXsIp77+EmbPmc94Fn2bW3ATRxAC2TJf1Qg99qdhNLBonHk/juT54Enfpc8CCKcyebzJhcplYvIgZtLC1cxQ337yM1ctTXHTJN5i41zjiSZeokVYVd9WQKuBuyDUI7TP6pRXQCmgFtAL/GQU0uNemswb3GnTT4F6DaHtql10Ed0HjrO9SwGZtT4Fv3vkIkQlTiNfX0b9xHdMnTubRRcvIuTnOPukg9ibOhWddwGBPluu+fx2rli3l0kuuwil65Ao5ps0aw5evuJwfXHcL/3jgfi75yTU8OJjhrmfWk2ppJZ/p59S3H83KpcuZMWc2jy95iraoy9lvO5QZnk+dNaKirsBd1hhCilJxr/xLgWO1vXb3myTlONuDaMJqsq9yyi0G+zyeXbaJwIvTP1Rm85YeWkeNUV52zBLNoyJMnNSsrDIbNq5hYvsUOrf0sW79FubMmUtvX5+ablosFmloaKC3t1dZYSQnXoYi1dc3kh3O4zoyxTVCqQhlx6RvcIjNmzbT0prEMPJMmdREfmiQ6370Ga7+wVEcOL8T101y+63DLDzzCa67/rcsXvwoi5f+ha987WQm7pWhUO4lIkOgjBhOMauaXtUzFcMgajaoJxiG3U8pWIVlgOlNYNXSGL/6zUbu+1cfV3/3ZqbPmkp9Q0ItlAw/EmbHqKbUMMHHV25//dIKaAW0AlqB/5QCGtxrU1qDew26aXCvQbQ9tctzwL1SZN/h6NVYyGLgKQuKFGYf6cnxyOYhfv+vhykR4Q3HHMPqNet5dvNGZjelOPstC+hctpKvX/JdUnYTXzz/DPxSjoceXIJhmBz15oN4ZuU6vvXtm3jfR05m35OP59q/L2LQCnDMgIMO2Jf6oMhDdy1i1pR2Dpg5jsP2GcW0uM2YwCAhBV51ljLbVSrv4StMgQn/BMoio3Abqc/v+qsyGTUIIyDDl0+5XCQSiVMu+vT1Opx95peIWI0UXQMrmqCQd0hE4mTzAzQ0Wcw/YCrT92knm89QypcZ6M9iWnH8wFTAXijksSMW0WiUoaFhMoPDCtgNw8Z1PPr6BsgMZkKbj59kKFvE8SCfL9E6uo502uWTHz+ZX958CwPZO/j692bQ1raZ3q4JXHrhs2SG5vDFC7/JeReczqzZLud9/mASdc9gRYZwitLnmyQWEaVK+IGjrku5UIdlJfGDAiVnmHUrPR68L8vGlXFGtS3gne/7GGMmtZFIm5gRiBhpDN9W4G4YAv8yyCkE9/C7+qUV0ApoBbQC/wkFNLjXprIG9xp00+Beg2h7eJfnuGP+7eg+PgVJVfEtIkTpDHyWDxe56W+P848NA0zeay+OPnQ6t/7pX1i5IodPnMBHj5nNo39/gBu++wuMUox3v+NNHH7oUapq/eDj/+Knv/olBx52BBde9glueaiLv23qZaDcydjJbRxy8Hz+9Ot/0uQbHDNzAu87agITkiZ1gUdEPOaqmVLAupoAU4Xt6tIjBPfQ6CM14N0DdzW0aYfs90pzamCp9Ji77nyYtav66O0pMJDNk65rVvGHy59+ljlzZ2BYeebMncB+cydjmD593b1qOmqu4GBaUdUoG4na5PM59bWkxQwPScpMI4MDg8TjKRKJNPl8ntWr1pHPQdkzWLVyDclUE01NMaZPH82MqaO57KIvcfyJDh8/J0ci1ceWdXP52Ice4NCjT+PYN72H8xdewBuOHsMhB4tmKwAZCCXHaGeo0EciYSjLkpxfISdNvA1s7Rpm48YBnly0ib0mH8Q73v5fHHTw4TQ21xNNSjNxSWZaYfgxbLHFqAWggLuDb1gy2xZ7l3Pz9/DNrA+nFdAKaAVehwpocK/tomtwr0E3De41iLYHd5GKdLVKrRJUwhT3HYbnyDaO72AHFn4ZvLhNrwEbHLjl0U089PgS5s2exZSZY1mzKkuiZDA1aXLYnAa61g3zna9cx5JHHiUVj+B6Htn8EO//1If40OlvZ6gU558rsvRHbVx6mTZ1DH+47Y80REdxwoHzOenAJtpNSMkbuyUCI6rgN9gB3MMzlgz0bZ9F2TZkomqYNrM7r/A4sjbYnuOu/NuBSSHv84uf/YVrvn0jdak2fMvG8y2csoEEz0RjBnaszPTpozjuLYdhWi5rVq0imahjeKjIQGZY+dq7urfS0dFBOp2mp6dXnee4seNZv36jgvZkIs3w8DDFgoNt16lJtoViEccxFWyf/okPMGV8E+effSo/vOnNzDliEYZp8L9/SHP+WYv5zDlXMmbMTL53zU0MZ9ZQyq2luaGEaefxnDSOGwXbIV1nk8sNk8t75PMBY0bvjWk0Mm/uEXzgA+9n/oJplF2P5kYby1a5OviGDKKSgbY2hjyZUM0QHoEpg5fE4y5DmXZHcb2tVkAroBXQCrwUBTS416aeBvcadNPgXoNou7lLCKL+DiAqthL5YwhsKYuJ+MMFyKrbCexupy91DKlES6a5YVMGcgT0lF1Wbh6gN29Qjlr0ZHzuf3gJw3mHg+btzdEHTCS/OUO2a4BNa1YSi6cYN20G0dYEQWOUX/1+EYPZHHtPaePA/fYi7uWJO0WmjWpk2tgG0gYkjDCrpOpfDwcrVV/PZ8mQxJkQ5AUuR36Wncu3/Zhy+HBhMGJBYBiUSj6rVm3m7rseoqc7B0EMzzeUBcY2UsSjKQqFHJ4xhOtt5Zg3zmfixFYF4FL17+vLKLvNQP8gLaNGMZDJqAjIUqmsngvEYwl6+/pxpSnVcWmsayIeTdLZ1Uc8HWVL12Y6NneSSsQ454zP8KufXM9Dj36dr3/nMNqndVB0JvLtr61h0YONXPPdm3G8GJmMT3ZoSDWzNjbaNDRG2LiuD7cco5Qv4riDCrjHT5hMLhtQV9eKUyySLw6w//ypNDYmccp5WkbVYarS+nZ/ldJIaRvGb1aWO6HmGtx387dUb64V0ApoBWpXQIN7bdppcK9BNw3uNYi2m7sIdIe2ku0vxeGqAVOAuDppKMzilkqzoZJYRtCXCnUXyPcIpIJtmDgEFAQ8DZv+sktHf4G8Z7JpsMRt/3iCsgsHz59DT8daKJXZf+5+9GztZ11HF9G6FGYyxhNLVzB78jiOmrMXYxqSNMYMJjbHqbcMFfkYUx717WeiznQH//muEOLOci+fR0SlhQgjleOqw19OwCSTKbB69RYWP7WScsnCc00F7r19Qyx7Zh2jm8eFCyS7gB/0cfiRs0mmTSa0j2XD+k34voFlROjs6mHC+Els3LiFpc+spLGhhfZxExT/rl6zmng8Rl1dinwuy+bNGxk/cQJr120glU4zZmwzqXiUU973fi6/9Fz2m7+ej50+FpdNDA7P46zP3sn+sz/OKR/6NJ874wo2bxqiuXEcxaKk1cTJ5vqJR+oo5ALaRo+lu6cDLyiRTKVoaxvPsmXLyGQ6qG8o8cPrLmXWzMmk0ykiEVNl+oerpyqkj9AwXO1UptXK9dq9pxy7eUvrzbUCWgGtgFZghAIa3Gu7HTS416CbBvcaRKtpl2q1dHsVOcRZyf+Q6rRU28XyEGJyCPqVqrzq8hSoDyP/JFklhFv5b4ucHxBYFoUAfAOGgVX9RVavHyCZbqBnYAurVq9mr72m0d8/RGYgwwHz54LvkssOc9S8qYyOC6Sj3OhxAmw8bNXmGCbGVAIeVWVa0kx2/tpxcVL5pM/Z9MWq79UnC2Ia2g7uMrRUnko8/cxGfnTdz4hY9QRElA/d8Uyywy7pWIOqNPcNbqG52Wb+gdM57oTDGRrspbGpgczgkKqgY9h0dQ5gEFOJMXKcUskJm1ZLOUa1NhONWnR0bFCRkY5Toq8vz9z957Ny1eMcdvD+ZDM9nHvm+/nxz9/ClH02qRz47u6j+fCHf8TZZ3yHoeFWPn/et8nlkzhFi6iVIBZPkM8PqUSbbF5y4lO4fhkvcImYEUxTBloNYUcHOeFts7j6O+dTXydhjxZxGYC1Q1TMiIFL6l7YUfvwvtINqjX9quqdtAJaAa3AbiqgwX03BatsrsG9Bt00uNcg2kvcJawkV/JYxDKjwCv0LQuchpgcglmY2VLFZplCGmD4FSCreMo9+Z5tUvICDMvAM8D1XALTJi9FehuGSkV8M6Ig0CYgZaNqsqbnELMMTFkMBAa2ZBAGJUxKmIbEPspWITHuGPm4XYTtTxOqdpodBQo/1wvZa0bCvGwXRkyG4F5dwMhwJIdHH13G8mWbKJds6tLNdHRuJBpPYlspClmXUrHE+g2rmT17KkPZLRx82Bwa6yLkChnKpQK9Pf2MGzuRUiGgXLbYvKlXRT4aps2KVauZO2828XiU4dwgvie+eZ+BoQFKxQijRo0mX1zLm45ZwLo1i7jtN5dz2TdnMmmvQQKnnTvvnMI3v/V3fnT9z7n62/fzm18/TOA10tjQju+ZZIaGidgRHDevFmqBaapJrpLhHrEilJ0cyXieGfsm+do3Ps7hR07E90rEIrLYANOQFJ+qltvTfMJvmRXbTEV7U0P7S/w11btrBbQCWoFdVkCD+y5LtcOGGtxr0E2Dew2i7dIuIyui2yGq6ooR54sn7heBZwuEs547dCh8m7BdNZwbKv/ysaQqr4qsoaVEwM9XXxoK3IvFMvGYoaIPfdvC8V08HAwzJjM1VXE28FxMzycZE9g2MFwByAArYoLl4FGqVP6lBm+pOruq4Mobqc7HkU8QRn7WfxdHnif8+2tnlffw3JR9SMH79kZdz7Mpl4qcu/AKckNQLplksyXiSYstW7diBFEiZoKmxhYGMwM0NdYxbnwjvX2bePvbj2HS5NH09m2lpbmJ8e0TeWLRUnJZl3iijq1dA3R19jCULeA4DgMDA0QiMYoFn6aGVmVR8d049fVpCqU1nPqRk/jm189i3Pguzr14HM3Ng+QHp3PWmZvY3NHEld/4PgvPvpnFT/ZSKscI/LhaiHmBTywSo+yW1Gc0I1E8z1MPUixp+qVMNN7D6Z95E5ddfjKGUVQxmDIdVd0bpizuQj97+HrOPaae1lReu+Jg2qX7WG+kFdAKaAW0Ai+mgAb3F1No5z/X4F6DbhrcaxBtl3bZDlVhvnnV026oyMHe3mE6OvpxPR/fL5NMRZm+z16MapEhPMLHDpZp4QeVPHTFygLZHpZQvgB0YOB7LlYl5UXAWhw1hWKZNas3M3HiWOrqE2pRIN54T6JRAgHxAMMM1PRQ0wrwyx6RIIoXeDS3NuBbfuintmTRIL5wsWsYeJ4fpphYMlTUx5Lqvi8Z5FWQrwgjbC/n7vvh37LcUF+Lb31kk+5zhQxNOeoZxA59ARaOY9DXW+B//3o/G9b1MH7c3mSzRcpelmSdTFMNiFkJ5XtvbGyiv6+XlpY0RWcAp9zLrNmTqW+UoUWSCV/CtiJ09/RSLvsqRUYmq2ZzLk4JOjt7CHyTvt5B5s8/kN7efgI/iuMU2XufFK2jIpz6kTdw9vmH8L4PpiiWO1jzdCNnnrmKo9743+y772Fc9IXbGeizcVyTaCylquyWHeCUAiwzoXSVhZbnlzF8g7gdoVQe4KS3zeJbV7+XseMjOOUe6tIN4MQIDLlmrgL3bfeEslTJcdSzk/DJSMVqpWNldumXVG+kFdAKaAX2iAIa3GuTUYN7DbppcK9BtF3aZTu4S1VVGiN9z+fJJ5ewfPkKDNL86c/38d73nUy+kOXee+9hzn7T+cQnTyUWE+iVhlawLEtN17QkUURSZxTWepiGVNQDAr8C16ZNIBnegcGaVVu4/KvXs3Dhx9h35mQCx1MWGM8JFEiXy46y0zy9fDUPP/YUK55ewQlvehNT95nE+EmjeXblajLDWQ459EDiMQunVCJq2eq9fdclGo+qY7iuQyIRVTnktm3hiT3HB8u28WWQp0CmL08UVCaNquzLechnE+gPX1XzRyUTRRYGYh9S6TrVpxCiBzz04DPcfPPtlIoWba2T2CwJL3URIglLQXbEjBKNJEkk6uju3MqYsaOwImX6+tZz8ruOx464ynrS29dD29hWBgf7iMcTdHX30rG5F9tKq2NH7Do2bewiGhVILuP7Fj3dAwwMdHP2OR+ju3M9137/81z/448x98AigVvijtvW8YWLHuaH19/NH+94jJ/e+Bh+0KSuuWFFwSrh+yWVhGMGjZgkMU2XICgQeDlidpkxY6J8+9uf4o3Hj2FoeAnJRImGhkYKw3IveETjBoHnk8sXMMwo8UQ9jitDpNLq3DFj4IdPSFSfqo6W2aXfVL2RVkAroBV4qQpocK9NQQ3uNeimwb0G0Z5nl7BKXAVSAfeKTz0Q+4qjYPe2W3/H+PETaB01kdtvv4+LL/m4skHce++j3HnXHVx08UJapOouFXUBZeVIEQ+0QblYUKBZdgsh1GKQGcrQ2NSkmlJlyqdAsetaXHnFzzjx7Yczf/+JqsqsNvAt8oUS6XSCsufiBrKtydlnfoV3n/xO3vjmOZQd+Otd/+DRRxdx3nmfIpVKELMrLndpfvXC+MR4MrptceH7DgVJTUnXUXbKROyomjAqzZaJeJxSSSrFUhUOsO1wwSEWkGRKLCShd35bmKEC96AywKkqtEU26/LQg08SiTSSz/l0bx2ktXUMmGUcr6wIP5lMq9SYYt4lEo3hOWUsy2FseyOdW9fR17+F4094I08/vZjRY1tpHT2KTGaQfK5EqQSjWyezZOk68KUyH6O3dwum7dHXk6GhoYnNHZuYt99MfnnLrxkeXsf7PrgvsJ6GVBO3/uYRlj6b4aaf/p0Lzv8+9/xtI6bZQLnsYppRDLNMYHj4rlhiRhMx6gn8Ao0NAY7TQcv/Z+884Owoq/7/nZnbt9dseu8JCQEChBZ6CAiCKEVUpIUmIoJiRSyIvCq8+r6oVEVAQIqigBA6JARSSAiQXjfJ9l5um/L/nGfm7t4NCWQvCX/0ncG4yb3zzH3mN7Nzf+c8v/M75QluuOHLnPH5yQQi62jpWEAo2ko4DOmk1BhIxj6JldJobkvgOPmUlYwgHo+SHxtCLDIYTSsGO1+VFgv2/uYj4CPgI+Aj8Mkg4BP33HD2iXsOuPnEPQfQPoS4Kzrdw5lc4m6aIhMJqmx0c3Mr5WUlvPjSMt55ZxvnfekUOjo7eOaZ+UyYOIIjjjpQSUDWrd1IW1sH06dNJZEwMdNp2ppbVDa1oqqC6m1bKCgsYfCQKtVIaNjwKhobOzEMkYoUceuvHmDuZw5DM7oYPmywks8kulMMHjyYrdXbaGpqpry8gkGDBvHiC4t46aVFfOc7V1FQqPPeyq20tXUSCuvoeppx48bQ1FCvpDl5sQirV21g/xn709rawLKly5m630RGjhpOwDDYsHErW7du56ADphOLRlm5cp3KFssxkskka9auVfru/aZNVkGBy9x7NfCipVcafIWj28BJZCArV67hvj89jKOFCYfy2bG9QTVOCoQMpRkvLy2hqalJFXuOHjmOtWvWK6mRuLgMqBL5UZKW1npOPf0U8gukK2pcrVa0tnTQ1NKt9OxdXRaJuARIGqmULBnEMe0OdM2gta2dE088gVNOOY6f/uh/2Fq9mtLyDuUCY6V0DL2Es750PkOHTuOKS/+bLZtT6EahWmmRIExWEGT1RHPC2FaB0rQHAqJ1r2PokACXXzGHSy45DMtuRQtU05V8D81oJBSSVQ4DM50gHNYJBaMkklIfIasLJSSTYfJigwiHKgAJBiLKdUjqJvzNR8BHwEfgk0XArWjq+Qp0dLX65z7h3e9Dt0pH76nU+SifsU92/rl/mk/cc8POJ+454OYT9xxA2yPi3iuVSadtAoGgyuyGQlKsqHHvH5+grGwYy99ZprzBZx89i+EjBtDdneCVV16jqmoILz7/GiXFlbS2dlCzo5apU6aycNGbjB03mmAopLzFZ88+ivfeW8G8i7/Ai88vprm5nssuP4fb/vsRpk2fyN333s5Fl1yIrgf445/u42tXXskTjz3J7NlHK1J78tzZShbzjW/8kC+fdx4Hz9yPfz75IpWVlRQVFvDb//0tXzjrC7z6+ivohsZll1/Effc+yuGzZmFZKeVzvmTpYq677ipVLPr22ytYuuRtopECRo4cTVFREZs3b6S4KEZ7Rzvjxo1m4+a1nHTS8UyePDb7Ca9QVZ466snfu2IhO6VNh/b2hJLpWCYqYy8WjkrXj00oHKCutlnhXFpcrBxoJOMeCjkkkxr5+S75lkZKmzdv592V6xg1cjLDh49ky+ZOHCeModvE4wHy8jTa220su5vCoiAdHa0UFIXJzy9XQUfNtk6GDAmTTHfj2AZWWoi+w5Bhg3n0oVf4w+//RWenjWkFlee+joVpQUAPKftOS+oDdJtQqJvBQ2DepSdz7jmziIRSRCJSEdBByqpH0+MquJHVANuEWCSKJp6Q4nHv+fxbloZhxNC0MI4TxBELIUHFN5XZe7/Y/pF8BHwE+oGA1w08U9u1UyLL/Wdf4t6Pg39qd/WJe26XxifuOeDmE/ccQOsHcRf5jBB3ybgHDNF8u0WlN/74vzlhzmksXryUjZtW8+OfXkMoFKWtrYvbbr2dq666kpUr1vK3J+Zz5JHHUNe4mQsvPoM/3PEII0YM49hjD+Z/f/sABx1wEG+9uYAvn3cyDXVdvPrKC1x55Vf55a1/5jOnHs2DDz3J8ccfRlnpMH5x821c962rueeuPymSeeppsxk5qgojoPHkP17hlecXceopp6rs/ro1azj3i6cyf/5iqmtrOWDmDH7z+9u57rprWfHWCtpb2vjs6bMZOrSSb3/7Zi66+Cs88cQ/Ofus00gmDX77mzuIx5NcOm8e7e21VFaW8/AjfyG/IMpnTz+ZsWOHEI2F+vSYEsFMJuPuEnexP3RzNabloBsiBVLibZWJl4JXacAkGX3ZLRiUegCbdNoiGpbiTkcR+IK8MIlkkmheiI5EkqbmTn5727289MIKUvEwOPnEu6GgoISGxjpVuBuJRUh0ia+6RizfIRgM0CHe66GAcqMR7bkRMCktqqC5qYVUOk4sGqKxzqKzM6IKfS3HUBnyVLoDbFm9CCnf9mA4SUGRw6hRhVx51amcdsb+aE6nCJ0IGUG1YqMZXocuWaYRwi81D3LOjsiOxPYzy8tfslqCnCbEXYRHul+buvd+rf0j+Qj4COSCQLaZmGLrYme8U35dnt19Wvzl8kGfjjE+cc/tOvjEPQfcfOKeA2i7HSJks2+jJfW4ssWRxe04Km+/994annr6BS6a91WVTb3hhh9x3pfOYvToUaxatYFHH32ciy68gGi0kH/+Yz6jR4+mubWW8750Onff/RcmTZrMIQdP5dZb72T/aQfy9vLFnHrKcdTsaOD999/liiu+ys2/uJO5c49m/vNvMHzYAMaOncJtt/2WG2+8XnUOXbRoEa0dDXz/e9cQDOt0d6a45urvMW2//fnsqZ/h3nvu5ayzTmdrdRNtna2cMGc2d9z5IM2trZx+6me5+467ueLKrzCwahg/u+lWPn/mF/jNb/6HX/3yBjZtauCBBx5S1opz5pzI4bOm0t3dSUNTE28sfJ0333qNeZddyLHHHubKYtSz3CWmssbq+sX3+rm7cEuhqGApha292RpFVL2MjmTeZacey0QpclUHl6Jcz9lH5DfoNDcmeOLx1/jzn/7J0sXrsMknFCrFMYNE8grVyoeZdmsMdEMunmS2g6QtyfJLEBYikejA0ANqPpYlLkAauhHDMsM4luUW5do2waBJKtVFNGKQTLdQWRVh3mWf4+hjhrPf9BEEQ5JlTxJUUhrD7air7D3FhccNVJT9p2L03hegW+7rNeTy3O5VHYFsmYZZe/Pe9o/lI+Aj4CPw0Qi4z6XeGhvX0LjX2rf3CJlnvCwP/vsvEfrE/aPvjV3t4RP3HHDziXsOoO12iGrv6W29Dy/JuAvpE4YqGeDnnn1Jqf1mH3s0+QUB/vrIUzz+xOPMOXEuJ544m3feWcv7769h0qRJTJkylfnPzWfjpvVcffXXuOee+9Txz/viOdx++x2MHj0W2zYVEZ8yZTJ19XWcc/Y53HPP/Rw9+2hFAp+Fr30zAAAgAElEQVR55mmGDhtCfX0thx9+KGvXrSEaC1NWUcp5552OmXKJ4l/+8ijjxo3jwAOn8re/PUt7W4eSu0yePInS0gjr19cyf/7zzLv0bK699qcMHjSU6dNn8sD9j3Dy3FNZtOgtRo4cQVlZGc/N/xdnnfUFHnv0L0wYO4qRI4exdesmHNIqO33OuZ9nzJihfaQymW6xfdLwH/PyuM2ush1WxOFHfPA1TNNhw7oOnnvuLX7zm/uprU2RNmMMHjSR1uYEnfE4jm5haAFsx1BNlBxltyjOM0ECAR3TSinJkHyOZMNDQek/q2PJKotmE9DFHacDtA6KS+DIo6by1Qs+z4wDqigt8yUtH/Py+sN9BHwEPkUIKCtjj7YrU4Ss7YMdt33ino1PQUGB+v79NG9STxePx/fqFH3ingOcPnHPAbTdDtl1xl0KHUUqIxaOkkFtbu4kryCCEZLMsUZ3VzdNTa1UVQ0kGBRy6FBX16ISrQOqSmmsb1Me6CUlMeX/HgwY5OVFaO9IqKdkaVm+2n/Q4FIa6ptBCyrrx0g0SnFRkMambkqKw8QTqMxwV3cnaTPNwIHlKhMt+ndlN6lpmGmxoATLNKmurqOsvFxJQLq6Olmy5D0GDqxg5MiR1NXV8eorb3DSnFN47bUFDB40UslZVq9+n4MOmsbjjz/J3LlHMXz4KBwrQUV5iSq27ezuVPIa8YkXC0mXVO/Na/Dhx7Klu6z4p4v0RjW90uiOyypINa+/tpKnn1rKqlW1tDWnQYthI9lzDdPWCOhRha14pauCU89rXuw5VWOsgEh6EirzLnhqWpJQIMXIUaWUDzD4zncvYOq0IeTli5e7pci/v/kI+Aj4CPynINBL3GVdM9MB25PyeSfZ40WgVj8lTfPvn22XU/Mz7rndxT5xzwE3n7jnANpuh+yqo6WQZdG4B0grAu9mbUVHbWomAdVQx1EFi7o0OhKfddPGsS3C4aDqriqW5yIRcce6vVSF8Iv6Q+wd82JSmOjJJaRU03HfE+9zIcWiBU8kksRi0vhH3CVFIy3OJJayXtQNUZZL9jitfoqeO5lIEQwGVYOojvYOnnjiSWJ5eZz+2dOU20sg6Hq1K9mKDbU17Tzzr/nMnTsH207w8suvc8ghBzB06CAiYZGSyPm5TYdEvy7nIxnr3u2TYe/igy7dZaURlKujFzlMANOUYAW2bm3mnXd28Nqry1i6ZCNbtrTR3NyOZYmERRochTD0oDofAd21/xRffYeAIe4xafLyQ5SWhBk/cQiHHjqZk0/ej5KyAgYOjGLZSaWNlyZQ0XDxf8QS8d78DfKP5SPgI/Dvi0DmG9Dt6u3SeG/N083De5I/kRCqjtSqwaDhyRv/fc/bJ+65XzufuOeAnU/ccwBtj4b0XSY0TUs5nriNlYQ4SvGi2x01mUoSDoWVW4g0MZKunuKHHgi4mmUh3gEjQCLZrbTV8vxTxNcQv26dtCndU93stchm5O/S9CmdNgkGhWjqXkGn+wgV7bkUWabFdSUYJJVKKSKuKv1Vd1aZo+iz3Z/t7W28+uqrHHPMcRQUxFQDKNW1VYIKVXDr+rvfe+/9tLS0MGBApbJ/PODAaeocDI+fyxJbNBqmo6MDWRbsS9o/IeIu9iy6e46ZP5JBlxURCSpSJmq+8r3T3g7r1iV4Y+Ey3n9vHe+sWE1tTaMqNpbrIE2kkknxo48yatRwKsoLKSstZNZhB3DY4eMpKVWXFF13CEckWEmQSieIhsUD33WD+U/Qdu7Rr4O/k4+Aj8D/DQRkNVKdqdQfCXEXCWlG5y7PefmukoSVNKATh62A1+fj3xseP+Oe2/XziXsOuPnEPQfQ9niIS96FeAtJFJKtXGXcV1XWPUPKhbwb0p1U0zxCHVLZCMnCuw9AV1MiDzp1LEmZIzptefiJ64k4irjvCQEVQhkOh1SZYiotZD6gjqUen0r37fqKi7d6KBQkZUoQ4QYKEkxkdObi0BIMiaTDJdYyX9FuZx640lhKGi5lAoi6unpF5ktLS9VP5YAimXY13DvfgNsZVrq4utsn5+Qr83e99nuLWmXJQK1YeKsTMjeRschCb9qSjreCM7Q0J5XuX2wo1WHU6kVaNXuqqiqlosx1hJFMvmoMqwIWObZk5CW4sVXBqimYBiUAc6+tv/kI+Aj4CPynIODKEDXSjkNAPf8dHCvtfv/J+qRKlATUM1eVpf6HPAJ94p7bHewT9xxw84l7DqD1a0hvRX1GE913eOap1VvMaknWXDdc15CMm0jPIHc/kcrISCGi4j6ivFO8mEA9KNUjsreSP+Mz0jNOkX/Reov7iRD6nkVOj0y6nyNkUxXWepsQdkXcPW2iI32KJKDIGuVRWvXAdnl5RhIjxD1L8tMjbpfst7frPha8K4VMT5zgKTLlRU9+1OPH4ujYuqkMKV10DVWgKqUAasVDSZY8KZLaR4pQZdnX7XTrNpDKviYiKZKji9zGw0sthPyHfGv163fC39lHwEfgPxEBVW4qy68iAbWld4U8D1Pouq2K+MXxS9fCysZXyLv6mtKzkij/xqD4xD23i+cT9xxw84l7DqD1e0i2bKb3765VodtHzqOtXjZYsT+PCvfW6Pe+ljUBxXgzfoiiH/cCBS/D3btnlp48M8ZrkKGkh1ndSz94ejsVDyldojdn5bKyi03px+U0RCuya3LqBjKyipA5/31P3vsQd2/lIdPRT12LHp9hDUczlWbdxTdjWZadJfeIvxck9Z5l9rKwFyUonKS5lGv3qDZXweRvPgI+Aj4C/xEIyFPftNPo8qA10+rR39HZTGNLHalkO3mRICX5heTHStAiBTiE0Yywakz3757E8Il7brewT9xzwM0n7jmAttshbhV9r/Qjm5VlCHsmE56xFtyZufUlsX3JehZJ75nD7phf9nH6jtMyhL3nGFJU+XFxyF452PlYXs/rD3xGNnF3ya7rwf6xJ/MhJ+PiooKGnoDJ89jPkuwoxDypSw/LVgOzLrF7pJ5W3hm9uhuQZKbgauk/eE/8Z2SZPu5d44/3EfAR+M9BQBF3K0lAa6Nt+/u8+uJzWIEooydMobIiDyu+he6mDThpi8KycQwYfQR6aAi2Jt2f5Zm4L5/9+xZnn7jnhq9P3HPAzSfuOYC2myEOKY+2Z2dns3eWx1qGwLvyi91vfYtb92kRo1LkuIx0Tx6cmUz53kHOPc/eY34SevedsRUdeuYLQ3eDGNWB1F3A6BNK7fJ7xW0e5XguNT0kPWtgj1pIKeczb/TWEuwdLP2j+Aj4CPgIfBIIZFYVM08zHU1JDlMku2pZ/NL9rFo+nyNnH0PJoIlEioeAnSTRvpp0+/vEog6pdD7d6SFUjZ5NNH84KLvdQJ/nrfu4zTyvZUV0H+d1PgZ0PnHPDTyfuOeAm0/ccwBtt8RdGhN4kgj1c1fELEPcMvKL3oN5ueAsYtf73p553X5UtiJbwpGdOv6orP9HYfSBNHTWAMWCvX/v6qnb+wXg7revu+jtvKLhTs3NimdWHjy7TbHt7JOX39VYFzv3LLNXXLwvGU/r3ruI4AZvbq2BT9w/6s7y3/cR8BH4/4mA91x0hX5efZWqfsJxTJXosaSjtaNjWHGcVC1vvXg/TdvfYtTISrrsEt6v7uCd9bXU72hCt9sYUGoyeVIFM2dMo6p8NKY1gOKBMwhEh4IRwdF11TfDEHtk9XgVVxpZtZX6oE/Uy6BfwPvEvV9w9ezsE/cccPOJew6g7RFxdy2vPij7yEhl+gg1sopDs8m1opSeNvqjSHlmUp7mfOclR68A00sNe1r4vhIRN9ueTaQ/GhtFeDP6+A/obdwHvRRtevR4N/aHbjGn6OHdOezLhhyqGqrnxHrl9ULaXdmLcufRRHVpoCFOOxlMdhWgZB+r17EmQ+Vt5Sgj90Jv0NLbzfXDVlw+Gnt/Dx8BHwEfgX2NQJa5o5vk8P7fsYW4Z5zKkhhOE++8+hBb35tPaUWU1pTOUws2sbE2TZcZxFS1USZBLUEkkGTC8ELO/cwxjBuzP/WNAcZNOhrCpdi6OKqF1HeBavuhEiLu98LOc9nX596f4/vEvT9o9e7rE/cccPOJew6g7XZItgQjV8nHroj73iSyGQL5YVny/mLyUcfKzrjv6lw+anx/5/Nx9hdNunsdP6i3zy4U3tPPyAQKn+I13j09FX8/HwEfgf9TCGSvMfZ2PM2sULpZeOVsRgtdTct54r6fMKjYJhkq5a7HF9CmldGWiGHpUbSgSdpKETAkO5+iUG9k2ogwF3/5QjpaNcpLJzB66lGgF2Bprl2u+23R+9y1PdmMvLOnqaxP6oL5xD03pH3ingNuPnHPATR/iI+Aj4CPgI+Aj8B/OAI9KZU+DF7os5uIcEzxZLdwzBqWvXIXyxc/zpDhw3l+aT1vrmvH1DUsPYZpBwlhoQUt0nqKARVRygtMxg3KIw+D/cccSEcdzJ7zJfIHjMMm7K7WKv9dbyVTCXTEJtkVGX7aNp+453ZFfOKeA24+cc8BNH+Ij4CPgI+Aj4CPwH84Aq40RWxss9R+mukRd+k1F0RzkphdW3jozm+S7t5MUcVoHnpmJXbRMJoSjaohXXEsRsjW6Ep2ktS6OOSIsYwYUUxLXR0bVmzjtNmns+399Rx69BlMOvhkoFTViKmeJJrlVRpJ3ZChzAM+bdl2uQ184p7bL4NP3HPAzSfuOYDmD/ER8BHwEegHApkSP1HrNsXb2dbaQBzpE+C1DvAcjIK2RkV+MWXhPMLhKDVtjdR1taEFdIpjeSRSKTpTcZc4qcZnXks1r1hD1YjYYDgQRCcvGKGyqJTCUJSAajNvq2OI3jgYDJBKpTHTJsX5hRh6RpqQRYw8hZdKuCqbU7dZmt3RQXzrJrRk3O0KLF0xA0G0WIxYSQmEApBKkOrqRFNFjO5MbUfDCIQwonlogRB2dzeJ9g5IJNFtUzrKYWo6hWPGQyxfjenpZOaxtT6SjZ6iyY++GFJbIp2iN27cSFlZKeWVlUpwIcfr7Oxke80Oxo4d22NLaGdsXdXPvSlX/OBcXXy9GkxpjidN2iyTdFcHHfU10NVFyLTQrDRI1ztvEzcsWw9g5hdQNHIUdU2ttHd20tXdzeRJE4hGI17DiB4K/tFA9R49S1OuZylWLGzPHUty35qdoqXmXe7/7VWUxkwi+cN58p9vUjp0DDtSjYybUMVn5xxFJBijsa2JJe8tZPSEIvJLDGpqW3n2iRUcO3MuHdWbmbz/4cw+5UL04AgcO4CuysSyeoL4xan9uH57f9ft27cTj4sJx97bfOKeA5Y+cc8BNH+Ij4CPgI/AniLgyQyk225Sd9iYqOdnzz7AszUr6YxBWrcJaAaxuMOhg8YyZ+xBRGu72X/mLH7z4sO8sH4FB4yfxA+OP5/bF/yVxza8qbpTWmKyoUPA1nBSKYLSbVn+CPGzNUK2QdQyKCHCFw8+ntOmzKIskE9rWwtdiS6GDKhSUcOWzdU0trey/+T9KBRSLZ2ANQPHdAgIKzddxyRHl0DDxrY0ku8sZv2N1xFt2EZUdQ0OYNoOCUOjNWJQNnkiQ089jdDQEXRuWsfWTWuJhPIZPnqCIvfdr7/BptdfJ9VUS74WJGzZBK04tuFQHYxxxG8fgbGTsaVJWSDg+jBJUGJp6LahmrrJXNwO0W5Re3YzN4WBLr0yentFyN+XLFnCyy+/xBWXX0Yor0B1QjYcDSud5vKvfY0vfPEcjpx9FI7tEMjEDLalunxmHyvzWZmfmYJz+cwP23ZnpSu3SFoCLkkqC0EXlxbNgnQndNSz467fU/fIX9Hr6whpDqYOSdOmMxShe+R4Drj2ezyyci2/vf0eZh9zHAfMPJCLLvmyIt56IKS6OX/U3HYVTvQWg3rE3eupZ2Gii/RFrosVp37rCu799dcYXBYiFq5k2/s7aNzeQndM4ytXnE7Z0BBOMERbspX2VD2dHbVECwKgR/jzH99i+phDMRtaGDZmf+aecyVGcDCOE3EL+1UL6uyMf1+DgT39NdzX+/kZ99wQ9ol7Drj5xD0H0PwhPgI+Aj4Ce4hAj0+T42A6DptbalkRr+G3Lz3GykQtHUGbiKMzySjmjIOPY8Pid7h47udJGCFufPZe1u7YwoUnncGJQ6bxk+f+yNKWaqZVDCekaURjMQr0CPUt9cQKCiiI5rO2ZjPrGmuoKixjXMUQooEQnTWNjCiq5NRDjsfRbarrtpHq7GZ08UCmD5/AO5vWU1lRyvCiUhVEQMC1QrUdlb3XrSTYabCknb1G98olbPjFjXTXVBOQTL1tU+LYisS3G9AQjVAfzqN87HRGz5xKfnmE1qYkbe+upnHV+0Ta2oikE4QNk1AiTRSNlGGTChrUh4s5/Nb7YOQYCOikhRwGAmiWjW4pJo9wd013rVU1grs1984QZSmglG3RokUEDYMDDzqQlC2rDkE020EzHea/+CKrN2/gwksuxtA0woowZpqp6W4Rptfp+cP6XWST+V3tt6vXhCBbUhQvc9EcRYq7GuupXb0K1rxHdPVKkq+9TGL7DmwzTTKg0xaOYY+dyKTLr+LZTbXc9Ns7KcjP5+ijZ5NXUMDVX7+SwpIiTM1Q3lhyHTXXX7EfW1am3ruRJViUV8UOUtdsNCdO846V3PVflzOwLEgoXEKREWTr2nXUdcW59Jqv4ATbKRxQwIplr5JyuskvjFFXv4VBQ6uorg2SbKuk+t0mRo47lLnnXYZmFKPreWie1r2vufuns9DfJ+79uK2ydvWJew64+cQ9B9D8IT4CPgI+AnuIgFBGZWhnu+SstrURCqOsbNvOLc8/yKq2GiIYfOPYzzGlchQt9Q0cPnIC7zTXce3Td2C1dfLTS76J0Zzilvn3063b/Pfnr8aJx+lOx5laMYY1TZtpc1JMLh/Fgs1v8+CC+Zxx+ByMzm7iyS6GjBvPXY/+mdJYPqUV5XTEuxk7fDQlLSbnHHICCc1mw4Z1zBw9gaAuRDigCLpIIgwzjtHZQdd7q6jbsJG2dJyxJfmsevRRygcPJm/sWMzmJtrfXIjWWEvC0NGHj6Rw8jRMO0bt5pVoWisFJUOIJEziG9fhmFA+dChdVgKreit6Rwft+XmEywfQGSxk1vd+hhmLko63ERo0TGW8tc5WNy2dX4gViypXV8mYa3rItQrs9XbtuTJCkjOk3TRNurq6iITDhCMR9/y8DsqGY7Dg9QUsfudtLrniUuUhHrTl2K4cSRfbw52y9ztn3TNZ/wzB3/n2+HDSLysZaTTNwBJpEXHi9fXUvrGUpheep33JIkJNOwibKRVUdOo6sRmHMvnKa/n72o384n/vYPiw0ZjpLj57ylwWvr6AUz97KiefcToEQxi2RkCayn2cqs6sAlWvbZ6Ir4Au0l2bueO/Licc6iRaXEQ4kqCoIMCmbc1MmDCeCaMH43TsoLFuE/F0F1t2tFMxwGbEyHzsyGieeWorqeYBHHDIZznspDNxggVo0k2VsCuX8hzkM/2u961waQ9/sXfazSfuueHmE/cccPOJew6g+UN8BHwEfAT6gYCrl9boTiVp7eqgqKiItA5v1q7hzn88xOSDZnDEtEMJOhYlWojhWiH/2L6UHz79ACMDhfzXV7/L66uXcecLjzF90hSun302Lyx6ha2tDXxtzjm8vvItlm5ezZUnfZG129fxVvUGTj38JN585zViBfkMGzWJO565n+amBk6feyrPPPM0ZRUDOPeIuUyJVCkSu2HjGqaPGksEkVbo6I6DbXahmZ003v0n3n/yCTC7qQsFOXjuZ9BKBzD0uBPR8oshncJevYynbr2J4sqBHDbvKvSh45S0xWrZzvJnHmfq3DMIBnXeffh+7JTDfl+5iFR9E0vuvYuIYTPty19CGzgEtDCao/HGH/6bmveXccTnzqF4+nQW3fm/1NXUccRZ51A193QcI19JKSwvm565HJZlqUy6/EylUgQCAQzDUFIR+bdueD/RCYdCSlf//urVXHjhhVz3rev47OmnK927/LE0R05BrSqo1zxJTiYYkGOm02n1GfKa/JR/y37ymfJ5oVCoJ1v/YXIVRdht8S4XOmyh2wlIdGN3x7Ebaqh9/l8sfepJmurqGLLfDI685ru8/P4mvnzFN0hJpt6yuOArZ/PDr1+JmYiTP7oKI5YHtuTbI2i6oaQ4uWxujtt2tVle+w/VLVqCGyMOdgPPP34r69e+zODRxWihVrrtDrrNEE2NXZRHYhxQVUnNpu1sq6/msMOqKClPkw5ATf0A3lqSArOS2Sd8mYkHnYSjFYIWzVpJkRlI+GuoNZaPE3/kcv57MsYn7nuC0gf38Yl7Drj5xD0H0PwhPgI+Aj4Ce4yAg21bSpedthyaO9ooyi/E1B2aSPL6qqUYpfnc/sC9aEmTC04+kxOmz+LBd1/ktpf+xuemHMaFsz/PX5b9iydfms9XzjiLkwZO566n/0LxiCGcM+0E7n3qfiLlRXx51im8tvgVmnE4bOYhPPzog3ToKRJ5QVZuXEvI0Zlz8JGMHjSEx558kuOnHsLZh56IdGZes3YVM8ZNIOQEVesxKY7U0+00Pft3lt1yCyVCJ8tKaCgt5+Czv0zFQYdAXoyOzk7CgQgh3eLNR/9CflkZk4+ZQ9IJkkokKciPsPrNBYzYbzqRcIBlTz5GJK+YSSeeTN2atWx8YyEHnnQiwcpK0qk0VncXoVSKBT/8JtHGLXRFizn8gq+y4fFH2bSjnkPPv5iCM87FCRS63TSVFl2kG44iyi+88AIPPvggCxcuRLLsEydO5JZbbmH48OE8+eST/Om++1i9ahUBI8CcE0/g61dfzdvLlvHiSy8xuGogT/7znySTCcpLyjjh5JO4+NJLGVBRQSqZ5Cc/+QlPPfWUOtYNN9zAlClT+OIXv6iI+U033cSYMWPo7u7m1ltvVZ91wQUXMG/ePBU0fJi8RtFS0eXLbWJrpEXGr4uGPKWKgY20Caku6GqjffVaKKzg5ffWMe+a79DZnVSSpnQ6zi9u/C4njxvN8r/cx+zLLqBi+nS1rx2IYRtyXXNzZHFLizOtl1zyroqEpampIf/XStP2N3nswZ8xZmyQSLHJ2vpqGrp0nGSAsUUD0OuaSLS2MXPWIEqKGrADHVihSha+aWI5E0k6RRx7yoVUDp6BQ4GyflQNmFTU4H6Yo0Q/bg/XT9vmE/fcrohP3HPAzSfuOYDmD/ER8BHwEdhDBIT02E5aFRxKOWVNayvBUJhgfh5vbV/N/NdeYOYhh7Kieh2bN23knGNPZ+zgkdz1xhM89vbrXH/aV5kyYBR3vPgIa9au4QfzriXSafHnfz3EccedzIiigdzxxN0cdOAsjhy9P797/E7adYszTzyNZSuWUJfoYFuinfc3rOPo6QdTkjbYf+x4CsKFdNXUM2fKLJqbm8G0GF5eSUj07ZaDZthQvYFFN/+I4PI3CA8cytAvXUx02gyCZVUQiaDZnTz9lz8zeb+ZDB83idUr3yUUyWPUxLG8t/gtupMmB806lNUrlhLIizBm/HhWvL6A0pJyhk6exJb338ZOphi53wGk0rB24Wsktm5kxmGzWHbT9ymq30iXozNyv6m01zewoSXJQedfTuyMcyEURVxVlOLacZTbxa9//Wt+97vfUVpaymGHHUYsFqOwsJBzzz2X3//+9/zxj39k2tRpzDp0Flu2beHJp/7BcSccR8QIMWP6dJ555hk2bt7Meeedx/LlK1jw+kIuv/xyfvLTH6vC1q985SvKmUb+3H333ZxwwgmcfPLJrF69mkcffZTp06ezfPlyzj//fEXgX3nlFQYNGuQSd0V9vSLbne4d5Vae1YRasvyOdF12bFkQwNAMZbvokMI2HZ79x8t87wc3sr66mrQthFYHK82fbr+NI6Kw/Gc/JJQXY+yZZzH0zLMJDhtN0ggRMiQk6/8mRcAucVfCIfcYKtrQ3SJhpxvdqeONZ28n3voG+WU69ZbFKyu3UBoqozwFdn0DJxwxlPzCVoxIG4TyqK6LUNc0mGjJdLrMCEcd/2WiBSMwHXGU8VyOVP8lAcdyAzUVqfX/HPb1CJ+454awT9xzwM0n7jmA5g/xEfAR8BHYQwRUIZ8QH9PBMQwa4h2s3b6VEWPHsLluG1o8xbiho4hrJtub6lmzbTPLazexrHULmzuamDZmInmhEO9uXA2mzaSRYwhoGuu2bmTIkOGqjHTjto0MHjKUgnAey9eupD2dYGBZJQMqK2jp7mRbQx0dXZ3MGDOJyYNHEnE01q3fQJ4V4PSZx1PYrTFj+BgKAkEC4itja1h2Eue9FSz4yfeo2LqKwsOOYdjVP4ABlVjBkCKiejrOmy/NZ9ohhxOJRnl/2XLyCsoYPnoka1cuY9CoceRHIrzy8AMYYY3DP3cmm7dup6CwhNLiQqrfWEiwqpKKsWPACtLdVIuTaKdA13nz21czqG6T0rJbAU3ZRNYa+Rx00dVEP3MWdihPddeUAlXHtnn00b9ywQUXMWbMaH7zm98wbdp0JV0RRvz0089w8cWXMHHiBO688y4mjB9PTV0tF11yMa+99iqxSIx77r6Lq676OofOmsW9f/wjr778CpdedilDBg9h/vznuOnnP1dBwXeu/w4/uvFH3HXXXZz5uc9x1de/zkMPPcTf/vY3DjroIH71y1/x05/9hF//6ldcfMnF6Lr4kbuFrsohRaWr3R/ZfY0yL/caqIgWxSEtRbke8Rf5jwQTV15+NVu2bCdlmWolRzAyE128/uTfGV67jrU3f5eQmaSjsJzY7BM58OpvERo+hoDeP5GJW5qaUZlnbnipTu2tVBWfdcdOoespumvf4N1Ft2NZzdQlUmzq1NmwoYZYd5pzjjqQqlgHRrAZCoJs3NZJY3M+E2d8jrdW1nPQoccxZuKhWFYMzYj0QpWpRVWf2Re/PfwV/ER284l7bjD7xD0H3HzingNo/hAfAR8BH4E9RCBDxHTbwdag2zGp6Wzh1cWLOO2ZvKYAACAASURBVPaooynUQ4RMR9k5JnSHTt1mYeNaHnzxn2xsrKHVSZFw0pRXVpC208qDvaOrQ/mwi4460R0nPz+fru5OCAZIixZZvNXTFgWxPCzTVLrrgvwCkp3dBB2xVHQoKi2mra6FQ4fvx7eOO4+x4RJCtokhggohxI6Fve593rj5RkpWLyc2ZgJDrryG4OiRaIVl4ATATLF6+TLGHXCAcnlZvWQp0bxSRowdx/qVyxk1eYpySNnw8ousXrqQk7/5TUyjAAJB9EQ3q//6MGXTplA0cSJhPQ8z3oHjJAl0dbLgmisYXLtJHVemY9kOO4x8DrzkGiJnnIulh9HEphGbVDLBeV/8In//+9/51a9+xWWXXUYg4LrNyLlfcvE8/vroo/zohhu49tpvunaaaZPrv/sdbr/9dr76lfM5+9xz+Mwpp/C9732Py6+4gjvvuJMf33gj51/wVa68/ArOPudsxo0fz6WXzOPkU07mv375Sy65+GL+9/bb+e53vstfH3mEY447lv2mTKWouEgFC6UlJehellvLtorcBXHvm0T2vMuVhEYy2uLwo7Fy5fvMPekUOjvjWLYskljYKuMuFpImS597jvI1b7Hu1hsoTiSgvJLO8dOZ/oOfEhw1gUgktod3bSawyCbuMkPPmlFFHcoLx42dpB5CbDO1Otq2PMfm9xdgaxZrm9p4b1MDm9dtZWJhmKnDI9h2DdvauhgwdCLT9juNDTUQKxvNYUedAHYEPZBP2tQJBFwZVGbryfJnBT79Opl9vLNP3HMD2CfuOeDmE/ccQPOH+Aj4CPgI9AMByQi7Li0im3FIYFHX0cqyNe9RUVLOsIGDqMgvRBwOLc1WRZGdVorVdVtZvHEVq5uqMfND1MfbaY53kFdcSHtHG2WlZTQ2NJCfF3PrBkNBOhLdtDa3MKhiADHPUSQYChKKRNhSXa2aD4m7StjQMZwAZmOcq444gxNGTKHAliJMHSGZTtpCT7ax/sF7qXvgPsJWkui4UdiTJzNm7ueJjpgCyS6e+/M9zDhxDuXDh/Du4jcpGTCEwYMGs/DxxymvqmDcrEPp2LqJJ267mS//5GacwqGqERPtdSz85Y2MOnI2g487hXhDNyteeZXU9s0cftocXv3BN6lqq2PwjOlsXLKEQtOiQStg5pXX4px6Bk4oqOQlOgZbtlQrOczixYuVtv3AAw9UV0e0501NTZx9zrm88sqrvPLKy8yadbDKIou05pJ5l/DXR/7KojcW8dqC17ju2usYPnwExSXFbN68mSmTJ3PvH+/lsUcfU/r2m35+E8OHjeCMM87gO9+5XpH8Rx97jPPP/yp33vEHGhobuPHGH/OTH/+USy+9jIBhqOBKOcooLYxb4NqfzbQlo+3w1ltLufrr17Bu3UbSaVuduyme7+Kxj00ooLFuxTKM9xbx3g3foKilBau4nDHzrqL0rC/hlA1Qfvt7bVMLAmIP6q4oqU1LopntdNWtpKPmfeJOnG7yaI+HMNu60JIbiYS3E8qHZKqQrvbBlA45gP1mHo3thNC1MGghFTi6sqJebX3vMoVYgu61s9hrB/KJe25Q+sQ9B9x84p4DaP4QHwEfAR+BPUTA1S+7Omxd2RNaWJqGpWs0xtt5d/N6qhtqlaxj2oTJDCopJ6YJgXYdTVJAW6qTHe1N1HQ0saWxhm0tDWxt2EFrKk5rdydJcXXRHGxxMsHE9txPtICmrBTDkSjJRAI7mSasBQjbEHMgEohQGCzgyIETueTE0ynSgsp9xNFEBuN6dDsN21h9111Uv/YypBPs0IN85oc/oezQI6CzhcdvuZkDTjyF4TNmsH75ckqrBlM6sIIFD91PuCDGgZ/5DMnt2/jrj77PedddD5OEVGuYa99h4Y+upXzMeMZf9DWMqhHYKR2nowvNauP1668m2lTDtG9dy/rnnyW5YgWtxDjia9/GOOlUrHDYLVS0NbZu3qIy4kuXLuXFF19g1qzD3IZDmtuK/otfPI8FCxbw2oLXOXjmQUpes3VrNXNOPBHTMlm06C2+/a3rlNzlM6eeRkVFueqietRRR1FQkM/Rs49h69YtjB03VmW/pbh13rxLuPnmX7B02RJOPvkUrv/29dx51x0MGjiYP953nxovAZt0Xe1VymSsDb2bJ1srsxsyKpl10df/8Ic/4p0V7yrSnkymsUxLrabIKo6oZfLzQmxc8w6hLatY+oNriFZvpcUyiBw9l5nf/wH2gCoihji1fPytx3lT2cq4YjC3tarERCa604bdXUs81UlbezfdCQcz3k1r40aaGzdhBANUDhzHwCH7Uzl4AhhRHOm2Jfp5r9mVrrvEvaelrGLrqpXqxz+BfXAEn7jnBqpP3HPAzSfuOYDmD/ER8BHwEdhDBIS0S05USLtq6CPGepaFHjBIOTbtpGlKJXlv23reWfY2TjzFARMnMX7cOIqLipESPSkMFHWyKbIQ26Hbsui0bJqcTtqdFK1mG13xblo6O2hLdNGZTJB0LNKaRX1DE9WbNqObDjPGTuSgCVMoD+UzML+AAiOfoBaiVI9SFcojLIRaBRoaYQdsPY2T6kDraKfzjUXULFlOa8pmvzM/R7qqjOSmNbzywP3MOGAmoyZOZtP771FSNZDiqjJWPv8URizGpGOOw9q2jZfu+AMjDziQ0V+5QGVU19/zO+Iv/0sVTabHT2Pily4gOmoywXAhTtN2/vntb0BrPSf88IekdIdXf/lfxLUwn7/+xzjTZ2IaQdVZVZxyuto7lbvLM888xVlnncVtt92mClSliFQy1hdddJEi5V//xtX8+MYfK/y/9a1v8Yc//J5vf9vNnAtJl2z4Pffcw8iRI1WmXIIpybSL/ObMM89k9uzZ6pjXX389xxxzjNpXCJuMLS4uZtOmTcpd5pprrnE7t3rlnHLN05apnGw8wYlHcrNuot3wUdNyeOCBB/n+939IIp4iHk9imqLrd9R5OIZOwNAZPriKd1cuJti8jVdu+DbmW28yZNxk0ocezeTzv0q6rBypYNhbtFf09oKRZN1lJUmIu7wmRNswHFUjoe55K42V6sJMdbj3vx5GDxbJ8hCBaAxH7C9V19ig4v4yRI0TGY5rKeP9+fSSdrmKPnHfwwfiTrv5xD0H3HzingNo/hAfAR8BH4F+IOCpgVVmUgi4WP4J1xHSI1l1yb6LNj1updlaX8OK9WtYU72ZVMAmnB+luKSEssIiCvJiRMN5aHqQVBapEe27/NduxWnqaqWlvZ2O1jbS3XGKgzHGDhzKQROmMjhaSgSdkGqdY6mQwCVzIjiReTmYKluvExJi6KRVktNJpTDEK1wKV9NAMIhjJ9i6+DXWPP80XaveIdRYS4HQfsMgZJkUyBGNICkrJQ1QycMmqQdIF5UQQMdsbKRAS9OuGbSXD6CuciiDj5nD9GOOJxbOg6Y60ol2AlXDQDeIb95MKuVQPGESTiSM6Rqro9niuKLxwgvPc/HFF1NXW8vAqkrl5pJKpxW5rqmpUbaMIpuZMmUqHR2dbNmyhWOOPYZbfnELFRUVysrx6KOPVgWoZWVlSmYjRPzII49UzjQPP/Kwsn9sb+/g4Jkzqaqq4om//Y3Ojg7mzp3L2nVrGTpkqOrOWllR2SOJkaBNLrYUqfbUO2TyxnuQcReSnkgmefjhR/n1r25l69ZtpNMmtjj/6DqWyIU0jen7TWTRGy+jJ1p4+97fs+YPf+CIU09n8LyrYOBg1RgrrIf6LdX5sNtcgiIh1y0tzTS1NBOJRDB1m/Kycupr65VbT6Kri1BYx9ZSFBTk0dHeRTJhEY7lY+vS/TePzvZOtYIQDoYZKCsDoRCOI0W5GdK+k75+b0Uf/fgd/qhdfeL+UQjt+n2fuOeAm0/ccwDNH+Ij4CPgI7CnCHjkTHTrGQdqt8GP6xoim5LS6JqSPQghTwJxx6Khu42G1iYamhpIdHfR3NZCfUsTXVaKtDQHwlHFptLOviCSpwhjfixP+cSXF5dSXljEgLwyaamksulCzpUTtqevUHRIMutCgOU/mYfIeLAJ2PJ3z8Hb1jC8nW3Rwcu52CaamYaONjpWraB+8Wu0vreMtuotlFsmhck0AQcCKsCQzLeJHY4Q14KknSBdMp+qgRRNnkLxlAOpmHoADB6EEwqj2SKDEVNzcU0JYFtSUCuTFftBt2WqysXKnGxXPy7Z57cWL+bpfzzJtupqbNNkxMiRXHrZZQyoquLlV1/mn3/7O/UN9eTF8pgydQqnnX4Gw4YNo65mBz+/6efKUeb0M84gLDIcTWPRwgU88sgjjBs3ngsvuohgOEw6leLmm25S+vWvffMarGSSe+6+R5H84449llOlW6mjuzIZIyBejm7fT+U17046wzs/WHC5s88MWMpVxlDymGefm8+tv7qNhQvfICArFZatinaF4B5+2CG89MLTaGYXDYsX8LfvXs+wKdM58ee3kI7ko0m9g5Lt9If17i6ykKBOZECyFmTz0MMP8dAjDzNi9HDSmFz9tav5yQ0/pSA/j63Vmxk2ajjrN6zn6KNm896KlbQ0NTN01EiaOzuZPGkSNdt3sGHtBiZNmMR13/wWgwdU9TS7Qll+epFOlrHMnv76fVL7+cQ9N6R94p4Dbj5xzwE0f4iPgI+Aj0B/EMjwH3F7ybIBVOZ8wt/lvwyfUnzeUdlI2dcVH8h/JvF0mrZUnLhpSmseRfjFGjKo6cQCIQrDMaKGm0MXSqWrbKzXMMf9oJ5N0cdsDtczx17NsmTiVdWrIs0qJd+jZXbjDkNsT7CTSQLJdrrrNtG+fCk7XpiPXb2V/HSCYKqLoCZdMjU6jSDdRozIgKEMP/QoAjMPJm/IGIziCjBCPdaGWNKBSKQ64houHTs1HPHB9xKvEqi49orKdoVEdzeNdbUubuk0yUQcx7LJy8sjGJKiR5m7rrK/nd1dBAK6yqKL44uMkbelYFe6nIbCYSX5UJ1WRWpjmkoyI8eRTbLb4tEupFUKfmWsqh+wbaLRqKoRMG1NyY1i+fmUlJeJDkRdK80j8ZmL0Je49zrJZN9aoql37STFRcZm7ZoNqvnTM888SzyRQtOCCquzv/A57v/znWAmsZtque+G73La+RdQfMChpA1x4NHdoK3fxD3r5lVnK8IYNwiRAE5cb/5435948MEHmDh1AjvqtnPdN67j1v+6jUQqTktnM0NGDmP1e6sojBVi2DqWnWbEmNFs2LJVBTilJaWqK+5BM2ZyzTeuYfSwUV5NSFar1/7EG/353dxL+/rEPTcgfeKeA24+cc8BNH+Ij4CPgI9APxH4QO5ypxey6VHvW25m2eX3miJJQl6FdIveXaQuhqK2QqBER+8QELtHKS7NNPxRmfSdJpvxxM4oEfq87za7cWmkHEUKZXvHi+uNZFlVKaFYm0h22VLKfUnlux0+29tofOsNVj31GObWtUQdi24MgiNGM/W0z1M84xAoLAc9ouQ0UqwrY3XDa+7jcnUlI5LgJlP66JYverGDmrt4Itq0NzWzedMm0smUWjWwLbG11FTxZkarLraQQlqNgK5sFNVwVSzsKrQzhFaIvIwR8i6vqSJXx1FjXO21qIEMLFV46tUteJ1R1bGEYMssAyEqKisZIfaZAV3ZUgZCwZ2I867J+q5uLSHwMicJIpoam/ne927gwb88jGlpxBPdXHfdN7nl5z9SjbSwk5BsgWAIUy/EDrpBUVDdRf1hwBlxT98ZCUbqntSkQZTDI4/9VUmSBg2qoqZmG6UlZWzbWsvosePZvG0rQ0cMRndMhgwZzLr1G6mprWNAeRnlxUWUV1VRvaOW6s1bGDRwCD/64Y8ZOWykCq56Z5qZRyaC7J8ffT9/VXPa3SfuOcGGT9xzwM0n7jmA5g/xEfAR8BHoDwLCb71su0r+fghp91i6m032svEuSXIz8ZkC156yPZG2SDZXkzJWN3vsUms3oy4E9gPEPTP3rCy/ekl9pkuT1ed5Lh6Zz5J5i3tNxulDFztAmZId8Bi1jLSVjEZPpaC9gbZ3FlO7eQMjx08hNHEy5BXihKLYRpi0ZaBJcl0y67Zkll35i2jW1SxUbyE5F7djp6jE5b3MJsTR3dHByRBrmb8tMhtxlclqFuStPPQ0QpIP8mw6M4GRki/JeSvtvJfRz/zMTE5sXhSB91DpwSwLVFVw6b6vi8DfjRLc7L5K/2e2bOK+q+UP75qr4bqSzbibTmdnF7+7/ff87vd3saO2hp/d9DOu/caVqtuqI0FKQPyFJMrIc8MdWZ3p89l7cgN/ULqjsMrYymgSJ6SVBl8kSLYltpRB4t0JamrqGTR0KJqhq+sbCRmqSVdXPE48mUK3bfKjESKxGO2dnWpFwk7bVFYOID+Wr+bratxly6xTZRP3/gQge3KuH28fn7jnhp9P3HPAzSfuOYDmD/ER8BHwEegPAv0h7j0ykF20ds+S1Qh3cgm7m10XPu36mHh9cjRNNWsSXfPOgYLQnywRQlZWX4KK3mNktDSipXcDDq8Bj/BApY939xVZSIbKCsmWNQBNrAKlgFIzceykknQ4YvUn+nSR3+gGlhBcJDvuELDFv9sV3csZqRhFQSAhiMzYbXefCSLcHRxV2CvZb8mGKyWK6PTVv10v8Ew04JJNV8uvSLTlrma45NCVEfWJp3qanXqEu4eru29ksvQ91ohZ94Mi6D1advm7e1E+nLjvfEW8rHYmu62O6Waa5djKDtKyePzxJ7n5F7dw6WXzmDfvQjews2UFJoUTCJBydLe+QaKgvZioluJRJf9RDZhcOZcu88vcI16gqa6h6PuluFmuiQtcj7GjWlmR5k1yHXpkQd616uHm2Rl3QWAv+tH35/f4Q/b1iXtuQPrEPQfcfOKeA2j+EB8BHwEfgVwR2CmJmcnEy+GU4V3W+y5xzWhFMtlgt5jUJc5e9l5xHslaq65DnqeeFHJmjc/M1ytq9ShgH/FEDynOcs92P0i6c7ozlAZNquWOJup7Eeq4LYAk+S0CG033nHO8rL9p2wQI4CQctKCBHXTz+JJdtQ3Z31Xx61bYXTXwiKDrD+4yt0yS35XPCJEX/b4KV1TwkiGCnlWPF7u4Yz1FtkfgpWhUZDKuBMYlk24GWfns654W3cMq81qGiLtSGC9Y8jqhymsyLiO7UUGBd33k+EJI1Sl50pqMXt2dZHbGPZu4995cPbIUj8CreStyLvaLJrZu0NTYoppwBSNBgtLwSYASpyLlzGKgpV3pEDt1I831Fs6Mc6fk1me4cY17bSRmU1gqJyLvgnorDkp6JJ5GpkiP3GBMBRSyr9R1yP0rV17vS84/Xfn1DyLnE/fc7iafuOeAm0/ccwDNH+Ij4CPgI5ALAjsrDzw2khEA9JB0RercLKbKEPdk4d0sp63SnJJhFklHb3FrtipYtaH3yGifqXoNczxK/AHVc5+scyZo8PTrbrAQUEGC2EkK41K9LVXG1COUwhkdV0PuKuUDSLGpZMNlvCkkT2QtQvICBpby6xZ6F3AJupqYWwTrUny9h9+6dbIuscsQd9lfuJ6SoivS5xZzSkbYJccqjd8LYY8po5cJViecGeOScrHpFE25Sz5dYp4h7AqSrCx45r2eLLtH3AUd+SgJczIe/u50PCD6EPddk/bMdRMJiuj/sz8b0eAbOmlbVlWErKOKXy0rrZpuSSGrkunI/IUUi8ONd1/lcuvuPMaLlzw03cBHXWPVTdUtzpX70626dgm5GxjJ9fZwUJfLHauQUichnySZe/da9E45K5DbGyewl4/hE/fcAPWJew64+cQ9B9D8IT4CPgI+Ap8IAj16Ea+tvJeNFDcXT7Mt9NZVmChxeJZnjadn2ZmJK94omVGXUO35ljmQO8YTi3xgeOZd9w2vuFZlx3tf0RzT6yAbdO0RxabQm5NbACoZfpfMKZV+1kf30Ldsm8A9P4msPTMOOZ5zTo80RpX6uk428vmqdqB/mydy8QbtYTnozkHdLkh2DwwfiK52PT+FoeLCHvr9udz9O+XevT1G78ZgElX2dYZxQyupVcjcqml138q6jBQ8ZBxrMneMGq0KopVJqRr9aWzF5BP33G4Yn7jngJtP3HMAzR/iI+Aj4COwjxDI8Bn5mS1JdiUfmabvHqH3/MEzBLyXUrvFnJmtj8Z9F4RwH51Kj/2LhAlqNhlphTSekmSwY6hstJW2CAZc/bOhNOcqX+0VVWaxTcX25D157WPQN8UqMwWPHkH3JDmu/7oQyd7i3L0oDd8t1H1DLlXiq0KynrPMaKPUET4JBt7/u0Km2OMcqoIGl75npEOZW6D3znRbk8nZBqTbgOcmhJ125TfeSoK35ISjGwqXj3Hl+39SezjCJ+57CNROu/nEPQfcfOKeA2j+EB8BHwEfgX2IwK4yq16z1V4dfA/5dF1LelQm3l+y8sm9FH4PM7V779R68qu9Wn2R8EgQorsyDyHuQU0jnbQJBvXMQkKvyr7PnIW09zqr5FRt2QNU78pDRkuvilqV3DqtOsC6biy66wO/jzeX9Eq45cqM3JJccdLJzthnn/s+nlAOh5dzECcbFznbY/EucXdlU14htXdsVSvhXWmxMVVOPiK1MaSWwC2h1rSAd3N7khvlpZ/D5PbxEJ+45wawT9xzwM0n7jmA5g/xEfAR8BHYZwj0dlTN9n5RzYe8TWXQPQKqLBEzOdgsWUKvkiSTA1Ulf+6+WeR1X51Gr1ykrx2lMpuxXAmHaOGlQFU0+yHHs5TcOb3dR6Ej55LJuOeWdc8cLrN6kcFR6gHk2OI3bpspafmKpiRJATTdbb60Tzc1Mc8L37O/VDIh7/K511OZfO7kCbRPZ9Wvg/felqryIVOo4erYe8RVblFxxsJHuW2qSEVONIVlJ9T9oGkhDCPs+aha6EpA7x21X02k+nUKOe/sE/fcoPOJew64+cQ9B9D8IT4CPgI+AvsQAaXjVkTOzb26PMezMsxKx7v6di8jq9QzUljpZST7pO1709bu33pG7cOzyJLb93yK23FT7MiNeIqOlatxisMUjByMo4XQwyGvILEPW8+aY7agpL8a/b6nKvRfSS56iLGJaafASdDa0kAkL6aM5PMi0mFVvNA/CcGMm3XvvdouwVXZeHENyoReEqB9CrPOCmF16Xa6ftKoyVtJULUYjqHuVbWnijtTpOmkoX0rDS21tLUkKS0Ywphhk4lEhLx7dRzK2H8XNqn79i7eo6P7xH2PYPrATj5xzwE3n7jnAJo/xEfAR8BHYB8h4EomPBW3KvRz7RIVzbQ9dbAU66nXhYB73tkqq6kECjvZSsoxMkfNnnRPH9J9cyZ9VgWEeImAWZnPq+6eVms3r/3gF0SHVXDgvPPQ8/PQIjHl7+5uGRFFJje+E1HPddXA45TSlVXl7NVxXGKZtLpJJVppaq4jGAopr/dBA0YSMAo+EeKekTfJ2aurk8V/XVFJpjRz31yyvXLU3hjRWxUSu0g3364KkJUHvhB35SsEZhJN72J9zTssX/MWazauJ6KVcerxZzN6yGRV85BxpNEtWQHxfjk+ZYGLT9xzu3t84p4Dbj5xzwE0f4iPgI+Aj8BeQCBjIdjHalCV6tmqI6Xy5BayrnzGlfs1jm6StlKu/Z+jYzghjKDYKtoY4tktPutiA5nJ1uu9xYFKYZzR3ChPvr1wErs7hHQzVSGHqYibZacxTI10UzsbFi5iSNkAlv369xQOHMDoOUezqb2Z/T97OlZeDJH/BMRF0k67Vorqf8Fe6YUcN1ejlJ2T+V7zIFtLk0x20t5cQ1FhPttqdlBYWEJRYQWRSPFuiXtPF1HP6jHz74yV4Z4gLGNUo1U0iWlUfBYU5m7ZBMQG0pNDZQKzTyb3vycz/+A+ok33SpGVTt12TLfrqyO+7b19cCXgFEK+dPGrjJ84gKde/Cvb6uuoHDiGE485k7JYJSFC6p7ukYNJh173Zti3924Op+4T9xxAk8u4ZMmS7Fgvt6P8HxvlE/f/YxfcP10fAR+BTx0CfYm7ozqeKmbumMoAz7KgPZFkY1M9mxpr2d5YR0d7F7rpUFpUSkVZMcOqKhlcXEZFXqFb0OiRm0yTG5EmKF93ZXwuLof7lrirQEP5uwt5T6uMq3TvjNc28vf/+QN6QxNHHniwIsTPvrGQ8snjOXnexdh5MXEF9CwrvdUGNdVMsagnsfD8BDMksV8XtafdaeZYrv+4bSeprdlKeVkxXd1xoqF8QuE8AqHoLpnizoGXEFHVMbWfGmw5jmmZyg5RAaYWJ1xfdNdlx101kWJVITmfbuIuGXbVhgnbSalGUXbaJBmPk5cfU5fJSXSxY9NmajdtZdXytygrjrKtZhOlQwYydOJUxu83i8LiwRia1BaISb8UM/dKwhRO+zTq7NfdpHb2iXv/MVOhqk/c+w+cT9z7j5k/wkfAR8BHYG8hkE3aM8eUOj1Hl/x6mq50nGXvruG5BUtY39zCtngn7XYaSwr1TIdoMEJ+UKM0pDGqqJRjDzqAw6bvR14oRCgQdH1JHA1L2RyqLkUuuey3O3n/z1hl3FXRYVq1vddsE8w0LZu30N3axMBhQ3AsjZqaekqHDSRaWoETEHInxYnuWMVjVQAgIUyvEaDyWlfyi/6RuMw6gMv7M9Ij1VUJE5OuZLv6TMM2iATy0MXVRBj0blYnsjPsO2ff9xQxt3OrNH0SCbcOplexKWRVPlttbusptWqyuxKAPf3AfbifOhcJEgVNJ0FncytaMkVN9TqmTB5PR0Mjf7/vXjavWEHzlmrMznYM6TDrBElHAySL8xk04xCu+NaNlFcOc+s75I9g0VOI7WXe9+F59PfQPnHvL2Lu/j5xzwE3n7jnAJo/xEfAR8BHYC8j4LZ691QAaRvLSLKmYTO/+cvfWLa5nWHjDlYt67uSrXSL+4YRJhIpwuyOY3YmKIhFaG3ZSiDdxITyKFefezbDSksJh/JERKP0FwE0AtIFVKmLvQz2Xj6PPocTR0AlAzHV6oFuJEmmGlm9EwGg9wAAIABJREFUfjFvvvkiibZWLE2nuHIA0w8+lNEj9iMaqMRMB8AOEgvnY5kmAekA2qP8l3n3Ggm6AUh/WiQJ682UpnpNqrx5prQUaSONLsFNEiKCna15n79roJTMxRb7Qod0Ok0kEnGvYz+y7jLWMlMEhJimUzgdKTfznp+PHQn39KjtKU4VLc2nUC4i5y3Bh1wdkxQaadqamog4KfICDRDvYNlT/6Jh1Tto3R1EDIdgVLXSpTBagpk3kPKph5IaPJS8gUMoLK0gYpSgaRHViVVTdR1y6j5x35e/trs79vbt24nH43v1o33ingOcPnHPATR/iI+Aj4CPwF5CIJNxzxTgScv6VDrO628v5vklS+iMFBAqH0Z3SsfQg9iWTVpITDBP2RRqko0W4mjbDBxSSqKjhtbqdYS6Wjl+5oEcPG0axXkFKksb1IKuD01GR7OXzmGXh3HT7SpbamlJ0lY7q9Ys4dWFz9LS3UJFeSmFoRiWodHc1UZzYwOVpVUcfdiJjB29PwGnCN2JuhlomXWfNLMncfFcdfp3Gm662i3XdY9jSKNUR3LECRwzSd2q1dRvruGA44/HjEYIGKKv/+CWIeyCp2RcS0tLaWtrY8CAAehCvPdwcywJFFLYtTU0L3yDNf94jo6qCo75/rcJlpeLuY3XDsoNOKSOwWOwe/gJn9xu6rKL7MgxMXQHLW1CvI43/v5zYl07CHd0EUh1oTlx0NOYUp3hWOrebtGKmXTCWeRNmUl7OojmFJAXHkRAL8RRKy6yWiQBbv9WWT6Js/cz7rmh7BP3HHDziXsOoPlDfAR8BHwEckXA01e7tYiuflmEK44thacOXclunn19PtVNzYSLijEiKXSjm2BIJ5EIkrbKMO0KbCKYto1lmYSCmiTjGTywiva2Vto7WzGcFJ2NOxhdVshxB8+kJJaHrodwVLbSlaL02vZlTmYvVqsqBmdha0lSWhsLljzHgoUvMmzoCGZMP4yhg0cTCUZJOTYpM0Htlg0seftVauqrOWb2KUyfPJsQZWAbntFMLvqQ7LK3vufW2zfVrf0U6Y1jJTAamnj6f34P3WlmffU8CqZOUKRyd1l90zSxLItf/OIXzJkzh4ULF/L1r399Nxn3jJu5J1uX8EGqUlM28dUbWX/3vTT+63m0ti5Kzz2d/X70LSgo6bG/sbyMsyGe9+r+yb4Je212euU7u7quH2bHs3u89vR2dz9bAjYH20oQsE2sulWsev03FFrVGF2N6FoSR0/hBIWwBwgaIbRgiES0kLxR0wgOnoEemYDhDCeolYMWQ1Uri5tSz2rRXrxX9/TkPmQ/n7jnBqJP3HPAzSfuOYDmD/ER8BHwEdhDBHrqID2erJb7FVHUMD13O93ScKw4lpHmqZeewwqFGTAwQpD1FIRWEjG2KiJoWhV0J8YR5zC6nCosPYiWTtGZ6CQQCxMNOSTtboj8P/bOA86u6jr3/1NunT6aohn13gsSEkWAhQHTbLqpNnbAcUtcYju2kzh2kmfc4vLiBLfYGFPc6GA6yIAQXQhQ79JoZjS9337K+629z525GiRbGuP3ePG9+sG0U9c+Z+9vf/tb3zLI+Tkee+R3hHyfU+Yv4uyVp1EersZ3QkpPLNUpR8TSGkhKNdNCNncEKivRvbrjvJvLyO0XFIBSGwTb+a7yRXftIXY1beBXt/2IhfOWcc67riEWLiNiu7hDB/FDpRCtxnNchrId/Oben9Hevo8PXvM5JtUcj++aSqqiJxp5fUgADgP0qtMWRwO5vCQmf6WBpEZhZQ/HQEmHRE8uricqfdbPEGlt5Ydf/CfCPpz7mU9QtWwJYQGWklPgeVi2rYC6fIRV98Q9x4e///vPc9755/PYY4/wrW99S12PNujUycDyxRW/ci+LraRLYoroYsiF7G9n/Rf/F0PPrqMslyUZjTPzS5+m7kPXYIbEQ16cgTycQOJvOzpfQWRIUiRKViNEnCISksCcJih4JGsKYsFpY6okV0mAFemSCIzy4F+cX+RYkk8gzi/gOFLwKKqjWhDWgqmBfhAESHsSv4J0WcljEHhtSvv3YDGA6XXhJLZhJjfi53aD14Np5sDL6iRpx8GwQrhGnARluCUziZW9k2hoFVCjJ03mSJVV65ikUUf5ov6JmxWB+9gCWATuY4hbEbiPIWjFXYoRKEagGIFjiICjwI3ASwHAYo8XUkAuJ7pv38IUfbTXy/Ob19Ke7mbBopWEaMZOPUmJ+yTl5j5wLbJeNRlrKQnOwCtbyqAXx3BdBlODtPV2kM0NkMn1k3YHSKeG6OrsIGJGSXanOW/1BayYeTIhtxzLi2KELW3RJ+BMgKg4gSj7yaA4kzY30S4mo8juQ+3bDgfcBRxKMmWOlN/GPQ/exI7NW/jC332DqD0RS5JV3WZaXvwN4bIGaue+E8IN5CyH7sQe/uvGr7Bg3kouPvdjRO0KBQ5NxXrnUaQb1OHUHiv6t4fzeX+TM7q6IXVtpo+by+Klc0TCcTzbYHBogDhZvKZ9ZFJpolOn4ZSVEzItZUsoaQiu62FZtjI2EQmN1ra7fOEL/8AZZ57J2rXP8M1vfiNvxqm92OU/BTwHyLqt4HZhk8ZwTPwWg/X/8jNyD62jNp0hG/YYmFbDqhu/B8uXQSiMbwjE93EMUwq6Ykkiq3KasXEduR753lPXJ8m0gqm1n7+uNGv4IXxpV0vgfUaBdt+PYCkQn8MRW1F5Pn0fW3z0fblXS8t9gpAf+ggob1J9T5L0LNFX+4lMJqfaxPHSJNJNbN7yBLbRQ12FtFMTsXgnISuJ4WWwDQfPSxO2w3i5MKHweBxqcO16oiUnEQofD0aFftMU264nCG8vrl1fXhG4H0OHWLBpEbiPIW5F4D6GoBV3KUagGIFiBI4yAgI3csJmilZb0e8CunRSpAAnASHiId42uJNbH/lvQrUWsVgFFZFeSv0NzBjXyoSSJLYDaSNKV66K/txcBoyptA7ZHOjqobu3E8NwiMdDSiITs13inkOpYRFyIww4EfYeSPLXl36GKdULMfxSPAGfCOsMtqo7L24gSkSjbcMVcFdTDV2oKCigMwKbjpwdqV1SRC6Ro6VnI7+880ZWHreak1ecp3TrtpEgdXAtHc/9N0akhkknvA+z9mTSfhjHGOCJNbewe9durrr0ozTUzAYviqkKM+VRsGaz9bqF1sAH1X70hb9JVZO/Cynm4yoWOZ1JMTjYywP33sNVV1ypZEe/uOVW5s6ZQmVZlDde3UBtTSNDySynnvEOtmzbya5dAugdysrLWLR4EUuPO45wKKIY6k9/6jNccunFPProo3zrW9/UUpnhGY7EVlj6AzS33k9y4BlidBMZijJwTz9NN22nftAm5LkMxbLUnrOIkve8m2TjNMIzGvDKSxS4VvkQeCqJVXPpkmIsEwJJBJXHy1IVVuXUwqILsy8Wl4YrE8UwniUrCymVDGoauiKpPIOuYu5tKqPjKIvUYvpRNQkQMK7zIfISn7yLTyDxUU+FiyHsuTzHkmSrtrUZGuzDc9pJDG0nndhHdrCbRM8BLKcXSbc1Rf8ekolGVl13JNRIWc0yHHsisdJaKsbPAktkQmFd51dWcgrb9W2G3ovA/Sg7xFGbFYH7GOJWBO5jCFpxl2IEihEoRuAoI6CAOx4hX8sjBBxn/JxItwP+0MUgzX3rbuWN5nVE6jy6B3uJRzzKzUH8xH4aqgymTqhFDB06+2GQSoacEjKU0DqQoHuwi1hM2HIPy/OY3tBALJ2jOhpVriy9rkciG6U8M5XrLvo8Yb9OuZYIGyywNyxSHd8jJy4f8vsAIckEQyvw86qaP6CBLpRUKEJW65G3Nj3NnQ/8gOuv/jSmF6Wnp43pExvJtb5E4o3bGXJDTDnlavois9i8u50ZM6aRzXbzm1/9hssvvp7ZU5fje1KIJ38CAXDB98PnzAN3aZQgcfMIUm5h24cGB/jP//1dLn/vJfzkpz/kU3/3KdY99zw33PAN/uaTH6ekLM4rL7/EpLqJdLZ3MJDqw/VcFi9ewuyZc+nu7ueF519h7rz5fPCDH1ROG5/73Oe47rrruP/+B7nh699QbLW6kmGwKcB9J22ttzPUfz/xbBfm7igHvt9GbH2JaotIzCZUYWE2lLC3wqVpaozcadNJVsdxHGHFbVw/A5YU4BJZU5hcLoUdEhAvk8OQKsSl2Gkp3iSrEV6IqDWByRPnsa9lC0mnA+yU2l/OKdVhbTuEl45y4qKzWTT1DMJGjZIAqVWivI/88PqLTPV0vD1VflbkN2ll/yjP0OBgHxte3kBZWQnz5k2mtNTDH+rE6+6l6aWXsPq6sHNZLMsiJ8nSrqP07YNGCK98Cn75FOpmzaN2yjR8W+Q6evKgUzKCYB6DY89RvqZ/8mZF4D62EBaB+xjiVgTuYwhacZdiBIoRKEbgKCOgBCO+Q1h05QLR/Ry9ZoKOTI8C8Mqm20hx2z3/RVlNBiIDJLwEoVCYiLCkTg7PS9DRto/qeA2V5fWkfQ8rHCOVg4wZIutnCUV8TFccZiBshIlmXXJDQyRzQ0Sqyygpq2f3hl4+eNnnqYxOU5rnbCZNuV1KfaiCUjuumFfBaaYyIMwz6gVMZ+E9jwbGo4C7HEFA5KZdj3PnA//JF/7mq7zxxgbu/t3NzJo6nevfczrNz92GEy6lYcXZ/Mdtd9GXCPO+qz9EdVUJt/zil1x8/vtYMONEPM9WNpYalGtJhvocK+vqoyrSivXi+6++mo999MM8uuYhLr7sYn5+8y20t3Xx6U99mheef4GBoUFs0+bmm3/O9R96H1df/V76+rrJZDIsXrQczw3zj//wzxy3bBlnnnUG3/jG17n88it55JHH+fo3v60uTwk7huMkrP922lpvob/nN9Q6afofDdNyYzPju2qINZRhxyRHIUEq5LCnboj+VdV0LqihLxpRrLnv25hhH9dMqKRdzzEJKc19Djtk0tc/QDgienaPcDhMNpGlKj6eM07+IA2Vs9neso61Lz2Aaw1qyZZvUFpSSiKRwEvHeeeyKzlh9mWYkvwslW7tQnnSsOZHe8qLzEsmEl4Wx0uqFZ8d2zdx392/5Kx3rmbFymU4foKDzbt4fe06Xv/dWmoHfOI9A8R9k1AoQk7We3ybvlyCvjKL0z/4YZZdeCV+LIZjhjEtcRXSxcR0k+dlWUfv2HOUr+mfvFkRuI8thEXgPoa4FYH7oUHLycCnipQUjAlqeTLogVVFuGEzCJ2IFXQqekVRifz0mCK/V562+gf171gHmjG06Vu7S3AD6rr/v7v4tzYUxaMVIzCmCAh8zSqglzMNXt73Ol+74/tsH2yCsIlvmDh+hlAoydxp46grF+AVeJ8brpibKDeYkGWSHBgiHrKJRW0c16anP4fjQSRiUFYi+0l5eC1ZEOZdjuOaUm7eYjDhsWXLARyjlKwrRZnEHtKmNlzNl6/6O1ZNWkqcECEFlAKtjLrfQpBUwLi/OUt1GEyLWEImATkvx76WF7njnhu55spPqDjced+Paets4v0XnEN8oBMzXsfBLDz4zINMmbyUC8+5lpb2rax54ikuv/A6pjUuwTTKdeGh4Zqhf4D5H5bNaJB3iHWgSHjcDLnsEBdeegWLly6hfnwNF17wbj772c8xqXEqC+ct5te3/Yq5c+fQl0qwc89OfvTDG4lGoLevjc6uNiwzyqSJM3Edixu++k3mzJlDbe04TjllFffefx9f/8YNWsLjab25OKxovflODrbdTs/Ar6nvTXPwB0Oknk3QaFXih32cmEtfZIhUA/QsKKV1eiVDsTrOu/D97Nq+l8rK8UTiEfa0bKOheirhUJyBwQ6cbI6KymrssMHzL66lJB7j1FVn8ORjv2di7RROWnwhsVAtLT2baR3Yyd6WzZRXlhKPRqmqriLj9PPSc69z2sKLWDbnYkJ+VVA0S+RUh1phBly7/jsemWySlpb9PPHkgzQ3b+OqKy+gpjrK/uaN7Gt5jf7+ZuxEjuzWBP6OJLFOCOdUbV9yItOxLQYsl+i8Sax87zW83tZD3fQpLFt2KjVlE3TcDFn50RHMP5Fvt9GoCNzH1DkWCzCNJWxF4D4StWQ6RdJ1CZfElFey1BxUmfiuTygA5Y4MSJLgLh2xb+G7UqLaJyfLkiFLbWv5HiEpfufKgG1g2Jb6qrSkw8u9Y2mtt3ifIywlH3oWZX8RYPa3H8vxFkekeLhiBP4MERDVbw78CCnD5/Zn7+L7624hOc6jtrQCOxQl7eZoH2wHZ4CIIdu6KiEzZNk4fgTXEADlIHR6LpuixLQJ+yXgh+lPD2BaHtGwofTFnimyF00cSLVUz7KwRKaTMyiLjKOitB7TDpPI9tE72E9uwOGcCav44sUfZVKsBktVvgycQhRpod97JX0xRNajNc9KwiBgSiYIyms9+CgiQ2QyAtwdugZ28ut7fsjkKfM44x3vYseWN9i6eT21ZRFVkKc/k6Et0QvRHMcfv4rSSC1PrLmfWLiGqy75W6pLJyids4nWOuv+KM/+qqzPUdIZnUcgHx0HS2nDxVvcMHIkEz10dRzk2us+xoknn6qkLhMmjOfzn/17mvYcoLa6nvPOfjfPrlvLlJnT2bxtGw0N43GclNJyDyX7SKcSWFaYirJa2g72UlvbyF//9YeVTGTts7/nM5/9O+VUI2yyThSVcUGuezttB2+lr/9Oxne5bPrqfkr7w1SXxYmUWmQrczAzhD83zq5Sgw0DLuHIPM464zJeXv8KC+Yso7e3hwNde5kz7XgsN0pn924ws+zZs4fZs+czlEwpFr2iZBzd7d1URKuYP30VjmvSk9hFX7adl15/jvmLZnPwYBu1dTW0deyhtbmT1UsvYvnsiwmJDaefxVRuMaFDXENVwrLh4vopPD/Bhldf4r5772TK1GrOOWc5qVQzrW076E+2M5huI5lKkBvysHpCOPuTuAcS2EMWphvCMSwyIY+hsM9QeQkLV5/L3BWr+NHPb+S0k87hqgs/RFlJCb4UnApyHHSLj1TQ/TO8sGM6ZBG4jylsReA+lrAVgftI1IbSafpcj/WbNrJpyxYWzl/MsmXLiCigru12n1//OlOnT6amooqIGhihvaOdp9euY+682SxbslCNGYLh02kfO2KQccR9wKPEMIm/jYF7IYd1uGfp7cZwjOV5L+5TjMD//QgEoNG3SZgutzx3F9996SaGKrIsapxFRaiMRFqqpDYx4A2C5SiQHPXDhDNhMlkIlYTJGQkcqRQkK4IZmNUwi1lTZvDos09AOHDzCJlkXQfTtDFc8XYPk/NdVY2zxLWYWzOTxVOWkcpmqJ1cym0P/JZ02mVlbAE3XPV5ZpWMxzRcBdyVLENVq8xbGQptMSJVEP7bU5dTYAUowVUrja4Cy1mpAhoa4u7HbmXvgQN86kNfIJSOkmlrxe3rIBw1yUYcWjr28Ogra+lPJ3SqZSbDRe++juMWnEPEigT67QC4K0SeB+95SU8hkNPA3RUSxRL3FLkBmXBkGEy2sX/fDgYHBvnCF2/gy1+5gYNt7Vx+6WV0dXXxkx/9hLPOOo/lS5eRzmUJh0KkkklNwKg5g4NhZukf6KT1YDPlZdU0NkzHNkspL6sgmUqRyQ5QU1OLERQMkimOmv6oa95GW8tNZIYeINrcx85beqgTYGpl8YwsmWqw55mULq7j9QGHTQdtJtSdSn3tNDZueo2zV1/I0089RazSZNrExUybtIBHH/stM2dPZOeeXZx80mpamtuYOmW6qpSbSWZI92VYOf9sUrkM+zpeYiDbxUuvv8IJJy9n08ZNaoZ3yqrjue/+B1m95BKWz74I2x+nJooiU9HSpJGCT74nppJZfCPFa5ue4b/+8zssWjiLy997Ku0dr5JKNzGY7mEwPUgiO8TAgM9Av4mTMjETOYyBNOFEBC8RYuqM+XRlhsjELF7YuA27pIYLLr2cvr4W1q5Zz79+8XvMmj5PPcd61VpXqFWuTG+zFeAicB9bz1qUyowhbkXgXgDcUxn6PI/nXn+DVDbL4kWLWfPkMyoBp6Kykta2dqbMmEYoHKJ5TwvjGxrZsPENLrzgbF564SWmT5/Cvn37KCkpJxYrpae/n+px1WzbtpkJ9TVctvokJlSUjaGV/ky7HEYnWgjeRy9GF4H7n6kdiof9nx2BgByWLwq4P38n33npZgYqslRkSqh3y7j0nPewd6Cd+15+gsFwlohpUpaOsHLyccyZNYvwuDC/euSX9KQHBDIRCsXwkjnE/90oiZFwUniGgEpZ9PNVwSA7Z2CJ2YdtKueRmAvT4vWcvHAVQlKUV8e57dE7SfqwMjaPG678LLMFuPvC7Gu/GQWVxDpRgSXhOTWbrz+eSlyUwlFah1wAnmUb5Z3o4NkZ2gdacQyf6mgtJU6cXWue5Inv/G+mOiYVE+qYcvYpVJ9zGls799E91MOMmbOoHzeTiFlFzkkTDtsBy5pf/ssnSGpm/dBKmurkgcRHe697TgLH72PjlufJ5nK8un4LL67dxD9/+QZee2MT77nwPbS0tvLfP/4pH7r+Q8ycMVMVtjJMcXIxVB6CAEap8GmYDp6fYn/TLrq7u5k9awHlZXVqRSCXcwiFJZlSJEtKDKIdhGR1Ig/cW28i0XcX0VwrsZSIk0rp7ewnM5QgWm0TmRCjL2yysc9iY0eUyZOW4+UMOlpaOWHFOZSXlLNv90vkJLxehFgsTnV1LdFolN27d4Cdo6+3h462Hk4+YRXpfpeViy7G8EweXvdjImUmM+ctoKu7ndaWdpYuPI4D7TvZtGEnZy67ghWzLlOMu6cmgIKXZeWgALhLngBpDrRu5wv/+HGqKi0++YkP4Lm7GUzsZDB1kKFUiqFEmmQqg+9XMXfOaSQSHq++8jKpgT6MbBScGBWVjQwmc1x+zft58JHHkSKr27dt4+N/cx3/+uWv8eV/+HdOOflsfE87IA3zXm/DwagI3MfWjReB+xjiVgTuhwL3ftfjhY2b8S2D2bPnsObxtYwf30Bd3XgefeIJFixexNSpk7nvjt8xf9ky1q5/masvezevvbSB6spyOnt7iVdU0T0wyOQp00gmEzTt2cWpy5exYlotjeVSTONt9hlNtRcmmb3teI23WeyKl1OMwB+JgIKRAdpNGg63P38X337hZgbLfC4+7hymh+uYP2kmL+5+g4defop0VDzLPepDNVx6yoXs3b2L/b372NS9Ay9scdF5F/HiC8/T1dHOGaefwd6dTexq2o0XFYDtKYAbNcNMqplI1IrQM9hHZ383huMxo6SOpfOOoy+TpKy6jFsevoO04XJCyUJuuOKzzIzXYCtwauB6Ic2wm3JMTwE/8fcWhw+xVFTMuiE6egGoealMQM+ryYpYyzj4poNr+molICIJhxkfI51i96/vZu8td5MyIXL8Qk75u48Tm1RLTmRFCurG8f2QkiWKS4qW4wRAXRJ9VT+VB+75RNp85yWe5prrhiy9vS00NW0h7fTy+mvbeHbtG3zi419k+fITxYtFOcY89sTjJJNpLrjgAuVlHrJNsoEMyJDJiUxjJGfAy6n2SacTNLc0EY/FGT9+grJX9FXOk6UlJir9SYoRyVWovYEdHGy+mUTvvUSjB8j4KUJemJAfQaYmWT9DzvZJEmVLr80bHZIDUUokVIqTFWvHKLlMhlhEVhRkgqUnBTJHQnzabZF3ynOQUT9HIzHIWTTWLCKb9mjv26oSmUVShZFTMZVpnUeCCNW8c/FVLJ95KWFkIpK32QyqbgXyJJnIZNwBfvyz7/DQw3dz7fsvYPXqeezd+3tybg9Zx2cokcG0LA7IyopbzrLj3sULz6xnypQpDA0NUVFWr33kzRL27G1i4eLFPLfuOaZOmcZdd9/FV/71H/nKl77G5/7u3zht1bkqnjrRVzvdvM3IdvW8FoH72IaCInAfQ9yKwH0kaLJcPej49KWSvPDiSzQ0NhINRaksL6e8vJym5lb1df/+A8ycOo2DPd30JRMsnjubnoOtVJWVsq+llVBZGQnPZ/2rr7JsyVJKQyHCnsuKBbOIKguJt8dnZNlbrucIzhH5S337XPbbI3jFqyhG4CgjIPpmR2QHSqyR4/Z19/LtF3/BYJnBB1e9l9KMSXksRtJyaOvrRiy3c4ZLxA/TEG9QiYed6R529+2nqamZ+ZPmcOq8Zdz+0C+ZOGkK155+JWvfeIZEKI3re4gavCpcTl1lHfv2NTFjzjw2Ne8g7WSpIkwikWLQyxCtKOXRF58k42Y5ITKfb77vC8yI1WGJ24gpTLvoswUApwiZLpIFK9aBqq+Q8vOSt66YZQGLwoBr8Fzo0CjWhZahYL+C4+IZbrmOKnxk9SV5/Qe/YCCbZMUHriI6bboqgiSHEltBnRWkZTgyB9CVP/PAPSg5O+wyP7qjEqlPDtdNMjjQxoHmnSQSPcRjkuRbTWnpRBonzMK0bZVL0NPTxZqnnmLBoiXMnjMb3xFwrk0FBP6HpACSm1MVSrUUSAPIXC7D9u1bmD9/HoZhaztG18C0QsGERk9wdIKvfNNEe9u99HU+CqE9OJF+DC+L6XrKf10II/FrdyljV7fL1o4M2DGqqqcAJYRCFgea9zOuepw6fio5REk8Si6X1tVL/TCxaJxsLkUqnaCqsgI35+BmJR8hjGWbSjrlksMyXSUDCttiIZlgqAPOWvJXrJx9BTb1eiIQzIcUZldJonLvBp29+7jh37/A5jc2cfNN38f19rNt6xOEIxaR2CTaO7qZt3AWjz71CDk3wsIFJ/HcMy+w8rgT2bplJ8cvX0U64+NkfTZt3URdQw2vvPQKiaGM8o6//KpL+elPbudLX/gWi+YtR2B7Idte8JQd5Vv459+sCNzHFuMicB9D3IrAfSRosnw86LoqGUYGJWWLFiR5ia5PflZEkpJ5quopetiQv8nytKr2bahS2oPJDHv372PKpImUl2iPXklwfRvhdqWjHRnuNLsykvwVDE5qadwBUJIsAAAgAElEQVQPvHzH8IAVdylG4C8+ArocvbCuKXL8ct19fOvlm+ke52MnLKKe5MS4pBAmVJWgVMmXYutoeyKxELtHh0jYooIoZ56wmtKSKI88uYYlS5czvWYit/72lyTCLjnbU8mlJYRZMXMh4yrH8dymV+kc7MWzhFv2sWJRMp64botvpI+XTrMqtJhvve8fmRKvJRS4eHieiWtkMYwktpcj199M70ArGBEqxzUSilSDWYLrh7GsyCGtHKTJahcYRQcb+FJ5VNW+FPlKDiPr4PZlwfaxyqJkpGxPKKIhrqpVJeA7SEVUKDovgZGvAur/0MfDcQfIOt1s3foymfQgpVFhrsuYMWsFdqgaT3KAA+edp9c+xauvvcZ7LryI7p5uykpLSAz0KqhdUVHFrr17mDChgf7+fubNm8/GjRuVjj0SiXDTTT/lvPPOVZONsrJy0pkcCxYtp7SsAtsTxl2z8BrAJ8j5B3H9ZlLpHdzxxH+Q8A/gWQk1sZPKqKYlrLqML1Gyvk20bBxV1RMYSjhq4tG0fw+N4xvI5XJE4zHcnIvnyfMRwjAjyqJxcHCQbDaH62WorqrEzQruFlAdUpNIqaCazcqkKqQAuk+a3oMupy64hhNnXYlFlUrqUpVTh1dd1UxNtUlbzza++s3Pkh4y+doN/0R/3ybamjcSjsZIZkvZ17yf6bMaaWreRVffADNmLWTNU2uYMnEa2zfvpqykkoMHOxkYTJFx0yp/zMhE6evM8L3v/gcvbXiKluYePvHxLzG1YXog1dEObrI68qa8irdBH1ME7mNrhCJwH0PcisB9JGiDaWGiXKricaXu1ByJtkNUq3MFmnBZahyu5pa3hwwOld/scAqU/1fEdZ4hKnxEdOVB3S3LAKaSfwr8KtXfC25CJyoVP8UIFCNwTBFQkhFPyYSThjDu9/G9F2+ns8bBM2xw0orRloRQmfQLgy2l55VhngJK8h1ErRDTxjUS8UyaDjRR1zgB2wzT3drO3IULlfZ9687timWd1jiBrt0tTJk0hZbudkrKSympLKWju4NENkM6l6Omrp7XN72KNZTj1JLF/OtVn2NSSR22ksFI72Zp4M4Qg01bGRrqJV5VLsZZ9HX3UN84kWjJJJLpMIZlkUinKSsvJ2KbZNJJBbSHhlJKg11aElOVSTu7BQxryYmwxqmkeKpnKC2L0jeUIJfOKgBbUhInLtr9RIKysgoF7JKJIaLRCJGwJKnmgfthsnJ84fazJBJt7NqzgVxuQOXzuo7JrBmLCMfqcJwQptyIsC6Gz7p1z3D/737HyhNPprOjU2nZo2GLsB3hmWfWMmFyI42NDTQd2E/TvmYWLFzInj17mTVrDrv37GbKlEn09HQTiYaorq7hE5/6vKp+a0tyr1yrtLNIjHBx/BSmkaQ3uYu7H7uRAacJxxpQenpZl/F8A1vYe9HUK7GSyJN0JVORKEXCNrlMGsOSpQkD0wxh+B6u50hKAZFoDMfREh2NuyUx18bJ+YRkF1MSPAXUu1iE1EqBTDpsp5LTll7OcXPOIURlMDLoPl//X+cXyApFItPBf/3oq7y2YSM3/ufX6endRG/3XrLC7lPKwa6DZHNDanXAN8L0D2XxTZN4tJRoOEbnwS5VldYKxVVOQPvBTp57+jXOOv3dfODaD/D1b32ZU095F5dfcj2mJElbIU0q5e2Yj+kF/L+zcRG4jy3OReA+hrgVgXshcE8y6DnUxEsJyTKh6rECM/Y8aA1yo2SA1c6yAm41EzD8UduMlNg+TA7oGFrqLd5FRkJ1iSN6wbwtsy5uLYVYdIl2rWkVLWvRDvItboXi4f4SIqBKO2jWPWO63PHyI3z74ZsZrDHIhFxM38V2hQ2HnABM+cYzdMJn8E/jJk+x8IoJFQAjxZJMKWtvMnXCVNykQzabJZ1M0djQQHIgQSwSUwDNdXKUlJUxlEwo7XE6m6GsqpydO3eS7UnyyTM/wJUnX0C5GVWMu5MVRxUpyJQG+jnw+jNMmbkQI1aP4bskBpsZ6G9lMFnB/Y88z+ozV7OntYV9B5q45pJL+f0Ta5g+bbo6X1NrC+847TQFOvfu3avOv3nrFpYsXkxpaRlNTU2ceOIJ3Hb77SxdvATD83n+pRe44vIrWL/+Fc49/93qfh9+6CGWL1vOzOkzMXxLAXwlnZEqoYqd90gm+kml+vCcIbq69pFK9yqrTN+TftyitKRKAWGRs3iOo8CuSE7a2trYuHkzM2fN4cCBA0yYMJEDTc1KopNOpahvqCWbTTM4mFATEaF10uk00XicgYEBNVnKZDM0NNSTyeRYdvwqpk6dSzRUqpN8DQHIAsplNMjhG0myTi/b971KzuvHNxxcuY+Rdc+CN0PLdfIAOp+eq2kl/YSMZAwfqv+Wp07tqQYhHTG9GiJgPj8yiaWnhU0JjXWzqa+ageWXKFchlRA6XP41OJoMHX6W7Tte44c/+jbXXnse0XiCvXs3MJgYwAqX4hou3T2dVFaNo6cnRU3NJCxbJmJJLNFCuRappE9ZvIbmpmae+v0znLDiNK77q7/i1Q0v89RTa/jC5/+FhrqZSn6kb6KwtsDbr+MoAvextUkRuI8hbkXgXgjcUyRch9p4KVZeRaKrKgUVl0aq4Alwl9+LPEZYsTcnywx3mW+rPBq99KxXD7y8hjFwosiDeDUwqCQ3fW/C/ml7gTE8YMVdihH4C4+AktYpebBPzsjRnOrikdfXsrFtF47tKWbVdqUuhIErSaGmEfQ/BWxngLGULa0rUgH9N/leNMpSMyLvpa5qUAgLq+waXeUFL7I4SdYUkKoWAABHbCItk4m1jVx6wrlMCEtiqvxd9M+yr49vumQzHTRvfpbZC5eAVar6gvTQQbo6mmjuMPjFrx7i69/+Ji3dXXzi05/hh9/7Pg/c9QAXvOciqmuruO32W1ixYgX19fU8/czTip3v7e2lo6ODd73rLCU7ecc73sHPf/5z/uUr/6I4j+s/dD2f/NQnee6F57nsssuUNOKO3/yWd55+BsuWLlOJk3nAqrkVYZhdXnv1BSX78P00ppFW1T+ln5Y2sO2oIlmkcqoG+x62aNxFT28YatIjOnFhsqWftESnrjzglTHPsL5bmHHR3murSY+QrAAov3NPOdZEIlGi8Srq6iZjGxHFiMv2kriq+R/xwxdnGrFUzCmHFllTEfY7j7GDUecwYL2grEYAvfPdch7QFxJFIyB/RGgUOPIPp54qL34F64NKrJZkSeTtFvPXnL8yvQbgui6Ok6Onp52DB3cwdXopL778EEOpHqprGwhHDdY+9yTTpk0llXUY6E/T2zdEd1cvuaxLNmWQTVs42Qh9nUk+/KGPcvrpZzAw2MfXvnYDH/3I37B0yQkYfiyI7cgQ/HbtTorAfWwtUwTuY4hbEbiPBE0srBKeR02sJCiWEawRBr2fwudBr+gGencF3Ie7W63HzCsx8wxJvnzJoRUIx9BYY9wlL5MZBu3CoPvC+8hQ59PR2ak67pybo7auFluW6l2XaCiE2EbLoKbzq4rIfYxNUNztLzkCmkYNkjl9sn6OtCWSAs196jJGStig/q/X6uTfiJhtOP9Ew/UgmnobAeWBwzUCA8PYIsjAJkyWNHYACPPb5RNI5eh6T4OYaxNxQxqwmzklFRHQ6qkkxhTbXnyUGTMm0NPXRzqdI5kaom78ePa25rjlVw/wze99h87+Af7qug/xX9/7Hg/c+wBXX/4+KqvLueXWm1myZAl33XU3J5x4AitOWMlDDz7I9u3bueTSS9i0aRMnnXQS3/3u9zjpxBPp6uhUlUiXH388P/zxj6irq8XJObQcaOavP/Rhli5eiiUAO18KSvXJ4hufIp3qwSeDYYirigi7wXXlLjUAdxwXyxZJoLiyiDZcA1GJiUwO5HemSFAMA8fxCIXCpFJpwpZUpZW+3cCRYnt2SANxcaSRiVQoHEwELCw7hGWVE4lU6qRa6U+DCUB+AVdJPnypLptPBPYIBZaHRwPAh8G64Wk5VUAkGb640OTJGfm9bmGdSOzLQo76T++g+HT9LMnqjfzddbAtiW3eL11ikV9p1SObilewv+eIRWYCy07QP3CABx6+g2QmwVC6h6FkF6lcgmQyiesZZFIi5THIZDyyKfGYt1l+3Gl85Pq/oaG2kaFUL/fcczeVFdW8+/xL1CqA2JrqCc+hMs63Y3dSBO5ja5UicB9D3IrA/c3AvTpeMuwBoBJSVfk95Vqsu7pCGmN4dxmCNXBXS5KH6GMCyi342xia6S3ZJQ/c5Wva89jR2caB9jb2NzURjoSVdWVVRQXVpeUsmT+PyngpcTOkGEG1yFrE7W9JOxQP8pcVAek+dJkgLecQAChaZy1vyMNPNTMeBuS6OmVhnAJ9sZLc+MqpRaExhTmDOqWGiEAEXOrcFC2MyPdJegKumHkzkEwo3b2p3EwsV/jWYKpgujhKQhLG9bLYRpquA5twsz1ES2MqqTMSq6CkvI4Nmw/ys1/8ln//7r/T3tPFx/7mI/zHd/+dh+7/HZdecjmVlZXcfvvtShbz1NNPM2FCI/MXzGPLli3s2LGDd555Bps3b+aMM8/kBzfeyFVXXKWYfmHCa+truP+B+3nfNe9TP99+6y85ZdUq5s+fr4syqaqu2uVEnMUliXbduoexbAfPTSvpisha0qmMinNFZQVdXR1EwhFVWCmZSBAScsIySabTlJaVkUqmCIUjSgYjAFI09j09vTQ2NpJOCZOPqumRTGQIh6NEouLoIomhUSWDkfPZdoSa2inE4+MU16FBp0LHw240olfXPu/iE59XLMqqgXZu0Y0fDCJHyi0aRvhHybmLa01BXpP2Zg9WdWQi4cnKg5465lchVFLtIR2/Jqb0kKj9ksTyUoF5zyeVGWTrrlfYset1evoO0jfYSyqVIZuViYG42oSpLK9l8sRZrFj+DiY0iCxHdk2zect6du/ezXnnXkA0XIkphb1k/FXpV9qGVH/enpKZInAfW79eBO5jiFsRuBcA93SahOsiwD1fCzDPn6vOSiWNBay7oPegKIWw72LgpYc96VzElitY2lMDrWY5As8W7VSjNshzYHmd4ogUR5UcP0akXNgpB+OEvrlgFiHMEKJvdRx600nWrH+ZWEkJbZ0d2KUxBgYGqSgpIT04SC6Z4j3nnMf4sipKDENpa628xn00gD9kklK4lDsS28BXIq+eD1Y0goFMDUB/QIqTP37h832sk4g861mIj1SNmGFIpVYUVNtorZDiQvPlvUXGoJyFxLNasWXSvkHbBiVW5HnQQEJceOTYAox04RUFswo8iBXb6UmhHM28KQCnjqe9foadsX2x2wuGcD+nXTpUgpa2xVO8mdjH6YtWEgI9PEviWXCdw0/zMC7Mp5kF6//6ixoOh0flUdnYGncEz9MYOpq/4F104Z6gWFHw7gtI0u/TyHpdPkSaPc//SfcCApH0axxMoBVoFVbYIRSyFWjMTwPUcfKSuAL5swbungKqeb5VnlGxZ1dJjgHLj+FqkJ8vuuOlsbx+kgPduNkMjg/x0mrC8So6+5I0tbSyYOEC5WLyxhtvsGThfA62djBhwmRs26C5tVnZ6IqMpLWlRSWY5h1jpOjRwbaDXHbZe1XhHZ1XYxCOhJg6dSqtB1uZMGECYTusEnLHVY2jqqpKS/jyb4Cap2QxzTS/f/p3KjHVtjTTLomtmXROJXaWVZYz0N9HabyMaKSEVCKpXFksYZgNg2g0puQywqZLMMUVRiY6yaEE5RVl5LLC4JuUlJaSzbnYVoRwWNtrxmIxFXL5Wc4bi1fm/XNGwGbAfmtQLHp3/Z6rdtMdR/A46HGkEI4f+vIFwDW/+bDoJT9JK3xRR3KtNO0+Mh7oCwvYeVmFlTwLy9RflSdnvoPJP5kjOU6qjxG/f5XLJUBf9jdULCX51nGTJJL9JJJDKilWSK9QOEp5SZkqFBWyo5hE8D09Vg4lunll/bMsWbKUcdXj8T2x05R2kZUUnSg93OEVgfv/s960paWFVCr1lp6/CNzHEM4icC8E7qJx9xRwDw33fUKNyBKjJGlq7aMpPa6SNJoKkWnDL0ky02hdpawOs0AayOtFRv2xVQeqkaQcVzo10zeVxnV4LDpGgltfbuEi+4isR7F7SulikHAcdjXtJ1xZxrOvv0ZNVTX7m5sxqsoUu1QSipBLJenu7OL4JccxYVwNiydNJ+LoAX+k8yx42AqBdXAL+T4/v5X+ObgSz1TAXdwNFA7xgoHqDyW/Fo5Fow9+tM99HrwPjz86YdCVbEBhHv2sSvQT8OD6OT142FLcJKeW5vPsqCPtr+IZeDSrUVeeE10iXgFx0w3Al07wQpbrhekMQLgCYmoMzReJEUDukRNPZ+WJrWotqoQ65e+sniphabVWFlNrd01fD3wC3LXsQp4uAf+O8p7WS/XiXDJiJa0nkTqxWkD/cBvlsXr+OQ5mf/ml9uENj3XSdLTt8z95O1V9NP+Oiu+5gZN1sG0L3yyUxEhvoIQbh43G4WRvsqHG6Ycmj8uzFphF6de24N2U7X15p23xV5f+QavGUVZ70o9ZSt6gJoOKNU6jqHbZ1DJwfXlfbHl7sG3tgiNpstqQRlduFZ7AsEVbr11qpP9RblzB5FCscz1HtNIO4UgEP5CpSJx8N6fePU2AyPsoxEiQTyQgUOnLA393eT+Uxj3DYKJbJX/KhNi2tKd6JBrHlYmSZeH5TlCF09ZJkorO1edQiaOS92NZuhqsYnw15at66SDG8nel/1fAWaQpwexIJj/SntIVyD/DU4WcRhy98vKTkQ4zX0tDU8uBj5mMNYeRvKj+J5C8FL63R/vaDE/81A6Bo04wKuUnUqrvkTFMmmyYqDkcw60Buyr4FcROO/1I4S59bBkuJKZCGBlKNy/doKOeL2V44EjORUjJl1pbm6geV0ZJSWngGCTJvLJdfjIyQmoVGfejbfG3frsicH/rYzqmIxaB+0jYhtIC3F1qYqUjw6YCOVIcQ2f8axiueXiVlCodlVT1U/A7gOZSuMQzMZSOVXc4CtQHq9uGGhClsp749upBU3EKKostf5ZjSwbNA/f8NeXpGj1h0GBAOtm057NpyxaqGuv5/cbXqKqopEWAe0UJmUyaeCiCm86yv+UAK5YvJ9nVx+Wnv4syqQYYaNwLcboCBME9FoJ6fSeydB981CgbAItAB+AJnjR8QgETnXdOONKDrEipUQu3R/PQ5ydNsr+WOeWlS+CosuZhFSFbDPV8gRYmWcMl5JnYjin2x0pSoCQGoosVLWzAx4u7hVYsiG2etLutPe+lWqRoX42wOqkyZ9P16LEDxn74eZCF/pyDEZaCN35gIRd4JitjH9nbJ+PJpMJSiYu6gIqUJVHGxsE59RK3TEJ0AqJcm1xDwFgFz7BOO9aF2PWzWMCsBY2rtLB54Vcw4ZHmy/+uiN2P5snLP/uFX4d1EaMOkJ9VFs4ulb3M8Haj37vCA2h+Nr80M8K465dzVGsdQuXqJaaReXGeVNCSv+HXV7HF+fdGehRJeJVprkgl5M2Vh6OAFQ0uZfRzUvj+5ifz+e4jz6Dn2eb8toVz9iMHoxCIjuQA6O0LNdqHicfwQfPrEIdr29HsxMi2R+YUCtnuIz0vI+07XARvdEenZDUjNTbU93kpjerLjvJTII3RewTFpIZbP+gK3tRo2oZx5DMi/dS9iD6WTMv0J9/r69VMnfeVX0HIP9+yi95XDQ16bTOQw+T17AXvwiEdf1Eqc5Qt/pZvVgTub3lIx3bAInAfiZv4uA8JcI+XSk2Q4TFPwJBK+FGMpKHAjjg/BPwIngJGrnJi0XKafDKQEJ3SGaHAlhARpmVgyFqzbGObCrhL56fSnALLOMV8+cJ8HCNKDSQX6o4K+lnF/QZy2J7BATZv3UrDzKk8vfl1Kssr6Ghtw4jJEq+wbSZezmFPewsLFi+ibdderj/vUuqicew/wIgfAt6HQ5of0vKyIAGUmmE2PAtHAVoHy/MJWeLNfIxw8A8hmcLXQYFQAR6BJnZ4sBGg6+olazdL9sAbhLyMYjtVPoMVxq6swS+rJScuHYYhrse4hkVO/JSl3R1pWBmgHBxhw80IviSyKYZO4m7imlKaXGeFiduH7wQl5YVpDdjHnKxGKPcKW/l0S6gVA6jYTVeEAOwb9OnJuRC21bZltsfEmEW1bCaOIZavmPf8MxqsvweDorD92qs/MDHVQ2oQQ3m+C1pLPUAFU8jhnA0B9IfyumPrd/6S9tLwI4A4BcL1YTOqQzBhgeTlEMQ6GsYeLoJvfn8ON9Ed/t0wrtSkhO42Ck86Uk1ZX3YAroJpq6zvKD8SRTjIJDE4v6k195qPLphMHLbRR7/ER5hkBDjzsIc4ZCJyOClIIbjVGx+ZJDhcH3Q0/dKh9/HmPf7AMQ47MznaN+RoO8FRg8IRDq+PNnLMQ5+HwrYcGSDzT6zOAgvOo5pf93+HDEZ6uWWExMmfL78UOXyZsl0BTXDIg3y4p/po4/Xn266ocR9bbItSmTHErQjcC4F7miHXY1w8Tiiv/VMDjwCs4S5J7eDo4oaqo9LdXFAOWky1RMMoYM6SpWTICiAOGHbZOKQ80XWX6JhSckPkFHldq6O1yY6lSn8f02f0ABD8nCdV5ce23i4279hO/bQpPL/xdWrKK+loOUh5dSWu79PZ2akSwQ4m+5k4ezqtu/fw1+9+LxNLKoOF0MNf0fCwVDiO5PtX1VlLmW1hXjxyTgbLEo1jCvwMpiGaV7FeC48k9ebL1B5pvBs9XgWa3kOZoYJrVcxUPjlL2EIBoGJrllUA20r3svGWbxHNDSgNL0RUu0fqGpl64Qdwo9XYdkwx2FIgRbTB6hkZ6qRp22ZSiQwTp88g1jiFlBnFFP84pSe2uefBu9Wk6MJz341th5VFn1yLYwvcEQcQj57MEDu37eLkxSuICYsvHwHvwaRjAJPvPrqFNdt2k4uGyLkGVbbHR847nbMmRikPxkNVn1MKuASgXFRAebbOzieeBfZvw8B92D9aK2rk7HmXEz0oF0hqjgbDHNND+z9/Y525IE+/1pYrgBsUklE45RDgXrCqdIyA7pghXPDMSGNrmKSB18jELPjDoZn22js9v6U66YjmWnWXKndH/06g/ShC99gbfDQwH32EIL/jkPMc0iHlVzL1S3UscRo51R+brh46OTgyCXEY0DmqnfNbFP569PeFIRkZgwrHo5Hvj+WVHR0bPUoFV3RotnQBHh8W/gX5QYdg/ze3t9b76N8H/fKIVCiP8/Px/GNxP/bH6c+1RxG4jy2yReA+hrgVgfubgXutqpwaLAcq/Z44L+gBTdho8a/1LLFU1HZgatALBjcrSJrKl/yWIhbC0PamM6QzWSpiYSrChpJcGKKhzEtuhJywXBwzq9iIiCXuBMeK3Ec9AIEWWxaztY4TDvb3sv3AHsbV1WG6BpPH1RO1bLJSYt0wyDkOB9paefT5tdROm8SuXTv48HuuoKG0/E3A/XAD4DDzrtgWsSMLmFth2tVKhNaFq0vLtDDYswsrWk1p1TR8yg6p3HrEx1kd89iGX+1IoJM2gywDPenyHOVbbSY72P3Tf8NOdxMb30AmFIXWJnKOT+VZVzNu4SngaD9m13WwoibpwXY2rbmHJbOmkbFL2LpuHQtOPAXmL+ehV14R6w2qK8eRSQ+RSaWZPX0ur219g7KSMhbMnsNTzz9LyLBZvHgJ//qDbzKzfjKfvfrD1JSUByXShSWXFRnowuIfH9/Pmp0tVNeVU2r5tHTmqDJcfnLtSiaENODO4RPyfFW9Mi3zikxWTRoqozFKLZmOBNrUYDnHVOXOA3CuVq91cquSdgU5HFpYWzCAHgsSGEOf9D9tl3yy8EhqRaH0YBSwLZSY/FHgngdVwSyvIHBvBmBHjqoG7W/+6NTswoOOAlHyHOTVgQGRoeclAtu1E5Vel/xzfvKyjfyU4488nMO4uVBOM3qfwrjmr/1PvY/8MUcD91HHLUTtx4LO1UAySkt4uBnAm5rizS0/ah75ptyJw0+QjrWN8+ctBOj5iaIc62hkRsd6zj/v9kXgPrb4FoH7GOJWBO6jgbtLfSyutJuqJzQtclIYReQIpkd6cIDEYL8qTZ4OVTLgSWVCGaxcIlELNyNyCu2J61o+Vs7DtCOs29lMureTE+ZOYVzMw/aFadcLtgKeNPMKjiWFy10qyiopLyk/5oFPySsUTpeiI1qEI2ldUpFRTNH2HWxi1+6dLFu0hLryaiICpkUzban6fkq6kTN82ob62bhnO69sfI3rLrqS8SVlhFV/KglFIwlXCvSNsivT4F13yK6w0+JQkXMJKSceSarUHE6u+w1ef+5eSmtnsGDF+fh2TeCsELih5B1cgpFC7kcluQVOLDop6jADcDCA6eQ8DZts8WaWJX5lcydsur4GV5LgJAct283+H3weM9XF+NNWE546k+6H7ifT249//FmU1zXSsXMHVWVV9CZSVE1oUDh+79NPsGT+fJKhGF2bXsWPxqm/5IN89NvfY/kZZ9Db1YMVgkTfAA2Vtexq28/QQB+nrVjFuhde5DJZzWiYwPfv+AnjYxV85orrlQ2nrD5IEmpQOocOI8Q/rDnAk5v3c8kFK5hWafGLx/fS0dbOdy4/kT2799GTs4lGLSqyfZy3ajEv7eqht7tLS2SsEi5aMpHJtrZ9U9Ukcy5WCrIDScLVlXi2jxvSvjSqqYZnqy6ma+FlJXYmxHRSdvFzLBH4YxPNEfB4GE72CCd6M8TSG+pk7/z3eUx3uIOMvqpCCYlu4oL36xCLwvzh9XnkUZHv9KsXSCZGV5Q+lnAd9baHi8ERKIVDNv1jUT4Sgh59YUc7i/1j7R+sxBz1fec3LLyPw93TqL+/yVryzU9AISmSF4SOXFZ+ApK/78L7P/JE8vDZSaMnM4c7Zn60yAP5t2/HUwTux/zwqh2KwH0McSsC95Gg5TXu9bFo4IMhcsEAACAASURBVBAjAEX0zHplT8D8UH8/yWSapGHy7O5untzSQioNITPLu854Bzv2HqRt317ee+nZPPjkM1QYJsuOX8nd69azpLGU84+bRgkZLC+nSoersuY5Ae86GcwPiUNImpKKEipjVUd0lxjd1MpyTgEyrb+WbHyRTAjITuRcBsix9rVX2LZ5M+9e/U7mTZmGrWr1aYs40dsLWJOryMjUwYDu5CAP/v5xzj7tDGqipUQMCImVnOpDdVVGSyoPjhq7Cn+UyUjWFTs8+Oxn/pblSxdyxRVXqMImEaeV/rYtRCsmEa2eTjoTVtefL7ah1P+mqSzaxBFC/hu+T+VFbSj2W5wb5J5l8qPtGqU6ohNYTpgqOdPN6cqK4YitpTla7q1kJOLkEsp103Lj5zCz3dTOX4QbLadl82ayWZdxqy8m7vbT8+LjZL0Q7dkQJ19+Nd37dtL04ssse+/VeKEo+x/4pbq+yvd8gE//5Gb+6hOf4+E1D2OUhsgmUtRYMaYvnqGKudhZm9t+/VvOXHUGE+sbeGbzOsqtCB+79FrKoiXKJs33LSxV3dKn3Qjz5TVNPLFpP8cvW8y4SJbfr9+oYvKl957EbU9s4/Uel3imk4uPm8nxi6bx9dvWcckZCygrK+W/71rH35+5hKvnVhMdCmZOvsverTu478e38ul//gdoKNOzO6HuI8E2UvFe2UH4bH38OSrra2g4eQ5BTZ8x9Dh/gbscBlsekREP/iAJ7/LuiIyqQDn8Ji16HpYFavIAthcm0ktTBRKd4dDnaf2Cqxj+9tCkeP3rQhCbv5pA2axkXTpBX5vaBqI/1Z/pZ+fNkPVIEw69y2goeOQn5s2WufrIeS1+/jz5KcURZDtH0poUnnh4KXHU3RSuRB3uQg+D64/Y9sP7j0RdOckMN0HQDsNYvBAo5ydreYPJfCRHM9ejafnDXfSonIBDkjHyCahB4xbkCx0yyRuexunzF6Y/6yscuS59h4eC/hEnnnx75rc/vNvS26FXKQL3sbVCEbiPIW5F4F4I3EXj7lIXj2vgLp2msLvCSIsVmpIeeLQOOOzoTXP3SxuJTVlIW79Dqn0XF7xrJfc/u5P6ceWUGo5iQ087ZQFrn3tNyWquWzWTpRU5LJFaaBNfPM9QSZ+GI5UO9RJ6xjSIVVVSWlJ21Iy76ugUu62XqeViZZUg7fts3rOHp95YT3t/DwunTufCVaspN21MO6SHuGBwkQRa+dZByrCL4wu8snmzsmkbV1lFTWUF1eUVCriHBCCL9l8uWckrRj56Bd3HUVZh2k7RcTLcced9zJ09h/nz5hKOxunoauHee+9Uk5NaqcLYdIArLr+CF154nr1797FkyWKaDzQrcCqyoRkzZ7J44SKeWPMk2zZv4dpr309FeQWbN21i244duI5DLBqnsqqKbdu2ceopp7Jtx3Y6Wg9y1WWX09hQH4i3teVZkLOrPaAzbXT812cwM90kRSbj2Qq852qnM/2ca8jtepHOtfdiVE1i4ikXYjZOpmfNfTRt2cjSK9+HHytj370/x0mlqDv3Azy2dQ8rVp/Oq2+8wTM7X6c8VsY1Z72HBx+/n8kTJ3PaCaex7sWXySUzrD7pJNr7Wnn11Q2cc/q5VJSNUzkAQmPaKhfCp900+afHW3l4Ryu+bVBjJKmwM6xePJ2z5k7iO4/t5PWOPj65ejarZtbwqyd2cN+eXlZOj1MeC/HQ5j5OrTb4/urFDNz2InT2E5lWR/WKmaz/3ZO847JLadvwBn27WohPqWXS6cs58Ph6OvfsZdy86UxatIy7v3wDixbOZd6XroKSMXQ2xV2OKgLS3kk/w3/f+Que2fIKKVl5scMYMhm1g/L0rjOcvKxUaZ7YLdrKelEtLpkutuNT4Ue58SvfJiIAKygiJ2sqYj97CEouxLhHuEptiigpqQXgOtgvX6dC/qKgVR5nFSDxkVPoHA+NRwO71ENA6xFY7MJr/KPXWwgE88B91I2NxsGFSpNhcKz3OfR0hcD2LWSAVcxUprw6Z2CAiSXWkG5OvffK/tWVFcmMykmSC5PcFTH0Scu4YkV1jQzX0XaUYmer2ku86U21uvinfUaB+vwai9I+ygDigpvFt4J6E464dlm4qnqsi0hJZcXPt7Lq+bX9KIawBIcUWCq8wqNoxz/tht6yvYvAfWyhLAL3McStCNxHgjaUSpNwPGpK4toiTWQZSvWhHWMcw6Yz5bO93+CBjfvpyPg4oTg7mno4bkoZi6bX8JundlJZU0Gus5mzls2jH58XNrzGqoYI71scZ6Lfhu1rQ0kZhw27TOnKo6E0g70tpFM+8fr5RGrmEiuvPJR++gPtq5nofFEgcTrxSJrwyMvP8+KWzVTW1xO2TJZOnsHxc+exY/NmwrE4TR1titUTl90lCxbT2d3JgaYmairHcdziJbR0tCMrEVIIpaqynMn1jdRXVqvBQdsaSrGhEe+B/DidV1IrP2Q1QfG46dbbWbxoEcctWqRo3b7UAI8/8wS5RIpZs2bx7AsvMmf2bHWX/f39LFq0iJdffpmamhqy6Yzyez777LO57777GF9fTy6XY/q06RxoOoDjueoYe3bt0UVTUkk1BuZcl5XLjmfejFkq89IKGYh/tPYgEw2+sHY5jHQHrTd+HssZomzBSqifgxcrJ9owCauykdT6B2lfew9MWcS0c98PZpTutfew9/UXOP7Ka3AjVey/+yaMVILJ513LkNg3phL09fVxx5pHOH7FSpZMmqkqOoZtG8ORSZZFOCSemFJi3icTjlI5eTbhskmqRXTClqdWDHoMg888eYAndzWx+vi5nFlnMiFsMrW2nMGUy1ce3sbm9j5uuu4Uxsfhhttf5Oke+MT586ipjPOPv36VuZEU/33aYnZ97lbm1k3j1ZatnHT9hTzw01v44Mc/zQs/vonxU6exoXUnp196Lg/8562cefklmJUWjcev4JGv/QczVyxlzkfPxI/nrdvG0OkUd/mDERBwPEiaf/rhN/j184/ghCMByHHwBZwZvnI0EschR/zTXVN5rqvkb8MkZwp49whnfSZYlTxz0wOUKJcqDbylV7MEAB6tyiO42jyE0jA40JrlIa3KO9EHPFSkE/w8nI9YaBso++gCZSPXMgoxF6LmI0XtGO9jmN0NpDzqjAEy11aLwYkKZCX/N4G7yC4VKy25VYFZsC6U5WPkHOysQ6a5hWRnJ2W1tTRv20XNornEJtYr7/xQxmWgpRWvIkZFY71uLT+sVjL/dOA+0gj5Sty6IJ0upud6g2SyzQw6HWT9JFEjSjxSSzRcg2HEwUuTybSzo3k97R1DLJ9/HtUVE9Uq6Ehl1Pw5/v8B7XLFReA+to69CNzHELcicC8E7hnt4x4X4K51m8pdQ1xihJf1TQ5mDG5+YgNP7Oli2QnHsXvrHtXpXLh6Blte28GrLVJZMMs7l83l+ImV/PqpjSSS7XxkkUlN91oiif3Ew+XgZUilclTXzaBvKEE21Ub9OJ/+fpPSye9k/IILCFdUH/XgqjrRoBCIWBwKeN14cD+/+f1jzFq8lAMHWuhoauaqc85n0czZfOyTH+aMs85h3JSJ/PNXvsz3/u3rHOxs57d33cnffuRjPPnw41x9+RXMmDaDW+76LbMXziU5MEjENDlh0XFUhKPYQcnxQxwygoFWac9VwqsU4PBVBdGf3nwT8xbM47hFSwjbIXqSvTz2zKOYWYeGhsnsa27DyWaVNKasrIxlxy2jaf9+BgcGFfCfNnUq6VSKg+3tbN+xneUrjlfVDGPRGFXV1cybP4+DLW1ksllVTOqJxx9n2bJlTJ82g+kTpxEXkCxxsvUSuxQxkYIswm2ZmR6afvwlMolBprz7asKzTsWPlOKKZaOXJfH83fS89CjmrJVMPfNylXjavuFxtj/1MKddfS05Sth7363YXoZp51/Ny4/fx6zx1SpmWVscIw1V3CoaDpEcHKK8pJTO3l5VLjwm8h0zTjcRJpx0JmWNS8mZMW0dKkO359FtWvz9mgOs3bqdD523iuumxanwfDzTYPdQjq88vJXtHYPcfP0qaqLww0e2cu+2bj5x3gKqS0v5hztfZFVjhG8unUnTV+/mxLnL+N3axzj1fRdx/49u5sqPf4o3br2V2SefiFcTo7K2jB//r+/z4S9+hoPpTiacvII1P/gF81cso/HCpfixInAfQ3d7VLto4J7h8z/+Fre+9ChZeV59l5Cfo9SAilCImBRIMhw8kbg5IVJZhyHHIW0apIVcD9tYCZfp9jie+8l9lLliZ6rBn8Ah5XJ1rJ/ROOoPAOmAf1XnUiLAQiORQt28XgZQn9GLAMd6eUe7/WHJevVL6bPyFyMdv0hr8isT+b0K99Yzhjcf748uBxzhUgtsNIPcI9lQLF4lT0hOFMqlGNq1h6e++b9J9vTSMGUaLU0djDtxOfMvPpfxDY28+sBDZPc3seSqCwlNrMeyQvhGSBWWEnb+rfrkgbuKQSDVTKRbWL/pDpqHniflt1JqVFFTNpt5M0+ncdxKsplOXtl4J7s6X2Rc9QLOOP7TxMx67aymitwVforA/a1qq7fqOEUf97cqkn/icYrAvRC4p1Xl1Np4TBeOl84yKAWtAJRp0dqf5v7nNtLixbCjEUgnGF9ictyCeWzYtI1eN0xpyGPlvOkkB4bYuLuFmtAgK1lPaGgrif4OGuunMDR4kJybxghVEq9soCQCLXu3kKOSOadei1O1hFh5zTG3rnjOy4Qj6WV4add2Nh5oorn1INXVtYyrrGRiRTXLFyzgs1/4NBe95zKmLZzLX33keu772e0888pzPP38Ot5/6TXs3LmD005eRVVJOS9u3UjHYC8hy1LuJLUl5Syfs4Bw3kGnwN43r8fU7oy+tj6U6rK+ww9++AMmT5/GUDKp2Pqh9ABWNERqcIjJEyaRyWSZMX0G0jns3buXlcevYMOGDVx77bXYlkVXRyd33HEHjRMmUFpZTmtHGyE7RGlpKW3t7YqFbzvYrqowyirGSSeeyCvr1ysnoHPPOpvGuvHKp14VHhWPHNHhGqKFdzDSXWz92b/hZFLMPOsyIvNPJ2vGFOIIeSkGX3qY9hefwpi2kNnnXglGlETnbt544j5OOnU12cg4Nv7ul8yYM5Wy+cvZueZeKpxBXZHVQ5VJF/a/p7eHmnHjSQ0micXj+E6S3u52qusm0O2EqF32DqpmnkRWxA3K/z+tlsE7CfNvj+3lhY2buf78U7h6TjUVeKR9j70Jh3978DV2dw3ws+vexYQ4bOzO8L/ue4Gzl82gpryUnz72Gn975kLOj4XYedujLJqzkOdfeJn584/jkVt+zQf+9Z/Z+sIzdB3sJNpQybLzV/Pybx4n0dpCxYwGln/gYl6/7/fq51VfuBY/WgTux/xyHuUOAtzTuHz6h1/ll+ufJGu7kEtSGTapj8aJiWJGZGiWvFtSNldLEQY8l+6cQ6/jKJbezBjMDNXy/I/uocLVkhTP0s5KyqbxWDOM83hU7uOPAsACVXNQ10Ld/uGUJQXGIlqpffiDF56+MJR/9FIOAwfVLRRKZQqB+/9h70vA7KqqdP8z3bHmea5KKvNIZiAQQJB5FFBxaHpwftratq0+W7v1OfTTbltbbUG0+zkhoiAICDIlkEBCZjInVOZUpebxzvdM71trn3PvqUolqboJNMq9fHypVM45d5919tn7X2v961+ZoL+rQS7If6M/mbxD5tfZcZyjIkrGRxA/6NTFWdYgGxLkvl789P9+A2WSgnkrL4FcVY+drx1DZyKJpCpjWkMT+jZvgtLTgTs++xFoTdUsS2yZASgq1ftM4NFNcJ6OgtiOHG9aH8SJ7lew+dADGDb3QDFNBLRK+ORGXL7s/TBTI9iw4zcYSB9BVekiXL3si/ChgilAeeBeiBlOxjmHR/CGnJIH7m+Imc/+JXng7gHu3DnVQmUwJLYOxu1C4YQ7UkLGSDyBvlgKCeqOqmmQLAt+xLnRPG2HpkxcVBMBUtOjwknChyPH0bfzSZQVSiguLkM8moCuR1FRVY6+wQhkLYxwKIRoZISpM5UtF0ApboK/sGxSmyu3FndUXgb0JB5e8ywiqoRguADtx08w0F61ZBkWTJmOrRtfwdSWqSiuLMPqtWtw9aVXMGVm9/49iA9HEQyGMXvuXAxFojg+0Iu2jmNIGTpmtbQi2tmDlQsWobaknNP2bCPHjJk0uegsBJtqA5CGaSSwZ8cWFBeFHEWTNKLxEfiDVChqwadRKldGTXMz2g8fRjqVQkV5BQYHBjBtzhz+jsGeHvT39qG0ohxl1VXYuX0bykrLoAQC0ONxxOMxFJeVM1ge6u1DfXMzkvEY+noHUFbdhMrqRmhKgDuKyghwNI1kPGmMihlF2/onYJkpNMxcAK16Jgw15HR2TSN2ZB/6Dx5AqLoetXMWQ9cCUIwEhtuPIB2LIqqbKFAt1LfUIy2p6DqwG1J8hGlE1OHUxS7ksFCXVCq6JcUbTaWmVCZSOmD5ClE1dTYCpQ2wlSBbVKFaAdiISip298TROxjBtJoSTCsOwMd1BDaiJrCjcxiRpI6Lp1YhLFlIyDK2dg7h0PETMHULtbX1uLilDFVUiBxJc0t6oy+Jl3/1BPbu342Pfv1LsMMqUrE4/CVBSCENSFgwo3EoQR9Q6IMVT8NKpqFWFWSbI559ickfMUkL0EoTQRqfv++b+MWGpwCV1hMdU4sDKLYV+GnekCqVleLmXxRJtVUNMagYgIQT8TSGJOKx+9Egl2LjDx9GkUVNwchXFe+lwM858rM9gNe9tWx9p1u86rlpp8O0W+PqVaDhozKLx5kB7/kC7u5Xeik9WapMdvxOXm6cp5cd5/i+zDkAd7atRyqR6H6khEUF9UkLqe5OFnWywmHs7jiJI4MjmLN0BQr8MpL9Saz5/dNAZADXXrIUZbRGlIegFoZ4bdFNBX7fZN2c009et4DUS5mx7DQkaQSvnXwKa1/9KZRAN0zLhKZUIYRWzGydjt17NiBhxTGt5UpcPPtvoErF3HU6D9zzwH2SS+Vb9/A8cM8+e+JyE3CvCoZFHTxHZgV/jyLvtOSlUinmVot2JSTWR7/XWXRRyLDRGdSFFPBR5i89jJDPhJkchKxQulKDZdqQVYWlCSkay4U5sgpqimnTz4qf/+4jPe9JbK6WbbKDQaCsL5XAjvbDeHHHNvQMDeCC+QsRkGQc2bUf77jqWkxvaILmUF3Sls7UFUrU8pBpIIqKlASs2bIRL23dhEUXXwhDlvHq+g14+4WXYNmM2SgNBFnb3bv3Ov6O0La3DQbFsp3GQE87utoPAUYCKkkRWiYsU4fqU2ETmFRkoY9ONuIshyhqEpuDYLgIrqbJSjl0rKZpTKGh56JqGtNm6GDuAKsoQvWGQI2kIZJW0dI6BxVV9ZDkAFNXINFmIXHhrKrYeOrpx5BKRhxduxCSlsT69lQUGFJkqIYBnz+IuGmC+qvSGMOaCo0upchIpJKsaqPrafgkWUhQkioMzRXLZj47UYEoe6NqBNjpGtynCVqA6FkKFi5agrq6Zv49zReTaFqywuKkZARWDqJiZmc+kqG5hoDtJAqGCY4R519XVAw5FIViG+xMqrLFjoBhAoGEjGhbFwxZR8nUBsAniptBc1Mm9rGL0LKbfUZg4q27ZL7ud04zZgQmPvfjr+GBlx5DUFMwtSiEJkVHqSKjUJURkNPQJBuqTAXmNhKGiRHdRq+l4kjSwtGkiaStoUYqxsb7HkWRTcCdnq+INGcg+6RwnEOAcSaBKJ4UfHevLoggPGQj1E6vZFa5Ig453R81mctqi4h568hVZdp/vX6GdigYVPTpFOeTTUSzM7f52GgBQ6/orLg/l8YxXuFrjlQZJ9jBWkJOzQD5WZauw0ikEBuMIFxdiYhh4bXDx1BUUoimxiqmLGq6gR1rN2LdU8/jur++G+t27UDRoQ5og724+KarULP0AliBEGSNRX3P22e0+guJT5G0QQKW3Ytd+36H/cd/DUPphWSrCNq1sFMBqChGqGgGli+5DSUFMyHLQUeEwZvh8A7xHByh83anZ79QnuN+dhuNd0Se456D3fLAfXLA3Y0uEEAW0mfuIp7tnGrQBkVLEQF/i6gYKa6oZ0+AeJN0HqNRSzQo4pA+FZZRwZij7m7LUEi5ZRLPlBZNcYaCgVQSf1i/Fj3pKLSCQvT19SLo86FI9aGlqhYXzV+EQlKWsUjjnDqBkoSkaL5D2utpatYUHcYzG9bB9CmIppI8toayCqiJNBZPnYGpdfWQbYvlGEdtVVy35rb1sSDxuEwRHWTOuMHfRUCV9yreFQmgkkkcJ4n3Q3dTpN3LoS55iuKE4o8lrkXFUY7XIEAEV8QKO7OtNY7EZzQx+DkIHXhxvInf//5R8h9QWlrC2hj0bEiS0kgnUVZUiK4TJ1BWXgnVH0BHVxfq6urQcfwYK9sEi0rZ6eg6eRIlJUUM1IuKCjEyPMR8/VAggP6BPkQiEZZnLCsrw9DQMDTVxzSf8ooKHD/RjssuuxxV1dXsnPDtkBNDbAiPTjabyJXPJ6Au0/MTT4DmHNlQzCmF9fvpXzTyjdicBgMUUhvyQYOSdEAcRfFkC5ImsxoQfS9nU7hA1jMLJzMhJzF384dmLUBOWhQm/uFHX8bDrzyOcp+G+aUFmKom0VgQQnnIh2BAhqSGES6sgp5MIhrtw1B0GEfjabwWt7E3YqArIaE6UIkN9zyMYqc7M3d2cOZPRrFvgsYXII1qLsSUINUpnqO2LZRPuFCdMkmiIF3MXaFxRS+3u17S1KQeDOSEm06hOM1NclJJhUo4o9lsgOususMkR5++J/OZ5JxkPjY7wRKGonF09vajubmBueTxlIGCkB+9nb3s/JaVFKOoIIDDx7oQDPhRXVmGgCK6LmfzjO5YJjkQj915vaRAB4VPbIkEgxGPJlER9kFOxND24jr0dfZj/rvehef3HUBDZRlmN1fCJw1AlQYBMwY7ZWNkQEagdiZ2Hu/Dwee3Q9+9D/5YN275/N8iMKWBi+rPJ1nmVOBuwbDSUGUD6fRhHD/2EDrbX0Cy/xj8aR/MZAFqp1yCKYvuQDA4FbZSAkkNiJAXqyLRGjY2E5QH7hN8RV/3w/JUmdfdxBP7gjxwnyxwzwJ1BoUMOoW0I//kgD2CPNw9kDYh0lN3gKjOspIEyp3vZeAl0JWIUtPfiXjDegsTe4hO/IcAFymQEKsnCRsv7d2JF7dvhhIOY+q0Vuzbtw+l4TDmtE6HHYnh6uUroZASQFpE3GmvJICYskz0RaN4/PlnUN5Qh8Pt7YiQWkpLE0KSipGOLtx65dWoKy2lOk+xCTsj5RE7wJ3QJbNDOeoswCTp1tPHEm1+GLgT8OaImydKx6b1HC/Ad9YctOm7kXgCBxRZp3/nCDwbWygguxsLcSgZ3FLBMQFdsUVypMd1WvoHBpBKpqAQJ1SmqLSOYNCHZDwBjQtbITICNlgtprC4mPXiqRA4HAhzJ/hELMp8dqIVUUaAAbQlsgNx4vb7NN6YA/4AkgnSp5c5M0D3SlmIsvJyhEJBcR8Mfsi5cGQ3HbeMlUH4VsgBdOZdxjakwe/oeJs074SGNx9GNqWGU6SNz4YXOv7cGJWcA75BV2mHXRcHuHum4cSn5ITnbv7A0RYQEfcUvnjfN/DQS7/DrKoSTFMNzC2yMau8CBWFJVAKylA9dTGChfUIWDoO7noBQ4OHcDQSx+aeKHbFJBwYNlGsljPHnSPu7PyRLKAHuk3ieXJWh95kShHJojBazEJANgRop0/SSMOv+WEZBhSN+NWUCbQZpBPAJ6ld7qKsSdCdKLNoFWBDIYqP67A62SUXuPM7QWN3gZ3DqxaL68Q/7AhzZtFA27EuFFdU4ciRDtS1VOPw8W7MnN6I1/a0obW1CSMDQ6iqqMCBw8cwpakepUV+FPlVKIQwia7kjsUJyIxV1pnoqOj1NR0ByDRk9MbTOLLvCC6ZMwXK9i34wee/gIvecRcKr70B2wc6cN1FU1AgdUDS9yOVOAjdHAZkKn5vhhSYiSSmYvWLJ1DQGUN863q87SPvh7+5GopGOq6Ts9dE78E9zrTSsM04VG0A6c7VOLrptxg+thP2cBrJqIa0UouWxbdi2uV3AOFqGEoAqi/gqKJRNjEP3Cdr8zfq+Dxwf6MsfZbvyQP3rIEmQpVxiy45Quxwu1k0MoNcKXZLbHEBeqiJDvGaTWLXiCCzEw0VkVLWQudzneiwU6FPvyEAP9GPWPhF0yWKuCYloO1kO/acOAw74MP23buwaPEFPM62PfuwaukylKsB1FdVw0+gXRGR/rieQvfwII50ncSBw4fQ1deHuQsWcGOkPTt3oDgQxNUrL8P0unqEZQH8mMM9FrhTpI27pJIEmYjkO01dOfpG4JWT7G7UznFayPEQ1hCkIzc6RrZih8BJ9dNhpm1CYSUCyhKIDAid78ZnWKKMgDoX0TpNaPgyArTTT4ZOANsHkxRaCI/Q2Oh7CdwTLYdIKhyB1mAyPYUArQC1pmWJiCHRYohhIskwiQoj01kWZI1AEqEEJrqwDSmqZ1vOWOj5O42gTMPkAlzhjLhRdKIFuU6ROMcbfcxmfxw2rpO9oe9gB8UB9+y8cMGGM8dI4J/GSh4eAQ/CIHwC0QXoudlQJUd3ZCyx+PXd8yc63f+sj6OZGYOOL/7wa3hq4xOYUaZifjEwvzKI6cVBlBbVwN94KbSyeYBSgKA+hHj7Ogx3bsSx4SFsH0xh45CBrT1phOQqbLzv9yii4j8OLGhsu8k+Rn4PRRJL0FyI8sJgXKge+SQq5gHSlGHUNJ57iuXEpC2bs4cphQ41EYDQFmfBFotAvKBksVPPy4LlZMKcJm/UetgB826Gjf5k+qJ7ziRmBDvCVEeQMHC4vRPFVWU4emwQtFr19PfigvnTkY6b6O3pRHFBAZqb6nC8vQeJWARzpjejotAvaGQcPHAXJaeBnncdGdZ+pwAAIABJREFUnMSY6FChvkVBFwn7h+Joe2UHbptSiRfv/iCivX2Y/bcfR3vrFCy+aRGK9ZeRjj8OW98O2AkoMql3WUjTniHPQCB4DZLS1XjqoW24oLEJjTOnIFxVBmUSe8okh8+Hc9bAigN6B5JHnkXXll9DGuqiFBKQCiMV0TEykkBHwoTcOB+r/uLTKJm+BFCpZ4noEEABFhe8n9LoNZdBvUHn5KkyuRk6T5XJwW554D5Z4O6qaVBnQwKJQutdyEaKHZEWL9ZM5tSvRoEZQUNhiUkRbXIBmkuG4aC7w+cmwCgC9BMH7i7Y5TFQQROAOCxs3LUD7X3dkAN+RFNxjvyGND9U04ZqWpjS2MSR4FgijsHoCJIWcWXT6B0ZYuBZUlzKhaLRwUHUl1UgrPqwaMZsTG9sYsUAH4FNT9LYjbg7+YNM9N2lrPDGSwCRQTIjUf6Bt1JnlXadIxFRFul2t0g4y3c/VdXEdQxcPQsBVhmueFurOMCFALoAtOL6WfvT0zSZE2xBYlqPKOcTFQBugxmi/cicoaA5oDiOQ+YZOqpEHI10lYmIRsCZBJoXBOBdKg9NFydLwDz1sbBK2GEUUOfjsnPXmXpi82SA5oZV3fbzdJ/CHsxxdqKVQu3OqdBgUznUI4vu1pmd7u45WbSXw3qUP0XknaIw8E//+XU8t/kpzK6wsbBcxbzqMkwpKoKmVaBw1s2IWlWwqeAw1QmrbyuU+EF0RXrwav8QXu6JYVOfDp9Sgw33PIpCm3MrQuXIcbPH9lM9k+05Ys6ZNAkyFWAoElJ2GmkjheHeflQXFCMQCrMzaFB3ZXaoRa8C2SQqjQWdFG0oqm4pLOhE6xzpd4mMjxibkD4kWqEtslEE+smZZjDH8D5T38HT36HnTGbeWORckONvSujqH0bfcJTlZClLVlBSADNloberG4GAyhS3kuIiHG3vRMDvR2NNGfyqCpXfXyoadTvNCgpkjux2Hr5liicTgYwNJ6I4+swaLG5vQ9/37oFaEETp+29F019ch6IZMUhDDwDWy1DkdtGB2yH8WbIJA+VIWvMhBd6J147UIBiegalNU6FItF5Tx47X50Xmtc9Owda7ETn8CCIHfg95sB+QGlHYuBJSqAyRE0fRsWUdejraMIQA5CkX4tqPfAmFddS/g9Y54aSJnyfzVP/nj80D99yeQR6452C3PHCfHHDPHi1gnwvcvSBKICr3f7EpCQB6+pXIu0h5m1dP5pEy9cPZOQho6kR7MU3sO3oQ7b09GE5EkUyn0FhTh8RIFDXlFTBSaW5clEilsGX3q9i8dxekUBClNVUoKS9D2/7XEPQFMLelFfrAIC5dtgJ1ZVXcHogyCbxxegafBZAiByCApEvW4HZWzvbmAGon2pbtwuJewbsFesO+LhAXi/so/kxmQxrveC9P0i2Ccq3rHi+i8GIDJuBBT9f9Hf1dZhqSSzsRsXtxhEjvu2e7xbReYJ21DLspFP3OZBDo31xOu2uv0U9+wnuYZ+qR9B+x9Plcrkokx0GAC9cCVGJNYMhrdfe7Rs1px9xeB2EyczN/7MQtQG9NDDY+/5//jLVbn8GscgvzKwqxpGU2LpgyE5Jain39YXT2GCgrLELXsVcxs15DTUEKnSRR2nkM24diWNcZharWYMOPHkeBpQnA5jRLo+cuJCEn9mHgzuCZskQWYkhi59H9eOKRh1EfKMBVi1Zg1uy57DASDc4kylUgANsX5uMVMw0kU5B8Pp6RkqZAMkwoKV1w20MhGKAibJK5pPeMrCAhmUyyMxkKhUUGyeHKuwXaExu99yixLpm6UFYix8Ki94IFAyRB1+Gor8nSsTztqeaHnF2qWXKCDSIzKJzc0wtYTm50tmFw1jSpqHjuUBSbvv9jTH/lJTTs3oOU30Ll+6/B0n+8EQn1RWj64/Ap7ZQjBYeQTGcUisXSoLpchVhqOeLqTWjrnYULpi/jHgCaLIpTT212NLmxjne0AO4jSA1vR2TH9yD3b0M02YRwy50Iz7gBSkkRtGQvdj7yMxx67kEEwgXYOxLE3Bvuxtvu/EuonFlRMvU9bmuScx/ZG3OFPHDPzc554J6D3fLAPXfg7uR1vehM/JxBWW6JptAkcNigoxPVLtB2ssTe2PCEwZozAsHZdrGsiAQRSYM4692D/ejs70WoIIzo4DCKQ8TJttHS3Ay/6oNOKi+KjO7IANZsfAVHO07w7+bMmYOhvkHIqRRuedvVqCou5TI37qrOKG60MHAW2IkG6a5BBFzP8q09JvKoSUz2jicz4T1dXsbi/VHPzCMqzXBWOB9OG5ks3Yd/J7IExJnlCLr7OyeKmBmdB9B7efqnC3x53Q73GpOyjHMLLFPPfHiKYIoW5Bxp9GgVuU7HKBO4XzpO+DAP3Ccz53I7lp4PyUF+4d6v4NnNT2JBTRGmh8rw0bs+gwJ/MQaG4hhJy6iubRHF3LKJjev+iCm1YaTix7B221rsHu7Dxr4oNK0WL//wMRTYRO9wgOckh+Vmesj3o14Esmxi05G9+Mq934IyMIwPv+0GzC+px5YnnsIdn/0sejq6cPTALqy45UbIwWLh3qZSsPpHsGH181j5jpsAzQc7kcDB117DcCqG1guXwgyEGAhT3Y0KBSk9jQfufwDXvP1qLgQXalM2gqRR7/CgM+pKk7inTNk8pRA41Ul0P3CtCsVWKMJP2TAet1P4To6CUL0SEX8RbxDA3qtEI4aRYzElrcGSjRFJwbbBKO7/X1/Dgi2bMO/kSUhSEpU3zMO8r16GqPIMAuHtUCWSm5VhqhRxp2WU03k8Nt3yA6hHn/52HI/fierATDSVVkAOa5wNPv/AnaiGtMJ3IXL8ISTb7ocV68Gh+AoUTr8NxY3LUFFahiB0HN38Il7+zQ9RVFKMWVfeDrVyGqqaZ8LvD0BVyLEQNv5T++SBe25PLA/cc7BbHrhnjTYRjnv2aDcSO8bozD1wFh3nDxGXdQAggyEmUGQB/nnT2HPBqYuXhSKIbugwaWNyiskoUm6l0lBVH3PCTZ341RROkpGyLaRsA71Dg+gfGmSOdWN9A0KqxrJjPpI4NIWSjFNZOopnmsV69JMXFmahYRaYZrMSwql5HRfr8dDw6d6XUV6F1/kYm2T2XtTNwAiuPR/pQbnixzEKLeN9v8cEAmCcIUtzuvE7pwmA7nKIneiqOyxn6G534FEOhfe6mTmc/eXr+JRyWMH+/E4REXcLn7v3K/jDpicwvTiEC6qn4ON3fw5WXMGJE12YMWsedAKeqgw9nUIqNYLhwRPo692PJ156DO1WAjt6hlCo1WL9j55EISkIOQ6mKBSZuN2oroKcPoqGp2BiWI/is9/+J+w4uAdXNM/AP958F1J7D2LrU8/iqjvuRCyhozcRhVzgw8ylK9A/OAIpmkTHS+sxHBnC/MsvxXA8hng0htq6GsQrCvHorq0IVVchNhJDSbgQx9vbcf11N+DokcOoqa3Fgb37UFNWiabqekxrmSaK6Tl4MLl7YVjtcurotpzCVgLqXLROtTkuLYf44A6Dj+g1XG8yypkV75T7lmZNOo7He1ZzU20J/W8iLvmwOxLHz79yH8rXbsCytt2oSA7AbFZxwTeWo3DxCZih1yCrlJchapErBSuDWUZcp0PhlSKMRC/H9v2XoaX5bZg6dTps1q49F+Durut0Q9m9jsdOHajtI4gc/ClSx55AMm5gff9yFLRejfqmeagrr0cJUTb7juLIrrVondWKqL8YxSUNiEctVJbXeoRCXebkJCbqWW38+h6QB+652TcP3HOwWx64nytwH4sICdCOWWw4wutqsDkAdsyGcz4imZlrjBkSpWBtKox0amhJApLrwngjcrjMRNugDUsVKia0SVPxpUa68yzv5nCj3TSrV5nidKoOXvHjsWBw7A1PBljnMM9PBSpZnWlxuVNpA2MdDOGGeI/zOh7iuY7u/DjOpuO9z1P+2f1H75+uQzOJDcyLG5yfvVOSfsXZElfD2rXnacZ2PuZmLo/srXqOiLhb+Oy9X8WjG55AcziIOiWAZbOWotRXjpPH+rDiostQUlHJ3STSiQhGIgM4eHwftuxai0E5in6fic6YgVK5Eut/9AQKbZUVoJgoJeSKJmReb11F0jYRkw385A+/wC8f/RUKVT/uWnwpPnHD7Tj82BPwyRqOtR1GfVMr/JXl2LhhHW79u09g38ubEAyXY2DTy2iZ1opuy4aeiqNq9mx0796NgfpK/HTry7j2tluwdt2LuOqKq/Dt//wePvihD+HYwcO44cab8L3vfgeLZszHu66/BdVF5Vz/Q3WxXHI7SVWZCd34G34Q1UQR6jaRlnw4lkjjJ//1NPrWbMKFrzyL+SOdSMn9KLrOhyX/ezbs0mNAaBC2moRtOP1DqAcI03yobiAEmBXYv6MGew8ux5W3fQJFVXXcN+PcPrQKirVTODEik0c9O6ifiWQeQKTtp0ifeB4jcQm/2d2A6nnXo2XKPDRWTkF1WTEkOYLu/gN4cvWTsJUwbr3+nTBGJDTXTQOoURjRoYTmgCOPLEY8sRl7bnd3LmfngXtu1ssD9xzslgfu5wLcs+eOjrGcJrI6WRw3yec5Fq9laDOkSEgKKoLbAo0495YFgzGoKC09NZbsRmUcTjpLqZM2vVP17/DLhR77aQY6FoyPhwDHnjs2WOU951x+HjVEF7SPHVAWlJ/qV7i0J4+8oqP/LljpohhP7GhOkfJpNpvxgbDXkWC3yjPiSWYjvKDc+bJT6DGu4zWe/cf8Lg/cJ/kinuPhxHMeQRqf+/G/cAOmcp+CWtkHs2cE0d4ofHIQ9bVNqKishqqpGOzrxYnO4zA1A8GKAKxiP7rsFAYTQH2oDi/94HesKkMR9wy9y2ngddpX1wktC3wvGn8lJRvbju/FR77x91ygOq+sCZ94x3uxuKIee377MGZdfhnWPPgwtBETl126EnsP7sL8d92KHc89j+aly7Hh3vtw00c+jPXbtqFl+SJUNjbilft/i8GqcrQFJCy95GI8/fSTuOHqa/Glf/kaPvCBD6Dj2HFMmdaKn/7kv3HlRavwV3fchUI1AIKJRKdhnv6bHdFNcD5w0Sw1TyPJXRP4+fMHsObpLViy6QVM27MWLWYfUr4hVF4ZxoJ/WABUnYAd6mUVM5LDNXWDbQKjFBgox8mXRvDkJhmz3/8tzJ63CqUl5ZColfek7DX27XeBu7smCf1+yhRYSGKwcz0CkT8i2f4iInELv95eAq1mBWbMXIoZjdNQXRVAJHUUv376h9jzWhua61bgrls+gJBdjPKSevjVMPe2cBvtnTLYsfvDBG37RhyWB+65WTkP3HOwWx64nwNwF5IcvLaI2KtbeClE2YWklVgl3e6rp0J9sRJl2Rkul8H5zSQWWS9OdlmWPELqfURFY1SYRtl15kOK9oliWXZVXdz7IIk3R1+emyY5izOPNMvxZLUUR2s5c1+ehdVlfY+6v8yBHl32DN4Vo+YExSiaiFcdOasZky1MFWdkHsYpP48GvqNT2qcmuN0hZmqM+XQXuI9RfWHNdBq3MkoNhhWExukBSaMUd+nek7DOqMc81uE5nXMz3vvuAC0aLRUBensBiDJaDwOXG4KJi4h7yLpv7nZ9yj6ZR/E5rLKTO4WAewIpfPpHX8WDm56FZKdR6/PDH0kiHUsipAXgl1TmkgcCQaR1HYHCILTCAJSiABJ+BR3JJFKmhiatCut/9BBH3BUny0e9Jsabm95RupF2mhmGoSOlp7Dn2Gv4/i/vQdvJQ2goLseqmUvxvne9D2osiX3Prsbyq9+OviNHsXPtdlx25eV47vGHEC4IwAyGsPz6a/DiL36Jmsoq+Gqq0bB8MQKhIF78/ZMYKShA0ZyZ0IIaDu3bj1nTp+OZF1/AoiWLEBsZwZZtW3HXu+/C7s2v4soLL0VjbT1AzeO4YMPmYtY/9Q8X/9Kq5zQgiho6Xm6P4oe/3ozyY8dQv/l5LDy+AzWJfkihQQSW+TDjziaEZ8pQ/Wle1G1Thh4D4u0WXn2mA8cOWbj4ox9HdOl70FwzE+VaQLTznsSekhVZ8NrYpYmK/U00fzNhWWn0dr6CdN/zsAb2IFxUjucP2jg2XIiamjlobWxBfb2E9dt/jd2dr6C9O4L5U67HpYuuw5SaOehqH8ScmQu5CRdJ44q+H6JoPzMOR0Z4cvfwxsyOPHDPzc554J6D3fLAPWu0SXPcPVrkopTJENKQVAjoAfWURqRINTcc4q/jVjfOh35HOgyiuMg0FVAvIUqbkj56RnrktCBt/Ic+XmAi87vMl3vpO171l1FbeAZWThizuWop4wzNXfJp7+CtwBMdFhA2G7H2lolOpKgzh+l/5lPOBqAzYx3D5R8v4n6mSNHY73FH5Wyw3m0yYyOP7fhwz2YsnANhPa/L4tYReL/ujHv4hB/4ebf8W/qCtJYkkMDf3/MNPLDpOeiSjgIZqCQZQsuAnU7Bz0otQjKWOi4zDc6vQtdU9KYNDBvEIAmiUS3BK/f9FoWk487AnToCj+9UukZ3m5ZRBJh+jsViePrZP+Llna+gJ9KFUk3FynlLcMmSy1A+dSqOdbQjPTiI4pISBMNFkOMW4qkYCoIa/LaCnqEICqorkUwMIxgIIBlLoqy2BgYMvLZ3Nwpr6pGQJFSUFCExEuEGT1o4hFQ6JX4O+LnhWV1lNSrDJfBR3wVePYQCzJ9iIePYCc67By/HQiM/jSRO6gH8vz/uxR/WH8S0oT5csOMFTDu0BbVGL1JyDFrYQEmDD8GWMKyAjHTCROJkFN19SWj15Vjw/ovhW3krdidmY9HMFSiWRMZ0ch8RkhpNJcwW37rKL6yrDwN6uhOvbvsd5FQv5i9ZiI2H2hCzStDdCxQFSlDXEMeLm+5DZ7IXkagfqxa+CzOqF2OwK4UL5l+EirJaKCSDzPK6sqeDbjbkIcb/5nPW8sB9cjMrs81t2bLldFtgbld8C5yVB+7Zhzxp4O4WG/JG6MY4ac0hJnQ2Gp/VCRebTFbt1xVHFIsjcc+FZJ8QGRTKCQ70Gm9mny4Se7a1eRSIHA3jvFht7M9j8OFp345xo7TOye42kAGVpwPuDv96FJh3vpGVDd8ozuNpwHvGNmcC5BkkNMZUE4mgZyLhrm8jvsg9dVSMngcjYuaZ33se3njTQVztDH0eJ3Jfb4H18X/iFsmtjyONz9z7Ddy//mnYAVJaMRCwDFQGfQhJNjSqTWHWggSDHH6/gmFLx5BuIqIDFnWjtFU0yIXY+GOKuIu2YaSvPh4U895ntlOpwcWa1Pn00OGDiKVikFQLheEAykIlKAmXwVYD2HNgP/wBlTXY02kdtWXVsGydI7BBXwiDgxEofj9GIv2g/SYSiaOKClFjI9zUSCfpWgAlBWHAIM6+AdunYmhwEMGAH0XFJejs7ETrlKko8ge5kZnNQQ2KuDtdk/8nHtR5/k5uiMbNoUT345Sk4cBgGl/+5Uvo6xzBMsXE7doQen73X5A7jqLMTkOzkkgpcST8QFzjflyYckkJpt/0Ntjzb8DmrgJU1C1Ha30DqGeqnO3OMMHRnzpbOOc5Zl0Ua4wJ24rhZM8+vLLxMSy9eDpe2PYsBkYimDP3YnR32CgqHcTO/b9G1CBg3oDLl7wPfUdSWDL/Mkxpng1FDnCUXSZbsAqS6IgtUtjuona2DW6Ct3aeD8sD99wMmo+452C3PHA/F+A+1ut34RAzTXitYXVdbjbiCgo6a5CzFrnLIteL2SZMWXT15Pg8N6PIfscpy9VpQKV3Gpw1aDoZVzcTDveiuvG/wYWZmVO8gxoHuGY6qI72I0aRXhyTnTXNn8NrMM4p4yFX93feez7zJnI6+4+5zbMM2Z0l3hyEV9FCzBnxXVSYNmZMHidAgH/3eu6fZy9Ym9x4z88TeKtehYD7MJL4wr3/it9seB4pRug6VBgIWjoD94JgAH5Z5c7B1HGzPxHFCAykJD8s2ceNbGTdQIu/BC/96EGEbWq8o3nayY9VfBpt7QxvmQomueux0wkaNnRqEGcTx1wVQQqSJJR12LR2UcMk1iE1QdWjTNdyuqpapgHVr8Ek+UXyvrmjsMUSk/5AELqZdtSqZJawJVlG1lTn5glO12JaR7nQXtD36Jg3J4yb/Oy1LJ3FAmjDMEyJCzR1WcbuuIwv3/dHdPeO4EvXXoKbawPoe/pB7P7Dw4h37EdxYQLhagWNSxpRtbgJemstRkqn4MDIXOzak8Y7r78FAcWAbKXhk0NjiXkTXHtG1/94gwgM2J3mgVRcq5txnOh+Fas3/AaLVzbi+TW/h21rWLLsJux/7SUMR3djcMjC5Re/D0f3pHHZ8pswY8pCyAixGg7L51u60NG36fmK7Ip40G/ep50H7pOf8/xE8xH3yRsuD9zPAbgzmslG1t0rmax1TPRLwSU1qbOdRG3kCVTJkC3RQZMnLYF7Xpcs3ut0ldpeS1BNCbJy5kVq/MBtNkIiYjdE0CE6jrfxUXYBPLdl0CVxjIf+x1HXcQx0Glwp/pUulc3EZgR6zm2ck30vvBr0TH7KciwzoNd99gJQnO4zGb/IvUbmat6TMx6A0wHKQ8USyux0gBirq1PtGjSb4RnjaI66xhjgdgaTvbHPYrLP7k//eHqaI1YC/3b/fXhy28vQSdpaogycCZUUnhzZQKInUNMa0zAgySpsVUWamh+R2grVspgmqtUQfvN/70FYClLLNKfqgb6BmgeJpmKn/3gLpEXLJjHLSGJUzH9eAUjYJfNeuO+DWBuYty2EG0UnYmamO1ydsTjMM7FE+6VxRue8E5n1800N5SYzF+nGSFVGgFWx5JDNbUQtCbv6U/jF6h1oP9KBO1ctxlUzi1Ch9kFO7oea3AtL6geJ0etqFQbkqdjVGcThYxHcevUtKPf7hRToeazjFY4dSWiS/r3uNM1yRA5sA7aURtfQIew7uhqdPXtwsusI6lqmorv3OCwjjrrquagsWoAZLatQV94CxQ5Agp8dNEG/ER2rGbSPqSV7s8L3PHCfzHzPHpsH7jnYLQ/czwG4c0idFlxPxJJrLi3odho6Lbu0+9gmfLYBDXFIli4WIlZjcUOhaXEdOQRT0mBKQahWYFTR1XgA8FTg7t1oJzIZJhKtGi/y7L32GaDpOJ1ix2seO+o+nMux++H5B/pxdHfaidxfrse43oO7Rbjg5gwR99OE1kdbZyJP0VuoPHb8BNq9ZceugZzn7mxwAtSI73Kj61lTOvcy1rhjvupMDkceuOc6ryZ2HoHWYaTw9Xu+jWPRXhhBGce72rmPQnVxKUoKi9Az0IfBdIJpdSWGgqb6JgzGE+ga6OdofFVJCWSqrYmk8NUP/QNqS+tg2So06sNAv6d5RJHwMwJ373x3HEM3LuAIZ3nJVqOKuZ1mvW4pOcN15x3hPzzXETg+W6ztDTGczq0426o0MUu/2Y7KUlCogFjYyIJhGoioPhyP6dja1okdu3YhrFpobSzBlPoAagp12NYIIrEEOk7GkUgXorS0BYtnzUSh34eAbEGizAhdM+eX91SLk/KLcM0osyKcMlNPIh0d5oJmS04jjgFEYp2IRvt5rprQEQoGURSqR0VRKzSpFBo1XbI0qFqIao2dejCde4zkgfuba452dHQgkUic10HlgXsO5swD99yBu+C1W1yMSpF0TinLxAtN4ETHfhw4uAcjkSGk02mUFxdjQb0fPr2b+euiAZPE6WVuXWFTkVkh5IJG1DQsAaRygKkyno9HiMX9bUZjxZFnFoEvZ5Edb5UetXBPZBV3nQGKhGSPn8gG4GJZMZpTF34PvvQo82R1DNzz6DguQsuA+nNpIDKBl4S/x7XhWR6A+8+nMWVWnYMe9/jA3asvM+bbxhTvGo76i7CIC7poPgl6jBPJ5B9Fyj0jTenOj7G37x3S6e5h9BScgAHzh5yLBQgKDSGJf/7O15HWLMQ0E2s3rseU+ibMnjoN2zdtwbvueg/++9EHMRAdxj/+zcfw4C8fxLR587B24wbUVJbiokWL0dvbCSVu4pPv/ADmtMwj4juDIep8SqCLClvPXuTnImzHiWWvkKRPMlPLebspm5h9begwEYl3HFFPhfWoGhWK3HJ9hijQFwX8Aq47M3rcfNZp/ORzMfub41yn3wcV37rBCsNMQqcGWLIfMRtIpFM4NpRG29FenOw4juHOTsiKjdbWViycPw+VhTLKA34EIMNP4v1URWCTw0a0plxv05MGdZ64bRswkebnJ+RmVZhWCooZh0z3ocgs22lKRImiSgb6mEwb1aQiSLYfuq5DU2UusJZkospQ7QKtZ5R9sLg3AHd9dibEm9lhy0fcc5tbeeCeg93ywD1rtMkWpxL3koqIaMGidco0EkgnurB/+x+hpA6hpdxGIhZHXC7FyZiE0vRhVEknoSg6R88onkDayIZagLhVAF2ugK9gBqYvfxdsqxaSQqnD8VGTSFU6UdUMihZVm3QK8V69CgIc0CeuPZPvqabLhqpSPHZ0lJ5LZ53Ogi4FRFyP6D8qyz+SZjB9xkpBugoDnIhwiiW52Mrhp1LkSKWI3zgf1ph2cKd3RLzx04W5m6EEKuCi6xH/cSJux0ReCVdFwz2W758VOAhOUNqX9Q0cTq3opmiaAN0KHSEcsex9uQ6J+4yIA5xxpjJGEjZVNGFT0ZVxNLp274/rtHgXJ8AlKA4M9nmMZBvBOWbqA9mRsjqk2e9QIdjhGsM7yNjOdYYsi2U/RSG1+Nc/B7WOiTz/N9sxArjH8M0ffBtT5kzDa8cP4w/P/hGXrFqFkWQcW7dswY2rrkLHYB8Kq8tRVVyK3z70MPzFhYil4rDSaaxathyxWBwHtu3Coz/4JVorWqBJquP8khwNAXeXBkYWmCCiG4uYPVF0F7d7rzTKOfdgP9MF9aMa0zGBh+e2e42x7/ibGbid8zyiV9nrezsAGUiDILIJjfcal2fJEWxJwh+eXoNgKISF82aiorSjavrNAAAgAElEQVSYG23R6qhJBlgbntYvyQfbtCFNUjoza28qnHVdKVqOLaSNBBL6CB5/6nEMDg8jZVgwTQM1VeW4ZOUKbH/1VRzv6kE0EUdxUQg3X/d27Nm9A8ePdyKZkJFOWexw3HbzNUgmE1i/YSeGRmJIxJNYvnQJrrz0CvgVqs2gtVVw3M9QTn/O5j/XC+SBe24WzAP3HOyWB+65A3cXmFGw3TSj6O/aj96Dq1FsHYU/cQiySZJdpYiiGIavGP7YURQYJ6DJKVhpA4rqQ1LSMKiW48Udx6AF63DhomvQuuI9sKUWgID7OBxOKgATwErwSQTgcxRpnCIhSosy/uT/BRgjgEjgjME9bRDO77PK6GKbFPq5znUd8zCIEzViowCmUMnJgngCie4xmWAu40s+MWtsV/ve+ZNwJv1PdW3uUdwvygHs3J2PJNNYcUfok08Qakz4rfACeOIPs/PBOu3Z7YtTzvQf1zCYsEWPcSicHXEALxtRfG3GueHqZGEDvgMHkRjsEGWfiddTy4IW4aS5BWCCSZplrotIvpNmZxs7Bc4c2lS5rTtPES58dgdHPznxUMfGfH2WLXX7EHhg0wQi8xM2dP7AM1qA7B+x4vjM//kChswErr3pevzbd/4dsxfMRW1DPTa8/BKuvfxKvPjKBmglBbj+8ivx3HPPYvmlF+P+Bx/gaOdlF12CaDyJ3ZtexYP//l+YUdUClTKD/EhNWLLJ7Yuy822Cb5Pj07qlrd4kkiszSQuFy4bPOJc8p7KUM47IO50DMtdwptuZwPmfO3AXAQ/hughzWLBJoYeBqyooL7yW0jttcafrR556HOFgGBfMX4iS0kI+T5NVzvBRVFzEYagweeIdc90JmrW36+G7ewTRY1LoH+nG+s0bUFJeiqQhPLOGulr0DhxDdXUFqqpbuOD08NGDePml5zB7eiv8gTB0Q4NpKdjTtgcrLpiJowdfwzXX3AHVV8AFz4898iguXb4SrY1TeZ7ytzJN8HQu3f/8opIH7rk9gzxwz8FueeCeO3B3zzQtHV0nd2Cw/UUURLeiKHEQAWsIphaC7i9G3PRBtWiT1CHZEQTtKGzJh7Qlw1CD6A014/mte1ESLsLK+VdhxvJ3wUILbJkKyk5NGZO2sfsRUTMB1SgarSgCeBFQzhYQif7RAvhRiRj96QYxRJRVSE+6KJ0Ap+sZCOoNA1VDdOhzWxERuKcIC/0ucw0naCyCx04UmfZsiiqP+Q4et6fJLBfqOps3+yG8V4iBktQcEUWI/kH3oVHU/bzF3MV9u8CdaASw0oISoAh7udEmdiYc2TbCPRxxpw2VCqs8KX4XuPOzICeIe1q5wNjD32dAzl/jOEzjAShS6xARUpE5kZ0MiNsXXGQ4RH8AkbamPBD3lSRHylE04h7xbrty5xhRNOiAeRswDAOqpjklhZ6y2zxwz2F1ze0UeoYJK4Gvfu9b6IgOcrfLEx0n4A9oKCstgcLZOnDEPWHqmNfQCj2VAHwSDrcfZ6WVqpJKpE0b0f4YfvClb2JqVaNoVqRS1ooUX0gD3fsGTQS4u26f28pLELYySbvMuyzi5qLCwllonJ9d+sfYyLLrIo7NBI2yoNub7lRUmZuh32xnscnEO2pzIbGIvLjN0Wj9EL+iTrYi+k3/9uSzj6EoEMbC+YtQUBLmNVJTSFbR2RmcLF0uGbTRwN0F77RnGDCpjstOor2nHQk9xfPNMC0cOdwGUxqGrFqIDZtI6YBuGOgf6MKll1yI0rISSAgiaprYuWcPFsxowu7Nm1Ba2oRoXAclCXo7+3HztTdi4ewFojsubyhuyobuayLz9Y19wHngnpu988A9B7vlgXvuwJ0WUMMyuap+39aHEUxuQlF8KwqtAQRUiWXT0pYOWfbDssuwKx5CW28vlreWY/ve45i3bCXaDh/GC3u6MJxM4rIls3Dp7MsxZ/GdMNEAKGGXopzlirprJyM4kkoDUgSoZVqsCXAbIkrNmJf4rApIhs3tfmoS1UVVYZsmVIkAmlgPOdKdiW4LmoSzT/Bm4UaOiYKj0OZvEZ/fhuqkXm26TwKWTKWhHZbAvKDmUFRINwUdxN24x6bAeSP3gHZmejiBa4PoMeyQECvEhJ+E7SaZ8p3Iq+FGtS09AdkcEioPMmlGCyALsjNF2Bkki/QDFVOZ8MHnqxARMSeU7tKYODlCtiS3zaEvEb2K7SdJSCUS2Lp5E1YsWYaCcAjqOBQg2q4MUiaiOCbJ7TF/nZp9OUDKafhl8+9NmEypoZidBslpvMN2p7E54J2i9oJ2LJjFTIViCpKCtEFzVuafT4lvCTyW/7yOFqC5FreTeHX3TlQ11iNl6ND1NOLxGEpLitB1sh0lRUVIGmn4/H4UhgrQ3dONtK2jrKwcRcFCnDhxArU19QjIflQUlsIva1CJL0xQz6Fkkcs2uUfpZHYy80YYwXuN0RFxoc5EMJ4gfhZqiUk0viCl+LfTjuu8zL/sfWTDImd7oGMJfGc7Ptd/d8fmFpGLoIy7rlC9VHd3Nz796b9HcXEJfD4VF628EM0Nzdizdy/27t2Nqa2t+Pj/+gRUVeX3mv7M9TP6eWbtZlomKGA1Eh/BC2vXYCgywtz7tGlAVm00N9Xj0pUrEdKK+Hkalo7v/ODbmL9wDgaHhxBNJJE2gM6TXXjPbbfj5OFjuPrq62FatGep2LR+M8rLyjF75myeOWJZ9UZ2cr2j1++8PHDPzbZ54J6D3fLAPXfgTt1NaVOKphJ47sl70VrZjZLEdhTrfay3DNI2lnSOOqVQhsePS2gbTOHGhY34zZMv4cb3vh8vr9+IuQsWY8umdZjRXINl0y/B3KXvhYVmSEowA9zddYsDXBZRNGQQT1Sn4h/aHiUn+sWRarHAMcedQC9FZizRGlxATpvT6T7+vSiaZE0A4sCbImJPUpQMpOlSJmDqFiIDEaRSSQSCPhQWFUL1kWwZqRVQxFi062bahtP1jkCrIUsYSMZwqLMdET3FHR5duMBbkwege/VS3KdiEUWGJJ9hQ7NshGwZU8trUFdewYV25/PjAndTj2Gwqw1FRYWwiBsKjSPakq1DspKAleKujiTBl9RtBMPlKCypE+lopzMh0/IdRX5+PjaQTKeRSCVhKTK27XwVFy1fgRdWr4FiWbj+6ms4eqmdAtxFvI2yKULRWIdtRpBO9EJGku0tWa7eP7sHkKUUPzQLBVDUUkAtgaSEYMvquCiLHEzBZLJhmRbSehoD/f1oamxiCJUpMHSe1yTR3vl8RG+Ra9mIpiLYtHUL2jva+V0jJQcCbbReU1YklUzyc+JMlqyitKwURcWFOHzoMAzdgN8XgKkbiAxHcMftd6C0uIxfNiEBKR7kmWRMJ2Lo0UkY79/cs93cHL2nWdguILsQqnV7DohM29gCyFMdg8yC6NzDOEdMYOhjxzqRdSRbpP9Ge67eWiZ69tFoFNu2beP39eDBg5g7dy43qKqvr+e/19TUYCWB5lDoFFvkGnV3CDKZuUM0Hd0UFB4C4uSepfQUB4WKigs4jxdQg6L7Ke1RtoFoYgQUXIin4lwjZNo2QsFClIQLoCdTCFBzLarfsSUYaeo2LsPn8zn1O5mvzu2RT2BWnOsheeCemwXzwD0Hu+WB+2mAO/EDKUBJlBOHOMA42Dlc/JaaTRgs+/j7p36Gtv3P4JZLm1GFAcjDXTDNOOvZMrxWivCHQ2n0636smlKCx1evxhW3vhsbtuzGyiUz8eorq9Fc14hFMy/D9CXEcW+FJAfcPTabJrRFtJsi5FSr397Xj4NdPTAUBZphQPMHUdfUjEQkgr6ebl7c6+sb4fep6DrZAVPXoRYUcKSuMhRAcUEBA++OoSiSaZ2rLpvqKkQqvmsA5QVFOHngIPo6uqFJfvg1H+KRCGKDQ2hsrsGCi5ZCKlS482E0kkBJyAcfOQg0RkhIK8DjL6/BD3/9MwyZKaRJRUcWRVX0obS/SnVPTuROtgSc4NgOReGpCYllcmOWkGGjNlCCr37yc5jX3AqfEzn0RoWyW7KQJ8tCiDNvt6IgVVCJbCuFwe42lFVUApIPUAIMkBKpGCKxQagSbTJ+BAKFAAJQ1JCT2hbt5Pl/bhwjIuUne3qx9qWX0HbwILp6uvHxv/sUHnzkIVyyciWOtB3CnTffipDPh4CiMgXIdWgEQM5qynOmmOaU3o3drz6FkiI/qxlRRIo1sm2SGk3DSo8gFo3DUCpR3XgBShrmw1YLYcPvacCTnfdEtzBsGx3dJ1FbXY9NmzYipGm4cNlyB7TTQETcVNQwjAd0zksoNIcV7M/xFBs6UQ8YCMlIppJQVYXfe0XWmMYmalaouRs16zHg1zTmtxFYV1QFVDtBWbiu7m4G+6FgOFO7krHYRPDqeOYd+6gzFI9xDnZfiFFcGE/fgQzv3aWJCArI2T9O1mts1fXZT8zxiPGdihwvNqnTvLU3lPnkWqUxmT337y6NjimNHvECkUE9X2pcjp4aR2pofSZ5UVKGEc6/wkVfFMwRqmjsnHE2kHZMotjQ3NR4jsoyce8pA0kBB1Fcz50AHAeT1v0/lU8euOf2pPLAPQe75YH7WOBuojJIYDYL3F1USeuPtzEISVZRtzuKOg8ZEdz/6P146vmHUVcZwpTmMlRXFKCq1Idyn4kAqUEcG8TxwSguaK3DC2v+iFtuvx2vvLoHc+dPw7a1z2JJy3TMm7EK05e/G5bdwMCd+hMKMCq+WbJE2Rcr6Eo2htMGXh3U8fM/Po+PXrcKUrgIj2/YiqqQhvnTp6AgFMJQLIH9O/Zh5YLpqC8vQZ8i49s/eRB/ddM1aCgLI2aaeGDDfvQMDsGKjuD911+BqopC3P+Lp7C4qhnhw0exuLURwbpyKIqG+NFuDB84jld37IL/ghlY8Dc3Y3fvMPZt34J3X3UpKotJh95kUNEXi+DeB36GvccOIe2XubjUUoFDI33o6u1BU3kV6kPFwkEi+S+bipYAWaM0bwq2TJFjQf3R0jpuXnUN3nXV7QhxV0XRBMQkOgs1nKHiVQLMMh1PuvkEZoQTQNkJShizCAvz0gU4yGxoXrAg6UgNHoekyeJ+YzEkDB1Dho32wSimNdejpigM2fSLaLfkY+eCouWswZ1OIBwI8rg3bd6Ch37/KG644QYsXbgIL768DlNnz8ILG17GQw//Fte87SqsWnERpjQ2ojAUQnEwzBF4QXOSIdHPspCBlCw/YJIj2Iujex5H04xFkH3VsI0RGGY/rGgXhvv6kY6lUVjagKKGhZDUSq6VoA6WLAcHHzsUCRjoGO5Dd1cHNm3ejBWXXIznXlqHJUtWYt+W7fjo+96LApVkTgXdifZgrmNgXrRorsUm5M2aPQohL5gpUvA6uTksTG/xUwQ4Y2JLJjLOz4EAGbG1mCYngBipi8iiKMWZ0yKzRsEFcpBZmo/bxwsHLBu1zoEnPF5gnV8k8cDcf3ax/Vhtd9cZdfJ+jk732bD6aOWrU6dGDvfxJzS/XMB9JsDOtncK2F2FKhYO8DjZY1XAzs0EAry77pMQQHBIToznZZ6n3P2UJ5+gOXInKF5UxOLBAJ3Vu0SRv0td4qysez1P/dG5jfn1PTsP3HOzbx6452C3PHA/PXBn+okjlcCBId5IxdbEvHCnglKyCFzKSEtAb7QfxzsOoav3BAYGezA43I3YcC/8RgxzZ9Whp2M3lHQ3Og+34c5bbsDx9qNIyRp279iHZTNnYNaMq9Gw5E7oSh0UOexIYbEOhNASoa6r3NyE+PU6TMWHZw6cwEsHT+KTN6zA1raTWNt2Eotn1SFsGQgFCvDK3nasmFOPxQ3lTMfY0DGIR9ZswDuWXQBTkbCrZwCHRgxMLQljbkMZdh08gZrmFnRuO4TKtn5cHlQxo6EE2pRawdc+2ovojuM4uuMo1hojKP/QDdjecwJvW7kAK6Y3IMCKFWK1TsPiwiWSIaNoO9EykjLwjz/6NtavX49vfeGfccm0+aKFOnExdV7tGVzyZiCT1KFIomu2Db+toVAJifWfNIRlCzqTfgCVo/wU9aanZPCmITjmxLcXWiyso8EMIge8O/xzPsyR6KQMSTLeh1QqzvcQ9Idg+xV8/Z4f4oFnnsNdN9+Kz33gY1AtUmxRkDBMpsAUBoLoHx7Cz3/7AFZeeDEWLVyIHTt34dm1L+KTH/8EyA3TbQubdmxnp+ZXD/wKH/7AB3F032sYHOjD0kWLMW/WHIQ0h5MqpH+Yly4KjkXzHMkewODRNbAVynSEYKSo0YmBddu3orlpKlYuXYWAUoI0dyIMwmI1ERm9gwMoLSnl6NhT657DkRPHMbt1BgoLCzCcSuBwVxfWv7IVFy1chJbKSrQ0VWFaQzMCkh8S1y04/GMqQHA3WYfvL6hcYxuROe/KhCKoOSxef8an0HwV6kNOJsixoVAIcVCyg3OIbyzkUcmRFepRRIszPOqidCi5XAK8ifpqVpia7GeCwN2F2rwOjCZKO1kk94sd/fczBtnHA+45jH2y9/omOT5bNO8Uuo8TOR8blWelKufjjbyfv1sSQRNeERzFL5eCKZomOeIExFlXSH6YAjm0nBFAF/fBtBiLAjYmJJIYdtcX7j/hrB3nmQ55/u7/1CvlgXtu1s0D9xzslgfuWaNFkwnETAuVQarMd3njWRlERusc7qJFRnDM06Suy3QFriAUwF4xkKbIqKqBIOxgKoGunsN48rffwl3XNMPq2gh/MoYQ8czVNOKWHylqwGRr8BcsRd2lfw1DqYciEVdQQGDBdCbgLjjflJ6kaLRpyLh/9XqUTZmKVTMasetQF9btPoq5c2pQ5lPQUF2HR9a+ihK/jaWtdZxSf2r7fsycvwgXVgUxJEn4l18/ifLaRlw5tRrzm6vx0OaDWLNlJz54zdux69+fxGVSGrOqCqFVl0L1q0h1DCK6vwcnd3chtmQa9i4qxYK3L8G86WUI2hY0yWLqhS1TxJbUKyQG2oSYDQk4lhjCbZ/+ECpChfjJV/4VTQXlLAVpO8W2xIMUJW1Cv9e00lBlH1RKsdIGwNWyBiF1QR1RSH2H1FMItIdgOLrllpQWnfiIp07jYCUakjmnph/U2EMQ7IlHn6HqcHSHKFBJ5mVqKkW5NaRkA7966hF896c/xYff/zd43423Y7h/EKvXrsHO/btgmDY+9sEPo7O7GzsP7MXhg4dw4zXXYc7cufjYpz6J73/nuygJhDCSiOM/vvtd/PVf3o2f/ezn+Myn/g4lwRDiiRjTkPzkvHgj7jweEYGn/zilbA0jOfAaek7uQWllOXylzdh6qBuf/Nq/YdrU2fjKZ76I6uJynqZUFCzJPowMRXDPf/0YrTOm4tZbbsQLa1/EUN8A3vsOUjCysW7zJsDnwxNPPIaPfeDD6Ok+ic7uE7jq4gtR5aciaQ0yy5MKiTkhEJTlPwgJUaFxLzxbMWsF/HzrgKwcluBTTiETMv3AoQlQ/FyYkwlkwryOwpCIWrrSr/SsxXHiSEfnn98HMX+88o25YSI3sp8dS/aBuyoyDtXNaRM2mmB4KpLPYHa+tbHqIe5k8k6sMeH9iTBrzseDmfA1Xl9ajRt5H0t/8QL08cC+mDfnz1je7+CADgNyWh9ojyQnkahdKq8vQuTSnZWCDEnbKdNjeA47CmSeLOj443WduDffmpIH7hN+QUYdmAfuOdgtD9w9wD2RRNwyURkIs1waAXN3syMensQygEILwbZVjiAnLANm0oBfVhEKaLCo6YVtcERSBQFG2r0kpOwoVq97EDXaQdQPr0EwOQgfVf07WruST0XcLIBauALlS/8KhjYDsiz45wJVCsIILXZcTMhI2IatSzg+FEGgpAglGh0soz8KdA/2QDZ0TGmsZf55R1cvktEIF635w2Hurhg2bcRlGfs7ulFVWYoylQqKVPQmDRyM6Ni3uwu9a3ah+aUduDDoQ7AkwPIziqkBcgBDmoT9JWks+dStqGytRNAmJ4Z4iwpI0pfS+g58EFFCw0ZMBX636QV85gffxO2XvR3/5+6Po1DRGNynJRMb9+zC4EA/VE1lNReOPHJxQQpXzJ+DAiOC/pNHuIiSnIKgYsFOG7whhWvqkC5txgtbDiCdNrm5B9FXmBpi6SgMhnHhvAtQ5POJTIrYGcSGwhuPoBHQtUgBBooJnQpSpQA/x0g8it6RKCxbxtDICO7973tx643X48Lly/G7xx/H7OkzWCWotLISxQWF+Mk99+JDH/ow1m14GVVl5UiORNHR1YmrLr8Cb7/0UmgaNVShgLpolsWKPzKBKynDOGEQRtx1pvdQoSz9nOamS7ATrM0uWSH06ib+8Zv/isb6qXjnbbej7dABvHZkH9qPd8C0ZNx86+3oH+rH8ZPH4QsHcfnKVfjPf/sP/O3HPoaRWASr16zBFZetwrF9m3HDNdfCr5IahAzFGEB88ASKKqdAt4gjTw1RHBV9h4yf3Uo9KiWuJ5TDmpQ/RWixCMjqRC8d953XAYeWIOoyXNDj0mOE9YRClDPFKVuSeRMFhKKPeI4T/7jAy+0nMOpcvqRHrzEjAJLtWWA57xwvaZnoqmBO8D3xoITEoQvkBNB0F0EXxDtjPiWSP/F7eX2PfH2B+2TGfv547eN865h33J0XmSCTmyUaRaFynjM9an7uLp3Hk0U64w3mgftknv/5Prajo4ML5c/nJw/cc7BmHrhnjUYSVXHLQmUgyJw8F7jzdmGRXB7xY2jjlGErGoZiURzvOMEFYfXVNagoL2cgxQCMoo+kzOi0B5eVNDZt+z0KUptRO7AaQTMqjuEjdEDRkJRKYYZXoPKiD8BUWiFJoYzGtlffnPiAzPymtS5NDAUVBoEoKwmF+NZQuTX2YDyBgeFhEPNao+I03UJzRSlCCumvWyAiSOfgCJKJBJUtor66Aj0DQyirKkdMlrBtZyfsjggq29qR2rkX+lAUPl1DLJ7GsKKjdHEzlt1xOWrnNzJ3USYd+YyWs3AiRKMgZ4WnMckGPvndr2Pt7q34/Ps+iLsvu47hAx0Rs3R8/htfx7Vvuwqt9Y18f1SQ1xsbws9++3N87WMfwrRiHxKDx7gltmWkIVMEGjIO7tyJ0llz0V80BV/+1/vwkb/8MCoLSznKnrRtbDyyC5vWrcfXP/k51BYWQXXEFEVTEkc9hyUa6bFRERX9kgqmyFFSOHL9nf/4Hm688UY888IavOM978Y9//1jXHHxSvSc7MDg4BAuvXglHnjgAUybNQvVFZWoraxCW1sbll90IY4ePITpzVNRV1fDkXUfN8PyFKI60zBTdObZxwRwp02OWPxEPkrBtn0Oz9mCYqrYfeIICmqq8cr6DfCHC/HIHx7Dpz75UfT19eO++36M2268BSc7TqCsshQnu3tQX1UPO21xhD8Y1DB9SjNmNTUgNbAPidgwyiqaENCCGO49hmhqCPWty2FJRbAsGSpTeBRAVkUBcUZYUjxvF2Nm3qzJoMMc1rA/v1PobaBqCXroop4g8+FGAkKvn8GuQ0lgOhg5yy5Fgg5j3rsAw26o3YXtHE8QbuMkzEe9ImgdFP0ERBGh09iNaTiCnibGTUpF9F5TMa1bjMoraaZAmmRjWV7WcSwsw5FaZVaWJHpGcJdiISV7CrPnTescvnmA+yQe7uQPPZP9x1KqPMuCk4zLrhPe9eGsa0UeuE/+QZ2/M/LA/fzZ8pyulAfuWfNFkkmmylQHAqKYxon2CCo7Fd+JXvcE2ocTSXScPImaqkqEAjJTL1QCMrTREuDkbCGtQpZoGGjHsenF+1Cv7UbJ0BaoHLlXIFtpsUFJAaTkUqQLL0LF8r9gqowsBcW2ypxtAW4JHBNVgdtdc60PRaUNBs4Wo2YZKUnB/r4RPLd5B5ZeuBBFwRAiKRNPPfYkPv++d3CroLgE/GrNyygvr8CM+gaUaBpCYQ1PPP8Kimqr2FHRh4Zx7fKl8BsGpKEEIodHkB5Iwh8KonBqIbSaINSwDB9nI8T4SKaSYn/UJIrkEkXHINH1lPDdvuEu3P3Pn2ZVnHs+9xUsrWlhOyVgYUvbAfy/B36DL336c2gopIivcFEeff4ZbHttN7549204uWk1ZCPBKipcYyBbmDG9Bds3bcb0t92Ee5/Zip5BE//7g3+LEtnHPN+YBHz82/+EhdNm4sM33IliReNojzfazrxL04Yu2ehPxpE0dLz43HO4cNkyNDRNQdq28cWvfBk3v+MmPPHUE/jYJ/4W993332ioqcH1V12FcCCEgKLh85//PP7lX78FPynEyKQIkobq0+Aj4GHRMxMcYx9RF8gkTpfaUSlsx5nIpqIdzXiTVERMGHYKCcNGz8AgqqtqoEkynt+2EUd6uxFSFFTV1eM73/8+5s2ZhXnzZmPJvAV4bdtOtDQ1oqWlhfW8I7E4igtLoEpE1yJtHB1WpBNDJ7ciXEx20+BP6YjFh1FQ3wAt3AgbBZAUH4xUBBJJTWrlgEKpcJrsFEnTshFc78Z91s34nJawP9OTHQMKiSLxcZxipqFxB2HBW3fnkcUa/Vm2iRDicyKaY8Pj/PfJPhjhLLhgPxs7FdJ+3CbAae5Ga5QYCwFuLpNlAM/cZkeryKWAidwhZRayet3cOdShAIlOA06naMdJdDySrGFel1lwuqLYyTg7r8vA3twX9b77LrgfO9XcY07372/uOxx3dHmqTG4PLR9xz8FueeA+GrhHLBM1AaIE0O8JhDscdwaeIoqUlmwMxeJM6Zha3wBVEbrE1ICHolwW0R5401IgM6Ujhd7+w4gdegRqzwso9w2JbptKEIFggJVCjKQFQ62CXHE5gvNugalUQ5I0Vrdhnrejfi46d+oO6HSicVy8aEAneThLQUyW8eN1u6AbMUytKYUtaegY0REM+PDOC6bw1vfkxt3Yc7Ibc1tbUGwbaKquRGVVKfZ09+Onz2zD1Ytn48b5jSgnngkrUwAqR/FE53IC3o5kudNKRWzSTKf1AA2KqBFQJdlMos48uuNl/CRrmvgAACAASURBVMP3v4ElM2bju3/3BdT5wly4FJVV/NP3vo2G+hZ84Pb3gAQWCZpErDQ+9YXP4Z03Xocr6hI4uHk1llz7l5BCJUKZIBVDT9vT6BmIoG75u/HXX/k27r77Q7hqwVIELCoGNXBksBvv+9THcO+3vovFtS1QM/QjiqnbiCTiTFsJQYMu2/js17+Mm+64FauffQ56XGeJxCXLl2Ig0o/9h/axhNmU5qlIDEbQUFmBlcuXQ4GKVDKFgYF+1NbXZ5rJe/cw5tcTLSaT+Rda2i42cykEGcUbx1kj52UkFoMvFGK9/JfWr8OQYeGFLZtQUFyMS5YsRUFpOf7jvh/hrjtvgxGL4MDu3Vh58Sosm78ImmnjSNtBTGloQigUhsmTSDDQiTJEc0c1BzBwbCOU9BAkkn+2koh3dPKcMAM+dLb3oLSiFlADGEgmEShoRW3NEkApgE1NqRicqR7N5bdI1DGHNXdCp2SimaI4VbBQxLpC2SDOZ3GzAIslVbkg24MnuQjViYxnJfUE7SbzcVkoExqQ4xHQBai+h6LoTImjegdSuCG6GjUoszA83I+uzhNobz+O6PAwEokIjP/f3nvASXaVV+Ln5YpdXZ2mu6fDpJ6k0SRpNNIojHIAgQEDlkFrYyyDwdg4gMP+dw3s4l3jbLz2rjE5C5GMhLKQhEBogjQ5p865OlSueun/++59r6t6NCN1P02LgblPv9H0VL9w37mv7jv3u+c7n1VgwQ+6EXJqUjUD8ZoaNC1ajJbFnWhsamPuTKSJJgkce5YkypHh90oTXF5zzRuE/JkMR2LOd3D+Hc8OEfvX8o+o/j2/Hp9YX4hrX4DmX0SnqATi/Z9mf+I3ldUbqU60vojuIUhTBHEPghogiHsA3ARxr4CWLhaRcSy0hEKetRVPnOEJ7l65aQkogopJTGFiPIXlHcu8xEgeDiPLNaZQlSzuZuI4KKYH0X3wUYRLB1GnTSFuqNBZ4ZwyzHyaFTXS9RikUAuKiSsQX/MG2HKzJ6U5B3H3TSlZ9j0vd09RT6bLllWMFsv4+28/gne/7S4s1hWWIPvdZ19AtL4BG1prUFsTx5M79mFSNnD5iqVISkAspOL4yROwjAjSroyx7tP4jTtuRLvB6tZ5KYY0keEKRpZy6LlW8OHXJ4NeoieHiyd/etrxkm3in7/9JXz54e/gj9/1Hrz9upuRGR5CQ0sLTpezuO9PP4pfv/udWNKymHWKLGkYS4/gyScexl9/9E9ROvo4rMl+NK3aCkfW2SSC+EPfiefRtnYjDmZq8fF//Rzue89voUGigu4OLEXGgZOnMDQ2gr/8/Y+gXjZYERBfwkOrKo/9+Eeor2/EltXr2FzgwWeewtHeXtTWRLFqaScaahqw78hBnO47jaGhHrzjLXfh0O7n8Nbbb4HrJtDWuZ4nERPJYBVeuQMLPQt07/Ry56Tc0+6yTuMvfe62IDNCT1VTGZ0mfbKndacDC66Jf/vcZ/Ab99zLqqv2jw3h/93/bTS2tWHTunWwpyYwONKDB77zdfzRB34X1mQvVq9YgpJdixXLN7HkVLokc9XxHCCYGIii/g5NtlzI1hiGj/8YtQkVYyM9iMU1mJlp6IqCQjGHqMF8ejBVVtDQ2QVZ60QsvhaSkmDVWnlV8krlWF5lgOKv863OGWAQ+yU8pDL35VabtNFTS95SVIyLCLJMZBllSCgytyFOgugZIkmVAkei1TgFqkxrbJ6MiQ8nfAtI3G2LnlkyXPVsQGUb5VIGhw/vxjNPP4K+M8eQyaZglvOwizkYOqCqZGVJeRk015BgmnS8gnAkCUmtQW19O7ZefTOu2XY9mhpbvQi8BslRoSrcrYgHbauj4PO+gVd4Ul7NcrL699XE/RfHZ/z1+ppU3gdnT4Z4HkaFrvtrNr8ckx9B3IM9YYK4B8BNEPezibuN5rDheblU9KVsaZpcUZjJuI2RyVM4fOQYtl6zHaocZVEozSsgoYAKUpiwnBz6eo+g7/gLWBrLoKkxBF2TKcsRVm4ITmEcZikLJRSHbtTAkRPIxNegbu0b4LjNzA2FJScysswJ0EzQqXr483TGNCCSNGSibKN3Ko/lTQkknDIjiCMlF/3pAqYn+rCstRXRWA0OjU+iNJ1FxAXq6uKIGBpisQgjnGf6B9GaTKIlojMbRqrO6NVm5dGmqqXPyo+VtDcWJfOj894yOpXfPjLai+HpMVzVvgIxB5gYH0W0MYmH9uzAt556Cn/87t+FbVsowWHJvbJcxPL2JrRQVb3MIJz0CMos8c5iExtXikI1dFh1zfiH7zwMSw1j6+UbEGH++g5K1C9GHMuaW9FkxKBaDizJgaKoDM8SbPxsz4vYe+AA7rvnXhiqhsliAX/5qb/BO976Rux4+mH88QfeD0V1UShlcObkQbQlHOTGjsLKTqJ19Ruh110BWY/NJFoxQjyTmFWpUMl8FZi23TfL5DSEdMPUR/7ri0UXvYkRJebmXBOf/eqXsGbFalyz9Srmhf/JT/8Ttl11JVI9J3Df298E2xxFOnUaxdQIrEwvMtk0Ote9GTWtW1ACVYBlogqmT6d+oCRYJsEi9RdNGtw0MqNHADvNSZYM5izT0dEBqZBFYfwESmoIiLYinbfR2XUNJKkZcAy4lCDMnnm/gis9IZQp4DlGBBiXLvVDKtyafvL07mR1ypKVqWpvBrDH4FrDcMqjgJX1kjtjgJ6ErDZBUuvhuDWATMW3OPn1nzFevXR+hIknlPp/LJh2HtncBHbvehaPPfwARgaPIR62kIzL6FrWhlUrl6K1tR7JZBi6TsfRWESkHZhOWxgez+LEmVGcOpPCqe5JpNOAGqnFthtuxm2334325hXQ6TtLk23mUHJWMm31BCTQA3M+ss6j+lwWRHjTRLpaW+17A/s5AhWCWkmmna8M6eU3wONFF6poUiCAznmQH6KZvXxTEV7NnqzPnvDMpvL+s/Ty55A/n/42v+f0wt3p/M4kiPv88PL3FsQ9AG6CuFdAI4172nbQHPGJO4URuT6TJeGRXpOCqXYaJWsA33noe4g0tGD5snWoS7QirEdgmxkUslmU8hPIjhyEkT+CuDyJeGIRkk1LYWUz0DJ9sLN9KNk5WOE4QqEkJEuDJYWQS1yGxjV3wnUbIYFsDnlE/eyXLBvYPJs3/pphezKyTEvpRKXIeEbn1Vpgytxnnj5jhYgAFEmTStIN2p+iriwqyxUoPOkMUGUufWG/42Fj5p1OtIwTAc+bwrNg5H7jXoENWkL3yCF9RtchDbkt2QiR3zSVzFYcTFpF/O1nP4MNW67BG6+4AQa7Xc9Cku5MKkOlFxglBtPSvErXKANEFB1y8gH6Mml88jP/F/e9+71Y3drJzkGyJtLe0uuerkdWmoypsqg45R7wxNWR6Ul88m/+Nz7xsY/DKpusMNQ3Hvgm7n373XjigS/hT+57B+xsD8rT3chNDUAuTSLk5Jhdpbz4dtSsfTsyRQO2qyAUMtgKCm2Uu0AkuVQqwTAMKBqPHhZLlFwKaIoKmSpjWiXoigarXGb7k6dxTSTKEmgpIk+rBsf6e/DZr34N9957L6amR3Bo9/O4bkMnJk7twTWXL0V54ijyE8eg2Vm4UgFluQbhlttQt/Ju9KcNGOEkTMuEpuss4pnPZhGO6giFNeQKFssbSEaBvJmFKmlQXBWpqRw6WuogF8fQe3QXlq65Agg3AswWMgTX0iGprAyWp3H3I6CBQ7oBRrBfpEP8b2pVlJaRYY+k+JZ4lcpWngzN//7T85sGMAI7sw/lqUMoZ87ALKcAJ+/ZroYBrQZKbBHU2hUwajcA6hrYbg239GTXo9VAWhHSq8CrascMxa8inyxFhSYQ3M0pk0/h+d1P4enHv4eeU/vQ3h5HotbB+nVt2LR2KWpiBjRVYTkUCvKwnSk4Sg4gyZwbgas24IlnD6OlYzOaW1bhy196AD09o4glmjAwOo10UcW2rTfirXe/HV3LV0FWdMhePQLPHdUb/15Zqs/Jb7VG3i8a5FuV0lhCK6UeSWY5OZS2n4JT7IWdT8E286wImqJEoIYaIGktcLVGmAizdwMzBXazKJVyKJdc1NV0QEWE5XycnUYwe0JW/ez6a5Y+Ha7497Ox2HPp4VMGGud5HQrfEtJfPqFEdgoMkIOPHz6gVGaSxM28Rrj6k22z1izONRHywuOerbqnHOWiLS6J5CuMfDe+jklvBVasjRUM8DrAM/hlAjqGtRdt9y1k/RVKNpZQW89eWfEa7Ll+zTs943UYJgRxDwayIO4BcBPEfTZxz1ByaiTkxaL8gchmunYJOhTyV3amUCqewvG9j2JovBupvIyCTRFcDbWGgbqogZA9iUY9Bd0cRcgIIdG6kdk7mpkxKPlemIUstGgN7FACDgyoNEGQNeRjG5FcfTtc1EKSuT85f/PwqANxTx4rs7zoO4/68DHUYTbzdIw/QJJchJFUSWWEnkeuePU6mWQSrJAUEWrSOdOqARF8LtWY8Y12uYyDefT6w/1M6MTzmGYSIR5nZuTdkzhTdJg+5YWsuGsLj/Ryb19bcjAyOY5vPfgg3vqrv8a83UPkXEK/Z041nqqVJhCSAsu0oClc5mGTpp8+c0roHhvCI889g3t/5R7UqGGvoiSr38cTgZnvvleAiRUOYZl0ZMrDEPqHf/k0io6FGOluG2uRjDlY1RqHnB6Amh+FU56GrtmQHJIllKFK9LOCUng1Oq98B3rGHOTLDlpbWpGemkI2m2UFpSjCTsRdNwzE4jHU1yXR29fPoCUXjbaOdoxOjCOXzTFSFTIMFMpFrO1aNeO2Y7pA3rHwufu/jpbmJtRHdbTGNDTEHNiFFGQrD82eRkQrAlaZrTQULBVqfDXCi69A97iFsBGFY5VQNGmNQYVik2zGRTwZQSZTgGtbiEbIKSnPqqvqsoaSXUJHSwMMyYRkFqGG43BlEsCTJMZ7ACRut8lWgxjPq46p+cTvtUcfAwxtF+Eh/LvopZR6wWvPSYXp2Ol7SzkPNKl1uHSK3FlovY2pqMpA+QzyqR/DHH0chjMAFXkeWGCFylwojsaebVNRUZCSkGNXIrroVyBHLoODWs9Jhq5Jl6sQd18A54PGiBgli85okB1W8M20S7BLeXz2y5/GzoM/gmansaghhFWXtaFoj6KpSUWNXEIoYqC2th6GqyAechGLl+CqGS7iMaOwlcV4emc/du4dxa23vBkP3P9dtLe1Y1HDYjz3/EsYHDeRS5ewZsUa/MZ734+tW7ZDdnUmjWNWu759lczzarh4zyd3/CcuofaIOhsYGbrMgtei0AP7Ha3s0RhiIkTyOiK+GMDU6E9hT+6EVhyGwibDZba6Z6ttkOs2Idx6FYpyA4ZSg+gbOIpU+jTyhQzyaRnvetMfI6EtpnDByzTcPMbst9X7rrCGsgGOfXtICsVEUSy3qDJGk3MY5TPIbIWOU26+egZYLOmIMm3IdYrGdJUFKigxmAVxaKz0SDgthHlZWbOnaLPD4fxL7eU4eRydtY0Gd2oHHwJUPqlgER+ScPGqA3xCI8G1qQ0uJIVX5iA1J/MZozoc9HTJZHFL4zK9M+jZ9+x/KYAxYyPEZYVs5cOTEc54nV5E33JB3IN1hiDuAXATxH02cecFmEgu4im5WbSDnDxogOSJpIqUQWl6P07t+SYUDKFMRFFWodHgWbah2hZ0ewI1GOPVO9UmxBetQzmbBcrjsChiaySh6HWwWDl60pGbrOpnMbIRibVvgCvV8Bcrr6jyMuLOFaK+WTJPorVtky0nO7bEXk5+MQxKcGXJsF4FUYqc0e8Uh1xwJFhU+VWxoUukKZWYU7hJbjeyixBJZDySxmNyFGOXmax55k0p+8WvKzEX/uYkrb9H6mhk9+YC9M6xvGVohyJwsoSSaUPVddiSDIOs4CxqE4+GMTkHvaApCk8DvE3qWgUuObXQq9cuwKGiqw6tMGhQ2SSFa2l1mb8ES/TCIHmMS3FHz/aHIuL0WnOAYrmEwYkU6poaoEgmwu4kdGscklIGrCIrpiWV6WVP7yo6j7fGYUchhdtRQg0K5OevczJULJSYzR0r/ETOK44NTSPpj8SIvEVOPa4ELWxgKpNGbTwBs1RkL24jZLBovC5zaQS5iNDkqgCT3X+IbPfMPGTKoyDvfnrBkTSIXoakZ2ZtI+DDMCUDJjQo5GbDbEfp/zI0mxKpyZaIIqjMB4hhYdkqS9R1yf5UsdjEg5IbLcuT+EgyNHrGKFFbttmLXZI1NmFUWfagcOJ4+TBcibRz4sY3zjd50jurQ8OkbnwiTryUCoBB4mtbMvKQ7R7kh55AceRx1Eo9UNxp9t0sUU1eVteBinN5BdtY3oSBktMExK9GTcc7YBkbWNRdpYkXLwtd1RKP7Prcd2aFzY8d2LAlE9P5cXzq43+CnqE9iCxyoUR0RtoiIQXJehUdHTEoxRE4MiUwhxFyI5DKeTTUamho0pCMJKGV6qGGGpG2E/jMlx5DsmExqz48OT0FQwoxy1knZyM7ncbg2ATMUCM+8Hv/DddeuR26EvGiuZXqr/JMRjxN0OmePIkjixVQaneB2ajmczmMjo4hNT2KydwoprNTKLolaBEJoWQczXV1WNaQgD71InJ9P0KtPA7FzkGjCTsb98Psez6iNmAy2o5jKRM9ff1w3CJcucTzbqxF+O03fQJN4RVQmMluVUKwF3SpkGZO4PkKJcnTuCMZezbYg8LJLt0fdVeeLAokCQaRWPZ95La+ikLTEJl9D3XYsMwSc3uSXBrp+KBLCeQk95FdXniO5Hj+Mipz9PHKpFWMBfw1XGoNPUuVYslcAMfHGBpj2f2wqqgOVE/yZ7P3E70n+NjCHI9caiW9B3glZy4TdLzEY1ol8FYA6NHkczEWp6cka/9LQ+8Ofs8Xn3xGEPcABJSeot27d589Zwx2pkvoKEHcK53NK6faqA/HWPIXj+Jw8sTGNs/gQZZyyEztxWf+/c9hhFLobNCwdlEtYhTtlICMZOD5nXvxhqvWwbUsNC5aAtsOo1icgmsVoKsxpt00HQ0WRTBZmJpokwbE1iG6+g64SpMXEXt5BLNiDum//v1Y0yxKcFb0c4YqeL7q/jvCf2F78XIvKlMVW5/1bfCDNjMi95dFWSvX4bGls1eLvRWEs75jfssrdTZfHv7hn/jRqkq1Ux4z52N7JRWy+vf+3VQRplnX517zlZgdSwHkkoJZsalzDQz0iqEoJ0/E9FOvKjSoum9m33vF497HrHLPs2PUntWm10L/X95aRGVV5mXN89s0+755T5+vH6qvXFkE90/N+9O/O57kW61uPf/QefG9aF+/Yb7ydPo/+T3tqaVZtUluq0kEhnA14UhF2MgxfA03h8zETmSHn0LEPIywPQ4FOTY5pOkc72mKhtKzyC1jVVeGZYeQl5qhN70F4Za3wiSbWYQYGWSrajPfUG476UevuYtr5Rmhidx0bhyf+eynsP+F7+Lqa1fAWGTg2f1HUNYibOVMU4pYujiE5kQRIYNP2knSoTkWasM6QjRXLOjoP1FCOFyLJSs24NRACcfOjGBodAyLFjVCt1yoNGbGa9DeuhhjE5P4yUsHEI6248N/8FdYtWrTzD1SjguTucwwXd8vnltLsgLEignTSqFUnmCTH8c1WbVrRVVgS0VMZHM41teDnuFBjI4OAmYKDZEhrG21sTjmokEpwrAKLIBSdnVMWCGczmk4ngLKSgP0UBSyJsFSyqzQmWo14p6bPoo6owMKaBLvfddmxlVvRPEeAOb86hFWzth9yY5vr8tJMiO4zEpTgVPmKzCy4ll9UuCFpJAuYLBAie3p81nNajaPpzwUMkxQHQrgeMm1ngSU1nSY7G9GOjMjvPQS6ilcQJlbfGP7UUScPasV0k4BIpMmOAoZAyisvomuGt77k85JydRUIEVmq5UO01/yCH6JuY6F2TPIszF44GmmKjClljFrU39G+fp9e+d6JUHc54rU7P0EcQ+AmyDuFdAyxQKyRNwjMWg+cXdZXJs7kczwqgIymYP42lf/B1rbNezZ9QyW1mi4cnUXfnboBFqWr8TOnbtw/eourG1pQmtdI8pFh8kUwuEoNCXuaRYVWLIGqsrKHcsNILIe0a7b4WjNzA7y7ASgAF18zkMqy8pzPKN3wMUwM5532+d4izO7zfNeZ7XnbJ7O30Fz47bzbee59p9n2y/EJedyjhnJxVx2/mXbp2o+XZmgVqZC3BaPRgDKjSih7KSRyvRjOjvIJvuOZUGTC5CtAehuP2qMNKKyDcXKwi5MQJNdtsqnOSRFIIZDicIU8eRRaRsxFOWNiC59N6Sa6+FItZwYMc24/8D6f/vxYF9NzTNmKLL6k589gi987hO4vNPCu979BpykXJCndqAnV0ZRtqFJJTTGLWy/qhUaSjDLFmydJDwlhGUg5IZRSqsIKy2QyjomJso4diaNbEFHsWhBlyx0tjZi+ZI2QHWQnp4GaOXNzGH/4X5svOqdeNe9H4KqxZmOmxWQmvF+Jzz56po/hafVIoq022YK2Ww3CoUeSEqaRaaLpgOzlIOrJRCqa0MkEsPQyCAO9+/B/p5dKBT70Vnr4so6De06SQl19GVs9Od1KMllSNatRW2EisTJyJgZTJdTyOcyUIoxvGnrfYjJjV6yts/Gq74BM4MoRb65/JHvxYkps/L0CDe9dCSHrDRZR0IiuRC5VLEKulSlWoVrUTE0h69Q0iodK0pHGkhafCApEa1OMjrPovp0ObY2ZpOVp8zykIi4+1PwSpiA5yux1TgyAvAU7DSxpGeLeDebujNNus1Wo2nCyCYiDuVTqEzuyGQztCJICVMk2bHoGI0vjNglSK7JLJQd3csLcIni0+oh2YtSS6neCXP253IZWo6aHdm4KEYMQdyDdYMg7gFwE8S9AhqPuDuoC0ehMIkFf7nRRsvWzOqRJvxyCZnJvfjKl/8So6mD6Fi+FOnxPlYt88WTA1i1ejWef+YnuPOqdbhtzQqEclk40BGuqYOsRiDZOquWypcQaWJAS+LkdhIBIhsQWfkGOEoji2j4W3V8dK4/n4szvmy880lldbD+XIH72dXMvRfN7GX/853iPKdj5zib086F9573Hl7rCc9u6BzbN9NJ58LyQrSpGhSfB7wS2FV99WqXn8vp5rPPnJ65AOPUL/Yhfpyd7sJbeah68C27DEkuwsQwBlIvYu+Rx5Eq9MGismSO5RUusqFSkrZMmmwuYWuqiWFpUz2SIR3m5Di0cg4aCtBR5JIy0nE7NhQ3jLzZCr3xdqgd74GrtrA1Kt4SoouzV0OoMrSf3cNIl2TDNG1893v/hh9+/x/w139xDxrqDIzmy/jigz/G4YFRlMwCC260tMawYV0tI5u6psLRaCWhAFWxUWskUJyUYeej2NC1HqobwdPPHsLkJEnLLEQTLto7l6G3dwSJhjDO9J6EbmhY2tSMPftOQ4114SN/8im0NC3nkXbm9kJjCNFU/iXh2T5M5e3JVEgKV4RjDiGdPoKpyUPQrCk0xCOwa5LoGxpBb2ocethGc2s7GhvXYrTo4sndz+BU708Qt6ewqqkFjp1Aa/tlWLL0cqRQwonePpzp7sXUVAqmVGaSG6tsISm34i/u/XvU6qRx17xiU1W1LdgXhJNhl6pse3VwacJFexOGzLbVUZgckRyd0NcN9+RpLktraQWWLIU1PgoMDbJEcly2EfZAH8r0DKxcCTUegXXmDJSxFMqaDHlNF9RFi2ApJI30ep3kipbJJCdEtKkoW/W7ZmZwJrkWaegp48bTsuQkEsLQc0gp6gokku2QlLTswj1+AhN79sAmtU48iYZNq5HrO42poX7UbVwPSYtgdNc+tFy5CWpTPaZ+ugOFiXHorU2ov+lGuEaE1SyxJQtlyWSTjRDJuxxaEeCafUrYr9QmuHhGBkHcg/WFIO4BcBPEvYq4F4rIs4h7tKJx94wheeUhegmRnLyEzPRhfPHf/xCrVxmwTBMv7NmDFWsuw/hwCqvXrsFDP3gc2y5fgptXr0KNI0OLJ5kbh+uozLFDlmh5k/R99MLhyUYll4j75YivuhOu3MjcRQJt82H2r0JOfdI2i5wGalTVQXNt3xzI6XxI5VwnFq9IxF9pgnOe4PqFuN3qfpjLZGfmxftKAL3Wfqw+/tVu8iKMkF3I23/lc1GPEUXzCXLFbcN2yoBSRM4cxgsHfoCjZ56BFJqAKadhowyXdOsKWZvazNXKcUi3TEnyDlTbhWYBEUVHV1sLOupj0EppRuB1q8QS2DWnBN2hxNIYTH0jImv+FK66HA6t9HnVGXjKtm85SQnsPBJPQQqX1aOwUChm8MBX/jdOv/QdfOwP7oFr5TA4kcbXfvg0q8oc1WWYioa8W8DKFTWQnRxChgbTUGEih0RCZ3kQ5bKOcimCRGgRJCuMU6eGkIgsQk/PICy9jKmchaPH+3D15lUIJSSQemKqfwSpkQIcvR1//tF/wZoV23h0msZPcpmiytO8hqzXDRxv4pmsvgLlEJDkSJ6AU+hGdnQfMiMHoEdt1HcswViujEOndiFv2lD0VnSsugHRRDuePvwkBvqOobNlMbqWbcL44DT27t2H/rF+mHIJsi6z3ARyybKIbroKjGItPvbef0FjdMm5ibuXlE9R7gIsDOUmMJROsQJrFPhJRKKIaAbLl4qkS8i+8BJ2/vXfIpqZRllTMW0Y2HrXXUzStO8732NinDs++lEcffY5HNq5E9v/65+jvr0DL/zdPyB3+CisuhjWfuC9aLh9O9KJOBRJR6ZcQCo3ienJKdSGIuiobUZTNMn06V6OtKexJziZRgWUIE8Ef3w6hR8d343jo71o7WjH5s7VqNEjQDaLRWMF/OC//g90jE2gIdGAo5OTWHrtRhhTU+h7aS/ktSux4eZb8cJ/fBFbPvBbSKxciR2f/BSKI2MoLKrFLX/zCUw2NaAUjWKskMKh04cwOjyM1Y3LsW3tlWiK7B+DrQAAIABJREFU1/M8KQB6VW+/ft/jV76SIO7BekIQ9wC4CeJeTdwLKFDE/WziTiMFVSe1LLjMg7uEfPokHvnOX2HZYopqWRgcn0Q4VsMqftJSLCUc1sdCaE80I6bHWSSBljhl0mVSHRL2wqFXJy1tch9vSwpDinahbvn1cNU6SEolChKga+d2yFxYYPU+czvr67vXfO9hLvsHuYO5nHeh9wnSbnHMgiNAyYDM36PKJo8SBktuFsNTx3GkdyfODB7AdGGKJRKqkolIlDTaORRMir5nWJKzaytM7uA6Bc/rnxKJqcIoYMgy2pN1WByvQa0CxFVAK6dhlFNMYpB3lqJ+zZ/DDW2GJcX5CiJJF+hMEumPvSi1L9OQeWE3kt2c7t6LL3zq97FKH8MtXW3Ip7MohWOwolEgoqLQfwahxk7oDU0oT/fAzo2jlM/BaWpCpjAJVcqzmgklLYwJS8fkZATFQgjZYg5dHStwYO8BtC7rxInuHuQyOSxrDGPx0gRKUhpxFyjkNRztsXHdde/DPW//Q6bvZloNtjHhRqUPGbljSn9vPYHE9iTXKAFSCXAHkBl/Dtmhh1ikOd6yCRlZwZ7jL8GIhVBUknBCzUhNUUSaKsEOo3+wmwVZIqEowlRAT9UR1iKQyRqVktwpiZjG8XwE79z+YdToLZAkKvbG4/9MnsKayycbpuJiuJTFV57+Ph556afonRxFsr4WK9rb0NXSAaOg4nIzgs4jQ8h+4ztoj0cQXd6BsZIFfVEraurqMfCtb8Ewi6i5+nLoloTefUex+S//PxQUFSf//p9QazoYMguI3XY9Dqxvw8HGEGxDxonhfhzvPo18OoOuZCvu3ngdfvPWt6KGacwlZqjA8rpIfk7SHdeFLUsoOxae3fcCnjq1C893H0DP5CirxLy6uRNr1SQ+sP5m9Hz6y0geO4qW+kZMhVSEtl0Jbd9hpJ/fjXRNHEtWr0bP3n1Y8/7fghWPYP+//wcaohEcL+XRcO/b8KiSxU57GqdGulEs5tDR2IyrOtfjjlXbcN2aTWScwyLvIarxseDf2vldQBD3+eHl7y2IewDcBHGfTdzJdq8+HIdMRJ0WYZnGnS91kxyUKlxSpMcuDiM7vh9RLY1SocCy+ClRTC6RHZ+MkuvAUHVoUgSynoBJpJ90iXQ8LaD61oqkM+UGWXCp0qFSB6NxGWyEoZDLS4A+ndchryaVOYd8ZF7nfz12vpBkmNobFPSLSCrzesAurjEfBMgC1U+e5OOJJVkYz43ixaPP47HnfohTA6eRLZXhODJzFIpFFHStrMdllycxPL4fkpqFJJX5aqDFHTooSGCSRa3sQCOtcZlSIhUkwiHURZNYXJNAa0SFm8+jUKhFY+d7EE5uZdaQJptMkD6ZXGyIvHsOJ56XK0X4GdWUinj62Qfw4y98DHcuVtBk2VDrW2EuakFmeAA1YRvm5CBaN9+ClK2j3HsQSnEMJctC501348Sh3ZBzfWzVoGjEkVbrsf/AAPoHM5gqq8iZLhIxFduv7ERtXEG5lEckKkHWSwhHXMRoSmE046Hd4+hc/la8596/hE1tJmcRVoeCO1bNbDPE3TcY8FKoiUUze9kcJOcMikPfR3p4L3ODSa66GT3TeZwZ6YMSTmIslWHa+nAIaGgIQTeKzBKSRCOq4kAndyWX6h3QWE5VammSFYGKNnTW3wnZbYVEhfloclQlXSOXG9O1WE7ApFPEsXQ/Tk2N4PEXn8PeQ3tgFYqocXXcue4GfPCGu9GWKiL9tW+i/8fPQZUU1HQsxdK73oSh093o+/a30BJWMW1nUa+EMZkpYe3H/gz9I8M48LVv4vq33I1HHn4YbWtXI3nfPfjHEzvx1PGXkHGLCIVC2LrhCty0aRtWJFqwprYdcXKfd0mb7tmAehaMhGLaMfHimcN4/vQ+jEjTkGt1TOcyyOSLiEybeP9Vd+I6vRXlHzyB4o7nMXW6B2St3HjLDVC6ezC580U0X3kFevcdglo00fWh9+HYeDf6+4+jsbUZx7oHsOram5C5ei3+9eCzKNeFEU/GEddDQEFGQzmCW1duxMbOLnozQpPJsefi2gRxD9YfgrgHwE0Q9yriXqSIu4lkNM6LXJDukJJymJ0WXyokj2WK5SgoMPs1vnBHER+uq5zZkX1OBYJ4AhXP/Kl2z/UZMbd/80yduS8uszNkr+XXHFV4JU7rc9Tz7VP9OF1I/n4hePZ5FwFey8mrbriag89Fdz9nvj/f9r3Kd/pcpzu7r+bSvwGGjvMecq7rXdLJqaz6pskt8JgbB9VsoHW7Il448AK+cP+XUJRsKJEoJrN5HDt2kif4sWI6WbQs1nDf77wRk9OHkZ4+DU0tQWVWnFREjKb85PdhsiFEsjUemSehjKmgRqlBjSthVVsH2hpXoq7uWuhaF2wkQI7lVJ14ciqDRGwxDDXE/bUlOheNaQZ3uJHLeOKZr+HFL3wcdzXaqLElNG/bjlJbJ0ZffAnWeB/IrLDliluhJFpgHtmBUuo0Mo6Jrrf9DvY99UPUFLoh05hZ24nO7W/HjueeR3Yyj+7xMk5P5NDWVov1jVNoStiwZQe1rZ0olqZhZYYQU4FRO47v7cth5eX34tff8RewKeLqUoKq58riZ1bOlKLjjyezE/QyadhoSvaFzMM+Aze9CyOnfohE0kZa7cKhgTwaFjdheHgUq1a0QXEnMD0xhFIxDctKQ9PpbGSTSzUcHFYHQ6UEUbJahIySE0KpuAhbtnwIcFoBkGMYHz38StOk2c5aeew5fhBff+S7ODLeDbmhBpdt3YSO5R2wsnlkusewvf1y3NK5Dqe++xD03S+i3XKR6hlA9+keaI2LsHjr1Tjx4IO49uorMX7iEMqDY8hbMlZ+/CPYv3cPzOk0BhIaKwPVmDWx7Hffix0xG48N7Ef98lZEolEcPXwYh3YfgJPKY1VjB37jzrfhqpUbEGGSTh5pZ39kFaOFNB7a9TS+8fQP0J0dghKSkIzWoD6WxKqaFnz8nvej7tQEvvAHH8GGqIrVtY146cBBqEs7sDgaRu/+fdj2Pz+B5z/5t4hOF7H+Pffg+aleZOIuJu0SnIyNVrkeV/3uvfjjh76EA9kRTJl5mMUyLBNYkWjFmzZch3dedxva6prYe/Ji2wRxD9YjgrgHwE0Q9wpouWIBRdtEIkwad87U6eUwi8D6DgAsesbeALOVzR5rob+4B6/vecv0Nt4xlep9vPYo3yo2f9zekNP2lyezvaaMzipW5/8418eG3fp8iWeQ/atnFNWMuOpc8237XO/R329WNOfsezhHmxa6PfNp/yu2fS6zkIXcZz438kuzL32fiSZTsSoi8UTyTAxNDeNfP/9p7D92AKf6e2HaEiLRGqzoWgbLKWBsYhQ5qsZpFaEqZdx+80asWEYSl2EUy/0Ac0gpMbkLFI2dV7W51zfVZ2BkkWoZsARCCaoUQl1NGxobL0M02ganbGFyvIio1oYt696EkFYHiZLwaTLgqoAb4gWj5CweevQLOPGNf8ZdtQ5ihgMzFkHd2suBxuWIxxI48dOnkVi2ChPpaah9hyCnR1HWdax69wfx0iPfRl2hlyXXunXLEVlxHWzXxrF9OxGPRpBcthmdXV14+tv/C4ubDZbUGGvehJDkYPjoM6iJ5JGSwnjwQAGrLvsNvO2tH4EkRUHFG8jRkm6fj6zcxrDaopR9L2llwX+mHQemnYcsF1gV2tTYIUxm+wAtirrGJAr5UZhmFul0CiFVQUiLQZJiCIfIyYYnm+pGmGHtsqBMEZJbhGVTdVgJjpVAc8M2QCc9NpHL2YIOql+RM/P42eE9ODLciycPPo+jo33IyzZkVUKTHsfNK6/EH/3qb6GtKGP/576OsW98F22GDi0eQmp4CLVdK2B0rcD+Rx/HjTdcD6e1AQe/+i1ELBVr7vtNHDh2CBlDgrZxFcZpErj/GDa+612o/ZVb8LHvfx4/OrEHY2YWZddGQo2gK9GMN2++EZc1L8Xm5ZchqoXh0qoKM04gcCnNGcjBQndmCP/508fx4on9rMr0xvaVeM+bfw1tegLhXAlHv/cIxl/YBRSKMBY1Yt0bbkLfwYMYPXka1773v+D0j3dgdN8xrLh6E17oPobmpZ244rpr8Z2vfB010QS2/urdyLTV4v88/AD2d59ASDOwddVGvGXbreiM1rMiWbyIYHXV34tjoBDEPVg/COIeADdB3KuIe4GIu41kJMbrabK8URokPPLuedYyCu55HlOlN1o+peVFXj6usjRaIYHcUs2lKIEXemHaxyqG5RUz5eR9JjJP//JcAGY8lv3Iv0f25/q5RzbZqkE18fSiQb7V5Uwtk7M+n7mXuV5vZoJTiTbxFYvztLuqfexd682H2F9n/+w15nxtPftzduqq+57rvc6651dr3zzbVN0Gv33+fb9a++Zy36w5nj/0eTGfbx/Nd/9qzHhZ1Uty41VJyVubbl9llo1HTh3Dv33u/+KpnzyBQinPxwKy+fM6LhYPo6WjA2o4iuGxUVjFHMKqhaXttdh4RTvalqlIZQ4CUgoK6aslTq40VoCVyzEoh4aVKGNaDYN5Z8suSXGigBuHZmmoMVbghivvRUfjVYBjMNLPpHu0r6wxjbuLDB5+4is4/tV/xBvrSNJeRk5xMaXocKItuGr7rTj20s/QuHYDxiZTUFKnEDMLGJvK4fJ3/g5eeORbqLdG2aQgvngFUkiiY+Vq7H9pFxqSEeTtENZffRWefejf0NhYi/rFK/DC4QHcev0NGDm2Czp6MQUZP9ibwaYtH8SvvPHDjDjTeoHjOW/59Tq90syV58yTzVQIvQvLIdlLAdPpPqSm+mA5OcTDUagK98MPhXQYRogVIpMp7whxZm/IbBWZEyHX1DOcXJNXrGYe5RSRJ+vCBriseB4PvvCAh++T7zLCXJQtFFwXJ1K9+NnBF3Gs9xSTT65fsgZ3XnUTFuk1iJRsuP2DGP7xDph93bAVG0ZjHTo2bcZEOouBg4fR0bUMoc4O9D/7E8j5MhatWYPDfWeg1EVx2V234OSe/UjvP47m1avQuX0bThSnmab+QN8JyIaG5S3tuOGyLVhZtxghV4VKqxhkGUnzNRZxpwkFVZbl1TIs2UXeLWIsNwnTstGaaIIBmZlJnjh6BO3JehhlB45pYdosIGfISFA+AFWuTmiQii7y41nIMRXTxRwklxd8i4dDyOVyyJsFtKxYioIsoW9oEPWJJOqiCUSouBQlZ9MKEMlSZ0wjLp4hRRD3YH0hiHsA3ARxr4CWLRSRtWw0RKM8oYgULlUVBBmP9/SKftFBXjbbhUIDCqtwx0k+d2ygCqZ+chKvOTpTNvEV+oq9wz1/32rZw7l+DtDlXvvmf+TZUWV/rcHjZ7MqQi5kBHquFPC1tG8+7Z9re14Jp/O1df69xI+YT/urr/FaMDtfW+mclzBvZ73BiyJxsle2LRw5fQzHu08wWz3CxrZMqFQa3pfTKCosSUWyrhlGWGeJlWHy23ZthKNU6bOE/oldOHTsCchIwbTTcFXy0HbgyBZcqnrLEgzJM5toVZh5sZPXuuNSdeU4tHISN2y+Fyvb74AhN0NxdU/nziuP0jNEhNSV83j0sa/g8Nf/Dnc3StDMAhZv2wYn2Yj8ZBGnznTDLU4j3NIOJxKBIWfhFnLITpew9c3vwMSpg0C6D9PpaSQamnC8dxh1bctR37oY4+MjGBgcwnW3bsdzz/wnFi1qQ8OiToxMjSBMhfCKJspTB5BTZTz4UhrXXP9HuP3m3+a0TVJY8SmWp+rbjZz1MPPvAXfMoSAIjdGmU0K2OI6R1HEAZTQkkwjBQDiSZJF8mhCwgmo0iZHIDYeouszUQ7wIEY3lnqyeVWaVmM6drkP/wdFZgid77v0VgBnizquF2swK0mEVuWn1haop03kjRgQaJbxaMjLZDEwzj6YY4ZBH2S5islyCFk1AsYC4rkLRyLWHV5pOT0xAj9egVC7AtIrISw4S8SScbBGmaaJYLqO5rQOWpiJdyjDP95huICIRKeaTEbZSzHziOXFnz65rMdtihjKzGqKsVRc2pVo4VMVURalURM9wH3LlIhzLQbIuAeqYvpFRhNUQJNvBmcFT6FreBQ0GLA2YTE+zKLtOyb3lEgxFRmFyEptXXwYznceBXS9h3abNiDUm4Zo2WwVQ4hGYkgtNvvh8ZQRxD/a2EsQ9AG6CuFdAm8zmcHI8hbius5k9LWvLzPHFG/ZdIu5UjIIGNarax8pYMNs1VpyClXHmenX6SWHWX4rnMcyTWjmNJwLPC0fTsRSn4fTfd1aeG8EP0N1Vh1TrP17bmRbm6Iuxfa+3Wny+yF6c7YsYBpYsIl3qpbkxAk3fcZsXyDFth5GPUyMDOHX6NJa2d2BRsh6Z9BS0UAi1yTpkiyWMjqWQjCWQSNZgaLAHy1oXYXI6g2hNDVKpEeQxBscYw+NPfRl6eIz5wMsqRe+LgELWVRRlUGDZLieWpMkmpxM7hKjSjuvW3YPVbTcCTj0UmQgrRZA9wg+eGM8iyXIe//ngZ3Hs/n/E3S06XMtBQa/BUNGBohqAWYSmUoEdFU4oglQpj/7pKSxqbkStVcLihIG2liROD/Rj7ZYrcXL/HkiagY233o5TRw5jeHQcW665FruPHEZdsg6jfadRF84jVJNEy5LL0H1kJ/JyCI/sm8KNt34E1259B/OIp9wiqnVRqaU8+/myyF+cyLbD8wtkckuxabQ1MZ0bA5mN19bWstVSqsLKqs7SuO5JmlgVWzITIFteL5BCo7Vfd5jTXJJT8vVU+rfNEn5pMkFJq+couuQFfvgbhTvf8J/oTcGrvdILp+jYOHb6BA4dPwLLNtnkraGxAVrYwJ79+xENRRANhzA1NQXbcdG1bBkK+TwisRiGh4aQrK1FvlgAvd/HhsewiNx9Jqdwx7U3s2eBAk4sQMSCRDTxqEh6eJv45/zdV+36Pxvj6gABf8qr61hXv9PoLrm/ji9l4sfSp5QbZiI9OIyhEyfRtagFk919GBwcwOU3Xw+jNonunS+hVLKx5uZrYMcoPdV4DS4CCzMOCeIeDFdB3APgJoh7ANDEIQIBgYBAYI4IMIJGNpBE7SwbrqJg14GD+I+vfAnX33ADOhe3sYjivr37kUpP4uobrsXjTz6O5Z3LMTk2jetv3I4vfeE/8Def/AQ+/9WvYNOWrXjmsWdw1bUb0TtyBKd7duDX33kLJtMnkZo+jalsH2zkGAmn6C4FGFSFpDIGamPtaG5YjVVLtqIlfhk0tx6uG2JVPllVSvKqZRtpiSnqTjKcAh599OvY8cC/YLVewuREBgNTOeQsF1dcvhrLli2CJKdhOnnk8iYmCxbGsiUUsyU0l4BOTUVzXRiZCFBM2HAiJqvy2pBswPDUFMJ6FEs7V2EqW4BlllHMpRCNmCgqIUy6MYyOpjCWcXF0WMX73vfXWLfqelbxk3AlcsnYuScyYjIzjxxbjo2p7BQsy2JBGEmWmHuO7ZooOwVossIIK3MOY/J4cumh3zMfRC4x8ot0elI7lljsraZ6whgWgfaJbyQShqGRIxhd69XX4vikztv8VQ7yTXcslB0bpm3xyqa0+usvAVNbPMMEIuf0cyRMRsQudFljxQJty4KhGaxYEbWZHGlI9hlVQpWcqjm0b46P+Kzdzr/ad+5gjEXOQK6D7PAghg7sx4qOThR7ezDa3wuENLiKjlNn+tG1fhOW3LgNbjgMmVklvzq+Qdof9BhB3IMhJ4h7ANwEcQ8AmjhEICAQEAjMEQGKV5IsQvXsFSni/tATT+Cnu3fho3/25zAUDQN9A3jksUfRQ9UwIzrqExH83vt/Dz/60U9x+MQpjI0O4yMf/j18/htfw7FTp3DT1Tfgmq1X4Rvf+CK6ulrw5rtuga6Ukc+NYDLfjUxhELniJEy7CF0NIxpOIq43IRZtQ210CQwlycrIcxmNwUiqTAt9VCnT03GTmwf5eLtSCceOv4hvfu6fMHr6CEvKvOb67SgW00j1H8Ndd23Bxk2LYWEKCiyYOQkn9vRi8OAwEsUY1MFhGKU0JpJlFNdGkGt1kBsdRX0oDldSIeclRN0oJFuCZVrM2WusWMRoycZkWYdW24625ZuxZs212Hz5TYjoSba6ydL/PR35TOK/1ydMj+1YyJSyKJZK3PveM/alG7Qkk5F5Fbwipxd7ZhIQKtw0Qz4p75f565BfPl2PS2i49IkuRg3gP1PEPGQYMDSdRdznQtyrHyGKnNNtsb+9tjokRaHPbJvLb0i66edJKRLKkgNVUvmaLa0Qk9LeI+u0wsMsM72bod+rymw3FiL1P8+NZYg5gG3a0Ep5DOzaATWXRd+hvXBtE3XNzYiGEsiEI+jcejVCjU2wZQWqFrA44QLerCDuwcAVxD0AboK4BwBNHCIQEAgIBOaIAPOUcW1oElE7iSX1TRYK+OTf/g1GxibwB7//YXz+Pz6HP/zon2DfoX145qc/xbbNG/Arb3wzdr54EM/85GfI5DP40z/6IL707fvxkxeex7b1V+Kma6/DM0//GLfddCM2X74KGoo8URUmi5STcwuPDlNkmQgaJfVRkR0ioTJkhdv9SSSL8eSAPNmSF2UiMk/SDXKZMa0ssukxHDt8GMtXrkEsWYNCMY1v/PvfY++OH+KWGy/DHW/YgnjIhjtdxsDTxxEbV1Ebq0N2ZBx9x49gXMsidGMbhpaYGJwegeZSIZ0Ipk5OocVYjPp4E3r6JrHnWD/saAPWX3E1brnlDWjrugKuFvWK7pD+24VkcB0+EVtWjGkmas2tdwnzolXAiTMncejwIeiGjk0bN6Ontwcbt2zB87t3wLJsRI0Q1q9aBymk4tFHH2XyE0Lv+pu2wzUtPPHU47h5+01oDNcya2BK1rRtF1A52SeNN014uAoebEVFYzIZnuQZZGNRcs9jjB3PJie0jMClJiT5oRUckuXQxVltEI+A09/UMvo9TRy4/In/nn/GJTF+pP/nTtxdqmcgQbJtqIUSXnj4YcRVGauv3siLlak6fvaDx7Dt7jcCyQRcVWOfXYybIO7BekUQ9wC4CeIeADRxiEBAICAQmCMCvpaZCBaLiEoyKBXRlICHH38Ce17ci9GRMXzoQ7+LnS+9hJJl4/CePfjg+96PZ559DktXrsF3vvs9vPe9/wWPPfM4sy2MywZu3n4j7v/mt/GGW2/HhrUrQGmKFPqdcT5hyZWsdJznMERuMaTR5mk2TB/O7CldRgaZ8w2vUMRIO0WXidgRwVXJEMu1WTTXVQxY5DhCxaCK03jq4W/hqSfvR13Swu3bN6NN0TH2+F7Uj9qIxULITGcxOTmFKTeLwSU2xq4MoZxwEQpHYEhRjJzIYdPya3Fs32ns2XsaS7u24Pc/8j9RW9ME1dVQpnrUkgydJCO+dN8tQaICdY7CQ+LMiYsYKUXEuW66DBsPfP8B1NbXYvnKLgyPjGDx4nZkcjn86Okf4eZbb4NTKqFr6XJ87dv3Y/nyZdiy6Qp86p//DrfccRvGBoeQTk8jmUxi5dJVMAsljAwPY/nSZRgdH0NzawvGJlKIRmMo5QtIDY/hjptuYRVtNVY8b361PatlM4xok08/dZ3XP2yS5RVFYupx1rlVkxavQCBLBOfSed7/LNeKEsRJ5z/Hh/Z12o3aZjpkPUnk3YVUMuFSNF2mHDPKE5NwZNderN60AY4uM0cZuhlZFj7ur1MXzbrMwMAAClRw8gJugrgHAFMQ9wCgiUMEAgIBgcA8EOCRbb5ZLjCRy2K6WMTpM2dw8OAhLGnvwNTENLL5HK7YsgUjQ4NIDY2iPlmHa7dfi5f27cfYyDAjpbfedise/+FDaG5pQalYxub1G9C2qAEyFQZijJxrvkmgQ1FL2jiJ9OK4zLKKCivpTOLhqyX8fXkgl5N6dizTexObt+EwhxGSZlDFVQmSQ5r4Eo6f3Ifnn3sQh3c+hXbZwdqSjK4iELLzKJs2pssOI+5DSxxkbqgF6mUohoqRsSy6T5cwnTJQTNtIp8p44+3vwAfu+wvoTgyqY8CBznTelCPK7ot0+1IJsksF7lTPKt3TT3suXpREOl3KYHhyFA8/+Rg2bN6IJ59+GjffdDPTZuze8QLe8ra3YffPXsBb3vhmfPgvPoq/+uQngbKJf/viZ7B85Qo01zcgNTHBrDrJQYX08eNjY7h6y1U4cOAAWlpbMDw2htpEAvlMHmMDQ/i9334fNCjQJfr//MilHxlnf1fLdZibJF878VNZqdPI62DGTccT9/OJmhdRp76VKxF3fn7enxfTRtMsWmVgEqAZ216vbBabWJLTDT2U9FzyuieV6icXz52IiHuwvhDEPQBugrgHAE0cIhAQCAgE5oOApzMm/bIjSXh+90784OGHEaupwW233IL169YxGz0SeSgqVT+VYRaKCKkqJJUXbrJKFiNehq4zzTMlX5KXpMH8x73oqk/QPf/y2U4efjofUUDP3epl91AdkvXCtswL3o9qU1SejqY//LpkG+iijHJpGqmxM/jPr/4/5HbtwDWRGJoLWRSdMoY0F6lYEdPtJkJXJqAmFWTyeZTKBsZSOoZHgXy2hOyYjYTegf/zt19BjdYI2QmxGyPdOSt86rVXRtmLZ3ObwkqBCG7+SMT90MnDONF7GmXXQl1jA77/gwfxpje/CT3HT2J6LIV16y9nspZrt16DL3/rG1ixYgXy6TQSTfX46Y6fYe2KlWwOtPfgAazffAXS6TR6zpzBO9/+Dtz/zfvR3tmBAwcP4I477sRA7wByE1N4/2++F6ojwZB1yKwA09y3WambZ2V4+gmx1QF2P6I+UxSvKjH3bG9eHnmvTNLm3qrXZ0+eaOyt9njzCh8PPuHwZEfe7y6uqQfHSBD3YM+KIO4BcBPEPQBo4hCBgEBAIDAPBMhWUGbRT+59TfIAiSwNPbIC24KmUQTcY2xM12yT0pxfhRJbHbI/rBQvZjXfGOHxCLnif3ARAAAOvklEQVT3y2pyd256Tuek6Hz1VlWleeZjn7jTB9zmlv8hIQoVfOJlcNhvmI2kzRJZe7oP4Qv/678jMT6ErnAIkmFC6gzDbANSxiTchMtsL9NZE5FoHSYmgQOHe1Ff34z8lIIjL47gTz74cbzpjl+D4vKiUJ7WgxF3Tuh4UTva/IJIfrNZwiNclGzya8+ibFqIJeIoFIsw9BCsUhGGqsGihE8XCOsGLAWYnJ5GSNGgRkIoka++px2n/ARXlWGTnp2SUEmuwi/MJk627TCLTMUB6qJxGBJ3PGEuMPPYXom4zzrNK7DW8zu68DNcjIS3ct+sytNMnvDM557jz0wO8TwwfT13FcQ9GNqCuAfATRD3AKCJQwQCAgGBwBwR4NIFX2/s/YOos00e6eShzeUfpNvl+mzy9K6iYFS4ibFx7k1I0g1GCWexNK/iMqsP4W2M73qa9ll6a17JdTaVmwtxn31NagdvlcvuRWENc1G28zh+ZBcee/B+nDp6FFPZU7jy+jY0rYyjb7wfilaD7LSCJ5/YiSUrFmNR02J0nyILSxmFnIaQ2oIPve/PcOM1t0EHJSL6kwyKYPPkU74RUnQvXBpUTUoZeWe2OFzfzTg2yX9IN87cW4j6kw2hV1WZVjUcl9kmWp5WXJU4KaeDFUWCY9ue7SNdl4g5PweveEsH0fEkH+ISFfpzQbbqSPrMnZ/to3NBrvRzOQnDcKYWbWV6yD3mq5/li3Pi4YMmiHuwx0cQ9wC4CeIeADRxiEBAICAQmCMCM7pkn14yv0HO5FkeIfu54j/O9MuelIVztkrVHuLGM0S0mrgzhkOFbM5yMvGTNtk5fJ2BXwiOboBR2nPEYv3ouk8+q0ioFxVlSbBeG1ixOjYZceEoRGvLyOUm0NvfjceffAA79jwGKepgYGgQYa0GmlyLW7bfiVx2GnsP7Ecum4chG7jp5jux/Ya70NW1FhElDpk07JSRSlVlXapoSoXu2D+9ixPt45IUzxhnZj7CkjuJ9Hue7IQzi5YzRYbXeNKJs8mQd17v/Cy6zrQ5lAtAxJznKDD9P9Oc88uwiRZz3qlE17kNo28AP8eH5JV2O0cY3bOYn6WIuQBX+rmcgt2e9xWg++LVafl0jJt+znQpf97oz/wWM16X+xLEPRjMgrgHwE0Q9wCgiUMEAgIBgcAcEajIX7glH8uz82UUngsMkUwimMzqj1kMerZ9s6KO3Im8IhCpYvG+jMXziudMtkrqwphe9f5VdGiWM0lFDlMh9JylzujLz0HcTR6YZppwdgabiC/ZTZaQK01i7+EX0T3Qj872JWhpaEJNvAF1iQa4ZhmT2WnkiyUkQ1HEYnEoBvmgK4yokzyI5iJsRYJVpubnJ4lL9f1xv56qFQGWpMpbTB76JKfxzBG50MbiGDObc28S5cfmWQEmb8LEiKPtQFUpWbeiEff7i/msK5VEXqpSq9JJLyBvn3nMzibwVVVYeXt/gTfvsXNm5THwJ7BSEuysVaaL7IYFcQ/2/AniHgA3QdwDgCYOEQgIBAQC80HA8WwaWfEeThZZlJrCvYwQchbiR7BnguMzUgGiLxWy7UeZK4StohSuNIsTfe4OyEP6/OezSN6syH21jIZok8fE6eoeUWLRbhKJSMxbBnDVmd9RtJnmHDymz6/mOAVANiG5pNHnRYTIytHf15IdRs4Mm4pBkcSErx7wGD6JhritJQlTOHHn2nrO0ysrA9UrE3yRglsKzmDLihNxrPn5yBqdlS5iJH5m5aMKJZ8bUl/50X7ujU75B1wuQ+dgqyesb30XF28iMZ9n5BxdOKtrZp3rXP1dtcM5ovTebGQ+LXqd9vWtPP0Hs3r5yV+J8idTfpMuvpC7IO7BHhdB3APgJoh7ANDEIQIBgYBAYK4InKXT9anz2dTrbI32DCmnCDDTavtEmVhnRQXPpwKefsOXcMwEJ30TwQrF92n7zPWq2scpt//BbAlNZTefWDNKzXQLjjfTYPMQl/zHuRMMj1LbUMiDfcadhsXMWVSeFh5IbkLFhFSqTsomMyxkz8gwkXdW1ZU11m9bpV28Tb7V5tkhWE7rfYpf0SPxT892RSQyzhrENsLa+5nuw5twVXe5l6I6o92o9mHnMqh5hoRfhbhX9+A5pl+zn8ZzEfd5Nmeuj/dr368632JGg1Q5rTeb9SdpfI9zybtee0teyxkEcQ+GniDuAXATxD0AaOIQgYBAQCCwwAjM4tMsAk383YtG+iSsmuy9bILgN5BIqB+ZJrrJCelFy+MWGNfzn/5VothzbJfvxz7H3cVuvyQIXArE/UIXX2Lj0O7du8+3QPRL8mhc+NsQxP3CYyrOKBAQCAgELhgC1Qz+vNoJn5j7V61Ejme1gzTwgrFfsK4RJxII+AhcCsR9IXpbEPcAqAriHgA0cYhAQCAgEFhIBGbIOtNp8Cud0xvPjxJz+UpF5uJF5vmB/PhZ1XtEyH0hu0+c+9JDQBD3YH0uiHsA3ARxDwCaOEQgIBAQCCw4Ar5tI/cp95NTubKcxC8+Weepmjx90vdt94n6WdIavqM3EVjwGxAXEAhcMggI4h6sqwVxD4CbIO4BQBOHCAQEAgKBBUaAeZAzOu4XGCLPckpRJYdx7nDN96FEVZ4qOZOyd5ak5uUKmwuj515gCMTpBQK/MAgI4h6sqwRxD4CbIO4BQBOHCAQEAgKBBUTAd0vh5JyMB/1QuV8T3ne45h7ljiszS0bmEc8NFGdF1X0RDY+/+04zF5+l3gJCKk4tEFhQBARxDwavIO4BcBPEPQBo4hCBgEBAILCACDBrcL840KxsUt8hhii4DYn8FslGsVoBQ+ydfc69ZFhRJ6+tPnG/aMtPLiCm4tQCgYVEQBD3YOgK4h4AN0HcA4AmDhEICAQEAguIAPNCp//Iw5wEMFTUiPzcWVVVj5ITOXep4A99QAWeuGUkq8rKCgPxokC0sb9EcuoC9pg49aWOgCDuwZ4AQdwD4CaIewDQxCECAYGAQGDBEKCqqqYXclcgUSUjRWbVRZmG3bVhShYUV2U1RG3HhawAllWCpGisOBNV+mSk3QVUVvyISD41uEoeI2whF6wHxYkvPQQEcQ/W54K4B8BNEPcAoIlDBAICAYHAgiHgomwVYNkSXFmHVSpDDxvImBbCqoZCPoecU0TUqIHmqpBUCcViEeGwhlyhBCMaQbFkIZfNQYaFzqYGqEzXbgMUnffJuyDuC9aD4sSXHgKCuAfrc0HcA+AmiHsA0MQhAgGBgEBggRAgiUzRLGEqV8T4ZAHxcBjxZAz7T/ZjRcdiHDt6Esn2RpQLQDntoLWzDsePncLaVR3Yc+AYlq1ag8GRMSQTOsKaixUti2AAUGF5Sauz0lcX6C7EaQUClxYCgrgH629B3APgJoh7ANDEIQIBgYBAYIEQIEVL0XWRL7s43T2ElqY69A2O4HD3ADavXwVDjeHkcC8MJY5i1kZNfQL59ASWtTdiYHQKWdNCrliA65gIKRZu37YRIZbCyj3eeXoraedFEdUF6kJx2ksQAUHcg3W6IO4BcBPEPQBo4hCBgEBAILBACBBxNwGULCA1MYVoJIIz3T1oW9KJ6ekchgZHYEsu4vEEVEVHPp9HRFPR3FiHkclJhOIxHO/uhipL0CQH2zavR0QGc3unzaXE1WrP9wW6D3FagcClhIAg7sF6WxD3ALgJ4h4ANHGIQEAgIBBYQATKLhVbImcYXh+VYuPM1tFxIMkyLJvnrlISqqpIgOlClSSUeTYqig6gMScZQIcLg3m8u9xtxiPuXk3VBbwLcWqBwKWDgCDuwfpaEPcAuAniHgA0cYhAQCAgEFgwBFxYTpnp0V1m/6igZJahawYc5iAjcycZmawgXdiuA5X2JmIuazCpuqrEa6vSHwUOj7b75vCy0LgvWNeJE1+yCAjiHqzrBXEPgJsg7gFAE4cIBAQCAoEFRMCxTUiSPOPDzr0cqSqTBMe2ISsKj75LEmzHZrIYvhGppwA9/Z4i7C40ish7cXvPUFKo2xew78SpL00EBHEP1u+CuAfATRD3AKCJQwQCAgGBwAIiQLWWGNn2/NhdllLKCbjtEXb6JxVqUpiEhhxjiNxTbJ0Iv8JaJzFCX103lc7gFWVawPaLUwsELjUEBHEP1uOCuAfATRD3AKCJQwQCAgGBwAIiwIqiVsXFWS0lxuOpsJL/t8z+TcSc1UyVeCVVlUXbvWqptDNVVfXIut9koW9fwM4Tp74kERDEPVi3C+IeADdB3AOAJg4RCAgEBAILiADRcZ6UOjfLRkplpbg607S7PDZffTD9zneSmes5F/D2xKkFAr90CAjiHqxLBXEPgJsg7gFAE4cIBAQCAoEFRIBo+MuJO9HyyuYr130xjO0R9xl/9qoTvOxc1eH8BbwPcWqBwKWCgCDuwXpaEPcAuAniHgA0cYhAQCAgEFhQBEje4htB+hfy4+je3z755gqZWUSf7eGzdSajOaux7Hcko1nQmxAnFwhcMggI4h6sqwVxD4CbIO4BQBOHCAQEAgIBgYBAQCAgEPAQEMQ92KMgiHsA3ARxDwCaOEQgIBAQCAgEBAICAYGAIO6v6RkQxD0AfIK4BwBNHCIQEAgIBAQCAgGBgEBAEPfX9AwI4h4APkHcA4AmDhEICAQEAgIBgYBAQCAgiPtregYEcQ8AnyDuAUAThwgEBAICAYGAQEAgIBAQxP01PQOCuAeATxD3AKCJQwQCAgGBgEBAICAQEAgI4v6angFB3APAJ4h7ANDEIQIBgYBAQCAgEBAICAQuEHG/VIEUxD1AzxNxj8fjAY4UhwgEBAICAYGAQEAgIBAQCAwNDSGTyQgg5omAIO7zBEzsLhAQCAgEBAICAYGAQEAgIBD4eSAgiPvPA3VxTYGAQEAgIBAQCAgEBAICAYHAPBEQxH2egIndBQICAYGAQEAgIBAQCAgEBAI/DwQEcf95oC6uKRAQCAgEBAICAYGAQEAgIBCYJwKCuM8TMLG7QEAgIBAQCAgEBAICAYGAQODngYAg7j8P1MU1BQICAYGAQEAgIBAQCAgEBALzROD/B5X+B+p7hmfB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fr-FR" altLang="fr-FR">
              <a:latin typeface="Calibri" pitchFamily="34" charset="0"/>
            </a:endParaRPr>
          </a:p>
        </p:txBody>
      </p:sp>
      <p:sp>
        <p:nvSpPr>
          <p:cNvPr id="37897" name="AutoShape 10" descr="data:image/png;base64,iVBORw0KGgoAAAANSUhEUgAAAu4AAAGlCAYAAAClanP4AAAgAElEQVR4XuydB7xU1bX/v/uUqbcX4F56lapixYq9xBZ77zGxv7T3T2ISk5cYzUvviUaN5dmwI6hYMDYsoKKgAtKU3m6/0077f9Y+M4BGo05AUM4xRJw5ZZ/f2TPzW2v/1m+pGTNmBERbhECEQIRAhECEQIRAhECEQIRAhMBWjYCKiPtW/XyiwUUIRAhECEQIRAhECEQIRAhECGgEIuIeTYQIgQiBCIEIgQiBCIEIgQiBCIHPAQIRcf8cPKRoiBECEQIRAhECEQIRAhECEQIRAhFxj+ZAhECEQIRAhECEQIRAhECEwOcKgcrKSpqamj5XY94Ug42I+6ZAMTpHhECEQIRAhECEQIRAhECEwGeGgBD3YcOGfWbX21ouFBH3Mp7EthrllQHVJzjED/cJlP7jBz7KlH8HKKXkDeT/la9A/jsI9L8D+Ucp/R4BBH6AYej/Ql4MAl9eBmUQyLkCed/Qr8nf9U7FfTcepD4vAYY+rYHv+5hGgI9cq3g9fQH9PwIV7r/hvfDcSt+PH45FydlKl/PxPQfDtItXKd6+3JY+k9yenC00e5Kx+8pA6REIVgpPjyvAUgpDecV7McBzCQyl9wcDQ58zHKf8JTw+3D+8wyIeJTRK49XvCU7hsfoxRFuEQIRAhECEQITAJkSgs7OTFStWlH3GiLiXDd22d6AszTQ3N297N74Z7thzMyghpr4icG180yeIGeS9AqZpEgQuphdgexZKWWgKbRm4mjSHdDlwfQw/wDRMfM9FWYpA+SGBNYok1/NRhqFZqOF5IRE3hRCD5/sYpoHrS9AgV3AxfR/HiQnvJ2ZlcQILA0uTYZQJgQQE4JgOPh4WJqaSgMPTpNhyLAy/ABa4ZpyC7xMzwAxy+PlujHgaXyXxAnBdD8u0MJUci6bXlpy1UMCIx8ljYgR5bKOg98+qJL5rkFYGMaMDzzdQKolyOvBNi24sLCNJXIKZQOEZSt+HIosRdBPI2M0UbpDA98FSYHgFDMMjMAw8wqDCkLhDyL8ZkffNMPWjU0YIRAhECGzTCCxfvjwi7mXMgCjjXgZoEXEvA7SPOMT38poAm6aF45maJOacHMoycT2PmGURJ5BkMrZlaSaZKzh4ZkBgSpbZwDYMbEkLe5Kh9vQ5hJqjLDzXI6YJupBbCLw8yjMIbBPPdzD0Na0wc66z0gG+7+h9nYJFPG4SqBwqKGaodfbeCskvAa7KYBkKU9k6C+4Zkn03MF0LFeQJTMgYCQo+JFSAmesiFovpHHcuMPANS5N0lc9i2TaFANq7OqmvrsLwJTtu4fgGhiWhiotnGBR8g7gfw3bBtzs1s1bEcJxObDsOKh6uVshYMfW45J5My0MpOcgnUElcbDxXETN8jMCRZQ08w8RTlg5MTCHtflAk7lHafdPN+uhMEQIRAhECEQIRcS9vDkTEvQzcIuJeBmgfcYjnuJosO0DetnUG3NLajqIkRsi7EHfDInAdbC09MSngEpgK0xOS6eEHLimVIDB8CkFBq1QMK64lN5JDxje05IUgjxHE8IXYS0I+kLMrPJHWSFZast+WQc4tELcSFPIF7ISBUGOnKEWxVRxXUt86od+NIcFCIPQ7Ri7wdRBiuwr8DI5l0mUkwQ+IOS5pycDnPVzLwrUtcgGkjIC4m9PSF0dWBizJ9JsYboGg4KHsJIYVkHULuIaJaRhYWYXlGARVDgUlmfUYtsrji6RIBxmypuBpHDDikuoXFHVgg+tgmkLwY6H4x3NQQUGvQDhC3GWZAAM7EEIvKxXy39EWIRAhECEQIRAhsOkQiIh7eVhGxL0M3CLiXgZoH3GIWxAyCZ6lWNTZyYyXprNk7js0Nzaw34EH0LOhDsMLKNgGvuuT8gMCX5EzPEnBExceKgTTMjCFBVtouY2hTBxP4QmpFbmLyFh8Fz9wsFQcz3eLUhzJSAvNDTBMkdEEGEKglS8JbmzT0MGACGVcPFylsAKR1QQSC2C4rSRkXy+Gb1eQFSIsGfiCT8x26PB9ZsxfxnbNzTRXpDABx/VYkynw5IszWLxyCYOaenLk/nuRJMDWKw+GXBhL1Oyei+fZemwFfPIS5ngOsbxBApuuWJ4Zb71NV2eOA8eNIWbFcfVoPeyggO84eHYFBVPp8Vu+Iql1+aFW3tASpTwxUzLrsoJgiVBIE3obD1Pr3u0NNQGb7tFHZ4oQiBCIEIgQ2IYRiIh7eQ8/Iu5l4BYR9zJA+6hD/LAAcm3W5Ve33cqQAQM58aDxTHvqOV6Z+SrnnXM2PeuqWSuacy8gbUrm3KDL8SgYkBQBiU7OK+Kej2EbWk6C5+OJdEWy+b6i2lTkXclem/occozne7ieZMiFTouCXfb1cYOAuGFgOAam7dLpe5i+QWXC1vKTjOeTcQNilkGVlSchkhs/Tt6K0+b5Ws9eIfpzy2D28mX8bcJkLj3jBPpXVpGUc5s2L85dwMTnX+KM047mxutv4eSjj2DM4P5kPI9uN7x+QuVJmjGyhbCgVhmKnBcQT1haxhLkXYKESbsv8iHol1B0ux55KVz1AxoSEqz4dCmbDs/Tev+YMknqhLxPxvGxTUXKNIgrX5N9IfPyRxP3wA3LVyPivgknfHSqCIEIgQiBCAFBICLu5c2DiLiXgVtE3MsA7SMOcUQKokzefm85tzw1lVOPP4oBtdXEXJHHhLKZeW/NY/L06XiWjfxz0P7jmfryq8xbspQdBzTx2lsL6DtoMPHuteTNGCeceSJTHnyU5UuW0au5J2/PXcz2g/rR3t2Fa6e47KxjmbNgKY88PY0KVSCRqubYEw5nzsz5PPTIQ4waM5wdthtGV7fihZdeIJUW9YnNGaedyhuvzuTFV2dipyuprqnljKP2Je17xFScN99rY9JzL5D1stTGkxx26N48P3s2dz32AvsObeJbp59MSolGXfH4a2/wl3se4rhTT2CnEcOoiytaV7Uz+fEndHBhegbHHrE/3dlurv373YwY1ExzXQ2zZs3nS6cfr2VC/7juZv778q/y9CtzeHdlB2d/aVcemvIUnYUMtLdzwhGHUtvQg1snPUU224Zn2Iw/cB+GNvfk3nsfZF1HJ9msy1EH7sNuo4boWoLQTUcCBUNTeO1uI0UDJReeTffoozNFCEQIRAhECGzDCETEvbyHHxH3MnCLiHsZoH0UcXek6NLk+dfe5L6XXubiC86kR9zWmfR84OPk8ky4/W7S/QeyxwF7M/HBJ1mzZClWj75kTZuvHrYLv7tlIjvuPZ5RFXmunTCJC799Kc888hS5zg6OOvoQ/nHLQ+y362iq6uu59Z7H+d//Po2b73mSyub+HLBTX26940EOPeIIsq2tPDX1SS668FxUPs9P//APjj3mKHYe1MBby1dTXVfHHbfczsGHHEayuoI//+0mfv7di2mM2cSUwR2TXma163D4MXty2433sc9eO1Hdu5HfXHcfP//a8QxOx1GeS95O8May1fxlwkTmrepktzGjOf/48bz80lyWr1zGKScdyp23T2aH0QOpb+7DTf/3CJeecxR90wkeum8K7VU11A/pzUvPT+MH55zKw0+/wZylbYxoSjF/6buccsaxmC3rqEulePa1d5j57kpOPeYg/vncDHJxxSF77sr/XvMLBg0fzZ57jaOpKkavZIr6uKn9ZET5IysQ2p5SMv1SBBxtEQIRAhECEQIRApsQgYi4lwdmRNzLwC0i7mWA9hGH+L4nqhZmzV/K7VOe4Cvnn0aVmSBp+QSWQXdHBzdceyNfOvkM6ns38twzr/LE5IcZsddBxOp7ctTYZv5w6yQOOPoYmt1V/O3OSZx32dd44clnSCdtxu29C9f/4wFOOGQf7HSK3113P7++4nR+//d7eXPxSvrWQFcuwwUXXcLa95YwY/oLfOuyr7B2VQf/+/fbOO+s09mlbxUtChatWMvt/7iVNWtaqKzroQtav3vpufSpqCRpKv5y6yM89fpMUnWVVCeTHLDvOPpvN4C/3PAgV5x3DH1TFgntvRijI4CFbTluvfsRFix8jy8ffSSLFy1k9pw3qapMQzbDsUcfStOA/vzjzqe55PTxmvi/M3sxV95yL807bc/Y0YM4ecxQJv1zNm8ub2N4zxTdfoY9D9ibRgMqTbjj/qd46Lnp9OlRR0vrWvY57EAOH78rjz32DFOeeRFl2Zxw+P4cvvsO1CqI+aF5u+TeQ2MasciMiPumm/HRmSIEIgQiBCIEBIGIuJc3DyLiXgZuEXEvA7SPOESIoR8oOjJ5/nzrXey1527sOGY4ixcvZvact9lv/H48dO8DEE9z2JGHc/c9k4kpyCZrCFJVnDZ+JL+44R4OPfY4envr+OOt93DZFd/giYmPUxm32Xf8Htx484McPn43khVp/nLjg1x1xVd46JGn8WNpDt1/DK++9jo77bgzy+cvYOq057j4wvMwu/L84aZ7GTJsMPvuPIyHnp/GPnvsw2P3TWLQmFH0H9qP1197nWMO2Z+UWE76Jo8++wrvtKzhiOMPZeaM2Ww3sDexmM0f/nInV1xyKk3pBAkpMi0UmDFvEWvcgMHbDeO6G+5m3z33JNfdybvLl3P8SYfw+rRXGbndIDJ+jH/cOYVLzziUQWmbXKfHd669lfa4xTmnfYl9mnry8NTXeHneu5xw4M5MnDKFs752LovemkNDMkE+r3h02mucfNrRzHxjJv3796ZHRZrX35xLjwGDeGbadMx8J5ecdiJ1ltLa+NAUU3tjhg2wog5Mm27CR2eKEIgQiBCIENAIRMS9vIkQEfcycIuIexmgfcQhBUfM1z0MM8aCJUu4/6GHmTN/Lo1NPTn6y8cyfOhQMh0dTJhwH/PeWcBOu+7KsUcdxp2P/JOGvoPYdXAv/nrL7Rxx/PFU5Vu5/s57uPw739FZ+bRpcdgB47n2xjvZb5/d6NnYg+tvupcrfnAhreu6uPX/7mH1uvcYO3YsJx91BK9Pf53nZ77M+RdeQJ2vWLS0lZtuu522tuXsd+SR7L/nHqxduIy/3zOBzlye4445inFjR5JwHOIqxqq2Lm57ZCLPvDaD3XYcx1knfVlr9CdMmMRbs17mz7+6hpjYMQJvLVnBdXc+QFchT3OvJs4//QQCV/HIY0/w1LPPsfOY7TnzlGNY0bqWux54hm+cexw1gG3EuXHK08xbs4xzzziRIfE4Dz8xjQVrWzn72IN59PEneeyZ52jq1cQl55xOY201d09+mhfemElNTRUXnX0KdRVJbrv7QZ56aToVNbWce+oJjO7fm9q4NI2S0ZloV0ndZTXAFF/3aIsQiBCIEIgQiBDYhAhExL08MCPiXgZuEXEvA7R/Q9yVNP5xXWwrQT4I8G1DO6OIE7m4mkgTIHGC0TxSiKQBnY4UryqSlsKRDqZOQGVchcfpjqph109TNzEyKChf2ziKG0vBDLQ/e1U8QUchSzKe1IQ1HrZF1d7nyvfIiTuN+MrnXXJi8ShuLrp5kaE7mEolp+kXSASKIO9hxG06lEdBScdXg0pRxbhid2nhSu8o39PuLZZYVQYq9K4PFLYMSgwpfelwaujOqaIzd3LrSKVTdDkxKpVBwvMJPJ/OuEW355GwAmqxyDsKR7i1GehAQe5eMDGkiVQuTzIep7XgEo9bSOsnKULtyORQyaRu+JQwIYWP5buhB7xhaRtN8cYXH3fLCBtGRdvHIaAbEPwbrML5Vdp0/UBxNUMMOsPWBZsK59JY/t14Pu5+ovcjBCIEIgQ2HwIRcS8P24i4l4FbRNzLAO0jDhEPd9G5G5okK929VMpVvSKpkfeFvJuBkPiQjPq6u5I2KpS+RuupkFHyJw85EKbsqxsqmdKuSZdbij+K2DWKpaRYLMr1guK5UdIMKiT8Qry1raSQf9cHy8CR83le6O0etllFBeJ1Ln819H14lqGLaqVlk7ifS0dXuQe5JyFqWuJefC2k68ULanFKGCjo1/QtCrUXe8qw+FXpaAE9jsDQV8SU1HjYain0lRe8JJAoytLlXYFL+kEJJ9TGl/q+5Ziig4zuzyodYXXIACoMHoRM6uZSUcb9Q2fv+2l4uJKygbh/kIALmvKMw/kQknbp+KV0DwE9nwR9PafCXgKlp1PqR+YreUbhhJe5rCev3sJzh5+EYsdcJTMiHFM468PPl57c7wvCNlWgsOm+E6IzRQhECGwbCETEvbznHBH3MnCLiHsZoG31h/h4gauJjVBiFYQWiJIBFa5U4jqaZAlh1hTsX4s2hZCFBGzrIkQbZ3e3+kfxORnghmkRhjnFkKs4Wd4/N2TOrCfuRTothLoUIL2PuBdXmTSJV2GAKlu4r68DLJlfYtmpPGHxAYE0JAtkpUdHtijDQSlZQZHloxiBX5zPsp8EDBvC3c8J2tEwIwQiBL5oCETEvbwnGhH3MnCLiHsZoH0ODhFSFFqqCGH/EFJevIcSAdu6qPnnAOAv7BBLxH2jrPcHgjqRHYn8SK8w6cy3Dg8xdZAYTruN55MvKx2ygqI99MNN7yarJcV5Kqs6YdZdsvehJEwvu+hhSMMtWeeRtsChdEve1vvpuV06b+QY9IWdltGNRQhs5QhExL28BxQR9zJwi4h7GaB9Hg7RGpWQIoUqhFL2vPR6mH3f2rLpnwdov9hjXD9xirf5YWRYagZCQUuJoodZ8zAprol78Y8Wvthhjj5c+XmfMl5bdGrNWNjXVh9saeIuPD18XWtutFRGMvFFlyB9EUc31FJayCVbRNy/2HMzursIga0XgYi4l/dsIuJeBm4RcS8DtM/BIWL4EipchLiHcoQN8oeQPokU4cOy8Z+D24uGuFkQ+CSkXTLlRXm5zK5ivUGpRkOrq4rvS72EZNV92ws5uNRfiCRGl1QIkZcZGc5NTymkKkPqGiyZr5qoy0EWqliDoU/sFyU2SgqrHRRSyVxyCoqI+2aZFtFJIwQiBD4WgYi4fyxEH7pDRNzLwC0i7mWA9nk4pMR7hLhrmUFp84oFftojMXReCQXIn4e7isa4uRDQ6e5Qux5uRe140XEofK2YE9fEfEMBqrwq080pymdkT8mtW7p2Qo5y1p+3WHJaKj0N5TLF2lSZmXKU5NDRPkWhF5OQc12Ovd5cRgbgEogERzfXioj75poW0XkjBCIEPhkCEXH/ZDh9cK+IuJeBW0TcywDtc3BI4AXaNca0FY6XxzBtHE8ylJ62qpS0qc50Oj7KMDHNyN/8c/BYN8sQdbHvxo6LIi0PFL4UhmqmHa7WiLOLqFr0/kVdubjDbODTOsUeushoXi+rOkK5bW2D6ntaEa+z7bq2wjK1xl0XQUuWXSfUTQJDvPdzGEXybhBDBTE8J8CwZJWolHUPA8/SqlG4ghQFoJtlkkQnjRCIEPi3CETEvbwJEhH3MnCLiHsZoG31h4ieQIiWeMK7mGL/6CsMU3Kgkn1XOAWHZMyikHeIxeKavEfbtonAB4l7mEwXeh3KYgIxIA3EhFTcXUIdjM6yi92pFrX7Orsel+y3L3NPH4FvihWngR3E9M7i/S8EXWamtoO0itIW7bEvPQ6k+FShrBien8fzOonZCkPZ+J7YlkoDgTCQCHwDZVSEc7rkHx8R921zAkd3HSGwFSAQEffyHkJE3MvALSLuZYC21R/i43s5LXfwhMxYFtl8gGVbBL6PLb7v4oOufPK5PHFN3CN98Fb/WDfTAP+VuG/IWvu6SZeDYfisWr2U116fQbfTId26UKbML0+aFxALwBbZi+tjWCaO8nEtA1cajvlxlOdhCAm3Fb4l8i3d1EBn8JXnEAcShiGnxStIV10TZeSxTBdpaiZEXQ4QJ0hl2ihqaG7ehYaeAzXRD7eSEGczARWdNkIgQiBC4CMQiIh7eVMjIu5l4BYR9zJA2+oPcfF9Ie4mGAm685LptHhw4lTGjRvNwndW0N3ZwgH7j6MyndQqZEM7e0TbtojAvyPumjTj4Ac5nn7mca66+sd05FYTS7gkUMS8AENLanw8W9El++omYT5WPEYC6CmE2i9ApYVfaWmXGctUGK5DTSJOdTJJOm6SisdIxQJSBMSIY9vg+h0k4gHJipS2oHQNh8BIkc01MmbEKQwdfRSm1bP42KLgc1ucv9E9RwhsDQhExL28pxAR9zJwi4h7GaBt9Ye4+EEGz7fASJHJO7S2GRx33Gn85Cf/zdNPvcTqlUv4wx9+SkVSspe6eWu0baMIaI150Q2mJEUJoQg91T0/R0Cep599nJ/97AfUxXI0GDlqsj7VuVAmk0soMo0Jlht5uuLgOg41dpJ6z6BnVwGXHPm6OIU6Cy/mk7YsqjyoVQY1cRvDClBJk1QlJCyHuFGBZRoYZjdWLI8ZDwjiAUYSVLyBVStr6Nf3NPpvdzyB0aMol4km8TY6haPbjhDY4ghsC8R91qxZ3H777ZsU64i4lwFnRNzLAG0LHFIqAPxgXjwsFBSVwMbVhR5ekAOVxPEs3ABefnkJl1z6La6+5grenLWIma++wB//eCUNtRWhl8eH23VvcAP5DIv+PtjI/v1w//t3Q7oZbv+CVfG193cJlRsv2SCWNNeyo7y2sfRi47OWHMf/dZVivWV+8Xhdjqn98terxsOOoLqT7cZ39kErxtIdbNjp/Xe+4b82fvLlrJtoZxft4xjef8lkSApHPb+gZTIEOZ6aOolf/OR7DCXLkGw3jZ0edd0+tlJ0VxqsqDd5r9qnuyGFV3BId7jUrPLonxfNu0++V4JsD5tCGioTMeIrOomt80l4AbFKqBlYSdWACrq9dgprPLpaPZoHJqkdEqNgdWJUgJnyCWINLFneSJ/e5zN4+5MIrPqIuG+B76St6ZIbfwY+7LP/YWMtdYYO5/wHPjkf9SWyNd10NJatCoFtgbgL4N/73vc2Ke4RcS8Dzs8DcZcIb1NHeWVA9bGHTJo06WP3KXcHTztei0OH9JgsWTmWziZ2e+LOIbrjAM+XvcWxI4YbmDhBwNVX38p99z3GVdd8hwXz1nH//Xfy+z99h1EjB2l9clxazXuiZTa0K0igjbeLP2jynh8WJEoRaznk8JPed2gtGGDoQsMPEvBSV8/wdeGauUKOmJUicGVsHp5uuClCaC3DxpL7MBxNzd1AYSqLnBTm2iYi6MAQnFxU4FHwbUwlr8soXHwlBZC2SLgxcfDcAspKQVAAUwp+LU1qXdfFMGKhT7kfYIqNoeXp6znK1jGVhYsp9oVKUZCxmjFMbZ8YyBD09SRLbUsdQuDjy7iVPAtpLhQWinoyDhUUjwuLjEUCJUWiYTDgY8pL2jHokxcbrycw6595gG/4eITWofIsDC/H81MmcO2Pv8kumRwj23PUFEzS+bAYlZoEq808i2phXd8k2VyBxlUOg1oUVd3o7HmH7+H1jtM1MElB5C/zOkivDkgV9G2QaYDmcY205fO0P9dB2gWnJ9QcHqN5j3pi9Q6e307OqOXdVU307Hcpg8ccB0ZNcXpFGfdP+jn7ouwX+hP5ukhaPiPy+dXfg77IsUykHlqHpKYRNgczwuZe2sFIPth6tVEscYufl1KPgtIKlDQj+AyTFlviuUS/r5sG9W2FuG8atDacJSLuZSD6eSDum2N5pgyoPvaQa6655mP3KXcHoeJhEsgI282Eznthtlhnd8GTZjfFTpSOJ9lSU9tAznjtHX7ww2tZ29LKVddcxDtvZ/nNb37JBRcey+WXn03KgpguVhVXbDmlZPFDu8h/+dHSmePNR93lZ1iIu1wj/KeUOS/9kpaywyEWflDA9wJsM0Z3tgszmSIvpN/wSGJiuWKwUwibBsUSG0iu62BLRtlUmKYLfg5fVYOQcc8lMPICiOgydBBjKA8lhFqcTYw8rueijLQOM4QAGMrS9okxw8J3cihL4Uhhpx3T5NcMXCzZV4IjO4UrxZaBj2kovCLe8nfxJpdn6HkBpiWOKUJE5D7FtlOCNqnedITThwGDFdeBiiCm6z2L7Us/DXEPgyCZUKUnK8RdcuRiE2mgPBPDzfHioxO49epvsndrlh1W5Uh7JgmxW1c+uQqLFsthZZ1Jpn8V61a00mMdDM6IDh5iElEpkxa7wLqBCbLVBvacbnq7MYxOFzMW0NUQEBueptP1sGblSLmKloqAyqMNeh9QS7qxgKkyZKhk3op6eg74L4bscCoYdRFxL/eL5fN+XPglWKTvIY2XWgj5ThBCbss3mpB3+WxIsF10RTKlU29RIlayPN3wDVtawJTP/ecdoI8fvxB3+Y3dmrcxY8Zw2mmnbc1DJCLu5T2eiLiXgdvngbiXcVtfuEO0hZ6mqhvIbOh/rTSJDIQ4KnCExFpKt6SXzG5Xt8vFl/6IMaPHM/mRB/nuD85i3ltdTHpoEoFq58wzT+DsM47AEmu/ghA1n2TM1Fld2Tb+3drQfXXzZTZD4i7rBRsyxuEYQuL+weVtP/A0MdfZa2VS8OXHWUIbh7gEImKHadp4gWThDQLTJ1/wSAoplkydkgxcDjwh2z20HaG+O5XB8V0MM4ERWKF7CgE2Nq7Kh1m+vE88JsQcndmTLJ9pGwSeRyDOPYaPr+ReJEsvTzBP4BUwVBIMsTwUku5gGpKVN/HlerrYQFYJfBzH04GXaYZBmc4o6hSiE57HjGtHFbmCnhsyHfTREsx9umekn3YxNtI+64YYOsrKh0QIMoAczz16B7dc820OWpdj5+VZUq5J0jfwlE9H3KcjFbA8bRAMqKRjdQe9Og3qWiWogrhjkjBjLPW7yYyupi3tYy/upKHDIp03yBkOLbUBDXvU4qVg7bRWgk6I9YfGI+NUj4mRqnNIqAKOUcU7K+to6H8ZQ8acDkZ9RNy/cN94n/CGSvUZ2txf5r0Qd+kAEH6PWIHCDkyUK+5IEpeLRemGz0pRtaYbiIW0X1Y1dUpAD8Be35X3E44n2m2bRSAi7uU9+oi4l4FbRNzLAG0LHKKlMMVMdImeyW+WEDrRsC9eupqC41NbV6N17V1dLbz6ymL+ft2dHHbEQZx++uGccMrFfP0bZwDnkNcAACAASURBVLN2heKpqVM5+ZTDuOHauxk5ajDHHb8f/fvWEYvZuNlucpkcPXs0UFNdEWabi1l9nZXVy8qbKxUV/niW9NYbgoeNiXtISiXLnCsIMXQx3C5MadzjWyg7qW0w9Xq4ARnPIy8SH6VIBCK3MLEMhXLzuGaAaQb659kJUgg/j5mBJvS6yZAvZF3hCJH2XGIiPyqm4URi5AWOlqaYvtJOKZ7roEyLXN4hnghEUYOTt7BiMQJkdSCHbabwXEN7nYvVomXZ5LrzVKST4YqJXvQQKiGuQJJx9whEvhSAGTj6OsoVamJoyY0EbbK3EHfdWEv+yIU/xaazjcWMuxyvu+3q+glZGRD/dIepD9/G9Vf9Fwe3Fhi3yiHtGCRcpWU1WdMnY/ms6WmzdmAlK9vbaWqBPmsDDM8n5RlYpsWy2oDc7r1YYnWRWtpJj2U+yVYfv1LROdCgcs86gnowVjkYWZ90nwQM88jEWqlIBaQ8RTzZyNLWJmr6fJXho07EjDLun+JJf7F2LU75MGAtlaXI51I7ECkK0jRMCLjYlcqUlkx7UQKoub6QeRHLGWG+Xd619OdM6wLD76HN9VX3xXoU2/zdRMS9vCkQEfcycIuIexmgbYFD3p9pDn9kRFJS8BXdGYdrb7yTR6c8R019H5SK07K2jcaGHpx8yqHsvNtIYnGDM8/8L84/7wRWLjE0cf/r366gta2dxx57kRdefJNMZzvVVQlWLF1Az4YKvvPfF7LT2FE6Gy/uIloLLo1zNM3dXJ1WS8S9qLFf/6tZksqEBDYU80DOhUKuQGVCmvfIsTaFwJKGmrrJjyHa6QAySjrIQqWsnBfrQCW5nZMknQpImD4FP9TvCwGQYChlg+lKt1BFzpdsffgbXiiWs1pacu8Tl8regkuFBAHKpDMHsYSg5GDr2teYluh0ZgtUpkxMaR6EIqsbZKEDB2k05OZdLFs89mXFRCQ0nrb70feqtfCioZeVBHFyKcpblKVXGqQIdgNx9/Vxn6aLqC5QLYmgBEeRD+kVjrDxkW/kefTR2/jT/1zCnpkC4zoUPboNKrs9HZx0JKEtGbBmcJq363xWF3KkW3z6dUCTb5DOK8xEjDXNJmsG2ayKZ6juDmjutPDXZYn3TuEMNFDNBoGVp4dZgy3PJlHAb8yS87NUYFBVMKlKNLGyo4mageczfPvjMSKN+xb4Rto6LikfQU9LxPQiVUjeXZm3UsRskJPPNdLgCxJSHxT4YbMvST4Ic9eSQg8ly1qq2HlXVs+KmnndIyAi7lvHw97KRxER9/IeUETcy8AtIu5lgLYlDimSzUBrNEMZg2RZfWJkHI/WLsXbb6/k8akv8+JLs1i2ZA3JlMsuuw7h6GMOpWePJq666mpOOvEoCl2VPPLIFH75y2+x+L0lTHvhDZ7850zenv0me+w2lqOPOoD99h5D/75pLKVC4q7lF2EzHIUUTH7y4sdPB1eJuJe09KVfzRJxDzNmQt6FXL/1Xjez33yDYw7bQ0sylqxoY9Kjz7N4yQL22GNHDjxgb267515ef3upJvUJ2+eEE09h8uQpdGW7acnl2HmHERx5yHgmPvwss96YQyqRZIexIznm4D2ojysWL1vNxMmPsnjpKlwjSbIyxlHHHM3EyY/jZHMYnscpJx7NLsOayXR6THjwaU44+QBNsJOWwT+feokdd96deydO5vBD96V3QyUzX1uAm4A1qzr1OJ999jnGjNqBXr0qmTdvKStWtrHb7qOZOfsNpkx5inQ6xaEH78fOo4diSMMiJU5ApsQqYZ5QiEux5kGHNEK4dcD18axDOxNJRj+MQ0LCrhx9vC619U08o8CUp+7g9z+9lKGqwI6uzZAWg8Z1jvZqX1dr0to7wTuN8ILXQqpHDXa3T3JVJ6PtShIdeRK1laytV7yl1uDUBtQpk/qMRW0siWq0abFbqGi0MPMOlUGcunQa3+yGqqwmT5UkaCgkqLB6sKKtgfoRFzB4+2NBVRan2KdbZfh08zLae2tEQOpKJMSUPhRaKiY1F46sEAYENuRNcOR7SwJs+QbwHPCk6jmAghf+WyZ+RRpsCyxLy+XWe1NZdhgVRFuEwMcgEBH38qZIRNzLwC0i7mWAtgUOkY6nsoXLu5L9loy7Sa7g8dKrb/Hnv/0ffQaMZPsdR9PQ2IfubpM5c19k/vz5LF74Hl2dHeQLHfzoym/j5mP88AdX09Srr6b+PXv3YtjIfhxy8AH0bEixZsUS5s5ewNy33uDCC85m2ODe4bV1waqJKUWbm20rEfTwiuEfcVnRqXGdiRZyKWSzoExufWI2ybo0owc3UludYs7b86mqbGBAvzoWv7OAIf37EkvEWN0S8Myzr3DCUbuQDWDiQ0/x5WP2Jx+eXmfr7rh7EmeccqQmAE+/MIdRfaoZ2bsazxBqGrB8XTuzlqxk7A4jae3IMmfpMnYZM4Su9gyzZr/LQXuNYPHiFuYvbqOqJsGOo5tImYqpT73MuD1344ZbH2bMyIHstuNgFi1qoTPIsnTZCg4+cE9emjaLbFfArrsOw3F8Xpn5NgMGNZF3HYYO66dRmP7CTA7YcyxpS5b+PcwgwLLCwlStf9duGSXnHVni//jntPFKjt6/RNyLGndXJ+9tHAo8+fTd/OonF9FQ4dJccBm9QjGk3dCe7GvqTd5JZJhf47G8VpFzfBr9BD2yioquHDWi4VeQ6ZNkeaqLQiqgt2/Qq9MmmXFJNMTx6goYFQYpK0alnyZlm6iKPLnKNk3CUqZNOqOoSPdiVaYX1YPPZtiY4zHMsDhVnHU+SaCy2aZudOLPHgEvXCmSMgxdnC3ZcsfX0peC9CBQLtJiTuUKmAUHZ9VSWubMpfXtRcx7eSarVreyqGUtIw/aj0POPYMeI7ej4PksX7qCAUOHFT9UH/85+uxvPLri1oZARNzLeyIRcS8Dt4i4lwHaljikSKi0blt3sxS7PkW24LGuPcv0V+Zy3Q0TWPTuaurqe5OqrGHwoCZ23mV3+vXuhWGuZe2a1ew+bgyGYXLD9XczeOAQRo0ehueneGvOIt6cNZt35s5h4dw3GDtmMHuM25Ejv3QQ/Xr3QOmrCXkWJ0TJuG+u7KYsc4cAh7yzyKyFX2spjKSWDbIZh9XtGf65qIseA2tQ3QWGDaol193NogXLWbpwPgP79mW3nUYRGIqWDNz/wFTOOe0A2rrgxlvuo7o2zcrOVnYdO4I9dhzD32+8j6qKSrLZDD2bmzj+gLE0JkQna2uS3NKZ5fn5i9hj7Ghau7Lc9NAz1MRM8tluxu6yIzuP6M/MV5bQd0AjL788h/H7jKa6wmLqY6+w+x47c//EfzJu9+2104WHTbuzloWLl3L4IXsx48XZ7DB6KPPmraC+voGZb8ymqW8P+g3siRVXPP3Uy3Ss7eT0E75EQ4WJ5YhER4xviisQ8lw0cPKcZI4Ijf9kzygscg5XOPRfixp3varjiq1eHI88U5+cwG9/fCGDgjxDujyGtiqau8Sg1GdtCtbUwIKe8F4vi66MQ/92g6GtBnbWpUpcdJSio2+CJT1cuit8atY49F+tqOkIoFLhDTSoHdKIynl0LGrDyQek+ijSOxqoBrATiirRN8VqWNBSS+N2FzF69EmYRMWpW+IraWu4pgT0oWZdpGFholxifCkKd/0CyneJSZX+ilbenfwEK96YTtfqleQ6umlb10GX67Okq4MlXp7G0cO5/H+upGn4KF576SX22P9A9IcsyrhvDY96qx9DRNzLe0QRcS8Dt4i4lwHaljik1J9HRJxF4h7SNAPXsxA77a5MNz+75h9Mevgp9j/kMBYuWMi7C5cRj6U4/LDduOL75xGL6ZVkPMdlxquLuPfeybz++hzWre2kuakXrWuWc/nF53L6KYeQToaNmWTZWX4NtVFj4Gki90lJ4aeGSq9cF5n7+sYo4lEfFLPultZzyw/209Ne55HX5tJVCBjQVM+5px1CV6ZALG5jG4rXpr9Jv+ZmevWpZWWrw+xZczlgn9FkHJj06EscdvTuZDXhFdcTnwcfepajjhyvZSy9+jYzqjlJWklJqThTQEt7tybue+08mvaOPNMXr2KXUf2Y8fIcRo8dSqVhcPftk+nq7tI47b3XOMaOHcz0afPYYcdhPPbEMxx95L7MePEdcg7YNTHa2tvZe4/teXX6bPbeYyTz562hra3AspVLaO7XTM/mGup71GgKPv3FOey43UB6VceplNjJFTvJUBIThjiyIrJRxv0TEnedrS6VG2+Ucdeva1u9mHaVefrxCfzlhxexV85jp1aXxpxFVV5HVLTFXFqSAQubDZb2TdLZmWHg8oAxLQa2r0g6JoET0NLDZOkAk5YKl4olefqugvpug7zYQfYNqB/dg87WDjJv5fBF0dAIlfsrmselqeppkYh5dAcJ3lxRScOQS9h+9OlYqrE4zT5ZoPKp52R0wFaLwHr/dvmKUoZe1dFU3nOwfQ8jlyc3bxGP/uUG1Io1DB3Sl2RtmmRtLWYqRWWPHsSqq2ktFHhnyRKqe/SgurEHRixO03ZDIZmUIpSt9v6jgW09CETEvbxnERH3MnCLiHsZoG2BQ6TYKtyKnVKLVKvgumCKI3n4o7V6TRf//b2r6L/dMM46+1TeXfAu1/35UZYumcvd9/yF7sxaKiqreO75OVz5w18zcvQIDjpwZ3bYfji3/d9t7DhmOKeccAxVKRWasugMe4DneZimFG8qrSfdbAVbJQF7CWPtJR8Sd5FBuOKGqBSdnVlmvvE2O+62o9Zhv/3mAqqqa1nV0caajk4CHEzPZbex21NXnSLreNx/3wOcdfKxtGYVd97/GD17V1MwfeqqKhk7dCgPTnyC008+UheMPvPiG4wd3pvm2mqMmEXMhSXLVrK4o4Oxw4fR0tbFrOVL2HXMCFrWdGsdvBDTxrokA/s3abvGWW/OY/T22/HM1BkceMDu3HLTzXz1/HPp6HK578GnGLnTMBYsWMThh+3HKy+9yl7jdsB14MknXsS0bXbYZRRvzV1ErtCBFUviuwH77TaGyphJUops8zli8bj2dy+mzEsi9TLsIIuuMkVnjsBwdPFz4AbYRlwuxouPTeDGH1/Ofm15dlid097sKScs+MvZPq3xgGU9TNr6pil0ZOmxwmFwp6UbYdkF8RsNaK+AtiEVrInlSS/P0tBuUeMnyJOntcohvl2C1m6H+AJPTDTprIHUwYq++1dT2UtkyFlyqoK3V9TSOOAyho05FRXZQW6Bb6St45LiwqRb0xVrNCSolzjWyOexHZ93n3qOR274B/WVKfY6/CB6jB6G1aMBPx3Hj0uzswBL5DUFn+zaNuLK5I3XXkMlYozZa2+MqtqIuG8dj3qrH0VE3Mt7RBFxLwO3iLiXAdoWOKTUHEQrZbQQuWiPqMdiSvJVd/MUx5RZby3j69+9ht/98Urqqms4/ZRvcOGFZ7LnuGFceOFVNPbsydcuOptvfusnnHjKcXzlvIOYOWM21193A7/99VXUVqUxpAmQk8U2TWJS9SmSDC3FMIpe45sJhI0l7qXMu3RuFXGQL9lfybhDLueSzeVIV6SwTYNMV5Z8wSdenaSlO6ObEyUMk8bqSpxCgCwSdHW2UJ2M4xopVrWHPu05I9Ba6p7JuJbfJJJJ4rZJu2hiUaSlYM1UxPwAJ5el0/OpTITFue2eT1U8huMGdBcc3MCjKpXQ9pG+65ATR5p4HCeX1/sVuruoqKqio7tAQQiHaeF5DhWpJG4hj+UbJBI2maxDPudjp2zynkd3vks7x8jY6pMWXi5DpS1jKDbJ0r1eJfO+oZA37J31ybW5OjAKq1F1DOAbjvSO1f70MRXDcPO8OGUCN/3Pf7F/W57tVxeI+QYxX3TlAXnTxzU91lYZdPapoDOXJ70qT/+MSYUTYBSULiJsSQd0jqpmldlNakGBHqJZd8S1xtUNmIydKsnW2zgvt6BaIT7AwjzQJjXaoLoB4kLx/SrmLW+k98BvMmqnk1BW1WeWcS8FkJtp9n/kabfUdT/r+/y01/N9CS9FHibyM6WTF/JpsDoLOO8s5o/f+R6jxmzH+HOOx6lN4npxgkSaDj9PqraKKtsm7oK7qo15/3yGJx5/jAu+81/EBvbWXvDJip5hW99oixD4GAS2ZeL+vi7En3KmRMT9UwImu0fEvQzQtsAh600Stbe2sKuS33eA47jaO9wwpRkPtHT4nP21/+HkU4/jwfsmMWRQM1/72vH86Ie/Y8G8daxe18IZ55xAojLGH/70d26+4fdMfuAeBvXvwwVfORFRdccNyWNLxt3AyTtYtnTxDLPfoRXkZlo+fh9xD1cYpOosFM8oPE8bH2oyLfprsXv03BxxK0YgBZC69VIo5NEuK1JcqVNwoZ2l6MBdJZptRcEX8izdFQNi4seu7FI7WjzdrVQ84otWjNIpVTJ7hoUSNisjs2K4jottW0inWgmcXNcjZpja+96XFQLxhNZWjVJMKvaPLlY8rm08xV5Sy9GlW6rjkozFdXMokb+I9aN2DSp6Tbu6K67SbjLi4R4Ti3lP3DOEOFsfIO6hvOnTE3cZT7iaIt7sUkdRCpYCN8OzU+7mr1d+g/EZj53WOdQ7BrYrtRY+jvi+mwGraw1W9E2zys1RuarA8A6DBvHCdAJyNqypVbSMqOJds5uKlS49ugMqugJsWxH0s/G3r6StxiG1NEcqZ9MwrCft/bKsVaL9h2pTnkIl761uZvCo7zNyR3GVkfLDzVOcunFAI9BIMbN8DHTYpD+LMr9U2CBLcCv6/ktdhbym10KKAVSIaLiSJU5NOvzW+4RZ4pKnuI7BdaFxsZeAPAddd6C0x3goihJNt3bv13PPNCWwLr1XfPaBuEDJdWR+FD9KclXp1GuYen6FQ/O0paJITcxA6SZfvmHo12ScMhaZh/pei1UUEoQJBrpngDi4FFfE1kvoigHgegnWZvrO1MRdugrr2pfiM3E8/LUd/Onb36O5poZxRxzIxOcfo2JoX3r3Hs6gISNZ2b6aN956g2xbG/uMHMNOA7bjydvvYtpLz/ODP/4KpzpOvLYWRUXYzyHaIgQi4v4vCCxZsoSHH36YtWvX6u+AmpoaDj30UIYOHfqJ50tE3D8xVBt2jIh7GaBtgUNkOThsH1L8BdaWf8Ufe92rx9IyEtkr4ypOOuvHKFVJZ/s6fvvrb/Low09w1533ceWVP2Tlygy333MX3//xN7jhhnuxDYt8VwsXX3gy++w1FN/toDIuvUtNDLHzKP1wKbdoRSldR9+fhQpNX4re658i0/ufQhkS+vUO5OvR+fBcc0k7H4Y+JSRD75pPQjFK+2w4z8bj//BXP/oONyj5/73y6F/HWhp56Sb+U+mSXs8ICUqxQ2sJPyGMnkilyPDMMw9x1bcvY5zns0u7Q9+ugJTj4geulhxRl2RJL5uZDT7v+Vn6rIVd2216CnH0PLIJn46eCRY3mSy2s6S8gNoOh5qMT0XCwmm06WrwUXUePe0kaZljtkmhyqMQtFOb9qWGFcOqYmVrHwaO/H+M3uE4UCKq2fT6dl1D4vt6tUDLpm1YJ914jYAK3RBLPoCBDm7FoNUVkut5xD2DgiUdfH1NhF1PYVmBJsKeobC9gJQ0BhPCL6tI8mnSxFmCTh9TKWx5pDowkxUudJApw0gFCqfgY1s2McPRZLvb8UnETDxPgngfK2bh+h5xIwxau3wLR+RK0sFWAjrp7GuGr+kAz5AmbiIuU6SVNNXyyCpTj98OFLHivUq9i0QdWV/hKUVSGo+VgkgBSGvBTZSswhQDEWmEVApMwrBi024lVyT9nPS1IMhmmfbwFCbffQ8XX3o5199yEwcdcyTDdh1LPFUderhbipybZebrr/DkpMl8/dwLSBQ8HQQletbT1t1O3yFDUUg9z6Ye9abFIDrb1oHAtpZxf/7557n55pvf181cnkQsFuPMM89k9913/0TJo4i4lzF/I+JeBmhb4JD3U85iWloyuK6r5SPyo+k4AaatWLbG46Szr2DVmjU8cO91zHpjOj+84udc8f1vc8JJe9PWqvjeD/6IFU9z+dfP4ILz/x+dLa386fc/Zvw+AxHFfCHXRkVcJDOxDT9cOvMt+ewiQV+fgwuznaVtQ6a3lD7f9KRqCzyCL/AlQ52wIUS5aGtd8rEWYuQaHg4ZnnvuYa789kWMrAoY4mTp3enT5FvETYP2mEd7rxSzUgVm21kyRkCvXIz+GYtGO4EtnSyVS3dK0Z70aVUZYqZJVcGl2jCIpUzySYN8wsFKQlPCpDYeozuXw08bpFImlTGlV0biqR60dDYzeNAljNn+yyhDfNw3/RzTazR+QNyX1RfoVvD6mjZ+8cvf0rqihWS6RhNvX6pobYvddxvJpV85jZgHd0x+mgeeeIauLpfa2loK2TaSMdh73/047/j9dLHzT66/h5den0uuu0B1slIXFksA8/WvncqwIU2sWtfKz391M8tbWnAwyBQCEpVJ9tltN849bl/qLY8/3XAbx5x8ChVut5ZypSuqyWaz/O66G7niyu/y4P1PMOmpaeR8G9/1aUg6XH31j5jzznJu+7876OxqJZ20cAs5fE9xwN57c8GpR+MYMOHhF/jns0/zv9+/lFjBJ5fN4tkWM16fyYC+fRg3ejvistAUOAQS3MnimGFr4l5sQ6qboAmNL307bGoKHJScppQ4IBV0wNPZ2sbvr76ac049g7ZsnrvuvINv/eAK0g11FAoehWyBiooKOjo6dEfkq35xDYcedjBH7Hcg+XWttK5aSd53GLj9GJD6joi4f4G/+zbdrW1LxP29997j17/+NZlM5kMBFPJ+2WWXMXz48I8FOCLuHwvRv+4QEfcyQNsCh3wwm6uXh4NQ7S7r3fKjWSj4Wp4xecqLXPHTv3P5N77C6JEDufL7v6AyWcOBB+5Da8e7JJJ1WHYlt9x2P9+54mKy3Rl+9fPfc+FXT+b8c48gaYlXjUNcfoQlC7u++ZNcSyQjJeFKafG8mLMu+jhGxH0LTJD/6JJFEUcQrqKUVjHCv4QyGMm4z5gxle9/62s0WV30c/IMaIfmPCQVdFQoFtTAG1UBC9KiplL0yZn07zBIZaWrrKHlN53JgI56k1xKkfQDqttcqqQ4MK3oro/hVtvElENfH+oTcVzLI1flo+IeNRUJ8HMEdhWt7U3sMOJytt/xBFCicd8cxF1wCXC6C8TsBFlb8draddx2+wMcuM94YvEqpL+CFbdpz3Rxz6RH2WmHMQyoS3PfpCkc8+Uv01DTg1jMpnXdCrKFLLffP5XTjz+YebNf5d11WQ4/6mgWzl/Bwnfe4cAD9mLBO3OZN38hF3z1FP7wl5sYMWJ7Bg8fQUpsCQODNZ1tTHvxVYY19eGSo3Zm4jPPc8cjU/j1ld+lsiJFNpNn0gOTWd3WwbnnnUV7azvvdeS48c6H2HfvPRnSECeRSvG3Gx7k8PFj6d27F77IuJQiny9w730PcsjB+xNP9+SWO++luW8t2w8dyPGHHYDTkaGuIcV1/7iNvcbtwu6jhLhLAXNed/yVOgyRsb2fuIfSts1G3GUVQzqfivuVBJ8BvPvOfF55bhrHnXIqr78yg2tvvomBY0ZRWV/LwL796dOzmbZVraxZvoo1a9exfM1qdtl3HAfuuw9mLs+Dt9zCHofsR6/+zZiJ6oi4/0ffLdvOwdsKcXcch1/84hcsXrz43z7cnXbaiYsuuuhf9hGji5ImXtOXGTNmbLz6vO3MmP/gTiPi/h+A9xkeGnbI3Dj3ExYTal2sSGRE3wnMX7iUy77+PYaP3ZszzjyVn/30t7w9ay577b4PI0cNI11p0tGZYdqLM5j11lwqq1L8+pc/4sYbb6Vt3XKu/evP6NVQCX6BmOi5P6jvVKK7DTXeofO3VuOGYpOSkLb0roh59bbpSdVnCP02cKlisbMW3ReLU0V+VCTunghBVIY335zGD7/+NZoz7WyXLejmSw1dHpbvka0wWFTlM6fZYmGjIuO79F8TMHI11GZ90oaJ0P81VYoV/Ww6GxOk12ZpXO5Q1wl+AloGpfH7VWEWstQu7aTSh0RTDHeoRTbVTU2dRTqlcIwqlqyqYYcR32D7nU8GVbNZ5pjctxQwx4IYga/oUj6zW1qYPPkRzj/9NLq6clRVpmjr6MBKpZjy+nLuuncix+49jJpEJUcctCdeZ46KdJK29jaS9dX8+a5pGLbLigWvc9n5Z1NXUcWLL87i1Tde59xzT8aIKf5+y4Psvs947rjrbr77ra/R2dbJ4KYa1q1aTV3PHkydPocpU17mT18/le4gyy9uuoPKqnpOPfMEWtZ1cevfbuRbF59FDJPG+kpaFHz353/mmKMO5uDRw3hk6iu89vYavn/hIaxa1UJ9zzpa2gvE0hYzZs/jpdmzmP9uF/vusRdNtQX+cdv9/P6XV+K2ZulbleKeByYxaOQwxo0YRlIFxCTbrZvCKUwh7yKVkSklWXhD5CsbPv+bOuMuoZWrjds9bJH0eC4L356LU3AZMXw4r7w5m7/ddCPf+dlP8G2LuGGEnXq7pWuqr/cLXJ90dQUxQzFr+sv885HJXPKD/8aoiGPYEoVu6lFvA18p2+AtbivEXZo6/uY3v0EI/L/bbNvm6quv1rr3jbd77rmH6dOnr38pIu5lfFgi4l4GaFvgkI0z7qGuUzLuoYhVSL0Q+GzO4+lnp/HTa/6XP//9Fq79281MfWIq3//e1znumP3I50Vra+jePN35PLfd8SB//cutHHrIIZx04nF89/9dxje//lWOOupAEqYUp4rmuWg1uD5qkF9kKU2TMUgmbQNxl11KzZNKrjeh3D0i7ltgynyKS76fuIfmMqFmRto7+SKPUhnemTOdH19+IaNWtLHLWpfeXYq0tJfHJW+5dKUNljRZzOkJq4IcfVcF7LBGkcxCXFrPG0G4z4AkbXUJKua30NwCPbtFTB6wZkAFuaG1tHWsoXFejnQONCHrVgAAIABJREFUnF6g9lckRip69DeprLDp9ip5691qhgz7OqN3PgVMyYpu+jkmRbeu72LmDUzTImvB3NZ1PDhxIhedcQbdmTyFXDe+61Lb3MR1U97k5TkL2XtEFQnf4tjD9qFjdSsVqRqymVYt1bj+wVex7AzHHTKOWkxSMcXEJ55nxptzuejCs3RtSVfOZe78FiZMuJeffP9ikglYtmwVqXQFjTVpHnltEdffNZXbfnI2yimg0iku+M6fOenc4/ndb3/PeUeM54g99yPhQ1VNjM6YwSmXXcHZZ53MsbvuwOTHX2H2whw/umAvOtpztOcDPCdHz761THjiGeasWk1bvp5+tXWcc8T2XPrj33PkUUdy5C5DaDbh2pvvZey4MYwaOowq+QrypbjVwbBsrck3hbjrcpDPgLjrNsqhXaw0I/MKDssWvUtVVRU19XXMX7SYX/3xD1xw+SUMGTZMZ+Rjnq/lTE42S1u2kwcmTWTnYaMY1TyAn/2/73LiV85h+wP2JkjaKN1sLiLun+LLZJvddVsh7k888QQTJkz4F237hz344447jsMPP/x9b4ku/rnnnouI+3/ySYmI+3+C3md3bOgq4xV/EIUhl1xlwky3FJpZlk0ml6ejK6PVLU8+8RyjR41gxzFDcMSaUH7YPA/DsrT7iRUzee75Wdx790ROOuEY4rGAutpK3aREMu5WsdgsbMIjJmu+LmbTZKboYrEhIy8uF6Wsu6bw651vdDFYtG3lCOgUqR5jWJkQoEQGITIEnU3NsnDODH7+rUvZ6b117L46R02XR0oy6VKcagV0mS5rqk2W1Bu0WB51XQGDMwkMx9JuPL4F3X6eZXWKfMJkwLI8fXMGlZ0F7XuyvNEkM6yW1V2t9Hk3T1VB0VIToA5X1O6ZprG/TToRY213ijcW1DB0xDcYufOXUTorujmIe4DrBcQDQ3/csjbMWrOOB+57kK+ecQaGb9DW0koqaRGvqeTeV1Zx470Pc8zBw1i+pJPRIwdrLDvb89RVmMQsk8dfXsrwgWmOHb89jYaNHYsx+elpzFr4Hl89+xRsT9YlFO+1evzxr9dzzOH7YFo+eU+KSG0SyuTVJd28ungdV188Hnf1Kgb1788DL8zj7ideoHdjNddcdCzty1bQsrqDkSMH05Y0ufiHv+SUU45l34F9eOHVBbz4+hquvmg8XR0OLV2+tj2tbLCZ+NyLzF62jEVrkuw8YgTnHDKQ6+5/lmXvLeZnF55Mkhi33T2R0TuNZLdRQ3RwoDPugaeTB4YyP3Pi7hW/F0WoI1mMrs4uUskk0pwpn8tz54S7WLJ8GfuOH0/v/v2pqEhT6G6nq20t89+ezYI33+SUw77M849Opaszy1d/9hMCsWgVj3er6Ka1lX96o+FteQS2FeJ+0003IYWpG2/bbbcd+Xz+X+Qzffv25corr4yI+6aenhFx39SIbtrzhdl1sZqTrJL8pEtWW3SjUggm2fYw4y5ew1JeKF7eYedA2VfppkniQhEzDa0DFZbv+eIEEr7nedDR0Y1tWlRUJLQxhEhhfN/RVm9C2EsWLJ7rYcYsfaxhGOt1ajJE2e/99oNhFkwn6iPivmknxWY4W+gqs4G4hww+dCBBrC3dDG+9No3f//Db7LJ0JeNau0nlpDlTjJZchq64QXfCwm+swerXC7uxjtqKanqmG6iu7ydWMLoNfWvLaha0LGPJogVUv7qIvnmfOjzdnv69Go/CqCoyMahf1IVq87GG2rh7W7j9AvoMbsQgRS7oQaJ2X5qaTiVdNwS0p/2mJ+4SykjtiO0KHwy0xn322hbuvWcS55x4Kso3cXI5gqBAqj7N7f+cz+Mvz2bPcT155NGX6d1/CL5l4zoOKd8haRi8uXAdxx08huP2GUXcCUhVpHni+enMfGcBF55xOjHPwbcMluRNvvvjn9MkeCq32HjMIkaMpbk4tf2HcuGJQ1gyfSaH7rUPb61bzU//dDcnHXsMZ+w7iBnTXmXevPmcePJxdCVNLvnRbzj2y1/ioNHDmPrs67y5oIUrz9uftasyUs1C2rIwE/DSW7OZsWAB77YmGNKvP+ccMZL2vMvPf/ILrrjgLJp69eGOe+5h1113YLeRQ5GQKSjkseOWxuqzzrh70g9B3HtKBbCh0Q+eJ8kFk0B6NWSyrFq2jOXLlmNWVlBRXwlGgfal79InHqdRWUy57W7m/3/2zgNOrqp8/99bps9sy25674UkkAChI02adKQpKtj4KwooIs2fogKCVAtVBRFBpIMgIJ3QQwgkIb1nk022l+m3/D/vuTPZ2RAgCRNa7uUTdnfm3nPvPOfcO895z/M+b30D37v8dySGDseWagyuiRkQu9VtcMP5TX7hENheiLvo2xctWtSj/y666CIWLlzIvffe2+P1UCjEddddpybAxc2PuJdh6PvEvQwgbsMmNhB35bVsKV272MMp/2flqy5RdK8EiRRR1QMBJW8Qzaehe5Z1rqtjFjzGJbHUMLzjXBHGK7/vQnBcilvmM8qpWSKB0qok3wlJ90ySC9FY11R+1RJ1lyQTj8RbPW7OnpCUn1RtQ8i3y6Y9V5mexF386qVyqiZm3uSY/cZLXH3BOUxZv54d25LoWY1IPIHeu47gmBEERo2gctQIaseOwejfDzcSxdFN9LwkLBZglee3naRj3lzm3nIH6VdeJ9S+Fifu0jXSoHNUgmbTom/GIN/SRWhgmNwIjaSpE4n2YdCAnRg6Zg9q++xKkEmgR5V//LYg7mrNSFkeij+7Qy5oMKe5mXvveYhzvnMqdl6jsy0l/oP0HdSXu59bysPPvMyX9hxETbyavfeeTNqy1H1ZFdCIGQZ/vPt1aqM5Dpk2nl41NQrbJ5+fydvzF3Lud0+iwnRZ05rnvWabf/zrHi4771tUmy7JLuXdSEVc45E3F3Hrvc/x1yu/R5WsCJg6l976CCkrz6wZb3LNby9gZN9K2te30rtPNc0afPvcS/j2aaew3/iRPP3iW8xd1MwFpx+sqvEuWrVeJbbW1SV4+uU3eHPFSlY0ukzbYRKnHDSGrGVxwy13MHXSRA7YYxf+ff9/mLDDaHYdO5qIkORsmmAkqIi7yFU+SY27er6JL72nzCmoWlQtVfX8srJZZWepiR5XVanTcE3J38hgdbXT/OoM3rj3Qda2tbHfD89g5EEHQKCSXF4Kz4lbV9Hrfrt8LPgfegsQ2F6Iu0TQ165d2wOZG264gdmzZ3PjjTf2eF107ldddRXRqFj2eptP3LdgUH3Qrj5xLwOI27CJYtRaSntbdl4RcEWW5QtS6IpE1C2brOViFGwhFRF3hVCrsCmWvCeBc1WMqFD1R0XCVQheffGJB7KKqJuGiuRLJEveE0LuReYdTEMKFMmXs5zTWwkQzbxl5RT5N0Q/30MPWgxV+cR9Gw6RsjTtFRPy/OC9dRLJofDMuNUPN8ebLz/LNb+6gEmaxl59+jN0xCh6jR5DeMBAzP79oKoXhCMQCmKbJlldSnl5/tpBNAKY5PNZAqaGkU2TXTifxf99gJcevxu9LktXbY72Kh07BuGkQ22iCi0WoslJUdd7NFMmHsroEXsSifcCvQLD7oOmhdG8ClslRYDKAomHgkyQLU3dI7mgxuymZh556L+cfuLx5DIOsZDBuoZVDBo+hHtfWMajL7zGXjv3IYbOUYftT1tnikg0gJvOUJWo5I/3vkoskObovaYysLaKrAsPv/AmL89dwnlnnEjvILSlc7xTr3H7HXdx5QXfglRK+a/LZDyWMHl6zmr++uDz3HDRaZhWjjdnLeTBZ6dz4dmn89gjT9LQmeTMb52E09lJ797VtGoaZ55/KV87+Vj2mTSW6S/OYP6SFn74jYPp6uhCNzWSFlRHgsyas5Cn5s5iXZvJziPH8M0Dx7O+uYllTe08+OxMfv3jr/HQg48xfvxIdp0whrCQZrHD1CXybWxITu22g9zWrjIFG0oV7S/2u002k+Ktl19BSyYZnKgmbrmY6Rxue5ca220t60gn25nzzjtEa6qYdvKxJCZOQItXoutRLCnmJjalhh9xL9/d9MVuaXsh7ueddx6tra0bOlOi6X/+859ZsmSJcpsp3eS9K664QuWc+MS9jOPfJ+5lBHMbNNVdYESs2j1WpaLdQlZclKNFRWWFqrgZCHqVQ4V8ZfOqJhOdXUmqEjG6UkkCgbAi7hJIEicaIWSK0OeF5MsXlBSLUSobFWkypECpAZmsSGZEkaCRT4vlmq4S5jKZPDKj1g3RQUtE0AOgp2tz0TJyG4DjN1kWBDZImgouRa5i7JL0J5M9nZxlEwoZ5DIdLHt3JnWREDUVVWgVFSoxUhi+JYWJHJn0ie2jRloX8Y1H6ux8F5l0SiVpmoGIlPWCbBbTzNG2dj63//1KFq55k3SwjXzQobIqSIVRSapdrBYr2Xn3vdh96uEMqJ5MgGplSZrTsuDEMPUEuiqSU/7JocorcWx021Tyi5QJ7zS38OSTL3DaSUcp3/NoSCOTc9B0nZvuf5W331vAQXsOo5ceZt9pO5HOWcQrIqRaWqmpruCGx98laHRxzB5T6RMO45gGj7z+Ni/NW8E53zyaOtOhM9nB7LVB7rrnYS499yScZBe11QlaW5vJ5jO825jmb/c/xz9//V1Wr23jJ7+8gu9//zscsOMINDvHGZfdyOmnfJXRA/sQiRi0O3DZtbdz2CF7sfvEkYq4P/fcu5zzo9OJhi1CYYOuHMQ1eOTBZ1ncuZa2bBWThw7l5N0H4tg6q/MGv77lbq66+Dv867a72Ge3Kew5aSwB20G3c2gB79kjVXw/SR93kQkWHleFkLvcEjaa4/DUffdy26VXEG3pZJgRY1A4Sv9EAjNgYNRUkgyYTDh4PwYe+CX0vr2wzACOEcQ0gkixX5nKSlXlnsGIwjPO18+U5dnzRWpkeyHuP/7xj1WtiOIWiUSUHEa83S+99NL3EffLL7+8h7OMH3Evw6j3iXsZQNyGTYieXTkUuxpdXWlefP5lDj74S17SVEHhIpHy1o5OnvrfdDpTSVU0pra2NwMH92OHHcbw9NMv0dTcRDxRTcPaVvLZNIMHD2B9QwMDBvZlp50m8/yz02lubmfYsOHq02TzObq62vnKEYcrF5kXnn+V+fMXM2mHiWj5LmqqI+y2+xTC4Ygi7tlsimhUSs8Xv+g8i8juQunbECS/6Y+FgIq2Fwto6ULZvUqqXvhdJ19wMQpoQmLTuLLaI6sv6SyOnccVByKZANo5OlNtrGhYSX39cjpXryG1qp7GFctI2xaRun6Mm7o7U/c6gL4DBoKVxXY7ePn1R7ntjqsIxLO4gTRGUKfC7Mf4UXsxadI+jB47mWigDsOJ46azJJMrWbJmLpV1QxnYf0dMvXqbEHchgOKWYrg6Nibtus6splauuPpWRg8dj+WGyFt54hUx2pJtNDU2ceqJR7Bq3gxiWZsjDjqETDZHJKqTT6YIRWJc+/DTVFcE+dZRB9G2voFQrJIX3pzDjAXL+N4xh1Nld6JFAizsCPDXf9zFed85ET2VoqqqmqxrkHN0Xpw/n0efn84N55/B7Xc/TFve5ocnH4sp2OQtXl+5hAceeYpfXnQec+cu4u0FK3lj1jwGDRjIwN5h9t9nV/772HQ6ujIMGlBHJt1GIBQi355n3fIVfPP7x3DHf95iaP8hnH7gKLSsQz4W444nn2XuwuUMqgpx5snHMLQmoZJpdUlMlUCCMlP/pCunepp2NdeUAnFqtdFWY1G387z936d49M+3YK1uYGA8TkVNlLqxwxg0dWcG7rQL0cFDURW/tACuaZDVXBwDRCio7CWlwU2Q9J75PB/r9vMP/oIgsL0Q97POOqtH4aVwOMz1119PfX09v/71r3v0pqzWiyVkTU2NH3Ev5zj3iXs50dyytja2eCwWNsrlcgSCknAnm0tOOU2YNDenufTXf+BHP/geo0bXKQ2nbujkci5XXX0TsUSMr554pKJdzz33MsmuJN/6xvHc8+/7mThpByKRSq69+p/06d+bU795OA1r1rBg/jyOPupobv3r3Tz33Jv88fpfq0qKmVye2bPnMGrUCEYMH8hd/36WW269k99fcREBw+H3V17HoYfuz+mnnYDu5jB0B0Os09SHki9wFW8tkD/57vMzvLZsdHyCexdyF8QxqEjbpe9sxYJUxgSOJb7+NrqbV+MxINZ/mRx0teE2NdC5eAENq5fzyrJ3eHntfDqyndQ0JBnXrhPryKCZBlYiRq6mDnPKFI792c+p6zUAjTzNa+dx9W/PZW1qBUZdiMHjxrPP1MOYPHIvKqL9vYquehbNamL9yunMW/AaC1c3MHnayUyZfCSmJl8KxUliOXErODkVKhdk0GnJWby3YInydReHciF1ApMUAepT14uh/WtpXd9IhRmkIhbHsryCZfIvEAqyvLkN3dAYUFuj9Nfi8NTc1klrV5KhfXoTdC2CoRCNqRwr1qxhwvAhUllNtWBphiKpnXaOtc1tjBvYnxWr66nr34+Y3F+5vIo+ZwyNhctWMnbsSNY2NLF2fZOSsUjk2NRsdpgwho72JMuWr1IrabKyJvI7E53eVdUMGtKHecvXkYgnGFIVJpfK4IZCrOvsZPXadQwb0JdB1ZVITWW9IMmT42XVQSU4lzzYSp9x5eyZYlsi4ZNcH5ESdifDo+R7UtFXMGlbvpLmtY1UhIPEqiuI1lZAJEZG0wiEZMVIElE1srk8wWiQvOsQ1HRymQyBQFA9Y9WTuKTAnP882xa9+fluc3sh7hdeeCGNjY09OusPf/gDbW1tGxxkRBojjjJDhgzhkEMOQaLy8+fPZ9WqVcrDfdmyZRuO933ct2Lc+8R9K0ArwyGeQrzEIVhpjL0EtFzWc2kofhmKJZ1tBFm+cj0/PuNSdt9tGj/96SlKTuy4Fq1tWX505gUc9pVDOeb4L2MEDNataaF++Up2nzaZbKZdkXqRpf3fL25g+KihnPGDo9B1h1XLVzB0xDD+fNM9PPzIdP79zz9QWwUiYc9kHSW3CRga9z/8Oldecwt3/P1q+g+o4be/uZmOljX86U+XoNlZTF2ca0Ig5c4VdxeqotzAVTTM/6Irw6DZhk0oLfcGiYxMugwcTVdeM7mcRVgXgpTH6upAk2zLhiayM9+mYfZMGhfNpXnxAnLZLlZFsyyv08kYMHS9xU4NGtV5TYYDuYBOU8BkXv86+h93HKd89ydogTCuZtE453WWti8mOrQPA4ZNIOJUErJDHml30iS75tPZ+grtrdNZ27iSJfU6O037CTvteDw64uNemDCWGaMi8SxttuB6v+GlnkaaojLrnqSWTleLNpsqQfIj1gi8O6dUdtbzg3XXS9h08mTxGlUAuuRZU7yeHs+ejZ9FG6rnvt/BvBDY9iYjn4HJuDwjX3vtNUUa+vfvr1YiV61YqfJypPBLQ0MDlYkEw4cPp6mpSa0jTZw4US31v/TydAYOHKjIxWOPPaYIxooVK1hVv5qhQ4fSq1cv3p31jgI+Foux7777en3yGfjcZR7mfnNlQGB7Ie4SQS8l3gLdz372M3XPSNS9rq6OeDz+PkTvvvtunn322fe97hP3rRh8PnHfCtDKcEjR5XyDMrdA3NWXbCF6JWRKEu9ylkPeDfDAQy/QuLaDf/7jX9z29+sZPaaWXD6HqQf469/u5q67H+TQww/j0MP3Zeyo4WTTWSoTIRUtlZLkyaTLxRfdxIAhfTnzzK8SCLjojoPlavzx5nt4/vlZ/OGaX1KVsFjb0Eg2bzNu3EgMzeHeh17l+j/fwV9v/T3BoMGFF1zKtJ3HcdaPv4kjCYe6S0jE86p6j1cYyiPu4lbi+7iXYchs0yY2RdylhL0ap3kb03BZs2wej/zz7/RZsIJ+81ejNTbiZtvRtLSqAZBx8rTVGKyvDbCisZNJdoAdkiFSmRTBgIFr26RcnZX9q1nYqxffOO8S+u2yF5iyUmND1MI2DHQ7iJaXmWMHHS1LWL78ZTpTc6hINJBINJLMuMyZbzB64o/ZcepJaPq2I+4bg14k8qWEvkjci6+VlCx7X58VSfRHEfdydHaPFb1Cg0Ui700KNgoebOZJP2trZy+88AKZTAb5LhOCvmLZckUcBg8ezKxZs+jbt69a+ZCInxD83XbbTUX+8ralgiNynBARWfKXTa0VapqaCCycv4Da2lqSySRf+tKXVNRdJgee05a/+Qh0I7C9EPdbb72VN954o0fXy73xta997UOHg0/cy3i3+MS9jGBuQVObirjLV4Zns+i5uMgSre2ItZnG+uYUd971AN/8xkmccNz3OPKogzjjjFMIBCWh1CWTzfL4469w22230drRymnf+hbHHXMwiWgCkZ5LeeJsxuWii/7MwCH9OOeck5R2XUqAZx0h7v/mzn8+xmmnHo1ut9DQ2MakHSdzzFEHIQWY7rrvRa68+haOPeYQ5s5+j68e/xUOPGBHTMOkIhpEYrNC3r1IoLcsr7znlaDAJ+5bMDQ+lV17EHcvbVn1nMqjsPPoWMyZ8RJXXvxz9mjqYLeWLhXnNk2pLtqJZjikNZuGhEFb/zhrGlsZmwowulHDdORomzwWrbZL6/Aoc4M6NSOn8uVv/ZA+U/f2sqHjhtrLyElxgXYWvvsib731MC3JOfTqm2L4iAB9+2g0tcCCJRWMnXwuk6ceh64qp8q2DcjUpkLuJcx1U28XSfGmOrJ0/3IQ4I0j5x9r8BQb21jfUnqSsp7wY12tOlgKykmUvKWlRRHvcePGKVKeSCQQD+nW5hYVAVy3bp16TYh3c3Oz+llR5Y0bIeFCzIWsC0mXRH6RK0qUPZvOqHblfVn6Vwn81odZ3378z+S38PlEYHsh7o8//jgPPvhgj06Se0scZUr92jfuRZ+4l3Fc+8S9jGBuYVPdX+IFkXEhIVDIu/zTDVNV75Oo0I23/INUJseuu+7KC8++zLvvzuZPf7qMWLyCWMwkZ1nKjnHVynXcfse9PPr4kxx31FH8/GffwxGbR0Oksjbn//w6hgwfwDlnfU3pi03XJa8FufbGu3lp+iz+dsvvqE5oLK9vprOji2HDBhOPaPzr/pe55vpb+erxh/O/J/7Hr351AVOnDBNBhdTnQShXOCQaXIk/Fom7H3HfwiHxqe3eLfcQuyGRbMlky6uEq0k03E2z4N3X+N3F57LzunVMa28npkEAC1207zokgxqrq0yWV5s0d6YYkwwwYpVDn0yEnJUjGbJojri0jAyxKqZRv8Zm8IiJ7LnfkQyeMIng2EG02h10rV/Ju6++yluvPEUs1kGsLo1mphgwAHpVa7S0mjS3D2PXvX/Bjjsdrez7PlHi/iHM/KM03eUm7mUbMB80A/mgE5Rj1lGGixcC3tHRoZ6RwWBQVW8UfW1nZ6eKsA8bMlSRcYnId3R2EjBNQuEw0ViUrq4ulWQnxF3IvZB1sbnL5fNU11QTi8ZobmpSkwOZBEgUX1y0hLz7cpkydN4XrInthbi/9dZb3HLLLRsKMBa78YILLlArXh+0+cS9jAPeJ+5lBHMLm+pJ3Lupk5B20brnLUdZly1Zvpp7H3iEQw87SJ1BKqFefukfOf200zjgoKl0JZNqqXf8hLEq6mg5Ovc9+Bh33nEP/77rVqoqQ4qLZdI5Lr7oOoYOG8wPfngSAd0hIEWX0PnT3+7loUef4a47/kxNwiCvPKyhqbGNvrVV3PfIi9xw0+387a/X8+hDjzNr5gwuOP8shg3uSyggBn9eIRiPuHse8R+l091CuPzdtyEC3YHUnsTdkkmfLuW90iyY+yYXnnMGY1vq2du0qUAn4lhEzQB526Y1CB0j6ngl18bqtjQ76FHGrDMY2BxQ+RutsSwd/WBtP5Ol+RQJK4jZpREP9iLSrw/5kX1Y5TTT0rySbFM7/asrqEjYZOkkUWUTi7hEDBvLqqAzM5zd9zmPnad8Ra7ikyfum+qLLSCzysnnA7TSH/beNhsCn2PiLrpZIeAjR45UJdf33HNPpXsXjbuQeNGwC9kQ4i0kX6QzEk2fOXMmUqpd/Kd32mknlXAnBF8cMGTVU457/vnnN0Tix48fr7TxkmjnS2W22Uj83Da8vRB3yRv5zW9+oya6pduRRx7JEUcc4RP3T2IE+8T9k0B50+fwyFKxpKS3Tz5vq6hOKp3HkFLumsNjjz/PkOEjGTlyMMGg59H+t788wLuzFnPdH84jnU1zww03c9yxRzBq5Ajlwz5z7lz+/MfbuO7qy6mpCpDPiSe1xXnnXcm48WM5/bTjiIQkYgpdeZdb/n4/Tzw9nb//5ToiAdCD0LC+g6efepbjjzmc/z3/Fr+9/Gru//et9Kmt4Jf/93vCwQCX/PInyhfeyllEQqJxF/cF8XWXT+MVxfG/5D69Mba5Zy4l7pKXoCl5U8EOT8ooOV0sWTyLs3/0bfpk1jIhaDE0WkHcBieTxjZMMvEwi4MWrzS3kzZc6hyTnRP9CK1pJ1AdId3HZLndwlorgxF26ReOk2pPUVNbTUc+Q7tukzTyGGEIpDX6JOIk4uIL34VhOlSEdeUMglVJe1cfdt/7THaZejSBbSmV2VwA/f0+FQQk0v7KK68osi3BCyHeQh7+97//KfI9YMAAhg0bxrvvvquIhmjcJbouJF/2mTBhgvKflpVMIfVLly7dQPglevjSSy8psi4yGSHuEtX3I+6fSld/5k+6vRB3+U6X6qlC4Eu3ESNGcP75539gP0m1VZG0yX03d+7cDfv5yalbMbR94r4VoJXpEI8sFdXuXqO27ZLNOQRDXhSzvr6Fm2/5C/vsuz/7HTBNWbSk0i4P3PcEj/3nGb526nHsuddkbv3LzUTDMXYYPwVdD/HGu2+z46RxHPClXXFEk6nrvDd/FbfffreymvzRj75D39o4ug1N7Z3c+o/7ePPtOZx43FHUVkVpT6eYOfNtDtr/AHYYM4J//Pu/vPr6G5x3zhnssMNwGtY0cNlvr2PSxPEceeTsugULAAAgAElEQVQhDBlYpyzVpBCTTEY0XYpEBXCkWquqbOlvn2kENjB3MRT0UifFw1pJZXQLlzRvvvUiZ5/zXSoDnVQHslQFAlQFQsRk5oZGczrNskyaxoBGsDpBIK8R6spQGwQn7JAMOaQCNpYhWQ8alWYIcT21nYyq1BuMhEi7ORwd4k6MiqBJwEyjB7JEY7qyH6wwglSE+9HVVcVue32XqTsfh6aJj7s3UfS37QsBIREibxEdupB2Iee9e/dWBEEIt8hchLyLhEZIuwRFRIdbWVnJ+vXr1fvShhwjx7a3t6t9RBojEXvRxsuxEqGvrq5WQQg/GLF9jbHN/bTbC3EXPJ5++mnuueeeHtDIRPmSSy6hT58+HwqZX4Bpc0fUh+znE/cygLiVTXRHObvJu2WJk4zO+sY2orE4bZ0ZUqk0ubxNn35CUIQUR1m9ei2xeEAKUBJPBDH0HKYWpH51K5btEK+uoLYmIQF7NC1LMBCiuSWpnBSyOajtFcdwc4TNAJ0pi6ybI21ryuovGrTpzEmSrE7v2j7kkhm6MmlFqMKGQU11Jdlsjs62DLqWQdcNgqZGLBImEQ+DK3p7IX0GVt4hFCp60m8lUP5h2x4BNRjlf0XiLhF3XcmlbCeHq+d48eUnOeun3ycUyZGoNsnYslRqU1tZQbKpjaAZIh8KsCaVJG9AdayKsFSxpJVIRMcwTFW8iVCUQDhGPpWiImyg5TLKclSTomJBjVQ2TdgKUxkKUlWloYUlcTBPVA9SFYxSHelDe3uYnaedxM67nQBar21G3Lc0+XTbd5R/hlIEit7qQrqLbi+SiC8kQki28tGXqr4FFxjZT6LmEqmXfeR9+SmbvFY8Rl4rRtaL5yie119B9MfgphDYnoi7TGbPPvtsdf+Ubrvssgvf+973fOK+rW8Rn7hva4Q3p/1u4u44GitW1nPt9X8il5dwtYFhBgkEDDKZFEZAx7YDBMNBZbMXDiXAzZBMNYMdoCJeSzqVRw+Z5LJp4tEguUwn0m4sUaWsH+VsuVwSU7MIG2HS2RziG+KaQcKmTldbC5W11arqo2u5xENxpXmXUuzVFWFSqS50PYChBcmk0iQSMQKGi21l+O53v8XoUcNxrDyaFDbRDAzDj7hvzij49PcR2VbRAVycjVSygkqUxszzwvSnOOenP0B3pLqpTVfEwQ3qhGRCl/MK+AQq4zRJRVQDrFSesGOTSLjkchkMTcdyTXK2FCMKqQJFUqFSy+cJBU0y6Sw5J0NldYyYk8BKyXhPEe9tEggZVIQqsNqSuGkd3ajhuBPPYs+9jwcS24y4f/p94l/BRyEghFvVvCgh6HJM0f2lmDNQ3K9I1IukvXis/JRou0ThS8m8HF/824+2f1RvbL/vb0/EXXpZii7Nnj27R4dvqlLqxiPCj7iX4R7xiXsZQPzYTZQQd1dTchmJTApvF1tIVUpcSuKYqogioZBGa6foyDVCwpo0Bycn1FojZErhJilT77mBBE1JHPUsJcVbXTzhA2Eh/yiZQj6dJ2CYdKXzaAEpoegSMU0skbxIxCpvY6U0IpXiHyMRd1dFYeVc4hNvaCFyWXFdgGjEQJdrkTLomq7+yWeRBFt/+2wj4EWWpYclQi6bgWN7xWYsy0EPuixcNpf/Pf04VZUxUlaSd5bOY33TWgb2qWPEwEGsXrOK1Y3rCFcklARsxKAhpNs7aGxqRDzhY4lKBgwYTE1lBbaVY9myRbS0tqjVoFgiQf++/QkFdBYsnkMgG2HMiDHowRzZQJKFS5eQT9mMHzKauoo6GtZ1sOPOX2bK5D0IiShebb5U5rM9ysp/dUKki2RaiLcaBYXouhDworSl9HUh7PK6jO3SRODi76WvyT7FdqSN4nu+q0z5+/Lz3uL2RtwlKVycYjbevvGNb7D33mLxu+nNJ+5lGOk+cS8DiB+7iW7irkqbqwRPIdnwxJPPU11Tw+tvvMKpX/86a9a00NrWzKr69dT17suYMcOQB8aaVauprIxRVVFNNFLNm2/PZNDAAaxasZhdd96J+x54iAsvPocFi5dx732PcuaPzmDRwjm8/OJrfO/b3+GNN2fw3qLF9O/Th4njxrBybT29+/blvdlzqYxVkbUy7LPvXlTGw0oG89TTLxEMhFnf0ELv2jrq6qrYafIIDwk3j2uLNMKbcPhLyx97gGzzBsRx3yPuMsWT/3Rcx/vNFstQO8Py1Yuw3CyBeJAb/nYzTz7xH5xMhr69qjn7nLO5/9EHeOHVN6mIB1Wp+euvupLpL73CnXc/QiReRSZnMW3XXTnj9FPZdceJXHHt77jr3gcwIwEczeTYo4/mxOOP5Q/XX8N7by/lut9fx4QdxnLfM/dz1TXXkuzIceFPfs5Jx57EvHnLiMb7MGzAYCIbVnS2AXH/mFqZT83+cUtdYrZ0hH2GFtFKCXfxY5RGzYvvF18rSl/kuSSvqSlrQSZTJPTFdkqj8cWI/qfi+rOl/ePv/4kjsL0Rd0k2FU178R4qAj558mTOPPNMn7hvyxHoE/dtie6Ht12MFnlaSi9yJITdVtpiF8vWuOb6m5g8eSrvvPuuKs8djcQxTYP6NfVM2203Bg+q5dFHn+LII7+Mplk88vBz1NX1ZUX9GsaMHsOsWTOZPHkSjz3+JEceeQTZbIYHHniIc392Di+99CLhUJi6mhj77L0rN958G8ceczTpVMZzU8hm+PZp31RVM//+938xavRopkyZhBkK8Pc7HiAcCiGcafy4MfSurWHAwBr1t/pOlwqDuoZTsuz86SHtn/kjRmIhIbXocCSRSC8JT8am4+RBt1i0ZB6ulufRZx7l4l9fzqknH8leu+7BuvoGdtp5KpdfeyVrm9Zxxhnfo39dNeNHjeamG2/ivgef5YwffAc0k3/c8Q+GDR3M32//KzfdegP3PXAfP/v5z7n3/oeU88flv/0tjz/6CM898xIPPfgQAwcP4tzzz2XZ8hXkUjmGDR7Jdb//E81NSQJajHGjRhFQE0R/8xHwEfAR+PQQ2N6IuyB9/fXXM2fOnB6gS67JNddco2xTN7X5EfcyjFGfuJcBxK1sojTpqUjcVXJqwFTJqLph8Ocb72DUyLEEQ2HC4SCrVtZTWVVJV1cb06ZNpao6zhNPvMCwoUMwDY2Fi1ZQW1tHY2uzyu6eMUOI+0S6OrPK7kzcF1asXKHIfFtbC+PHD+W1V97ikIP25YknnubAA7+kCjW9/PIrVFZW0LdvHbat8/TTz3DSSSeSt9LkbYM5782noiJBS+N6JkwYS3V1JaOGD6AQZEdzJfmrEHEviC+2Eib/sG2OQFHXXkyX9mwglaOMJhPILJpms279ahYtnc8f//IHZs2bxV233cn4EWMwjSAr6lfxw3POYsmqpYwbP4aB/Xrz9RNO4J677+apZ6dzy19uZsLYifzuqiv4z6OPcu311/DS9Bd46OEHOf/8n/PfJ56ifnUDv/zFxfzl5puZO/c9/va320llMpxzztkcfvhhxGMJ7vz7PVx9xR8YPmQc2S6LcWPGYRaSC7c5TP4JfAR8BHwEPgCB7ZG4y2cWT/eNk1T32WcfTj31VJ+4b6u7xSfu2wrZj253U8RdpDJZy6s+msm7tDS3E69IKL1xPG7Q1mYp27Jg0KG2zivh3dqaZfnyFZhmgOHDB3puLq5NRSLI0uVNmHpAOSnE4oZKNEwlxVkmR1VVmGgkQntbB/FoiJbmTvr3r1H6987OJIlEhHXr2lm6dLkqFz5hwihWrFjL+uYmho8cSjCgs3z5ajVhqEzEGT1iAJmsl2gY0DUsFW3X0X3i/tGD4VPfo+gm4xH2ol5cCmqJL7/lZGhra2Th4ve45R838drbr3HHLbczdYcdVbGtVWtW8/0fncmy+uUcfPCBDB8ymAP23Zubbvgzj//vZf52281Mnbozl/zqEh7/73+55tqrmfX2W/z5xpuxLJ1hQwdy2WW/ZeTIYfz83At4b94c7rzzTqa//Cq//c2lnHTKV6murOGuf9zDWT88l1NOPI21q9YzYvhoAqbvWvSpDx//AnwEtnMEtkfiLl1+7bXX8t57770v6n7llVcq3rDx5kfcy3Cj+MS9DCBuZRMeQRI5gvdTSLgkfqazeVbX15O3JSFV3DbEpkzCn6ZK+tN0IVNeEmtAEkqxVdRRnJkcx8aV/XRH2XFLQquVFx9uCASCZDKWSkrVjQCuk8fQdfJ5qaAqSYjeBxF7R8/L2yGf1wkEvKqunlWlXIZchbIcUdduGrqKsMvf/fr1JhgIKpmMXJNUTxU3EX/7rCPQsxCYjC/ZLCuvHI3EEnLN2pU0t67judee4sprrmHf3adyzFeOUjkW4ydO5Iqrr2J9SzM/PPP7VMaijB8zmptuuJEn/jedk792EroZ4O4772XXabty7TVXctnvLuXV115ht2m78vprMzn926fx5QP35+fn/ZylS5Zw+ZVXcPvt/+C1V99kyLABakiuq29k6k67cdHPf4WpRxg+dCSGIQ7v/uYj4CPgI/DpIbC9EvfnnnuOu+66qwfwIrE844wzmDJlik/ct8WQ9In7tkB189r0pAjFfYW4S4qgpmwYH3z4P4rEB4IRlSCoaqw6DrbjkXTx3BaSHgyGVIEQSaoquiqIBl5NAhwHV9MImEHVgkTZRXfW1dlBMBTCssVRxlBJiKYeUstd0o5YOknxEvm9sqKKtvY29btt2QRDQXJ2Dk3XCAZNsukMwaC0IRVfTfbcYzeqq6pUESaJhMo5RQvvb591BHoS92LE3UvOc8hbWRrWrSaV7iAYd7j3wTt55olnSLZ30KtXHeeedy7/uu9+Zs+fh2Haqu7qLy+8kNdefY3Hn3pZJTSbRojJk6ZywgnHMnr0KP74pz8wZ867XHTh+fz1L/9g5coV/PAHZ/Cf/zzMmjUNfOXIo3jg/oeYvOMkjj76KFzH5Zmnn+ONV2dy6tdOZ8rkafTu3V+tNPmbj4CPgI/Ap4nA9krcpYLqL3/5yw38o9gH+++/PyeffLJP3LfFoPSJ+7ZAdfPa7Enc5RghSJ62XULbqhxOwRJSrBVVtFuDfF5IstSeLMTFlSOCRL89iq8cJAtJovLTlhmA471g2xYBU9r3JBEiQxc9Pa5BIKBySlW1U3W8OEiKQ6S8rSLxEoEF4UniMS9xd8MU20BZNZAphzhOegmp8p6QPqlA6G+fBwTeT9zFLaA7cdph5aqlzHz7TYaPGUgoojFvzns0rlnHyBEjCUai5HFobG4iHAmSz2bpW9uLZGeSjlSWqupaMpkc/fsPUC4EkvDa1LReHEqJx2I4tqaqVNbV1WLls2oyGYpE6ejoIhaLkqiIq+q/rW3taK5Jc2MnO07aheHDR6hVKX/zEfAR8BH4NBHYXom7BAklGXX+/Pk94JdqxJdeeqlP3LfFoPSJ+7ZAdevbLHVxK6YMbk1rXozeI9wbO7cVX5d2i+95sp2P3pRx5UYNKiFMyerBZ8gp7qM/kL9HCQLdtqQScS/mYMgETlaDcvkM6XQSC1mZ0QjoJroksTqOsjCVlRpHuSM5nnRK6eMdb3Knkl1lXykVICtLtjeBVBIrmfjJRFRWikSCJf+8yq3FESqSHcfNEwrJCpSJlXcJB+OEIiE1ufA3HwEfAR+BTxOB7ZW4C+bLli3j8ssv3/CdUewHea22trZHt/ga9zKMUp+4lwHEMjZRyp9FH969bRk52RJVuUfXPI26R/VLKf2mPlz3fp7T96amB2UExW/qE0SglLx70z/PFtKbnSk5V2EoaqrIl6bs313dGwXF96Tol9rU/t6YEmKuyLj6uzAtVQRfVndkxHouRC6WWgESMu+t48gmZN9S12LoAVUJ2LUNdLNUbvYJwuSfykfAR8BHoASB7Zm4CwwXXnghjY2NPcbEsccey6GHHuoT93LfKT5xLzeiH789jzr1DIF7IpjN33ruvalwevceci6PuG/eVnotPc+zJdOFzTuXv9cnjcD7ibvi34UKlR7L9vzdPS4v4fjCj5LBoBXJvnrPS272iHvpJhqs4rgTuYu0JToted37e8PIlYq8UthLEXcTV96XSynIxz5plPzz+Qj4CPgIlCKwvRP3m266ibfeeqvHoBg0aBD/93//5xP3ct8qPnEvN6Ifv71Sm8itba1Yzts7flOkvCim8fYQjXr5t57nKH/7fovlR6Ckiq8aEl7uROnmuLaSuqjeFWKuxk8hhl7QXEmuQyFIL4kPXjRdyWW8yZ1E7nVxR9oQUxdSL+9L7oRnh4oUgZKdC1osl3zhMort6V5uR/lB8Fv0EfAR8BHYIgS2F+Iu/ERqwkh0vampiV69ejFq1Cj++9//8sADD/TATGyor7vuOgKSQFfYfKnMFg2rTe/sE/cygFjGJraMtJdSlo0i9IVKrJt3aULONjdaLkytIHNQp/+w43zivnn4f5b22nTEXRKWN1T6NTwbUImqF3Mj1ERRyLu8pmi3NzbV/zXxGZVoes+Iu7jVFFd6NKWpl7Hk6d+9iLtXAUDJbyQKj41MGTx5luxrlqjgP0sY+tfiI+AjsL0hsD0Q92eeeYaHH35Yuc4Vt4MPPpjjjz+emTNncuONN/bodiHsV111FdFo1Cfu5bwhfOJeTjTL09bmkfeN44wbE3e5lm5i9WFX5kVUtyBuuYG4bw7Z34J2ywOf38rHRqBnbsX7EpcLKQ5e0mrJyUpTJHpcg0z0ijkU3pjxxpxH3Ltj5pKc6tlPCokvTibVVKKQ0LohB0OTwl5C7DdnDH5sQPwGPkMIvG/IbW5mfWFlqOdH+WBRoRrOIvkqSMGKi5IbsoAKr3dPUD3nrk1lJm1O5tBnCGL/UrYCge2BuN9///088cQTPdA54IADOOmkk1iwYIEi6aWbaZpcccUVVFRU+MR9K8bUBx7iE/dyork9teUnpG5Pvb3tPuumKM0Hja2N5Vz+pHDb9Ut5Wt6cIMT7XIFKmfFGAQVvEtd9bWr+t0XEfVOSwIIkq9CsNCd7KYWXIu6ymuQR+GKAQ43QIqEvXo6Q9pLJbFFhpi6vsHPpiPXNkMozxj4rrWwPxP2hhx7iscce6wH5vvvuy9e//nVWr17NJZdc0uM9cRoTS0iR0xQ3XypThhHrE/cygOg34SPgI+Aj4COwSQQ+iLx/oI2n61V69oht94qK5zDkUd8eyfsb+9N+UD+oWhOF8tBe9kahrdJVG+/30uwL73zeVrqotPHv8rcnBivu7U1AvXmFt+KkXJiKm5oZ+NsXBYHtgbg/+uijPPLIIz26bI899uC0005TdTguvvjiHu9JxF2Ie01NzYbXfeJehhHvE/cygOg34SPgI+Aj4COwSQQ2Ju4f7rsvyRSSz1BSL8L1EqRLiXvxREqEtakg+qavBFPlSmxqRadI3rsnB9K2SsHeWCpT4NtyRaWEXki7sZERQOln76bpXmheqlqryYAfev9C3DnbA3F/6qmnuPfee3v014477sgPfvAD1q5dqyqolm6+VGYbDW2fuG8jYP1mfQR8BHwEfAQ+EoGexL7gKvQ+BVW3nKWb6Eq1gM03shWirQsV30D0vboBXvy+NPeieMmyt7eLCpSL/WjJhGJj4u6139PBS7kmbUT8N6wiaBvbo34kVP4On2EEtgfi/uabb3LLLbf06IXBgwerSPvy5cu57LLLerwnyam///3vicViG173I+5lGMQ+cS8DiH4TPgI+Aj4CPgKbjcDGQXLPFrRoISquQiWZpIotFyLiojspRqgLZFq5EG3m1lOcYhSKgW2iHLQKhXvJqYq7Kxcl7yQeiZfrLUTcC+9JBH1T4peNJTUf7sS1mR/E3+0zh8D2QNyXLFnC7373ux7Yi2OMJKDOnTsX8XIv3cQO8pprriEUCvnEvZwj1ifu5UTTb8tHwEfAR8BHYGMECvS35OVNaNWLCnbHc2fZoCApqRVQytuLOZ/Knra0nG/p7xtsXqSwlxD1jVxfiky7cI7S61ZvFcl6jw+kvFF7luxV7XbLX4oHFqm87YhbkjglFeYkrsuGWgf+cPlCILA9EPdsNstZZ52FbfecLI8fP55kMsmKFSt69KUkpV5++eU95GB+xL0Mw90n7mUA0W/CR8BHwEfAR2CTCFiOja4XpChSXst11Bd/wOwuylIalZaaAapOwEbhaxXfVnp3T9wi0XBd/i7GuUtIeI8LKbyuguclgXvFywvEvHB574uYK36+KamMirj3nC/YqgiZptxolAinZMJhl0wAipdpevMTf/uCILA9EHfpql/96lfU19dvVq/tt99+nHLKKT329Yn7ZkH34Tv5xL0MIPpN+Aj4CPgI+AhsEgHRoRc3IdmKcEuyqcoqLWW0BR90Tci9otXqsGJaqvytSnKVVHmWPeyijKbk7KVSHEWOhew7qEq7RcKuPNq9OLmKCKq0VNV29zRC0fPSXNaiZmaDBr+QYKqSZL3JhJpKbJgsuDiOg25IjQJdMXrHcbEdm5Bp+sT9C3TPbC/E/b777uPJJ5/8yJ6Te+o3v/kNffr08Yn7R6K1hTv4xH0LAfN39xHwEfAR8BHYbAQkwu7Yjoq6y5e5bVkYRglp7WEL44JeIPQqZF3ICC2SddvzevE2DQwdt1j1ubuMb49rcyWEL3vrUs/XKOSjlk4aHE/DXkhU9eYLIoeRYr8irykmsXruNsossocFZYGoF+uMlZ69WNzOsZWLjKYIvCTUuhh694rDZoPp7/iZRWB7Ie4LFy7kuuuuI5/Pf2hfTJgwgbPPPvt9+/gR9zIMYZ+4lwFEvwkfAR8BHwEfgQ9EQEWdNR3HtjfoXdNdSRSpFuLueNITpGquk/Eq5UqI3CmSdHnfwbVsXPF5L5J9zaPxmpDhwj+h2co+UhPZSqEikpBmTScQEncLTy+jEk/FelIdZ+MKuba98yoSr2tYQsY38luX6/SkP4b6qbTqunw2maC8P99VitDkbYt4RQWaaRKIRFTUXQ9GevjU+8Pn843A9kLcReb24IMPfmjUXe6LM888k4kTJ/rEfVsMa5+4bwtUN7fNHmuwG4qLeEdvymu42O77vNI+5IQb+zf4qsrN7Z3ufugRQvuAwz+sv7bsjP7ePgJfJARsK4+hG9i2g5DY9Q3r+Mstt7B82TJ0IewFWYyiwpqL4WQwDQ3TNNRP9ZoGAUMnFDQJBUxPaqM07o73vq5jmIYi0F5SqUvespRMJWCaWI5DVzLN2tYMlqtLoF6RbrkuXXepSMTRXAcxnRQLu1AwQMDUcfJ59bqaFDieFEbmGkpgoyQvjjqHEHZL17EMQ01OlGxGCfW9RQOJsOuBAEYozMmnfoPhY8ZAQCYRviXkF2Wsby/EvdhfN998M2+//fb7ElUTiQSHH344BxxwwCa71o+4l2HE+8S9DCBuRRNiYeZ5/OqFEI18FZRWCZRvB3moF5KxCqW31an0jLJHc92gilB52VOyDF3IoipaqalvxJ7Z392ma0rR6Qk/CxrR4uqvyuEqyjxLLNDke0i+gIp+EBt/7B66Urneori05HNtBVSf4iHFYi2FiZTCVb7avTIrnoWd6G69nz1t3kqrMX4QUv4k6lPsXP/UnwgCLo6dLxRQ0pH/5s6Zy4knfJXVS5ai2RYmqH+KNOsapuYQC+tEwga9EjFCOti5NH3rqgkHdOLRMOFQmHw+R0RIvOsQlEh2KEAwaKrk12ICa65A3i3Lob2ji9mLGmhJ2mTyrtq/siKBlU4zeuhgKiIB8ulOqqoqMQI6oVAALZfFsbLowYAiKLlcDkfTyeUdsnnI5izSGQvb1Ug7FlrAJNWRIm+5BMNhMlZarRRkMxm1vxuOccn1f2Tvw76CGYz7xP0TGYOfzEm2N+KeyWRYvHgxM2bMQD67eLUPGjSIXXfdlYEDB34g6HIPWVZJBeMZM2ZsHF78ZHrsc3wWn7h/Op3nEXcHzTVBk/p8MnS7oy/Km1jeU8S9EM1VskxZwk0psu04YTRDbgAh4HLsRmW1FTcvVCEsqfHnTRAKxH2DvlSsEHoWM5HTetEwWXZ2cTTl5bCBhvewS1NOCqVEtKghlXN9GIn9dPDfnLN6n1bVTkQr6GSFuDuaEHevx4pFV7zyMO8vnb7p85RiszlX4u/jI/B5RcDFdSxvkqt59HzOO+9y0lePo37pUoJA1NAxXQdT04iEDAKaQyISoLoyQm0iQpA8bj5FXXWcmkRMkXOJsAuRNoS0G7qKjptBE1007/Ls1BzMQIBMLks+bxMKhelIZli6uoXG9iwtXVlilb1wLJt4KEBVwKBfdYIAFrFEBEf3Ag9hCWxgYdkWmq7haBo52yWbd0hnIWdrZHMOqUyenLjlyPPZ0kmnsriGjqWL9CdPPpMlk3Ho0AKcd9X17HnUsUSjlT2CNZ/XHvav20NgeyPu5ep3zSfuWw6lT9y3HLNyHOGRQo/6ec4GQrA9ou4V/ZC/vYi7WpgtRK/Ve1pKvec6YdAlQaRIjrslNFrBNq1gnLYhPuydr9sJwcvnKhYTcQrrAJ5HsaRybXBYk+8jTSYbEJB3CuF5+en9Wlp8pCTxS731+VwO3mDnVtDQFvtdlsBVulsBHF2BWLrC4EfSy3GP+G18QRAQTbo8UnRT/Zw98x2+duLx1C9ZTNTQiAcNDNdWxD0eDlCTCBENGsTDJjWVEapiQXQ3i5vPqKh7LBbBMHTCwSCZVBq5/8ygSF7kLnTU40bcY0LhEOlshlw2TyAYJGdDa5fFomVraUulsVyDykQFYcMg7NrUJSLEpB3TJRQLY8gzMC9SG51MNqNkOIFgiLzjkLMgk3PIWqjoe0dXhrzrks7lCWphUsmc+t0JyspoHitrkctCY87lrEt/z77HfZVIvPIL0sH+x/CJ+9aPAZ+4bwV2PnHfCtDKdIgXH/eIs/dPffMUfpdofCEyruQwHlNUAXItq/bVCOIixF0rRO69w5WeUvkbF0h5iSFyz/Li3VFjL1oPtkTWC5+vINRR7YhmU+JmEoIXP8nhkNgAACAASURBVIgiNe2eAsi1dxcl6X7980tiuyPuRR2ulzxX7CFvwiSx92JpRS+i6G8+Aj4C3Qi4kgCqEkYN9Zh59623+eZJJ7Ju5VKimkNVJEA0oCnduUhh+lSGqEpE0JwcNVUx+tZWoZPHcTJEggbV1ZVeNDwSwcrmlNZc9PCGCXk7j2FoBEOBghG8Rk7JWTKEwzHWNLWTt3VWN6wjmclSkajAdCXqr5EImIRMeSZaVFTGCYdC2BlPny/tS4Rf1huNQADb0cnb0JlMK7lMJmspom67BrmUjW3rdKWzJK2cCtBYmRyOHWJdFs745aV86YQTCMVEKuNvXxQE/Ij71vWkT9y3AjefuG8FaGU6xNOL91SMFxOrVAS3IFNR0Xel15AvFaNA1uUihLx7tmUSgVdOCkX34wJxVw4JG7izRzK9uHxBKlPwKVbyeEP5Nmwg7l4cX65DlogLPsUF27RCsW91Bd5Zvespklp5VRUj+TxTWXG2kE9RuuygiHtxatONpucwLfZuPnEv0+3hN/OFQUCcWmTO7wUmZr85g+98/RTWLVtEVIdeMZ2qhOjWA0RDOhEtS7/e1UTCJrFoiMqKCKbpEg6Jc0ueaDSs5CyRSFh5o1t5sZp0VeJrzsqoxNVgMKC07roq8qSTSqYwTJP169vQzCDNra20dXaQzeboXd2LfDJFPBxSxD0UMDACEAmHMXVTPYdD4gRju1iWixGUNg0VROnoTJLLWyoRtqMrhaYFSbZmcJwA6bxDc1en6sV8Jo9tB2lIw7cvvIR9jz+RUIVP3L8wQ9yXymx1V/rEfSug84n7VoBWlkO6pTLF1MZis4r6FTyJPfIuESupHiIUWaK6hai6knAUNe5eqUHlZFBgzxtyQ5UhsReL79484q5STSWg7+iKuIvsRUi6ouFqFiD0u/BCQSIi7ysdqYr0e0VLvD26ibsn+fHa+dxWCPQyUHEVEB42ImlSsialo+nGRSZUnt+zXw2xLLeH38gXBoFiKECeMXI/zXnjdX7wza/TtGIxCRNq4jqJaIB4PKIi7VE9Q0U8TF3vXhimRjQWpq6uikBQRzdcuro6qOtTSzgSRtcCWI44uVgqKp7Np9XvkWhUucYo20Uh32i0trQT0E3WrVtHzsrS1t5GMpWmV3Utqc4k0WAY3bWpqYrj2BkSlXGC4agKS9iOS9AMoxuSpOooyYysXmYyWfWzK52iva2DbCqLkzFIJm0sDFo6O0ml0+TTeSw7yLq0xmnn/4q9jj2BYDzhPyy+MKPc17hvbVf6xH0rkPOJ+1aAVoZDPJ9iS5HtnCUlwF0C4bAihKKtlGVZU+zF8ln1haSSH8VizBCdqCRHelZobj6vvtxc8Uc2g7jKDkb+2WTSGbXc6+QtVblPYuCOk1e2ZKo5idKL7tR26OroIhoXn2GdbN4mEBArBwdDSKstUWfJPtVxXI2s49m6CWk3dZS7Q8D0CovIF5wpUS71GTzmLpZun8vNcrHyFlrIUE4SxWRUU7NxLEsWzdXsxtVMbHQ1QdmwFaooFku9fy4/v3/RPgJlQECIu1gmao6GrhvMfe1lfvrd08m3rkXPdhINwIB+1UTjIaVfrwjZBEyNioo4AwcPIiB690SUcDxKMGyC4ZLNZoirv+PqeWhbkoAaoLNTItxC1nXi8TipVJpgIEQ+b2GLKbuVI9nZRkdHM6l0F22t7XQm8wwdMpKuti5qqirJptvV9TQ0rqH3oMFoRoC80rpHSCQqSXYllewnEomQziSVfWRzcyPpZBcRI0j9svWKuNtakK5MmrbWZtpa5LoiNGVNvnne/zHtK8cRqhCNu79CV4Yh9plowpfKbF03+MR9K3DziftWgFaWQxzyVk4RYHEPztreUm/edlRlwUgoRC6XVR7EyiZNllvzOTQh3UaArmSWaChAQNXQzqEZnjmhpRkIX9Y0ifdIARLvS01s1mzHQheSrwqOeEmjti3aUjFpE4cEIf+mJ7kRcq7JldnY+RzBYIhcNqciUDlLEjF18nJ94oVs6Nj5LIGAWLGJ641BLpMjFIoolwUz4K0SfO62QjEW29DJopGTlQnNISTL8sqeUyY+Lqm8jasHCevF9OLumi2q8MyGydTnDgH/gn0EPjYCirgrz3VdFUp696Xn+cl3v03MbqNXVEO3U4q0V9XUKJJeVxWiqipOJBqj/+BBasJcU1dLvLKCZCZJTW01y1YsZcSIEbS3pwiGYqq4UyrVRV3vWkXe5b5LdqWora1TjrdZ0ZhbNh0ta6mMB2hrXU9XVyvr1jXR1JKkb79hhENx9RyriJoEjRzBqIEVCJGoqMZxdEwzQigYVS418gyV553o6ZtbGulVU83q5UvIdyXJdTmkUi6NzR3YuktrcxOtjS04TpDmXJATfvhTdjvieMKVtT5x/9ij67PTgE/ct64vfOK+Fbj5xH0rQCvDIY5j4ygibSpnArEOEzJtuS65vEtQdJZivyhfEEKORSmjO3RkspjhMJalETIgJFFey0bTLXLSgBkmLdF7Q4XU1bHiYWyoiLGFLclbUqhEM1VylVicCamXZpTnsexv2wQlyu9ayppNc2xF7r3cU5O8SsxylQ2bJhUHrZwip7pE1tWEwKuQKAQ+n8sTiX5OtZyOq5a53WiEDumjgPf5ZKoVEumM7SoL/LyL8mjuE9Y9IZP0g+hrVXVFT0rUnVNQzDHwV8nLcBv5TXwOEBDibju2Iu6ySjj/9Vf4xVn/DzrXMLBXnEhAXGFMKmqqVVJpdVWYRCJKbe++xCqrGDZyNGsa1lHXvy+Jmhoy6aRMBWhYs5baur4qUTQWjWLZeWU9KauV8jyToIW4uEbCMcKRmHKYSTWvIJNsBCdDc2MDXaksqYxGS3ueceMmEzR1WptXEQ3mqKiMYIk8xgxTEa8hnxf/dqjpVUtbaxtV1ZVEoiaNjQ3YTg6yadJt7RhWiKVL1hJNVNGV6mRN/Uram1tIdmRos8Mc+e0fsttXvkq4ss4n7p+D8bu5l+gT981Fqud+PnHfCtx84r4VoJXxkI5UEj0QobkzzbPPv8iK1auIV1Zx8EFfpqa6klDA5cknXmTqxPH0G9Aby3D5298f4ctfPpABfWPUL2qmq6OBiZOGYQSj/OeZ6bz1zmzyVopxY8ZxyEFfpmHtOqorK6irS6gvNMuFtvYuVdq7orJCRaRamlpYtHQZmhFk/A6jiIbCBHUHw7G9SYAlS8UhRFH/9ntLGDZyCLNmvsOeu+2s7NgkKi+R94Bh4Apxd2wlm5FVhKiUBC8jZp9UU7YFTzwzncl77cHTr73DuwuXYbsZJo8fywF7T2HWm/N54ZXpdOUsRgwbw2lHfonqsFcwS3zfhbh7n7s0t8CT3ChC/0l9EP88PgKfIgJC3MUHXQR/umOz4I1XuPzCcwhmWqkOQ11Ngkg8ihGO0Kt3LcGgQ1VNtXoWBaIJOtM59t3/QNLZvFqRlBXBREUF6XQXWRuqq6tpWr+eisoEmXSaUDCkdO5dnWlqautIdqa56PyLqKyo4NeXnMXaVfOpiJssWzifZMbC0eIYoVrmvLeEO+98mJOPn8Z+e03CdVJEq3rjOCaxWBXxWC8MQ8h8CCubZdmSBcybN5f9DtgT0wQrmyLbmYS0BC4CrFi5lr/e/k+m7jiavr3i1K9aR3Na59BTv8fuR0rE3Sfun+KwLPupfeK+dZD6xH0rcPOJ+1aAVoZDJHot/r9GUKcr6/Lc9DcYOmoktX1qyOQt6levZeSowaRSeWbNmKskMfvsO4lO2+a2Ox9nx0k7MX50X9Yt78TKNLDLLmPJOvD8a7PZYco4AsEAq1auYfmStUzeYSzxWJCFC5aQzaYZPXYMs+cuUAR+8qRJLFm0hL61teQdl4bGDkzTIp1OMm3KeIK6Sdu6dQzq35f6+nWYwTB3Pf4cex+4F0FdtKl1LF+6ko7WVsaOHklVVYw5cxeQEn19OMwO40bSJ2goqc/nbbNs+PfDT7PXVw7kxXdWMGzCEAJBmPXGPKbtNI4lC5YzaFhfzFiYBXPXsMvAavpXBNVqSSHtV8meJEehe/OJ++dtHPjX+/EQkOi4RMElMVTMzOe++iJX/uKn1JgWfSqD1PWqJJKI05HOUlVXS/8BvQiFI/QdOJjb7rifdD7P/zvrHKoqqglGomiGZ1S7etUKGtatV8Xhdt9zT3KZFOlkUuXYiLNMIJLgbzf9hfvvfYChQ4YwbdedOebo/TH1FK3N9STCQZavXEtrp8vDj8/ghemvs++++zNxTIIpEwdh6nl61/bDEG17dR/emTGHF1+eweLFy+ns7CKd6WTPvb7EGT/6Bk4uhW3nCGomnU0p/vXPB7n//mfYc98pDB9UweC+vWmoX8/KphT7ffVU9jz6BEKVvfyI+8cbWp+po33ivnXd4RP3rcDNJ+5bAVoZDpGoazprowUN1jd38eRzL/OVY7/M/EWrefzJZxjQfzCHHbYvS5c1UF0Zo2HVekaNHka4KsC9Dz7HbtMmods62Q6RurQzakw/jECQl2fMZ8wOIwmGTLVMfNc/H2e3XXYin7NpalzP5MkjiSVirFi1mnTOoV+/wbz5ygymTZ3C2+8uUvZp4ybU0by+nYAWZOiQviyeP5dpU3bgsUefY78D9uaOx15h74N2Y9mSZoYO7sei+bPYYdxw3nzjPfbfbzfu/feDHPqVA5g/fxEH7jmFfgFxnP/8baJpf/CJF9ntoH146LmZzF6yAsvO0KuyktO+fhjvzljMa2+8QdZ2GDJgKN8/Yk+qApIf4FVcNQ3JL8hjSjhuw/ZJEfdilYCN4/qbsrMs7tOzUJay/FR2ot3Wod1W/aWrCJvTt8VzFC00S+VDpddauh7xQb9v6tzFa/yw47uxKJ59c67c3+fjI2BZtkq61+wcC996jT9dehEJN0XEcFi1aiXtKZeOrE6vWp3v/79vUde7N/m8wTnnXkpXJs/3zvw2X/vWt0gqwpzj0kt+S21NL955dx4YNnfdd7dXLVU3SLZ1KIeYn/7kp8ybs5SamgQBM0hnVwfnX3Q2g4fUYuc6icfCzJu/jAsuvokVa9Zjuxq9amqpqwlz8XmnMHxQHTWVvXnj1bd4afobvPHqbCqqqnFd8YkPEomFOOlrx7PT1B2IRiQBNk+yM8P5P76QxvVtDBkymFWrV6r2jjxkf7KpNItWN7PnkSexx7EnE4pX+8tuH39ofWZa8In71nWFT9y3AjefuG8FaGU4RJI2LcfF1jRF/O558DEOP+IQjHCQTB5mz1nJ8BF9ue++J0D0oQ4MHTqQvffdmYcefpJjjz2EGW8sADdIdZXOmHFDlETj9TfeY9LkUapIyLr1KV559W3GjhtB/75x3np7IctWrGXnXXYhHDXRTZtQuBcd61YzdthgXnp9NqFYjIk7DFQFQxrXddC3Xx8WL13CpImjee6p6Rx20J7885GnOfzog3hnVj21tTVY+VbGjurP/56YybSpO/LWW69xyKF7MPPNOew6eQJ1IY3Po7GMrGDc/eATHHj4wTz7ytvs8aUpWBq89OJMdt95JxbNmcPEccOpisUIahDTvVq3n/4mZebzKvlY6t+qolHKlEjcPbIYZg4seT+Ik8+pyZqrBUEXizupE+DJfSzR7boy8dCxHenDEHYexDTI1UQ0VVpzq9vT/v2fv5tUFy1CvUqzmybbanJQqPUrbUkidM/MAHFk6ibongOq5GAUK9iWns+j6MXKw44kY0syddHuVH0GcSEplXN1Twxk8uu97+UrCDmbN28e0WiUkSNH0tTURGtrq3IYkWep7Cf71NfXq89XVVVFZWUlmUxGuY+sXbtWJU726dOHUCi0oc2gVPbMSUJ3CEsci3RdHSN/F88vr4v0TN6TfeWY4mseThqzZ8/mxhtv5De/+Q01NTUq0p3NZtXqV/EzSHuyr7xXvF65NrkulSxfkHkV35d9pA25Frkm+ayyj7RT3F/1QAGjjfvfsaSaqZfDY7h53nnxf9x+7W+J0oFOlAcen0G/3r3o7Gpj5Nh+nH/hj6muqOEnZ/1CjbeR48YzYvwYDj3+CHr17cUzjz/FtZddzT677M3SRYvpstL8+8WnyeQyWLksTkeay849n6XzFjBu/BgyOYsVq1dSUV3JoHHDOPtnZ2NbOZYtW85p3z6H1s4cnRkXR/zfdZe+tRHOO+cUaitj/PP2/7B4/kpMLcTYkUNwLVtF80VPn7ZSHHXiERx13BHqnlmzqonzz7mYrtY0g/rXkEqnyFqSwJ/hsP13p7amkkX1Ley0/7HsfsQphCt94v7pPyvLdwU+cd86LH3ivhW4+cR9K0ArwyFCJ/KWg6OrEkosXbmGJStWs2Z9A1ogxqjRY5R7gRCHyZOGKk/1d2YtZuDAGl6a/jLHHXMEyWSeRx55lgk7DFdkXXIgX5r+Fs3NLcoaMhZPMG7sMNY1tRGJxFlVv5zmls7/z951wMlVVt/z2vSZ7dlNNgkJARISCL2KQhCkKKCC0kRREQsiCDYUAQVFAQVEsYANQRARG91/6DV0EiMgNXWT7Tv1zWv/37lv3u4kJBKGAIt+T8Puzrx63vdmzr3fueeirX0iuqe04fHHn8Jee++F5c89h5mbTMZdDz2BTHMLRob7YWkatpu7JTJNTbh1/gPIpFOoFkZw0P574U833oq2rkkwjSbMmtWNhx9aAM+1kct0YMdtt8Rdd96NDxw8DwsWPImdt9sG2ZjQx7fdUvECXH/DP7DXvnvjpv+7E4jFpCjOshLY8527YOm/n8dmU7rRzgYxJCXjRrTO0cU28/TNZiEyaWro4++5JZRLfSgWBhEzs0hYBuKZNDQrhSAgkbSkAJn+15rhw/ds1hhLltFAHNT9k/gG0ogqLNalVEGa6gp7DG8zm3ZF/veh9ehoD7HwTLj/Wu3DK3PkYTuraL3QlWdsH+HvdTut/Tq63ijxr51L3bbUWwvB19gcLCL4IekdW2rdcWvtD/geCTJnTgYGBnDGGWcIgf3Zz36GBQsW4Etf+hJ23nlneZ0WhCTyn//852XdD33oQ/jEJz4hpJ2E/6tf/SomT56M733ve8jlcrJfEnCSfcGjdh7i7FQj2OIC5YeWitwPl+jvtYn2Sy+9JKT9wgsvRDablf1xHS4k4jwOiXe0iE1j7ZgRYY+CIl4vCTvPj69xWx6//jzlXoxFY2vhWDuKyyJuOl5xdLlYdM8/cNn5Z6It6cJxLPz15sfgw0AqYeBd79oGnz3xWPzj5v/DX/80H3NmzsJgqYylvStw4mkn4cD3vw+333ALfn/ZFQjyPjzbxQ577IJPn3Uaqqgi19yGsz59AnqeeR4t2QzSuSwKdhkDhWHsfeB+2PPde8BKJbF40bP46lfOxMBQBdVAw0C+BEI7Z9YmOPrD+2PP3bfDuWd/Dw8/ugqTOtoRNwzEpdbHxuTuSdhxp+0xdfZMzNlqc+l/YSTSOOWEr2LVSyvRkmIQ5EggQenjge/ZHRPbU6gUhvHc8iFsusM+2OP9xyKRa1UZ97fdt8L6T1gR98ZupiLuDeCmiHsDoG2ETTzPDVt1WxZKlSr0mAmHZAcBqqRPtCB0auRGq2VyAxZ5+dL222UGlLxMvNNpte6GX9I6iRrdUALEknr4RVojSRU3gK4x06+LfbCsV/LQljEQ1zRxo6E8hP7rGcmSh02HSGBJa+LczA9gc5e+hrKtIZdm2+8qTMNEMsaspSadDNkBkRr+hKGLFn7ccNrXcO9I3wbzNuLZOJwgEMvOYpUe9ybSlga7WEYuEYcl7j30qB4vV1kj7rzJJO5wxoi7U8Dq1S9g1crlMJAUu894MoHuqdORzHUgcOhNH4emszNkFZrOZlMcW8xo69B8yn7MsHFXmOCWwJOXLlnyUeK+Rn+qsF9VjeAJTutN0EuLTQ5CBJwxkELnkNpzu9CwJ8zghs3JxpY1uHcUHDCTzvHqMWvuy0wBnz2O17CIWvLx0qRnbeLOd8IGPlE2PyTMy5YtExLf3d0tzXx23XVXybb/+te/xrRp0/D0008LWR8aGsKBBx6Iiy++GKVSCb/5zW9wwQUX4KijjsIpp5wiRZUk1cViUbLZ3GeEEQl99Duf4UhuVS6X5Xy4fpQhj0g5/3755ZclKOBxSNy5bhR0rJ25Hx4eFhIfEfP6THxE9rktyXq0Lcl/9HsUXNTjs2YAFBF3gB85LnzE4GDhPfPx24vORmeOrlkp/O4Pd0sfhLbWNN6x+zY46mOH4rSTT8e7994LLz2/DH0jeex/6EH48MePghdU8cxTi3H+N7+LCclWJKw4tt5pOxxx6udR1Tz84de/wa2/vw5bzZghTjPFqo1Bu4jjTzoBk7fYFOXB5ZxEwmc/fSaGBgoSMBQqBawc6MEOO83FpZd8E3fcdgsSMHDe9y7DYMnAxM5JyKSSmDqxFWed8VU0tbegPDKCgaF+6YmRam7BeedfgvvvWYBpXW0IKkWZPZiz1Swc9+ljYQQF5PuWoJQfwsohBx2b74ad9j8KydYJSuP+Gj6Px/uqirg3docUcW8AN0XcGwBtY2ziuyKBIenWDBNuoIUe7iRCgYtYnIaDYaYzCPi1potnuONUYLAft2RTdWm+5NIPnp2Q2IhbM+C4zHayRVPY/IjkhOxFHGU8B5ZBS0ce3ocZM6A5VZgkMXzdY0Y1dEUhQWIzJjPOjBv9y9mUqQpWaLKXCaeM2ZgkHgvJAYvPpAGTwdcriFkxOLaLZOLtqHDnfWBzJcB2KWkK4DL1XCOcJI0MSJijpl0m8WKjlvERoTD8c4S0M+TTNEpe6Gfpira3VOqDXSkibmSlC2XFLsLxXLS1TUJbx5Sa2aUhWVK2kvf9KnRm2X0RmCBwNWh6mHkNE991shdhwrUMeU0fL+9HWfNQeyIdfkVaEYnmhYSHkQDrA+i5zVS/YZjwHFfa1Y9149WEuDNi4DlptekcaULGYLN2k9YmkZKl12xZh4EnsWHnTel4KzsZa4YTdfvkAGCmOSLOHOe33HKLyF/e8Y53CHk+9thj8cgjj+C8887DwQcfjGuuuUay3jxOR0cHbrrpJvn9mGOOkaw7M/N77703rrvuOvzzn/9Eb2+veJIzANh///3xt7/9TfbHfe2yyy7yXL/44ov44x//KCT7hBNOkGw+98sMO8+NUpjDDz9czueTn/wk3v3ud0uwwCBh9uzZEmDcfffdeOaZZ5BOpzF37lzZN8k9l5///Ody/KeeekqI+iGHHCJBxb333iuvMbiYOXOmbMPghAuPFQZUY4HNOom7x3kqkncNZlDFonv/gb/88kew88vQ1j4Fv7v6TpQcH81NKZz5zVPwz8WP4+mFizGlaxIGBvNomzgRJ595Ggp2HolUAkuXLMcvv3chupsmoFwsY/O5c3Dkl0/C4oVP4syvfBX77rgbTMdHsZyHn4jjg5/4CNqmdWOwbxWaUsDtN87HpRdfjVS8W5ILLyx9Fltvvym+fNpHMNC3FNVCBQmk8MOLfo3lwzHEYwm05lLYatZ0NDcl8fijC7Bq1RBmzZ6O7//wh3j6medx/KdPxoS2VsS0MDjZfLNN8O2zz8BIoQ89y56G7gyB01WrhwM0Td8Z2847DIm2LkXcN8Z36TjZhyLujd0IRdwbwE0R9wZA2xib1PzPaXnGrJ5L7/WYJV9w1K9SjsB/QtSlyZGJcpn60pjYN3o+nRp8JOIpOK4tjUBCIkXiQj1pSJboIsNGSGFekTzJkewii8W4DjsUkvDwGGXbFTcHcinHrQjBZ6dD+XqWaXtffJh97kn00wwqfOlKyEPHrEQ4vc9uouzqKpl6HfoariobA7w3ax8eqrYNM56QOoQqNcDsThsEiDGTy7+l0630RA/F3+Mi6U7a6Qj2DO6CoATPqcB3bHhuHoODK6Qjb0drt9xjL7CxunelkJhJ3VsgmW6jab0ElExrF4vD4C0kgSepsysVGU8M3ELZCWBZMaHc7DTLPgGc+WFmm4TbZcOaWjdLkkHXcaRVPAmkH7A7L7vuhk16EHhy7nTi4cwNd+65ATLZHJyqC03X5X441Sqq5Ypk+hlP8Vng+GcmuupU5b5lstlQUiIt6i0UC3nwkkzDQomt6WEhm22FbsbDjLuQ91Ciw6iAM2LRDY0IKQksSTm161/+8pdl/3fccQeOP/54Icxf+9rX8K1vfUtI9Xve8x7ceOONQtB5XiTc1LiT2F9yySXyHmUz73rXu4RUMwN+2mmnSaaeUpftt98el19+uejp+fOiiy7Ce9/7XjkGj83P7t13312CZi4k1ZTpnHnmmfjMZz4jxJs6fGb2P/7xj8uxGBhQlz9//nwh++eee67IezgzQPkP93HYYYdhm222kUDkhRdewLx58yRQeeihh4TE8/q23nrrNWYIoidy3cTdk4QEcw2GX8WTd9+KP//yIkxsZeIhh5//6jZUXA+tbTkcctC78dTj92NCaxtSsTQMK45jv3Ai4pk4jKSJeDyG5ctW4KqLfopNWruQL5Ywa4dtsM8Rh+HPf/sL7r3hFmw1aRM0J1NY3b8am+2wLeYdcoD0YBjOD6OjJYUTP3kihnp1uJU08oUy+kaW41dXnY9SZQlWrXoRKSOOpf9eic5Js3H13+/Dw48+ibmzt0C1PIhMysBAXw98V8ePL70ITW0d+MlPf4HfX3UDJk/qEKealkwMH/voEZg5azqK5QF4lT4E9qAQ92V9DhITt8GO7zkKidZORdzfrI/yN+E4irg3BrIi7g3gpoh7A6BtjE0CShCYMqQOJiQMlKiERXvMYgFujZBXq8xeJ0W+UKnQpzgxShBJSighCAkzs6Jhdj3MiAVijSaNnnTaT1ZhGcyUhoWK/CU/MhJm3Zg90w2R4kQkjFaGJO5cl0EEvZG5ns4CttHj1bKtGhXDzGSG769pVv42bevNLLU0wSKN0+DWOtESXbtaRcI0pTutY5cFVxHJjhPizmZbkkGWLu+DsCsFuNUSslkL5X5hkgAAIABJREFUhfxqBJ6P5paJks32vBIQ2FjZ0wvXszB52mzEEy3whHADvX090HUPvldFKk3iXpJZHpFpMegzDCHhlHHwH+UXzAK7riNBI5vfkJQyICUJJbnj7ySOka6a45X7Ajv1+lVkMmlUKlXY7GwVaOjsnIhisSy9BFLZLIYHBjAyUoDFplgag0dH9sexXCgUhPxOmjRp9BxJnHt6epBJpRGLJTEwOAJNi2FC1xQkEllgHcQ90vBHkhCeI6+PxJ3HIYHmwmw2SToz0pdddhnOOussPP/88/jOd74jhJkEmOSa+va2tjYh7H/5y1/Q3t6ObbfdVrLo999/P77yla9gp512En38pz71KQkOfvnLX6Krqwtf/OIXceutt0oQQKwpxbnnnnsEy6hAlfdj0aJF+OEPfyhSGRanEucvfOELmDJlipD9qCiVARgz9CTyH/vYx3DooYfiAx/4gJB2au+vvfZa/Pa3v8WvfvUrmTXg/eS9YgDBAliSdwYEkUZ+fYWpEvP7YeDGu2vBw5N33YQ//vwCNCermNA1HT/4yQ1wAx9z5szC0iVP4x07zkXSMrF65Sp89FOfwq7v2B15twwkLAnIBgeHceUPLsHcaZthycoezNl9F+x9+Adxxc9/hkfuuAc7z9gSgW1j0uRuLH75BXzoc59CV2cHqoGLVCKGQ957GGJoQ+CmUCiU0D+yAvscuAtO/don8cSj90P3fLTl2vHUoiU4/yd/QC7XiqZ0HMm4AxMVbLftHOy2227Ycced0ds7gG+e+R2pDxkYGEFLLoWWdAKdnc044fPHoeqMwK30ozy0Uoj7yiEfbnZz7PK+jyLTpoj7xvgqHS/7UMS9sTuhiHsDuCni3gBoG2WTMCsdOmaEWb6oxkt4txDrkMiE6gwS43DdcEqfUhjSyajALiLHYb5QZAGj63M97oti35rLiPzNwIF/1zTHowV/obPImGEfC/pCGYIEGvKTEUK0BqUG9eR8XLDX13+XGFzJfAOvmWrwENNQyT8qG5c27iK4lohrPFx7AI8zK8wg+wGGB5YiZgWImQysinCdEelsm05NgCcuGQ78oAzbrmLFigF0TpqBXGu3OMyMDBdhVytIxHUMD/fCND00N2dRrpSQqDmglCtlNOWaUCyVUMjnhdBxYet5Evd0pglDgyNwXAddnZ0oFIpIpZKha0oyiYH+fiHClXIFVoxuKgXEYhZSqQz6+wdhGjFk6cxStpFJ5xCLJ5DPj8BmF2FLl7oNmaUyTaRTYQAxPDIshJOEngGBFI0ODCCRiMvM0MDgMHQjgfYJk2EYcegic1oz415P3KMAg+f8zW9+U8g0depR4ejnPvc53Hnnnbj66qtFYz516lQhzMcddxze9773CTn/wQ9+IAT8s5/9rAQWTzzxhGS0KXehZObJJ5+UzDcJ/0c/+lEsWbJEttluu+3wzne+E3PmzMFVV10lWfuTTjpJSPcOO+wg5HmLLbaQoIiSmnPOOQfnn3++BAaU5nAmgPIbBg31xa98j4EG1z/iiCMkU7/jjjvKuZHMU2az5ZZbjhbJEkvugwEAZwaYdY/072sXrK7x8MksCovwA5iBi6fuuhn33XAVigMvoqt7M1x46Y0wkgm0trWgKRtDRyaGSn4Ye++5Jw478nA4vocSZ3uyaZndGxkp4tIzz8Zuc+biny88hx323RsHHvlh3PznP+PvV/0B0zKtaEmmYcQs5J0KlvaswJTNpmG/gw7GrB13xkeOOhaDvXl4dlgzsWT5cphpC9NndGCvvXbC9nO3QDpm4ZxzfoinX/TQ2pKD55RxyPveifcfPA+ZVExqWuxyFdlcG8477yI8/viLmLrJFFSrNia2N8MyfKzuXYEddtwK8961I1rTOoYH+lEMMhgxJ2GnA45GuqVjnAT6r/+jUu0BUMS9sVGgiHsDuCni3gBoG2mTiPquUWNX48L8mtOFNK5JxOntQd07ZSthVpULM9w1oa9U7PE9+oWHJDJU/db0qKP+LqShHrSAUphat08h8iSghhSL8UuNXNSQ43Af4eshRQ/3FwUV/wmS8UBlG7pl1GJHxH10CoF7ioIUznSEnF0WPdJ6N3S0jbiR9KoUbYIW+CgMr0Tc9GCy0BQVDPQtF6Lb1TkDGsmq5gBeGbQoXbmqH1Yyh67JW8D3DBQKtkhNYnEDVbsAwwoQtyzkiwWZZaAcpkKrwFitJkMLLRP5N72uRRaPUA7GbrqpFDPpZcRicdFgM3vc398vZD/MBjsyrinlSiZTIo+JHGiqVVey6slkWt4vl8pIJCyp8+C+qnYV8URY5Blm9JOS9Sex5e92pQzDon6ez4cBV7T6MSRS2VBOFonlZbSPueaEmviwEy6JOzXqEyZMEPIcubr84he/kEz3vvvuK/p0vkeNOrPnJMIk+M8++yyuv/560bMzu84sO11bSIA333xzycQzk8tiVhL0r3/965K9p2MNJTLf+MY3RJLDfbEAlm42xI7nMH36dMmyM1hiYPHjH/9YiDs16pTDkLhHWvQoS06ST+tIHoMZfF4Xz4U6+JNPPlky/ryXXCI3Gs5mcGFwQTlNZBkpnwV1rjj1g1lqI3hvSdx9B0/eeRPuu+H3MLxemPFm/Pw3d2Kk6iDXnMOUrjagPIJ37rITPvO1LwEDqzFcKSHd1ooCa3HMmARmPzztdGw2oQtLBvqx96EfxL7HfBiFZStwy7V/xgM33IZpXZNEHkVHGbHhXLECpUoFnz/7uyj6Ab59+jexqqcHppVAqeJi9UAJ1YC9F4Ddd52Lb535GXz962fiscf7kEmmRJZ1/Kfej33m7Yy4yd4ZmgSu6WQKFdvFN08/F4PDJbS0tSNhBOJoQ2lOPj+A7q4mnPiZj0pN08u9ZQxbXdjzA59Esql5Iz7zaldvNQKKuDd2BxRxbwA3RdwbAG0jbUL6EHG+iGRHuw6V6iFBDteqZdBHCTqJxTqIOwmHRtqxpgEj7ST5+mi2ONo35Q61bLkpZC8kNY5G7TNgavQQCYk7XydxD3P+4b6iRQoQ19KJjGXsNxJgb/JuwhmQsTsUBi/RK2PkffSejaMIhSOAhJca/FKhR4i7HtjQ9CpWr34ZlVIV3ZNnwTBYOOzAcQowDR29A4MoVFxsuvk2gE4pSwwaAwC5Nnq/Uz5kwq2S5FAXHlXranCrjhSxjgwPCzFPpVMyUjxXg0GveBbwUnrFglKSYUpjdANONfQID0dQOH6l0JRZcJl8qkWQYotIfs1C7ZqrDF9gkQHfk+JUTo5EY792bqNdo7gxJT6eFNeSwNtVX44tGfdXFKeGxbdrE3dmpilDIXGW8wsCka0ww07ZCv9deeWV2GqrrfDtb38bV1xxhWT8Sa4pd7nvvvtECsMZgZ/85CeSSefrlNJQY06bSTrXMKPOIlNm90nqL730UikqjeRJkWPMyMiIaOZnzZolenmeF/Xw3D+z6symc/8MjuodYpjxp96ex6WkhwSeZJzBCWU0/JvnxtkCHpP/+Dt1/gygon0RA+mMWrOqXPsx5f1mcoAFySYcPDH/Bsy/7nJ05Dzky8CV19+PJatK0jSuNZfAjM4OvG+/fTBvvz3RFNehpxJiJembFqx4EsWBYfz64ouRX7ES6Qkd2PtDh2L2rjtIfUVzKosnb7sDN1z3J7mOVDoNSzNgeqHjzq6HfhBHfO7TWPTwg7j6yqtw620PIdB1DObLcDwWPbNWR8f5550i215wwW/x9OLnpRXCZz51GHbefjYmd7Zj4ZNPoHf1Ehz8vgPEvcaMpfG73/0Bjz2+EG6xJDM/fAY830M5vxqfPPYIbDl7Czy9pBeFZDd2OfAo5Jpa3+RPNHW4NxIBRdwbQ1cR9wZwU8S9AdA2yiahVEYWccIYo+xrE+JQkUKFtXx71bZhFiuy+YuFEhjZF18nbQvXi4Q0Y6c8VnAX0lJfxDhcz6RPGuUhmoEqm/OI8R+bptCVxIdPwqaZQm+if+F+wwY/a8/7ijVgwCLGjQLYm74TqZVksCPXFhJKkcXUkJXQqk4iNJ4uk3c1oGUoAhTzK5DQXehiNFpB/8By2BUXEzo3F892zt5QCmBYGnoH+pEvV7D5ltvADxLQtLQUqkbFyULcAwNMxLKgWfTfET+u1TeM2Q46UlQdWklqUlDNglaxdaxZPEbr8mf4O58FP/SBH22+FPm+E+5wlkNqOmozRWF8FdVa1I30Gt8Pa4fDWSdeK2+Z/M33WXzNAIdByOgSNWCqzaisI+NOEkyNe3T+lLtQksIsNrPnJOuUlTBzTqLP9UjsKa8hcWfxKIk1CTYJJrXjN998s6xLeQ3JP7P2d911l0hgqFEncWcWnftilj3CjPeAGX/+pMPNqaeeKo43kcsM9egk96effrpk0bkdz5eZecphKOVhRp8SHxJ3ZuRZXEv7SgYedKXhOZKcM8ghQY8y7VFQU+8xv/aDykCJXUn5+WBqHp68/e+49ZqfoSlRhu3Hce3fH8RzSwuSJdCDAFtNnYiWdEyCzd123R5Tt9wCu+y6KzJdE2EXKpJx/+l3vosW08Dq/AiOOekLmLn7zigPD0OveojrBnpWrMTCRx7BPffeA9gOzLKDkaFhzJ63B4496bMojfRLoPfgQ0/gN7+9Hg8//gxslvBoGpJJHWed9QXsPW8vnHH2j3D9H29CLkVt/L4oDPeiZ1kfeleuwgH7b4VPHXc0HKcotReGkUDPyn48+sBDePC+hzCxawpKFRt2cRDvPWBP7DnvnVi8bDWGzQ5sv89haGmZMD5KYt70T9b/zgMq4t7YfVXEvQHcFHFvALSNsYkQwFr3yRrjC+lzlMkl2akdSAhIOGUtJEo4MrOfJGJcicSdrzPd6EpzHA21v9c61zVkOaPmeyHlNnwbGgsydQuORvcUkm5Ob9tSlOrrJhw9Jrl8ZtzJ2Gptcmqa79q5S3OeUK4jmvC1DbY3Bn5vwj7CmY6QlYYO+5QWyU0Ib4UEXFGNAkny+KHuXkCplSaBRmFoKWK6A9NgYGajr38ZqraLzs5ZMosi10evdt1Dz8AqUKwyfdPZ8II4NC0DDXQLkvJp8f6X38RNJ7QBlDstxckQW8nQy9+RrHjUsEesA2vwcF0JhWqBK/+OPMSjOaiwpxPJeLguM5eRFCMMeGszPGvUVoTeSVI4vY5bER4jvEsOHYFkJXq5h77uY5v8Z+JOcs0sOF1iok6mJJOUl9xwww046KCD8N3vfley7I899pjIUKIsPF1eKOWh3SK7qxKfqDMpC1WZbY/81//xj3+A2nmS5BNPPHE0w0/7SEpgmJWnZIda+Ntvv1308MyQP/7443Iu1Nkza077Ru6HBbPU0FPuQskOdewMIJg933PPPWV7nkMUjPD4zN4zi8+iWWb9KfGhDj6SDvFnZJUZbbf2oylFxxK969I59Z933YK7b7gC1ZElaGqfjN9cOx9PvzAsrjP86OhIJdDdlkJXRwaV8jCK5QI2nT0bu+45D+/eZz+krBh+ft75SOse8hUHx3zpy2ibMgHDhTximgG/UBZno0z3RCx8+BFcfsGFaNbjWPLc89jvmEPw4ROOwwilM8UiMrkOpFum4GtfOwe/ufI6dHS2IZHUcemlP8DgQB/uuPcp/Oynv0ZMCyWCHHtdTRo4HXnGNz6NuXM3Q1NzQuon9EBDMp7GpNYJmH/bXfjF5Vdim222x4plL+LkEz+JaZtOwQt9w3ihoGOX/Q9HR9ukWt3Sm/Bhpg7xhiOgiHtjECvi3gBuirg3ANpG2SS0vgvpR41O14iEkMI1Mtg1jbpwyLrMek3CInnxIMoY1goqtdD3eu1lbeIe0VCx6yN5k6JYHb5m1cQ5ATS/ltmnfEYz6gQFtUznmhYyY1WbcmVvX+JeR9FrSNZqAKJ4Su5XiHFofDmOiLtXhaGbIk8pDK2GoVcRo1xGq2BVz4uwqzYmT94COmdWXEfuu6/5WNbTg2S2CV2TZ8DxSCrTYWBYiyIlay2NkEL7RRK3+qx51BSontgZsn5I7iNizt8j4l4/Rsc6edY3PhrDdSwI5HFDNyUJBMSaMmwqFsZbQrNqXuPM8vMooT0mNfuaWSNiteZkEvOOnsjYUxLuM7xOCSA8T5xdOjs7hdBGmW+Sb8plSHYpd9lvv/1kO+rb6ZFOLT/J+iabbCJ6cZJvkmc6tHAfJMYk1STicqa6LoScmvZ///vf4uHObDhfp50jNezUt0d4UOpC+8jQmSf0faffPPdLos0aAGb6eTxmzWkjyfUjVxrODFCWQ8vI8PMn7JRKOQ1nAkj2WQh7wAEHiDUkl8hth+tRQrO+hXjzBvDMDK+Chffehifu/AsKfS/IOPvpr/+Cfz4/KLdni2ndQLEIv5JHLpdFc85EPJWAkUjC12O4+JKLoVkWfvydc1At5mH7Ho4/6WRM2myqtBmrFIow2d9C11Gybbz44ku45NzzMDHXjoRp4JRzvgwjSSceD65Dpy0dbROm4rwLfoJr//RXjBTy2HXX3XDhxd9BuWzj8iuux08vvUwagsU1YMa0ZszdchY+fOg+mDa1E5XSEFynjPbWVrgeEx0WUmYaC+59FFf97hpMmDQBc7beDEd89MNY+dKLGHINjFht2Havg9Hc3KWI+0b5Lh0fO1HEvbH7oIh7A7gp4t4AaBt9kzH5xfp3vabEJVxvfduta90NOel6Wl9PQjfk/NYVIowfIrshV//q66wd9ozX66s1TaKe3Atgl8twqwUgoFWji77eJXCrZUyaOBmBx+w4bT81jOQLGBwpY+KUGUg2d8L1TGg6O3SSCNFPnd7m1DlbMqtTv4ife61bQNSQaVROUZuviEhmJHOJsuj1VoLRfqIAICLmJPlRVj4kjeHRwhx7KMOp7yTKgGV01ErRZLg+Zwl4XmPZ+zBAWNcyek11AYr40ItNqj5a7BkR+8hqMXqP8pJoxoHb8H3+HQUB/BlZOUbb8DxIskmw6ZnODDwz4vSKryfH0T6iDqevePpGp+vWfOetmP0S11sd0n04pjl45PYb8MQdf0XGrMBMZHDlH2/ComcHpFHbFz77EWw/axqeXfwMHn1sIfr7VmHFylXINrdjz732wPFfOBGV4gh+efllMhZfXPIiTv3KlzBl1kxUhkfgVB3ErLj0BnjphZdx8QU/RNyIYXB1P4489hjsf/Be6Fm9rOZ0VEY8mcNvfnc1rrjiz8g1J+EFLn7z619Lv4wJXZNxwilnSGEvn6O9dpuDzx3/IaQsdgCw4ZOwtzSL5IZBcjLbgnSmHff/3/34+7V/Q2trE4p+AV849Xhkc0n0949g6aoC9Nbp2Hmf9yPTrBowvfpn7ttnDUXcG7tXirg3gJsi7g2ApjZRCIxrBEhZ2ZqeWXEDgeujWh5BuTwA06hgcGA5XKeC7s6JYXGqD+QLeazuH0Rr+yS0dk0BjBQCusFI9jIWCoaCUMjl1WwySTajrGs9qa6Hpt5nvP71iNRHpFkaJdWy9xGxrielkXtLtI8xAhqS9/r91FseSngb6d8pTqsj3RtyC6NtoxmEaPt6wh0R9yjbHWnQec50t4mKO9cIXGrNq6ICU/6MMGDxJ+0g6e5C2QzdYvbaa681NO31Gvd1BR5R0LH2Nb4VxF2CDF2Hw+7LmofH7rgB9990DTqbTOhWDFdceyNWrAowe/YkHPiePTF7ky605JrR0dmFFStW45l/P4c77rpH3Iu+/6MfSSfns0//OmzHxo477yD69/YJnaMOOEGg45+L/oVf/Ozn8B0fvSt7cPTRH8ERRxwOT8sjXxqC7xtoaurAZb/6LW6/8z78a/FL6OhowfV/vR7JhIWRkWE4voZb5j+Ic87+Lj548Dwc/4kj8M+nFqCjOQ6LDc4CDy25LJLxOBPyyLa149Zb7sDjdz8GK7CwfMUyfOxzx2Ln3bZGYaQPxZKHnkEXRss0bLvne5FumagaMG3IQ/g2WUcR98ZulCLuDeCmiHsDoKlNFALjGoEAfuDUiHatw61fgefk4Xl5FIt9CBwb2UwWlRK7mDoYGhpGOteEzu5pMOLsaEpf85g4yFBUQmmBKW4tocuRbmgiwxEJzFoEPsyoh2nxaE6CendxkSFVYQOvmvQkIpiRVaEQfceBWedQErrFRIUgYyRd9PV0qomy77X6g5AMe6Jz5jpVZmFjYc0HG4pFZD6S5azPxrD+FkeFoCTsJOIk5JG2O3J5qZfU8BwoIeFPkmz+HunhI/K/dhASzRjQIvJPf/qTyGw23XRTsZjkwu2jQCmEd7zO+Kz5cEgXZU2Hy161gYsn7roJD970B6RQkDG3ZNUgsq0TJUPNTHZXc1oqLyZ2TxG3n3SuBVYsjsF8Hu3tHRgcGsLqoQEkYjFMnT4NxUIhtP9MZWRsscN0MV+EHkvgpWefw/Ily/DhI49CuZiHoZfh+rb0KLArHvqHS9JgicXBBx10CGbMmBaOG99F/9AIXlreh2VLXsL++74LS196GoXBHsApIhlj/YgLyzCkhwG7A2txC7btIla18O9Fz6GzcwI2nTMNwyM90rHatoHl/S6M1unYYd/3I93SrYj7uP4cfW0np4j7a8Nr9PPvkUceWZeEt7G9/Y9spYj7/8iNVpf5P4QAqTULn2lnGDZh0sTK0WbvTwwP9mCov1e04eVihXQKra1taO3oghFPwfXYBJbadgOFUhmlQhktLc2oFMrwHBvNrc1iwUiyFHUsJalkgSabINk1iQgJLdehJpofzOx6yUWsH2tSDr7PhXIQdqO1TFO8yNl9lQsJPJ1oqo4j21NqQsLMQEBer/I1M5St1LLr7AYcdWnla7SnjDq2lsqO6M35L8pUvxoBjoh5NCPA84tIO887yn5HGfPBwUHBhTp4urewIHX16tVyjTyPiMBH+4vkNxGG1JPTbpJSG8pmeHxm3rl9ROAj6U1E5sfz4KarDN1apHMqfdzvuhkP3vwHWNUBJNJJmKkmZJo74LI7qkONuo3uSd3ivZ9tapGuts0tbbA9Fheb0mWVWXfiE7NCq0rakFZdD4lkSkh0LJaA7bpwKg7aWtswNDiEZDwGTWPTrzgGB4bR1jYBhQLHvy49CTjWKnYJyUQc5XIR2eZmDOTLMHUN+f4eWIaD1ctfkux5KmHApG2pH6A51ywzWxW3gkndE1HoycMKYkimkhgorIbnl6XrsF3WsKzfhzVhc+z83g8p4j6eB20D56aIewOg8VtKEffXDpwi7q8dM7WFQmB8IxBKZaT1ljRh4tmSyFfguUX09a3AYF+vdCaNxxJIZ5qRzrVBM1jMSgKsQzfYNImNd1y8+PyLaG7KCnFetmQpMtm0NLchOSZpikgwJR65XE4KGWmXSHJJMh8RX2aSI+Ie+YKTvNKikHaH0uQnncbK5ctHCzu5HvdTn72OMuUksmwAxcwmiW0ka+EXaE9Pj+yXC0mz/E6yb8TQ3tEhRaAk35G85T9pxXnePBaPy2ukows/N1lgyow4Czp5TB6D58FGSzw+fdxpq3jYYYdh8eLFkqnncUjouS73yyCG10eHGbrQ0GucxJ+FonSKYTEri0yPPPJIwZvBBo8dZd7Xd97jaXyGxD1s2WYFvjRgmn/t5ZjcYsKM0dndQDXQ0NqShu/kkTCBXCaLeDqDrondYiUZT6bF198mKU8moemmZMa9qiM2n/mRgnThZeE015OGYIYF3YwjPzgoQd2Eri4M96+WRk/VioNisSI2jnRICv36GSiG2fZEIiZ6eZvNu2IWnHIe+eE+DPWvRGGYVpLs4ptG4LpIJVMyI2AlNBRHBjEh14WgqqG3rw+JrBUWsNoVBF4CfeU44pNmY9t9P4BUq8q4j6dx+nrPRRH3xhBUxL0B3BRxbwA0tYlCYFwjwIy7mJ2PTsWH+U7KZ+iDXYDv2NLFVNfjYv8JughJTTNFCvzHLqZht9D88AhilolkIiHZ61AqE1o4Ui4jRZNa2L1UiKjjSGaZ75OUin/7eqQylMFYsZiQf5JzkmlmUikCYZZdZCxiHTk2mRplqpl9d50qUqmkZEu5L/4kwZUmQfG4nBeDB8lW08XP02HGLPk7Ir//KePOayDBjopM6YdOdxZeH2cSeO0k8NwHf6dTC7uaMiAYHh4WMs7rYQadWLzwwgsSNLAZE+0cSe5pGcl9cd+UxzCIoYPMQw89JLgxEGBwwHPhsd7znvdIgMBlfYW142d4hrM/nPNxA/oTBXjy9pC458wSWlqaEFgWMi2t8L0SLKMKE5Q3VZFtbsGECZ3QTAvtE7pQrjoYKZQwcdJkDI0UkE5n4FRKSFihPIY3mPeAhN1xPZFFpTJZcW7JF4syNprb2jDUPyCZetrZ2hUblhnKqGhsynFu2xUpxmbGvFy14VYrcozBgVXi/z4yNIDVPcsxedJEGVu6ZiAWTyCZMmCXhtCSbIHmmSjbzOY70vjMLhaRH/LQV00hN2N7bLvfh5Bpm6SkMuNnoL7uM1HEvTEIFXFvADdF3BsATW2iEBjnCJCERI4roeacxNdF4FXgesyUO+KEYZrMTNLKj3Qp0kzXu6yEXvCjixSmvkXLupxSwumEVy7rWJdZX88PC2rrde3r07hHAUJEkLkeiTOJNsn3pEmTJNPOfyTWlPeQgLOodIsttpAmTGzKdOGFF0rWnSSeMxHsZrp06VLsvPPOQuDnz5+PXXfdVTLsbMrEoILEfcGCBZK5598kpGzoxNmM7bbbTo4VzRasr2PpW3SX1jrs2sQdePL2G3HXdb+BUVmFjs52uLqOptY2+EEZrc1xFEeGJYDLNDWjia4tAdDS0gYrkcJwoShSrpaWdnFBasmlUB4ZkpmaocFhtLV3yOu5XLP0WaAtKHsa0DqUM0rpTBOqthN2gbXiMA0DpUIRjusgk0kJvtl0WoKtTC6Nkl1BfngQE7s60NuzHKWRITh2AUP9fVi+bLnMuNh2VQKHbMaEoTlIanFkEs2ouFUUS0MiDwpsByMjHnorSbRsuRu23f9rd8xdAAAgAElEQVQwZNpUcer4GKMb5ywUcW8MR0XcG8BNEfcGQFObKATGOQL1xJ2nGjrM+CgUhmBQ9u4H8F0fphGDFUuIznddvv/cdrTp1PpI8puExbqcUsL6zHq70lpzrPXwebrkrE3auYd1kd/oeFFhKWUpzL4/99xzQsApC+K+KG1hlp1knYSemXO+v2jRIuk6SlvHmTNnSmMkziyQwPM1dislQWXWnP7vXJfknKSRPwcGBuR4kRyG2zNYmDVrlmwX+eeP76w7Z37YFE46AMAIgIV33IR/XPMLZI0ydN1Ha1cXjEQC6bQBzynAMsNiXrvqykxFU0uTEPBUOotkKgPXD5BIpDE0PILWpixcl3UAgWTO+wcG0DlhIlwvLIil5l2aP7Gew67C9XS0tnXAsZmhh1ihyqyPEY4LHpcxn0ij+MxYJvIjg9B8F5YO2MURlAsjKOSHpYET14/Hw9oDPSihvSmDaskXm1XWXpQrw3CLwzAcD4URHy8PG5i6y37Y7sDDkGqhZ/+6rUjfpEdKHWYjIqCIe2NgKuLeAG6KuDcAmtpEITDOEaCuOOw6GjYpChcfVacsWUaRjbhsXmSKE8eaCeqx3PuaHQHewtr/OoeaeuhrNH3U0z1UUkf+7tH5Ege+HhawRku9RGZdcpl6T/nI9abeDafeorLecjJaNypajYi/kDtdF2JPWRFJPjO/JOGRHCci6ZGLTeQNz3W4DTPtEWGPjvlqxbVv7VANENSIO7v0Gr6PhXfejBuu+An00iq0dbQi0dwCPRZDNhtDOq4hnoijt7dP6heoOe+ePBnlSgXZbA5tbe0oFktIZ3IyY1Su0iWG1oyaFLOyJoOFoi3NrahUGfRYMCmZkjFvIF8oIZFMwzJ1ZDMZlIol+J4rXXTpPsTnwDRDr336J1HkE4uZ8J0q4FYx1NeLZEzHQH8vAs9DsVgQkr+qZxXSMSCmB0jHcvA9dhd24VQLqAz2IuYFKBd1PNfvYct9DsOOBx+OZFPbeoPlt/aeqaM3goAi7o2gpopTG0JNEfeGYFMbKQTGNQIk7iKVYbfSNVi5Jyl0raZjD7uPSt3mKLlf34Wtrz3XWwvEWPfajX0e9Q2Yot+pU2d2PtLj85iRVzt/ryfw4noSi402aoqkN1wn0sxHGnrWBvB97ity1OH+IjlMlFWndp9Z+6gwmOuOe+LuM+POeRETRhAS9z9ddiEyWgF6TEfF07DprFmwTA9xKwywpK4iYWFlz0pMmdKNCRM6pL6ia+IksV+0K1XE4kkUqEHXNSRicbhVFzHLwtDQCNraOpBOZeD5gRB3yqToeFSths2zUukkqpWKBLGUgpVLJXFWYjBbqdhwXR+51laUqhVpTlYtFzHQuwpN6QRWLl+ChElHpgJWLFsqMyLt7e0Y6luF4uAA2ps7UXU8DI8MoaujCSOrlgElG44dwwuDAbY/+BjscujRSGTD4mm1/HcgoIh7Y/dRZdwbwE0R9wZAU5soBMY5AiFxj9rSj/l9azW5i2h+pQlQPWGP/qj7WfMKDwtX31rf8HVLZdYj8VnP5MD6rmB95DfKfEdZbqIV2T7y9/oMedSkqT4jHjVWigh9vV99lL2PiL94kYtTDptnjfnjR57wfJ0Ev94Tvv68xueQrEllxPuFGXcPT911K6659HwkvGHqSzBn+x2Qt13E48yCx1Eq5NHU1IxlK1YgkbREUz6xs0O06F3dUzAwMISJXV2cMoKWSuPZFSuw/XbbY9lLS9GcbRKb0+effwGZbBb5YhlbbzMXueYmPPzwo9h7//3x0H33YHJ3F5qyqVAGJnXcOp5++jn09KzCzC1mYeqUKVi4+F+wmujR7sIuDmPmptMQVG089/QiDKxeiRyz/oaGUrkotpBOsYBMzMJgfx7ZXAuam5sw1L8c7kg/Sn0DAFJYkjex0wePxe6HfQTJbNP4vGXqrBpCQBH3hmBTdpCNwKaIeyOoqW0UAuMdgTVFLq/tbMOsZygv4bIuHe5bKJtZ42Le3GCiPgsfncbamfn6rPurNUyK1l3Xfrn/+n1FgcFru5dv9doBAreKQGfzKBMa7SDvmY+fff9MZPw8TM3DwR/8EC77/R+x+dwd8Pzz/8LR752HgYqHq/9+Gz7xiY/ALPagd+kzSGWaMWO7PfD1sy7E1085FqWXn0Kuqxvn/OQa/PD8c/DoggfR3UXdeIDW1nacc+738YHDDsPWc7eWTPx11/8Zw1ULk7s7sdXmXZg+qRma76FsA/Hmyfj8F76K8y+8BEuefxqzNpuMn/7ip2iavCVoWPPswsfw0x98G1f99o9Y8vy/8JHD9sfpZ/wARx11JKjE+evf/oED3r0nbv7b33D40Udh/l0PY8tZM7D1Vlvg0VtvACpl2I6GFWUD+xz9Gbzj/UcgkWteX1nJW33T1PEbQEAR9wZAUz7ujYGmiHtjuKmtFAIKAYWAQuDVEfB96s5p62mIRekT996OS845HVqhB9m4jnn7vAd//sfd0HJdaG9vwbyZnShZWZx3+VXYd593YpOMg6GlT2OzWVvj+SEN/3pxGfbaeRa6sQpIZHHVTQ/i85/7FF5+7hl0tbdieGQYc7ffHl/66mk47rhPYlJ3V802NIsPHPMNnP2tU7DN5m14btF9mDZlMnQrBz/eifn3LcI1116PX/zshzC8YVxz7R+wvKCjf6CKzuYUvnHysTj1i2dhWncHDj/kXbjoJ9di+rRNsc3cWbjiyr9gm9kz0dmaxor+YUzdbCZuu+12zJ0xFa2Wi/7ly1BxfPS7MRxy3EnY45DDEVfE/dUHz9toDUXcG7tZSirTAG6KuDcAmtpEIaAQUAgoBDYIgVC2FUqaKJh54p7bcdG3vwaM9CBl+XjfQQdh/gOPYeYOu+PuO+/AB3bZEki34YZ7FuDggw+EP/gyVjy3GE1tE1CKd6ClcxIW3HUTjt5nG4yUq7jlgcXYfedt4NtFdE+cgBUrlmHuNtvi7HPPx0eOOQqtrU3wXBtdEyfjhFO/j1NP+Ry6WyxUB1fA42yAkYSVm4TnVgzgtlvvxlazpuKg/ffGFb+/EqnuGRgeqWJ49TJ84siD8c9FL+LZxU9htx1n4c83PIAtZs1BLpfGQw//C9vPmYOXn3saq4eL2G7X3bDHHu/EFb+4HM1aCW4xj3y5in7PxJGf/wreeciHERPirlxlNmgQvQ1WUsS9sZukiHsDuCni3gBoahOFgEJAIaAQ2CAERMtPS0b54eHJe27HD878Esq9L6MjG0dXZwemz56LEU9HJp7A8sfuw5RNt0Bz9wz0D/Qi7hWx+IlH0T1tBtxEC8x4Ch1ZA/HKCgzm85g+a2v09axESzYuji99fatEKpNubpImWPSG6e5iwaiD3ITpKJXLWP3yc5jUksPypS+jvbMLZcTg6BY830DcMJA0dZTKJeiZJphWGiODvXBL/SiVAzQ1ZbB8yb/RNnFL3HjLnWhpbce0GVvjsYcWoDg8CCOVxcRNpqO5pRmlgV6seHYxdL+KfMnGiJbAcV85A3u9/whY2Vyt4dkGwahWGucIKOLe2A1SxL0B3BRxbwA0tYlCQCGgEFAIbBACnjQAI3FnB10fi+6Zj++ffirMUi+CyjBymRQ0Ft1qcaQTCTS5ZTge0Nw5GctXLEfS1FCtOBgYLiLX2Q3Xc9DZlkHSG5Fst26amNCche5XUMoPor29Vch5Mp2CETNRKoygrTUnvupeOodiqQy9WoXp+VLg6us64rksAtOEBx2DfUOwYKK5qQWFYkEaNjXl0uhduRyOr4ldZP/gECpIYfmqEQznK3hxaS98V0PMSkCLxdEzMIQpm3RDd8rQ7RLSloGC7WI4MPH5b3wLe3/wCFjMuCsf9w0aQ2+HlRRxb+wuKeLeAG6KuDcAmtpEIaAQUAgoBDYIAXY+FUMijy2YPCy+73ace9oX4Q6uRNbypEBVN0zo8SRipoVs4IuvfSyVga8ZGBoaBjQTPauHkcplkUmn0NKchOEWkU0a6GjKIXBKaMnEYWoufNdFIpWAG3hC1pnqN3UfyVQcg74tXVoLfSOI66Y40IwUhtHa1QqfVu+6geHBMryKhnQ8Cd13YZfLUtxK/3if6xfLIq/51wvLkWufgudeWoWRkoe+/jxgxFDxdcQzSfT0rMbUiS3QXRuZRBwV10NRs/DFM7+NfQ89Epa4yiipzAYNorfBSoq4N3aTFHFvADdF3BsATW2iEFAIKAQUAhuEAP2HXBcw4AoRXnTv7fje6V9GpXcpmmIaLOa5dR1mzIIu3VV9ZNIZLF+xAp3dk7Fs+WrYng7X17B0eRHTp2bhexVsv90clAZWoSMVR0IPRCrj2nnxdE9kkijbFfHLTyRMOOUSYnED8eY4qq4DzTXgVQK4votMLonh4iByzVlobGjgxzDcX4apWYjrQOC5sKsObDeQYMB2NYzYAfrzFQwUXcBswiNPvSCZ+3zZg6Np0OMsxPWQjFlA1UUmZcHXDVRMC2edfyH2PuQDiKVzirhv0Ah6e6ykiHtj90kR9wZwU8S9AdDUJgoBhYBCQCGwQQhQkcKMu84i1aqNZxbcj2+f9iUM9yxFxvBhBC4sDYjFLPHFp7TG0Nnl1kfJdmA7wKq+MJttV3wYuoemXAypVBxNMQNd2Tjam7LQvTLSSUssJ002vjIN2Z9p6NB8F6bBrLsucnt4BlzbF5cbgyRbc8RTXpcsfBzVcoBS2YGhB7BMAzYbKpUq4unuwMCqfAVuYODFlf1wtRSG8mWs6CuiGABSimvo8AMfCUtHTGdeXYMRi6FqmPjOhRdhvw8cikQmq4j7Bo2gt8dKirg3dp8UcW8AN0XcGwBNbaIQUAgoBBQCG4SA9DgKAgSODcPz8OKip/CFTx+H4tAAzMCB4TmSdY9ZJkzThBOE3WizLAJduRqJVAYrVw/DD3TEEikURgpozsVRKlbR1RZHUvfQ3daCllwCScMQ0mxaFqxEAoZuSFfgVMKCEXgwvQrS8Rh8X4PjuNA1A57vSCfVUqkknVQBE7oew3ChgIrPTrlx2FUPg4UC7FIVrm6gt1hCxfbRO1zGykEbuqFhuOKhElCYE4hZDJuWmboGinWScQuODxRdF1dddx322m8/WImkOO2o5b8DAUXcG7uPirg3gJsi7g2ApjZRCCgEFAIKgQ1CwPVDKQybHTEbvvKFF/D9s8/G8qVLpDkTXOaww6w7O5H6mgXbcWBYupBp6t+rToBVfSPQzVjYlIqE2giQiFlIJ01k4gYmtDTBJDk3TFixOKxEGoH4x/vIJOMi00n4PpIJC17gw/E8yci7VReJRBLVclUCB+lkm4ijVK1ioJiHBh1U51dcH3bRQcmxUfQ9VApV2AjQXyrBdwOR8xSrnswUjBJ3dtcV+U2on8+2tODHP/8Ztt1xR2gmgwS1/LcgoIh7Y3dSEfcGcFPEvQHQ1CYKAYWAQkAhsEEIVH1Xst4Gs+7VKmgP2bNiJQb7B+E4jhSsGtS5e8yA04EmDjcIUGUm3jLgulUk4ilUXQ2BRgmMCd+xkbAClO0yNMuC5lSg+w4Shi6Zbsf1oRkxsDA2oHRG16B7HnSSfi2Ap7nwNHYGptsNs+JxwCNF1+EGNmth4WvMnevQAgOaYYjrjGbrKLtVmE1xwAZcZtbj4Tqep0MzLATwJFgQeZAPxI0YSsUKUqksrGQck6dPlcDAUMR9g8bP22UlRdwbu1OKuDeAmyLuDYCmNlEIKAQUAgqBDULAhQffp3uMRhm5aEg8P4BuWEKwmWXXSaI9h28i8HRpTBSI5ITaE+a7KQe3AN1ExfYQjxuwRwYRy2Ykq24wpR24gOtBogQyb+4jCKUozPaDx9ZNBJ4tevbA8OHxvHSSdkPIt6xjBggCBxrPyef2pgQDvh7A8HgOgGe6sPM2ktk0CtUCUoksEPA6atKXwJNusbI/X4PvEAPK9A15SeM1i9heLf8tCPwvEPeFCxfi97///Ua9ZYq4NwCnIu4NgKY2UQgoBBQCCoENQoBEVcizUNZoWRdprb0vP2rva9E2TJ1zD1poLSnL2J7D3yW9Hm47SqDr9hPtd3SfzLjXjhWsZcs4ug53W7+PNfcX7lIigvWr1eWc6q9pg2BTK73NEPhfIO68JaeddtpGvTOKuDcA59uBuDPC29hRXgNQveomN9xww6uuo1ZQCCgEFAIKAYXAeEFAfb9unDvxv0LcNw5aY3tRxL0BRN8OxJ3TM/w33pejjjpqvJ+iOj+FgEJAIaAQUAiMIqC+XzfOYFDEvTEcFXFvALe3A3Fv4LLUJgoBhYBCQCGgEFAIKATeFAQUcW8MZkXcG8BNEfcGQFObKAQUAgoBhYBCQCGgEKghoIh7Y0NBEfcGcFPEvQHQ1CYKAYWAQkAhoBBQCCgEFHF/XWNAEfcG4FPEvQHQ1CYKAYWAQkAhoBBQCCgEFHF/XWNAEfcG4FPEvQHQ1CYKAYWAQkAhoBBQCCgEFHF/XWNAEfcG4FPEvQHQ1CYKAYWAQkAhoBBQCCgEFHF/XWNAEfcG4FPEvQHQ1CYKAYWAQkAhoBBQCCgEFHF/XWNAEfcG4FPEvQHQ1CYKAYWAQkAhoBBQCCgEFHF/XWNAEfcG4FPEvQHQxv0mbP3tI4COINCg6ezKHSDQNPBVzSuHDboDE4AP6Aag8/faslaH7vpG5VxjXc3Kxz0k6gTfIATqWtLLmIoOw1HCccgf7ug489n+XQYkxyY702sYbTY/uqsAvu/LsJQdaGGrexl5bD8v/+fKbFnP19dqV/8GXWmjuw1qLe95rWsv4VUEcjW8Cnku6x7D6PUQRz7DIRJy7bX9yXNee1VQWuv5bfS81XYKAYXAhiOg7CA3HKv6NRVxbwA3RdwbAG3cb+IDgQc/MOB7esjLEcDXNThwYbkj0Kse/KoJ1yki1tKGwEjKVY3SBmFVdTyMvEG4mAZdMfc3fwSMIzIWUWYSTYaC4eIDPt8hq+bACcl0AB+eXYJhmRIg+hI86rCrVcTjCfgex2qAmGHIYPNcD4ZOYs/9+nBcG9A5hi1ominBqKbxvz60wAM0snth+ONqGY1faqR9lIzXPTuaHwgenhbACwJYAaDLY6eBD5k8bzUiLmScxJ0g6X4tcOHjyBCGaIR3g9vrEs/wF/WgvmJQrJ2FeLVRoyB8NYTU+zUEFHFvbCgo4t4Aboq4NwDaON8kEELjw/cN+L4OQw+Ju3zJBy70fA/swTweW7AIixc/jk+cciqQbZEvfiEN8F55haPZwvGd3Rznt6bx0xvHxJ0ZZSHwo+eoC3En8RTeqnFEkXLqcD0fFddFMh6D6/uIc3B6HvTAh6EH8CWjbgC+Dz+ohsl5+Y8BXwi6Dl2yzuE245641wXDxInZdS7MrGuej4DkWufTGZL20TioljYXbKPMem3CgStFcxBR6ETirnN2bTTjroh74w+b2lIh8NoRUMT9tWMmiYlHHnnktcbTjR3pv2grRdz/i25m7VJI3H2Sb5HCkOgwARdOyAdOFS89dBdWLn4aViyHlauX4ZDjj4efa4cmGbqIKNQY15j2oTahr0GTLKdKRb2pI6f+k+0thr4+4y5MU4j7WGQRyVr4igcNJc+HX5PGMJnuuAAT7LofIG5qCFwPlh4Sd8f14OkxkXqZ5P+BU8tAG5Jxl/Es/40y7vxrHGfc13pS6uMv33HDp4gBNQMYyaqHM1s6Ix7JsDNxHpJ7TwKgSBzEMGZsSizMvAfQSN5H9TVv6ghVB1MI/E8joIh7Y7dfEfcGcFPEvQHQxvkmJO78nwZTMp+iPPDCLHyxrxePXPs7bLf1NtCTTXjwnv/DPsd8HH5LJ3STuuMacRdGUZua589Ipyua+ZBAqeVNRGCcEvdRqUwoWJdxwsw6OSUVG6SmNgDbA0byNhY89CgWPrVQxtYO226N7bbZGt0dOdHBc1++ZqHkA3Em4t0qTC1A3LBktiikrKEmPiTuzLiHf423ZY0M0toadylB8cNTlygoQCCxR0jOHQBxJsxF3x9eGWtV+DrfZ15dBELROrWDRdIaWeMtDu7G2/1Q56MQeKMRUMS9MYQVcW8AN0XcGwBtnG9C4h7UEXf58mfmkqk4p4rbL7kA79h5VzixFO6afyMO/MSnoXVsIhpkydpJIi/M9kWlcxEPCKlTKFlQy/8mAmvGEJHGvUYwwzkbEXOExB1Y9PxSzL/jbjzw4EMoFctoyjWhUirBrpQxoaMVBx64P/Z61+7IZVMoVAMM5gtY9vJS5Pt7sPWWm2GT7u5QWhJWq45b4l4va4lGRphEj+YgmDL34bseHK+KqmcjqVswfMDls2maCCwTJc1HygUs35MiXQmadR2+GYMnUxWSa4dVI+9RjS4LV7msqwj2f3OkqqtWCLx5CCji3hjWirg3gJsi7g2ANu43CYtTAVMydSJ60UihXGiVMv523jl474H7Y0S38MBdt+LAYz+NoHkKAk2HF1BbHEA3Qt1tSNgDmZaXPUlGXkllxv0Q2IgnWE9IbdtGLB4PCWItsBsjqRqq1SrMWByVqgvdMvHwI4/i8it+jy1nb4Xddt0RUzaZKpp11rGuWrUa/3f7Pbj51lux/wEH4OOfOBJ//tt83HPvgxjqX4UzvnwS5s7cFEnThGEwixyO5fEqlVmXe0woK5KSWrAYVWh81cG/Fi1CMd+HKZlmGBUXQSoB19Bg5DJwUxZGnl+K1lhCnkfPcxFYMei5HCZuNgNV8njDEqmRxShb9DO+zEpQ7jb23G7EQfDfsqvXKqZVMxf/LXf+Db8ORdwbg1gR9wZwU8S9AdDG/SYk7vxniHzBF0WBB1+rQrdt3HT+uXj3PnuhmEzigbtvw4GHH4ugbSoCzZBiOZE6SPkfqX9I2EPiHk7rK7eKcT8ANuoJijUjCyiDAK7rwrSY630lca+6LgzdQrFqI55IYOE/F+PiH12CU774JczYdBpMy4BHiYiho+L4oIjddoA77luAH/345zj6mI/DdlxcdtnlmLXpJjjxk0djjx1nw4yGXE3SzXHIUtUwpx/+NR6WiLjXZ735uIQSlgAGf/FdBLaLhQseRKo8gg5XQ5Nvwo6ZsC0D2c02wWAlD3dJL+KlSmj/aGhw4nEkp0xBr13GxC1mQk8k5RG3ND004OHTSk2cIu7/eSgo4j4eHpX/ynNQxL2x26qIewO4KeLeAGjjfpMacQelL5p8wYfE3YXmVHHLBd/FvL33RKUpi4fvnI99DzsSWsskuIEm9nTi/W5Yoh8mXafbBfW0UfGc8CSViRr3o2BjnSCJO7PdjuPAsqxwRkavdxwPj1Sp2jBME16goW9wSAj4AQfsj+3mbiWhoOM68j6zwgwKS44HXzdRDQJcfd3NuO7PN+LEL56M315xDZ5d+Ci+efIJ+OD+85CNc5uaXESGXhhaUuc+nnzcI8cYKlYiuUpE3Enq5bFxXfhVF8sXPomVd85H4ZGFaPJM9BG7lhzmvvudiG82GUMLFqH3ycVSZO5rPtyWZmyxz96wpk5G84wZsA0TeiwhmXwG14E85GHGXcXW/2HkK+K+sT4W1H7WQkAR98aGhCLuDeCmiHsDoI37TUIPbE8s+XRokowjrSBxt3HrBedi3j7zMByP4+F/3Iz3fvgooL0LgU6vbCPMEJrxMIMn1KDmeEFGwKn5qE5wHODwWr+H35pTfqV4IdQ9v/7o5/XvYf2IRBlk/iRRJ4EPGyOJR+NYo5/aLlw/wHA+L7T6F7/8JfbZ593YYouZSMdNcYiR4lPqtkWKRcKuwWGvAR0YyNs457yLUawGmDlnWzx63x342QVnoSOVgO46MM1Q4+7xuDXd+NoNi96aezt21P9E3DnTIDMHnidSmZceuB8r/vpHlO5/At1WDssLwxjWfLTOmYF3HX8sBu94CC/f9QAszlLoPuzmZuibb4qdP3gIis1NSHRPhpZMCZYmq1yFrYfzIBxZb2cLd2kSt9az8XqelzW3DZ/F+udGqnlqwVb9k7qumoW3eoyp449fBP4XiHu5XN7oN0AR9wYgVcS9AdDG/SbM03lwJeOuw/QCsdrTfBewK7jpe9/B3vvtjVI6g4X/dyv2/OChcAINQ4NDiGdzSHVOhJFMhUVwJjPvYTFq6Ncd2teNl+XtQdzfOLTeyDsREReRx5hhZ90lS5ZgEotFDf0VxJ3ckQT1kcefRO/AAPbca09YpgVTmjPR1tGHZdDWMdRhe54Pl3lzw4Tt+ShUHHzscyfj8GOPx/SJHdhx825kNGaUuVat2ZAUUNe07nVx5BuH8IbveV3EnTMLYT8kdiz2QrlMxcaiW2/Eqj9djfztDyBb8DDgu6imk6h25DD34H2waQl48q+3IpYwQw/8jjYUuzqx5X77YuI7dkN80xko6wasOLPuod1rFFG/3Yn7eHqm38jna8NHllrz7YDA/wJxX758OTY2eVfEvYHRrYh7A6C9xZuskb9dh00g27y48r+wq6Tlkrjzy90FqlXceu452HOfefCamrDgj1djztxtsapYREXX4BoGXCuJ2dtuh7ZNpgIWM++m+HCH/hik8KGrxRu/vPLi6hU79e9Gr/OcQkPCWlatBlaE2dqTBWHx4LqXyBEkEoWMGRK+cn05lwDwa82G+CdREnkECW3NHlFerxHO6NhRRjCsLAibFnE/9ZnC+iLHyACx3unn9d6L+kLkcF/R3gO4jlNrEqTjjjvuxO7v2B3JRGzNMcBr9Hzki0Xc98CD2PUdeyCdTkoimNl22jpKuTNlN+wY6ntSpKqZJhxaSNKnPAAu+8OfsPClHnzj1BPQZBjIaQEMn0aI1Hqz82qobuci6pk3ZyBuELzrI+7simow2GVXWO6pUsUTf/8rnv7Vj+A+8DhayxqGaNVqGShkLGy+x06Yqaex+Na7YFkaRsolZKZMASZ1o3O3XbDdEYfDmL4JnFQaMDibEc1+cDYsdHsau3v1d3PsiamF4Gusu0EX+SasJEFdrZxG7nNdroDPKseJPGFQLR8AACAASURBVEe0t6+dz5gLVjhHGC3Rs13/3Ms+6tx+ovX5evTZsS6T0fp9rDnswqcn+gwa89sKi/nDRMfYFtFdGEdD9024q//9h1DEvbF7rIh7A7gp4t4AaG/BJgG9nukwEXZTCgUszOLVsVdq08U/W/PhBK5IXwwS97IHWKRNHvRqGTdecAH2239/IBng2tNPRNuUGXjXZ05FMhuDF09g+YpBLH3iGex4wN6Id7QCSIvkRpwrdB77jSwGHKPgPN8wUOC5U6pBP3BPLPNscsCAxXlh8R+pXSUAbDdA0tIQCwB6n3CbsHNn+HuabnrS1Ca0KizZDsy4JWTA80fr+8SUp8p1dMDwaiTBBxIaENeActlFLGXCd3wYMR2uC5gGMBQAgwEQ04CsD7QQqgowYgJlE2L918J9cvJDB4o8rrSpD9AU16B74blWdIifOb/zkwAKDuCZQKzm8Z3mvjw2LhobjHKPassrFejrH7RRAEFKzAsXGlJzDgo4S+N7CAwLQ7aPX135R3z0yMPQnqbWHXhowcPo7JyAaZMni/PLs888i3Qmjdb2CTATCTgeu6NG3us1HiPMMpDaC+khxALqmvvKs8t6cPIZ38FlP/mBuKqkWW/pudB1dv7lP7OmcA8DIqFE44QBrRFmiqwsDMBq4Rh0uchAMu4PXHstnvrdZag++AhaHR+DvgvfTMCJxTBl5gxM0IC+p5+RrrJlPnGZFDKTuuBvOgP7nHQy0jvsBKTScB0PZoxBjwPXd5GwYvBtH7ppoeJ4MOKcKfEBz4Eh3vGc4dBh14ikqZljxb9vwefaKw/pw/ZcVPUYhhkvGoDlAmkOfA0YcuVxkt85NtK0xdQgnwcVTxw1xQOfwWFgaOLAw88GPhkmn++aRWmJvQWM2msVIJkASkH4mZACkNHD/RYZZGqaPHdwfaT4wDHQ9ByY0iCDNQXsmUEZlyGfT7rvIWkaso4ElvLZaYbBby2Il8BDlQqNixG3sU5CEffGkFTEvQHcFHFvALS3YhO2Sw8CeDW2QmLGzK3okGvZXJ36dH5hUYts+KhQVwsT8WoALcYvHBtB/v/Zew/4uM4q/f87vap3yaq2JFuS5d4dlziOUzchJIGEENrClrAElmUXlg67mx811CRAIBBIhZAA6XZixyVxkW1Z7rYsS7Jk9TqaXu7/c947Y5uQgD1/i4TdGX/0scrcdu77zn3OeZ/zPIM88917WH3ZldhdNh765Ie48v1/j3P6bLp2bKRw6XIyaudw9OmXyJpaRMGsmWDI1JGuWNILbSFOnZmcMCSAe0wY0eoQUjsX/yivP4TV6eRk7zDb9+6nf2iQbHsGixbPx12Yxffvf5CMrDR8nnFqy6axcuFCgl4/e/Y10z3QR1lJMSsXzSbN5WLH7halYLJw0Rx5HvPsCxsYGRlRIDUvr4A1q5ex/UArTYcOYwqO4rY7ee/Nt5JtE9CtMeb18PzGJq655hK8YSPbd59k+tQSntn8EsPhCWwmEwuqq1k1u5FTbf28sncnrf3dzG+cw+o5DbjsTl47eJyDRw+hRSLU1daxeGEdwUCU7TuaOdXTSdRgZtklS4li5rmXN2E0GrBEA6y7ZDENlVOwKrUfHS6qerbILJ7tSjjv26NXOGVfAtLj2YJyKRVUHcEQixIxmOkLwF3fuY9//+cPUJZhZ8euJl7a+DL/8A//RJrbpdKrk20nKCkuweZwEVEKJwYlWZhYTYifrH5u5/gFqGqnpjEaivCN+35KpsPNv3z4vSppkYxKVoxi0qwhlU2DCaNSaIljorcrcBfILImHah6Nw/qYhsEf4tXHHqXpgR8RPXAQezBANNPNiCeIw5ZGWVERhTYTXYf267z+zCzCoQDpbhfewiKu+bfPkLVgMbHMLLBZMJhiRGNhfD4vLocLY8xILGpgwu/FmZ1GWAur8WgK66scUbORkMGgemCsBqHS6QD57fHSlATmsQEfjz+/hWjUT7pmprKokEXL5/Grp19jyO/BZImQa3Nx8zUrGB4Yo2lvC97AKDGMXLJsNcVFGfz4vl+wYPFCZs+dwdCol1c27mXtqkU8/sRviVhjDIU1FtY3MDUrm61btjAUDqHZrTRWFnPF8pW0tfZwsOM4a9Ysx2E2cmDvIeprK1RhQBx/TfJ5G40plaVgEIYmvDgynFiNRuyIs60I9EcwSjYhzsFqhsS1kOLFl7fJ0H173Pq/8bNIAffkbmAKuCcRtxRwTyJob8EmCs4q8C6PJqms6x/5sjwvVT2hDyjJxqhUg6KKlh426CKO5nAIUyRA2DvE8Z2b6D/cxpLV1xKLmNh873dZd8N1bNq6id3PPkHj1ddw6cf/g+GDrQyGxqhbvRLMOWhmIzEpGWox9cCaPAm+c4G7DnYUfSQmwNTEsMfPMxs2sWzVMhxp6QQHfbQe76FyVjmPPPMiN737KswG2LXlBKW52Rxsbubqa5dhd1rp7RnAbjXjcGby7IbNFJaUUFtTTprbwuaN27ji0mUqOTp6/CS9/eOEXRlUzCgm12HDYQC7BmkKRhto7RxgW3MrxZUlFE0tZ/PO06xaXMKePftZumwm4ZhGmsFAYCTI1q17Wb5yDukZNvqHxnBbbHj9RlraT7J8TjXOWJRduw8oatLAWBCbKcKcmjL8E146+/3EMiz0D48wq7YCOxoOTcNGSFXczUZRXImvSJyB8SLjef7CPwlKkIB0SVzU2Iq74xpk6UGLEdSM9Hoj3PHvX+Brn/44U1zw0KOP4w34ueOOj2Gz2wj6/Xg8HvJy8zCpim9YgZoEaD8DUs7hCpz15pVitEbAYGTDa01855t386uf3EdhVhpmGfdCrZHcU1UwTRhE+Uhy1reRD9ifVNz/DHDf/uij7P35/QztfI3cNAcli+Zw7GQ3PR39TC8to9Ri5PTRI2TmZJPX2MDE0DCjnafw5xfwd5/4NyxTawjm5WIvzsOZ4abz8FH8Hi+FU8pwZmQy1n2akZFBymZOB4cVqzSbh6Mq6RY5TqkRSyVZ0bZi0iz89oCQMh4CEY1RjPzst+t51zvX4o7Clg1NNMyfztNb9nP1DUvU4D6w4yRpLifdnZ2sXDydzKw0eofHaD48yoz6UtY/u576qgrmzq3hyMkhjnQMsWTeVPbtbWbFZfPxaCDriZky5DWNzQcOMaW2ijynAy0ET/1uE2U1lRQU5DCl0E3LrhYap1eR5jBhNIhzr8w9q0qovRNRdh08RtWMCnLSHGplTr7USodkRSpJTQxWfanpYjSnvwWPotQh3yQCKeCe3NBIAfck4pYC7kkE7S3YJEFnkJX2hDSjgHZZDpaX4vsqK/V4MTMcwSCNbaEAJr+X8WPHePWl57BnWli27kosWZUMHT/Nq7/6MddeuZbnf/4A/kPNpM+ezYr/+AwTHh8d3SeYffVVYM5VVbqoQZrrhDYisHCyENMZGCkpSbyWLMY+UcwWGz2Dwxw92UXd7Eah9+KMQnNzO8acbJ7etof9rR1oZjMrFtawcsFs2g+f4NJF01XV1mwTigAcbPXgDZkIG8YpKckly2nmaPNxFs2t1gvCBvjZg3+gqHEOv37xVezRQcpz3Xz0A++hyCzV4xjDEwG2H2wjEHPgzC/jZM8Iq5cUct8PHmIiPIY/GOH6y1Yxc2oDO/fs4/LL5/DMcxvZd/AoV65apyqr5gwTtcVZZJo0Bod9NB07TXZhEVMKbRQ6LIRknd9qoLlrlAce/Q0+7zBZdjPvv/kGZlVVYFNV8gQv/lzgJUoj5w8LzgL3sM5Bl0TAEJd91EQK0qhoSF2eELd88A6+/6VPoQ218eyzz5Odl89N77qFkill+AIBrFY7FrOZWFSqwFEFCEXbPZGAvX7qSDKq65wLZUgjaDDSO+7nA7e/n0/e8U9ctmI5dpMRs0mnJMh79RUfXdT97UKTUePmnIvTzZbevOIuwH3Xj+8hfGA/GQYjnRE/QbMdzWijMC+HMpeNkROtmCJRNFc6UX9Acf2Dhflc/p73M2qxYa6uoGDeTGJWM+PHu5gY9FBQUYEh3YXVO05neyvVixfgmFJMxGTGYrJjignxTH9JLGV1Tr6MZr1p+K1+RdAYDgXwGR18695H6RvqI9NmZ82SWSxePId7fvUCza3duDNsLKor48plyzh+uItLL6lWFDOhuuzd78edbmF/cxO56Q5mzZnKxm2HcWROoWZmHg899DQ93a248zNY1VDHzSuXEQqE2XbsKIU108h22BnoD3Ly9Ch55RlEAlBdaOdE8wHm1VbiNBkRA1tMumnWwbZeHn3qRVo72snMcHH9VWtZvqBR0fKkIdki0qnx2J4lhUntPeVA/VaPt4t5/BRwTy6aKeCeRNxSwD2JoP2VN5EqVCheo7EIPSAifHeNqIB2cZSMA3epQCqau4Ahnw/NH2BiZIDje3bgHRlmemMdedWlGOzpELUz3j3IE9/+PB+44Xo2/OQXRJr3kr14EXO/+AXGJjwcO3GYJe+4EUzZRC0mwloIq9Ec57hPJnDXm8TOAnfhtxsQuUFfMMRLm19jzuLFON1Owr4wTc3HmD53Oo//4RVueNelHD48QJo9SnlhIa+9soMVy+fhTjPT3jXCeDDMocOdhCIhotEgZrOFa65YzqtbdnH56gWKp959aoTjrafwZxSQVZVNUYZFr7abIFOLYUFjfCLA/pNdTK+v5dmXjzMeNHHNmip27j7IzGX1UtwkU6puPti0ZQ/zLmnA6LLS1+8hOuSjrCiLAyc6mD9nKlaMtLScID07S9GBLGYTNVV5BAJBjrQNkJaTQb9vnLKqEkUdEV6v2wTWWAybUe840JVFBNQm7LPOH4QlgLvhHKpMTAF3fb+aISb1fbo9YW68/R94/zUrsI93MeH14Q8G+ejHPkFmdi6hCFgsNl3uUUgBKpOMYlTA/Y3HyxnJSVk10jRCBiOeKPy/u75OQWY6d/7jRwj5fYomoq8viXOvTjlQVffzv8xJn7UXBtwfZ9/Pf4J/ZxM5JhPd4QB+q4PRSJTiyjKKXFaGDh0hWxPTKgtmk5GJsJdoaT4r117B6e5+cmbVk79wJpklJbRt2klnaxfzV67EVT6F1m2bGOjtpuGKy5iyZBHRtHQiaqSZznC91flKL4zcnbhq0KQH6S8cQFJ1SRJ7vTFe2LKLNWsXqTEvK01RLcIjf9jKFdet5sixU2pOzigvYedrLdQ21pKV52BsPMjR/T3UTy/juRc2Ul03FbPVjNWaxsDgBGV1+Wx7bR9XrZ2PPwL5FsgRelgUNh84QEFNNel2B1u3tXB6YACL1aTkO2++fi2Hm49QU1VGfpZT8dwj4YhqDpaVC58/xr4jbVTWTCHdaVOg3SbJcySM1SJrdPpL96OWVSwZx5NZAHmr7+T/veOngHty9zwF3JOIWwq4JxG0v/ImikIQVymxJcpKAmule0rhIV0jQoCM6rCMhggM9XNg81aGOzupmlVLcf0MnC47/t4eDr62h9o5izHbTPzyq3fy4XfdwrZfPUXo1R1kLlxA4//8F+MTYxxsPcwl171TVdw1q4VQNITVYtF13SdRV0bn7SdIFEINMhETbrDBRCAcYWBkhG1N++geGMCVVsqcBfUUFGXx69/8gffefC3mmMbuHUeZUpxNOGqhpbWNzoEOcgqLKJ9SQTgYYv7scrV6sH37UfIKCmjv7OTosSM4LFaqSspYsbSerYf62Lz/ME6TF4shxnVXrqUqPwOrFuN0/whd/cPUN1Rz8tQoO3a383drZ/PA408QcpoIBkIsqK5i3eI5dLUPseXAYXp8HopyC7lsXgMFmVb2HG6n5XArkZiRqvIqli2oxO8NceBgBweOH8ZsdzJnTiPpbgu/fXYDBrsVcyTIJQvmMqe2GqdJX31RwF0NBV0oUZqWdQnP83slgLtRQJws2YjCixJxFHCsV84jJgs9EzFuev8/UJtjY1FVLrFoGL/Px63veS+V1dPBKMxeAxFpSBVqVTSkzkuZeZ0HcJf7HsKINA5u2/IaT/7mce76ypexmy24nTZdmUWOoPgxbyPEnqhgnxPuv1Rxf+3Rx9nx4x+itRwgIxJjIs1B+4QPj9FMVWMtxS4bJ7buoMLuJOzVMFjMjBmCOOsqWLdsJe07m8kpK6F46Xx8WphD61/FarRTXldHwG5m4mQb4WiY3IVzKLt0Fa4ZdUSsLsW8Fj15NToU716nIKnmybfDSxpEIzAYiPLsK5u5et1K0s1GtJBG2BDjoSee5sZ3X6eWN/buPEZ+jksl8HuPneZY+3Hy8/JYUF9PSX4mDz/+DItXL+XlzU3c+M61HNnfSWFVEc+9sIGwfxSTxUR9aRFXL1mEzWxma8sBSmpriATDtLX3M2/uVJUcHDrYSsRgZMwXoHl/CyaLkZqplaxeukA1wdslbuEYfR4PhnQ3DosJQzhMmtWiGlR1qkx8ZVSNXL0VO1VxfzsMuIt3DingnlwsU8A9ibilgHsSQXsLNhGKRyQUwR6HzSKfFzbEqQNxmT0R6IsOefCc6mDj1ucoLClmyfJLwOEgJr/f28yrP/8pJ7u6ed9/fQVLaSG//n+f5tZ3vovmZzbj2fgK7lmzmfWlLzBs0ti/bzeX3vAuMOfpnGeTLgcp7oyT+Uo03OoV94R6iF6rUsAwriIjfxWNEcWBT8RFz2OUEoXyjTLqKi0ixyi/kvfLozMh93ZWRi5h7KMfTxYzZJVDFCmkwi4v0cYXeor0GIgqeRjTGTgq+xY1C9kmaJBtdJ65RZnuQMCkq9TI7+VBL3+L197iDaUCpoRjLs94s7pGOW95yXvlPGTfci6icCHq3gKq1ZUo5HVWGC+ucn7etyjRP2EQZ11FXRHgruulC/dKgLJf0xjXDNzy958kTfOxor6cSNCrvpYvWcKll1+JZrApio2o5Jik6i77U0T0P19ZTFTdpZ4ewqCus/VEJz/43t3868fvpLaygphQDkxC8zhn7F0AHei8g/H/441/qeKujKzk/L1BtjzyCLt/9QCept2kY6BLizBoNNMV8HPV9dcSHemje+cu8mImIgEZpWYCVgPTLlvAsumNHHvkKebUzmDMFGIw5MffM0SaO0Px2d0ZGQRHR7G402BaFdOuvQr3oiVo6RkEjVYlzynqRrrgSVwcUfjaSSxfXHSTIjUpRD3LSCju+2aNyXiShFIkbq1qfEiNQlYfpZ8loSol406+T4y2BL1QyUfqzKq4DOTZm+wQNlpM0hnU8SLxRmr9HYk+IojEFWfUMeKJsqhLyXy0aNIrIDQvg5rjsi+LSpGkk0BeMjflp0TPjt6npH8KpV7/WyKQAu7J3ckUcE8ibingnkTQ3oJNAiJbaJEqqK4JHQz61RJwVOBjOIolGGawrZO2I4fxeEeZtWQueUXF4Ang3dXMiT88T9vOHXg8vVhLi7nxC1/EkJ/Hk1//HO+46d3s3vAqg797Gnd9I0vu+m/G3Xb27NrOZdfdCNYCvRnVrAPhyW4I1IG78tmMP/ZE9lJ/isuytDTj6sreIo8YUxVmgURGpToiNCKRytS3FalBOWGloC2AMhZE08QdVnQhdXsc1SamidGURFffBwaLQgGxmJj/BJXOuIBS1V8gCVI8GRCwrXrQ0ClEeiIQ1o8vx9CMusSjUkWJV8eVs6V+ferRHqd8mFQjqN5xKQ6h5wJ3AdHys9xxkZszKPUXHRSoazlzU+L2RAke+HmMVR24S8h14K5iLKsciiojKx3g12DCYORTX/wuLbu3c/nSeaQLogqMkeN28L4PfBBXWg4xg03RhMxG4d/L9YiW5ptX3NU9iiuuSOSCkuRoGr5AkI9+9A7+9eMfZ+aMGTisFgXSzoU6Ig95lrF9Hhc6yW+5EOC++dFH2fbTH+M7eBAt4KPdEKNX4paZzZ2fvJPm9c9zencTaZqRYDCmEsW0vFzW3nYd/iPHsR48iXXYg2Y3MhDwEAuIu6yZrJwssjPSVY9xvzdAqCCfuhuup/iyNdikmuxwq/urUj01bxIN528T4B4/H5mv4fgckRU0s4xNQsQMDjWX1Vw4o+OvX4/EX4g/OlyOKbAvs1L93qCIYKqxXBJbvSgg5l4GJdOpkn8lNypNp1GVQKsEVikjJRRh4n0MZyhp0T9qvJZPEoHkqvVX5mh8XIsykMxR/d36sd6ea0aTPEH+l+8+BdyTu8Ep4J5E3FLAPYmgvQWbhIVALFUoQ1Q3s1FVopjiUMaGh9m3eQunjh1j4RVryK8oxSRlqY5umh5+lM6nX6TAaGLAN4ilupAlN91E9orLOdlyiGfv+xofuvNf2Letid4nfk9m/SyWfv0uPE4LO7du5orrbwZXsV41FRx6dtV30qJwFrgnDJ8EnOvAXYB4wsxIHr1SfVZUavXgDesVY9XBG9F5pAKmDVb9xEWRJxKSGpky8hGBdsG7SlpQdUhGwBBWD3lNmLVKX11gQlDJIcp+BCwkeglEntCk+XTtc6k248AgD35DUIF3TZNMR6+PK2FESQyUTrrerCamVvKTgBC5Pr1urtv46EZOujupSgcUB1yAhoYC+IoyooMKBQN06R1ds1uuO64Kcz43KSEvrlcIY3GVIrMC1AmfUgHuPoOZ7z/4O37+y0eYWl7K4royrIEhnIYQf3fNNdRMn0lM6DIGaYQ0KPCiA/fzq7irvg0MBGIawViM//7v/+JDH/wA5aWlumyhUj6N2y/JtUusz1ptnc+lTup7LgS4b33kMXY+8DMGmptVA7Jj7gwGYxYycou48eqreeGBn9K1p4l0u43CmlqlU15RXo6rwE375m1kdw+R4Y/gDwcZi4VwOhz4vRMUZKWT6XDgTM+i5WQn1qJiipctZeHt78UypxEtIwO/0YDRaNJHZbwfQVeKuvDXRa+4q/EbUfNNgLaMCBmDZrW6FNZXdNQs0JM2NZfUHNGBuDhAS5Isc1mSXLN8bshalkr2owjRT8C8AtmqChFf0TvjwivzNK6uhEZEGkvVVvHVJ01iJvqZsoGcoUw8SUxV14UOzGXcy5fMbKXfrn/eJBx/5T0pDfcLH2tv9y1SwD25O5QC7knELQXckwjaW7CJArPC81YmTFG0SJjo6DhDu/fRenA/rmwX8y5dpqzlw2MBBp7ayL6nnmXidCdOtwm/3UTtFSupvmYdPmsmp5vbGB0dx396N8uvWsvBLbvoeegJ0qfXs/QbX8PrsrL9lU1cce0NkF2uHj6aUY4tNJILsfe58GCpQpWSuEwAd/05mZDtEG3sBEtUr1wlCC8RBXb1hW+9eq307pUspljOSCXcQjRmU9U8SQCkSi9yg6oSp4nBlDRiykNemiz1pXiLNKKp+rgRm4BndW4CcKOYY0JikmV8C7GYAHddb1zOXTfJigMElXfodT5jTM5JP++IQZb/5XuLTsmJG/dEDFKNN2LSBLDGVNOmWoaPn9PrYZZexYvTHmScXChwV46uAjT0BX1pwdWbnnUgFcaM12jitxua+Op3f4LRYmNRdQF1BXaswWHKCvJ5xzvfhc2dQzhmwix8DAW2JDn68+oZZyruEmcx2YrFGB4f56t3/Tcf+vDfU1c7XTX66QY6utKQxFn3GzvjkXvhA+0ib3EhwH3bw4+z5/6f09WyF0O2g7RV8+kcDZBuz2ZOSQV9O7bT2byTjLwsZl61lh27dpMeM2IzRCk0GRk6cgxXDPyxGD408rJyCY6N4jZquIwGHLk5DHkD+DUjjimlLL/9vZRdsQbT9Gq9km0UhweZFzrgTJb8dtGBuxp8Yh4nq0666rkxJvKfcrNkZsr4lERW5qsjfuZhxf1Ra2xafDyIKZJB1uXkd7K6poN1obwY1WqaUa3aKaAdv3j53FEwX40rSbLFs8KsVvsU/UwLn5Htks8JAe46cU0KA7pBnUosE8BdcWrk2LrztKwEJuKsaErJBv0ij9vU7i5OBFLAPbk4poB7EnFLAfckgvYWbBISaT0BmqEQhnAE32A/zVu24DRoVFZXKuMhRkYYaNpLyx+eIXCsFcNEEEOai5wls6m+5lr1MD/UepQBb5C6ucsoqajiyAsPUFhaQs+uA3Te/0us5VNZ8c1vEMxPZ/emTay64lrIqQCh6RhlyV7DYpCa1eTxM/8ScNcL5AIJdXUdnfmsw01p5BUqjE7glaq0VI2l4ivvFjitQxXlfqioFnpVXgCgDrz0ZEHws6LcKHqLVABVXRxzvDov7rSylC6gX5c0FL67AFT5fcI4XVYABE5INT6+FC9nq7T4BSTrx5Aqs5yDUYCGWj2QVYL48eVvBkkbdLlEfTE+XmBXlXapNernriRBDfoSfcL59HyGqh4ZOQMFbfQEKW7AZIhru0eNFrwGE7uOnubjd/2IEX+UQvMEaxqKSYsMY9VCrF1zJdNnLcDmzFRV+4S6fGKF4c3O5Yw5URy4d/b2smvvHh797W/47Oc+S3XlVFXTtKk7LeeoKZyk53ev472fzwVP0nsuBLhvfuTXvPrLB2nbtR1rtouitSuw5k2hoW4umZqZZ3/0Q7pb9uDKcLPm9ls4tHc/MzJzWF7XwKHXttK0fRvD/iATwq0G8jNySZcTGB8jTXBpmg1nZibD/aMYHGnUXLqaRbffQvbyxcScdmJGm97MrpIh4xv2Mp8PKD+f91xouGNiIKcobnKPhbpi1Dn5qsKd8NiVCS7eyPKSCrhqs1U/qeq7amaXOSTzTKQu9ZGj5pCsbikzuzjejgPqmFpKk+ZuI/K9/JP+f4Om+wYIkFcxU30bOudeUn61gpdIAuLJrioCxBup9XWrs5+X6qMp4R52ocFJvf9tG4EUcE/u1qSAexJxSwH3JIJ2sTaJV5Z1uHiuTkbcC16vB6m/yjJvOBLCHolhHPez/dmnySvMompOA4ZoBPa2sOmeH9O9u5lsl52g5iW/tIzF77oVw/IlHN69n23b97Dq6iupWrUSo10MWULse+Kn5OdkM7b7KP0/+TmGsjIWf/MuQgU57HllMyvWXEEsmtiHMwAAIABJREFUrwxsTlVJln9Sq5MHof4A+vMyf3pF68JKSwngrkPoeFwUTUIH3IKmVaOZPHyFymI06y6yYk8eE7CsK5kYhAqjHv5mZQiqG1XpbWJGxU3XnSTl71FNqCF6FUy5kSo6ilBapAouHHe9yqeJwZVaXzehGS36srs0rsXAJrhdgG58IR9DKN7c6dAFPNRZS5IQVpVtVVyPCSSVREOuK3yWeasZ1fUYJGEwahhisl/RWdcTBXVuJquq9KtVhjj3XuQgdQLN+SVWytQrQcMRMKKuW+Jg0uMhoCimOikISfPkqI+Pfe1Bth/pIMvoobHIzuJpBdgCHrxj49x4y23UzpyjCA7imKp04eMgLFFiPBfg6rmSnnTJ/33DI2x45VVWrlnNnZ/8BJ///OeoKhfjKaE4CIiLr7DEV13kOid3/efCJnvi2t5QVUbup4wdX5CXH/s1L/7ipxzfuYOSqnJm3XAtBTV1TK+fzdCpbh793nc5vH0r06uruO49t/LwfT8mzxui0GQl5JugzzOK125hHAO+iIFsu4vStDR8fb1q/g+GxjGZzaSbHQR8EYpnNbD4lpuY/c5r0XJzMQjXXWWHkjAK7SgxPv/4es+du3+UmMTfdrGBu+Kjq/4Qffwqr1wFpqOYJCmNKwopwlQccMvwUnNAtw1W81tvG9c/OxOgWgS3xCxJ8c+jEYTJJmNS5rRK3NWHiM5TU+2jqhk6oir+Kg1NfDCpzeJd52q2ySeGrLIJuDdikjmokmz9U/1MseDMZ3yiD+X85uiFjcDUu9+qCKSAe3KRTwH3JOKWAu5JBO1ibJIQc9CLpqqpSmlexykUCRif0EwRzXEBUaZIDP/+Vg62NDHnqpUEj7TR8fBvOLlhE/awn4Dmx1FZQuG6y5m6bAkDYx5G9h8jmldM7eXrsJWUgcWuAKEhOE7zrx8iKy2TWGsn7f91F7a6KuZ/67+IlVfStH4jy5asRCudStTqxiTcWC2g+JpSrdJBlM7XPrvcLg8vHW4nHvQXS4QmUZlNgAlVxU40gMUf0omD6so3Z2CUjg/j901PI9TW56RLZ883fgHnJBw6PUN/JR7gsulZyJgA/fp7EvtNbPd6YssbQaA/PcOzwyxxrq+HvGdb3P742i58gJ6NxOv3FPcMUA1+EIwa+PkLu/jUN39CepaNdFOI5bXl1GenYZwYVknJsjWrqG2YRYYrG2NMYqSTnvSKp970Z4j7D6hYibFQwMvxI4fZ39bJnOWXcqqrlx/f+0Pu/tr/kJXmJt0u0D0BeHRBPaVe80cqIBd+3X9pizOrAW+QgJ77t9fvR+8/0Ole+jwRpoWAQIPSBd/0myd47r57OdDSTNnMOm6982NMqa2lpKyCPVtf4yff/jbtBw5QO7WCr337G9x5wzvJ8wX17NNh57R3HGtWNun5BRw53orNYKI8L4/AyAhEwvgIYbFYKE7Pxjc6BlYri6+9kto1lzDzqisx5eQSCIPZbCMUDONw2eIJlH4lipqiruGsy9WZ64mnn38pdsn+/U8SuzPz9s3mzdnZqX/yvPnrT8d54r1v/HmRAN9qdsaB+9k6xJ/7fEn26lPb/a1GIAXck7tzKeCeRNxSwD2JoF2MTc4WdXXZwji0OQPFzjwT4gAgElK270LVWH/X91mwfB5Z1fls/fL/0PX0BnKiGrH8DGr+7jLyL7uEWCjEnu27OLCjhWtvej9ll14GhYVoFouQrDHE/BAO0PHkc4SFyzncz/H/uYv06irm/c+Xic2oZffTz7N03lIM1XXEzC69jmwIqEqvqkidcQOMPy5lOfmc2MTx+9uqInoxbt3/xn2cm8K8/voSgE0ZJGlwdDjIbZ/4CoMBr3LmvXrZfN6zcj77NzyHFhzC7DThzspl6eJLqalu0E1s1PKMWsvQ1XJUcVMUkqCzo53XXt1KyO9n7XXvxJCRx/fv+RGeoQE+/x+fJMflxBCN6W6VCkjqTPe4GOZ5ri0kd9cS3RPxtsM/AYWJivPrQbxewdZTFpXeCT1KLlxMe2Lw4uOP89y997J33x5KZ9bz8S9+gfKZjThsNna9spUffP0bnDh0kNn1M/jRz37MBy5bh3tsXCXNXk1jJBLGlplNbnEJg0NDeEaHSbc5KMjIpK/3NDEzBIJBaoumEBgdJxgJKVfQj3zhP8mqqyVr2jRFlwmFYljMFkzCCUnUqAWgqi9d9zCRhMSjr+7B22mVI7k7m9oqFYGLG4EUcE8uningnkTcUsA9iaBdpE3OWXmN71GnAuhVyDhPOr6MHZV1YOFSh8Jsu+dn1NRNpbimkD333s/JlzZRX13D9KvXEJ4xjT3bt3Kqo5Xl8y8hv6CSXdtbyK2tpWzRAiwZDlSXnzRahaOMvNzEaGgC4/hptv3bf5JXWcHKr3wJFs9l/0sbmT1jJqa6WWB0EBXAZAxiNohivC6veEaWIe5bn/iVjgLOgoGLFLLUbiYpAn8JuMtho9IYrRnwGA385uUWPvvt7yjwV1mQzyPf/ByRU0d46fcPEQmOETUJ99dBVlYxS1YsJTM3h6ysTHX2EXHYwUj3qS5efnkjw8PDzJ8zj8vWriVqc9M26OH9H/gQH/nArdx64/WYozHMhpiiIOgKOnGJvjNygJMUlHPWWRJH+LPV3Pjqj5rB8TeqNRfVWB7DIg3DAtw1A7994AG2//4pXt70Mmuuu5Z33HY7NY2NZOTmsu25F3j4gV/QvHMHyxfP58tf/hK3XXMVNo9XqaZ4QmFCRhPlNbUUl5dz9Nhx+ntOE/R6KckX6dYogyPDBMJhCt1p5NlcjE6ME7KYmL/uMta95xbmrF6FZrZhNtsxGY3Su3kGuKtv4pQslZzHl8zevN49efFP7TkVgb+VCKSAe3J3KgXck4hbCrgnEbSLsMmfEjXiVch4tUupDZ/DDY8rlGOMhRg/fIQDTdtpWDCLTKwER0fUGbW37KOn4ziO4nwaV6zEmVdKaMhDyDNB67HDhD3DFNRUUbpgPganC7Fj9ew9SmfXcXI1H6/8++fJLa9i+ef+HePC2RzcupXK8grS584jjAPNbCakhXFKm6DifcYdT85QNXXZwrO82MRVpricF2HITOou/hxwj6eS6vjCExajmqEQfObun7JhRwtWk5lPve9G3rd2IWbvafZuf5n2jk66ekaIaGYCxjBmqxGXw6Hs3yOhEAF/ELvNSWlpBbPnLqCwuBSr1U7QYOM3L2zke9/9Pr+4/x6mlhWr1l5pENZbcNUAi5vHT27dV19pOAtozwXt5xIrztyYBG0rTpNJqAipyrsWxaI4cVFioTCPP/ggW59/Bs+Eh/nLl1FUXsXqtWvJzsnlmSee5InHHiPs9zFj+lTqG+r59S8fxBIKKV66uAd7gxEa5sylYmo1O3fuJBT0k+Zy4RkfV0ZVHr+Xgtw8wuNesmwOvN4JplRPpaS+hspZjdTMmUNGTgFmk0WteugKPX+sMPNHNLQLa1OZ1LGa2nkqAm/HCKSAe3J3JQXck4hbCrgnEbSLsImuOaAE/+I64rpxULzn6o+OoJ6ZYZQVt8kcwRgN0bFjGyf3NlFhdtLdc5rWvm7yplWxaN06sqdUEO0do33DJpp+9xT5Oeks/+AtBIsLOdS8D28owuzli8kuKsTXcoT2/j6m5Gbx5Kf/k0AoyK1f+TyuVcs58MIrlOSVkLN8BRGzTWkRxrQAFoMj7uf5x9xSOc2zMmcJyCO/TQH3izBkJnUXfwm4Jw4uTbChSJiAwcie9h6+ePcv2LP/MJfMmckPv/xRStOtmCITBL0eenr6aT3RzpBnRGmux8JBpHk2PyeHosJi8gpLyMjOw2h2EDNaVaLa2TfMpz773yyaP5ePfuQ2LEaR3xRJwBBmqfzqmaG+2CNqHwrETw6qTOiX6CNYl/JLAPZzgXvcTziu5nNuB4XeGKlrGcUN7oVOFovRtO1VNm9cz9DQIGuuvJKqqdMoK69Sle5jh4/y9O+fYqC/l0tWLKe8vIznnv0D40OD2Kx2vfXYaGX27Lk43WnsbGoiHA5RUVHOyPAQ/UMDikZUNmUK1qiGZ2CQaCjMnMULaFg4D1OaG1t6JmabjUgwgtNuU9T5xGzW6XpvsFqWKrlP6hxM7fxvOwIp4J7c/UsB9yTilgLuSQTtImyiuLOiNaxURuLyhKL5LUIccc67/D6m3P/EJj2slrTFNIiIH3zjBFv28/MvfonsilLWfOh2shvmgsUJERP9O/ay/rvfIXxoPzkmjRGzgbUf+TC5S5fjmRhj1/6dVJYXkedw0396gNqrr2GkaSctu3Yya8VK0ufNoeX36ynOLCD/irVoFlEwkSd6OA6yRJJBh+rn1tXjdkDn1CpTwP0iDJdJ38X5Ane9qKzLgo7FTGxsOsSXv/4DPOMeVi9dwCf/8X2U57mxG8XtUm/MjInqkVL6EIWZOEBUcnwWQiIgYnESMhgYnYjywM9/xebNm3nowXuxma3YzRAN+HDZReNQtPmFc60ngrrM5OR5UOr943GFkHgTrFIMTIx85eyp/6QETeJNqGpWxP+m60PF23OVtFEMLRqju+sU217dTE9PLytWrKBuRgNOm0tt19HRwc6d2+nobGfNmtUUlhTz2KOPqDjK9UZCEbIzcpg9a67a++GjR+jt6yUnLwd3hpvTp3vx+H24nU4qikoY6u7B7/MxpbyURZcsJ6sgX7pSsVltCd1T1Sys5rGYbp1JjKSn5ZxVjRRwn/R5mDrA324EUsA9uXuXAu5JxC0F3JMI2kXZJAF3BR3EtcUNunKH+opFMItrX0x3+9O8Ad3URrS+TRrHNm5kdF8LBbm5FC6Zi624kJ797QTDRspnzsQQDOBta6PzqSc5/tzzxHoGMJmt5DTUUX3LO8honEZv6yE6t2yhzxtk6XveR9H0OiJh4RJbMGSm0/K7p7FpGrXvvAZsbjBYlSxlzGIiZjQo2oTZbNXlEeN1dYFRCtKL+Y7SMtabEi9UEvKihDi1k0mJQCQawmgyEYoaCRoMvLTjEPc9+AhHTpxk4fy5/PP7b6G+qgirFsVuMGBRMnyCbnUzJ6OARDXOTYSU26WJsWCQ3z/zEr/8xYN84o47uGrdcrUSJRKbonkvcoAiwad0tM+hy8TXeCblOlUjrTKR0ivuCRO0hG6oxEDkSEU2UBp3BfCGQ2EFdjVpRjXHk1uRL1XiLGIapBGNRBgY7Odg6xFCgaDSqc/PLcDlcKvEZmBwkGOtx/BMjFNdW016ehq7du0iFtOU9GksEsVldzGtqpo0l5tDR4/QPzCAK81FVm42/YODjEx4lJtqUW4+oQkvA/195ORkU1s3g4zsLCxWq2pKlQq/SCTKKoCegOhyp3Jdch3KO0IlR7ojsbqGRO9K/P/Xqz1Nys1I7TQVgbd5BFLAPbkblALuScQtBdyTCNpF2SQO3KXErsqdupNniBgTAT9Oh42wz6sMftx2h3ITJBjg1IEWtqx/ntKSYuYtWoTTlQ3BCFtefom2421UVpRjNBlZfsVlIFrtGgQOHGL33d+hb8dOXGYrXrOZkoVzmfP378FUU0Lz+vW88tJOGktnsuq22zGXFiNoKzzSx8M/vo+qyqksuvoGrAUlSpUmaoioh71UI0W/XBRm5JiK9nMGuIv2uG5GpMyALlDL/aKEOLWTSYmA+NOGAj6cVgfhiEbQbOHVI6e4+ye/ZOfufUydUsodH7yNK1bPxm0CUxgsCcMko/REx/AGg5htVuWQKU6pP3/ocX72i1/xqU/cyY1XXKaSVuFeS5VebatcLBOUqwRpZXIpWErjPq6gIqBVjhYIBLDZbKqKrqnkNar00hXcldWFSFSB4HAohMPtJhgKYbGdNejRolHMRhP+YIAR3zhmg0kpRTmtduwOB6FQSOmYj3jG1MdCepqbqOK2a4x7fOoYFpOeEORm52A0GvH5fASDQTDJipyRSDSqu44aDKQ7XQQmfCr5iGkRcvPy8Hq9OJ1O/H4/DrudWDSm9hmNRhWgD0fCig4l16kS8njnqm52dha4/zmpzEkZeKmdpiLwNo5ACrgnd3NSwD2JuKWAexJBuyibKMcg3brvHOAeiEUQYGQ1aFhjMUwCfr1+xvr6ObKniVA0TGV5KaVVlQR9AU4dPMSJ9k7yykqZvWIVBCK0HTrC0UN7Ka+uorpxJjYB8N39dP3hWdo3bGDsRBvhcBBXXg5zbrgK18pL8I752fH0JkYnJqhdOI/pyxfhLitU6/+Htu+md2CMooppFFdVkF5SoPj54hYqVXzNZNENgJS1fZwykNCjV6XGyQVYF+V2pHZy3hGIiMNpOIDdYFIV5ojZgtdm5bQnwnPPb+Kl51/mdPsJZjdOZ9WqZSyYOZPsTDcWqxOTaDoaNaLRCKPj4xxtbePZ555nYHCA66+/lmvWrcWmxbAIRcMghloRrLKNVL7PJH8J4D453PZzA6GAuagpRYSmI9VnqU5rqsouS06aWW+ZVdQ3VRE3MjE2htVmU6DdZrer+accO4U+I/szmRUnXaZ+RCr0UbAJFU2u0WImrAnwlmljAgH6GBgaGMSdnonFolyDsJhNip5kt9sxmy2qwi/JsQD8hLhsJBrBbDJhNsmqWISJCS8jw8NMmTJFXaIAb9k26PcT9gXVvQmGg1htdsxWswLxeoO8nHtc/vVc5Zz4NaVW08576qTe+L84AingntzNTQH3JOKWAu5JBO2ibCIc97jVn/pPr7hLtS0U8uMwG7EEAgq0H972GiPtpyitnkb+rHrs6Wm0Ne3hyGs7KK0ooXLxbOxFhcRMLgzYsUSNePtPcXLPLk61t1I2ZxbT62ZjihjxHjzIyScfo3PjS5j7hrCZbVhrplFx1TryFy7idNsxdr70IuFAhMpVy6lbcylphSX4vSH62zrobWvFkptJ7bx5uHLy0MzCfRcXURMGoQYkls8TBJo4ReCihCy1k7dFBELKrdaIKSjShhA2G5iQSq/BSDSiMT4wTNOugzz70gt0DfQh6o95OQUUlZSQlpamqsNDQwNMjI2S7nJy6aplzJs1g4opRWjhGDYLquIulWsFlP8EIOrA/QzXfBKjEotz0uU8xoaGFbVFDpybm4vRJmNfgHxU9aYoq6lIhN1NuykvLaP1+HFq6maQV1igU09M4kYr1BQj4XCYSCSEZ3gUo6ZhtVhJy8hQwD0kdDSV+BqUH4PDYueFZ55lRv1MSkunIIA8ZtDYsmUztbXTKSwsxKwq5jHMZjMezzj+sTHyiosI+nxM+P2kpbkZGBzipQ0buO2223QuuxwrFCQWDnNk70Gys3LY27KPsopyXOlpVE+vVRwntZpwDkVGwv16sC5xev17JvG2pHadisDbLgIp4J7cLUkB9yTilgLuSQTtImyiK1HErbbjCESAu/w+HA7glL+PjvG7H/2U2MQE197+Hkzp6QT6B9m5bTtDPi+rr7marMry+MNVKOhm5cBqMphRXX/hENHRAZ7+zeOkYWD5JSuwZmdhcDuZ2Pgyu376ACNNO3Br4ItA+ZJLafjw+7CU5LDtFw/R5h3AWZrPzMoaKpauxlJUjiEQZu/mVzjReoyG2XOYOnc+FocTbHb9y6i7WioGkOL96oAm9XqbR+BNulPP7UfUy7R6cinj1Bozqn7RkCFC2BxTzdY2owlT2IjRbGEMOHCql/3H2jjZ0UHL/kMcOHCIKcUlrFy2mMvXrKKuqhibBi6jhiESwWoVqkdYB4YC2I16MmCRivQ5YP3caE7q6JKFsUiESDjM8cNHWf/Ci1RVVDKjbgZTZ8xAi0Yw2q3EotJoLkVzjc0vvUxVZRWRWJTcwgLS09J0YG8yKcAulW0B737fBE//5knKS6YQjYSYv2wpRjGrslpU1V0oLE6TTfH6n3zkMRoaG6mur1cKPbIasWfPHvIK85RDakFeAQFfAIfTyVBfP08+/DB/d801DE2M07R7Nzff8m46Tp1SCVfJlCkqwXCkpRGJhDFbrPz2p7+ioa6Bhx97jA985O+x2m0UVZYj1B5DPOEQcC7nLfde6DiSJMjPyqDpHCnMt/lIT51eKgKTEoEUcE8urCngnkTcUsA9iaBdlE3OiMjpeCgOnAQSRcNhZHEbX4D+k+20tRzAajUoZ8lwIEx2WTk1c2Zjyc0mKg1mAmlk+d6sq9DIsrxZWlqFoxvwo/km6Ni3l+OHD5FVWMCMObNIt5jRurvp3PAc7c+vx9/aRdDgJFZdwdVf/A+lPNPnHaTu8jWc2LKD9lP95BdXUTW1FlduGv7xEU4cOU7/wCCl1dOZOnc2xrR0NItJVV6l+1DpfRhSLosXZbhc8E7OQu5E8/C5AFf4zDrokp5RHSAL6FR9n3HvrAQrQv1aErL4LvUKuBjwKn6U4lNHtIiiWJvj4ueiIeOLaUQsJoJRiJrgxVd28c3v3Ev1tCru/tpncJtMODRN6bRL1VkleqqRM35uSNOnSJ+La6pJNX/qc0VoKVKN18//jfLC1zuZJsKXUKQ5v3DGGzJFjTUQ5PjBw3zvm99i3ty5lJdOYfGSZfT191JdP4O+nl7dHdVg5OUNG8jKyFRNoEUlxcrBVOZkWVUFXae7MRlNVFRWEgkG+cG37uaqdevY/tprLFy0CJvLDhaL4v8LFWZ67XSGe3p58Oe/YMnSpUyfMUPNcZvNSntnB4FQiJPtJ1m0dClev5+KqVVMjE/w6Ts+yq0334xmMvLii+v52re/RUvzPiqnVtHS3IzZalH7OtXVRf2MOr7xxa+yfOlyfvXIw3zm85+joKRI8ft7+vooKS2lf7BfcfnTMzJUVn66u5eKqkocaW4F4i1WS9z9WZ/3iSRP/3A6v2in3pWKwN9yBFLAPbm7lwLuScQtBdyTCNokbJIoeIqrpFSwhFebsB0PjY9z+tABtECAvLIy3MJRNZuURGP4HHdSJcUYB1c62BJZDNGKF8fVIIGRYY4eOMC+XdtZMKuR2pkNCgz5Dx3k6KOP8dr6V3AUFXD9Hf9IbGYtTfv2cPm7bkbTLPgHPfTsO0Lv8ZNE0mDJpSuwOtIYbzvFkdY2Zq9ZhVXoOlItVNJ5ZhG/UeejN6imnt6TMGzedJcCfs/gJyXplwC9OptJgK+iNihTJVFsiUsryr1SfO2IGn7RmPCgbURiGr5gCIdDGp5lkEWIRjVF0RBQL+NWuNuyb13+UG/dEM61PxDAYHfwyp6jfPIzX6Kuvo7vfv0/yTSbcGphLKLxjomwrBRpxGUk9cRWTxZEpUV+iOgOpGaRUBWpwvg1xY+p+4HpmumSOEplWp2N0n7X1VIubBzqdDapthvCUQ7tbeH+e35IXlYOs+obqKmuZnBoUFFKTpw4QX5ujnKBPXb0KFNKSjhx8iRzF8xj67ZtVFZPo6S8jP7BAQxmE0svWaFcVL/79W+w8pIVbN60icaGmRw9epSS0ilUV1cTikYoLimh51QXW7duYe7s2YSCQQoLCsjOzubI4WOYrGYOtx5n5ZpLMTkdTKmqwOOZ4LN3fIzLV6zA5XKxfv167vr619m/fz+HDh8iIyuTqdXTGB0dIxQO0TizkZ/98F7mzZ7L75/+A++65RZ1TQMjQ3i8E9RMn86efXvJzc3D6Xbhdmawd3cLVdXVzJw7G01MtYQKZNab0NVoS1Tg4x5tFxb3v+ZMSR0rFYGLE4EUcE8ujingnkTcUsA9iaBN8iaqoqn0r2W5PKrAEUH/WaFoUWmxWonIA1L45ecAdqlcClhRzW1KSiKGQfSfhU8fiyplmrGeHna99irBiQmWLlqEuyQTiz3G8a2v4RsP0HDJKjzjXlWZW3bVVRjT03RJx7ABT2c3zft2MtzbQ01VDblTyjm8ew8Lr7wSu6wAWM1Kk1sq/ingPskD5c/s/k2Be5wZrsB1TAelogtkteqgW/jO8o1qjIzFCEYiWAS4CzdbmiBlbEXDWMx6NVwwsoB2kRaUyn1C5VxV+eMuujHNiFeD3Yc6+cAdH2fZ0qV87SufUMDdZRCfAmmdNKrxLC8hxSRWoM5mHwlXT5kbct5BzHLCJouicih9d9lOCa2f872cooD4ONHmwgCkNMfqKjHGqMaW9S/zox/8kCx3Grff9h76+wfIyspkcHiQgD9ATkYGpzo7sJot5OXn0XriBPPmzWPDxpcV171q2lTKKit47oXnuea665SSy73f+z4+rxe3w6lUYoRKUzt9Ol6fV136+NgYmRmZdJ06pRKW091dLFq4mKzMbA4dPEhQzLAiIabV1XOsvY07PvkJjh8/zjc/90VmVU/H7XbRsn8//3zHHer/lgP7yc3PY+26y8nIyGT9+heVO/LG59dTO62a5198gdve+16yc7I5earzjHTkzqadzKirx+VyMu4N0LL/MKsuW8Oi5cswyFiQ4Jv0Rl1Jq/QbqPKl17kpv3VzInXkVAQmMwIp4J5cdFPAPYm4pYB7EkGbpE3Uo050nqVKLhrKcRk2AVDRsB+T6LgrGTqjUnTRoUycQS4PStUIqp9cJP6N2kISAamghoI6NBK5uoCPjsOH6epox2AI0TB7Ojn5hRDUiI362LdlB/a8HGasXU3MaSdmkmOZMUZjGMIBRrtP09XWweF9BzCYLVx7663YsjOJiSqGkvEzYRIAJbSGOICbpLCldvsGEdCB+xm4esZhNFFdj0aiCpwLNUVoHIpaElcCEmqK6r8w6uC8ed9+opoOrJ0ukTgMq6ZGi9WmgL8omwSDgXj1Xed5J4g6Mkb9AnztDpqPdXP3vfdTVVHOJz/2IZxaCLsWVl4FIikalTGvGZD0QJ2fyaCbjsXHtRgQ2awWaqdWYrWI1oqmmlgTlfe/NBAERIou+YW8lJ+CwaQSms0bXuaH3/kul196KTXTprJz+04aZzXy8qaN1NbUUJSdS+uRI6Snp6uY9PX1Ma2mht17dlM0pYTG2bOwOOxseOklPvjP/6TkUu/+xjfITM+gYXodJ9vaVOOuNPEGfD5VLd+xfTvz581V3h68AAAgAElEQVRjfGxUJRCvbd3Gddddj8PhoLPzlJKVDEYjXH7VVdzzkx/zrR98n76e0zx4z48Y6elj5syZtHd0cOmaNQRDQXUOTz71O1asvARnRga/e+IJZtROp3lHExVlZQr0z1+0UElBtnd2kpefr5pY9x86QE1NDTm5ubS2dzB/6XLqGxtFmxKjxazLZgr9LgHc459lEvMLDvqF3KDUe1MReJtEIAXck7sRKeCeRNxSwD2JoE3SJgm6TIKfKw/qSFjXTMciS/9KdA4LIr+YMKMxxpel43QUoR1oBkKK4iAqFlJF1SX1RHlduSYJqFOGKxqR8TFOHNjPpuefITMrm8hEQNFiGhpns/CaqzBmpxM0a1jsDgXAZYfScKr5/OAPEzVaGO3rJbMgH3OGm5ioi6iHt1Bl4jaTCdL0JMUttdvXRyCuWJQod8qf4w6jccII3kBQKZmYTAYCIZEh1KulMtQSXHbZzOMN8oUvf5Xh0XFMVhuhiEbMYMTvDyk1E6kISyVYJZSxqGoslcRTKtvSNCkNjFa7lRFvgIkwuLIL8Pm9QhrHZY5hifgwSoOn2awceaVXQ3TN1T6Egy+JRSSqGrZFy33uzJnc8u6bKCnKU+PeLEmiMjbSqdS6GsvZSq+69ETV9wKBu07VEUMyowLS6595lnu+933uvOMONXeef/pZCooLmfB6Cfj9ZDvd+Mc8Sm4xJydHOZqWlZWxactmGhoaFD98bMKD1+/jn+/8GBa3iy9+5jOKIlNRWqZAuei4SxKwb98+ysrLad69h5kNDcr5NM3l5IXnn2fVqlXU19dz6NAR/KLQMzrCzbe+mw2bNvFPH70DXzjMbx/4JScOHaa0tJS9+5p57+23s2fvHubOm8fRY8fU+ezevZuRsVFmN85i19ZXaWxsVEZPwqWXe/fss88ya85s8vLy1D6ysrJoqKtn+75mZi9ewmVXrCMrLweTxYI/FFSyl3q7vX4PEiuHKeCe+oT6vxCBFHBP7i6ngHsScUsB9ySCdrE2eQMlD6EvKLARV2qQh59UM8Wx1GK3KRBh1HSjI0MswdnVmwU10ceORQkLgArpyg9SmRMtZx3YiJupVN/lh5gO4qWiKWDL72NkZJSIL0RBTgEGqbK7bASVAY4ZU1TXnRere6n1q0poVCMWDGOwCLfViMFmVsBJjJnMshJwRvNZHF8vsNR5sWL8f3I/Yhwkjp/ylYi73sUpXHW5ldLsOe7x4vUGcKU5cbp0858J7wRulwu71YYvFFaNlP2jHsVhzsrKoHdwjMzMNJwOC53dQ8rJMzM9jYB/ArfbqXTGE7c6HI6oBkynyaiaLaX3oat/nPz8DEWnEJhnEq1xgzS2mgmGowRCEQwmG1bRhEyYrQpAN+nV9UgoiNNuIRIKYZVxp5YJZKzpNzpOZz+jcvL622+Mew2cz7CQ5FhPdCAaivDgAw/w1BNP8A8f/jB52Tk8/PCvGB0bZe7ceTQ3N9PV1k5JfoECy+npGRw5cpjCkmIOHTrMrFmzMFvMvLxxo6pm3/vTn2CyW7njo3ewYvkKbn7HDfzovvtUlf6KK67g+WefY0pxMXarnVPt7YyMjlBdU8Mr8e1XrlzJqVNduNPTOXr8GGvWXkZbRyef+/KXVHX+yYcfwzsyqhL8vXv38L73f4CHHvoVV1x1JT29vYyNjtHT10t3dzeXrl5NV0cnM+tn0tKyj2nTpqkVg1deeUXRqa6++mpeXL+e/v5+RXMyuZy0HDvKN7/9bWob6tUxJO5nVgjP6UdNSHmeT7xT70lF4G85AingntzdSwH3JOKWAu5JBO1ibfIGwD3xoJP/o0JpiYS5/yf3Uzm1ksvXrVPAPegPqgd6QmYxKnbwZiNhLawUPuSB/sPv3ceCeQvp6urk5ptvoqR4iuIlSxVfAJBwdxPNiZrQXxLcBmFYSNJgNBA0xoiYFEEGo+rz0whHo9gsFh38S8PihAA2t2rik3OQB7iAnQTPVV2PMW79frHiltrPX4yAQHfhrv9xumRUuZo/JPQWG52n+xkeGaO0bArpaQ4mxj0MDA0o0Cl0DwH3UmHv7O6hu7ePufNmc6y1k5LiQtwuB8+9sB6nzcGMGbW0t7VRUlKk9mUzG5Q7qiQCwYCPvMx0pfU/ODbBMy+s59prryEU8OO223DbzRALKb66UHQCflkJsKkxJqA8HIkS9AdIz3Cr1Z5YOKiaVHVOfYRIRMPmElnDiN4TIio1NqtqthVHUVX1V9QyvYov128T2dJzXm/Ge5d9SZJjFCOoSJQNL66n/cQJ1q1dqxSemvc1qxUxs82C1zdB0BsgNytbrTLI+YiuutVmVedhtlhURbqvt08lyze+6yY1tx597DHmNs6isaGBlze8pOgxDpudtrY2bGJsNe5R90GSIVeai6GhIbVSIg2qQ8MjSulFEvTKqipOnT7N9e98p0r0t7+ymcHTvSpZ8Hg8lJaXq/9ra2vp6OzEarXiD/jp6OhQKydyfVJRVy6sgYCi6gn3/uTJk8gzwuV2qR6GzPR0okYjjswMlSzYnU7dWOocrfdzP9ZSwP0vTtXUG/6XRCAF3JO7kSngnkTcUsA9iaBdrE3eBLifqRxiUODn3z/1Kd797nezYMEC9YC1Wm2qAihUAllCt7udSvdZmbdoIQ4eOshn/+1z/Oz++7n//p/R2trK3XffrapoAubE9CYSEd1tDa/XT7rTofjo0ZAOfMx2XUdaMxkYGvfgTpPmVKGzmvBMTKhifbrbqSpsQq0QR0aX04lZNadJE6yu96yAlnxv0qunqddfLwI6cNcVYs59eQUYO1wcO9HOnub95BUWMT7uwemyk5OZod4qXOiWfS3cdNON7Ni1l6zcXAJBL4MjE0phZnhoiLVrLmX37l3K+bOubgbdpzrJzcumfka14rjL+BoY7GdoaJD6mTM5ePgYdlcaO3fvweVOIzcvh77u0yya28jgQB9pDjsezxhZbhcB7zizGmcqKkhWVrYat5kZGexpaiI3K1PRYzLS02lra8XuSlcUnul1dcoV1Cvj02hUIFUAqIw/oa0I7aS3tw9XWgZud/p5Afe4sqVusBSNsXPHDvp7+1i14hJGR0fUvEqA/pGRIWSFISs7RwF34arbrJJA6HM4Ek/C/X6/As1rL78ccUne9tqrTKusYlrVVHV9TodTJex9PT3qugf7+rEKx95oUCsjXq9XrXZlZWcTEtfacESBfTFMmpjwsWjpEqKhMPv3NtPX3a2AvSRvou8u4HrqtGl0dnSoZEBA+sDAgKLCSMzs4vYaDCrHV0mCAl4fmzZtUrz2xYsWqb+lud2yXENecbGi24hDrN4UrIdUrRSeW3FPqUH+9SZ96khvaQRSwD258KeAexJxSwH3JII2yZsonWpVqZaHfphPfvJfec+7b2HR/IVK3UWqYcFwiH3N+9jZ1ER2fg7XXPd3yrxF9BePHj3Gnf/wL9x7z3389qkn6erq4t8/9W/satqNAIc5c+ZQWVGugJFIwjksVqZPq+bY0WMMj43SMLtR7WvH9p2MDA2zcOEC6hvq2b59Jz6PlyNHj5Gdl83qS1dxureXw4cOKcnJW26+EbuqdiacFeU65HuhNKRef80I6HA9XnFPSENK1Vn6HyIxuvoG2L5rD860DIbHxpS0o3CpheoSCgbYvHkLCxcu5NSpU8xbsIDDR48zPDqGFjMwNNjPZatXKppFmstFRUUpPV3d+H1epkwpJhQUp840enq6OdneybyFyzlw8Liqzo6MjWCzO8gvKOLA/gNMKS7C6xllVsM0Qj5ZSYKJsT6m19aq5svs7BzcLrcCu0ePHCY3K4uOtpMUFeYx4fFgsdmxOV3KyTQQ8Cvw7Pf71PwJBAKqsVUaLMV0SK4lLS2DjMzsMyAzcU/evOouqjmi7GRQjZujo6PMmT0br9dH56l2lZxmZGbS09PDhNdHRlaWqvIrpR2LRZ1HQuJVQLfMP6GvzZzVqMD48dZWivLyyc/Pp6O9QyW8smIgCYIA93AwxPjIiGrUdWekM+4ZV+A4KzNLrWzFotLMHsOpKt9GplXXEA4G6enuUjrwshImc1DoOZLMVFSUMzQ4pMC5z+dVYFwSG1HmkYRAubIKnSoaVfHd8spmVc2vrKokGomQk52jtnW6nEqyUq7x3Nfr4/gGtYm/5jRIHSsVgb9aBFLAPblQp4B7EnFLAfckgvZX2kQa48KhMJ/+9Ke56YZ3sGTJUgXcwxGNI0eOqGqdVCS3vraNz372P8nNzVbNdE1NTfzLP32UD37wQwwODnLrrbcqANF9uoft27fT29PLRz7yEb7+jW/wmc98hjSHk/279/Cj+37Ef3/9LsprqjhxskPZuz/20CPkZWVzxx0f5bZbb+N73/seX/qvr+JIc7H0kuW8sm2z4r2+tP4Fvvutb5Ge5lJKJcKxTsiBGElV3P9KQ+bMYRLAXbmPqnuhV0UjIoVuNEmbMqNev5INVQ2FUWFwmJV+uymu5X6yvUMBa7tD+fgSikovhaykCEUlTJrDoaqtdrtFgX2fZxyX26lWXKIiQapKsCZau/rpHxiidvoM0tKcjIx66OjqUeMxPy+PKcWFlBXlqGZmkyGi9u/36y6gUr0Xnr1UiIUm4p/wEA4GyM3OxOVy4wtHVRV9YmJCVdcFOApIVTKV4Qh2uwOjKCIZDAz0D2C12JUGusyHBCdbtpP9v9FLQGxcGR6f30c4HCIjI12BYc+ER8VBVgOkN2DC58fpdKl9CfBN/J9wF5VzlJdU5DMyMhR9R7Zz2R0KAEsFXN4r349LUmIxK2rc+MiootxY7BZ8fr+6B3LtclPk/AKB4P/H3nnA2VGW7fuacvrZns0m2VQSQhISEgKhNxUBFfSP3U8UC35iowZQAeETEbEgiA0EERUbYEPlExFQ6RAgCYT0vtnN9rN7+rT/73nnnGSDAZJDEPh4j7+Yze7MnDn3zOr1PnM/90MiFlML+nRdSoG8nFfYLOypzxqNRMgMDalzlchJeQogCxuptKsquiyupY1FhkjJtFrPZ2gow4MPPsT06XurCn8sHqelqZFMZkj1Ojc3NakeiheK2NTg/p/+zdfv90opoMG9NuU1uNegmwb3GkR7GXcZ6QmVr+X/ZC+88EJOOultHHnkkTgy9Ma2uf7Gm5g6dRqHHXaYahqNWuJED4fCL1m8mG9dfTVfvuwyVYlMJhMMDGR4+KFHeOihB1Vl8Btfv4If3/RTfvSjH3HxFy/khOPezM9vuYXb//B7vn7VN1WVc+Wy5dz917+RTiX55Cc/xZVf/wYLDjyQf/zznxx7/HE8seQpps3YW3nohQgluSamIivDyUvSpOoFPhEjfJyuX/85BVSiumpI9raNQ1L9B4HJUL6k4hl7B4dUQoz43ePihR7I09KUUiAWtw3KjhcmtqgBSz521CKXLShbzUAmQ1NDPb7rylUmWollHMz0K8uUYLBYOGSaZySaVJ53eRITsaPquGYkpiJspEIu92/CEiuWT9lxKPpi20gwnC+oXg4Ba7FwRaTfQqXMlFWSTalUxrSjBDL4SSXiyLlK/4avqsdyLAXolkXUtlXvR11S4HPHivtIiB95hVQoUiWKUqrulqQ0IYuScLaCaCyZ9vJ9NXdBTX4N+zmqc5FlIS22EyFdNRFZnkhVfhvC8VDhecsx5SWwL99XsZ2VLUVjVb03wHFKKsbTtsTjL30qlrLx2PJ7F67PKp85tKzIOYVLM+kh8FTSlMrwl/OSyE2ZuSBzIqrDrqTJVBrMpRdCfPxPPUVbWxsTJk0Mox5VOpUMv5LtZDDW9kFYO7u7Nbj/537n9Tu9sgpocK9Nfw3uNeimwb0G0V6uXbbRViXTTvzGpRILFy7kxLe/jaOOPpotXd0MZ3MsX7WSxx97gv96//tVg+DkCeOJCTR4Hps6NnPu58/nhhtvpK4urew2P//5Lcq3PG5cO08++SRXXHGFqvAJzPzlf//CR077KNlCXmVOy/TH+niSiGGzpWOLigc874sXcNNPf6ZGu8+cujdvOeEEFi1+ih/eeD0Lzz2X5sZ65u67r4qKVJM3JXRGdbwaKhpSg/vLddPs/LjbwT1sUhWylGvgyjRULNZ3dHLPvx4gmkiTTKZpaR6F7/gKiseOGc2kCePo6e5WkCeWir2nTVY+dbFo9PT1MmHKFHJDGaSxed26tRxz1BH0dXfT072VZCJKMpFQfwb6+wg8j4a6OsrForKNNI8aHTaJJlMK6CV3HKfA+HFtbOjsZm1fjokTJ7F81VqV0NK5ZYsCxn333YeOzZuYt99sMgODKuO8rr5B2bjE297d00MiHlcLhngioaxkkYjFfvvNpbVFhhh10JJO0dwUevmrr+erGIfTWgNlU5GFi1nt4RCwVk8y5CmFEVap5anFtqp1JexGAbBMoZXqvmwXpjFJlVz+HQ6sCl8qFapKuSMTmKqzGeSHsoBynLC3RFXFpaofpvgE0kVbMZvL14Zd7W4IY2KV3UfFdoZVerXIqcD6yN/N6sBmAX5ZAMkTu2Qqpaw44ZMJieiUKbuVqNfKwkMVHMIVizrPkZ0V+nf/P/u7r9/tlVFAg3ttumtwr0E3De41iPYy7zIyElL86X/+859VxW302DblTxVv6Zw5+3Hbbbdz3733KXDed99Zkv1CuVzk0Uce5bEnHufkk09m0qRJ6v+4lyxZwt13382ECZNUJW3u3HmsWCEe90GOOOIIcoUcS5cuUY/EpRFNmtbE37pgwcE8s2wZ7373u7jwwot46qnFCpIE3D/z2U8rv/sdd9zBKR/6IAfsv391cGZlxLxCEg3tL/P98uKHD+MhBeEVgNo2i5Ys4d57/8GkSZMZO2ESW3uGOeTgA/jnPx8iErWZN2eOSjYR+O7YsoW3vvVYbr3190ybtjdr162jWC4wob2djk2bGBrs55gjD6Oxrl5VoBOxCP29PTQ3NbJ2zRr1hEgAfFRLizpmKlWnrDATJ0vSSY7Vq1eq5JfZs2ayYt1mHl22hv3mzVeWr0lTJtM+dhxDQ0MKyFesfJZ3vONE1q9ZzzPPLKWuPkVjYzP5YpFMxf8tzbNz95vLpo0bGc4McsD8A5gxfS/6e/qpj5k0NtSrc6q+VAN1ddjZi4uptng1gum23PTK1No98YsXzpSoTMHdRW30ZlqB16MCGtxru+oa3GvQTYN7DaK9jLtUfbrbGlRHVN+qgCEgXh1yI1XzMI4xbChTj9ornt1qY5xASTWiTvaVbVR8XiUzXn4m+1a3F49w9XjSFCh2naeffpoHH3yQY489VoG/VOVlUTB16lT18+p7vIzS6EPXqEBolpC6e6Cenkg1NTM8TCYzSGtbm/K2P/7EM3T39NI6apRqtpQFndwf7ePCHPL29nZi8aiCZ7FcSA64YfiUlL86QkNdmrZRzfT19igPen0qQVNjo/KF5wtl1VwqzZHirZb/zRG/utwz4jeX+1HuQanqburqxTWjNLc0smbtRuVTl23l/KdNncLiJUtpG93G6LZWli9foQZIzZs3h2y+SGYoQ3NLCxs3bWLi+PGsXrmKwf4+DjvkEMaOblFPixpTSeqkD8OS4WRhNVpHFtZ4Y+ndtAJagW0KaHCv7WbQ4F6DbhrcaxDtZdylOjVV3qIK1s/14Fahvtr0NnKfKogIiMvPqyBf3UZlt0vucqXKWN2++l5VqK9uJ8cQyJdH5jJVcWBgQA1okcmNkvVdTcyoPr5/GaXRh65RgSq4Vz3PoY0moCx9CZGIsnNIM6LcAxHbVpYN5bk2DGRgkYpD9H2VdiJZ64FhkiuUqUtHw3YG8TtXLB2eU1bNqbHI9gbNgNB3Xl1syr1SvR+rC0q57+RPyXGV71484Wo6sAFl8bJXFp/SHCrnVL2HxX9vmai8ecksl0FR26wvvk/guuqpgUwPdt2yavYUT38V1l+osbJGufVuWgGtwOtQAQ3utV10De416KbBvQbRXuZdqmAub1MFi2oFvBq/JokQUsWsQlAV7kdW3mV/+ffI1AzVWLdtQIynLDhVeJftq5aBavVdtq1CjlRL5VgSUzdyISD7SdVdzke/Xh0K7Jjevv2cHPFcVxJVpAEy9DobGIH42111b1QXbdvguOq/lmSZchkrFldpNGqiqDStWmLSQkUXRiKmSoEJF3TSzCg/Cf3Y1Ze8fzUysfoe1X/L/Vd96lR9sjTy/hWfthxbPSVyZe6ANGZaCvIF6JWjX+55eYLke2G6TYCKYAw93bIY2b5w0OD+6rhf9VloBV7rCmhwr+0KanCvQTcN7jWI9jLuMrJ6PjJpovqWI+0wIy0z1Uf/I20yI6EkbFBztzW2qaSOiqVmpMd35NeyfRWSqlBfBftq9bQaeSfnPdI3/DJKpA+9Cwo8H7gru4xqigyfuqiGSUPVxFVKiMCtVOIlTaaaIiKwrhZ4qqHSV5Nw3aDytRp1L2guDYsh4W9f1FWfGoVPeaoLQLmH5JjVhV71ntt2Twnry7mpfEIpvstZGWoiqB2RKn+1uTM8f6m0S7KKNGBGolEF8zIhWDWTBjIQLFyQSkZ5xE6EzZMVm8wuSKk30QpoBbQCL6qABvcXlWinG2hwr0E3De41iPYy7lKFnmrVsVqBrFZJR0KO/Kxa6a5WLuXUqlAi21Yr5iNPeWR1vgpU26qwMja+sl/V3lCF9ZG+YDle1V5T/bmuXr6MN8ZuHvp5wT2QoUwhCId9DgERWybgVuIBJRZIYFmyB8WxYhhqloCqxFsGvutj2Pa2iEY5LUlKCa/99kr2c+83+Xk1CaV6j++0IVQBtZyjHCvsuxAPvpyUqp5L/KHvYUUsNcE3vNcrzaKyILEEyqsxLZV8RGXVCfs/MMInCtWXBvjdvLH05loBrcBOFdDgXtuNocG9Bt00uNcgmt5FK/AqV+D5wP35o/mkui3+l8qeL/R1mDS+owI7TMeVkvlLee3KuVS2UW+z/ZwDozJ1WHzy27JfVE5imHA0MmrxpZyi3lcroBXQCoxQQIN7bbeDBvcadNPgXoNoehetwKtcgZ2B+0hof26PQnUYUHU/FdNd2aGKvfKRw1q9lLork3FVVGD43e2vlwbu6lxe4P2rzbbSEKvOqfLWz/3M1X9Xt5fNdj4f9VV+MfXpaQW0Aq96BTS413aJNLjXoJsG9xpE07toBV7lCjwXYqtYPbKHYuRH8Cue9hf7WKEhRqwsgtfPB+gvDdyllv98Twyee34C+DsMEBrxj+rSQk1ArSwt7O2zzV7so+qfawW0AlqBXVZAg/suS7XDhhrca9BNg3sNouldtAKvcgV2F9y3la13+XNVUXhHcN7l3V9gw12F9uohpIl1e80/3Lsyx1MtL+Rr5XsHNLjviSukj6EV0Ao8VwEN7rXdExrca9BNg3sNouldtAKvcgV2F9xDu8lzTTHbjDPbauAjgXikBNUa+4i2zxE/3t2h99VFwb+//87PsWL02WbfCT+LWH2q0C7PCEJwD5Nz9EsroBXQCuxJBTS416amBvcadNPgXoNor8Fdng/kXoMf5SWe8kjn84tbOrbXlbfbLeQEnouUrzYY3H1w39U6t1SvjTDHfYRNZWTPZ6hFNdFFvn5xnXe8qCP33ZXLPRLcd9xegi6rXv0w+lISavRLK6AV0ArsWQU0uNempwb3GnTT4F6DaK+JXUKY2VZxrETmVS0FglI7AtaOcDUS415tUPqS5A/c0EahsgTDz7x9yJX6VxiFKHBugF/xRI9scBxZl66ap3e0aoxQ7Dk8XA1tUW+wuzz7kj74v+880u++u2krIxc0e/i0ajjcCy06wsz26mt3P2cNJ6N30QpoBV6HCmhwr+2ia3CvQTcN7jWI9lrYRQ3Z2YYrYYW4Qpz/ZmdQ1Pl/Cs+f9wqpgTwhlqtM8OrXYQ1dYD78WQjuFYCvbB9uW0X0kZX78PvPb8J47jKoir3bl0+vhVtKn6NWQCugFdAK7FwBDe613Rka3GvQTYN7DaK9FnapTMesFht3qPRWqsnidVDDeJTn4fUC7s9XnQ0H/4QWj+ofNU90myc6xO3tMB/OFt1uoRF03/ElbZPV9wsXDNufcsiiIfqcGMXXwo2lz1EroBXQCmgFnquABvfa7gkN7jXopsG9BtFeA7tsG48TQDXveqQxO2zcC+0ggpCvE2yX+Zvh1QtkGE9Y8Q6tFCFghzGHXsVKI35oazeyCbeFLlZovnJctWr69wo9RF43yr8GfmX0KWoFtAJagZoV0OBem3Qa3GvQTYN7DaK9ErvsrFD8PLQtmzqVITlSSLcFUqul4QqsC7B7QaASuS3DxH5doLuPH5QqnnappFsE1ZE82/T1MbaB9nbn+g6XXIzvivJHNFEqX/zOTevV5sjnrgC03/qV+EXS76kV0ApoBfa8Ahrca9NUg3sNumlwr0G0V2KX54sJ2cm5yKZl30GwXIDcNKThcntVPay2B7hBQGCYygwSeV2kbYTgHr5CcEf53Cvm/6q/XVmIUNnfVbj2lfUowDStcGhodYOq1ajS1Fp9krHNmrRDET60JlXtM6b5+njO8Ur8uuj31ApoBbQC/0kFNLjXprYG9xp00+Beg2ivxC4vEvMido+RFVw/8PCDIIT2SrV92zYyJTPww0AUQ8whI2LyKqZ4dazqe/6f4Uv5pOFcToXhlY5dUcgPfEzTVLYZ35eqO3h+gG3HFGx7vqe2t8ywoVX93Ku43tXXPnZkhB++8gYC54Ff8bcrmjfwfU/ZdGQRoF9aAa2AVkAr8NpXQIN7bddQg3sNumlwr0G0V2KXXYDokZt4pSKWZSqgNKwImBaOU8ayLKTG7rklbMtEbN6eoL0VCY0eIxcAu/Cer4QUL+U9PU+gWfztlaZctWwBx5OYyECBuR8Y2FJZx6BUNnAdj2jURPhbKu+eC6YJ0aj8Gxwn/Nq0qhaa7U2sskiQbxuGLKRc8F1kURW147o59aVcSL2vVkAroBV4FSmgwb22iy6ouTkAACAASURBVKHBvQbdNLjXINorsUs1QfAF3js0cwTKFhO4TlgWtmxcqfJKJnklPEaaVQ0ZRuN7mFJ5tywC09oWdLhDgX0X3veVkKPW9/Sl4K5AWrQKod31fTJDwxQLLpYVp1wOMIMogxmXFSu3smbNOrZ2bWX16nV0dXVRKjmquVUq5qViCc/3GT16FPMPnIHjZmkd3cyCA+cyc+Yk0ukUA/1baG5OEo+bJONRbBtc1yMaSe9Gc+r/mccetV46vZ9WQCugFXjVKqDBvbZLo8G9Bt00uNcg2qtol531rCqPuydAbpD3DDwLypWQQ8E/yTKRP7EgICKo7wdErIoFZERS+c4+5mud40PXSiXlxQwzZMQCMzBQorurSG9vgUceXsLjjy1lzeoBtm51KJVcpVE2l1cTmSwrqmDdtiLKRlOSJxmmiRUt4njD2JbHqNZ6Zs6cyLRpYzjyyHlMn95Oc0uc+roI9emYqs6bu9VX8DyNsq+ie1GfilZAK6AVeL0qoMG9tiuvwb0G3TS41yDaq2SXkdBe/VpAVCB9IIDevEchMMj6Dus7+xjT3spwJoeTL7P3hBZifkDSMmiNWaRUvkqYRL6zfJQXsdi/ShR58dMIAif09QdQKvvkCx7FgsHip9bw+989wPJlnaxa0clAf5nAjIAdI/ACXFkI+eKDF8+7qew04cglUy0DLMvGNMT+Iv8q4AdZLCtPxM7T1hbh0EP35S1vPZzZs/di7Lhm6tJRYvEdZrC+yMlrcH/xq6u30ApoBbQCr4wCGtxr012Dew26aXCvQbQ9tcvzlK93Bsll8WabkoXiYQXitYDANHFtKAmtm+D4UAQ6y3D3WrF49DBt72k8tX4jjy95ksMPO5SujR30bO7jTYctwA5y9GbyHD5rPAdMqCdtmQh61sn7iJVDPPBSqfd8PLGWiKUGqdJLNvyI+as7eOGlSTasaosVRV4qvWV34iYl7aayZ9gE6ilvfrVWrv6upORIIqN6J8mrt6TxM1B/e56r/OoDA4M0NTRSyBeJxqOU/WGKJY+I3Uhvr8PTSzq44w//4p57FrFpwwC2XU9ZVj5EMCybwAgIAukVyKqYSIMGbEtUEs+7AL2Daav2VQJf+gfAMB1isYB0XQSCEn29Xdh2wLgxjcyZN4U3H3cIbzh2Dq1jIqTiJkbgEY/FcEoudkw093F98dtHQ+3kM5peqGdgYhqWai5W019l4RBURkEp7344PGq3Nd9T97Q+jlZAK6AVeB0qoMG9touuwb0G3TS41yDantplJ+C+M+uLcLCKblRAVsIo+Fh2ggImwxH5DnR059i0tYetrsOdS1fyVI/H9Ikz2GvCZO5b+jTZUo6DD9qfwa4eOtb2M7ouxux9xnL/klVY+UGOmtHGvKmTaLJc9ps0ijY7wPYCUtEQmAWMi2rxYBK3pL1VjPTbk2dUQkvY3botB92vgLukxO8yuMthhU8rGemS9OI4JWw7UslNDxcTQWWiaTGbIxaLCS1L5AuuJ0kwAu4C0j7d3d14ZY/GukYyuUEaRqcZGCxRKqT57a3385Mb76RjU5FyORY2ixoGblDGjtgKnvFtlQATMIiBQyreTr7ghJaZSJSyU8KMSjU+R+CWSCSj+L6sqlzSdXWYRoTB/gKJRB3lUgGfDC2jY8ybP47zv/BfzJwxhuJwD77jMrZtHNniENGkhWUlsK0EXtknLs3FER+PMoFrYUlSTSD3QOXZSCDwHgI8ljTZlrHUVFbRXb+0AloBrYBW4OVWQIN7bQprcK9BNw3uNYj2CuziChj7DrYYYQKbnGHRa1qsK7gsWdVNoeRRP7aBZR0DPLZyEy4R9puxD50dfTy5ehNBLMJBhx3A5o519HbkMMs5jj5oNkPDAVvWbyRtuhwwezrtjQmc/i3s1RRh/tQxNEZsYr5HzLSwpOwuwG770t1aUUEgUs7NgEoueRhLWW39FJ7f+WCinckox5IGUsOsLAAMn2Ixp2BcKtEScRnmWEolOsDzyoR56OI7N8NcejsSxl36Hv29vRTzBZKJOHYkQiZXIJsL+NnP7uCnN/0Z2xxNZlCYP000lqJYLuJ6xUrco3zOGHXpetrbmxka3EpT/Shs28QpexSLHlk5t2iA72Vx3AKBXKNIQjWtGkaCWCyJbUSIRCMUCzlM06dUzhGJuux/wBTOPecDTJpUTzoZIxGvxzMcSoHDcKZEfX0dibhNwrZwXYd4PKY+k2E5BF5efUZDkvrNOAQxZXYKDA9MWdLJUwEN7q/Ar6p+S62AVuB1qIAG99ouugb3GnTT4F6DaK/ALp4PpnRWeiUyZY9cOs0DHYPcft/TdA8UOPDAAxgsDbC2p0w8PZrWlMdeE1tZtXozhh2nP1dm0qwx9BUzDGfBzTtMHl3HXq0JFj3RTcHxKGSHGddaT8TNsXbJwxw6ezJH77c3+45tI+17pAUTBYhN+VPJh69oIc2b0mypmFqq3zW+FJf7AYYl8S8OXlAgm+0hFpOmUEljcSRgXdlYXCdgOFvGtlMkEo3ksj52NEk0mlILB6fsKJB2nCKF3DB1dQ1s3NzLTT/+JX+760EM6vGcJAFJXNdUP7eiJtnCsIptNCIOxVKONxz5Rt721rfR07WZxkaDulSMfL7E0ECJ4eE8iaTEbZbI5mUFYBGPNeC7UTw3fFpRXx8nlY4ylO3HKQcUC55afLS1pmgfn2D2nEnKjpRKN5MrFiibZfLFfiLRgGQiojRPRmNETIH2YQyjjOeVCDy5BjGikRYsa5SCd0xZbJTAlIq7zomv8TbUu2kFtAJagd1SQIP7bsm1bWMN7jXopsG9BtFegV1UhrinStFkbIO/ru7j+jv+Sa4cZ96c2bSNquMvf/sbQbSFYsHn6LlTCIwCS59dim3GKHoRDj/pRJ7q3MiWwQIU83g96zlpwYGsWbuZDVsH8IKAxoYEhx48jzXLFtO97hkOnjmVdx51KNNHNZHyHRIqSzHMOFdR6EqLSkqLsvPI9yvgXmMEjVhNDFMsH3k8hhjKdhCxy1h2WeXPyysWFU+4STbbSDYbo1gy6e4qYUfq6dk6SFdXN6NaGhkY3MrE8WMI/BLxeIJp02YTjSQZ6M9jmDb1dXF6+wJlOyk7YTRkd++AKvtHEkXypT72mzWX3/zyNi7/ny+Sqt/ChPH1GL5BfthjoD+L7zsUSi7jJrVg2AkCL460+0YiSRy3RHfPBsaNbyIwXAo5F5M0qUQz06ftzcaNzxCNBWrb8RNm07k1TyQV51NnvoeZs6ZQV1dHaXiQcjZDS1NAKViF72exzBixWB1OySIRHUc8NhWChvBaSN6nGu5U+wLqFbjF9VtqBbQCWoHXrAIa3Gu7dBrca9BNg3sNor0CuziBT85xyVoR/rmhk4c3DrFk1UbefOD+HLFvK+VMAV+aI+0oXhnSJriWx6DjMJQb4p8PryIybiaLenOs7Oqnnjwz43k+feLhjKmLM5gpkkjHcTyPeFLMLT7lbAGz5DC2Ls3oRIRI2VcuGU8GOwm0q2ZZGUYUNkpG7TBhxahYZmqVyZMpplI1Zpiy38vg4BrKbh+GmcNzcsqmE4/HKRZs4tGDMY0pPL1kAz+56Xd4XopS0WTLli7GjmllMNNFa2sK389jmQFHHn4EqXQDjuPjuvDY408SiycxzQjlskOhWCJfLChPfqE4xLixozntox/lmqu+Sb74LCe+s45cYRlGUCYZq8cIBP7TYHqUXIti2aKvN0s+69LW1q6mqTrOEJGYT744zHCmQGN9G3XJNnw/hmX4lJwsdjROb0+UG254iGhsKjf85Jv8/Gc30bFhCx9498ksWDCVltYMZWsxbiB++4h6suA6Bqn4JBKRGRhBM4Efx5CYyZd4DWq9dno/rYBWQCvwelRAg3ttV12Dew26aXCvQbQ9tMvzFaSDyvRS+Vu9DINi4NIfmPxzQw/X3PkkZlMbc6dNYk7C4bD2Om7+9s30dpcJvIhqiBT3c5DwyAXDvOUdx7HggBkszxjc8I9VLO0dYHzS5xNH7c1xM8ew5qmtPHb/IgoFgVaXWDylpoMagYXhm9iBR8TwsPEwJd3E95SfO5Yw8b0C8Sic8JZjmDVrmoLqaqqMqsVLbGL4jV16yWdWTbiGo2IVXX+Icqkfwyzi+0V816tYRGwwUpRcgXObO//yAI89vIrmlqnU17XR35ehpaWOXK6XSKTECW85mHQ6TcT2GRRTuzwrCExcN2BLV7dE5jA8nCUSiVMsueSyeYayGfafN4cJ45s583On8fb/N5XTPtcG1nIMhonaSZyiaGISjUnej6TPoKwwmcwwTU3NxGJRXLeELEZkQeOLdmVP2XIkWjJwpfk1Tq5gY/ozOP0TvyDCgZx59hlccvG5FIf7KOfz7DdvHxZ+4WNMmxXFDbIMDuewzLh6wlGXHkMiMg4jSBEEUmkPME3tb9+lG05vpBXQCmgF9oACGtxrE1GDew26aXCvQbQ9tMuugLtAr7i9pQb8bM7h63cu459dAWXfZ1aTx1ffs4CxmRwXf/orPPzAMupTLcojbiXjDDn9+DEXI5bgqm9/mUnzJ3LlX1bz2OZOZjRH+NJJ81n6wAquv+pGNq7eAr6FRQzPMQg8i2g0iYC0b0iajNhXxGPtkYzZGH4I1sViP3PnTuUbV17KPjMnqOSXMJIwjGwUQDakkXRXX6r3VHW7YhhhQgp+IZx2qpJspCk1otJVDDNK3vXo7S/wi1vu4Oaf3kFz0xSckk0kEqFUGiaRDCgV+/ngB09mILOFDeuXK9Du6+vDcTzq65vo7RlQEZHyxMIyInieSf/AILn8ANdeeyWD/Vu5+urL+cKF7+TAwzNgrSEec/HKAcl4nbjpKZfzOK6jpqmmUilKpXwY32hYxOwEA4P5SsQjpNIW8aSlGmsLWZtkchyu28z99w1w4QV/4IKFN6nm0p/c/CUuvfQUhnt7+fFP/sjkqQfyrve+k/aJoxg1uplILEpPb696YlCXbiJqp5RGAS6W0lxbZXb1ttPbaQW0AlqBl6KABvfa1NPgXoNuGtxrEG0P7fKi4F55H0Hkbh/+uHyIb/11PT0NE8AfYlasn/PevC8zIzbfvugq7vv7Y1z4+TMZ0zoap1hgVHuaZ9d38T9X/phDjtiXM6/8HNfevY5nO7fy/+ZN5p1TWjjjoxezcsUGFhxyOBPHTSRmx4lI1KKkxAQC7ALuLoHyTUt4uolbCojZMVx3iHHjUhx77P7sNaWNeEJgOswRV+CuQNvcfXBXwlTgXcGvRxBIxKLUl6WSbKtFhkRCDgz188RTy7j99rsA8XjXqSZNxynj+QVSqYC3vfUoEnHJVY+xsWM9Q5khFZ8YsWPkckUKeUeBb1/fMBvWd5BK1rN48RLGjU/zxYs/w9XfupY//eGPHHH4vrj+alJ1JfLZIo31aUpFX8VH1jfE1L87twwrL7tTzhKJmrS3j6W3u6SsLS2tjQz099DYHCVfypBORYnHWhjo88lkbNasK1EuN3HuOZfwza99nVn79XPxpQeS6VvDmtVpfnt7HzFrFmec8zkmT2vBMwtYtqX+2JYNQbKSNe9gq6msGtz30K+qPoxWQCugFXhBBTS413aDaHCvQTcN7jWItod2eaHezbDdM2z2FLf3cge+fNsSHhlooNuKk7ZyHDe1iflJj6Mmj+IHX7mWB+9dxM9uuorf3vZbFi96mmkzJ/DFi8/iYx+9mqLRzTd/eSV3b8zSPTjEW2aMxVm8nPe+57Mc/7YT+dLFH6W3J04uUxBOZnhwSIGoVJOlghs2PYaNpwYJZVkplzOkEg5HHTWDVDJQg4jUZKjKS+A4rLjvulVGfWrpxFV7VsDT8FXlP5wGJT+RGa8GrvTq2j6rVm3ksceeobs7j2Gl1CAkaXC1LJf29kYmTGims3MtU6ZMYP2mDrq7+5QVZq+99qZzSy/Ll6/lgPkH0d83zNo16xk7pp2169Zy/FsP5ahj9ueeux5gaGBYDZ1atXI5o1uayeeLDA4O4rhFDDvPcK4P3wkYP34yEyaMw/VK5HJZnnxiCc3N41izehP77bcfGzduIF8YIhqNkko0qjjJcrlEqq6eXAmOPe6tpFMpLjr/Qr74xcM55dQ4lr2YUnkci58Yw/XfWckB84/jU587jfSocBCTbxjhmkqNxhKrkquGNGlw30O/qPowWgGtgFbgRRTQ4F7bLaLBvQbdNLjXINoe2uXFwN0PWz3JAX/r9Tjrx3czXD+FHD6NVomT9ptMfvlyTnvLwfz02z/iof99gN/84lrOPedi1q7o5M1vP4qPfPwU/vtDl3PQG2fwkS99mO/f+QheoZ+FJ5/EXT+8g6t+cB1XX3M53Vv6+N61N6ppoPF4CsuKUC5JnrmBoSrd8kfZ7fHdgGQqQj7fx9FHzuOrVyykqTGh/OMhWYeDgUJwD/fZ9ZdU1qvHsNSQp+oiJlwAhEOfZItyyVXNpDfecDOPP/40sXgzuXwZ4f5EMkZLS5r3vOdtWFaZQr6frVs7sRNpJk/ai84t3axf30E8miYWTTE0VFD58fISf7jEM9oRj/UbVhOPSQqMTdeWTnAlFDNKMllHX38/puWzccsKTv3oe5k1cw5/v+ceNRBqKJNVNhx5OiBAfdRRR7JqVQcrl68hlW4knWxiKOPgB0WMSBk7FpAvDzNv/72JWDY3/+gGnnrsFs4+cyZHvKGHgXw3fjCXu34b45EHylzznRsZPzWFGQ2fagR+FLMyNVU9rVAV990Sftcvkd5SK6AV0ApoBXZQQIN7bTeEBvcadNPgXoNo/4FdBFZlyL3A1zBwzaNd/ODB1eSiMZJJk0RxiJMOmMvGRU/y8RPfwO3f/REP3PFXfvXz6/jaV7+H56Q468LTufr717N6aSdnX3I66X1auPX+JxhXF/Dho47iis9cS8Yb5AsXnMFlF/6Azs4ODjniUNINdQSmpRpclac8MFQ8uBkE2PJds4wfZGlvb+C97z6aceOasC1Jggkr5cohIxniAu7iTd8tfnQIxKKjqu3b7R4Vu3xYea8EUJZLDn29ef521/309+XJFwNcxycSjSpbzLj2JpXGsrWrk1Gj6lmzdjWBFSUaTzGUyVEouEwcP4l8zlfxkRvXbWTOnDnq+OKBt+2kqlxbts3w8CZGj24g029QLLiqkTdd10i+lKOzay0nv/sE7vn73/jpz69nypQxOGInio5i88Yh4okWrrjiK1zw+StZtbyDiNWEaSZUDr0MRXX9IlgebpCnoSHJggPmsvCsU/jVTd+lY90fOeuCBtr37iaWbGDN0ul8/6qNvPnYT/LB044jEpcnIhZ4KQxTns2I+FGQ5tTd0v0/cFPrt9AKaAW0Av9HFdDgXtuF1eBeg24a3GsQ7WXbJaw0q+mh8ncFvPp9uOKeFfzm6S6caIJorEyLk+fEefuz6LHH+eSJx/Gna6/j3j/dx09uuJpbfv5rOrpKnPLxUzj3gvNpaZ7G1649m0HP46FFz3LcG2YRc3J87tRLWHj+OTiuwde+/gtMysyZtQ/1KZn4mSCwTPJuWVVvowKHpTJJfKJxcLxB2sYkOfe8DxOPBdi2G1bl1UmbIbSrBtWqxWbXKDK05cixxAYido+wyu55kt5iYcqhK48qZBbTU09t5NRTzyAebSY7JEOXXMpOnro6g3PP/2/qGuUhgDSOFtiwYT2tY8dh21EeevBxxrdPoVyWlBfo2NypKvW5XI7+/n5sW6I14wwPO0TtBI7TpxJ1EpHxamGw7Jnl2FZSNexOmpri8q+dw1mf+jSHHh7nc+csYGxbC8ufhs+f9zvypfF89LQv8vkLryKfiRK4SSJWnKLnYJgJfEPsLmUMM6amsgb+IIcsaOPqb5zO2We+ize/tcAnT28hleykkN+Pi87txCkczg9+dilGNItpeKqpWAkTiP8/Gs5e2jXJX7a7WR9YK6AV0Aq8XhTQ4F7bldbgXoNuGtxrEO1l26VqETHwKnAq7o2MD7esdbhrYw4/HsM3SzQ6BQ6d3MqqFR2cvP8k/vrdm/nlDX/kmqsuplgq89Urr+OCL57DijXdXHfjLRx9wgFcevnprFk1zP5z6/jtb+7llz+5lZ/95Ptcc/Vt/PVvjzO2rYlkTBJlHExsSq6LaUsmeIDh+8RMG8PzcZwc8VTAKR96K29/x+HYEfGgl4jIaFNpRlXAHTaYigdbklV23ecuSTKybBGrTTWNJiRQv+J9l0NKzOTgYJZ7/7GUxYs3KGjfsnGQhoZG8vlBkkmH//rwiTh+HxHLY8PGtUydvreqyJcdj97eAeWFz+ccYrEUthUllyvglMuUymWVPJMrlnA9g0LWwzQKWCYUc0mKpSKpVB2NDaNZvPgRDj96OjNm1vGe//dGvn3t8bz7g62Us2WefDjNp/77D7ztnecybcYbOfOMK4nYo0lHxqgoyZ6BrSrSUh5J+JYsVqLhMiUYpLFpmKu+8Sn+cuc38c0HuPKK2bS1rmMgO5ZrvxFhxTMzuPaGrzFqrIUt0C+6q6Zdlawf5rjv3qOOl+2u1gfWCmgFtAL/1xXQ4F7bFdbgXoNuGtxrEO1l22U7uIeZKuGfTADfvG8Ltz6zmVLSwDVNmmMmR87cm8UPPMZn33Ig5sp1fP70r/DJ/z6F973/eD7wX2cyecq+fP6iT3HuBd9i6Yon+MKXzubooxcwqsnisou/g5sr8dWvnM3HTrmIrVuyzJm3D23jWig5RWwzqXLC/ZKHZbtYtke+7OIbNhYuo1sSfOwTb2XUqBSYEj8ocBtW2gUiq+AetthKssyuln9lqSKfXsC9uk84pVWq7nKcctnFtiJs3drPrbffx913P4ptNZCONbN+/XoGh7ZywAHTOfEdR/H4E/9g8sRxlEolGlua2bx5C47rE48l2drVRy5XwinLMKaA3p5+FSMpcY6GaZIZymBaNvmcSzwGiXicTL9HNBGnvqGBUtFj/bpnuPiSM+gfXMpVV32CH95wIrPmlcn3N/CHXxf4/e15Lrn8Rm782b3cfvu/KOYDGpPjyQ85eF5R+d8Ny8KV1BxRynBJJXxSyRzXXPU5/vTnr7G5625+cN0CJk/tpn+4ha9dOsSGtfP4wQ3foWmUeNsd1TiLL/YYWShJCL80qupUmZftV1UfWCugFdAKjFBAg3ttt4MG9xp00+Beg2h7apeddaeqAURhR2c4jxSGgJ8+meWae59gMGWT9W1StsFxh+7D8geX8P9mjuUd06Zw3qnnq4z1G276Mt+48hfcccc9XHDhhZSNAS6/4jra2lr5/g/Pp6Wpmfe/81Q++dHTmDppBh/5wGlMm7Y3k2ftRS7IY0TssNmxHMHyxKaSw7MciEcw43HKvZ0c/4ZDePe7j6WuMQqUsAyBTslYl8QXAUZpkKy2ldYC7mKVqYK7VO7DQUeeqvj7WKbFP/7xMH/800OUnTipRAtOwaent5tkyuBzZ3yEdD1s2LSCMa2tZLMFxrZPYHAwQy4vXvJm+vuGSCbqGR7OKXDv6uxW1p5kMqmq+7n8EKVSUVliAt8lYltkcx7DuSFGt43m6WeeZfr08UzdexxXXnEuba3LueoHJ2DEVlMamMaln38Cv/RGTvv0+Sz8/I08/MCzxNMJ/LJNUDaVmyWQgVVmgOMV1eeNxR1cr4sF+03lskvO5EuXfpCZczu59PI51DVtJDM8hS+c+yz9vfO56Sc/YlRrndLZ9CtNqhIJZJQwDLkuegjTnvpV1cfRCmgFtAIvpIAG99ruDw3uNeimwb0G0fbULs8D7mHBWaZshlbxPHDvZp//+f2/WB9LMox4pOHI+RMYWNNBe76Hi951KPf99B5u+O51LDz/Ambu3crpp19Bur6ei79yJrfdeg933HEH3/3hhQRulCsuu5xvXXkhzQ0TeOT+x0ik64m21eOmIpSCAMuxsFyI21ECO8AJymAblApZYoUsB+23D+MnNhONBPieTDV1iUYSIyrutYJ7CPthxb1SuDcCNX1U8sp95SGSKniJ3/3uf3n4kZUMZjzKJbF1W+QLw1h2mTe+aQHpeotINFDRloYRY2i4wNp162hubiGbzZFONxCLJlizZgP10miaL1IslrY1pIKD6zrEY3XqfV3XBdMiV8hiR02Gh4c47rgjOPTQ/Tn37FM4/4JZHPGmAkT6WP/MVD778bv4yIe+h5loYuEFV+B6SVLpOpyCRTlv4gcunu+rPlLfF3tOlKYmiwULJnDOme9i2TOPcPXVZ3LNDW9gwcFDxCJFVjwzmUsveorjj1vIaaefQixmh64YtcoLvwjEOqMq7rsx+GpP3dP6OFoBrYBW4HWogAb32i66BvcadNPgXoNoe2qXnYJ75eDifBDXg/iqgc0efOFXD3H/sEW3GyGRSjFn6hhmtto8/tvfcsZJx7J/s82Fn/kKy55axo+u+w4P/Ospfnj9TznlI+/jnSe/kyuu/AaXXnYa133vt2xYt4Frr/08gz2WGq40ac4ouvB4enORoWyelniS8W1ptmzNM+A4JBIxrPIws9vTTEpFSFgWkYiB5+ZVQ6W8LMOuREBWKu5qeJKsPuzdsMpUaL3SpBvmkgcKcuVr1/WJ2HFWrdjIV796FctXbiWebKWpcRS9W3tpbW1g9Ng6TjjhcNJ1Fql0nGwmz9BgkZbRY1XM5cDgIOWyo+If+/oG8VyPaDSh9N66tVcNaDItE99zsEyTcknOwaJ/YAgzYhIYDls6NzFh4hjOOuMTLHr8fm655Qq+/8ODaB27ksCIcNvNNj+5votrrvkDgWWz5NllDGZyuGUL32liQns7azZuVFn0kUhM6RSzk0yenGb06IDFi/+XX9/6DQ4+IsF5X5qLbW4gbrRz1x2N3P6bbr70P99h6owmbCOG1O7D5zPVe6fSILyn7lN9HK2AVkAroBV4QQU0uNd2g2hwr0E3De41iLandnkhcK8UUOWtZHLqAPCnVf18794VrClFIJ6gJWXxx7/xBQAAIABJREFU3jdMY+2jSzh4yiSOnN7MlkWrWfvYUmbuM4lJk6Zw7nmXsXp1J+ctvIA3H78/vf3dfOzUC3jTscfwvve/jdM/cT5j953OqV/6LHev3ILZNIpiLkc0P0hLY5p7H13EkJ0k4nu0m0Uuet+b2H98MwlVE5ekeQFqaSaV/4i9JcxvF9hWDn1DfibV3917ba+2y34evoqIRNlkbCvG+nW9/PlPd7NsRRfxRBOlootTKpFIWpSdQQ46eB+8IKcWHF0dvcSj9QznHNW4G09EWL9+E5MmTiKbzSsbjSnefcumUCgTi8aUfSYasYlaNgODRSLRJJYVpeDIkCcXw3SYNGkMn/3Ue/jKVy6lr+/vfP+62fjmYgqF0fzPwk7Wr5rEly+7jt/d8Ruwh3DcHG2tUxjstUgkkjSMFtuPhL/EKebLeC70dXexatVjrN14Fx89fV/e8a4pjG13KRZ9sv2T+OI5DzK+/Y1cfuUlFLwe6hJNmETVlNuwnyCcKCtVeP3SCmgFtAJagf+MAhrca9NZg3sNumlwr0G0PbXLCHDf9mW14CzvEc4aUmic8T06HYPr717G39b10+ubzN13Cicc2E7v2i7+9feHOeaQ2bz/oGn46we4/75/MnvWHALf4UsXfY9S3uGMsz5K59Zerrn2B1x86UJcz2HhmV/mlIvPZczRh/CLfy0i0tRKU32SN+8/BSMocec/FrEpW6DRDvjEMQfxrn1GMyZqElEDmaTKK8Aof0uqSXXoUkiN2+C9Bq/1c8E9wKNQKBKNJHEdk2ef3sRVV/2QfNEkkWphaCgXesYp0TomxTvecTR19TZ9/X1EzQTFokdn1yBNTc0qwrG3N0M0amPbthrEVFcndhgYHi6or3PZonrk4ZY9tm4dBiNK2fXJFoZIpGwcJ8PBC+bwhqMO5dyF7+b4t8b49GdiJJJ5Vq6s45MfXsIp77+EmbPmc94Fn2bW3ATRxAC2TJf1Qg99qdhNLBonHk/juT54Enfpc8CCKcyebzJhcplYvIgZtLC1cxQ337yM1ctTXHTJN5i41zjiSZeokVYVd9WQKuBuyDUI7TP6pRXQCmgFtAL/GQU0uNemswb3GnTT4F6DaHtql10Ed0HjrO9SwGZtT4Fv3vkIkQlTiNfX0b9xHdMnTubRRcvIuTnOPukg9ibOhWddwGBPluu+fx2rli3l0kuuwil65Ao5ps0aw5evuJwfXHcL/3jgfi75yTU8OJjhrmfWk2ppJZ/p59S3H83KpcuZMWc2jy95iraoy9lvO5QZnk+dNaKirsBd1hhCilJxr/xLgWO1vXb3myTlONuDaMJqsq9yyi0G+zyeXbaJwIvTP1Rm85YeWkeNUV52zBLNoyJMnNSsrDIbNq5hYvsUOrf0sW79FubMmUtvX5+ablosFmloaKC3t1dZYSQnXoYi1dc3kh3O4zoyxTVCqQhlx6RvcIjNmzbT0prEMPJMmdREfmiQ6370Ga7+wVEcOL8T101y+63DLDzzCa67/rcsXvwoi5f+ha987WQm7pWhUO4lIkOgjBhOMauaXtUzFcMgajaoJxiG3U8pWIVlgOlNYNXSGL/6zUbu+1cfV3/3ZqbPmkp9Q0ItlAw/EmbHqKbUMMHHV25//dIKaAW0AlqB/5QCGtxrU1qDew26aXCvQbQ9tctzwL1SZN/h6NVYyGLgKQuKFGYf6cnxyOYhfv+vhykR4Q3HHMPqNet5dvNGZjelOPstC+hctpKvX/JdUnYTXzz/DPxSjoceXIJhmBz15oN4ZuU6vvXtm3jfR05m35OP59q/L2LQCnDMgIMO2Jf6oMhDdy1i1pR2Dpg5jsP2GcW0uM2YwCAhBV51ljLbVSrv4StMgQn/BMoio3Abqc/v+qsyGTUIIyDDl0+5XCQSiVMu+vT1Opx95peIWI0UXQMrmqCQd0hE4mTzAzQ0Wcw/YCrT92knm89QypcZ6M9iWnH8wFTAXijksSMW0WiUoaFhMoPDCtgNw8Z1PPr6BsgMZkKbj59kKFvE8SCfL9E6uo502uWTHz+ZX958CwPZO/j692bQ1raZ3q4JXHrhs2SG5vDFC7/JeReczqzZLud9/mASdc9gRYZwitLnmyQWEaVK+IGjrku5UIdlJfGDAiVnmHUrPR68L8vGlXFGtS3gne/7GGMmtZFIm5gRiBhpDN9W4G4YAv8yyCkE9/C7+qUV0ApoBbQC/wkFNLjXprIG9xp00+Beg2h7eJfnuGP+7eg+PgVJVfEtIkTpDHyWDxe56W+P848NA0zeay+OPnQ6t/7pX1i5IodPnMBHj5nNo39/gBu++wuMUox3v+NNHH7oUapq/eDj/+Knv/olBx52BBde9glueaiLv23qZaDcydjJbRxy8Hz+9Ot/0uQbHDNzAu87agITkiZ1gUdEPOaqmVLAupoAU4Xt6tIjBPfQ6CM14N0DdzW0aYfs90pzamCp9Ji77nyYtav66O0pMJDNk65rVvGHy59+ljlzZ2BYeebMncB+cydjmD593b1qOmqu4GBaUdUoG4na5PM59bWkxQwPScpMI4MDg8TjKRKJNPl8ntWr1pHPQdkzWLVyDclUE01NMaZPH82MqaO57KIvcfyJDh8/J0ci1ceWdXP52Ice4NCjT+PYN72H8xdewBuOHsMhB4tmKwAZCCXHaGeo0EciYSjLkpxfISdNvA1s7Rpm48YBnly0ib0mH8Q73v5fHHTw4TQ21xNNSjNxSWZaYfgxbLHFqAWggLuDb1gy2xZ7l3Pz9/DNrA+nFdAKaAVehwpocK/tomtwr0E3De41iLYHd5GKdLVKrRJUwhT3HYbnyDaO72AHFn4ZvLhNrwEbHLjl0U089PgS5s2exZSZY1mzKkuiZDA1aXLYnAa61g3zna9cx5JHHiUVj+B6Htn8EO//1If40OlvZ6gU558rsvRHbVx6mTZ1DH+47Y80REdxwoHzOenAJtpNSMkbuyUCI6rgN9gB3MMzlgz0bZ9F2TZkomqYNrM7r/A4sjbYnuOu/NuBSSHv84uf/YVrvn0jdak2fMvG8y2csoEEz0RjBnaszPTpozjuLYdhWi5rVq0imahjeKjIQGZY+dq7urfS0dFBOp2mp6dXnee4seNZv36jgvZkIs3w8DDFgoNt16lJtoViEccxFWyf/okPMGV8E+effSo/vOnNzDliEYZp8L9/SHP+WYv5zDlXMmbMTL53zU0MZ9ZQyq2luaGEaefxnDSOGwXbIV1nk8sNk8t75PMBY0bvjWk0Mm/uEXzgA+9n/oJplF2P5kYby1a5OviGDKKSgbY2hjyZUM0QHoEpg5fE4y5DmXZHcb2tVkAroBXQCrwUBTS416aeBvcadNPgXoNou7lLCKL+DiAqthL5YwhsKYuJ+MMFyKrbCexupy91DKlES6a5YVMGcgT0lF1Wbh6gN29Qjlr0ZHzuf3gJw3mHg+btzdEHTCS/OUO2a4BNa1YSi6cYN20G0dYEQWOUX/1+EYPZHHtPaePA/fYi7uWJO0WmjWpk2tgG0gYkjDCrpOpfDwcrVV/PZ8mQxJkQ5AUuR36Wncu3/Zhy+HBhMGJBYBiUSj6rVm3m7rseoqc7B0EMzzeUBcY2UsSjKQqFHJ4xhOtt5Zg3zmfixFYF4FL17+vLKLvNQP8gLaNGMZDJqAjIUqmsngvEYwl6+/pxpSnVcWmsayIeTdLZ1Uc8HWVL12Y6NneSSsQ454zP8KufXM9Dj36dr3/nMNqndVB0JvLtr61h0YONXPPdm3G8GJmMT3ZoSDWzNjbaNDRG2LiuD7cco5Qv4riDCrjHT5hMLhtQV9eKUyySLw6w//ypNDYmccp5WkbVYarS+nZ/ldJIaRvGb1aWO6HmGtx387dUb64V0ApoBWpXQIN7bdppcK9BNw3uNYi2m7sIdIe2ku0vxeGqAVOAuDppKMzilkqzoZJYRtCXCnUXyPcIpIJtmDgEFAQ8DZv+sktHf4G8Z7JpsMRt/3iCsgsHz59DT8daKJXZf+5+9GztZ11HF9G6FGYyxhNLVzB78jiOmrMXYxqSNMYMJjbHqbcMFfkYUx717WeiznQH//muEOLOci+fR0SlhQgjleOqw19OwCSTKbB69RYWP7WScsnCc00F7r19Qyx7Zh2jm8eFCyS7gB/0cfiRs0mmTSa0j2XD+k34voFlROjs6mHC+Els3LiFpc+spLGhhfZxExT/rl6zmng8Rl1dinwuy+bNGxk/cQJr120glU4zZmwzqXiUU973fi6/9Fz2m7+ej50+FpdNDA7P46zP3sn+sz/OKR/6NJ874wo2bxqiuXEcxaKk1cTJ5vqJR+oo5ALaRo+lu6cDLyiRTKVoaxvPsmXLyGQ6qG8o8cPrLmXWzMmk0ykiEVNl+oerpyqkj9AwXO1UptXK9dq9pxy7eUvrzbUCWgGtgFZghAIa3Gu7HTS416CbBvcaRKtpl2q1dHsVOcRZyf+Q6rRU28XyEGJyCPqVqrzq8hSoDyP/JFklhFv5b4ucHxBYFoUAfAOGgVX9RVavHyCZbqBnYAurVq9mr72m0d8/RGYgwwHz54LvkssOc9S8qYyOC6Sj3OhxAmw8bNXmGCbGVAIeVWVa0kx2/tpxcVL5pM/Z9MWq79UnC2Ia2g7uMrRUnko8/cxGfnTdz4hY9QRElA/d8Uyywy7pWIOqNPcNbqG52Wb+gdM57oTDGRrspbGpgczgkKqgY9h0dQ5gEFOJMXKcUskJm1ZLOUa1NhONWnR0bFCRkY5Toq8vz9z957Ny1eMcdvD+ZDM9nHvm+/nxz9/ClH02qRz47u6j+fCHf8TZZ3yHoeFWPn/et8nlkzhFi6iVIBZPkM8PqUSbbF5y4lO4fhkvcImYEUxTBloNYUcHOeFts7j6O+dTXydhjxZxGYC1Q1TMiIFL6l7YUfvwvtINqjX9quqdtAJaAa3AbiqgwX03BatsrsG9Bt00uNcg2kvcJawkV/JYxDKjwCv0LQuchpgcglmY2VLFZplCGmD4FSCreMo9+Z5tUvICDMvAM8D1XALTJi9FehuGSkV8M6Ig0CYgZaNqsqbnELMMTFkMBAa2ZBAGJUxKmIbEPspWITHuGPm4XYTtTxOqdpodBQo/1wvZa0bCvGwXRkyG4F5dwMhwJIdHH13G8mWbKJds6tLNdHRuJBpPYlspClmXUrHE+g2rmT17KkPZLRx82Bwa6yLkChnKpQK9Pf2MGzuRUiGgXLbYvKlXRT4aps2KVauZO2828XiU4dwgvie+eZ+BoQFKxQijRo0mX1zLm45ZwLo1i7jtN5dz2TdnMmmvQQKnnTvvnMI3v/V3fnT9z7n62/fzm18/TOA10tjQju+ZZIaGidgRHDevFmqBaapJrpLhHrEilJ0cyXieGfsm+do3Ps7hR07E90rEIrLYANOQFJ+qltvTfMJvmRXbTEV7U0P7S/w11btrBbQCWoFdVkCD+y5LtcOGGtxr0E2Dew2i7dIuIyui2yGq6ooR54sn7heBZwuEs547dCh8m7BdNZwbKv/ysaQqr4qsoaVEwM9XXxoK3IvFMvGYoaIPfdvC8V08HAwzJjM1VXE28FxMzycZE9g2MFwByAArYoLl4FGqVP6lBm+pOruq4Mobqc7HkU8QRn7WfxdHnif8+2tnlffw3JR9SMH79kZdz7Mpl4qcu/AKckNQLplksyXiSYstW7diBFEiZoKmxhYGMwM0NdYxbnwjvX2bePvbj2HS5NH09m2lpbmJ8e0TeWLRUnJZl3iijq1dA3R19jCULeA4DgMDA0QiMYoFn6aGVmVR8d049fVpCqU1nPqRk/jm189i3Pguzr14HM3Ng+QHp3PWmZvY3NHEld/4PgvPvpnFT/ZSKscI/LhaiHmBTywSo+yW1Gc0I1E8z1MPUixp+qVMNN7D6Z95E5ddfjKGUVQxmDIdVd0bpizuQj97+HrOPaae1lReu+Jg2qX7WG+kFdAKaAW0Ai+mgAb3F1No5z/X4F6DbhrcaxBtl3bZDlVhvnnV026oyMHe3mE6OvpxPR/fL5NMRZm+z16MapEhPMLHDpZp4QeVPHTFygLZHpZQvgB0YOB7LlYl5UXAWhw1hWKZNas3M3HiWOrqE2pRIN54T6JRAgHxAMMM1PRQ0wrwyx6RIIoXeDS3NuBbfuintmTRIL5wsWsYeJ4fpphYMlTUx5Lqvi8Z5FWQrwgjbC/n7vvh37LcUF+Lb31kk+5zhQxNOeoZxA59ARaOY9DXW+B//3o/G9b1MH7c3mSzRcpelmSdTFMNiFkJ5XtvbGyiv6+XlpY0RWcAp9zLrNmTqW+UoUWSCV/CtiJ09/RSLvsqRUYmq2ZzLk4JOjt7CHyTvt5B5s8/kN7efgI/iuMU2XufFK2jIpz6kTdw9vmH8L4PpiiWO1jzdCNnnrmKo9743+y772Fc9IXbGeizcVyTaCylquyWHeCUAiwzoXSVhZbnlzF8g7gdoVQe4KS3zeJbV7+XseMjOOUe6tIN4MQIDLlmrgL3bfeEslTJcdSzk/DJSMVqpWNldumXVG+kFdAKaAX2iAIa3GuTUYN7DbppcK9BtF3aZTu4S1VVGiN9z+fJJ5ewfPkKDNL86c/38d73nUy+kOXee+9hzn7T+cQnTyUWE+iVhlawLEtN17QkUURSZxTWepiGVNQDAr8C16ZNIBnegcGaVVu4/KvXs3Dhx9h35mQCx1MWGM8JFEiXy46y0zy9fDUPP/YUK55ewQlvehNT95nE+EmjeXblajLDWQ459EDiMQunVCJq2eq9fdclGo+qY7iuQyIRVTnktm3hiT3HB8u28WWQp0CmL08UVCaNquzLechnE+gPX1XzRyUTRRYGYh9S6TrVpxCiBzz04DPcfPPtlIoWba2T2CwJL3URIglLQXbEjBKNJEkk6uju3MqYsaOwImX6+tZz8ruOx464ynrS29dD29hWBgf7iMcTdHX30rG5F9tKq2NH7Do2bewiGhVILuP7Fj3dAwwMdHP2OR+ju3M9137/81z/448x98AigVvijtvW8YWLHuaH19/NH+94jJ/e+Bh+0KSuuWFFwSrh+yWVhGMGjZgkMU2XICgQeDlidpkxY6J8+9uf4o3Hj2FoeAnJRImGhkYKw3IveETjBoHnk8sXMMwo8UQ9jitDpNLq3DFj4IdPSFSfqo6W2aXfVL2RVkAroBV4qQpocK9NQQ3uNeimwb0G0Z5nl7BKXAVSAfeKTz0Q+4qjYPe2W3/H+PETaB01kdtvv4+LL/m4skHce++j3HnXHVx08UJapOouFXUBZeVIEQ+0QblYUKBZdgsh1GKQGcrQ2NSkmlJlyqdAsetaXHnFzzjx7Yczf/+JqsqsNvAt8oUS6XSCsufiBrKtydlnfoV3n/xO3vjmOZQd+Otd/+DRRxdx3nmfIpVKELMrLndpfvXC+MR4MrptceH7DgVJTUnXUXbKROyomjAqzZaJeJxSSSrFUhUOsO1wwSEWkGRKLCShd35bmKEC96AywKkqtEU26/LQg08SiTSSz/l0bx2ktXUMmGUcr6wIP5lMq9SYYt4lEo3hOWUsy2FseyOdW9fR17+F4094I08/vZjRY1tpHT2KTGaQfK5EqQSjWyezZOk68KUyH6O3dwum7dHXk6GhoYnNHZuYt99MfnnLrxkeXsf7PrgvsJ6GVBO3/uYRlj6b4aaf/p0Lzv8+9/xtI6bZQLnsYppRDLNMYHj4rlhiRhMx6gn8Ao0NAY7TQcv/Z+884Owoq/7/nZnbt9dseu8JCQEChBZ6CAiCKEVUpIUmIoJiRSyIvCq8+r6oVEVAQIqigBA6JARSSAiQXjfJ9l5um/L/nGfm7t4NCWQvCX/0ncG4yb3zzH3mN7Nzf+c8v/M75QluuOHLnPH5yQQi62jpWEAo2ko4DOmk1BhIxj6JldJobkvgOPmUlYwgHo+SHxtCLDIYTSsGO1+VFgv2/uYj4CPgI+Aj8Mkg4BP33HD2iXsOuPnEPQfQPoS4Kzrdw5lc4m6aIhMJqmx0c3Mr5WUlvPjSMt55ZxvnfekUOjo7eOaZ+UyYOIIjjjpQSUDWrd1IW1sH06dNJZEwMdNp2ppbVDa1oqqC6m1bKCgsYfCQKtVIaNjwKhobOzEMkYoUceuvHmDuZw5DM7oYPmywks8kulMMHjyYrdXbaGpqpry8gkGDBvHiC4t46aVFfOc7V1FQqPPeyq20tXUSCuvoeppx48bQ1FCvpDl5sQirV21g/xn709rawLKly5m630RGjhpOwDDYsHErW7du56ADphOLRlm5cp3KFssxkskka9auVfru/aZNVkGBy9x7NfCipVcafIWj28BJZCArV67hvj89jKOFCYfy2bG9QTVOCoQMpRkvLy2hqalJFXuOHjmOtWvWK6mRuLgMqBL5UZKW1npOPf0U8gukK2pcrVa0tnTQ1NKt9OxdXRaJuARIGqmULBnEMe0OdM2gta2dE088gVNOOY6f/uh/2Fq9mtLyDuUCY6V0DL2Es750PkOHTuOKS/+bLZtT6EahWmmRIExWEGT1RHPC2FaB0rQHAqJ1r2PokACXXzGHSy45DMtuRQtU05V8D81oJBSSVQ4DM50gHNYJBaMkklIfIasLJSSTYfJigwiHKgAJBiLKdUjqJvzNR8BHwEfgk0XArWjq+Qp0dLX65z7h3e9Dt0pH76nU+SifsU92/rl/mk/cc8POJ+454OYT9xxA2yPi3iuVSadtAoGgyuyGQlKsqHHvH5+grGwYy99ZprzBZx89i+EjBtDdneCVV16jqmoILz7/GiXFlbS2dlCzo5apU6aycNGbjB03mmAopLzFZ88+ivfeW8G8i7/Ai88vprm5nssuP4fb/vsRpk2fyN333s5Fl1yIrgf445/u42tXXskTjz3J7NlHK1J78tzZShbzjW/8kC+fdx4Hz9yPfz75IpWVlRQVFvDb//0tXzjrC7z6+ivohsZll1/Effc+yuGzZmFZKeVzvmTpYq677ipVLPr22ytYuuRtopECRo4cTVFREZs3b6S4KEZ7Rzvjxo1m4+a1nHTS8UyePDb7Ca9QVZ466snfu2IhO6VNh/b2hJLpWCYqYy8WjkrXj00oHKCutlnhXFpcrBxoJOMeCjkkkxr5+S75lkZKmzdv592V6xg1cjLDh49ky+ZOHCeModvE4wHy8jTa220su5vCoiAdHa0UFIXJzy9XQUfNtk6GDAmTTHfj2AZWWoi+w5Bhg3n0oVf4w+//RWenjWkFlee+joVpQUAPKftOS+oDdJtQqJvBQ2DepSdz7jmziIRSRCJSEdBByqpH0+MquJHVANuEWCSKJp6Q4nHv+fxbloZhxNC0MI4TxBELIUHFN5XZe7/Y/pF8BHwE+oGA1w08U9u1UyLL/Wdf4t6Pg39qd/WJe26XxifuOeDmE/ccQOsHcRf5jBB3ybgHDNF8u0WlN/74vzlhzmksXryUjZtW8+OfXkMoFKWtrYvbbr2dq666kpUr1vK3J+Zz5JHHUNe4mQsvPoM/3PEII0YM49hjD+Z/f/sABx1wEG+9uYAvn3cyDXVdvPrKC1x55Vf55a1/5jOnHs2DDz3J8ccfRlnpMH5x821c962rueeuPymSeeppsxk5qgojoPHkP17hlecXceopp6rs/ro1azj3i6cyf/5iqmtrOWDmDH7z+9u57rprWfHWCtpb2vjs6bMZOrSSb3/7Zi66+Cs88cQ/Ofus00gmDX77mzuIx5NcOm8e7e21VFaW8/AjfyG/IMpnTz+ZsWOHEI2F+vSYEsFMJuPuEnexP3RzNabloBsiBVLibZWJl4JXacAkGX3ZLRiUegCbdNoiGpbiTkcR+IK8MIlkkmheiI5EkqbmTn5727289MIKUvEwOPnEu6GgoISGxjpVuBuJRUh0ia+6RizfIRgM0CHe66GAcqMR7bkRMCktqqC5qYVUOk4sGqKxzqKzM6IKfS3HUBnyVLoDbFm9CCnf9mA4SUGRw6hRhVx51amcdsb+aE6nCJ0IGUG1YqMZXocuWaYRwi81D3LOjsiOxPYzy8tfslqCnCbEXYRHul+buvd+rf0j+Qj4COSCQLaZmGLrYme8U35dnt19Wvzl8kGfjjE+cc/tOvjEPQfcfOKeA2i7HSJks2+jJfW4ssWRxe04Km+/994annr6BS6a91WVTb3hhh9x3pfOYvToUaxatYFHH32ciy68gGi0kH/+Yz6jR4+mubWW8750Onff/RcmTZrMIQdP5dZb72T/aQfy9vLFnHrKcdTsaOD999/liiu+ys2/uJO5c49m/vNvMHzYAMaOncJtt/2WG2+8XnUOXbRoEa0dDXz/e9cQDOt0d6a45urvMW2//fnsqZ/h3nvu5ayzTmdrdRNtna2cMGc2d9z5IM2trZx+6me5+467ueLKrzCwahg/u+lWPn/mF/jNb/6HX/3yBjZtauCBBx5S1opz5pzI4bOm0t3dSUNTE28sfJ0333qNeZddyLHHHubKYtSz3CWmssbq+sX3+rm7cEuhqGApha292RpFVL2MjmTeZacey0QpclUHl6Jcz9lH5DfoNDcmeOLx1/jzn/7J0sXrsMknFCrFMYNE8grVyoeZdmsMdEMunmS2g6QtyfJLEBYikejA0ANqPpYlLkAauhHDMsM4luUW5do2waBJKtVFNGKQTLdQWRVh3mWf4+hjhrPf9BEEQ5JlTxJUUhrD7air7D3FhccNVJT9p2L03hegW+7rNeTy3O5VHYFsmYZZe/Pe9o/lI+Aj4CPw0Qi4z6XeGhvX0LjX2rf3CJlnvCwP/vsvEfrE/aPvjV3t4RP3HHDziXsOoO12iGrv6W29Dy/JuAvpE4YqGeDnnn1Jqf1mH3s0+QUB/vrIUzz+xOPMOXEuJ544m3feWcv7769h0qRJTJkylfnPzWfjpvVcffXXuOee+9Txz/viOdx++x2MHj0W2zYVEZ8yZTJ19XWcc/Y53HPP/Rw9+2hFAp+Fr30zAAAgAElEQVR55mmGDhtCfX0thx9+KGvXrSEaC1NWUcp5552OmXKJ4l/+8ijjxo3jwAOn8re/PUt7W4eSu0yePInS0gjr19cyf/7zzLv0bK699qcMHjSU6dNn8sD9j3Dy3FNZtOgtRo4cQVlZGc/N/xdnnfUFHnv0L0wYO4qRI4exdesmHNIqO33OuZ9nzJihfaQymW6xfdLwH/PyuM2ush1WxOFHfPA1TNNhw7oOnnvuLX7zm/uprU2RNmMMHjSR1uYEnfE4jm5haAFsx1BNlBxltyjOM0ECAR3TSinJkHyOZMNDQek/q2PJKotmE9DFHacDtA6KS+DIo6by1Qs+z4wDqigt8yUtH/Py+sN9BHwEPkUIKCtjj7YrU4Ss7YMdt33ino1PQUGB+v79NG9STxePx/fqFH3ingOcPnHPAbTdDtl1xl0KHUUqIxaOkkFtbu4kryCCEZLMsUZ3VzdNTa1UVQ0kGBRy6FBX16ISrQOqSmmsb1Me6CUlMeX/HgwY5OVFaO9IqKdkaVm+2n/Q4FIa6ptBCyrrx0g0SnFRkMambkqKw8QTqMxwV3cnaTPNwIHlKhMt+ndlN6lpmGmxoATLNKmurqOsvFxJQLq6Olmy5D0GDqxg5MiR1NXV8eorb3DSnFN47bUFDB40UslZVq9+n4MOmsbjjz/J3LlHMXz4KBwrQUV5iSq27ezuVPIa8YkXC0mXVO/Na/Dhx7Klu6z4p4v0RjW90uiOyypINa+/tpKnn1rKqlW1tDWnQYthI9lzDdPWCOhRha14pauCU89rXuw5VWOsgEh6EirzLnhqWpJQIMXIUaWUDzD4zncvYOq0IeTli5e7pci/v/kI+Aj4CPynINBL3GVdM9MB25PyeSfZ40WgVj8lTfPvn22XU/Mz7rndxT5xzwE3n7jnANpuh+yqo6WQZdG4B0grAu9mbUVHbWomAdVQx1EFi7o0OhKfddPGsS3C4aDqriqW5yIRcce6vVSF8Iv6Q+wd82JSmOjJJaRU03HfE+9zIcWiBU8kksRi0vhH3CVFIy3OJJayXtQNUZZL9jitfoqeO5lIEQwGVYOojvYOnnjiSWJ5eZz+2dOU20sg6Hq1K9mKDbU17Tzzr/nMnTsH207w8suvc8ghBzB06CAiYZGSyPm5TYdEvy7nIxnr3u2TYe/igy7dZaURlKujFzlMANOUYAW2bm3mnXd28Nqry1i6ZCNbtrTR3NyOZYmERRochTD0oDofAd21/xRffYeAIe4xafLyQ5SWhBk/cQiHHjqZk0/ej5KyAgYOjGLZSaWNlyZQ0XDxf8QS8d78DfKP5SPgI/Dvi0DmG9Dt6u3SeG/N083De5I/kRCqjtSqwaDhyRv/fc/bJ+65XzufuOeAnU/ccwBtj4b0XSY0TUs5nriNlYQ4SvGi2x01mUoSDoWVW4g0MZKunuKHHgi4mmUh3gEjQCLZrbTV8vxTxNcQv26dtCndU93stchm5O/S9CmdNgkGhWjqXkGn+wgV7bkUWabFdSUYJJVKKSKuKv1Vd1aZo+iz3Z/t7W28+uqrHHPMcRQUxFQDKNW1VYIKVXDr+rvfe+/9tLS0MGBApbJ/PODAaeocDI+fyxJbNBqmo6MDWRbsS9o/IeIu9iy6e46ZP5JBlxURCSpSJmq+8r3T3g7r1iV4Y+Ey3n9vHe+sWE1tTaMqNpbrIE2kkknxo48yatRwKsoLKSstZNZhB3DY4eMpKVWXFF13CEckWEmQSieIhsUD33WD+U/Qdu7Rr4O/k4+Aj8D/DQRkNVKdqdQfCXEXCWlG5y7PefmukoSVNKATh62A1+fj3xseP+Oe2/XziXsOuPnEPQfQ9niIS96FeAtJFJKtXGXcV1XWPUPKhbwb0p1U0zxCHVLZCMnCuw9AV1MiDzp1LEmZIzptefiJ64k4irjvCQEVQhkOh1SZYiotZD6gjqUen0r37fqKi7d6KBQkZUoQ4QYKEkxkdObi0BIMiaTDJdYyX9FuZx640lhKGi5lAoi6unpF5ktLS9VP5YAimXY13DvfgNsZVrq4utsn5+Qr83e99nuLWmXJQK1YeKsTMjeRschCb9qSjreCM7Q0J5XuX2wo1WHU6kVaNXuqqiqlosx1hJFMvmoMqwIWObZk5CW4sVXBqimYBiUAc6+tv/kI+Aj4CPynIODKEDXSjkNAPf8dHCvtfv/J+qRKlATUM1eVpf6HPAJ94p7bHewT9xxw84l7DqD1a0hvRX1GE913eOap1VvMaknWXDdc15CMm0jPIHc/kcrISCGi4j6ivFO8mEA9KNUjsreSP+Mz0jNOkX/Reov7iRD6nkVOj0y6nyNkUxXWepsQdkXcPW2iI32KJKDIGuVRWvXAdnl5RhIjxD1L8tMjbpfst7frPha8K4VMT5zgKTLlRU9+1OPH4ujYuqkMKV10DVWgKqUAasVDSZY8KZLaR4pQZdnX7XTrNpDKviYiKZKji9zGw0sthPyHfGv163fC39lHwEfgPxEBVW4qy68iAbWld4U8D1Pouq2K+MXxS9fCysZXyLv6mtKzkij/xqD4xD23i+cT9xxw84l7DqD1e0i2bKb3765VodtHzqOtXjZYsT+PCvfW6Pe+ljUBxXgzfoiiH/cCBS/D3btnlp48M8ZrkKGkh1ndSz94ejsVDyldojdn5bKyi03px+U0RCuya3LqBjKyipA5/31P3vsQd2/lIdPRT12LHp9hDUczlWbdxTdjWZadJfeIvxck9Z5l9rKwFyUonKS5lGv3qDZXweRvPgI+Aj4C/xEIyFPftNPo8qA10+rR39HZTGNLHalkO3mRICX5heTHStAiBTiE0Yywakz3757E8Il7brewT9xzwM0n7jmAttshbhV9r/Qjm5VlCHsmE56xFtyZufUlsX3JehZJ75nD7phf9nH6jtMyhL3nGFJU+XFxyF452PlYXs/rD3xGNnF3ya7rwf6xJ/MhJ+PiooKGnoDJ89jPkuwoxDypSw/LVgOzLrF7pJ5W3hm9uhuQZKbgauk/eE/8Z2SZPu5d44/3EfAR+M9BQBF3K0lAa6Nt+/u8+uJzWIEooydMobIiDyu+he6mDThpi8KycQwYfQR6aAi2Jt2f5Zm4L5/9+xZnn7jnhq9P3HPAzSfuOYC2myEOKY+2Z2dns3eWx1qGwLvyi91vfYtb92kRo1LkuIx0Tx6cmUz53kHOPc/eY34SevedsRUdeuYLQ3eDGNWB1F3A6BNK7fJ7xW0e5XguNT0kPWtgj1pIKeczb/TWEuwdLP2j+Aj4CPgIfBIIZFYVM08zHU1JDlMku2pZ/NL9rFo+nyNnH0PJoIlEioeAnSTRvpp0+/vEog6pdD7d6SFUjZ5NNH84KLvdQJ/nrfu4zTyvZUV0H+d1PgZ0PnHPDTyfuOeAm0/ccwBtt8RdGhN4kgj1c1fELEPcMvKL3oN5ueAsYtf73p553X5UtiJbwpGdOv6orP9HYfSBNHTWAMWCvX/v6qnb+wXg7revu+jtvKLhTs3NimdWHjy7TbHt7JOX39VYFzv3LLNXXLwvGU/r3ruI4AZvbq2BT9w/6s7y3/cR8BH4/4mA91x0hX5efZWqfsJxTJXosaSjtaNjWHGcVC1vvXg/TdvfYtTISrrsEt6v7uCd9bXU72hCt9sYUGoyeVIFM2dMo6p8NKY1gOKBMwhEh4IRwdF11TfDEHtk9XgVVxpZtZX6oE/Uy6BfwPvEvV9w9ezsE/cccPOJew6g7RFxdy2vPij7yEhl+gg1sopDs8m1opSeNvqjSHlmUp7mfOclR68A00sNe1r4vhIRN9ueTaQ/GhtFeDP6+A/obdwHvRRtevR4N/aHbjGn6OHdOezLhhyqGqrnxHrl9ULaXdmLcufRRHVpoCFOOxlMdhWgZB+r17EmQ+Vt5Sgj90Jv0NLbzfXDVlw+Gnt/Dx8BHwEfgX2NQJa5o5vk8P7fsYW4Z5zKkhhOE++8+hBb35tPaUWU1pTOUws2sbE2TZcZxFS1USZBLUEkkGTC8ELO/cwxjBuzP/WNAcZNOhrCpdi6OKqF1HeBavuhEiLu98LOc9nX596f4/vEvT9o9e7rE/cccPOJew6g7XZItgQjV8nHroj73iSyGQL5YVny/mLyUcfKzrjv6lw+anx/5/Nx9hdNunsdP6i3zy4U3tPPyAQKn+I13j09FX8/HwEfgf9TCGSvMfZ2PM2sULpZeOVsRgtdTct54r6fMKjYJhkq5a7HF9CmldGWiGHpUbSgSdpKETAkO5+iUG9k2ogwF3/5QjpaNcpLJzB66lGgF2Bprl2u+23R+9y1PdmMvLOnqaxP6oL5xD03pH3ingNuPnHPATR/iI+Aj4CPgI+Aj8B/OAI9KZU+DF7os5uIcEzxZLdwzBqWvXIXyxc/zpDhw3l+aT1vrmvH1DUsPYZpBwlhoQUt0nqKARVRygtMxg3KIw+D/cccSEcdzJ7zJfIHjMMm7K7WKv9dbyVTCXTEJtkVGX7aNp+453ZFfOKeA24+cc8BNH+Ij4CPgI+Aj4CPwH84Aq40RWxss9R+mukRd+k1F0RzkphdW3jozm+S7t5MUcVoHnpmJXbRMJoSjaohXXEsRsjW6Ep2ktS6OOSIsYwYUUxLXR0bVmzjtNmns+399Rx69BlMOvhkoFTViKmeJJrlVRpJ3ZChzAM+bdl2uQ184p7bL4NP3HPAzSfuOYDmD/ER8BHwEegHApkSP1HrNsXb2dbaQBzpE+C1DvAcjIK2RkV+MWXhPMLhKDVtjdR1taEFdIpjeSRSKTpTcZc4qcZnXks1r1hD1YjYYDgQRCcvGKGyqJTCUJSAajNvq2OI3jgYDJBKpTHTJsX5hRh6RpqQRYw8hZdKuCqbU7dZmt3RQXzrJrRk3O0KLF0xA0G0WIxYSQmEApBKkOrqRFNFjO5MbUfDCIQwonlogRB2dzeJ9g5IJNFtUzrKYWo6hWPGQyxfjenpZOaxtT6SjZ6iyY++GFJbIp2iN27cSFlZKeWVlUpwIcfr7Oxke80Oxo4d22NLaGdsXdXPvSlX/OBcXXy9GkxpjidN2iyTdFcHHfU10NVFyLTQrDRI1ztvEzcsWw9g5hdQNHIUdU2ttHd20tXdzeRJE4hGI17DiB4K/tFA9R49S1OuZylWLGzPHUty35qdoqXmXe7/7VWUxkwi+cN58p9vUjp0DDtSjYybUMVn5xxFJBijsa2JJe8tZPSEIvJLDGpqW3n2iRUcO3MuHdWbmbz/4cw+5UL04AgcO4CuysSyeoL4xan9uH57f9ft27cTj4sJx97bfOKeA5Y+cc8BNH+Ij4CPgI/AniLgyQyk225Sd9iYqOdnzz7AszUr6YxBWrcJaAaxuMOhg8YyZ+xBRGu72X/mLH7z4sO8sH4FB4yfxA+OP5/bF/yVxza8qbpTWmKyoUPA1nBSKYLSbVn+CPGzNUK2QdQyKCHCFw8+ntOmzKIskE9rWwtdiS6GDKhSUcOWzdU0trey/+T9KBRSLZ2ANQPHdAgIKzddxyRHl0DDxrY0ku8sZv2N1xFt2EZUdQ0OYNoOCUOjNWJQNnkiQ089jdDQEXRuWsfWTWuJhPIZPnqCIvfdr7/BptdfJ9VUS74WJGzZBK04tuFQHYxxxG8fgbGTsaVJWSDg+jBJUGJp6LahmrrJXNwO0W5Re3YzN4WBLr0yentFyN+XLFnCyy+/xBWXX0Yor0B1QjYcDSud5vKvfY0vfPEcjpx9FI7tEMjEDLalunxmHyvzWZmfmYJz+cwP23ZnpSu3SFoCLkkqC0EXlxbNgnQndNSz467fU/fIX9Hr6whpDqYOSdOmMxShe+R4Drj2ezyyci2/vf0eZh9zHAfMPJCLLvmyIt56IKS6OX/U3HYVTvQWg3rE3eupZ2Gii/RFrosVp37rCu799dcYXBYiFq5k2/s7aNzeQndM4ytXnE7Z0BBOMERbspX2VD2dHbVECwKgR/jzH99i+phDMRtaGDZmf+aecyVGcDCOE3EL+1UL6uyMf1+DgT39NdzX+/kZ99wQ9ol7Drj5xD0H0PwhPgI+Aj4Ce4hAj0+T42A6DptbalkRr+G3Lz3GykQtHUGbiKMzySjmjIOPY8Pid7h47udJGCFufPZe1u7YwoUnncGJQ6bxk+f+yNKWaqZVDCekaURjMQr0CPUt9cQKCiiI5rO2ZjPrGmuoKixjXMUQooEQnTWNjCiq5NRDjsfRbarrtpHq7GZ08UCmD5/AO5vWU1lRyvCiUhVEQMC1QrUdlb3XrSTYabCknb1G98olbPjFjXTXVBOQTL1tU+LYisS3G9AQjVAfzqN87HRGz5xKfnmE1qYkbe+upnHV+0Ta2oikE4QNk1AiTRSNlGGTChrUh4s5/Nb7YOQYCOikhRwGAmiWjW4pJo9wd013rVU1grs1984QZSmglG3RokUEDYMDDzqQlC2rDkE020EzHea/+CKrN2/gwksuxtA0woowZpqp6W4Rptfp+cP6XWST+V3tt6vXhCBbUhQvc9EcRYq7GuupXb0K1rxHdPVKkq+9TGL7DmwzTTKg0xaOYY+dyKTLr+LZTbXc9Ns7KcjP5+ijZ5NXUMDVX7+SwpIiTM1Q3lhyHTXXX7EfW1am3ruRJViUV8UOUtdsNCdO846V3PVflzOwLEgoXEKREWTr2nXUdcW59Jqv4ATbKRxQwIplr5JyuskvjFFXv4VBQ6uorg2SbKuk+t0mRo47lLnnXYZmFKPreWie1r2vufuns9DfJ+79uK2ydvWJew64+cQ9B9D8IT4CPgI+AnuIgFBGZWhnu+SstrURCqOsbNvOLc8/yKq2GiIYfOPYzzGlchQt9Q0cPnIC7zTXce3Td2C1dfLTS76J0Zzilvn3063b/Pfnr8aJx+lOx5laMYY1TZtpc1JMLh/Fgs1v8+CC+Zxx+ByMzm7iyS6GjBvPXY/+mdJYPqUV5XTEuxk7fDQlLSbnHHICCc1mw4Z1zBw9gaAuRDigCLpIIgwzjtHZQdd7q6jbsJG2dJyxJfmsevRRygcPJm/sWMzmJtrfXIjWWEvC0NGHj6Rw8jRMO0bt5pVoWisFJUOIJEziG9fhmFA+dChdVgKreit6Rwft+XmEywfQGSxk1vd+hhmLko63ERo0TGW8tc5WNy2dX4gViypXV8mYa3rItQrs9XbtuTJCkjOk3TRNurq6iITDhCMR9/y8DsqGY7Dg9QUsfudtLrniUuUhHrTl2K4cSRfbw52y9ztn3TNZ/wzB3/n2+HDSLysZaTTNwBJpEXHi9fXUvrGUpheep33JIkJNOwibKRVUdOo6sRmHMvnKa/n72o384n/vYPiw0ZjpLj57ylwWvr6AUz97KiefcToEQxi2RkCayn2cqs6sAlWvbZ6Ir4Au0l2bueO/Licc6iRaXEQ4kqCoIMCmbc1MmDCeCaMH43TsoLFuE/F0F1t2tFMxwGbEyHzsyGieeWorqeYBHHDIZznspDNxggVo0k2VsCuX8hzkM/2u961waQ9/sXfazSfuueHmE/cccPOJew6g+UN8BHwEfAT6gYCrl9boTiVp7eqgqKiItA5v1q7hzn88xOSDZnDEtEMJOhYlWojhWiH/2L6UHz79ACMDhfzXV7/L66uXcecLjzF90hSun302Lyx6ha2tDXxtzjm8vvItlm5ezZUnfZG129fxVvUGTj38JN585zViBfkMGzWJO565n+amBk6feyrPPPM0ZRUDOPeIuUyJVCkSu2HjGqaPGksEkVbo6I6DbXahmZ003v0n3n/yCTC7qQsFOXjuZ9BKBzD0uBPR8oshncJevYynbr2J4sqBHDbvKvSh45S0xWrZzvJnHmfq3DMIBnXeffh+7JTDfl+5iFR9E0vuvYuIYTPty19CGzgEtDCao/HGH/6bmveXccTnzqF4+nQW3fm/1NXUccRZ51A193QcI19JKSwvm565HJZlqUy6/EylUgQCAQzDUFIR+bdueD/RCYdCSlf//urVXHjhhVz3rev47OmnK927/LE0R05BrSqo1zxJTiYYkGOm02n1GfKa/JR/y37ymfJ5oVCoJ1v/YXIVRdht8S4XOmyh2wlIdGN3x7Ebaqh9/l8sfepJmurqGLLfDI685ru8/P4mvnzFN0hJpt6yuOArZ/PDr1+JmYiTP7oKI5YHtuTbI2i6oaQ4uWxujtt2tVle+w/VLVqCGyMOdgPPP34r69e+zODRxWihVrrtDrrNEE2NXZRHYhxQVUnNpu1sq6/msMOqKClPkw5ATf0A3lqSArOS2Sd8mYkHnYSjFYIWzVpJkRlI+GuoNZaPE3/kcv57MsYn7nuC0gf38Yl7Drj5xD0H0PwhPgI+Aj4Ce4yAg21bSpedthyaO9ooyi/E1B2aSPL6qqUYpfnc/sC9aEmTC04+kxOmz+LBd1/ktpf+xuemHMaFsz/PX5b9iydfms9XzjiLkwZO566n/0LxiCGcM+0E7n3qfiLlRXx51im8tvgVmnE4bOYhPPzog3ToKRJ5QVZuXEvI0Zlz8JGMHjSEx558kuOnHsLZh56IdGZes3YVM8ZNIOQEVesxKY7U0+00Pft3lt1yCyVCJ8tKaCgt5+Czv0zFQYdAXoyOzk7CgQgh3eLNR/9CflkZk4+ZQ9IJkkokKciPsPrNBYzYbzqRcIBlTz5GJK+YSSeeTN2atWx8YyEHnnQiwcpK0qk0VncXoVSKBT/8JtHGLXRFizn8gq+y4fFH2bSjnkPPv5iCM87FCRS63TSVFl2kG44iyi+88AIPPvggCxcuRLLsEydO5JZbbmH48OE8+eST/Om++1i9ahUBI8CcE0/g61dfzdvLlvHiSy8xuGogT/7znySTCcpLyjjh5JO4+NJLGVBRQSqZ5Cc/+QlPPfWUOtYNN9zAlClT+OIXv6iI+U033cSYMWPo7u7m1ltvVZ91wQUXMG/ePBU0fJi8RtFS0eXLbWJrpEXGr4uGPKWKgY20Caku6GqjffVaKKzg5ffWMe+a79DZnVSSpnQ6zi9u/C4njxvN8r/cx+zLLqBi+nS1rx2IYRtyXXNzZHFLizOtl1zyroqEpampIf/XStP2N3nswZ8xZmyQSLHJ2vpqGrp0nGSAsUUD0OuaSLS2MXPWIEqKGrADHVihSha+aWI5E0k6RRx7yoVUDp6BQ4GyflQNmFTU4H6Yo0Q/bg/XT9vmE/fcrohP3HPAzSfuOYDmD/ER8BHwEdhDBIT02E5aFRxKOWVNayvBUJhgfh5vbV/N/NdeYOYhh7Kieh2bN23knGNPZ+zgkdz1xhM89vbrXH/aV5kyYBR3vPgIa9au4QfzriXSafHnfz3EccedzIiigdzxxN0cdOAsjhy9P797/E7adYszTzyNZSuWUJfoYFuinfc3rOPo6QdTkjbYf+x4CsKFdNXUM2fKLJqbm8G0GF5eSUj07ZaDZthQvYFFN/+I4PI3CA8cytAvXUx02gyCZVUQiaDZnTz9lz8zeb+ZDB83idUr3yUUyWPUxLG8t/gtupMmB806lNUrlhLIizBm/HhWvL6A0pJyhk6exJb338ZOphi53wGk0rB24Wsktm5kxmGzWHbT9ymq30iXozNyv6m01zewoSXJQedfTuyMcyEURVxVlOLacZTbxa9//Wt+97vfUVpaymGHHUYsFqOwsJBzzz2X3//+9/zxj39k2tRpzDp0Flu2beHJp/7BcSccR8QIMWP6dJ555hk2bt7Meeedx/LlK1jw+kIuv/xyfvLTH6vC1q985SvKmUb+3H333ZxwwgmcfPLJrF69mkcffZTp06ezfPlyzj//fEXgX3nlFQYNGuQSd0V9vSLbne4d5Vae1YRasvyOdF12bFkQwNAMZbvokMI2HZ79x8t87wc3sr66mrQthFYHK82fbr+NI6Kw/Gc/JJQXY+yZZzH0zLMJDhtN0ggRMiQk6/8mRcAucVfCIfcYKtrQ3SJhpxvdqeONZ28n3voG+WU69ZbFKyu3UBoqozwFdn0DJxwxlPzCVoxIG4TyqK6LUNc0mGjJdLrMCEcd/2WiBSMwHXGU8VyOVP8lAcdyAzUVqfX/HPb1CJ+454awT9xzwM0n7jmA5g/xEfAR8BHYQwRUIZ8QH9PBMQwa4h2s3b6VEWPHsLluG1o8xbiho4hrJtub6lmzbTPLazexrHULmzuamDZmInmhEO9uXA2mzaSRYwhoGuu2bmTIkOGqjHTjto0MHjKUgnAey9eupD2dYGBZJQMqK2jp7mRbQx0dXZ3MGDOJyYNHEnE01q3fQJ4V4PSZx1PYrTFj+BgKAkEC4itja1h2Eue9FSz4yfeo2LqKwsOOYdjVP4ABlVjBkCKiejrOmy/NZ9ohhxOJRnl/2XLyCsoYPnoka1cuY9CoceRHIrzy8AMYYY3DP3cmm7dup6CwhNLiQqrfWEiwqpKKsWPACtLdVIuTaKdA13nz21czqG6T0rJbAU3ZRNYa+Rx00dVEP3MWdihPddeUAlXHtnn00b9ywQUXMWbMaH7zm98wbdp0JV0RRvz0089w8cWXMHHiBO688y4mjB9PTV0tF11yMa+99iqxSIx77r6Lq676OofOmsW9f/wjr778CpdedilDBg9h/vznuOnnP1dBwXeu/w4/uvFH3HXXXZz5uc9x1de/zkMPPcTf/vY3DjroIH71y1/x05/9hF//6ldcfMnF6Lr4kbuFrsohRaWr3R/ZfY0yL/caqIgWxSEtRbke8Rf5jwQTV15+NVu2bCdlmWolRzAyE128/uTfGV67jrU3f5eQmaSjsJzY7BM58OpvERo+hoDeP5GJW5qaUZlnbnipTu2tVBWfdcdOoespumvf4N1Ft2NZzdQlUmzq1NmwoYZYd5pzjjqQqlgHRrAZCoJs3NZJY3M+E2d8jrdW1nPQoccxZuKhWFYMzYj0QpWpRVWf2Re/PfwV/ER284l7bjD7xD0H3HzingNo/hAfAR8BH4E9RCBDxHTbwdag2zGp6Wzh1cWLOO2ZvKYAACAASURBVPaooynUQ4RMR9k5JnSHTt1mYeNaHnzxn2xsrKHVSZFw0pRXVpC208qDvaOrQ/mwi4460R0nPz+fru5OCAZIixZZvNXTFgWxPCzTVLrrgvwCkp3dBB2xVHQoKi2mra6FQ4fvx7eOO4+x4RJCtokhggohxI6Fve593rj5RkpWLyc2ZgJDrryG4OiRaIVl4ATATLF6+TLGHXCAcnlZvWQp0bxSRowdx/qVyxk1eYpySNnw8ousXrqQk7/5TUyjAAJB9EQ3q//6MGXTplA0cSJhPQ8z3oHjJAl0dbLgmisYXLtJHVemY9kOO4x8DrzkGiJnnIulh9HEphGbVDLBeV/8In//+9/51a9+xWWXXUYg4LrNyLlfcvE8/vroo/zohhu49tpvunaaaZPrv/sdbr/9dr76lfM5+9xz+Mwpp/C9732Py6+4gjvvuJMf33gj51/wVa68/ArOPudsxo0fz6WXzOPkU07mv375Sy65+GL+9/bb+e53vstfH3mEY447lv2mTKWouEgFC6UlJehellvLtorcBXHvm0T2vMuVhEYy2uLwo7Fy5fvMPekUOjvjWLYskljYKuMuFpImS597jvI1b7Hu1hsoTiSgvJLO8dOZ/oOfEhw1gUgktod3bSawyCbuMkPPmlFFHcoLx42dpB5CbDO1Otq2PMfm9xdgaxZrm9p4b1MDm9dtZWJhmKnDI9h2DdvauhgwdCLT9juNDTUQKxvNYUedAHYEPZBP2tQJBFwZVGbryfJnBT79Opl9vLNP3HMD2CfuOeDmE/ccQPOH+Aj4CPgI9AMByQi7Li0im3FIYFHX0cqyNe9RUVLOsIGDqMgvRBwOLc1WRZGdVorVdVtZvHEVq5uqMfND1MfbaY53kFdcSHtHG2WlZTQ2NJCfF3PrBkNBOhLdtDa3MKhiADHPUSQYChKKRNhSXa2aD4m7StjQMZwAZmOcq444gxNGTKHAliJMHSGZTtpCT7ax/sF7qXvgPsJWkui4UdiTJzNm7ueJjpgCyS6e+/M9zDhxDuXDh/Du4jcpGTCEwYMGs/DxxymvqmDcrEPp2LqJJ267mS//5GacwqGqERPtdSz85Y2MOnI2g487hXhDNyteeZXU9s0cftocXv3BN6lqq2PwjOlsXLKEQtOiQStg5pXX4px6Bk4oqOQlOgZbtlQrOczixYuVtv3AAw9UV0e0501NTZx9zrm88sqrvPLKy8yadbDKIou05pJ5l/DXR/7KojcW8dqC17ju2usYPnwExSXFbN68mSmTJ3PvH+/lsUcfU/r2m35+E8OHjeCMM87gO9+5XpH8Rx97jPPP/yp33vEHGhobuPHGH/OTH/+USy+9jIBhqOBKOcooLYxb4NqfzbQlo+3w1ltLufrr17Bu3UbSaVuduyme7+Kxj00ooLFuxTKM9xbx3g3foKilBau4nDHzrqL0rC/hlA1Qfvt7bVMLAmIP6q4oqU1LopntdNWtpKPmfeJOnG7yaI+HMNu60JIbiYS3E8qHZKqQrvbBlA45gP1mHo3thNC1MGghFTi6sqJebX3vMoVYgu61s9hrB/KJe25Q+sQ9B9x84p4DaP4QHwEfAR+BPUTA1S+7Omxd2RNaWJqGpWs0xtt5d/N6qhtqlaxj2oTJDCopJ6YJgXYdTVJAW6qTHe1N1HQ0saWxhm0tDWxt2EFrKk5rdydJcXXRHGxxMsHE9txPtICmrBTDkSjJRAI7mSasBQjbEHMgEohQGCzgyIETueTE0ynSgsp9xNFEBuN6dDsN21h9111Uv/YypBPs0IN85oc/oezQI6CzhcdvuZkDTjyF4TNmsH75ckqrBlM6sIIFD91PuCDGgZ/5DMnt2/jrj77PedddD5OEVGuYa99h4Y+upXzMeMZf9DWMqhHYKR2nowvNauP1668m2lTDtG9dy/rnnyW5YgWtxDjia9/GOOlUrHDYLVS0NbZu3qIy4kuXLuXFF19g1qzD3IZDmtuK/otfPI8FCxbw2oLXOXjmQUpes3VrNXNOPBHTMlm06C2+/a3rlNzlM6eeRkVFueqietRRR1FQkM/Rs49h69YtjB03VmW/pbh13rxLuPnmX7B02RJOPvkUrv/29dx51x0MGjiYP953nxovAZt0Xe1VymSsDb2bJ1srsxsyKpl10df/8Ic/4p0V7yrSnkymsUxLrabIKo6oZfLzQmxc8w6hLatY+oNriFZvpcUyiBw9l5nf/wH2gCoihji1fPytx3lT2cq4YjC3tarERCa604bdXUs81UlbezfdCQcz3k1r40aaGzdhBANUDhzHwCH7Uzl4AhhRHOm2Jfp5r9mVrrvEvaelrGLrqpXqxz+BfXAEn7jnBqpP3HPAzSfuOYDmD/ER8BHwEdhDBIS0S05USLtq6CPGepaFHjBIOTbtpGlKJXlv23reWfY2TjzFARMnMX7cOIqLipESPSkMFHWyKbIQ26Hbsui0bJqcTtqdFK1mG13xblo6O2hLdNGZTJB0LNKaRX1DE9WbNqObDjPGTuSgCVMoD+UzML+AAiOfoBaiVI9SFcojLIRaBRoaYQdsPY2T6kDraKfzjUXULFlOa8pmvzM/R7qqjOSmNbzywP3MOGAmoyZOZtP771FSNZDiqjJWPv8URizGpGOOw9q2jZfu+AMjDziQ0V+5QGVU19/zO+Iv/0sVTabHT2Pily4gOmoywXAhTtN2/vntb0BrPSf88IekdIdXf/lfxLUwn7/+xzjTZ2IaQdVZVZxyuto7lbvLM888xVlnncVtt92mClSliFQy1hdddJEi5V//xtX8+MYfK/y/9a1v8Yc//J5vf9vNnAtJl2z4Pffcw8iRI1WmXIIpybSL/ObMM89k9uzZ6pjXX389xxxzjNpXCJuMLS4uZtOmTcpd5pprrnE7t3rlnHLN05apnGw8wYlHcrNuot3wUdNyeOCBB/n+939IIp4iHk9imqLrd9R5OIZOwNAZPriKd1cuJti8jVdu+DbmW28yZNxk0ocezeTzv0q6rBypYNhbtFf09oKRZN1lJUmIu7wmRNswHFUjoe55K42V6sJMdbj3vx5GDxbJ8hCBaAxH7C9V19ig4v4yRI0TGY5rKeP9+fSSdrmKPnHfwwfiTrv5xD0H3HzingNo/hAfAR8BH4F+IOCpgVVmUgi4WP4J1xHSI1l1yb6LNj1updlaX8OK9WtYU72ZVMAmnB+luKSEssIiCvJiRMN5aHqQVBapEe27/NduxWnqaqWlvZ2O1jbS3XGKgzHGDhzKQROmMjhaSgSdkGqdY6mQwCVzIjiReTmYKluvExJi6KRVktNJpTDEK1wKV9NAMIhjJ9i6+DXWPP80XaveIdRYS4HQfsMgZJkUyBGNICkrJQ1QycMmqQdIF5UQQMdsbKRAS9OuGbSXD6CuciiDj5nD9GOOJxbOg6Y60ol2AlXDQDeIb95MKuVQPGESTiSM6Rqro9niuKLxwgvPc/HFF1NXW8vAqkrl5pJKpxW5rqmpUbaMIpuZMmUqHR2dbNmyhWOOPYZbfnELFRUVysrx6KOPVgWoZWVlSmYjRPzII49UzjQPP/Kwsn9sb+/g4Jkzqaqq4om//Y3Ojg7mzp3L2nVrGTpkqOrOWllR2SOJkaBNLrYUqfbUO2TyxnuQcReSnkgmefjhR/n1r25l69ZtpNMmtjj/6DqWyIU0jen7TWTRGy+jJ1p4+97fs+YPf+CIU09n8LyrYOBg1RgrrIf6LdX5sNtcgiIh1y0tzTS1NBOJRDB1m/Kycupr65VbT6Kri1BYx9ZSFBTk0dHeRTJhEY7lY+vS/TePzvZOtYIQDoYZKCsDoRCOI0W5GdK+k75+b0Uf/fgd/qhdfeL+UQjt+n2fuOeAm0/ccwDNH+Ij4CPgI7CnCHjkTHTrGQdqt8GP6xoim5LS6JqSPQghTwJxx6Khu42G1iYamhpIdHfR3NZCfUsTXVaKtDQHwlHFptLOviCSpwhjfixP+cSXF5dSXljEgLwyaamksulCzpUTtqevUHRIMutCgOU/mYfIeLAJ2PJ3z8Hb1jC8nW3Rwcu52CaamYaONjpWraB+8Wu0vreMtuotlFsmhck0AQcCKsCQzLeJHY4Q14KknSBdMp+qgRRNnkLxlAOpmHoADB6EEwqj2SKDEVNzcU0JYFtSUCuTFftBt2WqysXKnGxXPy7Z57cWL+bpfzzJtupqbNNkxMiRXHrZZQyoquLlV1/mn3/7O/UN9eTF8pgydQqnnX4Gw4YNo65mBz+/6efKUeb0M84gLDIcTWPRwgU88sgjjBs3ngsvuohgOEw6leLmm25S+vWvffMarGSSe+6+R5H84449llOlW6mjuzIZIyBejm7fT+U17046wzs/WHC5s88MWMpVxlDymGefm8+tv7qNhQvfICArFZatinaF4B5+2CG89MLTaGYXDYsX8LfvXs+wKdM58ee3kI7ko0m9g5Lt9If17i6ykKBOZECyFmTz0MMP8dAjDzNi9HDSmFz9tav5yQ0/pSA/j63Vmxk2ajjrN6zn6KNm896KlbQ0NTN01EiaOzuZPGkSNdt3sGHtBiZNmMR13/wWgwdU9TS7Qll+epFOlrHMnv76fVL7+cQ9N6R94p4Dbj5xzwE0f4iPgI+Aj0B/EMjwH3F7ybIBVOZ8wt/lvwyfUnzeUdlI2dcVH8h/JvF0mrZUnLhpSmseRfjFGjKo6cQCIQrDMaKGm0MXSqWrbKzXMMf9oJ5N0cdsDtczx17NsmTiVdWrIs0qJd+jZXbjDkNsT7CTSQLJdrrrNtG+fCk7XpiPXb2V/HSCYKqLoCZdMjU6jSDdRozIgKEMP/QoAjMPJm/IGIziCjBCPdaGWNKBSKQ64houHTs1HPHB9xKvEqi49orKdoVEdzeNdbUubuk0yUQcx7LJy8sjGJKiR5m7rrK/nd1dBAK6yqKL44uMkbelYFe6nIbCYSX5UJ1WRWpjmkoyI8eRTbLb4tEupFUKfmWsqh+wbaLRqKoRMG1NyY1i+fmUlJeJDkRdK80j8ZmL0Je49zrJZN9aoql37STFRcZm7ZoNqvnTM888SzyRQtOCCquzv/A57v/znWAmsZtque+G73La+RdQfMChpA1x4NHdoK3fxD3r5lVnK8IYNwiRAE5cb/5435948MEHmDh1AjvqtnPdN67j1v+6jUQqTktnM0NGDmP1e6sojBVi2DqWnWbEmNFs2LJVBTilJaWqK+5BM2ZyzTeuYfSwUV5NSFar1/7EG/353dxL+/rEPTcgfeKeA24+cc8BNH+Ij4CPgI9APxH4QO5ypxey6VHvW25m2eX3miJJQl6FdIveXaQuhqK2QqBER+8QELtHKS7NNPxRmfSdJpvxxM4oEfq87za7cWmkHEUKZXvHi+uNZFlVKaFYm0h22VLKfUnlux0+29tofOsNVj31GObWtUQdi24MgiNGM/W0z1M84xAoLAc9ouQ0UqwrY3XDa+7jcnUlI5LgJlP66JYverGDmrt4Itq0NzWzedMm0smUWjWwLbG11FTxZkarLraQQlqNgK5sFNVwVSzsKrQzhFaIvIwR8i6vqSJXx1FjXO21qIEMLFV46tUteJ1R1bGEYMssAyEqKisZIfaZAV3ZUgZCwZ2I867J+q5uLSHwMicJIpoam/ne927gwb88jGlpxBPdXHfdN7nl5z9SjbSwk5BsgWAIUy/EDrpBUVDdRf1hwBlxT98ZCUbqntSkQZTDI4/9VUmSBg2qoqZmG6UlZWzbWsvosePZvG0rQ0cMRndMhgwZzLr1G6mprWNAeRnlxUWUV1VRvaOW6s1bGDRwCD/64Y8ZOWykCq56Z5qZRyaC7J8ffT9/VXPa3SfuOcGGT9xzwM0n7jmA5g/xEfAR8BHoDwLCb71su0r+fghp91i6m032svEuSXIz8ZkC156yPZG2SDZXkzJWN3vsUms3oy4E9gPEPTP3rCy/ekl9pkuT1ed5Lh6Zz5J5i3tNxulDFztAmZId8Bi1jLSVjEZPpaC9gbZ3FlO7eQMjx08hNHEy5BXihKLYRpi0ZaBJcl0y67Zkll35i2jW1SxUbyE5F7djp6jE5b3MJsTR3dHByRBrmb8tMhtxlclqFuStPPQ0QpIP8mw6M4GRki/JeSvtvJfRz/zMTE5sXhSB91DpwSwLVFVw6b6vi8DfjRLc7L5K/2e2bOK+q+UP75qr4bqSzbibTmdnF7+7/ff87vd3saO2hp/d9DOu/caVqtuqI0FKQPyFJMrIc8MdWZ3p89l7cgN/ULqjsMrYymgSJ6SVBl8kSLYltpRB4t0JamrqGTR0KJqhq+sbCRmqSVdXPE48mUK3bfKjESKxGO2dnWpFwk7bVFYOID+Wr+bratxly6xTZRP3/gQge3KuH28fn7jnhp9P3HPAzSfuOYDmD/ER8BHwEegPAv0h7j0ykF20ds+S1Qh3cgm7m10XPu36mHh9cjRNNWsSXfPOgYLQnywRQlZWX4KK3mNktDSipXcDDq8Bj/BApY939xVZSIbKCsmWNQBNrAKlgFIzceykknQ4YvUn+nSR3+gGlhBcJDvuELDFv9sV3csZqRhFQSAhiMzYbXefCSLcHRxV2CvZb8mGKyWK6PTVv10v8Ew04JJNV8uvSLTlrma45NCVEfWJp3qanXqEu4eru29ksvQ91ohZ94Mi6D1advm7e1E+nLjvfEW8rHYmu62O6Waa5djKDtKyePzxJ7n5F7dw6WXzmDfvQjews2UFJoUTCJBydLe+QaKgvZioluJRJf9RDZhcOZcu88vcI16gqa6h6PuluFmuiQtcj7GjWlmR5k1yHXpkQd616uHm2Rl3QWAv+tH35/f4Q/b1iXtuQPrEPQfcfOKeA2j+EB8BHwEfgVwR2CmJmcnEy+GU4V3W+y5xzWhFMtlgt5jUJc5e9l5xHslaq65DnqeeFHJmjc/M1ytq9ShgH/FEDynOcs92P0i6c7ozlAZNquWOJup7Eeq4LYAk+S0CG033nHO8rL9p2wQI4CQctKCBHXTz+JJdtQ3Z31Xx61bYXTXwiKDrD+4yt0yS35XPCJEX/b4KV1TwkiGCnlWPF7u4Yz1FtkfgpWhUZDKuBMYlk24GWfns654W3cMq81qGiLtSGC9Y8jqhymsyLiO7UUGBd33k+EJI1Sl50pqMXt2dZHbGPZu4995cPbIUj8CreStyLvaLJrZu0NTYoppwBSNBgtLwSYASpyLlzGKgpV3pEDt1I831Fs6Mc6fk1me4cY17bSRmU1gqJyLvgnorDkp6JJ5GpkiP3GBMBRSyr9R1yP0rV17vS84/Xfn1DyLnE/fc7iafuOeAm0/ccwDNH+Ij4CPgI5ALAjsrDzw2khEA9JB0RercLKbKEPdk4d0sp63SnJJhFklHb3FrtipYtaH3yGifqXoNczxK/AHVc5+scyZo8PTrbrAQUEGC2EkK41K9LVXG1COUwhkdV0PuKuUDSLGpZMNlvCkkT2QtQvICBpby6xZ6F3AJupqYWwTrUny9h9+6dbIuscsQd9lfuJ6SoivS5xZzSkbYJccqjd8LYY8po5cJViecGeOScrHpFE25Sz5dYp4h7AqSrCx45r2eLLtH3AUd+SgJczIe/u50PCD6EPddk/bMdRMJiuj/sz8b0eAbOmlbVlWErKOKXy0rrZpuSSGrkunI/IUUi8ONd1/lcuvuPMaLlzw03cBHXWPVTdUtzpX70626dgm5GxjJ9fZwUJfLHauQUichnySZe/da9E45K5DbGyewl4/hE/fcAPWJew64+cQ9B9D8IT4CPgI+Ap8IAj16Ea+tvJeNFDcXT7Mt9NZVmChxeJZnjadn2ZmJK94omVGXUO35ljmQO8YTi3xgeOZd9w2vuFZlx3tf0RzT6yAbdO0RxabQm5NbACoZfpfMKZV+1kf30Ldsm8A9P4msPTMOOZ5zTo80RpX6uk428vmqdqB/mydy8QbtYTnozkHdLkh2DwwfiK52PT+FoeLCHvr9udz9O+XevT1G78ZgElX2dYZxQyupVcjcqml138q6jBQ8ZBxrMneMGq0KopVJqRr9aWzF5BP33G4Yn7jngJtP3HMAzR/iI+Aj4COwjxDI8Bn5mS1JdiUfmabvHqH3/MEzBLyXUrvFnJmtj8Z9F4RwH51Kj/2LhAlqNhlphTSekmSwY6hstJW2CAZc/bOhNOcqX+0VVWaxTcX25D157WPQN8UqMwWPHkH3JDmu/7oQyd7i3L0oDd8t1H1DLlXiq0KynrPMaKPUET4JBt7/u0Km2OMcqoIGl75npEOZW6D3znRbk8nZBqTbgOcmhJ125TfeSoK35ISjGwqXj3Hl+39SezjCJ+57CNROu/nEPQfcfOKeA2j+EB8BHwEfgX2IwK4yq16z1V4dfA/5dF1LelQm3l+y8sm9FH4PM7V779R68qu9Wn2R8EgQorsyDyHuQU0jnbQJBvXMQkKvyr7PnIW09zqr5FRt2QNU78pDRkuvilqV3DqtOsC6biy66wO/jzeX9Eq45cqM3JJccdLJzthnn/s+nlAOh5dzECcbFznbY/EucXdlU14htXdsVSvhXWmxMVVOPiK1MaSWwC2h1rSAd3N7khvlpZ/D5PbxEJ+45wawT9xzwM0n7jmA5g/xEfAR8BHYZwj0dlTN9n5RzYe8TWXQPQKqLBEzOdgsWUKvkiSTA1Ulf+6+WeR1X51Gr1ykrx2lMpuxXAmHaOGlQFU0+yHHs5TcOb3dR6Ej55LJuOeWdc8cLrN6kcFR6gHk2OI3bpspafmKpiRJATTdbb60Tzc1Mc8L37O/VDIh7/K511OZfO7kCbRPZ9Wvg/felqryIVOo4erYe8RVblFxxsJHuW2qSEVONIVlJ9T9oGkhDCPs+aha6EpA7x21X02k+nUKOe/sE/fcoPOJew64+cQ9B9D8IT4CPgI+AvsQAaXjVkTOzb26PMezMsxKx7v6di8jq9QzUljpZST7pO1709bu33pG7cOzyJLb93yK23FT7MiNeIqOlatxisMUjByMo4XQwyGvILEPW8+aY7agpL8a/b6nKvRfSS56iLGJaafASdDa0kAkL6aM5PMi0mFVvNA/CcGMm3XvvdouwVXZeHENyoReEqB9CrPOCmF16Xa6ftKoyVtJULUYjqHuVbWnijtTpOmkoX0rDS21tLUkKS0Ywphhk4lEhLx7dRzK2H8XNqn79i7eo6P7xH2PYPrATj5xzwE3n7jnAJo/xEfAR8BHYB8h4EomPBW3KvRz7RIVzbQ9dbAU66nXhYB73tkqq6kECjvZSsoxMkfNnnRPH9J9cyZ9VgWEeImAWZnPq+6eVms3r/3gF0SHVXDgvPPQ8/PQIjHl7+5uGRFFJje+E1HPddXA45TSlVXl7NVxXGKZtLpJJVppaq4jGAopr/dBA0YSMAo+EeKekTfJ2aurk8V/XVFJpjRz31yyvXLU3hjRWxUSu0g3364KkJUHvhB35SsEZhJN72J9zTssX/MWazauJ6KVcerxZzN6yGRV85BxpNEtWQHxfjk+ZYGLT9xzu3t84p4Dbj5xzwE0f4iPgI+Aj8BeQCBjIdjHalCV6tmqI6Xy5BayrnzGlfs1jm6StlKu/Z+jYzghjKDYKtoY4tktPutiA5nJ1uu9xYFKYZzR3ChPvr1wErs7hHQzVSGHqYibZacxTI10UzsbFi5iSNkAlv369xQOHMDoOUezqb2Z/T97OlZeDJH/BMRF0k67Vorqf8Fe6YUcN1ejlJ2T+V7zIFtLk0x20t5cQ1FhPttqdlBYWEJRYQWRSPFuiXtPF1HP6jHz74yV4Z4gLGNUo1U0iWlUfBYU5m7ZBMQG0pNDZQKzTyb3vycz/+A+ok33SpGVTt12TLfrqyO+7b19cCXgFEK+dPGrjJ84gKde/Cvb6uuoHDiGE485k7JYJSFC6p7ukYNJh173Zti3924Op+4T9xxAk8u4ZMmS7Fgvt6P8HxvlE/f/YxfcP10fAR+BTx0CfYm7ozqeKmbumMoAz7KgPZFkY1M9mxpr2d5YR0d7F7rpUFpUSkVZMcOqKhlcXEZFXqFb0OiRm0yTG5EmKF93ZXwuLof7lrirQEP5uwt5T6uMq3TvjNc28vf/+QN6QxNHHniwIsTPvrGQ8snjOXnexdh5MXEF9CwrvdUGNdVMsagnsfD8BDMksV8XtafdaeZYrv+4bSeprdlKeVkxXd1xoqF8QuE8AqHoLpnizoGXEFHVMbWfGmw5jmmZyg5RAaYWJ1xfdNdlx101kWJVITmfbuIuGXbVhgnbSalGUXbaJBmPk5cfU5fJSXSxY9NmajdtZdXytygrjrKtZhOlQwYydOJUxu83i8LiwRia1BaISb8UM/dKwhRO+zTq7NfdpHb2iXv/MVOhqk/c+w+cT9z7j5k/wkfAR8BHYG8hkE3aM8eUOj1Hl/x6mq50nGXvruG5BUtY39zCtngn7XYaSwr1TIdoMEJ+UKM0pDGqqJRjDzqAw6bvR14oRCgQdH1JHA1L2RyqLkUuuey3O3n/z1hl3FXRYVq1vddsE8w0LZu30N3axMBhQ3AsjZqaekqHDSRaWoETEHInxYnuWMVjVQAgIUyvEaDyWlfyi/6RuMw6gMv7M9Ij1VUJE5OuZLv6TMM2iATy0MXVRBj0blYnsjPsO2ff9xQxt3OrNH0SCbcOplexKWRVPlttbusptWqyuxKAPf3AfbifOhcJEgVNJ0FncytaMkVN9TqmTB5PR0Mjf7/vXjavWEHzlmrMznYM6TDrBElHAySL8xk04xCu+NaNlFcOc+s75I9g0VOI7WXe9+F59PfQPnHvL2Lu/j5xzwE3n7jnAJo/xEfAR8BHYC8j4LZ691QAaRvLSLKmYTO/+cvfWLa5nWHjDlYt67uSrXSL+4YRJhIpwuyOY3YmKIhFaG3ZSiDdxITyKFefezbDSksJh/JERKP0FwE0AtIFVKmLvQz2Xj6PPocTR0AlAzHV6oFuJEmmGlm9EwGg9wAAIABJREFUfjFvvvkiibZWLE2nuHIA0w8+lNEj9iMaqMRMB8AOEgvnY5kmAekA2qP8l3n3Ggm6AUh/WiQJ682UpnpNqrx5prQUaSONLsFNEiKCna15n79roJTMxRb7Qod0Ok0kEnGvYz+y7jLWMlMEhJimUzgdKTfznp+PHQn39KjtKU4VLc2nUC4i5y3Bh1wdkxQaadqamog4KfICDRDvYNlT/6Jh1Tto3R1EDIdgVLXSpTBagpk3kPKph5IaPJS8gUMoLK0gYpSgaRHViVVTdR1y6j5x35e/trs79vbt24nH43v1o33ingOcPnHPATR/iI+Aj4CPwF5CIJNxzxTgScv6VDrO628v5vklS+iMFBAqH0Z3SsfQg9iWTVpITDBP2RRqko0W4mjbDBxSSqKjhtbqdYS6Wjl+5oEcPG0axXkFKksb1IKuD01GR7OXzmGXh3HT7SpbamlJ0lY7q9Ys4dWFz9LS3UJFeSmFoRiWodHc1UZzYwOVpVUcfdiJjB29PwGnCN2JuhlomXWfNLMncfFcdfp3Gm662i3XdY9jSKNUR3LECRwzSd2q1dRvruGA44/HjEYIGKKv/+CWIeyCp2RcS0tLaWtrY8CAAehCvPdwcywJFFLYtTU0L3yDNf94jo6qCo75/rcJlpeLuY3XDsoNOKSOwWOwe/gJn9xu6rKL7MgxMXQHLW1CvI43/v5zYl07CHd0EUh1oTlx0NOYUp3hWOrebtGKmXTCWeRNmUl7OojmFJAXHkRAL8RRKy6yWiQBbv9WWT6Js/cz7rmh7BP3HHDziXsOoPlDfAR8BHwEckXA01e7tYiuflmEK44thacOXclunn19PtVNzYSLijEiKXSjm2BIJ5EIkrbKMO0KbCKYto1lmYSCmiTjGTywiva2Vto7WzGcFJ2NOxhdVshxB8+kJJaHrodwVLbSlaL02vZlTmYvVqsqBmdha0lSWhsLljzHgoUvMmzoCGZMP4yhg0cTCUZJOTYpM0Htlg0seftVauqrOWb2KUyfPJsQZWAbntFMLvqQ7LK3vufW2zfVrf0U6Y1jJTAamnj6f34P3WlmffU8CqZOUKRyd1l90zSxLItf/OIXzJkzh4ULF/L1r399Nxn3jJu5J1uX8EGqUlM28dUbWX/3vTT+63m0ti5Kzz2d/X70LSgo6bG/sbyMsyGe9+r+yb4Je212euU7u7quH2bHs3u89vR2dz9bAjYH20oQsE2sulWsev03FFrVGF2N6FoSR0/hBIWwBwgaIbRgiES0kLxR0wgOnoEemYDhDCeolYMWQ1Uri5tSz2rRXrxX9/TkPmQ/n7jnBqJP3HPAzSfuOYDmD/ER8BHwEdhDBHrqID2erJb7FVHUMD13O93ScKw4lpHmqZeewwqFGTAwQpD1FIRWEjG2KiJoWhV0J8YR5zC6nCosPYiWTtGZ6CQQCxMNOSTtboj8P/bOA86u6jr3/1NunT6aohn13gsSEkWAhQHTbLqpNnbAcUtcYju2kzh2kmfc4vLiBLfYGFPc6GA6yIAQXQhQ79JoZjS9337K+629z525GiRbGuP3ePG9+sG0U9c+Z+9vf/tb3zLI+Tkee+R3hHyfU+Yv4uyVp1EersZ3QkpPLNUpR8TSGkhKNdNCNncEKivRvbrjvJvLyO0XFIBSGwTb+a7yRXftIXY1beBXt/2IhfOWcc67riEWLiNiu7hDB/FDpRCtxnNchrId/Oben9Hevo8PXvM5JtUcj++aSqqiJxp5fUgADgP0qtMWRwO5vCQmf6WBpEZhZQ/HQEmHRE8uricqfdbPEGlt5Ydf/CfCPpz7mU9QtWwJYQGWklPgeVi2rYC6fIRV98Q9x4e///vPc9755/PYY4/wrW99S12PNujUycDyxRW/ci+LraRLYoroYsiF7G9n/Rf/F0PPrqMslyUZjTPzS5+m7kPXYIbEQ16cgTycQOJvOzpfQWRIUiRKViNEnCISksCcJih4JGsKYsFpY6okV0mAFemSCIzy4F+cX+RYkk8gzi/gOFLwKKqjWhDWgqmBfhAESHsSv4J0WcljEHhtSvv3YDGA6XXhJLZhJjfi53aD14Np5sDL6iRpx8GwQrhGnARluCUziZW9k2hoFVCjJ03mSJVV65ikUUf5ov6JmxWB+9gCWATuY4hbEbiPIWjFXYoRKEagGIFjiICjwI3ASwHAYo8XUkAuJ7pv38IUfbTXy/Ob19Ke7mbBopWEaMZOPUmJ+yTl5j5wLbJeNRlrKQnOwCtbyqAXx3BdBlODtPV2kM0NkMn1k3YHSKeG6OrsIGJGSXanOW/1BayYeTIhtxzLi2KELW3RJ+BMgKg4gSj7yaA4kzY30S4mo8juQ+3bDgfcBRxKMmWOlN/GPQ/exI7NW/jC332DqD0RS5JV3WZaXvwN4bIGaue+E8IN5CyH7sQe/uvGr7Bg3kouPvdjRO0KBQ5NxXrnUaQb1OHUHiv6t4fzeX+TM7q6IXVtpo+by+Klc0TCcTzbYHBogDhZvKZ9ZFJpolOn4ZSVEzItZUsoaQiu62FZtjI2EQmN1ra7fOEL/8AZZ57J2rXP8M1vfiNvxqm92OU/BTwHyLqt4HZhk8ZwTPwWg/X/8jNyD62jNp0hG/YYmFbDqhu/B8uXQSiMbwjE93EMUwq6Ykkiq3KasXEduR753lPXJ8m0gqm1n7+uNGv4IXxpV0vgfUaBdt+PYCkQn8MRW1F5Pn0fW3z0fblXS8t9gpAf+ggob1J9T5L0LNFX+4lMJqfaxPHSJNJNbN7yBLbRQ12FtFMTsXgnISuJ4WWwDQfPSxO2w3i5MKHweBxqcO16oiUnEQofD0aFftMU264nCG8vrl1fXhG4H0OHWLBpEbiPIW5F4D6GoBV3KUagGIFiBI4yAgI3csJmilZb0e8CunRSpAAnASHiId42uJNbH/lvQrUWsVgFFZFeSv0NzBjXyoSSJLYDaSNKV66K/txcBoyptA7ZHOjqobu3E8NwiMdDSiITs13inkOpYRFyIww4EfYeSPLXl36GKdULMfxSPAGfCOsMtqo7L24gSkSjbcMVcFdTDV2oKCigMwKbjpwdqV1SRC6Ro6VnI7+880ZWHreak1ecp3TrtpEgdXAtHc/9N0akhkknvA+z9mTSfhjHGOCJNbewe9durrr0ozTUzAYviqkKM+VRsGaz9bqF1sAH1X70hb9JVZO/Cynm4yoWOZ1JMTjYywP33sNVV1ypZEe/uOVW5s6ZQmVZlDde3UBtTSNDySynnvEOtmzbya5dAugdysrLWLR4EUuPO45wKKIY6k9/6jNccunFPProo3zrW9/UUpnhGY7EVlj6AzS33k9y4BlidBMZijJwTz9NN22nftAm5LkMxbLUnrOIkve8m2TjNMIzGvDKSxS4VvkQeCqJVXPpkmIsEwJJBJXHy1IVVuXUwqILsy8Wl4YrE8UwniUrCymVDGoauiKpPIOuYu5tKqPjKIvUYvpRNQkQMK7zIfISn7yLTyDxUU+FiyHsuTzHkmSrtrUZGuzDc9pJDG0nndhHdrCbRM8BLKcXSbc1Rf8ekolGVl13JNRIWc0yHHsisdJaKsbPAktkQmFd51dWcgrb9W2G3ovA/Sg7xFGbFYH7GOJWBO5jCFpxl2IEihEoRuAoI6CAOx4hX8sjBBxn/JxItwP+0MUgzX3rbuWN5nVE6jy6B3uJRzzKzUH8xH4aqgymTqhFDB06+2GQSoacEjKU0DqQoHuwi1hM2HIPy/OY3tBALJ2jOhpVriy9rkciG6U8M5XrLvo8Yb9OuZYIGyywNyxSHd8jJy4f8vsAIckEQyvw86qaP6CBLpRUKEJW65G3Nj3NnQ/8gOuv/jSmF6Wnp43pExvJtb5E4o3bGXJDTDnlavois9i8u50ZM6aRzXbzm1/9hssvvp7ZU5fje1KIJ38CAXDB98PnzAN3aZQgcfMIUm5h24cGB/jP//1dLn/vJfzkpz/kU3/3KdY99zw33PAN/uaTH6ekLM4rL7/EpLqJdLZ3MJDqw/VcFi9ewuyZc+nu7ueF519h7rz5fPCDH1ROG5/73Oe47rrruP/+B7nh699QbLW6kmGwKcB9J22ttzPUfz/xbBfm7igHvt9GbH2JaotIzCZUYWE2lLC3wqVpaozcadNJVsdxHGHFbVw/A5YU4BJZU5hcLoUdEhAvk8OQKsSl2Gkp3iSrEV6IqDWByRPnsa9lC0mnA+yU2l/OKdVhbTuEl45y4qKzWTT1DMJGjZIAqVWivI/88PqLTPV0vD1VflbkN2ll/yjP0OBgHxte3kBZWQnz5k2mtNTDH+rE6+6l6aWXsPq6sHNZLMsiJ8nSrqP07YNGCK98Cn75FOpmzaN2yjR8W+Q6evKgUzKCYB6DY89RvqZ/8mZF4D62EBaB+xjiVgTuYwhacZdiBIoRKEbgKCOgBCO+Q1h05QLR/Ry9ZoKOTI8C8Mqm20hx2z3/RVlNBiIDJLwEoVCYiLCkTg7PS9DRto/qeA2V5fWkfQ8rHCOVg4wZIutnCUV8TFccZiBshIlmXXJDQyRzQ0Sqyygpq2f3hl4+eNnnqYxOU5rnbCZNuV1KfaiCUjuumFfBaaYyIMwz6gVMZ+E9jwbGo4C7HEFA5KZdj3PnA//JF/7mq7zxxgbu/t3NzJo6nevfczrNz92GEy6lYcXZ/Mdtd9GXCPO+qz9EdVUJt/zil1x8/vtYMONEPM9WNpYalGtJhvocK+vqoyrSivXi+6++mo999MM8uuYhLr7sYn5+8y20t3Xx6U99mheef4GBoUFs0+bmm3/O9R96H1df/V76+rrJZDIsXrQczw3zj//wzxy3bBlnnnUG3/jG17n88it55JHH+fo3v60uTwk7huMkrP922lpvob/nN9Q6afofDdNyYzPju2qINZRhxyRHIUEq5LCnboj+VdV0LqihLxpRrLnv25hhH9dMqKRdzzEJKc19Djtk0tc/QDgienaPcDhMNpGlKj6eM07+IA2Vs9neso61Lz2Aaw1qyZZvUFpSSiKRwEvHeeeyKzlh9mWYkvwslW7tQnnSsOZHe8qLzEsmEl4Wx0uqFZ8d2zdx392/5Kx3rmbFymU4foKDzbt4fe06Xv/dWmoHfOI9A8R9k1AoQk7We3ybvlyCvjKL0z/4YZZdeCV+LIZjhjEtcRXSxcR0k+dlWUfv2HOUr+mfvFkRuI8thEXgPoa4FYH7oUHLycCnipQUjAlqeTLogVVFuGEzCJ2IFXQqekVRifz0mCK/V562+gf171gHmjG06Vu7S3AD6rr/v7v4tzYUxaMVIzCmCAh8zSqglzMNXt73Ol+74/tsH2yCsIlvmDh+hlAoydxp46grF+AVeJ8brpibKDeYkGWSHBgiHrKJRW0c16anP4fjQSRiUFYi+0l5eC1ZEOZdjuOaUm7eYjDhsWXLARyjlKwrRZnEHtKmNlzNl6/6O1ZNWkqcECEFlAKtjLrfQpBUwLi/OUt1GEyLWEImATkvx76WF7njnhu55spPqDjced+Paets4v0XnEN8oBMzXsfBLDz4zINMmbyUC8+5lpb2rax54ikuv/A6pjUuwTTKdeGh4Zqhf4D5H5bNaJB3iHWgSHjcDLnsEBdeegWLly6hfnwNF17wbj772c8xqXEqC+ct5te3/Yq5c+fQl0qwc89OfvTDG4lGoLevjc6uNiwzyqSJM3Edixu++k3mzJlDbe04TjllFffefx9f/8YNWsLjab25OKxovflODrbdTs/Ar6nvTXPwB0Oknk3QaFXih32cmEtfZIhUA/QsKKV1eiVDsTrOu/D97Nq+l8rK8UTiEfa0bKOheirhUJyBwQ6cbI6KymrssMHzL66lJB7j1FVn8ORjv2di7RROWnwhsVAtLT2baR3Yyd6WzZRXlhKPRqmqriLj9PPSc69z2sKLWDbnYkJ+VVA0S+RUh1phBly7/jsemWySlpb9PPHkgzQ3b+OqKy+gpjrK/uaN7Gt5jf7+ZuxEjuzWBP6OJLFOCOdUbV9yItOxLQYsl+i8Sax87zW83tZD3fQpLFt2KjVlE3TcDFn50RHMP5Fvt9GoCNzH1DkWCzCNJWxF4D4StWQ6RdJ1CZfElFey1BxUmfiuTygA5Y4MSJLgLh2xb+G7UqLaJyfLkiFLbWv5HiEpfufKgG1g2Jb6qrSkw8u9Y2mtt3ifIywlH3oWZX8RYPa3H8vxFkekeLhiBP4MERDVbw78CCnD5/Zn7+L7624hOc6jtrQCOxQl7eZoH2wHZ4CIIdu6KiEzZNk4fgTXEADlIHR6LpuixLQJ+yXgh+lPD2BaHtGwofTFnimyF00cSLVUz7KwRKaTMyiLjKOitB7TDpPI9tE72E9uwOGcCav44sUfZVKsBktVvgycQhRpod97JX0xRNajNc9KwiBgSiYIyms9+CgiQ2QyAtwdugZ28ut7fsjkKfM44x3vYseWN9i6eT21ZRFVkKc/k6Et0QvRHMcfv4rSSC1PrLmfWLiGqy75W6pLJyids4nWOuv+KM/+qqzPUdIZnUcgHx0HS2nDxVvcMHIkEz10dRzk2us+xoknn6qkLhMmjOfzn/17mvYcoLa6nvPOfjfPrlvLlJnT2bxtGw0N43GclNJyDyX7SKcSWFaYirJa2g72UlvbyF//9YeVTGTts7/nM5/9O+VUI2yyThSVcUGuezttB2+lr/9Oxne5bPrqfkr7w1SXxYmUWmQrczAzhD83zq5Sgw0DLuHIPM464zJeXv8KC+Yso7e3hwNde5kz7XgsN0pn924ws+zZs4fZs+czlEwpFr2iZBzd7d1URKuYP30VjmvSk9hFX7adl15/jvmLZnPwYBu1dTW0deyhtbmT1UsvYvnsiwmJDaefxVRuMaFDXENVwrLh4vopPD/Bhldf4r5772TK1GrOOWc5qVQzrW076E+2M5huI5lKkBvysHpCOPuTuAcS2EMWphvCMSwyIY+hsM9QeQkLV5/L3BWr+NHPb+S0k87hqgs/RFlJCb4UnApyHHSLj1TQ/TO8sGM6ZBG4jylsReA+lrAVgftI1IbSafpcj/WbNrJpyxYWzl/MsmXLiCigru12n1//OlOnT6amooqIGhihvaOdp9euY+682SxbslCNGYLh02kfO2KQccR9wKPEMIm/jYF7IYd1uGfp7cZwjOV5L+5TjMD//QgEoNG3SZgutzx3F9996SaGKrIsapxFRaiMRFqqpDYx4A2C5SiQHPXDhDNhMlkIlYTJGQkcqRQkK4IZmNUwi1lTZvDos09AOHDzCJlkXQfTtDFc8XYPk/NdVY2zxLWYWzOTxVOWkcpmqJ1cym0P/JZ02mVlbAE3XPV5ZpWMxzRcBdyVLENVq8xbGQptMSJVEP7bU5dTYAUowVUrja4Cy1mpAhoa4u7HbmXvgQN86kNfIJSOkmlrxe3rIBw1yUYcWjr28Ogra+lPJ3SqZSbDRe++juMWnEPEigT67QC4K0SeB+95SU8hkNPA3RUSxRL3FLkBmXBkGEy2sX/fDgYHBvnCF2/gy1+5gYNt7Vx+6WV0dXXxkx/9hLPOOo/lS5eRzmUJh0KkkklNwKg5g4NhZukf6KT1YDPlZdU0NkzHNkspL6sgmUqRyQ5QU1OLERQMkimOmv6oa95GW8tNZIYeINrcx85beqgTYGpl8YwsmWqw55mULq7j9QGHTQdtJtSdSn3tNDZueo2zV1/I0089RazSZNrExUybtIBHH/stM2dPZOeeXZx80mpamtuYOmW6qpSbSWZI92VYOf9sUrkM+zpeYiDbxUuvv8IJJy9n08ZNaoZ3yqrjue/+B1m95BKWz74I2x+nJooiU9HSpJGCT74nppJZfCPFa5ue4b/+8zssWjiLy997Ku0dr5JKNzGY7mEwPUgiO8TAgM9Av4mTMjETOYyBNOFEBC8RYuqM+XRlhsjELF7YuA27pIYLLr2cvr4W1q5Zz79+8XvMmj5PPcd61VpXqFWuTG+zFeAicB9bz1qUyowhbkXgXgDcUxn6PI/nXn+DVDbL4kWLWfPkMyoBp6Kykta2dqbMmEYoHKJ5TwvjGxrZsPENLrzgbF564SWmT5/Cvn37KCkpJxYrpae/n+px1WzbtpkJ9TVctvokJlSUjaGV/ky7HEYnWgjeRy9GF4H7n6kdiof9nx2BgByWLwq4P38n33npZgYqslRkSqh3y7j0nPewd6Cd+15+gsFwlohpUpaOsHLyccyZNYvwuDC/euSX9KQHBDIRCsXwkjnE/90oiZFwUniGgEpZ9PNVwSA7Z2CJ2YdtKueRmAvT4vWcvHAVQlKUV8e57dE7SfqwMjaPG678LLMFuPvC7Gu/GQWVxDpRgSXhOTWbrz+eSlyUwlFah1wAnmUb5Z3o4NkZ2gdacQyf6mgtJU6cXWue5Inv/G+mOiYVE+qYcvYpVJ9zGls799E91MOMmbOoHzeTiFlFzkkTDtsBy5pf/ssnSGpm/dBKmurkgcRHe697TgLH72PjlufJ5nK8un4LL67dxD9/+QZee2MT77nwPbS0tvLfP/4pH7r+Q8ycMVMVtjJMcXIxVB6CAEap8GmYDp6fYn/TLrq7u5k9awHlZXVqRSCXcwiFJZlSJEtKDKIdhGR1Ig/cW28i0XcX0VwrsZSIk0rp7ewnM5QgWm0TmRCjL2yysc9iY0eUyZOW4+UMOlpaOWHFOZSXlLNv90vkJLxehFgsTnV1LdFolN27d4Cdo6+3h462Hk4+YRXpfpeViy7G8EweXvdjImUmM+ctoKu7ndaWdpYuPI4D7TvZtGEnZy67ghWzLlOMu6cmgIKXZeWgALhLngBpDrRu5wv/+HGqKi0++YkP4Lm7GUzsZDB1kKFUiqFEmmQqg+9XMXfOaSQSHq++8jKpgT6MbBScGBWVjQwmc1x+zft58JHHkSKr27dt4+N/cx3/+uWv8eV/+HdOOflsfE87IA3zXm/DwagI3MfWjReB+xjiVgTuhwL3ftfjhY2b8S2D2bPnsObxtYwf30Bd3XgefeIJFixexNSpk7nvjt8xf9ky1q5/masvezevvbSB6spyOnt7iVdU0T0wyOQp00gmEzTt2cWpy5exYlotjeVSTONt9hlNtRcmmb3teI23WeyKl1OMwB+JgIKRAdpNGg63P38X337hZgbLfC4+7hymh+uYP2kmL+5+g4defop0VDzLPepDNVx6yoXs3b2L/b372NS9Ay9scdF5F/HiC8/T1dHOGaefwd6dTexq2o0XFYDtKYAbNcNMqplI1IrQM9hHZ383huMxo6SOpfOOoy+TpKy6jFsevoO04XJCyUJuuOKzzIzXYCtwauB6Ic2wm3JMTwE/8fcWhw+xVFTMuiE6egGoealMQM+ryYpYyzj4poNr+molICIJhxkfI51i96/vZu8td5MyIXL8Qk75u48Tm1RLTmRFCurG8f2QkiWKS4qW4wRAXRJ9VT+VB+75RNp85yWe5prrhiy9vS00NW0h7fTy+mvbeHbtG3zi419k+fITxYtFOcY89sTjJJNpLrjgAuVlHrJNsoEMyJDJiUxjJGfAy6n2SacTNLc0EY/FGT9+grJX9FXOk6UlJir9SYoRyVWovYEdHGy+mUTvvUSjB8j4KUJemJAfQaYmWT9DzvZJEmVLr80bHZIDUUokVIqTFWvHKLlMhlhEVhRkgqUnBTJHQnzabZF3ynOQUT9HIzHIWTTWLCKb9mjv26oSmUVShZFTMZVpnUeCCNW8c/FVLJ95KWFkIpK32QyqbgXyJJnIZNwBfvyz7/DQw3dz7fsvYPXqeezd+3tybg9Zx2cokcG0LA7IyopbzrLj3sULz6xnypQpDA0NUVFWr33kzRL27G1i4eLFPLfuOaZOmcZdd9/FV/71H/nKl77G5/7u3zht1bkqnjrRVzvdvM3IdvW8FoH72IaCInAfQ9yKwH0kaLJcPej49KWSvPDiSzQ0NhINRaksL6e8vJym5lb1df/+A8ycOo2DPd30JRMsnjubnoOtVJWVsq+llVBZGQnPZ/2rr7JsyVJKQyHCnsuKBbOIKguJt8dnZNlbrucIzhH5S337XPbbI3jFqyhG4CgjIPpmR2QHSqyR4/Z19/LtF3/BYJnBB1e9l9KMSXksRtJyaOvrRiy3c4ZLxA/TEG9QiYed6R529+2nqamZ+ZPmcOq8Zdz+0C+ZOGkK155+JWvfeIZEKI3re4gavCpcTl1lHfv2NTFjzjw2Ne8g7WSpIkwikWLQyxCtKOXRF58k42Y5ITKfb77vC8yI1WGJ24gpTLvoswUApwiZLpIFK9aBqq+Q8vOSt66YZQGLwoBr8Fzo0CjWhZahYL+C4+IZbrmOKnxk9SV5/Qe/YCCbZMUHriI6bboqgiSHEltBnRWkZTgyB9CVP/PAPSg5O+wyP7qjEqlPDtdNMjjQxoHmnSQSPcRjkuRbTWnpRBonzMK0bZVL0NPTxZqnnmLBoiXMnjMb3xFwrk0FBP6HpACSm1MVSrUUSAPIXC7D9u1bmD9/HoZhaztG18C0QsGERk9wdIKvfNNEe9u99HU+CqE9OJF+DC+L6XrKf10II/FrdyljV7fL1o4M2DGqqqcAJYRCFgea9zOuepw6fio5REk8Si6X1tVL/TCxaJxsLkUqnaCqsgI35+BmJR8hjGWbSjrlksMyXSUDCttiIZlgqAPOWvJXrJx9BTb1eiIQzIcUZldJonLvBp29+7jh37/A5jc2cfNN38f19rNt6xOEIxaR2CTaO7qZt3AWjz71CDk3wsIFJ/HcMy+w8rgT2bplJ8cvX0U64+NkfTZt3URdQw2vvPQKiaGM8o6//KpL+elPbudLX/gWi+YtR2B7Idte8JQd5Vv459+sCNzHFuMicB9D3IrAfSRosnw86LoqGUYGJWWLFiR5ia5PflZEkpJ5quopetiQv8nytKr2bahS2oPJDHv372PKpImUl2iPXklwfRvhdqWjHRnuNLsykvwVDE5qadwBUJIsAAAgAElEQVQPvHzH8IAVdylG4C8+ArocvbCuKXL8ct19fOvlm+ke52MnLKKe5MS4pBAmVJWgVMmXYutoeyKxELtHh0jYooIoZ56wmtKSKI88uYYlS5czvWYit/72lyTCLjnbU8mlJYRZMXMh4yrH8dymV+kc7MWzhFv2sWJRMp64botvpI+XTrMqtJhvve8fmRKvJRS4eHieiWtkMYwktpcj199M70ArGBEqxzUSilSDWYLrh7GsyCGtHKTJahcYRQcb+FJ5VNW+FPlKDiPr4PZlwfaxyqJkpGxPKKIhrqpVJeA7SEVUKDovgZGvAur/0MfDcQfIOt1s3foymfQgpVFhrsuYMWsFdqgaT3KAA+edp9c+xauvvcZ7LryI7p5uykpLSAz0KqhdUVHFrr17mDChgf7+fubNm8/GjRuVjj0SiXDTTT/lvPPOVZONsrJy0pkcCxYtp7SsAtsTxl2z8BrAJ8j5B3H9ZlLpHdzxxH+Q8A/gWQk1sZPKqKYlrLqML1Gyvk20bBxV1RMYSjhq4tG0fw+N4xvI5XJE4zHcnIvnyfMRwjAjyqJxcHCQbDaH62WorqrEzQruFlAdUpNIqaCazcqkKqQAuk+a3oMupy64hhNnXYlFlUrqUpVTh1dd1UxNtUlbzza++s3Pkh4y+doN/0R/3ybamjcSjsZIZkvZ17yf6bMaaWreRVffADNmLWTNU2uYMnEa2zfvpqykkoMHOxkYTJFx0yp/zMhE6evM8L3v/gcvbXiKluYePvHxLzG1YXog1dEObrI68qa8irdBH1ME7mNrhCJwH0PcisB9JGiDaWGiXKricaXu1ByJtkNUq3MFmnBZahyu5pa3hwwOld/scAqU/1fEdZ4hKnxEdOVB3S3LAKaSfwr8KtXfC25CJyoVP8UIFCNwTBFQkhFPyYSThjDu9/G9F2+ns8bBM2xw0orRloRQmfQLgy2l55VhngJK8h1ErRDTxjUS8UyaDjRR1zgB2wzT3drO3IULlfZ9687timWd1jiBrt0tTJk0hZbudkrKSympLKWju4NENkM6l6Omrp7XN72KNZTj1JLF/OtVn2NSSR22ksFI72Zp4M4Qg01bGRrqJV5VLsZZ9HX3UN84kWjJJJLpMIZlkUinKSsvJ2KbZNJJBbSHhlJKg11aElOVSTu7BQxryYmwxqmkeKpnKC2L0jeUIJfOKgBbUhInLtr9RIKysgoF7JKJIaLRCJGwJKnmgfthsnJ84fazJBJt7NqzgVxuQOXzuo7JrBmLCMfqcJwQptyIsC6Gz7p1z3D/737HyhNPprOjU2nZo2GLsB3hmWfWMmFyI42NDTQd2E/TvmYWLFzInj17mTVrDrv37GbKlEn09HQTiYaorq7hE5/6vKp+a0tyr1yrtLNIjHBx/BSmkaQ3uYu7H7uRAacJxxpQenpZl/F8A1vYe9HUK7GSyJN0JVORKEXCNrlMGsOSpQkD0wxh+B6u50hKAZFoDMfREh2NuyUx18bJ+YRkF1MSPAXUu1iE1EqBTDpsp5LTll7OcXPOIURlMDLoPl//X+cXyApFItPBf/3oq7y2YSM3/ufX6endRG/3XrLC7lPKwa6DZHNDanXAN8L0D2XxTZN4tJRoOEbnwS5VldYKxVVOQPvBTp57+jXOOv3dfODaD/D1b32ZU095F5dfcj2mJElbIU0q5e2Yj+kF/L+zcRG4jy3OReA+hrgVgXshcE8y6DnUxEsJyTKh6rECM/Y8aA1yo2SA1c6yAm41EzD8UduMlNg+TA7oGFrqLd5FRkJ1iSN6wbwtsy5uLYVYdIl2rWkVLWvRDvItboXi4f4SIqBKO2jWPWO63PHyI3z74ZsZrDHIhFxM38V2hQ2HnABM+cYzdMJn8E/jJk+x8IoJFQAjxZJMKWtvMnXCVNykQzabJZ1M0djQQHIgQSwSUwDNdXKUlJUxlEwo7XE6m6GsqpydO3eS7UnyyTM/wJUnX0C5GVWMu5MVRxUpyJQG+jnw+jNMmbkQI1aP4bskBpsZ6G9lMFnB/Y88z+ozV7OntYV9B5q45pJL+f0Ta5g+bbo6X1NrC+847TQFOvfu3avOv3nrFpYsXkxpaRlNTU2ceOIJ3Hb77SxdvATD83n+pRe44vIrWL/+Fc49/93qfh9+6CGWL1vOzOkzMXxLAXwlnZEqoYqd90gm+kml+vCcIbq69pFK9yqrTN+TftyitKRKAWGRs3iOo8CuSE7a2trYuHkzM2fN4cCBA0yYMJEDTc1KopNOpahvqCWbTTM4mFATEaF10uk00XicgYEBNVnKZDM0NNSTyeRYdvwqpk6dSzRUqpN8DQHIAsplNMjhG0myTi/b971KzuvHNxxcuY+Rdc+CN0PLdfIAOp+eq2kl/YSMZAwfqv+Wp07tqQYhHTG9GiJgPj8yiaWnhU0JjXWzqa+ageWXKFchlRA6XP41OJoMHX6W7Tte44c/+jbXXnse0XiCvXs3MJgYwAqX4hou3T2dVFaNo6cnRU3NJCxbJmJJLNFCuRappE9ZvIbmpmae+v0znLDiNK77q7/i1Q0v89RTa/jC5/+FhrqZSn6kb6KwtsDbr+MoAvextUkRuI8hbkXgXgjcUyRch9p4KVZeRaKrKgUVl0aq4Alwl9+LPEZYsTcnywx3mW+rPBq99KxXD7y8hjFwosiDeDUwqCQ3fW/C/ml7gTE8YMVdihH4C4+AktYpebBPzsjRnOrikdfXsrFtF47tKWbVdqUuhIErSaGmEfQ/BWxngLGULa0rUgH9N/leNMpSMyLvpa5qUAgLq+waXeUFL7I4SdYUkKoWAABHbCItk4m1jVx6wrlMCEtiqvxd9M+yr49vumQzHTRvfpbZC5eAVar6gvTQQbo6mmjuMPjFrx7i69/+Ji3dXXzi05/hh9/7Pg/c9QAXvOciqmuruO32W1ixYgX19fU8/czTip3v7e2lo6ODd73rLCU7ecc73sHPf/5z/uUr/6I4j+s/dD2f/NQnee6F57nsssuUNOKO3/yWd55+BsuWLlOJk3nAqrkVYZhdXnv1BSX78P00ppFW1T+ln5Y2sO2oIlmkcqoG+x62aNxFT28YatIjOnFhsqWftESnrjzglTHPsL5bmHHR3murSY+QrAAov3NPOdZEIlGi8Srq6iZjGxHFiMv2kriq+R/xwxdnGrFUzCmHFllTEfY7j7GDUecwYL2grEYAvfPdch7QFxJFIyB/RGgUOPIPp54qL34F64NKrJZkSeTtFvPXnL8yvQbgui6Ok6Onp52DB3cwdXopL778EEOpHqprGwhHDdY+9yTTpk0llXUY6E/T2zdEd1cvuaxLNmWQTVs42Qh9nUk+/KGPcvrpZzAw2MfXvnYDH/3I37B0yQkYfiyI7cgQ/HbtTorAfWwtUwTuY4hbEbiPBE0srBKeR02sJCiWEawRBr2fwudBr+gGencF3Ie7W63HzCsx8wxJvnzJoRUIx9BYY9wlL5MZBu3CoPvC+8hQ59PR2ak67pybo7auFluW6l2XaCiE2EbLoKbzq4rIfYxNUNztLzkCmkYNkjl9sn6OtCWSAs196jJGStig/q/X6uTfiJhtOP9Ew/UgmnobAeWBwzUCA8PYIsjAJkyWNHYACPPb5RNI5eh6T4OYaxNxQxqwmzklFRHQ6qkkxhTbXnyUGTMm0NPXRzqdI5kaom78ePa25rjlVw/wze99h87+Af7qug/xX9/7Hg/c+wBXX/4+KqvLueXWm1myZAl33XU3J5x4AitOWMlDDz7I9u3bueTSS9i0aRMnnXQS3/3u9zjpxBPp6uhUlUiXH388P/zxj6irq8XJObQcaOavP/Rhli5eiiUAO18KSvXJ4hufIp3qwSeDYYirigi7wXXlLjUAdxwXyxZJoLiyiDZcA1GJiUwO5HemSFAMA8fxCIXCpFJpwpZUpZW+3cCRYnt2SANxcaSRiVQoHEwELCw7hGWVE4lU6qRa6U+DCUB+AVdJPnypLptPBPYIBZaHRwPAh8G64Wk5VUAkGb640OTJGfm9bmGdSOzLQo76T++g+HT9LMnqjfzddbAtiW3eL11ikV9p1SObilewv+eIRWYCy07QP3CABx6+g2QmwVC6h6FkF6lcgmQyiesZZFIi5THIZDyyKfGYt1l+3Gl85Pq/oaG2kaFUL/fcczeVFdW8+/xL1CqA2JrqCc+hMs63Y3dSBO5ja5UicB9D3IrA/c3AvTpeMuwBoBJSVfk95Vqsu7pCGmN4dxmCNXBXS5KH6GMCyi342xia6S3ZJQ/c5Wva89jR2caB9jb2NzURjoSVdWVVRQXVpeUsmT+PyngpcTOkGEG1yFrE7W9JOxQP8pcVAek+dJkgLecQAChaZy1vyMNPNTMeBuS6OmVhnAJ9sZLc+MqpRaExhTmDOqWGiEAEXOrcFC2MyPdJegKumHkzkEwo3b2p3EwsV/jWYKpgujhKQhLG9bLYRpquA5twsz1ES2MqqTMSq6CkvI4Nmw/ys1/8ln//7r/T3tPFx/7mI/zHd/+dh+7/HZdecjmVlZXcfvvtShbz1NNPM2FCI/MXzGPLli3s2LGDd555Bps3b+aMM8/kBzfeyFVXXKWYfmHCa+truP+B+3nfNe9TP99+6y85ZdUq5s+fr4syqaqu2uVEnMUliXbduoexbAfPTSvpisha0qmMinNFZQVdXR1EwhFVWCmZSBAScsIySabTlJaVkUqmCIUjSgYjAFI09j09vTQ2NpJOCZOPqumRTGQIh6NEouLoIomhUSWDkfPZdoSa2inE4+MU16FBp0LHw240olfXPu/iE59XLMqqgXZu0Y0fDCJHyi0aRvhHybmLa01BXpP2Zg9WdWQi4cnKg5465lchVFLtIR2/Jqb0kKj9ksTyUoF5zyeVGWTrrlfYset1evoO0jfYSyqVIZuViYG42oSpLK9l8sRZrFj+DiY0iCxHdk2zect6du/ezXnnXkA0XIkphb1k/FXpV9qGVH/enpKZInAfW79eBO5jiFsRuBcA93SahOsiwD1fCzDPn6vOSiWNBay7oPegKIWw72LgpYc96VzElitY2lMDrWY5As8W7VSjNshzYHmd4ogUR5UcP0akXNgpB+OEvrlgFiHMEKJvdRx600nWrH+ZWEkJbZ0d2KUxBgYGqSgpIT04SC6Z4j3nnMf4sipKDENpa628xn00gD9kklK4lDsS28BXIq+eD1Y0goFMDUB/QIqTP37h832sk4g861mIj1SNmGFIpVYUVNtorZDiQvPlvUXGoJyFxLNasWXSvkHbBiVW5HnQQEJceOTYAox04RUFswo8iBXb6UmhHM28KQCnjqe9foadsX2x2wuGcD+nXTpUgpa2xVO8mdjH6YtWEgI9PEviWXCdw0/zMC7Mp5kF6//6ixoOh0flUdnYGncEz9MYOpq/4F104Z6gWFHw7gtI0u/TyHpdPkSaPc//SfcCApH0axxMoBVoFVbYIRSyFWjMTwPUcfKSuAL5swbungKqeb5VnlGxZ1dJjgHLj+FqkJ8vuuOlsbx+kgPduNkMjg/x0mrC8So6+5I0tbSyYOEC5WLyxhtvsGThfA62djBhwmRs26C5tVnZ6IqMpLWlRSWY5h1jpOjRwbaDXHbZe1XhHZ1XYxCOhJg6dSqtB1uZMGECYTusEnLHVY2jqqpKS/jyb4Cap2QxzTS/f/p3KjHVtjTTLomtmXROJXaWVZYz0N9HabyMaKSEVCKpXFksYZgNg2g0puQywqZLMMUVRiY6yaEE5RVl5LLC4JuUlJaSzbnYVoRwWNtrxmIxFXL5Wc4bi1fm/XNGwGbAfmtQLHp3/Z6rdtMdR/A46HGkEI4f+vIFwDW/+bDoJT9JK3xRR3KtNO0+Mh7oCwvYeVmFlTwLy9RflSdnvoPJP5kjOU6qjxG/f5XLJUBf9jdULCX51nGTJJL9JJJDKilWSK9QOEp5SZkqFBWyo5hE8D09Vg4lunll/bMsWbKUcdXj8T2x05R2kZUUnSg93OEVgfv/s960paWFVCr1lp6/CNzHEM4icC8E7qJx9xRwDw33fUKNyBKjJGlq7aMpPa6SNJoKkWnDL0ky02hdpawOs0AayOtFRv2xVQeqkaQcVzo10zeVxnV4LDpGgltfbuEi+4isR7F7SulikHAcdjXtJ1xZxrOvv0ZNVTX7m5sxqsoUu1QSipBLJenu7OL4JccxYVwNiydNJ+LoAX+k8yx42AqBdXAL+T4/v5X+ObgSz1TAXdwNFA7xgoHqDyW/Fo5Fow9+tM99HrwPjz86YdCVbEBhHv2sSvQT8OD6OT142FLcJKeW5vPsqCPtr+IZeDSrUVeeE10iXgFx0w3Al07wQpbrhekMQLgCYmoMzReJEUDukRNPZ+WJrWotqoQ65e+sniphabVWFlNrd01fD3wC3LXsQp4uAf+O8p7WS/XiXDJiJa0nkTqxWkD/cBvlsXr+OQ5mf/ml9uENj3XSdLTt8z95O1V9NP+Oiu+5gZN1sG0L3yyUxEhvoIQbh43G4WRvsqHG6Ycmj8uzFphF6de24N2U7X15p23xV5f+QavGUVZ70o9ZSt6gJoOKNU6jqHbZ1DJwfXlfbHl7sG3tgiNpstqQRlduFZ7AsEVbr11qpP9RblzB5FCscz1HtNIO4UgEP5CpSJx8N6fePU2AyPsoxEiQTyQgUOnLA393eT+Uxj3DYKJbJX/KhNi2tKd6JBrHlYmSZeH5TlCF09ZJkorO1edQiaOS92NZuhqsYnw15at66SDG8nel/1fAWaQpwexIJj/SntIVyD/DU4WcRhy98vKTkQ4zX0tDU8uBj5mMNYeRvKj+J5C8FL63R/vaDE/81A6Bo04wKuUnUqrvkTFMmmyYqDkcw60Buyr4FcROO/1I4S59bBkuJKZCGBlKNy/doKOeL2V44EjORUjJl1pbm6geV0ZJSWngGCTJvLJdfjIyQmoVGfejbfG3frsicH/rYzqmIxaB+0jYhtIC3F1qYqUjw6YCOVIcQ2f8axiueXiVlCodlVT1U/A7gOZSuMQzMZSOVXc4CtQHq9uGGhClsp749upBU3EKKostf5ZjSwbNA/f8NeXpGj1h0GBAOtm057NpyxaqGuv5/cbXqKqopEWAe0UJmUyaeCiCm86yv+UAK5YvJ9nVx+Wnv4syqQYYaNwLcboCBME9FoJ6fSeydB981CgbAItAB+AJnjR8QgETnXdOONKDrEipUQu3R/PQ5ydNsr+WOeWlS+CosuZhFSFbDPV8gRYmWcMl5JnYjin2x0pSoCQGoosVLWzAx4u7hVYsiG2etLutPe+lWqRoX42wOqkyZ9P16LEDxn74eZCF/pyDEZaCN35gIRd4JitjH9nbJ+PJpMJSiYu6gIqUJVHGxsE59RK3TEJ0AqJcm1xDwFgFz7BOO9aF2PWzWMCsBY2rtLB54Vcw4ZHmy/+uiN2P5snLP/uFX4d1EaMOkJ9VFs4ulb3M8Haj37vCA2h+Nr80M8K465dzVGsdQuXqJaaReXGeVNCSv+HXV7HF+fdGehRJeJVprkgl5M2Vh6OAFQ0uZfRzUvj+5ifz+e4jz6Dn2eb8toVz9iMHoxCIjuQA6O0LNdqHicfwQfPrEIdr29HsxMi2R+YUCtnuIz0vI+07XARvdEenZDUjNTbU93kpjerLjvJTII3RewTFpIZbP+gK3tRo2oZx5DMi/dS9iD6WTMv0J9/r69VMnfeVX0HIP9+yi95XDQ16bTOQw+T17AXvwiEdf1Eqc5Qt/pZvVgTub3lIx3bAInAfiZv4uA8JcI+XSk2Q4TFPwJBK+FGMpKHAjjg/BPwIngJGrnJi0XKafDKQEJ3SGaHAlhARpmVgyFqzbGObCrhL56fSnALLOMV8+cJ8HCNKDSQX6o4K+lnF/QZy2J7BATZv3UrDzKk8vfl1Kssr6Ghtw4jJEq+wbSZezmFPewsLFi+ibdderj/vUuqicew/wIgfAt6HQ5of0vKyIAGUmmE2PAtHAVoHy/MJWeLNfIxw8A8hmcLXQYFQAR6BJnZ4sBGg6+olazdL9sAbhLyMYjtVPoMVxq6swS+rJScuHYYhrse4hkVO/JSl3R1pWBmgHBxhw80IviSyKYZO4m7imlKaXGeFiduH7wQl5YVpDdjHnKxGKPcKW/l0S6gVA6jYTVeEAOwb9OnJuRC21bZltsfEmEW1bCaOIZavmPf8MxqsvweDorD92qs/MDHVQ2oQQ3m+C1pLPUAFU8jhnA0B9IfyumPrd/6S9tLwI4A4BcL1YTOqQzBhgeTlEMQ6GsYeLoJvfn8ON9Ed/t0wrtSkhO42Ck86Uk1ZX3YAroJpq6zvKD8SRTjIJDE4v6k195qPLphMHLbRR7/ER5hkBDjzsIc4ZCJyOClIIbjVGx+ZJDhcH3Q0/dKh9/HmPf7AMQ47MznaN+RoO8FRg8IRDq+PNnLMQ5+HwrYcGSDzT6zOAgvOo5pf93+HDEZ6uWWExMmfL78UOXyZsl0BTXDIg3y4p/po4/Xn266ocR9bbItSmTHErQjcC4F7miHXY1w8Tiiv/VMDjwCs4S5J7eDo4oaqo9LdXFAOWky1RMMoYM6SpWTICiAOGHbZOKQ80XWX6JhSckPkFHldq6O1yY6lSn8f02f0ABD8nCdV5ce23i4279hO/bQpPL/xdWrKK+loOUh5dSWu79PZ2akSwQ4m+5k4ezqtu/fw1+9+LxNLKoOF0MNf0fCwVDiO5PtX1VlLmW1hXjxyTgbLEo1jCvwMpiGaV7FeC48k9ebL1B5pvBs9XgWa3kOZoYJrVcxUPjlL2EIBoGJrllUA20r3svGWbxHNDSgNL0RUu0fqGpl64Qdwo9XYdkwx2FIgRbTB6hkZ6qRp22ZSiQwTp88g1jiFlBnFFP84pSe2uefBu9Wk6MJz341th5VFn1yLYwvcEQcQj57MEDu37eLkxSuICYsvHwHvwaRjAJPvPrqFNdt2k4uGyLkGVbbHR847nbMmRikPxkNVn1MKuASgXFRAebbOzieeBfZvw8B92D9aK2rk7HmXEz0oF0hqjgbDHNND+z9/Y525IE+/1pYrgBsUklE45RDgXrCqdIyA7pghXPDMSGNrmKSB18jELPjDoZn22js9v6U66YjmWnWXKndH/06g/ShC99gbfDQwH32EIL/jkPMc0iHlVzL1S3UscRo51R+brh46OTgyCXEY0DmqnfNbFP569PeFIRkZgwrHo5Hvj+WVHR0bPUoFV3RotnQBHh8W/gX5QYdg/ze3t9b76N8H/fKIVCiP8/Px/GNxP/bH6c+1RxG4jy2yReA+hrgVgfubgXutqpwaLAcq/Z44L+gBTdho8a/1LLFU1HZgatALBjcrSJrKl/yWIhbC0PamM6QzWSpiYSrChpJcGKKhzEtuhJywXBwzq9iIiCXuBMeK3Ec9AIEWWxaztY4TDvb3sv3AHsbV1WG6BpPH1RO1bLJSYt0wyDkOB9paefT5tdROm8SuXTv48HuuoKG0/E3A/XAD4DDzrtgWsSMLmFth2tVKhNaFq0vLtDDYswsrWk1p1TR8yg6p3HrEx1kd89iGX+1IoJM2gywDPenyHOVbbSY72P3Tf8NOdxMb30AmFIXWJnKOT+VZVzNu4SngaD9m13WwoibpwXY2rbmHJbOmkbFL2LpuHQtOPAXmL+ehV14R6w2qK8eRSQ+RSaWZPX0ur219g7KSMhbMnsNTzz9LyLBZvHgJ//qDbzKzfjKfvfrD1JSUByXShSWXFRnowuIfH9/Pmp0tVNeVU2r5tHTmqDJcfnLtSiaENODO4RPyfFW9Mi3zikxWTRoqozFKLZmOBNrUYDnHVOXOA3CuVq91cquSdgU5HFpYWzCAHgsSGEOf9D9tl3yy8EhqRaH0YBSwLZSY/FHgngdVwSyvIHBvBmBHjqoG7W/+6NTswoOOAlHyHOTVgQGRoeclAtu1E5Vel/xzfvKyjfyU4488nMO4uVBOM3qfwrjmr/1PvY/8MUcD91HHLUTtx4LO1UAySkt4uBnAm5rizS0/ah75ptyJw0+QjrWN8+ctBOj5iaIc62hkRsd6zj/v9kXgPrb4FoH7GOJWBO6jgbtLfSyutJuqJzQtclIYReQIpkd6cIDEYL8qTZ4OVTLgSWVCGaxcIlELNyNyCu2J61o+Vs7DtCOs29lMureTE+ZOYVzMw/aFadcLtgKeNPMKjiWFy10qyiopLyk/5oFPySsUTpeiI1qEI2ldUpFRTNH2HWxi1+6dLFu0hLryaiICpkUzban6fkq6kTN82ob62bhnO69sfI3rLrqS8SVlhFV/KglFIwlXCvSNsivT4F13yK6w0+JQkXMJKSceSarUHE6u+w1ef+5eSmtnsGDF+fh2TeCsELih5B1cgpFC7kcluQVOLDop6jADcDCA6eQ8DZts8WaWJX5lcydsur4GV5LgJAct283+H3weM9XF+NNWE546k+6H7ifT249//FmU1zXSsXMHVWVV9CZSVE1oUDh+79NPsGT+fJKhGF2bXsWPxqm/5IN89NvfY/kZZ9Db1YMVgkTfAA2Vtexq28/QQB+nrVjFuhde5DJZzWiYwPfv+AnjYxV85orrlQ2nrD5IEmpQOocOI8Q/rDnAk5v3c8kFK5hWafGLx/fS0dbOdy4/kT2799GTs4lGLSqyfZy3ajEv7eqht7tLS2SsEi5aMpHJtrZ9U9Ukcy5WCrIDScLVlXi2jxvSvjSqqYZnqy6ma+FlJXYmxHRSdvFzLBH4YxPNEfB4GE72CCd6M8TSG+pk7/z3eUx3uIOMvqpCCYlu4oL36xCLwvzh9XnkUZHv9KsXSCZGV5Q+lnAd9baHi8ERKIVDNv1jUT4Sgh59YUc7i/1j7R+sxBz1fec3LLyPw93TqL+/yVryzU9AISmSF4SOXFZ+ApK/78L7P/JE8vDZSaMnM4c7Zn60yAP5t2/HUwTux/zwqh2KwH0McSsC95Gg5TXu9bFo4IMhcsEAACAASURBVBAjAEX0zHplT8D8UH8/yWSapGHy7O5untzSQioNITPLu854Bzv2HqRt317ee+nZPPjkM1QYJsuOX8nd69azpLGU84+bRgkZLC+nSoersuY5Ae86GcwPiUNImpKKEipjVUd0lxjd1MpyTgEyrb+WbHyRTAjITuRcBsix9rVX2LZ5M+9e/U7mTZmGrWr1aYs40dsLWJOryMjUwYDu5CAP/v5xzj7tDGqipUQMCImVnOpDdVVGSyoPjhq7Cn+UyUjWFTs8+Oxn/pblSxdyxRVXqMImEaeV/rYtRCsmEa2eTjoTVtefL7ah1P+mqSzaxBFC/hu+T+VFbSj2W5wb5J5l8qPtGqU6ohNYTpgqOdPN6cqK4YitpTla7q1kJOLkEsp103Lj5zCz3dTOX4QbLadl82ayWZdxqy8m7vbT8+LjZL0Q7dkQJ19+Nd37dtL04ssse+/VeKEo+x/4pbq+yvd8gE//5Gb+6hOf4+E1D2OUhsgmUtRYMaYvnqGKudhZm9t+/VvOXHUGE+sbeGbzOsqtCB+79FrKoiXKJs33LSxV3dKn3Qjz5TVNPLFpP8cvW8y4SJbfr9+oYvKl957EbU9s4/Uel3imk4uPm8nxi6bx9dvWcckZCygrK+W/71rH35+5hKvnVhMdCmZOvsverTu478e38ul//gdoKNOzO6HuI8E2UvFe2UH4bH38OSrra2g4eQ5BTZ8x9Dh/gbscBlsekREP/iAJ7/LuiIyqQDn8Ji16HpYFavIAthcm0ktTBRKd4dDnaf2Cqxj+9tCkeP3rQhCbv5pA2axkXTpBX5vaBqI/1Z/pZ+fNkPVIEw69y2goeOQn5s2WufrIeS1+/jz5KcURZDtH0poUnnh4KXHU3RSuRB3uQg+D64/Y9sP7j0RdOckMN0HQDsNYvBAo5ydreYPJfCRHM9ejafnDXfSonIBDkjHyCahB4xbkCx0yyRuexunzF6Y/6yscuS59h4eC/hEnnnx75rc/vNvS26FXKQL3sbVCEbiPIW5F4F4I3EXj7lIXj2vgLp2msLvCSIsVmpIeeLQOOOzoTXP3SxuJTVlIW79Dqn0XF7xrJfc/u5P6ceWUGo5iQ087ZQFrn3tNyWquWzWTpRU5LJFaaBNfPM9QSZ+GI5UO9RJ6xjSIVVVSWlJ21Iy76ugUu62XqeViZZUg7fts3rOHp95YT3t/DwunTufCVaspN21MO6SHuGBwkQRa+dZByrCL4wu8snmzsmkbV1lFTWUF1eUVCriHBCCL9l8uWckrRj56Bd3HUVZh2k7RcTLcced9zJ09h/nz5hKOxunoauHee+9Uk5NaqcLYdIArLr+CF154nr1797FkyWKaDzQrcCqyoRkzZ7J44SKeWPMk2zZv4dpr309FeQWbN21i244duI5DLBqnsqqKbdu2ceopp7Jtx3Y6Wg9y1WWX09hQH4i3teVZkLOrPaAzbXT812cwM90kRSbj2Qq852qnM/2ca8jtepHOtfdiVE1i4ikXYjZOpmfNfTRt2cjSK9+HHytj370/x0mlqDv3Azy2dQ8rVp/Oq2+8wTM7X6c8VsY1Z72HBx+/n8kTJ3PaCaex7sWXySUzrD7pJNr7Wnn11Q2cc/q5VJSNUzkAQmPaKhfCp900+afHW3l4Ryu+bVBjJKmwM6xePJ2z5k7iO4/t5PWOPj65ejarZtbwqyd2cN+eXlZOj1MeC/HQ5j5OrTb4/urFDNz2InT2E5lWR/WKmaz/3ZO847JLadvwBn27WohPqWXS6cs58Ph6OvfsZdy86UxatIy7v3wDixbOZd6XroKSMXQ2xV2OKgLS3kk/w3/f+Que2fIKKVl5scMYMhm1g/L0rjOcvKxUaZ7YLdrKelEtLpkutuNT4Ue58SvfJiIAKygiJ2sqYj97CEouxLhHuEptiigpqQXgOtgvX6dC/qKgVR5nFSDxkVPoHA+NRwO71ENA6xFY7MJr/KPXWwgE88B91I2NxsGFSpNhcKz3OfR0hcD2LWSAVcxUprw6Z2CAiSXWkG5OvffK/tWVFcmMykmSC5PcFTH0Scu4YkV1jQzX0XaUYmer2ku86U21uvinfUaB+vwai9I+ygDigpvFt4J6E464dlm4qnqsi0hJZcXPt7Lq+bX9KIawBIcUWCq8wqNoxz/tht6yvYvAfWyhLAL3McStCNxHgjaUSpNwPGpK4toiTWQZSvWhHWMcw6Yz5bO93+CBjfvpyPg4oTg7mno4bkoZi6bX8JundlJZU0Gus5mzls2jH58XNrzGqoYI71scZ6Lfhu1rQ0kZhw27TOnKo6E0g70tpFM+8fr5RGrmEiuvPJR++gPtq5nofFEgcTrxSJrwyMvP8+KWzVTW1xO2TJZOnsHxc+exY/NmwrE4TR1titUTl90lCxbT2d3JgaYmairHcdziJbR0tCMrEVIIpaqynMn1jdRXVqvBQdsaSrGhEe+B/DidV1IrP2Q1QfG46dbbWbxoEcctWqRo3b7UAI8/8wS5RIpZs2bx7AsvMmf2bHWX/f39LFq0iJdffpmamhqy6Yzyez777LO57777GF9fTy6XY/q06RxoOoDjueoYe3bt0UVTUkk1BuZcl5XLjmfejFkq89IKGYh/tPYgEw2+sHY5jHQHrTd+HssZomzBSqifgxcrJ9owCauykdT6B2lfew9MWcS0c98PZpTutfew9/UXOP7Ka3AjVey/+yaMVILJ513LkNg3phL09fVxx5pHOH7FSpZMmqkqOoZtG8ORSZZFOCSemFJi3icTjlI5eTbhskmqRXTClqdWDHoMg888eYAndzWx+vi5nFlnMiFsMrW2nMGUy1ce3sbm9j5uuu4Uxsfhhttf5Oke+MT586ipjPOPv36VuZEU/33aYnZ97lbm1k3j1ZatnHT9hTzw01v44Mc/zQs/vonxU6exoXUnp196Lg/8562cefklmJUWjcev4JGv/QczVyxlzkfPxI/nrdvG0OkUd/mDERBwPEiaf/rhN/j184/ghCMByHHwBZwZvnI0EschR/zTXVN5rqvkb8MkZwp49whnfSZYlTxz0wOUKJcqDbylV7MEAB6tyiO42jyE0jA40JrlIa3KO9EHPFSkE/w8nI9YaBso++gCZSPXMgoxF6LmI0XtGO9jmN0NpDzqjAEy11aLwYkKZCX/N4G7yC4VKy25VYFZsC6U5WPkHOysQ6a5hWRnJ2W1tTRv20XNornEJtYr7/xQxmWgpRWvIkZFY71uLT+sVjL/dOA+0gj5Sty6IJ0upud6g2SyzQw6HWT9JFEjSjxSSzRcg2HEwUuTybSzo3k97R1DLJ9/HtUVE9Uq6Ehl1Pw5/v8B7XLFReA+to69CNzHELcicC8E7hnt4x4X4K51m8pdQ1xihJf1TQ5mDG5+YgNP7Oli2QnHsXvrHtXpXLh6Blte28GrLVJZMMs7l83l+ImV/PqpjSSS7XxkkUlN91oiif3Ew+XgZUilclTXzaBvKEE21Ub9OJ/+fpPSye9k/IILCFdUH/XgqjrRoBCIWBwKeN14cD+/+f1jzFq8lAMHWuhoauaqc85n0czZfOyTH+aMs85h3JSJ/PNXvsz3/u3rHOxs57d33cnffuRjPPnw41x9+RXMmDaDW+76LbMXziU5MEjENDlh0XFUhKPYQcnxQxwygoFWac9VwqsU4PBVBdGf3nwT8xbM47hFSwjbIXqSvTz2zKOYWYeGhsnsa27DyWaVNKasrIxlxy2jaf9+BgcGFfCfNnUq6VSKg+3tbN+xneUrjlfVDGPRGFXV1cybP4+DLW1ksllVTOqJxx9n2bJlTJ82g+kTpxEXkCxxsvUSuxQxkYIswm2ZmR6afvwlMolBprz7asKzTsWPlOKKZaOXJfH83fS89CjmrJVMPfNylXjavuFxtj/1MKddfS05Sth7363YXoZp51/Ny4/fx6zx1SpmWVscIw1V3CoaDpEcHKK8pJTO3l5VLjwm8h0zTjcRJpx0JmWNS8mZMW0dKkO359FtWvz9mgOs3bqdD523iuumxanwfDzTYPdQjq88vJXtHYPcfP0qaqLww0e2cu+2bj5x3gKqS0v5hztfZFVjhG8unUnTV+/mxLnL+N3axzj1fRdx/49u5sqPf4o3br2V2SefiFcTo7K2jB//r+/z4S9+hoPpTiacvII1P/gF81cso/HCpfixInAfQ3d7VLto4J7h8z/+Fre+9ChZeV59l5Cfo9SAilCImBRIMhw8kbg5IVJZhyHHIW0apIVcD9tYCZfp9jie+8l9lLliZ6rBn8Ah5XJ1rJ/ROOoPAOmAf1XnUiLAQiORQt28XgZQn9GLAMd6eUe7/WHJevVL6bPyFyMdv0hr8isT+b0K99Yzhjcf748uBxzhUgtsNIPcI9lQLF4lT0hOFMqlGNq1h6e++b9J9vTSMGUaLU0djDtxOfMvPpfxDY28+sBDZPc3seSqCwlNrMeyQvhGSBWWEnb+rfrkgbuKQSDVTKRbWL/pDpqHniflt1JqVFFTNpt5M0+ncdxKsplOXtl4J7s6X2Rc9QLOOP7TxMx67aymitwVforA/a1qq7fqOEUf97cqkn/icYrAvRC4p1Xl1Np4TBeOl84yKAWtAJRp0dqf5v7nNtLixbCjEUgnGF9ictyCeWzYtI1eN0xpyGPlvOkkB4bYuLuFmtAgK1lPaGgrif4OGuunMDR4kJybxghVEq9soCQCLXu3kKOSOadei1O1hFh5zTG3rnjOy4Qj6WV4add2Nh5oorn1INXVtYyrrGRiRTXLFyzgs1/4NBe95zKmLZzLX33keu772e0888pzPP38Ot5/6TXs3LmD005eRVVJOS9u3UjHYC8hy1LuJLUl5Syfs4Bw3kGnwN43r8fU7oy+tj6U6rK+ww9++AMmT5/GUDKp2Pqh9ABWNERqcIjJEyaRyWSZMX0G0jns3buXlcevYMOGDVx77bXYlkVXRyd33HEHjRMmUFpZTmtHGyE7RGlpKW3t7YqFbzvYrqowyirGSSeeyCvr1ysnoHPPOpvGuvHKp14VHhWPHNHhGqKFdzDSXWz92b/hZFLMPOsyIvNPJ2vGFOIIeSkGX3qY9hefwpi2kNnnXglGlETnbt544j5OOnU12cg4Nv7ul8yYM5Wy+cvZueZeKpxBXZHVQ5VJF/a/p7eHmnHjSQ0micXj+E6S3u52qusm0O2EqF32DqpmnkRWxA3K/z+tlsE7CfNvj+3lhY2buf78U7h6TjUVeKR9j70Jh3978DV2dw3ws+vexYQ4bOzO8L/ue4Gzl82gpryUnz72Gn975kLOj4XYedujLJqzkOdfeJn584/jkVt+zQf+9Z/Z+sIzdB3sJNpQybLzV/Pybx4n0dpCxYwGln/gYl6/7/fq51VfuBY/WgTux/xyHuUOAtzTuHz6h1/ll+ufJGu7kEtSGTapj8aJiWJGZGiWvFtSNldLEQY8l+6cQ6/jKJbezBjMDNXy/I/uocLVkhTP0s5KyqbxWDOM83hU7uOPAsACVXNQ10Ld/uGUJQXGIlqpffiDF56+MJR/9FIOAwfVLRRKZQqB+/9h70vA7KqqdP8z3bHmea5KKvNIZiAQQJB5FFBxaHpwftratq0+W7v1OfTTbltbbUG0+zkhoiAICDIlkEBCZjInVOZUpebxzvdM71trn3PvqUolqboJNMq9fHypVM45d5919tn7X2v961+ZoL+rQS7If6M/mbxD5tfZcZyjIkrGRxA/6NTFWdYgGxLkvl789P9+A2WSgnkrL4FcVY+drx1DZyKJpCpjWkMT+jZvgtLTgTs++xFoTdUsS2yZASgq1ftM4NFNcJ6OgtiOHG9aH8SJ7lew+dADGDb3QDFNBLRK+ORGXL7s/TBTI9iw4zcYSB9BVekiXL3si/ChgilAeeBeiBlOxjmHR/CGnJIH7m+Imc/+JXng7gHu3DnVQmUwJLYOxu1C4YQ7UkLGSDyBvlgKCeqOqmmQLAt+xLnRPG2HpkxcVBMBUtOjwknChyPH0bfzSZQVSiguLkM8moCuR1FRVY6+wQhkLYxwKIRoZISpM5UtF0ApboK/sGxSmyu3FndUXgb0JB5e8ywiqoRguADtx08w0F61ZBkWTJmOrRtfwdSWqSiuLMPqtWtw9aVXMGVm9/49iA9HEQyGMXvuXAxFojg+0Iu2jmNIGTpmtbQi2tmDlQsWobaknNP2bCPHjJk0uegsBJtqA5CGaSSwZ8cWFBeFHEWTNKLxEfiDVChqwadRKldGTXMz2g8fRjqVQkV5BQYHBjBtzhz+jsGeHvT39qG0ohxl1VXYuX0bykrLoAQC0ONxxOMxFJeVM1ge6u1DfXMzkvEY+noHUFbdhMrqRmhKgDuKyghwNI1kPGmMihlF2/onYJkpNMxcAK16Jgw15HR2TSN2ZB/6Dx5AqLoetXMWQ9cCUIwEhtuPIB2LIqqbKFAt1LfUIy2p6DqwG1J8hGlE1OHUxS7ksFCXVCq6JcUbTaWmVCZSOmD5ClE1dTYCpQ2wlSBbVKFaAdiISip298TROxjBtJoSTCsOwMd1BDaiJrCjcxiRpI6Lp1YhLFlIyDK2dg7h0PETMHULtbX1uLilDFVUiBxJc0t6oy+Jl3/1BPbu342Pfv1LsMMqUrE4/CVBSCENSFgwo3EoQR9Q6IMVT8NKpqFWFWSbI559ickfMUkL0EoTQRqfv++b+MWGpwCV1hMdU4sDKLYV+GnekCqVleLmXxRJtVUNMagYgIQT8TSGJOKx+9Egl2LjDx9GkUVNwchXFe+lwM858rM9gNe9tWx9p1u86rlpp8O0W+PqVaDhozKLx5kB7/kC7u5Xeik9WapMdvxOXm6cp5cd5/i+zDkAd7atRyqR6H6khEUF9UkLqe5OFnWywmHs7jiJI4MjmLN0BQr8MpL9Saz5/dNAZADXXrIUZbRGlIegFoZ4bdFNBX7fZN2c009et4DUS5mx7DQkaQSvnXwKa1/9KZRAN0zLhKZUIYRWzGydjt17NiBhxTGt5UpcPPtvoErF3HU6D9zzwH2SS+Vb9/A8cM8+e+JyE3CvCoZFHTxHZgV/jyLvtOSlUinmVot2JSTWR7/XWXRRyLDRGdSFFPBR5i89jJDPhJkchKxQulKDZdqQVYWlCSkay4U5sgpqimnTz4qf/+4jPe9JbK6WbbKDQaCsL5XAjvbDeHHHNvQMDeCC+QsRkGQc2bUf77jqWkxvaILmUF3Sls7UFUrU8pBpIIqKlASs2bIRL23dhEUXXwhDlvHq+g14+4WXYNmM2SgNBFnb3bv3Ov6O0La3DQbFsp3GQE87utoPAUYCKkkRWiYsU4fqU2ETmFRkoY9ONuIshyhqEpuDYLgIrqbJSjl0rKZpTKGh56JqGtNm6GDuAKsoQvWGQI2kIZJW0dI6BxVV9ZDkAFNXINFmIXHhrKrYeOrpx5BKRhxduxCSlsT69lQUGFJkqIYBnz+IuGmC+qvSGMOaCo0upchIpJKsaqPrafgkWUhQkioMzRXLZj47UYEoe6NqBNjpGtynCVqA6FkKFi5agrq6Zv49zReTaFqywuKkZARWDqJiZmc+kqG5hoDtJAqGCY4R519XVAw5FIViG+xMqrLFjoBhAoGEjGhbFwxZR8nUBsAniptBc1Mm9rGL0LKbfUZg4q27ZL7ud04zZgQmPvfjr+GBlx5DUFMwtSiEJkVHqSKjUJURkNPQJBuqTAXmNhKGiRHdRq+l4kjSwtGkiaStoUYqxsb7HkWRTcCdnq+INGcg+6RwnEOAcSaBKJ4UfHevLoggPGQj1E6vZFa5Ig453R81mctqi4h568hVZdp/vX6GdigYVPTpFOeTTUSzM7f52GgBQ6/orLg/l8YxXuFrjlQZJ9jBWkJOzQD5WZauw0ikEBuMIFxdiYhh4bXDx1BUUoimxiqmLGq6gR1rN2LdU8/jur++G+t27UDRoQ5og724+KarULP0AliBEGSNRX3P22e0+guJT5G0QQKW3Ytd+36H/cd/DUPphWSrCNq1sFMBqChGqGgGli+5DSUFMyHLQUeEwZvh8A7xHByh83anZ79QnuN+dhuNd0Se456D3fLAfXLA3Y0uEEAW0mfuIp7tnGrQBkVLEQF/i6gYKa6oZ0+AeJN0HqNRSzQo4pA+FZZRwZij7m7LUEi5ZRLPlBZNcYaCgVQSf1i/Fj3pKLSCQvT19SLo86FI9aGlqhYXzV+EQlKWsUjjnDqBkoSkaL5D2utpatYUHcYzG9bB9CmIppI8toayCqiJNBZPnYGpdfWQbYvlGEdtVVy35rb1sSDxuEwRHWTOuMHfRUCV9yreFQmgkkkcJ4n3Q3dTpN3LoS55iuKE4o8lrkXFUY7XIEAEV8QKO7OtNY7EZzQx+DkIHXhxvInf//5R8h9QWlrC2hj0bEiS0kgnUVZUiK4TJ1BWXgnVH0BHVxfq6urQcfwYK9sEi0rZ6eg6eRIlJUUM1IuKCjEyPMR8/VAggP6BPkQiEZZnLCsrw9DQMDTVxzSf8ooKHD/RjssuuxxV1dXsnPDtkBNDbAiPTjabyJXPJ6Au0/MTT4DmHNlQzCmF9fvpXzTyjdicBgMUUhvyQYOSdEAcRfFkC5ImsxoQfS9nU7hA1jMLJzMhJzF384dmLUBOWhQm/uFHX8bDrzyOcp+G+aUFmKom0VgQQnnIh2BAhqSGES6sgp5MIhrtw1B0GEfjabwWt7E3YqArIaE6UIkN9zyMYqc7M3d2cOZPRrFvgsYXII1qLsSUINUpnqO2LZRPuFCdMkmiIF3MXaFxRS+3u17S1KQeDOSEm06hOM1NclJJhUo4o9lsgOususMkR5++J/OZ5JxkPjY7wRKGonF09vajubmBueTxlIGCkB+9nb3s/JaVFKOoIIDDx7oQDPhRXVmGgCK6LmfzjO5YJjkQj915vaRAB4VPbIkEgxGPJlER9kFOxND24jr0dfZj/rvehef3HUBDZRlmN1fCJw1AlQYBMwY7ZWNkQEagdiZ2Hu/Dwee3Q9+9D/5YN275/N8iMKWBi+rPJ1nmVOBuwbDSUGUD6fRhHD/2EDrbX0Cy/xj8aR/MZAFqp1yCKYvuQDA4FbZSAkkNiJAXqyLRGjY2E5QH7hN8RV/3w/JUmdfdxBP7gjxwnyxwzwJ1BoUMOoW0I//kgD2CPNw9kDYh0lN3gKjOspIEyp3vZeAl0JWIUtPfiXjDegsTe4hO/IcAFymQEKsnCRsv7d2JF7dvhhIOY+q0Vuzbtw+l4TDmtE6HHYnh6uUroZASQFpE3GmvJICYskz0RaN4/PlnUN5Qh8Pt7YiQWkpLE0KSipGOLtx65dWoKy2lOk+xCTsj5RE7wJ3QJbNDOeoswCTp1tPHEm1+GLgT8OaImydKx6b1HC/Ad9YctOm7kXgCBxRZp3/nCDwbWygguxsLcSgZ3FLBMQFdsUVypMd1WvoHBpBKpqAQJ1SmqLSOYNCHZDwBjQtbITICNlgtprC4mPXiqRA4HAhzJ/hELMp8dqIVUUaAAbQlsgNx4vb7NN6YA/4AkgnSp5c5M0D3SlmIsvJyhEJBcR8Mfsi5cGQ3HbeMlUH4VsgBdOZdxjakwe/oeJs074SGNx9GNqWGU6SNz4YXOv7cGJWcA75BV2mHXRcHuHum4cSn5ITnbv7A0RYQEfcUvnjfN/DQS7/DrKoSTFMNzC2yMau8CBWFJVAKylA9dTGChfUIWDoO7noBQ4OHcDQSx+aeKHbFJBwYNlGsljPHnSPu7PyRLKAHuk3ieXJWh95kShHJojBazEJANgRop0/SSMOv+WEZBhSN+NWUCbQZpBPAJ6ld7qKsSdCdKLNoFWBDIYqP67A62SUXuPM7QWN3gZ3DqxaL68Q/7AhzZtFA27EuFFdU4ciRDtS1VOPw8W7MnN6I1/a0obW1CSMDQ6iqqMCBw8cwpakepUV+FPlVKIQwia7kjsUJyIxV1pnoqOj1NR0ByDRk9MbTOLLvCC6ZMwXK9i34wee/gIvecRcKr70B2wc6cN1FU1AgdUDS9yOVOAjdHAZkKn5vhhSYiSSmYvWLJ1DQGUN863q87SPvh7+5GopGOq6Ts9dE78E9zrTSsM04VG0A6c7VOLrptxg+thP2cBrJqIa0UouWxbdi2uV3AOFqGEoAqi/gqKJRNjEP3Cdr8zfq+Dxwf6MsfZbvyQP3rIEmQpVxiy45Quxwu1k0MoNcKXZLbHEBeqiJDvGaTWLXiCCzEw0VkVLWQudzneiwU6FPvyEAP9GPWPhF0yWKuCYloO1kO/acOAw74MP23buwaPEFPM62PfuwaukylKsB1FdVw0+gXRGR/rieQvfwII50ncSBw4fQ1deHuQsWcGOkPTt3oDgQxNUrL8P0unqEZQH8mMM9FrhTpI27pJIEmYjkO01dOfpG4JWT7G7UznFayPEQ1hCkIzc6RrZih8BJ9dNhpm1CYSUCyhKIDAid78ZnWKKMgDoX0TpNaPgyArTTT4ZOANsHkxRaCI/Q2Oh7CdwTLYdIKhyB1mAyPYUArQC1pmWJiCHRYohhIskwiQoj01kWZI1AEqEEJrqwDSmqZ1vOWOj5O42gTMPkAlzhjLhRdKIFuU6ROMcbfcxmfxw2rpO9oe9gB8UB9+y8cMGGM8dI4J/GSh4eAQ/CIHwC0QXoudlQJUd3ZCyx+PXd8yc63f+sj6OZGYOOL/7wa3hq4xOYUaZifjEwvzKI6cVBlBbVwN94KbSyeYBSgKA+hHj7Ogx3bsSx4SFsH0xh45CBrT1phOQqbLzv9yii4j8OLGhsu8k+Rn4PRRJL0FyI8sJgXKge+SQq5gHSlGHUNJ57iuXEpC2bs4cphQ41EYDQFmfBFotAvKBksVPPy4LlZMKcJm/UetgB826Gjf5k+qJ7ziRmBDvCVEeQMHC4vRPFVWU4emwQtFr19PfigvnTkY6b6O3pRHFBAZqb6nC8vQeJWARzpjejotAvaGQcPHAXJaeBnncdGdZ+pwAAIABJREFUnMSY6FChvkVBFwn7h+Joe2UHbptSiRfv/iCivX2Y/bcfR3vrFCy+aRGK9ZeRjj8OW98O2AkoMql3WUjTniHPQCB4DZLS1XjqoW24oLEJjTOnIFxVBmUSe8okh8+Hc9bAigN6B5JHnkXXll9DGuqiFBKQCiMV0TEykkBHwoTcOB+r/uLTKJm+BFCpZ4noEEABFhe8n9LoNZdBvUHn5KkyuRk6T5XJwW554D5Z4O6qaVBnQwKJQutdyEaKHZEWL9ZM5tSvRoEZQUNhiUkRbXIBmkuG4aC7w+cmwCgC9BMH7i7Y5TFQQROAOCxs3LUD7X3dkAN+RFNxjvyGND9U04ZqWpjS2MSR4FgijsHoCJIWcWXT6B0ZYuBZUlzKhaLRwUHUl1UgrPqwaMZsTG9sYsUAH4FNT9LYjbg7+YNM9N2lrPDGSwCRQTIjUf6Bt1JnlXadIxFRFul2t0g4y3c/VdXEdQxcPQsBVhmueFurOMCFALoAtOL6WfvT0zSZE2xBYlqPKOcTFQBugxmi/cicoaA5oDiOQ+YZOqpEHI10lYmIRsCZBJoXBOBdKg9NFydLwDz1sbBK2GEUUOfjsnPXmXpi82SA5oZV3fbzdJ/CHsxxdqKVQu3OqdBgUznUI4vu1pmd7u45WbSXw3qUP0XknaIw8E//+XU8t/kpzK6wsbBcxbzqMkwpKoKmVaBw1s2IWlWwqeAw1QmrbyuU+EF0RXrwav8QXu6JYVOfDp9Sgw33PIpCm3MrQuXIcbPH9lM9k+05Ys6ZNAkyFWAoElJ2GmkjheHeflQXFCMQCrMzaFB3ZXaoRa8C2SQqjQWdFG0oqm4pLOhE6xzpd4mMjxibkD4kWqEtslEE+smZZjDH8D5T38HT36HnTGbeWORckONvSujqH0bfcJTlZClLVlBSADNloberG4GAyhS3kuIiHG3vRMDvR2NNGfyqCpXfXyoadTvNCgpkjux2Hr5liicTgYwNJ6I4+swaLG5vQ9/37oFaEETp+29F019ch6IZMUhDDwDWy1DkdtGB2yH8WbIJA+VIWvMhBd6J147UIBiegalNU6FItF5Tx47X50Xmtc9Owda7ETn8CCIHfg95sB+QGlHYuBJSqAyRE0fRsWUdejraMIQA5CkX4tqPfAmFddS/g9Y54aSJnyfzVP/nj80D99yeQR6452C3PHCfHHDPHi1gnwvcvSBKICr3f7EpCQB6+pXIu0h5m1dP5pEy9cPZOQho6kR7MU3sO3oQ7b09GE5EkUyn0FhTh8RIFDXlFTBSaW5clEilsGX3q9i8dxekUBClNVUoKS9D2/7XEPQFMLelFfrAIC5dtgJ1ZVXcHogyCbxxegafBZAiByCApEvW4HZWzvbmAGon2pbtwuJewbsFesO+LhAXi/so/kxmQxrveC9P0i2Ccq3rHi+i8GIDJuBBT9f9Hf1dZhqSSzsRsXtxhEjvu2e7xbReYJ21DLspFP3OZBDo31xOu2uv0U9+wnuYZ+qR9B+x9Plcrkokx0GAC9cCVGJNYMhrdfe7Rs1px9xeB2EyczN/7MQtQG9NDDY+/5//jLVbn8GscgvzKwqxpGU2LpgyE5Jain39YXT2GCgrLELXsVcxs15DTUEKnSRR2nkM24diWNcZharWYMOPHkeBpQnA5jRLo+cuJCEn9mHgzuCZskQWYkhi59H9eOKRh1EfKMBVi1Zg1uy57DASDc4kylUgANsX5uMVMw0kU5B8Pp6RkqZAMkwoKV1w20MhGKAibJK5pPeMrCAhmUyyMxkKhUUGyeHKuwXaExu99yixLpm6UFYix8Ki94IFAyRB1+Gor8nSsTztqeaHnF2qWXKCDSIzKJzc0wtYTm50tmFw1jSpqHjuUBSbvv9jTH/lJTTs3oOU30Ll+6/B0n+8EQn1RWj64/Ap7ZQjBYeQTGcUisXSoLpchVhqOeLqTWjrnYULpi/jHgCaLIpTT212NLmxjne0AO4jSA1vR2TH9yD3b0M02YRwy50Iz7gBSkkRtGQvdj7yMxx67kEEwgXYOxLE3Bvuxtvu/EuonFlRMvU9bmuScx/ZG3OFPHDPzc554J6D3fLAPXfg7uR1vehM/JxBWW6JptAkcNigoxPVLtB2ssTe2PCEwZozAsHZdrGsiAQRSYM4692D/ejs70WoIIzo4DCKQ8TJttHS3Ay/6oNOKi+KjO7IANZsfAVHO07w7+bMmYOhvkHIqRRuedvVqCou5TI37qrOKG60MHAW2IkG6a5BBFzP8q09JvKoSUz2jicz4T1dXsbi/VHPzCMqzXBWOB9OG5ks3Yd/J7IExJnlCLr7OyeKmBmdB9B7efqnC3x53Q73GpOyjHMLLFPPfHiKYIoW5Bxp9GgVuU7HKBO4XzpO+DAP3Ccz53I7lp4PyUF+4d6v4NnNT2JBTRGmh8rw0bs+gwJ/MQaG4hhJy6iubRHF3LKJjev+iCm1YaTix7B221rsHu7Dxr4oNK0WL//wMRTYRO9wgOckh+Vmesj3o14Esmxi05G9+Mq934IyMIwPv+0GzC+px5YnnsIdn/0sejq6cPTALqy45UbIwWLh3qZSsPpHsGH181j5jpsAzQc7kcDB117DcCqG1guXwgyEGAhT3Y0KBSk9jQfufwDXvP1qLgQXalM2gqRR7/CgM+pKk7inTNk8pRA41Ul0P3CtCsVWKMJP2TAet1P4To6CUL0SEX8RbxDA3qtEI4aRYzElrcGSjRFJwbbBKO7/X1/Dgi2bMO/kSUhSEpU3zMO8r16GqPIMAuHtUCWSm5VhqhRxp2WU03k8Nt3yA6hHn/52HI/fierATDSVVkAOa5wNPv/AnaiGtMJ3IXL8ISTb7ocV68Gh+AoUTr8NxY3LUFFahiB0HN38Il7+zQ9RVFKMWVfeDrVyGqqaZ8LvD0BVyLEQNv5T++SBe25PLA/cc7BbHrhnjTYRjnv2aDcSO8bozD1wFh3nDxGXdQAggyEmUGQB/nnT2HPBqYuXhSKIbugwaWNyiskoUm6l0lBVH3PCTZ341RROkpGyLaRsA71Dg+gfGmSOdWN9A0KqxrJjPpI4NIWSjFNZOopnmsV69JMXFmahYRaYZrMSwql5HRfr8dDw6d6XUV6F1/kYm2T2XtTNwAiuPR/pQbnixzEKLeN9v8cEAmCcIUtzuvE7pwmA7nKIneiqOyxn6G534FEOhfe6mTmc/eXr+JRyWMH+/E4REXcLn7v3K/jDpicwvTiEC6qn4ON3fw5WXMGJE12YMWsedAKeqgw9nUIqNYLhwRPo692PJ156DO1WAjt6hlCo1WL9j55EISkIOQ6mKBSZuN2oroKcPoqGp2BiWI/is9/+J+w4uAdXNM/AP958F1J7D2LrU8/iqjvuRCyhozcRhVzgw8ylK9A/OAIpmkTHS+sxHBnC/MsvxXA8hng0htq6GsQrCvHorq0IVVchNhJDSbgQx9vbcf11N+DokcOoqa3Fgb37UFNWiabqekxrmSaK6Tl4MLl7YVjtcurotpzCVgLqXLROtTkuLYf44A6Dj+g1XG8yypkV75T7lmZNOo7He1ZzU20J/W8iLvmwOxLHz79yH8rXbsCytt2oSA7AbFZxwTeWo3DxCZih1yCrlJchapErBSuDWUZcp0PhlSKMRC/H9v2XoaX5bZg6dTps1q49F+Durut0Q9m9jsdOHajtI4gc/ClSx55AMm5gff9yFLRejfqmeagrr0cJUTb7juLIrrVondWKqL8YxSUNiEctVJbXeoRCXebkJCbqWW38+h6QB+652TcP3HOwWx64nytwH4sICdCOWWw4wutqsDkAdsyGcz4imZlrjBkSpWBtKox0amhJApLrwngjcrjMRNugDUsVKia0SVPxpUa68yzv5nCj3TSrV5nidKoOXvHjsWBw7A1PBljnMM9PBSpZnWlxuVNpA2MdDOGGeI/zOh7iuY7u/DjOpuO9z1P+2f1H75+uQzOJDcyLG5yfvVOSfsXZElfD2rXnacZ2PuZmLo/srXqOiLhb+Oy9X8WjG55AcziIOiWAZbOWotRXjpPH+rDiostQUlHJ3STSiQhGIgM4eHwftuxai0E5in6fic6YgVK5Eut/9AQKbZUVoJgoJeSKJmReb11F0jYRkw385A+/wC8f/RUKVT/uWnwpPnHD7Tj82BPwyRqOtR1GfVMr/JXl2LhhHW79u09g38ubEAyXY2DTy2iZ1opuy4aeiqNq9mx0796NgfpK/HTry7j2tluwdt2LuOqKq/Dt//wePvihD+HYwcO44cab8L3vfgeLZszHu66/BdVF5Vz/Q3WxXHI7SVWZCd34G34Q1UQR6jaRlnw4lkjjJ//1NPrWbMKFrzyL+SOdSMn9KLrOhyX/ezbs0mNAaBC2moRtOP1DqAcI03yobiAEmBXYv6MGew8ux5W3fQJFVXXcN+PcPrQKirVTODEik0c9O6ifiWQeQKTtp0ifeB4jcQm/2d2A6nnXo2XKPDRWTkF1WTEkOYLu/gN4cvWTsJUwbr3+nTBGJDTXTQOoURjRoYTmgCOPLEY8sRl7bnd3LmfngXtu1ssD9xzslgfu5wLcs+eOjrGcJrI6WRw3yec5Fq9laDOkSEgKKoLbAo0495YFgzGoKC09NZbsRmUcTjpLqZM2vVP17/DLhR77aQY6FoyPhwDHnjs2WOU951x+HjVEF7SPHVAWlJ/qV7i0J4+8oqP/LljpohhP7GhOkfJpNpvxgbDXkWC3yjPiSWYjvKDc+bJT6DGu4zWe/cf8Lg/cJ/kinuPhxHMeQRqf+/G/cAOmcp+CWtkHs2cE0d4ofHIQ9bVNqKishqqpGOzrxYnO4zA1A8GKAKxiP7rsFAYTQH2oDi/94HesKkMR9wy9y2ngddpX1wktC3wvGn8lJRvbju/FR77x91ygOq+sCZ94x3uxuKIee377MGZdfhnWPPgwtBETl126EnsP7sL8d92KHc89j+aly7Hh3vtw00c+jPXbtqFl+SJUNjbilft/i8GqcrQFJCy95GI8/fSTuOHqa/Glf/kaPvCBD6Dj2HFMmdaKn/7kv3HlRavwV3fchUI1AIKJRKdhnv6bHdFNcD5w0Sw1TyPJXRP4+fMHsObpLViy6QVM27MWLWYfUr4hVF4ZxoJ/WABUnYAd6mUVM5LDNXWDbQKjFBgox8mXRvDkJhmz3/8tzJ63CqUl5ZColfek7DX27XeBu7smCf1+yhRYSGKwcz0CkT8i2f4iInELv95eAq1mBWbMXIoZjdNQXRVAJHUUv376h9jzWhua61bgrls+gJBdjPKSevjVMPe2cBvtnTLYsfvDBG37RhyWB+65WTkP3HOwWx64nwNwF5IcvLaI2KtbeClE2YWklVgl3e6rp0J9sRJl2Rkul8H5zSQWWS9OdlmWPELqfURFY1SYRtl15kOK9oliWXZVXdz7IIk3R1+emyY5izOPNMvxZLUUR2s5c1+ehdVlfY+6v8yBHl32DN4Vo+YExSiaiFcdOasZky1MFWdkHsYpP48GvqNT2qcmuN0hZmqM+XQXuI9RfWHNdBq3MkoNhhWExukBSaMUd+nek7DOqMc81uE5nXMz3vvuAC0aLRUBensBiDJaDwOXG4KJi4h7yLpv7nZ9yj6ZR/E5rLKTO4WAewIpfPpHX8WDm56FZKdR6/PDH0kiHUsipAXgl1TmkgcCQaR1HYHCILTCAJSiABJ+BR3JJFKmhiatCut/9BBH3BUny0e9Jsabm95RupF2mhmGoSOlp7Dn2Gv4/i/vQdvJQ2goLseqmUvxvne9D2osiX3Prsbyq9+OviNHsXPtdlx25eV47vGHEC4IwAyGsPz6a/DiL36Jmsoq+Gqq0bB8MQKhIF78/ZMYKShA0ZyZ0IIaDu3bj1nTp+OZF1/AoiWLEBsZwZZtW3HXu+/C7s2v4soLL0VjbT1AzeO4YMPmYtY/9Q8X/9Kq5zQgiho6Xm6P4oe/3ozyY8dQv/l5LDy+AzWJfkihQQSW+TDjziaEZ8pQ/Wle1G1Thh4D4u0WXn2mA8cOWbj4ox9HdOl70FwzE+VaQLTznsSekhVZ8NrYpYmK/U00fzNhWWn0dr6CdN/zsAb2IFxUjucP2jg2XIiamjlobWxBfb2E9dt/jd2dr6C9O4L5U67HpYuuw5SaOehqH8ScmQu5CRdJ44q+H6JoPzMOR0Z4cvfwxsyOPHDPzc554J6D3fLAPWu0SXPcPVrkopTJENKQVAjoAfWURqRINTcc4q/jVjfOh35HOgyiuMg0FVAvIUqbkj56RnrktCBt/Ic+XmAi87vMl3vpO171l1FbeAZWThizuWop4wzNXfJp7+CtwBMdFhA2G7H2lolOpKgzh+l/5lPOBqAzYx3D5R8v4n6mSNHY73FH5Wyw3m0yYyOP7fhwz2YsnANhPa/L4tYReL/ujHv4hB/4ebf8W/qCtJYkkMDf3/MNPLDpOeiSjgIZqCQZQsuAnU7Bz0otQjKWOi4zDc6vQtdU9KYNDBvEIAmiUS3BK/f9FoWk487AnToCj+9UukZ3m5ZRBJh+jsViePrZP+Llna+gJ9KFUk3FynlLcMmSy1A+dSqOdbQjPTiI4pISBMNFkOMW4qkYCoIa/LaCnqEICqorkUwMIxgIIBlLoqy2BgYMvLZ3Nwpr6pGQJFSUFCExEuEGT1o4hFQ6JX4O+LnhWV1lNSrDJfBR3wVePYQCzJ9iIePYCc67By/HQiM/jSRO6gH8vz/uxR/WH8S0oT5csOMFTDu0BbVGL1JyDFrYQEmDD8GWMKyAjHTCROJkFN19SWj15Vjw/ovhW3krdidmY9HMFSiWRMZ0ch8RkhpNJcwW37rKL6yrDwN6uhOvbvsd5FQv5i9ZiI2H2hCzStDdCxQFSlDXEMeLm+5DZ7IXkagfqxa+CzOqF2OwK4UL5l+EirJaKCSDzPK6sqeDbjbkIcb/5nPW8sB9cjMrs81t2bLldFtgbld8C5yVB+7Zhzxp4O4WG/JG6MY4ac0hJnQ2Gp/VCRebTFbt1xVHFIsjcc+FZJ8QGRTKCQ70Gm9mny4Se7a1eRSIHA3jvFht7M9j8OFp345xo7TOye42kAGVpwPuDv96FJh3vpGVDd8ozuNpwHvGNmcC5BkkNMZUE4mgZyLhrm8jvsg9dVSMngcjYuaZ33se3njTQVztDH0eJ3Jfb4H18X/iFsmtjyONz9z7Ddy//mnYAVJaMRCwDFQGfQhJNjSqTWHWggSDHH6/gmFLx5BuIqIDFnWjtFU0yIXY+GOKuIu2YaSvPh4U895ntlOpwcWa1Pn00OGDiKVikFQLheEAykIlKAmXwVYD2HNgP/wBlTXY02kdtWXVsGydI7BBXwiDgxEofj9GIv2g/SYSiaOKClFjI9zUSCfpWgAlBWHAIM6+AdunYmhwEMGAH0XFJejs7ETrlKko8ge5kZnNQQ2KuDtdk/8nHtR5/k5uiMbNoUT345Sk4cBgGl/+5Uvo6xzBMsXE7doQen73X5A7jqLMTkOzkkgpcST8QFzjflyYckkJpt/0Ntjzb8DmrgJU1C1Ha30DqGeqnO3OMMHRnzpbOOc5Zl0Ua4wJ24rhZM8+vLLxMSy9eDpe2PYsBkYimDP3YnR32CgqHcTO/b9G1CBg3oDLl7wPfUdSWDL/Mkxpng1FDnCUXSZbsAqS6IgtUtjuona2DW6Ct3aeD8sD99wMmo+452C3PHA/F+A+1ut34RAzTXitYXVdbjbiCgo6a5CzFrnLIteL2SZMWXT15Pg8N6PIfscpy9VpQKV3Gpw1aDoZVzcTDveiuvG/wYWZmVO8gxoHuGY6qI72I0aRXhyTnTXNn8NrMM4p4yFX93feez7zJnI6+4+5zbMM2Z0l3hyEV9FCzBnxXVSYNmZMHidAgH/3eu6fZy9Ym9x4z88TeKtehYD7MJL4wr3/it9seB4pRug6VBgIWjoD94JgAH5Z5c7B1HGzPxHFCAykJD8s2ceNbGTdQIu/BC/96EGEbWq8o3nayY9VfBpt7QxvmQomueux0wkaNnRqEGcTx1wVQQqSJJR12LR2UcMk1iE1QdWjTNdyuqpapgHVr8Ek+UXyvrmjsMUSk/5AELqZdtSqZJawJVlG1lTn5glO12JaR7nQXtD36Jg3J4yb/Oy1LJ3FAmjDMEyJCzR1WcbuuIwv3/dHdPeO4EvXXoKbawPoe/pB7P7Dw4h37EdxYQLhagWNSxpRtbgJemstRkqn4MDIXOzak8Y7r78FAcWAbKXhk0NjiXkTXHtG1/94gwgM2J3mgVRcq5txnOh+Fas3/AaLVzbi+TW/h21rWLLsJux/7SUMR3djcMjC5Re/D0f3pHHZ8pswY8pCyAixGg7L51u60NG36fmK7Ip40G/ep50H7pOf8/xE8xH3yRsuD9zPAbgzmslG1t0rmax1TPRLwSU1qbOdRG3kCVTJkC3RQZMnLYF7Xpcs3ut0ldpeS1BNCbJy5kVq/MBtNkIiYjdE0CE6jrfxUXYBPLdl0CVxjIf+x1HXcQx0Glwp/pUulc3EZgR6zm2ck30vvBr0TH7KciwzoNd99gJQnO4zGb/IvUbmat6TMx6A0wHKQ8USyux0gBirq1PtGjSb4RnjaI66xhjgdgaTvbHPYrLP7k//eHqaI1YC/3b/fXhy28vQSdpaogycCZUUnhzZQKInUNMa0zAgySpsVUWamh+R2grVspgmqtUQfvN/70FYClLLNKfqgb6BmgeJpmKn/3gLpEXLJjHLSGJUzH9eAUjYJfNeuO+DWBuYty2EG0UnYmamO1ydsTjMM7FE+6VxRue8E5n1800N5SYzF+nGSFVGgFWx5JDNbUQtCbv6U/jF6h1oP9KBO1ctxlUzi1Ch9kFO7oea3AtL6geJ0etqFQbkqdjVGcThYxHcevUtKPf7hRToeazjFY4dSWiS/r3uNM1yRA5sA7aURtfQIew7uhqdPXtwsusI6lqmorv3OCwjjrrquagsWoAZLatQV94CxQ5Agp8dNEG/ER2rGbSPqSV7s8L3PHCfzHzPHpsH7jnYLQ/czwG4c0idFlxPxJJrLi3odho6Lbu0+9gmfLYBDXFIli4WIlZjcUOhaXEdOQRT0mBKQahWYFTR1XgA8FTg7t1oJzIZJhKtGi/y7L32GaDpOJ1ix2seO+o+nMux++H5B/pxdHfaidxfrse43oO7Rbjg5gwR99OE1kdbZyJP0VuoPHb8BNq9ZceugZzn7mxwAtSI73Kj61lTOvcy1rhjvupMDkceuOc6ryZ2HoHWYaTw9Xu+jWPRXhhBGce72rmPQnVxKUoKi9Az0IfBdIJpdSWGgqb6JgzGE+ga6OdofFVJCWSqrYmk8NUP/QNqS+tg2So06sNAv6d5RJHwMwJ373x3HEM3LuAIZ3nJVqOKuZ1mvW4pOcN15x3hPzzXETg+W6ztDTGczq0426o0MUu/2Y7KUlCogFjYyIJhGoioPhyP6dja1okdu3YhrFpobSzBlPoAagp12NYIIrEEOk7GkUgXorS0BYtnzUSh34eAbEGizAhdM+eX91SLk/KLcM0osyKcMlNPIh0d5oJmS04jjgFEYp2IRvt5rprQEQoGURSqR0VRKzSpFBo1XbI0qFqIao2dejCde4zkgfuba452dHQgkUic10HlgXsO5swD99yBu+C1W1yMSpF0TinLxAtN4ETHfhw4uAcjkSGk02mUFxdjQb0fPr2b+euiAZPE6WVuXWFTkVkh5IJG1DQsAaRygKkyno9HiMX9bUZjxZFnFoEvZ5Edb5UetXBPZBV3nQGKhGSPn8gG4GJZMZpTF34PvvQo82R1DNzz6DguQsuA+nNpIDKBl4S/x7XhWR6A+8+nMWVWnYMe9/jA3asvM+bbxhTvGo76i7CIC7poPgl6jBPJ5B9Fyj0jTenOj7G37x3S6e5h9BScgAHzh5yLBQgKDSGJf/7O15HWLMQ0E2s3rseU+ibMnjoN2zdtwbvueg/++9EHMRAdxj/+zcfw4C8fxLR587B24wbUVJbiokWL0dvbCSVu4pPv/ADmtMwj4juDIep8SqCLClvPXuTnImzHiWWvkKRPMlPLebspm5h9begwEYl3HFFPhfWoGhWK3HJ9hijQFwX8Aq47M3rcfNZp/ORzMfub41yn3wcV37rBCsNMQqcGWLIfMRtIpFM4NpRG29FenOw4juHOTsiKjdbWViycPw+VhTLKA34EIMNP4v1URWCTw0a0plxv05MGdZ64bRswkebnJ+RmVZhWCooZh0z3ocgs22lKRImiSgb6mEwb1aQiSLYfuq5DU2UusJZkospQ7QKtZ5R9sLg3AHd9dibEm9lhy0fcc5tbeeCeg93ywD1rtMkWpxL3koqIaMGidco0EkgnurB/+x+hpA6hpdxGIhZHXC7FyZiE0vRhVEknoSg6R88onkDayIZagLhVAF2ugK9gBqYvfxdsqxaSQqnD8VGTSFU6UdUMihZVm3QK8V69CgIc0CeuPZPvqabLhqpSPHZ0lJ5LZ53Ogi4FRFyP6D8qyz+SZjB9xkpBugoDnIhwiiW52Mrhp1LkSKWI3zgf1ph2cKd3RLzx04W5m6EEKuCi6xH/cSJux0ReCVdFwz2W758VOAhOUNqX9Q0cTq3opmiaAN0KHSEcsex9uQ6J+4yIA5xxpjJGEjZVNGFT0ZVxNLp274/rtHgXJ8AlKA4M9nmMZBvBOWbqA9mRsjqk2e9QIdjhGsM7yNjOdYYsi2U/RSG1+Nc/B7WOiTz/N9sxArjH8M0ffBtT5kzDa8cP4w/P/hGXrFqFkWQcW7dswY2rrkLHYB8Kq8tRVVyK3z70MPzFhYil4rDSaaxathyxWBwHtu3Coz/4JVorWqBJquP8khwNAXeXBkYWmCCiG4uYPVF0F7d7rzTKOfdgP9MF9aMa0zGBh+e2e42x7/ibGbid8zyiV9nrezsAGUiDILIJjfcal2fJEWxJwh+eXoNgKISF82aiorSjavrNAAAgAElEQVSYG23R6qhJBlgbntYvyQfbtCFNUjoza28qnHVdKVqOLaSNBBL6CB5/6nEMDg8jZVgwTQM1VeW4ZOUKbH/1VRzv6kE0EUdxUQg3X/d27Nm9A8ePdyKZkJFOWexw3HbzNUgmE1i/YSeGRmJIxJNYvnQJrrz0CvgVqs2gtVVw3M9QTn/O5j/XC+SBe24WzAP3HOyWB+65A3cXmFGw3TSj6O/aj96Dq1FsHYU/cQiySZJdpYiiGIavGP7YURQYJ6DJKVhpA4rqQ1LSMKiW48Udx6AF63DhomvQuuI9sKUWgID7OBxOKgATwErwSQTgcxRpnCIhSosy/uT/BRgjgEjgjME9bRDO77PK6GKbFPq5znUd8zCIEzViowCmUMnJgngCie4xmWAu40s+MWtsV/ve+ZNwJv1PdW3uUdwvygHs3J2PJNNYcUfok08Qakz4rfACeOIPs/PBOu3Z7YtTzvQf1zCYsEWPcSicHXEALxtRfG3GueHqZGEDvgMHkRjsEGWfiddTy4IW4aS5BWCCSZplrotIvpNmZxs7Bc4c2lS5rTtPES58dgdHPznxUMfGfH2WLXX7EHhg0wQi8xM2dP7AM1qA7B+x4vjM//kChswErr3pevzbd/4dsxfMRW1DPTa8/BKuvfxKvPjKBmglBbj+8ivx3HPPYvmlF+P+Bx/gaOdlF12CaDyJ3ZtexYP//l+YUdUClTKD/EhNWLLJ7Yuy822Cb5Pj07qlrd4kkiszSQuFy4bPOJc8p7KUM47IO50DMtdwptuZwPmfO3AXAQ/hughzWLBJoYeBqyooL7yW0jttcafrR556HOFgGBfMX4iS0kI+T5NVzvBRVFzEYagweeIdc90JmrW36+G7ewTRY1LoH+nG+s0bUFJeiqQhPLOGulr0DhxDdXUFqqpbuOD08NGDePml5zB7eiv8gTB0Q4NpKdjTtgcrLpiJowdfwzXX3AHVV8AFz4898iguXb4SrY1TeZ7ytzJN8HQu3f/8opIH7rk9gzxwz8FueeCeO3B3zzQtHV0nd2Cw/UUURLeiKHEQAWsIphaC7i9G3PRBtWiT1CHZEQTtKGzJh7Qlw1CD6A014/mte1ESLsLK+VdhxvJ3wUILbJkKyk5NGZO2sfsRUTMB1SgarSgCeBFQzhYQif7RAvhRiRj96QYxRJRVSE+6KJ0Ap+sZCOoNA1VDdOhzWxERuKcIC/0ucw0naCyCx04UmfZsiiqP+Q4et6fJLBfqOps3+yG8V4iBktQcEUWI/kH3oVHU/bzF3MV9u8CdaASw0oISoAh7udEmdiYc2TbCPRxxpw2VCqs8KX4XuPOzICeIe1q5wNjD32dAzl/jOEzjAShS6xARUpE5kZ0MiNsXXGQ4RH8AkbamPBD3lSRHylE04h7xbrty5xhRNOiAeRswDAOqpjklhZ6y2zxwz2F1ze0UeoYJK4Gvfu9b6IgOcrfLEx0n4A9oKCstgcLZOnDEPWHqmNfQCj2VAHwSDrcfZ6WVqpJKpE0b0f4YfvClb2JqVaNoVqRS1ooUX0gD3fsGTQS4u26f28pLELYySbvMuyzi5qLCwllonJ9d+sfYyLLrIo7NBI2yoNub7lRUmZuh32xnscnEO2pzIbGIvLjN0Wj9EL+iTrYi+k3/9uSzj6EoEMbC+YtQUBLmNVJTSFbR2RmcLF0uGbTRwN0F77RnGDCpjstOor2nHQk9xfPNMC0cOdwGUxqGrFqIDZtI6YBuGOgf6MKll1yI0rISSAgiaprYuWcPFsxowu7Nm1Ba2oRoXAclCXo7+3HztTdi4ewFojsubyhuyobuayLz9Y19wHngnpu988A9B7vlgXvuwJ0WUMMyuap+39aHEUxuQlF8KwqtAQRUiWXT0pYOWfbDssuwKx5CW28vlreWY/ve45i3bCXaDh/GC3u6MJxM4rIls3Dp7MsxZ/GdMNEAKGGXopzlirprJyM4kkoDUgSoZVqsCXAbIkrNmJf4rApIhs3tfmoS1UVVYZsmVIkAmlgPOdKdiW4LmoSzT/Bm4UaOiYKj0OZvEZ/fhuqkXm26TwKWTKWhHZbAvKDmUFRINwUdxN24x6bAeSP3gHZmejiBa4PoMeyQECvEhJ+E7SaZ8p3Iq+FGtS09AdkcEioPMmlGCyALsjNF2Bkki/QDFVOZ8MHnqxARMSeU7tKYODlCtiS3zaEvEb2K7SdJSCUS2Lp5E1YsWYaCcAjqOBQg2q4MUiaiOCbJ7TF/nZp9OUDKafhl8+9NmEypoZidBslpvMN2p7E54J2i9oJ2LJjFTIViCpKCtEFzVuafT4lvCTyW/7yOFqC5FreTeHX3TlQ11iNl6ND1NOLxGEpLitB1sh0lRUVIGmn4/H4UhgrQ3dONtK2jrKwcRcFCnDhxArU19QjIflQUlsIva1CJL0xQz6Fkkcs2uUfpZHYy80YYwXuN0RFxoc5EMJ4gfhZqiUk0viCl+LfTjuu8zL/sfWTDImd7oGMJfGc7Ptd/d8fmFpGLoIy7rlC9VHd3Nz796b9HcXEJfD4VF628EM0Nzdizdy/27t2Nqa2t+Pj/+gRUVeX3mv7M9TP6eWbtZlomKGA1Eh/BC2vXYCgywtz7tGlAVm00N9Xj0pUrEdKK+Hkalo7v/ODbmL9wDgaHhxBNJJE2gM6TXXjPbbfj5OFjuPrq62FatGep2LR+M8rLyjF75myeOWJZ9UZ2cr2j1++8PHDPzbZ54J6D3fLAPXfgTt1NaVOKphJ47sl70VrZjZLEdhTrfay3DNI2lnSOOqVQhsePS2gbTOHGhY34zZMv4cb3vh8vr9+IuQsWY8umdZjRXINl0y/B3KXvhYVmSEowA9zddYsDXBZRNGQQT1Sn4h/aHiUn+sWRarHAMcedQC9FZizRGlxATpvT6T7+vSiaZE0A4sCbImJPUpQMpOlSJmDqFiIDEaRSSQSCPhQWFUL1kWwZqRVQxFi062bahtP1jkCrIUsYSMZwqLMdET3FHR5duMBbkwege/VS3KdiEUWGJJ9hQ7NshGwZU8trUFdewYV25/PjAndTj2Gwqw1FRYWwiBsKjSPakq1DspKAleKujiTBl9RtBMPlKCypE+lopzMh0/IdRX5+PjaQTKeRSCVhKTK27XwVFy1fgRdWr4FiWbj+6ms4eqmdAtxFvI2yKULRWIdtRpBO9EJGku0tWa7eP7sHkKUUPzQLBVDUUkAtgaSEYMvquCiLHEzBZLJhmRbSehoD/f1oamxiCJUpMHSe1yTR3vl8RG+Ra9mIpiLYtHUL2jva+V0jJQcCbbReU1YklUzyc+JMlqyitKwURcWFOHzoMAzdgN8XgKkbiAxHcMftd6C0uIxfNiEBKR7kmWRMJ2Lo0UkY79/cs93cHL2nWdguILsQqnV7DohM29gCyFMdg8yC6NzDOEdMYOhjxzqRdSRbpP9Ge67eWiZ69tFoFNu2beP39eDBg5g7dy43qKqvr+e/19TUYCWB5lDoFFvkGnV3CDKZuUM0Hd0UFB4C4uSepfQUB4WKigs4jxdQg6L7Ke1RtoFoYgQUXIin4lwjZNo2QsFClIQLoCdTCFBzLarfsSUYaeo2LsPn8zn1O5mvzu2RT2BWnOsheeCemwXzwD0Hu+WB+2mAO/EDKUBJlBOHOMA42Dlc/JaaTRgs+/j7p36Gtv3P4JZLm1GFAcjDXTDNOOvZMrxWivCHQ2n0636smlKCx1evxhW3vhsbtuzGyiUz8eorq9Fc14hFMy/D9CXEcW+FJAfcPTabJrRFtJsi5FSr397Xj4NdPTAUBZphQPMHUdfUjEQkgr6ebl7c6+sb4fep6DrZAVPXoRYUcKSuMhRAcUEBA++OoSiSaZ2rLpvqKkQqvmsA5QVFOHngIPo6uqFJfvg1H+KRCGKDQ2hsrsGCi5ZCKlS482E0kkBJyAcfOQg0RkhIK8DjL6/BD3/9MwyZKaRJRUcWRVX0obS/SnVPTuROtgSc4NgOReGpCYllcmOWkGGjNlCCr37yc5jX3AqfEzn0RoWyW7KQJ8tCiDNvt6IgVVCJbCuFwe42lFVUApIPUAIMkBKpGCKxQagSbTJ+BAKFAAJQ1JCT2hbt5Pl/bhwjIuUne3qx9qWX0HbwILp6uvHxv/sUHnzkIVyyciWOtB3CnTffipDPh4CiMgXIdWgEQM5qynOmmOaU3o3drz6FkiI/qxlRRIo1sm2SGk3DSo8gFo3DUCpR3XgBShrmw1YLYcPvacCTnfdEtzBsGx3dJ1FbXY9NmzYipGm4cNlyB7TTQETcVNQwjAd0zksoNIcV7M/xFBs6UQ8YCMlIppJQVYXfe0XWmMYmalaouRs16zHg1zTmtxFYV1QFVDtBWbiu7m4G+6FgOFO7krHYRPDqeOYd+6gzFI9xDnZfiFFcGE/fgQzv3aWJCArI2T9O1mts1fXZT8zxiPGdihwvNqnTvLU3lPnkWqUxmT337y6NjimNHvECkUE9X2pcjp4aR2pofSZ5UVKGEc6/wkVfFMwRqmjsnHE2kHZMotjQ3NR4jsoyce8pA0kBB1Fcz50AHAeT1v0/lU8euOf2pPLAPQe75YH7WOBuojJIYDYL3F1USeuPtzEISVZRtzuKOg8ZEdz/6P146vmHUVcZwpTmMlRXFKCq1Idyn4kAqUEcG8TxwSguaK3DC2v+iFtuvx2vvLoHc+dPw7a1z2JJy3TMm7EK05e/G5bdwMCd+hMKMCq+WbJE2Rcr6Eo2htMGXh3U8fM/Po+PXrcKUrgIj2/YiqqQhvnTp6AgFMJQLIH9O/Zh5YLpqC8vQZ8i49s/eRB/ddM1aCgLI2aaeGDDfvQMDsGKjuD911+BqopC3P+Lp7C4qhnhw0exuLURwbpyKIqG+NFuDB84jld37IL/ghlY8Dc3Y3fvMPZt34J3X3UpKotJh95kUNEXi+DeB36GvccOIe2XubjUUoFDI33o6u1BU3kV6kPFwkEi+S+bipYAWaM0bwq2TJFjQf3R0jpuXnUN3nXV7QhxV0XRBMQkOgs1nKHiVQLMMh1PuvkEZoQTQNkJShizCAvz0gU4yGxoXrAg6UgNHoekyeJ+YzEkDB1Dho32wSimNdejpigM2fSLaLfkY+eCouWswZ1OIBwI8rg3bd6Ch37/KG644QYsXbgIL768DlNnz8ILG17GQw//Fte87SqsWnERpjQ2ojAUQnEwzBF4QXOSIdHPspCBlCw/YJIj2Iujex5H04xFkH3VsI0RGGY/rGgXhvv6kY6lUVjagKKGhZDUSq6VoA6WLAcHHzsUCRjoGO5Dd1cHNm3ejBWXXIznXlqHJUtWYt+W7fjo+96LApVkTgXdifZgrmNgXrRorsUm5M2aPQohL5gpUvA6uTksTG/xUwQ4Y2JLJjLOz4EAGbG1mCYngBipi8iiKMWZ0yKzRsEFcpBZmo/bxwsHLBu1zoEnPF5gnV8k8cDcf3ax/Vhtd9cZdfJ+jk732bD6aOWrU6dGDvfxJzS/XMB9JsDOtncK2F2FKhYO8DjZY1XAzs0EAry77pMQQHBIToznZZ6n3P2UJ5+gOXInKF5UxOLBAJ3Vu0SRv0td4qysez1P/dG5jfn1PTsP3HOzbx6452C3PHA/PXBn+okjlcCBId5IxdbEvHCnglKyCFzKSEtAb7QfxzsOoav3BAYGezA43I3YcC/8RgxzZ9Whp2M3lHQ3Og+34c5bbsDx9qNIyRp279iHZTNnYNaMq9Gw5E7oSh0UOexIYbEOhNASoa6r3NyE+PU6TMWHZw6cwEsHT+KTN6zA1raTWNt2Eotn1SFsGQgFCvDK3nasmFOPxQ3lTMfY0DGIR9ZswDuWXQBTkbCrZwCHRgxMLQljbkMZdh08gZrmFnRuO4TKtn5cHlQxo6EE2pRawdc+2ovojuM4uuMo1hojKP/QDdjecwJvW7kAK6Y3IMCKFWK1TsPiwiWSIaNoO9EykjLwjz/6NtavX49vfeGfccm0+aKFOnExdV7tGVzyZiCT1KFIomu2Db+toVAJifWfNIRlCzqTfgCVo/wU9aanZPCmITjmxLcXWiyso8EMIge8O/xzPsyR6KQMSTLeh1QqzvcQ9Idg+xV8/Z4f4oFnnsNdN9+Kz33gY1AtUmxRkDBMpsAUBoLoHx7Cz3/7AFZeeDEWLVyIHTt34dm1L+KTH/8EyA3TbQubdmxnp+ZXD/wKH/7AB3F032sYHOjD0kWLMW/WHIQ0h5MqpH+Yly4KjkXzHMkewODRNbAVynSEYKSo0YmBddu3orlpKlYuXYWAUoI0dyIMwmI1ERm9gwMoLSnl6NhT657DkRPHMbt1BgoLCzCcSuBwVxfWv7IVFy1chJbKSrQ0VWFaQzMCkh8S1y04/GMqQHA3WYfvL6hcYxuROe/KhCKoOSxef8an0HwV6kNOJsixoVAIcVCyg3OIbyzkUcmRFepRRIszPOqidCi5XAK8ifpqVpia7GeCwN2F2rwOjCZKO1kk94sd/fczBtnHA+45jH2y9/omOT5bNO8Uuo8TOR8blWelKufjjbyfv1sSQRNeERzFL5eCKZomOeIExFlXSH6YAjm0nBFAF/fBtBiLAjYmJJIYdtcX7j/hrB3nmQ55/u7/1CvlgXtu1s0D9xzslgfuWaNFkwnETAuVQarMd3njWRlERusc7qJFRnDM06Suy3QFriAUwF4xkKbIqKqBIOxgKoGunsN48rffwl3XNMPq2gh/MoYQ8czVNOKWHylqwGRr8BcsRd2lfw1DqYciEVdQQGDBdCbgLjjflJ6kaLRpyLh/9XqUTZmKVTMasetQF9btPoq5c2pQ5lPQUF2HR9a+ihK/jaWtdZxSf2r7fsycvwgXVgUxJEn4l18/ifLaRlw5tRrzm6vx0OaDWLNlJz54zdux69+fxGVSGrOqCqFVl0L1q0h1DCK6vwcnd3chtmQa9i4qxYK3L8G86WUI2hY0yWLqhS1TxJbUKyQG2oSYDQk4lhjCbZ/+ECpChfjJV/4VTQXlLAVpO8W2xIMUJW1Cv9e00lBlH1RKsdIGwNWyBiF1QR1RSH2H1FMItIdgOLrllpQWnfiIp07jYCUakjmnph/U2EMQ7IlHn6HqcHSHKFBJ5mVqKkW5NaRkA7966hF896c/xYff/zd43423Y7h/EKvXrsHO/btgmDY+9sEPo7O7GzsP7MXhg4dw4zXXYc7cufjYpz6J73/nuygJhDCSiOM/vvtd/PVf3o2f/ezn+Myn/g4lwRDiiRjTkPzkvHgj7jweEYGn/zilbA0jOfAaek7uQWllOXylzdh6qBuf/Nq/YdrU2fjKZ76I6uJynqZUFCzJPowMRXDPf/0YrTOm4tZbbsQLa1/EUN8A3vsOUjCysW7zJsDnwxNPPIaPfeDD6Ok+ic7uE7jq4gtR5aciaQ0yy5MKiTkhEJTlPwgJUaFxLzxbMWsF/HzrgKwcluBTTiETMv3AoQlQ/FyYkwlkwryOwpCIWrrSr/SsxXHiSEfnn98HMX+88o25YSI3sp8dS/aBuyoyDtXNaRM2mmB4KpLPYHa+tbHqIe5k8k6sMeH9iTBrzseDmfA1Xl9ajRt5H0t/8QL08cC+mDfnz1je7+CADgNyWh9ojyQnkahdKq8vQuTSnZWCDEnbKdNjeA47CmSeLOj443WduDffmpIH7hN+QUYdmAfuOdgtD9w9wD2RRNwyURkIs1waAXN3syMensQygEILwbZVjiAnLANm0oBfVhEKaLCo6YVtcERSBQFG2r0kpOwoVq97EDXaQdQPr0EwOQgfVf07WruST0XcLIBauALlS/8KhjYDsiz45wJVCsIILXZcTMhI2IatSzg+FEGgpAglGh0soz8KdA/2QDZ0TGmsZf55R1cvktEIF635w2Hurhg2bcRlGfs7ulFVWYoylQqKVPQmDRyM6Ni3uwu9a3ah+aUduDDoQ7AkwPIziqkBcgBDmoT9JWks+dStqGytRNAmJ4Z4iwpI0pfS+g58EFFCw0ZMBX636QV85gffxO2XvR3/5+6Po1DRGNynJRMb9+zC4EA/VE1lNReOPHJxQQpXzJ+DAiOC/pNHuIiSnIKgYsFOG7whhWvqkC5txgtbDiCdNrm5B9FXmBpi6SgMhnHhvAtQ5POJTIrYGcSGwhuPoBHQtUgBBooJnQpSpQA/x0g8it6RKCxbxtDICO7973tx643X48Lly/G7xx/H7OkzWCWotLISxQWF+Mk99+JDH/ow1m14GVVl5UiORNHR1YmrLr8Cb7/0UmgaNVShgLpolsWKPzKBKynDOGEQRtx1pvdQoSz9nOamS7ATrM0uWSH06ib+8Zv/isb6qXjnbbej7dABvHZkH9qPd8C0ZNx86+3oH+rH8ZPH4QsHcfnKVfjPf/sP/O3HPoaRWASr16zBFZetwrF9m3HDNdfCr5IahAzFGEB88ASKKqdAt4gjTw1RHBV9h4yf3Uo9KiWuJ5TDmpQ/RWixCMjqRC8d953XAYeWIOoyXNDj0mOE9YRClDPFKVuSeRMFhKKPeI4T/7jAy+0nMOpcvqRHrzEjAJLtWWA57xwvaZnoqmBO8D3xoITEoQvkBNB0F0EXxDtjPiWSP/F7eX2PfH2B+2TGfv547eN865h33J0XmSCTmyUaRaFynjM9an7uLp3Hk0U64w3mgftknv/5Prajo4ML5c/nJw/cc7BmHrhnjUYSVXHLQmUgyJw8F7jzdmGRXB7xY2jjlGErGoZiURzvOMEFYfXVNagoL2cgxQCMoo+kzOi0B5eVNDZt+z0KUptRO7AaQTMqjuEjdEDRkJRKYYZXoPKiD8BUWiFJoYzGtlffnPiAzPymtS5NDAUVBoEoKwmF+NZQuTX2YDyBgeFhEPNao+I03UJzRSlCCumvWyAiSOfgCJKJBJUtor66Aj0DQyirKkdMlrBtZyfsjggq29qR2rkX+lAUPl1DLJ7GsKKjdHEzlt1xOWrnNzJ3USYd+YyWs3AiRKMgZ4WnMckGPvndr2Pt7q34/Ps+iLsvu47hAx0Rs3R8/htfx7Vvuwqt9Y18f1SQ1xsbws9++3N87WMfwrRiHxKDx7gltmWkIVMEGjIO7tyJ0llz0V80BV/+1/vwkb/8MCoLSznKnrRtbDyyC5vWrcfXP/k51BYWQXXEFEVTEkc9hyUa6bFRERX9kgqmyFFSOHL9nf/4Hm688UY888IavOM978Y9//1jXHHxSvSc7MDg4BAuvXglHnjgAUybNQvVFZWoraxCW1sbll90IY4ePITpzVNRV1fDkXUfN8PyFKI60zBTdObZxwRwp02OWPxEPkrBtn0Oz9mCYqrYfeIICmqq8cr6DfCHC/HIHx7Dpz75UfT19eO++36M2268BSc7TqCsshQnu3tQX1UPO21xhD8Y1DB9SjNmNTUgNbAPidgwyiqaENCCGO49hmhqCPWty2FJRbAsGSpTeBRAVkUBcUZYUjxvF2Nm3qzJoMMc1rA/v1PobaBqCXroop4g8+FGAkKvn8GuQ0lgOhg5yy5Fgg5j3rsAw26o3YXtHE8QbuMkzEe9ImgdFP0ERBGh09iNaTiCnibGTUpF9F5TMa1bjMoraaZAmmRjWV7WcSwsw5FaZVaWJHpGcJdiISV7CrPnTescvnmA+yQe7uQPPZP9x1KqPMuCk4zLrhPe9eGsa0UeuE/+QZ2/M/LA/fzZ8pyulAfuWfNFkkmmylQHAqKYxon2CCo7Fd+JXvcE2ocTSXScPImaqkqEAjJTL1QCMrTREuDkbCGtQpZoGGjHsenF+1Cv7UbJ0BaoHLlXIFtpsUFJAaTkUqQLL0LF8r9gqowsBcW2ypxtAW4JHBNVgdtdc60PRaUNBs4Wo2YZKUnB/r4RPLd5B5ZeuBBFwRAiKRNPPfYkPv++d3CroLgE/GrNyygvr8CM+gaUaBpCYQ1PPP8Kimqr2FHRh4Zx7fKl8BsGpKEEIodHkB5Iwh8KonBqIbSaINSwDB9nI8T4SKaSYn/UJIrkEkXHINH1lPDdvuEu3P3Pn2ZVnHs+9xUsrWlhOyVgYUvbAfy/B36DL336c2gopIivcFEeff4ZbHttN7549204uWk1ZCPBKipcYyBbmDG9Bds3bcb0t92Ee5/Zip5BE//7g3+LEtnHPN+YBHz82/+EhdNm4sM33IliReNojzfazrxL04Yu2ehPxpE0dLz43HO4cNkyNDRNQdq28cWvfBk3v+MmPPHUE/jYJ/4W993332ioqcH1V12FcCCEgKLh85//PP7lX78FPynEyKQIkobq0+Aj4GHRMxMcYx9RF8gkTpfaUSlsx5nIpqIdzXiTVERMGHYKCcNGz8AgqqtqoEkynt+2EUd6uxFSFFTV1eM73/8+5s2ZhXnzZmPJvAV4bdtOtDQ1oqWlhfW8I7E4igtLoEpE1yJtHB1WpBNDJ7ciXEx20+BP6YjFh1FQ3wAt3AgbBZAUH4xUBBJJTWrlgEKpcJrsFEnTshFc78Z91s34nJawP9OTHQMKiSLxcZxipqFxB2HBW3fnkcUa/Vm2iRDicyKaY8Pj/PfJPhjhLLhgPxs7FdJ+3CbAae5Ga5QYCwFuLpNlAM/cZkeryKWAidwhZRayet3cOdShAIlOA06naMdJdDySrGFel1lwuqLYyTg7r8vA3twX9b77LrgfO9XcY07372/uOxx3dHmqTG4PLR9xz8FueeA+GrhHLBM1AaIE0O8JhDscdwaeIoqUlmwMxeJM6Zha3wBVEbrE1ICHolwW0R5401IgM6Ujhd7+w4gdegRqzwso9w2JbptKEIFggJVCjKQFQ62CXHE5gvNugalUQ5I0Vrdhnrejfi46d+oO6HSicVy8aEAneThLQUyW8eN1u6AbMUytKYUtaegY0REM+PDOC6bw1vfkxt3Yc7Ibc1tbUGwbaKquRGVVKfZ09+Onz2zD1Ytn48b5jSgnngkrUwAqR/FE53IC3o5kudNKRWzSTKf1AA2KqBFQJdlMos48uuNl/CRrmvgAACAASURBVMP3v4ElM2bju3/3BdT5wly4FJVV/NP3vo2G+hZ84Pb3gAQWCZpErDQ+9YXP4Z03Xocr6hI4uHk1llz7l5BCJUKZIBVDT9vT6BmIoG75u/HXX/k27r77Q7hqwVIELCoGNXBksBvv+9THcO+3vovFtS1QM/QjiqnbiCTiTFsJQYMu2/js17+Mm+64FauffQ56XGeJxCXLl2Ig0o/9h/axhNmU5qlIDEbQUFmBlcuXQ4GKVDKFgYF+1NbXZ5rJe/cw5tcTLSaT+Rda2i42cykEGcUbx1kj52UkFoMvFGK9/JfWr8OQYeGFLZtQUFyMS5YsRUFpOf7jvh/hrjtvgxGL4MDu3Vh58Sosm78ImmnjSNtBTGloQigUhsmTSDDQiTJEc0c1BzBwbCOU9BAkkn+2koh3dPKcMAM+dLb3oLSiFlADGEgmEShoRW3NEkApgE1NqRicqR7N5bdI1DGHNXdCp2SimaI4VbBQxLpC2SDOZ3GzAIslVbkg24MnuQjViYxnJfUE7SbzcVkoExqQ4xHQBai+h6LoTImjegdSuCG6GjUoszA83I+uzhNobz+O6PAwEokIjP/f3nvASXaVV+Ln5YpdXZ2mu6fDpJ6k0SRpNNIojHIAgQEDlkFrYyyDwdg4gMP+dw3s4l3jbLz2rjE5C5GMhLKQhEBogjQ5p865OlSueun/++59r6t6NCN1P02LgblPv9H0VL9w37mv7jv3u+c7n1VgwQ+6EXJqUjUD8ZoaNC1ajJbFnWhsamPuTKSJJgkce5YkypHh90oTXF5zzRuE/JkMR2LOd3D+Hc8OEfvX8o+o/j2/Hp9YX4hrX4DmX0SnqATi/Z9mf+I3ldUbqU60vojuIUhTBHEPghogiHsA3ARxr4CWLhaRcSy0hEKetRVPnOEJ7l65aQkogopJTGFiPIXlHcu8xEgeDiPLNaZQlSzuZuI4KKYH0X3wUYRLB1GnTSFuqNBZ4ZwyzHyaFTXS9RikUAuKiSsQX/MG2HKzJ6U5B3H3TSlZ9j0vd09RT6bLllWMFsv4+28/gne/7S4s1hWWIPvdZ19AtL4BG1prUFsTx5M79mFSNnD5iqVISkAspOL4yROwjAjSroyx7tP4jTtuRLvB6tZ5KYY0keEKRpZy6LlW8OHXJ4NeoieHiyd/etrxkm3in7/9JXz54e/gj9/1Hrz9upuRGR5CQ0sLTpezuO9PP4pfv/udWNKymHWKLGkYS4/gyScexl9/9E9ROvo4rMl+NK3aCkfW2SSC+EPfiefRtnYjDmZq8fF//Rzue89voUGigu4OLEXGgZOnMDQ2gr/8/Y+gXjZYERBfwkOrKo/9+Eeor2/EltXr2FzgwWeewtHeXtTWRLFqaScaahqw78hBnO47jaGhHrzjLXfh0O7n8Nbbb4HrJtDWuZ4nERPJYBVeuQMLPQt07/Ry56Tc0+6yTuMvfe62IDNCT1VTGZ0mfbKndacDC66Jf/vcZ/Ab99zLqqv2jw3h/93/bTS2tWHTunWwpyYwONKDB77zdfzRB34X1mQvVq9YgpJdixXLN7HkVLokc9XxHCCYGIii/g5NtlzI1hiGj/8YtQkVYyM9iMU1mJlp6IqCQjGHqMF8ejBVVtDQ2QVZ60QsvhaSkmDVWnlV8krlWF5lgOKv863OGWAQ+yU8pDL35VabtNFTS95SVIyLCLJMZBllSCgytyFOgugZIkmVAkei1TgFqkxrbJ6MiQ8nfAtI3G2LnlkyXPVsQGUb5VIGhw/vxjNPP4K+M8eQyaZglvOwizkYOqCqZGVJeRk015BgmnS8gnAkCUmtQW19O7ZefTOu2XY9mhpbvQi8BslRoSrcrYgHbauj4PO+gVd4Ul7NcrL699XE/RfHZ/z1+ppU3gdnT4Z4HkaFrvtrNr8ckx9B3IM9YYK4B8BNEPezibuN5rDheblU9KVsaZpcUZjJuI2RyVM4fOQYtl6zHaocZVEozSsgoYAKUpiwnBz6eo+g7/gLWBrLoKkxBF2TKcsRVm4ITmEcZikLJRSHbtTAkRPIxNegbu0b4LjNzA2FJScysswJ0EzQqXr483TGNCCSNGSibKN3Ko/lTQkknDIjiCMlF/3pAqYn+rCstRXRWA0OjU+iNJ1FxAXq6uKIGBpisQgjnGf6B9GaTKIlojMbRqrO6NVm5dGmqqXPyo+VtDcWJfOj894yOpXfPjLai+HpMVzVvgIxB5gYH0W0MYmH9uzAt556Cn/87t+FbVsowWHJvbJcxPL2JrRQVb3MIJz0CMos8c5iExtXikI1dFh1zfiH7zwMSw1j6+UbEGH++g5K1C9GHMuaW9FkxKBaDizJgaKoDM8SbPxsz4vYe+AA7rvnXhiqhsliAX/5qb/BO976Rux4+mH88QfeD0V1UShlcObkQbQlHOTGjsLKTqJ19Ruh110BWY/NJFoxQjyTmFWpUMl8FZi23TfL5DSEdMPUR/7ri0UXvYkRJebmXBOf/eqXsGbFalyz9Srmhf/JT/8Ttl11JVI9J3Df298E2xxFOnUaxdQIrEwvMtk0Ote9GTWtW1ACVYBlogqmT6d+oCRYJsEi9RdNGtw0MqNHADvNSZYM5izT0dEBqZBFYfwESmoIiLYinbfR2XUNJKkZcAy4lCDMnnm/gis9IZQp4DlGBBiXLvVDKtyafvL07mR1ypKVqWpvBrDH4FrDcMqjgJX1kjtjgJ6ErDZBUuvhuDWATMW3OPn1nzFevXR+hIknlPp/LJh2HtncBHbvehaPPfwARgaPIR62kIzL6FrWhlUrl6K1tR7JZBi6TsfRWESkHZhOWxgez+LEmVGcOpPCqe5JpNOAGqnFthtuxm2334325hXQ6TtLk23mUHJWMm31BCTQA3M+ss6j+lwWRHjTRLpaW+17A/s5AhWCWkmmna8M6eU3wONFF6poUiCAznmQH6KZvXxTEV7NnqzPnvDMpvL+s/Ty55A/n/42v+f0wt3p/M4kiPv88PL3FsQ9AG6CuFdAI4172nbQHPGJO4URuT6TJeGRXpOCqXYaJWsA33noe4g0tGD5snWoS7QirEdgmxkUslmU8hPIjhyEkT+CuDyJeGIRkk1LYWUz0DJ9sLN9KNk5WOE4QqEkJEuDJYWQS1yGxjV3wnUbIYFsDnlE/eyXLBvYPJs3/pphezKyTEvpRKXIeEbn1Vpgytxnnj5jhYgAFEmTStIN2p+iriwqyxUoPOkMUGUufWG/42Fj5p1OtIwTAc+bwrNg5H7jXoENWkL3yCF9RtchDbkt2QiR3zSVzFYcTFpF/O1nP4MNW67BG6+4AQa7Xc9Cku5MKkOlFxglBtPSvErXKANEFB1y8gH6Mml88jP/F/e9+71Y3drJzkGyJtLe0uuerkdWmoypsqg45R7wxNWR6Ul88m/+Nz7xsY/DKpusMNQ3Hvgm7n373XjigS/hT+57B+xsD8rT3chNDUAuTSLk5Jhdpbz4dtSsfTsyRQO2qyAUMtgKCm2Uu0AkuVQqwTAMKBqPHhZLlFwKaIoKmSpjWiXoigarXGb7k6dxTSTKEmgpIk+rBsf6e/DZr34N9957L6amR3Bo9/O4bkMnJk7twTWXL0V54ijyE8eg2Vm4UgFluQbhlttQt/Ju9KcNGOEkTMuEpuss4pnPZhGO6giFNeQKFssbSEaBvJmFKmlQXBWpqRw6WuogF8fQe3QXlq65Agg3AswWMgTX0iGprAyWp3H3I6CBQ7oBRrBfpEP8b2pVlJaRYY+k+JZ4lcpWngzN//7T85sGMAI7sw/lqUMoZ87ALKcAJ+/ZroYBrQZKbBHU2hUwajcA6hrYbg239GTXo9VAWhHSq8CrascMxa8inyxFhSYQ3M0pk0/h+d1P4enHv4eeU/vQ3h5HotbB+nVt2LR2KWpiBjRVYTkUCvKwnSk4Sg4gyZwbgas24IlnD6OlYzOaW1bhy196AD09o4glmjAwOo10UcW2rTfirXe/HV3LV0FWdMhePQLPHdUb/15Zqs/Jb7VG3i8a5FuV0lhCK6UeSWY5OZS2n4JT7IWdT8E286wImqJEoIYaIGktcLVGmAizdwMzBXazKJVyKJdc1NV0QEWE5XycnUYwe0JW/ez6a5Y+Ha7497Ox2HPp4VMGGud5HQrfEtJfPqFEdgoMkIOPHz6gVGaSxM28Rrj6k22z1izONRHywuOerbqnHOWiLS6J5CuMfDe+jklvBVasjRUM8DrAM/hlAjqGtRdt9y1k/RVKNpZQW89eWfEa7Ll+zTs943UYJgRxDwayIO4BcBPEfTZxz1ByaiTkxaL8gchmunYJOhTyV3amUCqewvG9j2JovBupvIyCTRFcDbWGgbqogZA9iUY9Bd0cRcgIIdG6kdk7mpkxKPlemIUstGgN7FACDgyoNEGQNeRjG5FcfTtc1EKSuT85f/PwqANxTx4rs7zoO4/68DHUYTbzdIw/QJJchJFUSWWEnkeuePU6mWQSrJAUEWrSOdOqARF8LtWY8Y12uYyDefT6w/1M6MTzmGYSIR5nZuTdkzhTdJg+5YWsuGsLj/Ryb19bcjAyOY5vPfgg3vqrv8a83UPkXEK/Z041nqqVJhCSAsu0oClc5mGTpp8+c0roHhvCI889g3t/5R7UqGGvoiSr38cTgZnvvleAiRUOYZl0ZMrDEPqHf/k0io6FGOluG2uRjDlY1RqHnB6Amh+FU56GrtmQHJIllKFK9LOCUng1Oq98B3rGHOTLDlpbWpGemkI2m2UFpSjCTsRdNwzE4jHU1yXR29fPoCUXjbaOdoxOjCOXzTFSFTIMFMpFrO1aNeO2Y7pA3rHwufu/jpbmJtRHdbTGNDTEHNiFFGQrD82eRkQrAlaZrTQULBVqfDXCi69A97iFsBGFY5VQNGmNQYVik2zGRTwZQSZTgGtbiEbIKSnPqqvqsoaSXUJHSwMMyYRkFqGG43BlEsCTJMZ7ACRut8lWgxjPq46p+cTvtUcfAwxtF+Eh/LvopZR6wWvPSYXp2Ol7SzkPNKl1uHSK3FlovY2pqMpA+QzyqR/DHH0chjMAFXkeWGCFylwojsaebVNRUZCSkGNXIrroVyBHLoODWs9Jhq5Jl6sQd18A54PGiBgli85okB1W8M20S7BLeXz2y5/GzoM/gmansaghhFWXtaFoj6KpSUWNXEIoYqC2th6GqyAechGLl+CqGS7iMaOwlcV4emc/du4dxa23vBkP3P9dtLe1Y1HDYjz3/EsYHDeRS5ewZsUa/MZ734+tW7ZDdnUmjWNWu759lczzarh4zyd3/CcuofaIOhsYGbrMgtei0AP7Ha3s0RhiIkTyOiK+GMDU6E9hT+6EVhyGwibDZba6Z6ttkOs2Idx6FYpyA4ZSg+gbOIpU+jTyhQzyaRnvetMfI6EtpnDByzTcPMbst9X7rrCGsgGOfXtICsVEUSy3qDJGk3MY5TPIbIWOU26+egZYLOmIMm3IdYrGdJUFKigxmAVxaKz0SDgthHlZWbOnaLPD4fxL7eU4eRydtY0Gd2oHHwJUPqlgER+ScPGqA3xCI8G1qQ0uJIVX5iA1J/MZozoc9HTJZHFL4zK9M+jZ9+x/KYAxYyPEZYVs5cOTEc54nV5E33JB3IN1hiDuAXATxH02cecFmEgu4im5WbSDnDxogOSJpIqUQWl6P07t+SYUDKFMRFFWodHgWbah2hZ0ewI1GOPVO9UmxBetQzmbBcrjsChiaySh6HWwWDl60pGbrOpnMbIRibVvgCvV8Bcrr6jyMuLOFaK+WTJPorVtky0nO7bEXk5+MQxKcGXJsF4FUYqc0e8Uh1xwJFhU+VWxoUukKZWYU7hJbjeyixBJZDySxmNyFGOXmax55k0p+8WvKzEX/uYkrb9H6mhk9+YC9M6xvGVohyJwsoSSaUPVddiSDIOs4CxqE4+GMTkHvaApCk8DvE3qWgUuObXQq9cuwKGiqw6tMGhQ2SSFa2l1mb8ES/TCIHmMS3FHz/aHIuL0WnOAYrmEwYkU6poaoEgmwu4kdGscklIGrCIrpiWV6WVP7yo6j7fGYUchhdtRQg0K5OevczJULJSYzR0r/ETOK44NTSPpj8SIvEVOPa4ELWxgKpNGbTwBs1RkL24jZLBovC5zaQS5iNDkqgCT3X+IbPfMPGTKoyDvfnrBkTSIXoakZ2ZtI+DDMCUDJjQo5GbDbEfp/zI0mxKpyZaIIqjMB4hhYdkqS9R1yf5UsdjEg5IbLcuT+EgyNHrGKFFbttmLXZI1NmFUWfagcOJ4+TBcibRz4sY3zjd50jurQ8OkbnwiTryUCoBB4mtbMvKQ7R7kh55AceRx1Eo9UNxp9t0sUU1eVteBinN5BdtY3oSBktMExK9GTcc7YBkbWNRdpYkXLwtd1RKP7Prcd2aFzY8d2LAlE9P5cXzq43+CnqE9iCxyoUR0RtoiIQXJehUdHTEoxRE4MiUwhxFyI5DKeTTUamho0pCMJKGV6qGGGpG2E/jMlx5DsmExqz48OT0FQwoxy1knZyM7ncbg2ATMUCM+8Hv/DddeuR26EvGiuZXqr/JMRjxN0OmePIkjixVQaneB2ajmczmMjo4hNT2KydwoprNTKLolaBEJoWQczXV1WNaQgD71InJ9P0KtPA7FzkGjCTsb98Psez6iNmAy2o5jKRM9ff1w3CJcucTzbqxF+O03fQJN4RVQmMluVUKwF3SpkGZO4PkKJcnTuCMZezbYg8LJLt0fdVeeLAokCQaRWPZ95La+ikLTEJl9D3XYsMwSc3uSXBrp+KBLCeQk95FdXniO5Hj+Mipz9PHKpFWMBfw1XGoNPUuVYslcAMfHGBpj2f2wqqgOVE/yZ7P3E70n+NjCHI9caiW9B3glZy4TdLzEY1ol8FYA6NHkczEWp6cka/9LQ+8Ofs8Xn3xGEPcABJSeot27d589Zwx2pkvoKEHcK53NK6faqA/HWPIXj+Jw8sTGNs/gQZZyyEztxWf+/c9hhFLobNCwdlEtYhTtlICMZOD5nXvxhqvWwbUsNC5aAtsOo1icgmsVoKsxpt00HQ0WRTBZmJpokwbE1iG6+g64SpMXEXt5BLNiDum//v1Y0yxKcFb0c4YqeL7q/jvCf2F78XIvKlMVW5/1bfCDNjMi95dFWSvX4bGls1eLvRWEs75jfssrdTZfHv7hn/jRqkq1Ux4z52N7JRWy+vf+3VQRplnX517zlZgdSwHkkoJZsalzDQz0iqEoJ0/E9FOvKjSoum9m33vF497HrHLPs2PUntWm10L/X95aRGVV5mXN89s0+755T5+vH6qvXFkE90/N+9O/O57kW61uPf/QefG9aF+/Yb7ydPo/+T3tqaVZtUluq0kEhnA14UhF2MgxfA03h8zETmSHn0LEPIywPQ4FOTY5pOkc72mKhtKzyC1jVVeGZYeQl5qhN70F4Za3wiSbWYQYGWSrajPfUG476UevuYtr5Rmhidx0bhyf+eynsP+F7+Lqa1fAWGTg2f1HUNYibOVMU4pYujiE5kQRIYNP2knSoTkWasM6QjRXLOjoP1FCOFyLJSs24NRACcfOjGBodAyLFjVCt1yoNGbGa9DeuhhjE5P4yUsHEI6248N/8FdYtWrTzD1SjguTucwwXd8vnltLsgLEignTSqFUnmCTH8c1WbVrRVVgS0VMZHM41teDnuFBjI4OAmYKDZEhrG21sTjmokEpwrAKLIBSdnVMWCGczmk4ngLKSgP0UBSyJsFSyqzQmWo14p6bPoo6owMKaBLvfddmxlVvRPEeAOb86hFWzth9yY5vr8tJMiO4zEpTgVPmKzCy4ll9UuCFpJAuYLBAie3p81nNajaPpzwUMkxQHQrgeMm1ngSU1nSY7G9GOjMjvPQS6ilcQJlbfGP7UUScPasV0k4BIpMmOAoZAyisvomuGt77k85JydRUIEVmq5UO01/yCH6JuY6F2TPIszF44GmmKjClljFrU39G+fp9e+d6JUHc54rU7P0EcQ+AmyDuFdAyxQKyRNwjMWg+cXdZXJs7kczwqgIymYP42lf/B1rbNezZ9QyW1mi4cnUXfnboBFqWr8TOnbtw/eourG1pQmtdI8pFh8kUwuEoNCXuaRYVWLIGqsrKHcsNILIe0a7b4WjNzA7y7ASgAF18zkMqy8pzPKN3wMUwM5532+d4izO7zfNeZ7XnbJ7O30Fz47bzbee59p9n2y/EJedyjhnJxVx2/mXbp2o+XZmgVqZC3BaPRgDKjSih7KSRyvRjOjvIJvuOZUGTC5CtAehuP2qMNKKyDcXKwi5MQJNdtsqnOSRFIIZDicIU8eRRaRsxFOWNiC59N6Sa6+FItZwYMc24/8D6f/vxYF9NzTNmKLL6k589gi987hO4vNPCu979BpykXJCndqAnV0ZRtqFJJTTGLWy/qhUaSjDLFmydJDwlhGUg5IZRSqsIKy2QyjomJso4diaNbEFHsWhBlyx0tjZi+ZI2QHWQnp4GaOXNzGH/4X5svOqdeNe9H4KqxZmOmxWQmvF+Jzz56po/hafVIoq022YK2Ww3CoUeSEqaRaaLpgOzlIOrJRCqa0MkEsPQyCAO9+/B/p5dKBT70Vnr4so6De06SQl19GVs9Od1KMllSNatRW2EisTJyJgZTJdTyOcyUIoxvGnrfYjJjV6yts/Gq74BM4MoRb65/JHvxYkps/L0CDe9dCSHrDRZR0IiuRC5VLEKulSlWoVrUTE0h69Q0iodK0pHGkhafCApEa1OMjrPovp0ObY2ZpOVp8zykIi4+1PwSpiA5yux1TgyAvAU7DSxpGeLeDebujNNus1Wo2nCyCYiDuVTqEzuyGQztCJICVMk2bHoGI0vjNglSK7JLJQd3csLcIni0+oh2YtSS6neCXP253IZWo6aHdm4KEYMQdyDdYMg7gFwE8S9AhqPuDuoC0ehMIkFf7nRRsvWzOqRJvxyCZnJvfjKl/8So6mD6Fi+FOnxPlYt88WTA1i1ejWef+YnuPOqdbhtzQqEclk40BGuqYOsRiDZOquWypcQaWJAS+LkdhIBIhsQWfkGOEoji2j4W3V8dK4/n4szvmy880lldbD+XIH72dXMvRfN7GX/853iPKdj5zib086F9573Hl7rCc9u6BzbN9NJ58LyQrSpGhSfB7wS2FV99WqXn8vp5rPPnJ65AOPUL/Yhfpyd7sJbeah68C27DEkuwsQwBlIvYu+Rx5Eq9MGismSO5RUusqFSkrZMmmwuYWuqiWFpUz2SIR3m5Di0cg4aCtBR5JIy0nE7NhQ3jLzZCr3xdqgd74GrtrA1Kt4SoouzV0OoMrSf3cNIl2TDNG1893v/hh9+/x/w139xDxrqDIzmy/jigz/G4YFRlMwCC260tMawYV0tI5u6psLRaCWhAFWxUWskUJyUYeej2NC1HqobwdPPHsLkJEnLLEQTLto7l6G3dwSJhjDO9J6EbmhY2tSMPftOQ4114SN/8im0NC3nkXbm9kJjCNFU/iXh2T5M5e3JVEgKV4RjDiGdPoKpyUPQrCk0xCOwa5LoGxpBb2ocethGc2s7GhvXYrTo4sndz+BU708Qt6ewqqkFjp1Aa/tlWLL0cqRQwonePpzp7sXUVAqmVGaSG6tsISm34i/u/XvU6qRx17xiU1W1LdgXhJNhl6pse3VwacJFexOGzLbVUZgckRyd0NcN9+RpLktraQWWLIU1PgoMDbJEcly2EfZAH8r0DKxcCTUegXXmDJSxFMqaDHlNF9RFi2ApJI30ep3kipbJJCdEtKkoW/W7ZmZwJrkWaegp48bTsuQkEsLQc0gp6gokku2QlLTswj1+AhN79sAmtU48iYZNq5HrO42poX7UbVwPSYtgdNc+tFy5CWpTPaZ+ugOFiXHorU2ov+lGuEaE1SyxJQtlyWSTjRDJuxxaEeCafUrYr9QmuHhGBkHcg/WFIO4BcBPEvYq4F4rIs4h7tKJx94wheeUhegmRnLyEzPRhfPHf/xCrVxmwTBMv7NmDFWsuw/hwCqvXrsFDP3gc2y5fgptXr0KNI0OLJ5kbh+uozLFDlmh5k/R99MLhyUYll4j75YivuhOu3MjcRQJt82H2r0JOfdI2i5wGalTVQXNt3xzI6XxI5VwnFq9IxF9pgnOe4PqFuN3qfpjLZGfmxftKAL3Wfqw+/tVu8iKMkF3I23/lc1GPEUXzCXLFbcN2yoBSRM4cxgsHfoCjZ56BFJqAKadhowyXdOsKWZvazNXKcUi3TEnyDlTbhWYBEUVHV1sLOupj0EppRuB1q8QS2DWnBN2hxNIYTH0jImv+FK66HA6t9HnVGXjKtm85SQnsPBJPQQqX1aOwUChm8MBX/jdOv/QdfOwP7oFr5TA4kcbXfvg0q8oc1WWYioa8W8DKFTWQnRxChgbTUGEih0RCZ3kQ5bKOcimCRGgRJCuMU6eGkIgsQk/PICy9jKmchaPH+3D15lUIJSSQemKqfwSpkQIcvR1//tF/wZoV23h0msZPcpmiytO8hqzXDRxv4pmsvgLlEJDkSJ6AU+hGdnQfMiMHoEdt1HcswViujEOndiFv2lD0VnSsugHRRDuePvwkBvqOobNlMbqWbcL44DT27t2H/rF+mHIJsi6z3ARyybKIbroKjGItPvbef0FjdMm5ibuXlE9R7gIsDOUmMJROsQJrFPhJRKKIaAbLl4qkS8i+8BJ2/vXfIpqZRllTMW0Y2HrXXUzStO8732NinDs++lEcffY5HNq5E9v/65+jvr0DL/zdPyB3+CisuhjWfuC9aLh9O9KJOBRJR6ZcQCo3ienJKdSGIuiobUZTNMn06V6OtKexJziZRgWUIE8Ef3w6hR8d343jo71o7WjH5s7VqNEjQDaLRWMF/OC//g90jE2gIdGAo5OTWHrtRhhTU+h7aS/ktSux4eZb8cJ/fBFbPvBbSKxciR2f/BSKI2MoLKrFLX/zCUw2NaAUjWKskMKh04cwOjyM1Y3LsW3tlWiK7B+DrQAAIABJREFU1/M8KQB6VW+/ft/jV76SIO7BekIQ9wC4CeJeTdwLKFDE/WziTiMFVSe1LLjMg7uEfPokHvnOX2HZYopqWRgcn0Q4VsMqftJSLCUc1sdCaE80I6bHWSSBljhl0mVSHRL2wqFXJy1tch9vSwpDinahbvn1cNU6SEolChKga+d2yFxYYPU+czvr67vXfO9hLvsHuYO5nHeh9wnSbnHMgiNAyYDM36PKJo8SBktuFsNTx3GkdyfODB7AdGGKJRKqkolIlDTaORRMir5nWJKzaytM7uA6Bc/rnxKJqcIoYMgy2pN1WByvQa0CxFVAK6dhlFNMYpB3lqJ+zZ/DDW2GJcX5CiJJF+hMEumPvSi1L9OQeWE3kt2c7t6LL3zq97FKH8MtXW3Ip7MohWOwolEgoqLQfwahxk7oDU0oT/fAzo2jlM/BaWpCpjAJVcqzmgklLYwJS8fkZATFQgjZYg5dHStwYO8BtC7rxInuHuQyOSxrDGPx0gRKUhpxFyjkNRztsXHdde/DPW//Q6bvZloNtjHhRqUPGbljSn9vPYHE9iTXKAFSCXAHkBl/Dtmhh1ikOd6yCRlZwZ7jL8GIhVBUknBCzUhNUUSaKsEOo3+wmwVZIqEowlRAT9UR1iKQyRqVktwpiZjG8XwE79z+YdToLZAkKvbG4/9MnsKayycbpuJiuJTFV57+Ph556afonRxFsr4WK9rb0NXSAaOg4nIzgs4jQ8h+4ztoj0cQXd6BsZIFfVEraurqMfCtb8Ewi6i5+nLoloTefUex+S//PxQUFSf//p9QazoYMguI3XY9Dqxvw8HGEGxDxonhfhzvPo18OoOuZCvu3ngdfvPWt6KGacwlZqjA8rpIfk7SHdeFLUsoOxae3fcCnjq1C893H0DP5CirxLy6uRNr1SQ+sP5m9Hz6y0geO4qW+kZMhVSEtl0Jbd9hpJ/fjXRNHEtWr0bP3n1Y8/7fghWPYP+//wcaohEcL+XRcO/b8KiSxU57GqdGulEs5tDR2IyrOtfjjlXbcN2aTWScwyLvIarxseDf2vldQBD3+eHl7y2IewDcBHGfTdzJdq8+HIdMRJ0WYZnGnS91kxyUKlxSpMcuDiM7vh9RLY1SocCy+ClRTC6RHZ+MkuvAUHVoUgSynoBJpJ90iXQ8LaD61oqkM+UGWXCp0qFSB6NxGWyEoZDLS4A+ndchryaVOYd8ZF7nfz12vpBkmNobFPSLSCrzesAurjEfBMgC1U+e5OOJJVkYz43ixaPP47HnfohTA6eRLZXhODJzFIpFFHStrMdllycxPL4fkpqFJJX5aqDFHTooSGCSRa3sQCOtcZlSIhUkwiHURZNYXJNAa0SFm8+jUKhFY+d7EE5uZdaQJptMkD6ZXGyIvHsOJ56XK0X4GdWUinj62Qfw4y98DHcuVtBk2VDrW2EuakFmeAA1YRvm5CBaN9+ClK2j3HsQSnEMJctC501348Sh3ZBzfWzVoGjEkVbrsf/AAPoHM5gqq8iZLhIxFduv7ERtXEG5lEckKkHWSwhHXMRoSmE046Hd4+hc/la8596/hE1tJmcRVoeCO1bNbDPE3TcY8FKoiUUze9kcJOcMikPfR3p4L3ODSa66GT3TeZwZ6YMSTmIslWHa+nAIaGgIQTeKzBKSRCOq4kAndyWX6h3QWE5VammSFYGKNnTW3wnZbYVEhfloclQlXSOXG9O1WE7ApFPEsXQ/Tk2N4PEXn8PeQ3tgFYqocXXcue4GfPCGu9GWKiL9tW+i/8fPQZUU1HQsxdK73oSh093o+/a30BJWMW1nUa+EMZkpYe3H/gz9I8M48LVv4vq33I1HHn4YbWtXI3nfPfjHEzvx1PGXkHGLCIVC2LrhCty0aRtWJFqwprYdcXKfd0mb7tmAehaMhGLaMfHimcN4/vQ+jEjTkGt1TOcyyOSLiEybeP9Vd+I6vRXlHzyB4o7nMXW6B2St3HjLDVC6ezC580U0X3kFevcdglo00fWh9+HYeDf6+4+jsbUZx7oHsOram5C5ei3+9eCzKNeFEU/GEddDQEFGQzmCW1duxMbOLnozQpPJsefi2gRxD9YfgrgHwE0Q9yriXqSIu4lkNM6LXJDukJJymJ0WXyokj2WK5SgoMPs1vnBHER+uq5zZkX1OBYJ4AhXP/Kl2z/UZMbd/80yduS8uszNkr+XXHFV4JU7rc9Tz7VP9OF1I/n4hePZ5FwFey8mrbriag89Fdz9nvj/f9r3Kd/pcpzu7r+bSvwGGjvMecq7rXdLJqaz6pskt8JgbB9VsoHW7Il448AK+cP+XUJRsKJEoJrN5HDt2kif4sWI6WbQs1nDf77wRk9OHkZ4+DU0tQWVWnFREjKb85PdhsiFEsjUemSehjKmgRqlBjSthVVsH2hpXoq7uWuhaF2wkQI7lVJ14ciqDRGwxDDXE/bUlOheNaQZ3uJHLeOKZr+HFL3wcdzXaqLElNG/bjlJbJ0ZffAnWeB/IrLDliluhJFpgHtmBUuo0Mo6Jrrf9DvY99UPUFLoh05hZ24nO7W/HjueeR3Yyj+7xMk5P5NDWVov1jVNoStiwZQe1rZ0olqZhZYYQU4FRO47v7cth5eX34tff8RewKeLqUoKq58riZ1bOlKLjjyezE/QyadhoSvaFzMM+Aze9CyOnfohE0kZa7cKhgTwaFjdheHgUq1a0QXEnMD0xhFIxDctKQ9PpbGSTSzUcHFYHQ6UEUbJahIySE0KpuAhbtnwIcFoBkGMYHz38StOk2c5aeew5fhBff+S7ODLeDbmhBpdt3YSO5R2wsnlkusewvf1y3NK5Dqe++xD03S+i3XKR6hlA9+keaI2LsHjr1Tjx4IO49uorMX7iEMqDY8hbMlZ+/CPYv3cPzOk0BhIaKwPVmDWx7Hffix0xG48N7Ef98lZEolEcPXwYh3YfgJPKY1VjB37jzrfhqpUbEGGSTh5pZ39kFaOFNB7a9TS+8fQP0J0dghKSkIzWoD6WxKqaFnz8nvej7tQEvvAHH8GGqIrVtY146cBBqEs7sDgaRu/+fdj2Pz+B5z/5t4hOF7H+Pffg+aleZOIuJu0SnIyNVrkeV/3uvfjjh76EA9kRTJl5mMUyLBNYkWjFmzZch3dedxva6prYe/Ji2wRxD9YjgrgHwE0Q9wpouWIBRdtEIkwad87U6eUwi8D6DgAsesbeALOVzR5rob+4B6/vecv0Nt4xlep9vPYo3yo2f9zekNP2lyezvaaMzipW5/8418eG3fp8iWeQ/atnFNWMuOpc8237XO/R329WNOfsezhHmxa6PfNp/yu2fS6zkIXcZz438kuzL32fiSZTsSoi8UTyTAxNDeNfP/9p7D92AKf6e2HaEiLRGqzoWgbLKWBsYhQ5qsZpFaEqZdx+80asWEYSl2EUy/0Ac0gpMbkLFI2dV7W51zfVZ2BkkWoZsARCCaoUQl1NGxobL0M02ganbGFyvIio1oYt696EkFYHiZLwaTLgqoAb4gWj5CweevQLOPGNf8ZdtQ5ihgMzFkHd2suBxuWIxxI48dOnkVi2ChPpaah9hyCnR1HWdax69wfx0iPfRl2hlyXXunXLEVlxHWzXxrF9OxGPRpBcthmdXV14+tv/C4ubDZbUGGvehJDkYPjoM6iJ5JGSwnjwQAGrLvsNvO2tH4EkRUHFG8jRkm6fj6zcxrDaopR9L2llwX+mHQemnYcsF1gV2tTYIUxm+wAtirrGJAr5UZhmFul0CiFVQUiLQZJiCIfIyYYnm+pGmGHtsqBMEZJbhGVTdVgJjpVAc8M2QCc9NpHL2YIOql+RM/P42eE9ODLciycPPo+jo33IyzZkVUKTHsfNK6/EH/3qb6GtKGP/576OsW98F22GDi0eQmp4CLVdK2B0rcD+Rx/HjTdcD6e1AQe/+i1ELBVr7vtNHDh2CBlDgrZxFcZpErj/GDa+612o/ZVb8LHvfx4/OrEHY2YWZddGQo2gK9GMN2++EZc1L8Xm5ZchqoXh0qoKM04gcCnNGcjBQndmCP/508fx4on9rMr0xvaVeM+bfw1tegLhXAlHv/cIxl/YBRSKMBY1Yt0bbkLfwYMYPXka1773v+D0j3dgdN8xrLh6E17oPobmpZ244rpr8Z2vfB010QS2/urdyLTV4v88/AD2d59ASDOwddVGvGXbreiM1rMiWbyIYHXV34tjoBDEPVg/COIeADdB3KuIe4GIu41kJMbrabK8URokPPLuedYyCu55HlOlN1o+peVFXj6usjRaIYHcUs2lKIEXemHaxyqG5RUz5eR9JjJP//JcAGY8lv3Iv0f25/q5RzbZqkE18fSiQb7V5Uwtk7M+n7mXuV5vZoJTiTbxFYvztLuqfexd682H2F9n/+w15nxtPftzduqq+57rvc6651dr3zzbVN0Gv33+fb9a++Zy36w5nj/0eTGfbx/Nd/9qzHhZ1Uty41VJyVubbl9llo1HTh3Dv33u/+KpnzyBQinPxwKy+fM6LhYPo6WjA2o4iuGxUVjFHMKqhaXttdh4RTvalqlIZQ4CUgoK6aslTq40VoCVyzEoh4aVKGNaDYN5Z8suSXGigBuHZmmoMVbghivvRUfjVYBjMNLPpHu0r6wxjbuLDB5+4is4/tV/xBvrSNJeRk5xMaXocKItuGr7rTj20s/QuHYDxiZTUFKnEDMLGJvK4fJ3/g5eeORbqLdG2aQgvngFUkiiY+Vq7H9pFxqSEeTtENZffRWefejf0NhYi/rFK/DC4QHcev0NGDm2Czp6MQUZP9ibwaYtH8SvvPHDjDjTeoHjOW/59Tq90syV58yTzVQIvQvLIdlLAdPpPqSm+mA5OcTDUagK98MPhXQYRogVIpMp7whxZm/IbBWZEyHX1DOcXJNXrGYe5RSRJ+vCBriseB4PvvCAh++T7zLCXJQtFFwXJ1K9+NnBF3Gs9xSTT65fsgZ3XnUTFuk1iJRsuP2DGP7xDph93bAVG0ZjHTo2bcZEOouBg4fR0bUMoc4O9D/7E8j5MhatWYPDfWeg1EVx2V234OSe/UjvP47m1avQuX0bThSnmab+QN8JyIaG5S3tuOGyLVhZtxghV4VKqxhkGUnzNRZxpwkFVZbl1TIs2UXeLWIsNwnTstGaaIIBmZlJnjh6BO3JehhlB45pYdosIGfISFA+AFWuTmiQii7y41nIMRXTxRwklxd8i4dDyOVyyJsFtKxYioIsoW9oEPWJJOqiCUSouBQlZ9MKEMlSZ0wjLp4hRRD3YH0hiHsA3ARxr4CWLRSRtWw0RKM8oYgULlUVBBmP9/SKftFBXjbbhUIDCqtwx0k+d2ygCqZ+chKvOTpTNvEV+oq9wz1/32rZw7l+DtDlXvvmf+TZUWV/rcHjZ7MqQi5kBHquFPC1tG8+7Z9re14Jp/O1df69xI+YT/urr/FaMDtfW+mclzBvZ73BiyJxsle2LRw5fQzHu08wWz3CxrZMqFQa3pfTKCosSUWyrhlGWGeJlWHy23ZthKNU6bOE/oldOHTsCchIwbTTcFXy0HbgyBZcqnrLEgzJM5toVZh5sZPXuuNSdeU4tHISN2y+Fyvb74AhN0NxdU/nziuP0jNEhNSV83j0sa/g8Nf/Dnc3StDMAhZv2wYn2Yj8ZBGnznTDLU4j3NIOJxKBIWfhFnLITpew9c3vwMSpg0C6D9PpaSQamnC8dxh1bctR37oY4+MjGBgcwnW3bsdzz/wnFi1qQ8OiToxMjSBMhfCKJspTB5BTZTz4UhrXXP9HuP3m3+a0TVJY8SmWp+rbjZz1MPPvAXfMoSAIjdGmU0K2OI6R1HEAZTQkkwjBQDiSZJF8mhCwgmo0iZHIDYeouszUQ7wIEY3lnqyeVWaVmM6drkP/wdFZgid77v0VgBnizquF2swK0mEVuWn1haop03kjRgQaJbxaMjLZDEwzj6YY4ZBH2S5islyCFk1AsYC4rkLRyLWHV5pOT0xAj9egVC7AtIrISw4S8SScbBGmaaJYLqO5rQOWpiJdyjDP95huICIRKeaTEbZSzHziOXFnz65rMdtihjKzGqKsVRc2pVo4VMVURalURM9wH3LlIhzLQbIuAeqYvpFRhNUQJNvBmcFT6FreBQ0GLA2YTE+zKLtOyb3lEgxFRmFyEptXXwYznceBXS9h3abNiDUm4Zo2WwVQ4hGYkgtNvvh8ZQRxD/a2EsQ9AG6CuFdAm8zmcHI8hbius5k9LWvLzPHFG/ZdIu5UjIIGNarax8pYMNs1VpyClXHmenX6SWHWX4rnMcyTWjmNJwLPC0fTsRSn4fTfd1aeG8EP0N1Vh1TrP17bmRbm6Iuxfa+3Wny+yF6c7YsYBpYsIl3qpbkxAk3fcZsXyDFth5GPUyMDOHX6NJa2d2BRsh6Z9BS0UAi1yTpkiyWMjqWQjCWQSNZgaLAHy1oXYXI6g2hNDVKpEeQxBscYw+NPfRl6eIz5wMsqRe+LgELWVRRlUGDZLieWpMkmpxM7hKjSjuvW3YPVbTcCTj0UmQgrRZA9wg+eGM8iyXIe//ngZ3Hs/n/E3S06XMtBQa/BUNGBohqAWYSmUoEdFU4oglQpj/7pKSxqbkStVcLihIG2liROD/Rj7ZYrcXL/HkiagY233o5TRw5jeHQcW665FruPHEZdsg6jfadRF84jVJNEy5LL0H1kJ/JyCI/sm8KNt34E1259B/OIp9wiqnVRqaU8+/myyF+cyLbD8wtkckuxabQ1MZ0bA5mN19bWstVSqsLKqs7SuO5JmlgVWzITIFteL5BCo7Vfd5jTXJJT8vVU+rfNEn5pMkFJq+couuQFfvgbhTvf8J/oTcGrvdILp+jYOHb6BA4dPwLLNtnkraGxAVrYwJ79+xENRRANhzA1NQXbcdG1bBkK+TwisRiGh4aQrK1FvlgAvd/HhsewiNx9Jqdwx7U3s2eBAk4sQMSCRDTxqEh6eJv45/zdV+36Pxvj6gABf8qr61hXv9PoLrm/ji9l4sfSp5QbZiI9OIyhEyfRtagFk919GBwcwOU3Xw+jNonunS+hVLKx5uZrYMcoPdV4DS4CCzMOCeIeDFdB3APgJoh7ANDEIQIBgYBAYI4IMIJGNpBE7SwbrqJg14GD+I+vfAnX33ADOhe3sYjivr37kUpP4uobrsXjTz6O5Z3LMTk2jetv3I4vfeE/8Def/AQ+/9WvYNOWrXjmsWdw1bUb0TtyBKd7duDX33kLJtMnkZo+jalsH2zkGAmn6C4FGFSFpDIGamPtaG5YjVVLtqIlfhk0tx6uG2JVPllVSvKqZRtpiSnqTjKcAh599OvY8cC/YLVewuREBgNTOeQsF1dcvhrLli2CJKdhOnnk8iYmCxbGsiUUsyU0l4BOTUVzXRiZCFBM2HAiJqvy2pBswPDUFMJ6FEs7V2EqW4BlllHMpRCNmCgqIUy6MYyOpjCWcXF0WMX73vfXWLfqelbxk3AlcsnYuScyYjIzjxxbjo2p7BQsy2JBGEmWmHuO7ZooOwVossIIK3MOY/J4cumh3zMfRC4x8ot0elI7lljsraZ6whgWgfaJbyQShqGRIxhd69XX4vikztv8VQ7yTXcslB0bpm3xyqa0+usvAVNbPMMEIuf0cyRMRsQudFljxQJty4KhGaxYEbWZHGlI9hlVQpWcqjm0b46P+Kzdzr/ad+5gjEXOQK6D7PAghg7sx4qOThR7ezDa3wuENLiKjlNn+tG1fhOW3LgNbjgMmVklvzq+Qdof9BhB3IMhJ4h7ANwEcQ8AmjhEICAQEAjMEQGKV5IsQvXsFSni/tATT+Cnu3fho3/25zAUDQN9A3jksUfRQ9UwIzrqExH83vt/Dz/60U9x+MQpjI0O4yMf/j18/htfw7FTp3DT1Tfgmq1X4Rvf+CK6ulrw5rtuga6Ukc+NYDLfjUxhELniJEy7CF0NIxpOIq43IRZtQ210CQwlycrIcxmNwUiqTAt9VCnT03GTmwf5eLtSCceOv4hvfu6fMHr6CEvKvOb67SgW00j1H8Ndd23Bxk2LYWEKCiyYOQkn9vRi8OAwEsUY1MFhGKU0JpJlFNdGkGt1kBsdRX0oDldSIeclRN0oJFuCZVrM2WusWMRoycZkWYdW24625ZuxZs212Hz5TYjoSba6ydL/PR35TOK/1ydMj+1YyJSyKJZK3PveM/alG7Qkk5F5Fbwipxd7ZhIQKtw0Qz4p75f565BfPl2PS2i49IkuRg3gP1PEPGQYMDSdRdznQtyrHyGKnNNtsb+9tjokRaHPbJvLb0i66edJKRLKkgNVUvmaLa0Qk9LeI+u0wsMsM72bod+rymw3FiL1P8+NZYg5gG3a0Ep5DOzaATWXRd+hvXBtE3XNzYiGEsiEI+jcejVCjU2wZQWqFrA44QLerCDuwcAVxD0AboK4BwBNHCIQEAgIBOaIAPOUcW1oElE7iSX1TRYK+OTf/g1GxibwB7//YXz+Pz6HP/zon2DfoX145qc/xbbNG/Arb3wzdr54EM/85GfI5DP40z/6IL707fvxkxeex7b1V+Kma6/DM0//GLfddCM2X74KGoo8URUmi5STcwuPDlNkmQgaJfVRkR0ioTJkhdv9SSSL8eSAPNmSF2UiMk/SDXKZMa0ssukxHDt8GMtXrkEsWYNCMY1v/PvfY++OH+KWGy/DHW/YgnjIhjtdxsDTxxEbV1Ebq0N2ZBx9x49gXMsidGMbhpaYGJwegeZSIZ0Ipk5OocVYjPp4E3r6JrHnWD/saAPWX3E1brnlDWjrugKuFvWK7pD+24VkcB0+EVtWjGkmas2tdwnzolXAiTMncejwIeiGjk0bN6Ontwcbt2zB87t3wLJsRI0Q1q9aBymk4tFHH2XyE0Lv+pu2wzUtPPHU47h5+01oDNcya2BK1rRtF1A52SeNN014uAoebEVFYzIZnuQZZGNRcs9jjB3PJie0jMClJiT5oRUckuXQxVltEI+A09/UMvo9TRy4/In/nn/GJTF+pP/nTtxdqmcgQbJtqIUSXnj4YcRVGauv3siLlak6fvaDx7Dt7jcCyQRcVWOfXYybIO7BekUQ9wC4CeIeADRxiEBAICAQmCMCvpaZCBaLiEoyKBXRlICHH38Ce17ci9GRMXzoQ7+LnS+9hJJl4/CePfjg+96PZ559DktXrsF3vvs9vPe9/wWPPfM4sy2MywZu3n4j7v/mt/GGW2/HhrUrQGmKFPqdcT5hyZWsdJznMERuMaTR5mk2TB/O7CldRgaZ8w2vUMRIO0WXidgRwVXJEMu1WTTXVQxY5DhCxaCK03jq4W/hqSfvR13Swu3bN6NN0TH2+F7Uj9qIxULITGcxOTmFKTeLwSU2xq4MoZxwEQpHYEhRjJzIYdPya3Fs32ns2XsaS7u24Pc/8j9RW9ME1dVQpnrUkgydJCO+dN8tQaICdY7CQ+LMiYsYKUXEuW66DBsPfP8B1NbXYvnKLgyPjGDx4nZkcjn86Okf4eZbb4NTKqFr6XJ87dv3Y/nyZdiy6Qp86p//DrfccRvGBoeQTk8jmUxi5dJVMAsljAwPY/nSZRgdH0NzawvGJlKIRmMo5QtIDY/hjptuYRVtNVY8b361PatlM4xok08/dZ3XP2yS5RVFYupx1rlVkxavQCBLBOfSed7/LNeKEsRJ5z/Hh/Z12o3aZjpkPUnk3YVUMuFSNF2mHDPKE5NwZNderN60AY4uM0cZuhlZFj7ur1MXzbrMwMAAClRw8gJugrgHAFMQ9wCgiUMEAgIBgcA8EOCRbb5ZLjCRy2K6WMTpM2dw8OAhLGnvwNTENLL5HK7YsgUjQ4NIDY2iPlmHa7dfi5f27cfYyDAjpbfedise/+FDaG5pQalYxub1G9C2qAEyFQZijJxrvkmgQ1FL2jiJ9OK4zLKKCivpTOLhqyX8fXkgl5N6dizTexObt+EwhxGSZlDFVQmSQ5r4Eo6f3Ifnn3sQh3c+hXbZwdqSjK4iELLzKJs2pssOI+5DSxxkbqgF6mUohoqRsSy6T5cwnTJQTNtIp8p44+3vwAfu+wvoTgyqY8CBznTelCPK7ot0+1IJsksF7lTPKt3TT3suXpREOl3KYHhyFA8/+Rg2bN6IJ59+GjffdDPTZuze8QLe8ra3YffPXsBb3vhmfPgvPoq/+uQngbKJf/viZ7B85Qo01zcgNTHBrDrJQYX08eNjY7h6y1U4cOAAWlpbMDw2htpEAvlMHmMDQ/i9334fNCjQJfr//MilHxlnf1fLdZibJF878VNZqdPI62DGTccT9/OJmhdRp76VKxF3fn7enxfTRtMsWmVgEqAZ216vbBabWJLTDT2U9FzyuieV6icXz52IiHuwvhDEPQBugrgHAE0cIhAQCAgE5oOApzMm/bIjSXh+90784OGHEaupwW233IL169YxGz0SeSgqVT+VYRaKCKkqJJUXbrJKFiNehq4zzTMlX5KXpMH8x73oqk/QPf/y2U4efjofUUDP3epl91AdkvXCtswL3o9qU1SejqY//LpkG+iijHJpGqmxM/jPr/4/5HbtwDWRGJoLWRSdMoY0F6lYEdPtJkJXJqAmFWTyeZTKBsZSOoZHgXy2hOyYjYTegf/zt19BjdYI2QmxGyPdOSt86rVXRtmLZ3ObwkqBCG7+SMT90MnDONF7GmXXQl1jA77/gwfxpje/CT3HT2J6LIV16y9nspZrt16DL3/rG1ixYgXy6TQSTfX46Y6fYe2KlWwOtPfgAazffAXS6TR6zpzBO9/+Dtz/zfvR3tmBAwcP4I477sRA7wByE1N4/2++F6ojwZB1yKwA09y3WambZ2V4+gmx1QF2P6I+UxSvKjH3bG9eHnmvTNLm3qrXZ0+eaOyt9njzCh8PPuHwZEfe7y6uqQfHSBD3YM+KIO4BcBPEPQBo4hCBgEBAIDAPBMhWUGbRT+59TfIAiSwNPbIC24KmUQTcY2xM12yT0pxfhRJbHbI/rBQvZjXfGOHxCLnif3ARAAAOvklEQVT3y2pyd256Tuek6Hz1VlWleeZjn7jTB9zmlv8hIQoVfOJlcNhvmI2kzRJZe7oP4Qv/678jMT6ErnAIkmFC6gzDbANSxiTchMtsL9NZE5FoHSYmgQOHe1Ff34z8lIIjL47gTz74cbzpjl+D4vKiUJ7WgxF3Tuh4UTva/IJIfrNZwiNclGzya8+ibFqIJeIoFIsw9BCsUhGGqsGihE8XCOsGLAWYnJ5GSNGgRkIoka++px2n/ARXlWGTnp2SUEmuwi/MJk627TCLTMUB6qJxGBJ3PGEuMPPYXom4zzrNK7DW8zu68DNcjIS3ct+sytNMnvDM557jz0wO8TwwfT13FcQ9GNqCuAfATRD3AKCJQwQCAgGBwBwR4NIFX2/s/YOos00e6eShzeUfpNvl+mzy9K6iYFS4ibFx7k1I0g1GCWexNK/iMqsP4W2M73qa9ll6a17JdTaVmwtxn31NagdvlcvuRWENc1G28zh+ZBcee/B+nDp6FFPZU7jy+jY0rYyjb7wfilaD7LSCJ5/YiSUrFmNR02J0nyILSxmFnIaQ2oIPve/PcOM1t0EHJSL6kwyKYPPkU74RUnQvXBpUTUoZeWe2OFzfzTg2yX9IN87cW4j6kw2hV1WZVjUcl9kmWp5WXJU4KaeDFUWCY9ue7SNdl4g5PweveEsH0fEkH+ISFfpzQbbqSPrMnZ/to3NBrvRzOQnDcKYWbWV6yD3mq5/li3Pi4YMmiHuwx0cQ9wC4CeIeADRxiEBAICAQmCMCM7pkn14yv0HO5FkeIfu54j/O9MuelIVztkrVHuLGM0S0mrgzhkOFbM5yMvGTNtk5fJ2BXwiOboBR2nPEYv3ouk8+q0ioFxVlSbBeG1ixOjYZceEoRGvLyOUm0NvfjceffAA79jwGKepgYGgQYa0GmlyLW7bfiVx2GnsP7Ecum4chG7jp5jux/Ya70NW1FhElDpk07JSRSlVlXapoSoXu2D+9ixPt45IUzxhnZj7CkjuJ9Hue7IQzi5YzRYbXeNKJs8mQd17v/Cy6zrQ5lAtAxJznKDD9P9Oc88uwiRZz3qlE17kNo28AP8eH5JV2O0cY3bOYn6WIuQBX+rmcgt2e9xWg++LVafl0jJt+znQpf97oz/wWM16X+xLEPRjMgrgHwE0Q9wCgiUMEAgIBgcAcEajIX7glH8uz82UUngsMkUwimMzqj1kMerZ9s6KO3Im8IhCpYvG+jMXziudMtkrqwphe9f5VdGiWM0lFDlMh9JylzujLz0HcTR6YZppwdgabiC/ZTZaQK01i7+EX0T3Qj872JWhpaEJNvAF1iQa4ZhmT2WnkiyUkQ1HEYnEoBvmgK4yokzyI5iJsRYJVpubnJ4lL9f1xv56qFQGWpMpbTB76JKfxzBG50MbiGDObc28S5cfmWQEmb8LEiKPtQFUpWbeiEff7i/msK5VEXqpSq9JJLyBvn3nMzibwVVVYeXt/gTfvsXNm5THwJ7BSEuysVaaL7IYFcQ/2/AniHgA3QdwDgCYOEQgIBAQC80HA8WwaWfEeThZZlJrCvYwQchbiR7BnguMzUgGiLxWy7UeZK4StohSuNIsTfe4OyEP6/OezSN6syH21jIZok8fE6eoeUWLRbhKJSMxbBnDVmd9RtJnmHDymz6/mOAVANiG5pNHnRYTIytHf15IdRs4Mm4pBkcSErx7wGD6JhritJQlTOHHn2nrO0ysrA9UrE3yRglsKzmDLihNxrPn5yBqdlS5iJH5m5aMKJZ8bUl/50X7ujU75B1wuQ+dgqyesb30XF28iMZ9n5BxdOKtrZp3rXP1dtcM5ovTebGQ+LXqd9vWtPP0Hs3r5yV+J8idTfpMuvpC7IO7BHhdB3APgJoh7ANDEIQIBgYBAYK4InKXT9anz2dTrbI32DCmnCDDTavtEmVhnRQXPpwKefsOXcMwEJ30TwQrF92n7zPWq2scpt//BbAlNZTefWDNKzXQLjjfTYPMQl/zHuRMMj1LbUMiDfcadhsXMWVSeFh5IbkLFhFSqTsomMyxkz8gwkXdW1ZU11m9bpV28Tb7V5tkhWE7rfYpf0SPxT892RSQyzhrENsLa+5nuw5twVXe5l6I6o92o9mHnMqh5hoRfhbhX9+A5pl+zn8ZzEfd5Nmeuj/dr368632JGg1Q5rTeb9SdpfI9zybtee0teyxkEcQ+GniDuAXATxD0AaOIQgYBAQCCwwAjM4tMsAk383YtG+iSsmuy9bILgN5BIqB+ZJrrJCelFy+MWGNfzn/5VothzbJfvxz7H3cVuvyQIXArE/UIXX2Lj0O7du8+3QPRL8mhc+NsQxP3CYyrOKBAQCAgELhgC1Qz+vNoJn5j7V61Ejme1gzTwgrFfsK4RJxII+AhcCsR9IXpbEPcAqAriHgA0cYhAQCAgEFhIBGbIOtNp8Cud0xvPjxJz+UpF5uJF5vmB/PhZ1XtEyH0hu0+c+9JDQBD3YH0uiHsA3ARxDwCaOEQgIBAQCCw4Ar5tI/cp95NTubKcxC8+Weepmjx90vdt94n6WdIavqM3EVjwGxAXEAhcMggI4h6sqwVxD4CbIO4BQBOHCAQEAgKBBUaAeZAzOu4XGCLPckpRJYdx7nDN96FEVZ4qOZOyd5ak5uUKmwuj515gCMTpBQK/MAgI4h6sqwRxD4CbIO4BQBOHCAQEAgKBBUTAd0vh5JyMB/1QuV8T3ne45h7ljiszS0bmEc8NFGdF1X0RDY+/+04zF5+l3gJCKk4tEFhQBARxDwavIO4BcBPEPQBo4hCBgEBAILCACDBrcL840KxsUt8hhii4DYn8FslGsVoBQ+ydfc69ZFhRJ6+tPnG/aMtPLiCm4tQCgYVEQBD3YOgK4h4AN0HcA4AmDhEICAQEAguIAPNCp//Iw5wEMFTUiPzcWVVVj5ITOXep4A99QAWeuGUkq8rKCgPxokC0sb9EcuoC9pg49aWOgCDuwZ4AQdwD4CaIewDQxCECAYGAQGDBEKCqqqYXclcgUSUjRWbVRZmG3bVhShYUV2U1RG3HhawAllWCpGisOBNV+mSk3QVUVvyISD41uEoeI2whF6wHxYkvPQQEcQ/W54K4B8BNEPcAoIlDBAICAYHAgiHgomwVYNkSXFmHVSpDDxvImBbCqoZCPoecU0TUqIHmqpBUCcViEeGwhlyhBCMaQbFkIZfNQYaFzqYGqEzXbgMUnffJuyDuC9aD4sSXHgKCuAfrc0HcA+AmiHsA0MQhAgGBgEBggRAgiUzRLGEqV8T4ZAHxcBjxZAz7T/ZjRcdiHDt6Esn2RpQLQDntoLWzDsePncLaVR3Yc+AYlq1ag8GRMSQTOsKaixUti2AAUGF5Sauz0lcX6C7EaQUClxYCgrgH629B3APgJoh7ANDEIQIBgYBAYIEQIEVL0XWRL7s43T2ElqY69A2O4HD3ADavXwVDjeHkcC8MJY5i1kZNfQL59ASWtTdiYHQKWdNCrliA65gIKRZu37YRIZbCyj3eeXoraedFEdUF6kJx2ksQAUHcg3W6IO4BcBPEPQBo4hCBgEBAILBACBBxNwGULCA1MYVoJIIz3T1oW9KJ6ekchgZHYEsu4vEEVEVHPp9HRFPR3FiHkclJhOIxHO/uhipL0CQH2zavR0QGc3unzaXE1WrP9wW6D3FagcClhIAg7sF6WxD3ALgJ4h4ANHGIQEAgIBBYQATKLhVbImcYXh+VYuPM1tFxIMkyLJvnrlISqqpIgOlClSSUeTYqig6gMScZQIcLg3m8u9xtxiPuXk3VBbwLcWqBwKWDgCDuwfpaEPcAuAniHgA0cYhAQCAgEFgwBFxYTpnp0V1m/6igZJahawYc5iAjcycZmawgXdiuA5X2JmIuazCpuqrEa6vSHwUOj7b75vCy0LgvWNeJE1+yCAjiHqzrBXEPgJsg7gFAE4cIBAQCAoEFRMCxTUiSPOPDzr0cqSqTBMe2ISsKj75LEmzHZrIYvhGppwA9/Z4i7C40ish7cXvPUFKo2xew78SpL00EBHEP1u+CuAfATRD3AKCJQwQCAgGBwAIiQLWWGNn2/NhdllLKCbjtEXb6JxVqUpiEhhxjiNxTbJ0Iv8JaJzFCX103lc7gFWVawPaLUwsELjUEBHEP1uOCuAfATRD3AKCJQwQCAgGBwAIiwIqiVsXFWS0lxuOpsJL/t8z+TcSc1UyVeCVVlUXbvWqptDNVVfXIut9koW9fwM4Tp74kERDEPVi3C+IeADdB3AOAJg4RCAgEBAILiADRcZ6UOjfLRkplpbg607S7PDZffTD9zneSmes5F/D2xKkFAr90CAjiHqxLBXEPgJsg7gFAE4cIBAQCAoEFRIBo+MuJO9HyyuYr130xjO0R9xl/9qoTvOxc1eH8BbwPcWqBwKWCgCDuwXpaEPcAuAniHgA0cYhAQCAgEFhQBEje4htB+hfy4+je3z755gqZWUSf7eGzdSajOaux7Hcko1nQmxAnFwhcMggI4h6sqwVxD4CbIO4BQBOHCAQEAgIBgYBAQCAgEPAQEMQ92KMgiHsA3ARxDwCaOEQgIBAQCAgEBAICAYGAIO6v6RkQxD0AfIK4BwBNHCIQEAgIBAQCAgGBgEBAEPfX9AwI4h4APkHcA4AmDhEICAQEAgIBgYBAQCAgiPtregYEcQ8AnyDuAUAThwgEBAICAYGAQEAgIBAQxP01PQOCuAeATxD3AKCJQwQCAgGBgEBAICAQEAgI4v6angFB3APAJ4h7ANDEIQIBgYBAQCAgEBAICAQuEHG/VIEUxD1AzxNxj8fjAY4UhwgEBAICAYGAQEAgIBAQCAwNDSGTyQgg5omAIO7zBEzsLhAQCAgEBAICAYGAQEAgIBD4eSAgiPvPA3VxTYGAQEAgIBAQCAgEBAICAYHAPBEQxH2egIndBQICAYGAQEAgIBAQCAgEBAI/DwQEcf95oC6uKRAQCAgEBAICAYGAQEAgIBCYJwKCuM8TMLG7QEAgIBAQCAgEBAICAYGAQODngYAg7j8P1MU1BQICAYGAQEAgIBAQCAgEBALzROD/B5X+B+p7hmfB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fr-FR" altLang="fr-FR">
              <a:latin typeface="Calibri" pitchFamily="34" charset="0"/>
            </a:endParaRPr>
          </a:p>
        </p:txBody>
      </p:sp>
      <p:pic>
        <p:nvPicPr>
          <p:cNvPr id="10" name="Picture 31" descr="http://www.poulinagroupholding.com/images/societe/medoil_logo.gi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500188" y="3857625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3" descr="http://www.poulinagroupholding.com/images/societe/gipa_logo.gif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57188" y="3714750"/>
            <a:ext cx="1143000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35" descr="http://www.poulinagroupholding.com/images/societe/sokapo_logo.gif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428750" y="3143250"/>
            <a:ext cx="1143000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39" descr="http://www.poulinagroupholding.com/images/societe/carthago_ceramic_logo.gif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643813" y="2643188"/>
            <a:ext cx="1281112" cy="928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37" descr="http://www.poulinagroupholding.com/images/societe/briqueteri.jp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286500" y="2500313"/>
            <a:ext cx="1357313" cy="687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47" descr="http://www.poulinagroupholding.com/images/societe/mazeraa_logo_128.gif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0" y="1428750"/>
            <a:ext cx="156368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49" descr="http://www.poulinagroupholding.com/images/societe/sna_logo_180.gif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1500188" y="1500188"/>
            <a:ext cx="1857375" cy="500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905" name="ZoneTexte 17"/>
          <p:cNvSpPr txBox="1">
            <a:spLocks noChangeArrowheads="1"/>
          </p:cNvSpPr>
          <p:nvPr/>
        </p:nvSpPr>
        <p:spPr bwMode="auto">
          <a:xfrm>
            <a:off x="357188" y="2643188"/>
            <a:ext cx="27146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altLang="fr-FR" sz="2400" b="1">
                <a:solidFill>
                  <a:srgbClr val="00B0F0"/>
                </a:solidFill>
                <a:latin typeface="Candara" pitchFamily="34" charset="0"/>
              </a:rPr>
              <a:t>Agroalimentaires </a:t>
            </a:r>
          </a:p>
        </p:txBody>
      </p:sp>
      <p:sp>
        <p:nvSpPr>
          <p:cNvPr id="19" name="ZoneTexte 18"/>
          <p:cNvSpPr txBox="1">
            <a:spLocks noChangeArrowheads="1"/>
          </p:cNvSpPr>
          <p:nvPr/>
        </p:nvSpPr>
        <p:spPr bwMode="auto">
          <a:xfrm>
            <a:off x="5357813" y="1428750"/>
            <a:ext cx="3786187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altLang="fr-FR" sz="2400" b="1">
                <a:solidFill>
                  <a:srgbClr val="00B0F0"/>
                </a:solidFill>
                <a:latin typeface="Candara" pitchFamily="34" charset="0"/>
              </a:rPr>
              <a:t>Matériaux </a:t>
            </a:r>
          </a:p>
          <a:p>
            <a:pPr algn="ctr"/>
            <a:r>
              <a:rPr lang="fr-FR" altLang="fr-FR" sz="2400" b="1">
                <a:solidFill>
                  <a:srgbClr val="00B0F0"/>
                </a:solidFill>
                <a:latin typeface="Candara" pitchFamily="34" charset="0"/>
              </a:rPr>
              <a:t>de construction </a:t>
            </a:r>
          </a:p>
        </p:txBody>
      </p:sp>
      <p:pic>
        <p:nvPicPr>
          <p:cNvPr id="20" name="Picture 21" descr="http://www.poulinagroupholding.com/images/societe/ettaamir_logo_120.gif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643563" y="5286375"/>
            <a:ext cx="78105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23" descr="http://www.poulinagroupholding.com/images/societe/poulina_btp.jpg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572250" y="5357813"/>
            <a:ext cx="2324100" cy="1071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ZoneTexte 21"/>
          <p:cNvSpPr txBox="1">
            <a:spLocks noChangeArrowheads="1"/>
          </p:cNvSpPr>
          <p:nvPr/>
        </p:nvSpPr>
        <p:spPr bwMode="auto">
          <a:xfrm>
            <a:off x="5072063" y="4286250"/>
            <a:ext cx="4071937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altLang="fr-FR" sz="2400" b="1">
                <a:solidFill>
                  <a:srgbClr val="00B0F0"/>
                </a:solidFill>
                <a:latin typeface="Candara" pitchFamily="34" charset="0"/>
              </a:rPr>
              <a:t>Immobilier </a:t>
            </a:r>
          </a:p>
          <a:p>
            <a:pPr algn="ctr"/>
            <a:r>
              <a:rPr lang="fr-FR" altLang="fr-FR" sz="2400" b="1">
                <a:solidFill>
                  <a:srgbClr val="00B0F0"/>
                </a:solidFill>
                <a:latin typeface="Candara" pitchFamily="34" charset="0"/>
              </a:rPr>
              <a:t>&amp; travaux publics</a:t>
            </a:r>
          </a:p>
        </p:txBody>
      </p:sp>
      <p:pic>
        <p:nvPicPr>
          <p:cNvPr id="23" name="Picture 43" descr="http://www.poulinagroupholding.com/images/societe/aster_informatique_logo.gif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85813" y="6057900"/>
            <a:ext cx="1143000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45" descr="http://www.poulinagroupholding.com/images/societe/rumulus_logo.gif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286000" y="6143625"/>
            <a:ext cx="1143000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ZoneTexte 24"/>
          <p:cNvSpPr txBox="1">
            <a:spLocks noChangeArrowheads="1"/>
          </p:cNvSpPr>
          <p:nvPr/>
        </p:nvSpPr>
        <p:spPr bwMode="auto">
          <a:xfrm>
            <a:off x="0" y="5000625"/>
            <a:ext cx="4071938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altLang="fr-FR" sz="2400" b="1">
                <a:solidFill>
                  <a:srgbClr val="00B0F0"/>
                </a:solidFill>
                <a:latin typeface="Candara" pitchFamily="34" charset="0"/>
              </a:rPr>
              <a:t>Commerce </a:t>
            </a:r>
          </a:p>
          <a:p>
            <a:pPr algn="ctr"/>
            <a:r>
              <a:rPr lang="fr-FR" altLang="fr-FR" sz="2400" b="1">
                <a:solidFill>
                  <a:srgbClr val="00B0F0"/>
                </a:solidFill>
                <a:latin typeface="Candara" pitchFamily="34" charset="0"/>
              </a:rPr>
              <a:t>&amp; Services</a:t>
            </a:r>
          </a:p>
        </p:txBody>
      </p:sp>
      <p:pic>
        <p:nvPicPr>
          <p:cNvPr id="30" name="Son enregistré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6" cstate="print"/>
          <a:stretch>
            <a:fillRect/>
          </a:stretch>
        </p:blipFill>
        <p:spPr>
          <a:xfrm>
            <a:off x="4419600" y="3276600"/>
            <a:ext cx="304800" cy="304800"/>
          </a:xfrm>
          <a:prstGeom prst="rect">
            <a:avLst/>
          </a:prstGeom>
        </p:spPr>
      </p:pic>
      <p:pic>
        <p:nvPicPr>
          <p:cNvPr id="26" name="Picture 15">
            <a:extLst>
              <a:ext uri="{FF2B5EF4-FFF2-40B4-BE49-F238E27FC236}">
                <a16:creationId xmlns:a16="http://schemas.microsoft.com/office/drawing/2014/main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460" y="0"/>
            <a:ext cx="3682540" cy="2146032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7" dur="23954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78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0"/>
                </p:tgtEl>
              </p:cMediaNode>
            </p:audio>
          </p:childTnLst>
        </p:cTn>
      </p:par>
    </p:tnLst>
    <p:bldLst>
      <p:bldP spid="19" grpId="0"/>
      <p:bldP spid="22" grpId="0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me 4"/>
          <p:cNvGraphicFramePr/>
          <p:nvPr/>
        </p:nvGraphicFramePr>
        <p:xfrm>
          <a:off x="609600" y="914400"/>
          <a:ext cx="8077200" cy="5257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0" y="285750"/>
            <a:ext cx="8229600" cy="430213"/>
          </a:xfrm>
        </p:spPr>
        <p:txBody>
          <a:bodyPr lIns="0" tIns="0" rIns="0" bIns="0" rtlCol="0">
            <a:spAutoFit/>
          </a:bodyPr>
          <a:lstStyle/>
          <a:p>
            <a:pPr marL="95250" algn="l" eaLnBrk="1" fontAlgn="auto" hangingPunct="1">
              <a:spcAft>
                <a:spcPts val="0"/>
              </a:spcAft>
              <a:defRPr/>
            </a:pPr>
            <a:r>
              <a:rPr sz="2800" b="1" i="1" u="heavy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spc="-5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la valeur ajoutée</a:t>
            </a:r>
            <a:r>
              <a:rPr sz="2800" b="1" spc="3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5" dirty="0">
                <a:solidFill>
                  <a:srgbClr val="00B0F0"/>
                </a:solidFill>
                <a:latin typeface="Trebuchet MS"/>
                <a:cs typeface="Trebuchet MS"/>
              </a:rPr>
              <a:t>:</a:t>
            </a:r>
            <a:endParaRPr sz="2800">
              <a:solidFill>
                <a:srgbClr val="00B0F0"/>
              </a:solidFill>
              <a:latin typeface="Trebuchet MS"/>
              <a:cs typeface="Trebuchet MS"/>
            </a:endParaRPr>
          </a:p>
        </p:txBody>
      </p:sp>
      <p:pic>
        <p:nvPicPr>
          <p:cNvPr id="6" name="Picture 15">
            <a:extLst>
              <a:ext uri="{FF2B5EF4-FFF2-40B4-BE49-F238E27FC236}">
                <a16:creationId xmlns:a16="http://schemas.microsoft.com/office/drawing/2014/main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460" y="0"/>
            <a:ext cx="3682540" cy="2146032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-1571668" y="0"/>
            <a:ext cx="6586526" cy="1143000"/>
          </a:xfrm>
        </p:spPr>
        <p:txBody>
          <a:bodyPr/>
          <a:lstStyle/>
          <a:p>
            <a:pPr marL="1827530" algn="l" eaLnBrk="1" fontAlgn="auto" hangingPunct="1">
              <a:spcAft>
                <a:spcPts val="0"/>
              </a:spcAft>
              <a:defRPr/>
            </a:pPr>
            <a:r>
              <a:rPr lang="fr-FR" sz="3200" b="1" dirty="0">
                <a:solidFill>
                  <a:srgbClr val="00B05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Critère sectoriel</a:t>
            </a:r>
            <a:br>
              <a:rPr lang="fr-FR" sz="3200" b="1" dirty="0">
                <a:solidFill>
                  <a:srgbClr val="00B050"/>
                </a:solidFill>
                <a:latin typeface="Times New Roman" pitchFamily="18" charset="0"/>
                <a:ea typeface="+mn-ea"/>
                <a:cs typeface="Times New Roman" pitchFamily="18" charset="0"/>
              </a:rPr>
            </a:br>
            <a:endParaRPr lang="fr-FR" sz="3200" b="1" dirty="0">
              <a:solidFill>
                <a:srgbClr val="00B050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4911741"/>
          </a:xfrm>
        </p:spPr>
        <p:txBody>
          <a:bodyPr/>
          <a:lstStyle/>
          <a:p>
            <a:r>
              <a:rPr lang="fr-FR" altLang="fr-FR" sz="2400" dirty="0">
                <a:solidFill>
                  <a:srgbClr val="002060"/>
                </a:solidFill>
                <a:latin typeface="Candara" pitchFamily="34" charset="0"/>
                <a:cs typeface="Times New Roman" pitchFamily="18" charset="0"/>
              </a:rPr>
              <a:t>Ce critère est basé sur l’activité économique de l’entreprise. </a:t>
            </a:r>
          </a:p>
          <a:p>
            <a:r>
              <a:rPr lang="fr-FR" altLang="fr-FR" sz="2400" dirty="0" err="1">
                <a:solidFill>
                  <a:srgbClr val="002060"/>
                </a:solidFill>
                <a:latin typeface="Candara" pitchFamily="34" charset="0"/>
                <a:cs typeface="Times New Roman" pitchFamily="18" charset="0"/>
              </a:rPr>
              <a:t>Clarck</a:t>
            </a:r>
            <a:r>
              <a:rPr lang="fr-FR" altLang="fr-FR" sz="2400" dirty="0">
                <a:solidFill>
                  <a:srgbClr val="002060"/>
                </a:solidFill>
                <a:latin typeface="Candara" pitchFamily="34" charset="0"/>
                <a:cs typeface="Times New Roman" pitchFamily="18" charset="0"/>
              </a:rPr>
              <a:t> découpe le système productif en 4 grands secteurs d’activité  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2BB5E1-F19D-4940-85D2-92E472CFC44C}" type="slidenum">
              <a:rPr lang="fr-FR" smtClean="0"/>
              <a:pPr>
                <a:defRPr/>
              </a:pPr>
              <a:t>38</a:t>
            </a:fld>
            <a:endParaRPr lang="fr-FR"/>
          </a:p>
        </p:txBody>
      </p:sp>
      <p:graphicFrame>
        <p:nvGraphicFramePr>
          <p:cNvPr id="9" name="Diagramme 8"/>
          <p:cNvGraphicFramePr/>
          <p:nvPr/>
        </p:nvGraphicFramePr>
        <p:xfrm>
          <a:off x="928662" y="2285992"/>
          <a:ext cx="7215238" cy="38100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15">
            <a:extLst>
              <a:ext uri="{FF2B5EF4-FFF2-40B4-BE49-F238E27FC236}">
                <a16:creationId xmlns:a16="http://schemas.microsoft.com/office/drawing/2014/main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460" y="0"/>
            <a:ext cx="3682540" cy="2146032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6BD501C4-728F-4A23-8584-3B85170D0332}"/>
              </a:ext>
            </a:extLst>
          </p:cNvPr>
          <p:cNvSpPr>
            <a:spLocks noChangeAspect="1"/>
          </p:cNvSpPr>
          <p:nvPr/>
        </p:nvSpPr>
        <p:spPr>
          <a:xfrm>
            <a:off x="2641730" y="2353457"/>
            <a:ext cx="1680795" cy="2706421"/>
          </a:xfrm>
          <a:custGeom>
            <a:avLst/>
            <a:gdLst>
              <a:gd name="connsiteX0" fmla="*/ 60233 w 2241060"/>
              <a:gd name="connsiteY0" fmla="*/ 1167 h 2706421"/>
              <a:gd name="connsiteX1" fmla="*/ 87462 w 2241060"/>
              <a:gd name="connsiteY1" fmla="*/ 1589 h 2706421"/>
              <a:gd name="connsiteX2" fmla="*/ 130562 w 2241060"/>
              <a:gd name="connsiteY2" fmla="*/ 31546 h 2706421"/>
              <a:gd name="connsiteX3" fmla="*/ 134598 w 2241060"/>
              <a:gd name="connsiteY3" fmla="*/ 53983 h 2706421"/>
              <a:gd name="connsiteX4" fmla="*/ 1686515 w 2241060"/>
              <a:gd name="connsiteY4" fmla="*/ 392416 h 2706421"/>
              <a:gd name="connsiteX5" fmla="*/ 1667482 w 2241060"/>
              <a:gd name="connsiteY5" fmla="*/ 444418 h 2706421"/>
              <a:gd name="connsiteX6" fmla="*/ 1666442 w 2241060"/>
              <a:gd name="connsiteY6" fmla="*/ 444192 h 2706421"/>
              <a:gd name="connsiteX7" fmla="*/ 1623585 w 2241060"/>
              <a:gd name="connsiteY7" fmla="*/ 561287 h 2706421"/>
              <a:gd name="connsiteX8" fmla="*/ 1549892 w 2241060"/>
              <a:gd name="connsiteY8" fmla="*/ 1048719 h 2706421"/>
              <a:gd name="connsiteX9" fmla="*/ 2146389 w 2241060"/>
              <a:gd name="connsiteY9" fmla="*/ 2313564 h 2706421"/>
              <a:gd name="connsiteX10" fmla="*/ 2241060 w 2241060"/>
              <a:gd name="connsiteY10" fmla="*/ 2384358 h 2706421"/>
              <a:gd name="connsiteX11" fmla="*/ 2033364 w 2241060"/>
              <a:gd name="connsiteY11" fmla="*/ 2706421 h 2706421"/>
              <a:gd name="connsiteX12" fmla="*/ 1909423 w 2241060"/>
              <a:gd name="connsiteY12" fmla="*/ 2613740 h 2706421"/>
              <a:gd name="connsiteX13" fmla="*/ 1177358 w 2241060"/>
              <a:gd name="connsiteY13" fmla="*/ 1061430 h 2706421"/>
              <a:gd name="connsiteX14" fmla="*/ 1267799 w 2241060"/>
              <a:gd name="connsiteY14" fmla="*/ 463218 h 2706421"/>
              <a:gd name="connsiteX15" fmla="*/ 1303715 w 2241060"/>
              <a:gd name="connsiteY15" fmla="*/ 365090 h 2706421"/>
              <a:gd name="connsiteX16" fmla="*/ 122908 w 2241060"/>
              <a:gd name="connsiteY16" fmla="*/ 107587 h 2706421"/>
              <a:gd name="connsiteX17" fmla="*/ 109897 w 2241060"/>
              <a:gd name="connsiteY17" fmla="*/ 126306 h 2706421"/>
              <a:gd name="connsiteX18" fmla="*/ 58238 w 2241060"/>
              <a:gd name="connsiteY18" fmla="*/ 135600 h 2706421"/>
              <a:gd name="connsiteX19" fmla="*/ 15137 w 2241060"/>
              <a:gd name="connsiteY19" fmla="*/ 105641 h 2706421"/>
              <a:gd name="connsiteX20" fmla="*/ 11101 w 2241060"/>
              <a:gd name="connsiteY20" fmla="*/ 83205 h 2706421"/>
              <a:gd name="connsiteX21" fmla="*/ 0 w 2241060"/>
              <a:gd name="connsiteY21" fmla="*/ 80784 h 2706421"/>
              <a:gd name="connsiteX22" fmla="*/ 5845 w 2241060"/>
              <a:gd name="connsiteY22" fmla="*/ 53982 h 2706421"/>
              <a:gd name="connsiteX23" fmla="*/ 11689 w 2241060"/>
              <a:gd name="connsiteY23" fmla="*/ 27180 h 2706421"/>
              <a:gd name="connsiteX24" fmla="*/ 22791 w 2241060"/>
              <a:gd name="connsiteY24" fmla="*/ 29601 h 2706421"/>
              <a:gd name="connsiteX25" fmla="*/ 35802 w 2241060"/>
              <a:gd name="connsiteY25" fmla="*/ 10881 h 2706421"/>
              <a:gd name="connsiteX26" fmla="*/ 60233 w 2241060"/>
              <a:gd name="connsiteY26" fmla="*/ 1167 h 2706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2241060" h="2706421">
                <a:moveTo>
                  <a:pt x="60233" y="1167"/>
                </a:moveTo>
                <a:cubicBezTo>
                  <a:pt x="68988" y="-476"/>
                  <a:pt x="78210" y="-428"/>
                  <a:pt x="87462" y="1589"/>
                </a:cubicBezTo>
                <a:cubicBezTo>
                  <a:pt x="105965" y="5624"/>
                  <a:pt x="121081" y="16777"/>
                  <a:pt x="130562" y="31546"/>
                </a:cubicBezTo>
                <a:lnTo>
                  <a:pt x="134598" y="53983"/>
                </a:lnTo>
                <a:lnTo>
                  <a:pt x="1686515" y="392416"/>
                </a:lnTo>
                <a:lnTo>
                  <a:pt x="1667482" y="444418"/>
                </a:lnTo>
                <a:lnTo>
                  <a:pt x="1666442" y="444192"/>
                </a:lnTo>
                <a:lnTo>
                  <a:pt x="1623585" y="561287"/>
                </a:lnTo>
                <a:cubicBezTo>
                  <a:pt x="1575692" y="715267"/>
                  <a:pt x="1549892" y="878980"/>
                  <a:pt x="1549892" y="1048719"/>
                </a:cubicBezTo>
                <a:cubicBezTo>
                  <a:pt x="1549892" y="1557937"/>
                  <a:pt x="1782093" y="2012921"/>
                  <a:pt x="2146389" y="2313564"/>
                </a:cubicBezTo>
                <a:lnTo>
                  <a:pt x="2241060" y="2384358"/>
                </a:lnTo>
                <a:lnTo>
                  <a:pt x="2033364" y="2706421"/>
                </a:lnTo>
                <a:lnTo>
                  <a:pt x="1909423" y="2613740"/>
                </a:lnTo>
                <a:cubicBezTo>
                  <a:pt x="1462333" y="2244768"/>
                  <a:pt x="1177358" y="1686379"/>
                  <a:pt x="1177358" y="1061430"/>
                </a:cubicBezTo>
                <a:cubicBezTo>
                  <a:pt x="1177358" y="853114"/>
                  <a:pt x="1209022" y="652193"/>
                  <a:pt x="1267799" y="463218"/>
                </a:cubicBezTo>
                <a:lnTo>
                  <a:pt x="1303715" y="365090"/>
                </a:lnTo>
                <a:lnTo>
                  <a:pt x="122908" y="107587"/>
                </a:lnTo>
                <a:lnTo>
                  <a:pt x="109897" y="126306"/>
                </a:lnTo>
                <a:cubicBezTo>
                  <a:pt x="95128" y="135788"/>
                  <a:pt x="76741" y="139635"/>
                  <a:pt x="58238" y="135600"/>
                </a:cubicBezTo>
                <a:cubicBezTo>
                  <a:pt x="39735" y="131565"/>
                  <a:pt x="24619" y="120412"/>
                  <a:pt x="15137" y="105641"/>
                </a:cubicBezTo>
                <a:lnTo>
                  <a:pt x="11101" y="83205"/>
                </a:lnTo>
                <a:lnTo>
                  <a:pt x="0" y="80784"/>
                </a:lnTo>
                <a:lnTo>
                  <a:pt x="5845" y="53982"/>
                </a:lnTo>
                <a:lnTo>
                  <a:pt x="11689" y="27180"/>
                </a:lnTo>
                <a:lnTo>
                  <a:pt x="22791" y="29601"/>
                </a:lnTo>
                <a:lnTo>
                  <a:pt x="35802" y="10881"/>
                </a:lnTo>
                <a:cubicBezTo>
                  <a:pt x="43187" y="6141"/>
                  <a:pt x="51477" y="2810"/>
                  <a:pt x="60233" y="1167"/>
                </a:cubicBezTo>
                <a:close/>
              </a:path>
            </a:pathLst>
          </a:custGeom>
          <a:solidFill>
            <a:srgbClr val="FFA803"/>
          </a:solidFill>
          <a:ln>
            <a:solidFill>
              <a:schemeClr val="bg1">
                <a:alpha val="5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4B1BB67F-A885-4A15-B989-210F399F4143}"/>
              </a:ext>
            </a:extLst>
          </p:cNvPr>
          <p:cNvSpPr>
            <a:spLocks noChangeAspect="1"/>
          </p:cNvSpPr>
          <p:nvPr/>
        </p:nvSpPr>
        <p:spPr>
          <a:xfrm rot="7345456">
            <a:off x="3550512" y="4589105"/>
            <a:ext cx="2542364" cy="1408530"/>
          </a:xfrm>
          <a:custGeom>
            <a:avLst/>
            <a:gdLst>
              <a:gd name="connsiteX0" fmla="*/ 859612 w 2542364"/>
              <a:gd name="connsiteY0" fmla="*/ 1836892 h 1878040"/>
              <a:gd name="connsiteX1" fmla="*/ 863962 w 2542364"/>
              <a:gd name="connsiteY1" fmla="*/ 1811816 h 1878040"/>
              <a:gd name="connsiteX2" fmla="*/ 855057 w 2542364"/>
              <a:gd name="connsiteY2" fmla="*/ 1811641 h 1878040"/>
              <a:gd name="connsiteX3" fmla="*/ 870009 w 2542364"/>
              <a:gd name="connsiteY3" fmla="*/ 1725466 h 1878040"/>
              <a:gd name="connsiteX4" fmla="*/ 671105 w 2542364"/>
              <a:gd name="connsiteY4" fmla="*/ 841178 h 1878040"/>
              <a:gd name="connsiteX5" fmla="*/ 75721 w 2542364"/>
              <a:gd name="connsiteY5" fmla="*/ 331052 h 1878040"/>
              <a:gd name="connsiteX6" fmla="*/ 0 w 2542364"/>
              <a:gd name="connsiteY6" fmla="*/ 302307 h 1878040"/>
              <a:gd name="connsiteX7" fmla="*/ 85488 w 2542364"/>
              <a:gd name="connsiteY7" fmla="*/ 0 h 1878040"/>
              <a:gd name="connsiteX8" fmla="*/ 188258 w 2542364"/>
              <a:gd name="connsiteY8" fmla="*/ 38309 h 1878040"/>
              <a:gd name="connsiteX9" fmla="*/ 937165 w 2542364"/>
              <a:gd name="connsiteY9" fmla="*/ 672173 h 1878040"/>
              <a:gd name="connsiteX10" fmla="*/ 1181273 w 2542364"/>
              <a:gd name="connsiteY10" fmla="*/ 1757434 h 1878040"/>
              <a:gd name="connsiteX11" fmla="*/ 1177007 w 2542364"/>
              <a:gd name="connsiteY11" fmla="*/ 1782028 h 1878040"/>
              <a:gd name="connsiteX12" fmla="*/ 2416567 w 2542364"/>
              <a:gd name="connsiteY12" fmla="*/ 1782028 h 1878040"/>
              <a:gd name="connsiteX13" fmla="*/ 2425291 w 2542364"/>
              <a:gd name="connsiteY13" fmla="*/ 1760967 h 1878040"/>
              <a:gd name="connsiteX14" fmla="*/ 2473784 w 2542364"/>
              <a:gd name="connsiteY14" fmla="*/ 1740880 h 1878040"/>
              <a:gd name="connsiteX15" fmla="*/ 2522278 w 2542364"/>
              <a:gd name="connsiteY15" fmla="*/ 1760967 h 1878040"/>
              <a:gd name="connsiteX16" fmla="*/ 2531002 w 2542364"/>
              <a:gd name="connsiteY16" fmla="*/ 1782028 h 1878040"/>
              <a:gd name="connsiteX17" fmla="*/ 2542364 w 2542364"/>
              <a:gd name="connsiteY17" fmla="*/ 1782028 h 1878040"/>
              <a:gd name="connsiteX18" fmla="*/ 2542364 w 2542364"/>
              <a:gd name="connsiteY18" fmla="*/ 1809460 h 1878040"/>
              <a:gd name="connsiteX19" fmla="*/ 2542364 w 2542364"/>
              <a:gd name="connsiteY19" fmla="*/ 1836892 h 1878040"/>
              <a:gd name="connsiteX20" fmla="*/ 2531002 w 2542364"/>
              <a:gd name="connsiteY20" fmla="*/ 1836892 h 1878040"/>
              <a:gd name="connsiteX21" fmla="*/ 2522278 w 2542364"/>
              <a:gd name="connsiteY21" fmla="*/ 1857954 h 1878040"/>
              <a:gd name="connsiteX22" fmla="*/ 2473784 w 2542364"/>
              <a:gd name="connsiteY22" fmla="*/ 1878040 h 1878040"/>
              <a:gd name="connsiteX23" fmla="*/ 2425291 w 2542364"/>
              <a:gd name="connsiteY23" fmla="*/ 1857954 h 1878040"/>
              <a:gd name="connsiteX24" fmla="*/ 2416567 w 2542364"/>
              <a:gd name="connsiteY24" fmla="*/ 1836892 h 187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42364" h="1878040">
                <a:moveTo>
                  <a:pt x="859612" y="1836892"/>
                </a:moveTo>
                <a:lnTo>
                  <a:pt x="863962" y="1811816"/>
                </a:lnTo>
                <a:lnTo>
                  <a:pt x="855057" y="1811641"/>
                </a:lnTo>
                <a:lnTo>
                  <a:pt x="870009" y="1725466"/>
                </a:lnTo>
                <a:cubicBezTo>
                  <a:pt x="907199" y="1427200"/>
                  <a:pt x="844853" y="1114707"/>
                  <a:pt x="671105" y="841178"/>
                </a:cubicBezTo>
                <a:cubicBezTo>
                  <a:pt x="522177" y="606725"/>
                  <a:pt x="312549" y="434192"/>
                  <a:pt x="75721" y="331052"/>
                </a:cubicBezTo>
                <a:lnTo>
                  <a:pt x="0" y="302307"/>
                </a:lnTo>
                <a:lnTo>
                  <a:pt x="85488" y="0"/>
                </a:lnTo>
                <a:lnTo>
                  <a:pt x="188258" y="38309"/>
                </a:lnTo>
                <a:cubicBezTo>
                  <a:pt x="486368" y="163900"/>
                  <a:pt x="750582" y="378440"/>
                  <a:pt x="937165" y="672173"/>
                </a:cubicBezTo>
                <a:cubicBezTo>
                  <a:pt x="1150402" y="1007867"/>
                  <a:pt x="1226917" y="1391381"/>
                  <a:pt x="1181273" y="1757434"/>
                </a:cubicBezTo>
                <a:lnTo>
                  <a:pt x="1177007" y="1782028"/>
                </a:lnTo>
                <a:lnTo>
                  <a:pt x="2416567" y="1782028"/>
                </a:lnTo>
                <a:lnTo>
                  <a:pt x="2425291" y="1760967"/>
                </a:lnTo>
                <a:cubicBezTo>
                  <a:pt x="2437701" y="1748556"/>
                  <a:pt x="2454846" y="1740880"/>
                  <a:pt x="2473784" y="1740880"/>
                </a:cubicBezTo>
                <a:cubicBezTo>
                  <a:pt x="2492722" y="1740880"/>
                  <a:pt x="2509867" y="1748556"/>
                  <a:pt x="2522278" y="1760967"/>
                </a:cubicBezTo>
                <a:lnTo>
                  <a:pt x="2531002" y="1782028"/>
                </a:lnTo>
                <a:lnTo>
                  <a:pt x="2542364" y="1782028"/>
                </a:lnTo>
                <a:lnTo>
                  <a:pt x="2542364" y="1809460"/>
                </a:lnTo>
                <a:lnTo>
                  <a:pt x="2542364" y="1836892"/>
                </a:lnTo>
                <a:lnTo>
                  <a:pt x="2531002" y="1836892"/>
                </a:lnTo>
                <a:lnTo>
                  <a:pt x="2522278" y="1857954"/>
                </a:lnTo>
                <a:cubicBezTo>
                  <a:pt x="2509867" y="1870364"/>
                  <a:pt x="2492722" y="1878040"/>
                  <a:pt x="2473784" y="1878040"/>
                </a:cubicBezTo>
                <a:cubicBezTo>
                  <a:pt x="2454846" y="1878040"/>
                  <a:pt x="2437701" y="1870364"/>
                  <a:pt x="2425291" y="1857954"/>
                </a:cubicBezTo>
                <a:lnTo>
                  <a:pt x="2416567" y="1836892"/>
                </a:lnTo>
                <a:close/>
              </a:path>
            </a:pathLst>
          </a:custGeom>
          <a:solidFill>
            <a:srgbClr val="3EB8CD"/>
          </a:solidFill>
          <a:ln>
            <a:solidFill>
              <a:schemeClr val="bg1">
                <a:alpha val="50000"/>
              </a:scheme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0A2AD900-70EF-4C72-8B4E-0338EDC35B30}"/>
              </a:ext>
            </a:extLst>
          </p:cNvPr>
          <p:cNvSpPr>
            <a:spLocks noChangeAspect="1"/>
          </p:cNvSpPr>
          <p:nvPr/>
        </p:nvSpPr>
        <p:spPr>
          <a:xfrm>
            <a:off x="5555129" y="2883584"/>
            <a:ext cx="943290" cy="2817355"/>
          </a:xfrm>
          <a:custGeom>
            <a:avLst/>
            <a:gdLst>
              <a:gd name="connsiteX0" fmla="*/ 719476 w 1257720"/>
              <a:gd name="connsiteY0" fmla="*/ 0 h 2817355"/>
              <a:gd name="connsiteX1" fmla="*/ 751601 w 1257720"/>
              <a:gd name="connsiteY1" fmla="*/ 87772 h 2817355"/>
              <a:gd name="connsiteX2" fmla="*/ 813265 w 1257720"/>
              <a:gd name="connsiteY2" fmla="*/ 495644 h 2817355"/>
              <a:gd name="connsiteX3" fmla="*/ 314130 w 1257720"/>
              <a:gd name="connsiteY3" fmla="*/ 1554037 h 2817355"/>
              <a:gd name="connsiteX4" fmla="*/ 226795 w 1257720"/>
              <a:gd name="connsiteY4" fmla="*/ 1619345 h 2817355"/>
              <a:gd name="connsiteX5" fmla="*/ 1171754 w 1257720"/>
              <a:gd name="connsiteY5" fmla="*/ 2686797 h 2817355"/>
              <a:gd name="connsiteX6" fmla="*/ 1193307 w 1257720"/>
              <a:gd name="connsiteY6" fmla="*/ 2679369 h 2817355"/>
              <a:gd name="connsiteX7" fmla="*/ 1240490 w 1257720"/>
              <a:gd name="connsiteY7" fmla="*/ 2702365 h 2817355"/>
              <a:gd name="connsiteX8" fmla="*/ 1257593 w 1257720"/>
              <a:gd name="connsiteY8" fmla="*/ 2751989 h 2817355"/>
              <a:gd name="connsiteX9" fmla="*/ 1247606 w 1257720"/>
              <a:gd name="connsiteY9" fmla="*/ 2772482 h 2817355"/>
              <a:gd name="connsiteX10" fmla="*/ 1255138 w 1257720"/>
              <a:gd name="connsiteY10" fmla="*/ 2780989 h 2817355"/>
              <a:gd name="connsiteX11" fmla="*/ 1234598 w 1257720"/>
              <a:gd name="connsiteY11" fmla="*/ 2799172 h 2817355"/>
              <a:gd name="connsiteX12" fmla="*/ 1214058 w 1257720"/>
              <a:gd name="connsiteY12" fmla="*/ 2817355 h 2817355"/>
              <a:gd name="connsiteX13" fmla="*/ 1206526 w 1257720"/>
              <a:gd name="connsiteY13" fmla="*/ 2808848 h 2817355"/>
              <a:gd name="connsiteX14" fmla="*/ 1184973 w 1257720"/>
              <a:gd name="connsiteY14" fmla="*/ 2816276 h 2817355"/>
              <a:gd name="connsiteX15" fmla="*/ 1137790 w 1257720"/>
              <a:gd name="connsiteY15" fmla="*/ 2793280 h 2817355"/>
              <a:gd name="connsiteX16" fmla="*/ 1120687 w 1257720"/>
              <a:gd name="connsiteY16" fmla="*/ 2743656 h 2817355"/>
              <a:gd name="connsiteX17" fmla="*/ 1130674 w 1257720"/>
              <a:gd name="connsiteY17" fmla="*/ 2723163 h 2817355"/>
              <a:gd name="connsiteX18" fmla="*/ 0 w 1257720"/>
              <a:gd name="connsiteY18" fmla="*/ 1445923 h 2817355"/>
              <a:gd name="connsiteX19" fmla="*/ 45533 w 1257720"/>
              <a:gd name="connsiteY19" fmla="*/ 1421210 h 2817355"/>
              <a:gd name="connsiteX20" fmla="*/ 48921 w 1257720"/>
              <a:gd name="connsiteY20" fmla="*/ 1418414 h 2817355"/>
              <a:gd name="connsiteX21" fmla="*/ 52370 w 1257720"/>
              <a:gd name="connsiteY21" fmla="*/ 1422310 h 2817355"/>
              <a:gd name="connsiteX22" fmla="*/ 66526 w 1257720"/>
              <a:gd name="connsiteY22" fmla="*/ 1413709 h 2817355"/>
              <a:gd name="connsiteX23" fmla="*/ 559265 w 1257720"/>
              <a:gd name="connsiteY23" fmla="*/ 486978 h 2817355"/>
              <a:gd name="connsiteX24" fmla="*/ 509020 w 1257720"/>
              <a:gd name="connsiteY24" fmla="*/ 154638 h 2817355"/>
              <a:gd name="connsiteX25" fmla="*/ 484402 w 1257720"/>
              <a:gd name="connsiteY25" fmla="*/ 87376 h 2817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57720" h="2817355">
                <a:moveTo>
                  <a:pt x="719476" y="0"/>
                </a:moveTo>
                <a:lnTo>
                  <a:pt x="751601" y="87772"/>
                </a:lnTo>
                <a:cubicBezTo>
                  <a:pt x="791676" y="216619"/>
                  <a:pt x="813265" y="353611"/>
                  <a:pt x="813265" y="495644"/>
                </a:cubicBezTo>
                <a:cubicBezTo>
                  <a:pt x="813265" y="921745"/>
                  <a:pt x="618964" y="1302466"/>
                  <a:pt x="314130" y="1554037"/>
                </a:cubicBezTo>
                <a:lnTo>
                  <a:pt x="226795" y="1619345"/>
                </a:lnTo>
                <a:lnTo>
                  <a:pt x="1171754" y="2686797"/>
                </a:lnTo>
                <a:lnTo>
                  <a:pt x="1193307" y="2679369"/>
                </a:lnTo>
                <a:cubicBezTo>
                  <a:pt x="1210825" y="2680435"/>
                  <a:pt x="1227937" y="2688184"/>
                  <a:pt x="1240490" y="2702365"/>
                </a:cubicBezTo>
                <a:cubicBezTo>
                  <a:pt x="1253043" y="2716545"/>
                  <a:pt x="1258660" y="2734470"/>
                  <a:pt x="1257593" y="2751989"/>
                </a:cubicBezTo>
                <a:lnTo>
                  <a:pt x="1247606" y="2772482"/>
                </a:lnTo>
                <a:lnTo>
                  <a:pt x="1255138" y="2780989"/>
                </a:lnTo>
                <a:lnTo>
                  <a:pt x="1234598" y="2799172"/>
                </a:lnTo>
                <a:lnTo>
                  <a:pt x="1214058" y="2817355"/>
                </a:lnTo>
                <a:lnTo>
                  <a:pt x="1206526" y="2808848"/>
                </a:lnTo>
                <a:lnTo>
                  <a:pt x="1184973" y="2816276"/>
                </a:lnTo>
                <a:cubicBezTo>
                  <a:pt x="1167455" y="2815209"/>
                  <a:pt x="1150343" y="2807460"/>
                  <a:pt x="1137790" y="2793280"/>
                </a:cubicBezTo>
                <a:cubicBezTo>
                  <a:pt x="1125237" y="2779100"/>
                  <a:pt x="1119620" y="2761174"/>
                  <a:pt x="1120687" y="2743656"/>
                </a:cubicBezTo>
                <a:lnTo>
                  <a:pt x="1130674" y="2723163"/>
                </a:lnTo>
                <a:lnTo>
                  <a:pt x="0" y="1445923"/>
                </a:lnTo>
                <a:lnTo>
                  <a:pt x="45533" y="1421210"/>
                </a:lnTo>
                <a:lnTo>
                  <a:pt x="48921" y="1418414"/>
                </a:lnTo>
                <a:lnTo>
                  <a:pt x="52370" y="1422310"/>
                </a:lnTo>
                <a:lnTo>
                  <a:pt x="66526" y="1413709"/>
                </a:lnTo>
                <a:cubicBezTo>
                  <a:pt x="363810" y="1212868"/>
                  <a:pt x="559265" y="872748"/>
                  <a:pt x="559265" y="486978"/>
                </a:cubicBezTo>
                <a:cubicBezTo>
                  <a:pt x="559265" y="371247"/>
                  <a:pt x="541674" y="259624"/>
                  <a:pt x="509020" y="154638"/>
                </a:cubicBezTo>
                <a:lnTo>
                  <a:pt x="484402" y="87376"/>
                </a:lnTo>
                <a:close/>
              </a:path>
            </a:pathLst>
          </a:custGeom>
          <a:solidFill>
            <a:srgbClr val="85C401"/>
          </a:solidFill>
          <a:ln>
            <a:solidFill>
              <a:schemeClr val="bg1">
                <a:alpha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A83021B9-ABD2-43FC-BA66-17E7A0E2BCF9}"/>
              </a:ext>
            </a:extLst>
          </p:cNvPr>
          <p:cNvSpPr>
            <a:spLocks noChangeAspect="1"/>
          </p:cNvSpPr>
          <p:nvPr/>
        </p:nvSpPr>
        <p:spPr>
          <a:xfrm>
            <a:off x="5015425" y="2007626"/>
            <a:ext cx="2039524" cy="1085050"/>
          </a:xfrm>
          <a:custGeom>
            <a:avLst/>
            <a:gdLst>
              <a:gd name="connsiteX0" fmla="*/ 24112 w 2719365"/>
              <a:gd name="connsiteY0" fmla="*/ 0 h 1085050"/>
              <a:gd name="connsiteX1" fmla="*/ 1172928 w 2719365"/>
              <a:gd name="connsiteY1" fmla="*/ 781803 h 1085050"/>
              <a:gd name="connsiteX2" fmla="*/ 1223158 w 2719365"/>
              <a:gd name="connsiteY2" fmla="*/ 950928 h 1085050"/>
              <a:gd name="connsiteX3" fmla="*/ 2582356 w 2719365"/>
              <a:gd name="connsiteY3" fmla="*/ 449892 h 1085050"/>
              <a:gd name="connsiteX4" fmla="*/ 2583257 w 2719365"/>
              <a:gd name="connsiteY4" fmla="*/ 427114 h 1085050"/>
              <a:gd name="connsiteX5" fmla="*/ 2621809 w 2719365"/>
              <a:gd name="connsiteY5" fmla="*/ 391494 h 1085050"/>
              <a:gd name="connsiteX6" fmla="*/ 2648721 w 2719365"/>
              <a:gd name="connsiteY6" fmla="*/ 387318 h 1085050"/>
              <a:gd name="connsiteX7" fmla="*/ 2674258 w 2719365"/>
              <a:gd name="connsiteY7" fmla="*/ 393568 h 1085050"/>
              <a:gd name="connsiteX8" fmla="*/ 2689728 w 2719365"/>
              <a:gd name="connsiteY8" fmla="*/ 410312 h 1085050"/>
              <a:gd name="connsiteX9" fmla="*/ 2700389 w 2719365"/>
              <a:gd name="connsiteY9" fmla="*/ 406382 h 1085050"/>
              <a:gd name="connsiteX10" fmla="*/ 2709877 w 2719365"/>
              <a:gd name="connsiteY10" fmla="*/ 432121 h 1085050"/>
              <a:gd name="connsiteX11" fmla="*/ 2719365 w 2719365"/>
              <a:gd name="connsiteY11" fmla="*/ 457860 h 1085050"/>
              <a:gd name="connsiteX12" fmla="*/ 2708704 w 2719365"/>
              <a:gd name="connsiteY12" fmla="*/ 461790 h 1085050"/>
              <a:gd name="connsiteX13" fmla="*/ 2707803 w 2719365"/>
              <a:gd name="connsiteY13" fmla="*/ 484569 h 1085050"/>
              <a:gd name="connsiteX14" fmla="*/ 2669250 w 2719365"/>
              <a:gd name="connsiteY14" fmla="*/ 520188 h 1085050"/>
              <a:gd name="connsiteX15" fmla="*/ 2616802 w 2719365"/>
              <a:gd name="connsiteY15" fmla="*/ 518115 h 1085050"/>
              <a:gd name="connsiteX16" fmla="*/ 2601332 w 2719365"/>
              <a:gd name="connsiteY16" fmla="*/ 501370 h 1085050"/>
              <a:gd name="connsiteX17" fmla="*/ 1017940 w 2719365"/>
              <a:gd name="connsiteY17" fmla="*/ 1085050 h 1085050"/>
              <a:gd name="connsiteX18" fmla="*/ 1016237 w 2719365"/>
              <a:gd name="connsiteY18" fmla="*/ 1068163 h 1085050"/>
              <a:gd name="connsiteX19" fmla="*/ 1014058 w 2719365"/>
              <a:gd name="connsiteY19" fmla="*/ 1068973 h 1085050"/>
              <a:gd name="connsiteX20" fmla="*/ 1010145 w 2719365"/>
              <a:gd name="connsiteY20" fmla="*/ 1030155 h 1085050"/>
              <a:gd name="connsiteX21" fmla="*/ 1009949 w 2719365"/>
              <a:gd name="connsiteY21" fmla="*/ 1029523 h 1085050"/>
              <a:gd name="connsiteX22" fmla="*/ 1010077 w 2719365"/>
              <a:gd name="connsiteY22" fmla="*/ 1029476 h 1085050"/>
              <a:gd name="connsiteX23" fmla="*/ 1009517 w 2719365"/>
              <a:gd name="connsiteY23" fmla="*/ 1023928 h 1085050"/>
              <a:gd name="connsiteX24" fmla="*/ 24112 w 2719365"/>
              <a:gd name="connsiteY24" fmla="*/ 220800 h 1085050"/>
              <a:gd name="connsiteX25" fmla="*/ 0 w 2719365"/>
              <a:gd name="connsiteY25" fmla="*/ 222018 h 1085050"/>
              <a:gd name="connsiteX26" fmla="*/ 0 w 2719365"/>
              <a:gd name="connsiteY26" fmla="*/ 1218 h 1085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2719365" h="1085050">
                <a:moveTo>
                  <a:pt x="24112" y="0"/>
                </a:moveTo>
                <a:cubicBezTo>
                  <a:pt x="546087" y="0"/>
                  <a:pt x="992394" y="323970"/>
                  <a:pt x="1172928" y="781803"/>
                </a:cubicBezTo>
                <a:lnTo>
                  <a:pt x="1223158" y="950928"/>
                </a:lnTo>
                <a:lnTo>
                  <a:pt x="2582356" y="449892"/>
                </a:lnTo>
                <a:lnTo>
                  <a:pt x="2583257" y="427114"/>
                </a:lnTo>
                <a:cubicBezTo>
                  <a:pt x="2590608" y="411176"/>
                  <a:pt x="2604040" y="398044"/>
                  <a:pt x="2621809" y="391494"/>
                </a:cubicBezTo>
                <a:cubicBezTo>
                  <a:pt x="2630694" y="388219"/>
                  <a:pt x="2639822" y="386899"/>
                  <a:pt x="2648721" y="387318"/>
                </a:cubicBezTo>
                <a:cubicBezTo>
                  <a:pt x="2657620" y="387736"/>
                  <a:pt x="2666290" y="389892"/>
                  <a:pt x="2674258" y="393568"/>
                </a:cubicBezTo>
                <a:lnTo>
                  <a:pt x="2689728" y="410312"/>
                </a:lnTo>
                <a:lnTo>
                  <a:pt x="2700389" y="406382"/>
                </a:lnTo>
                <a:lnTo>
                  <a:pt x="2709877" y="432121"/>
                </a:lnTo>
                <a:lnTo>
                  <a:pt x="2719365" y="457860"/>
                </a:lnTo>
                <a:lnTo>
                  <a:pt x="2708704" y="461790"/>
                </a:lnTo>
                <a:lnTo>
                  <a:pt x="2707803" y="484569"/>
                </a:lnTo>
                <a:cubicBezTo>
                  <a:pt x="2700451" y="500506"/>
                  <a:pt x="2687019" y="513638"/>
                  <a:pt x="2669250" y="520188"/>
                </a:cubicBezTo>
                <a:cubicBezTo>
                  <a:pt x="2651480" y="526739"/>
                  <a:pt x="2632739" y="525466"/>
                  <a:pt x="2616802" y="518115"/>
                </a:cubicBezTo>
                <a:lnTo>
                  <a:pt x="2601332" y="501370"/>
                </a:lnTo>
                <a:lnTo>
                  <a:pt x="1017940" y="1085050"/>
                </a:lnTo>
                <a:lnTo>
                  <a:pt x="1016237" y="1068163"/>
                </a:lnTo>
                <a:lnTo>
                  <a:pt x="1014058" y="1068973"/>
                </a:lnTo>
                <a:lnTo>
                  <a:pt x="1010145" y="1030155"/>
                </a:lnTo>
                <a:lnTo>
                  <a:pt x="1009949" y="1029523"/>
                </a:lnTo>
                <a:lnTo>
                  <a:pt x="1010077" y="1029476"/>
                </a:lnTo>
                <a:lnTo>
                  <a:pt x="1009517" y="1023928"/>
                </a:lnTo>
                <a:cubicBezTo>
                  <a:pt x="915726" y="565584"/>
                  <a:pt x="510184" y="220800"/>
                  <a:pt x="24112" y="220800"/>
                </a:cubicBezTo>
                <a:lnTo>
                  <a:pt x="0" y="222018"/>
                </a:lnTo>
                <a:lnTo>
                  <a:pt x="0" y="1218"/>
                </a:lnTo>
                <a:close/>
              </a:path>
            </a:pathLst>
          </a:custGeom>
          <a:solidFill>
            <a:srgbClr val="FF2B2A"/>
          </a:solidFill>
          <a:ln>
            <a:solidFill>
              <a:schemeClr val="bg1">
                <a:alpha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530B8F8-6FBF-420A-8E33-30B8EFE64353}"/>
              </a:ext>
            </a:extLst>
          </p:cNvPr>
          <p:cNvSpPr txBox="1"/>
          <p:nvPr/>
        </p:nvSpPr>
        <p:spPr>
          <a:xfrm rot="20335263">
            <a:off x="5741746" y="1536016"/>
            <a:ext cx="24700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2B2A"/>
                </a:solidFill>
                <a:latin typeface="Candara" panose="020E0502030303020204" pitchFamily="34" charset="0"/>
              </a:rPr>
              <a:t>Agriculture  </a:t>
            </a:r>
          </a:p>
          <a:p>
            <a:endParaRPr lang="en-US" sz="2000" dirty="0">
              <a:solidFill>
                <a:srgbClr val="56595E"/>
              </a:solidFill>
              <a:latin typeface="Candara" panose="020E0502030303020204" pitchFamily="34" charset="0"/>
            </a:endParaRPr>
          </a:p>
          <a:p>
            <a:endParaRPr lang="en-US" sz="2000" dirty="0">
              <a:solidFill>
                <a:srgbClr val="56595E"/>
              </a:solidFill>
              <a:latin typeface="Candara" panose="020E050203030302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F91145A-C422-41F0-8FE6-EFF5ABDBDE2D}"/>
              </a:ext>
            </a:extLst>
          </p:cNvPr>
          <p:cNvSpPr txBox="1"/>
          <p:nvPr/>
        </p:nvSpPr>
        <p:spPr>
          <a:xfrm rot="2906228">
            <a:off x="5130014" y="5184336"/>
            <a:ext cx="3293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rgbClr val="85C401"/>
                </a:solidFill>
                <a:latin typeface="Candara" panose="020E0502030303020204" pitchFamily="34" charset="0"/>
              </a:rPr>
              <a:t>L</a:t>
            </a:r>
            <a:r>
              <a:rPr lang="en-US" sz="2000" b="1" dirty="0" err="1">
                <a:solidFill>
                  <a:srgbClr val="85C401"/>
                </a:solidFill>
                <a:latin typeface="Candara" panose="020E0502030303020204" pitchFamily="34" charset="0"/>
              </a:rPr>
              <a:t>pêche</a:t>
            </a:r>
            <a:r>
              <a:rPr lang="en-US" sz="2000" b="1" dirty="0">
                <a:solidFill>
                  <a:srgbClr val="85C401"/>
                </a:solidFill>
                <a:latin typeface="Candara" panose="020E0502030303020204" pitchFamily="34" charset="0"/>
              </a:rPr>
              <a:t> </a:t>
            </a:r>
          </a:p>
          <a:p>
            <a:endParaRPr lang="en-US" sz="200" dirty="0">
              <a:solidFill>
                <a:srgbClr val="56595E"/>
              </a:solidFill>
              <a:latin typeface="Candara" panose="020E0502030303020204" pitchFamily="34" charset="0"/>
            </a:endParaRPr>
          </a:p>
          <a:p>
            <a:endParaRPr lang="en-US" sz="1000" dirty="0">
              <a:solidFill>
                <a:srgbClr val="56595E"/>
              </a:solidFill>
              <a:latin typeface="Candara" panose="020E050203030302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CEC2A33-2FFF-493D-8540-25436425C2D4}"/>
              </a:ext>
            </a:extLst>
          </p:cNvPr>
          <p:cNvSpPr txBox="1"/>
          <p:nvPr/>
        </p:nvSpPr>
        <p:spPr>
          <a:xfrm rot="18128163">
            <a:off x="3086790" y="5512198"/>
            <a:ext cx="22173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rgbClr val="3EB8CD"/>
                </a:solidFill>
                <a:latin typeface="Candara" panose="020E0502030303020204" pitchFamily="34" charset="0"/>
              </a:rPr>
              <a:t>Extraction </a:t>
            </a:r>
            <a:r>
              <a:rPr lang="fr-CA" altLang="en-US" sz="2400" b="1" dirty="0">
                <a:solidFill>
                  <a:srgbClr val="3EB8CD"/>
                </a:solidFill>
                <a:latin typeface="Candara" panose="020E0502030303020204" pitchFamily="34" charset="0"/>
              </a:rPr>
              <a:t>minière</a:t>
            </a:r>
            <a:r>
              <a:rPr lang="en-US" sz="2400" b="1" dirty="0">
                <a:solidFill>
                  <a:srgbClr val="3EB8CD"/>
                </a:solidFill>
                <a:latin typeface="Candara" panose="020E0502030303020204" pitchFamily="34" charset="0"/>
              </a:rPr>
              <a:t> </a:t>
            </a:r>
            <a:r>
              <a:rPr lang="en-US" sz="2400" dirty="0">
                <a:solidFill>
                  <a:srgbClr val="56595E"/>
                </a:solidFill>
                <a:latin typeface="Candara" panose="020E0502030303020204" pitchFamily="34" charset="0"/>
              </a:rPr>
              <a:t>.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E2DD50A-8068-493C-80F2-76D2900CBFA4}"/>
              </a:ext>
            </a:extLst>
          </p:cNvPr>
          <p:cNvSpPr txBox="1"/>
          <p:nvPr/>
        </p:nvSpPr>
        <p:spPr>
          <a:xfrm rot="732960">
            <a:off x="1114056" y="2359957"/>
            <a:ext cx="247000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A" altLang="en-US" sz="2000" b="1" dirty="0">
                <a:solidFill>
                  <a:srgbClr val="FFA803"/>
                </a:solidFill>
                <a:latin typeface="Candara" panose="020E0502030303020204" pitchFamily="34" charset="0"/>
              </a:rPr>
              <a:t>Sylviculture</a:t>
            </a:r>
          </a:p>
          <a:p>
            <a:pPr algn="r"/>
            <a:endParaRPr lang="en-US" sz="1400" b="1" dirty="0">
              <a:solidFill>
                <a:srgbClr val="FFA803"/>
              </a:solidFill>
              <a:latin typeface="Candara" panose="020E0502030303020204" pitchFamily="34" charset="0"/>
            </a:endParaRPr>
          </a:p>
          <a:p>
            <a:pPr algn="r"/>
            <a:endParaRPr lang="en-US" sz="200" dirty="0">
              <a:solidFill>
                <a:srgbClr val="56595E"/>
              </a:solidFill>
              <a:latin typeface="Candara" panose="020E0502030303020204" pitchFamily="34" charset="0"/>
            </a:endParaRPr>
          </a:p>
          <a:p>
            <a:pPr algn="r"/>
            <a:endParaRPr lang="en-US" sz="1000" dirty="0">
              <a:solidFill>
                <a:srgbClr val="56595E"/>
              </a:solidFill>
              <a:latin typeface="Candara" panose="020E0502030303020204" pitchFamily="34" charset="0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68C5E3FD-CC95-4713-96B2-F1B7FC358170}"/>
              </a:ext>
            </a:extLst>
          </p:cNvPr>
          <p:cNvSpPr>
            <a:spLocks noChangeAspect="1"/>
          </p:cNvSpPr>
          <p:nvPr/>
        </p:nvSpPr>
        <p:spPr>
          <a:xfrm rot="14929748">
            <a:off x="7059527" y="2347339"/>
            <a:ext cx="731520" cy="548640"/>
          </a:xfrm>
          <a:prstGeom prst="ellipse">
            <a:avLst/>
          </a:prstGeom>
          <a:solidFill>
            <a:srgbClr val="FF2B2A"/>
          </a:solidFill>
          <a:ln>
            <a:solidFill>
              <a:schemeClr val="bg1">
                <a:alpha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8019C57E-B2C0-47F7-BF75-0E0102004C49}"/>
              </a:ext>
            </a:extLst>
          </p:cNvPr>
          <p:cNvSpPr>
            <a:spLocks noChangeAspect="1"/>
          </p:cNvSpPr>
          <p:nvPr/>
        </p:nvSpPr>
        <p:spPr>
          <a:xfrm rot="14929748">
            <a:off x="6119535" y="5919643"/>
            <a:ext cx="731520" cy="548640"/>
          </a:xfrm>
          <a:prstGeom prst="ellipse">
            <a:avLst/>
          </a:prstGeom>
          <a:solidFill>
            <a:srgbClr val="85C401"/>
          </a:solidFill>
          <a:ln>
            <a:solidFill>
              <a:schemeClr val="bg1">
                <a:alpha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A430FF5A-7B0D-4075-9ED6-8FCA2D67C438}"/>
              </a:ext>
            </a:extLst>
          </p:cNvPr>
          <p:cNvSpPr>
            <a:spLocks noChangeAspect="1"/>
          </p:cNvSpPr>
          <p:nvPr/>
        </p:nvSpPr>
        <p:spPr>
          <a:xfrm rot="14929748">
            <a:off x="3103987" y="5913120"/>
            <a:ext cx="731520" cy="548640"/>
          </a:xfrm>
          <a:prstGeom prst="ellipse">
            <a:avLst/>
          </a:prstGeom>
          <a:solidFill>
            <a:srgbClr val="3EB8CD"/>
          </a:solidFill>
          <a:ln>
            <a:solidFill>
              <a:schemeClr val="bg1">
                <a:alpha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5A1BF711-141B-47CF-BA67-DC9BE4F0FBD8}"/>
              </a:ext>
            </a:extLst>
          </p:cNvPr>
          <p:cNvSpPr>
            <a:spLocks noChangeAspect="1"/>
          </p:cNvSpPr>
          <p:nvPr/>
        </p:nvSpPr>
        <p:spPr>
          <a:xfrm rot="14929748">
            <a:off x="1997612" y="1874170"/>
            <a:ext cx="731520" cy="548640"/>
          </a:xfrm>
          <a:prstGeom prst="ellipse">
            <a:avLst/>
          </a:prstGeom>
          <a:solidFill>
            <a:srgbClr val="FFA803"/>
          </a:solidFill>
          <a:ln>
            <a:solidFill>
              <a:schemeClr val="bg1">
                <a:alpha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Group 83">
            <a:extLst>
              <a:ext uri="{FF2B5EF4-FFF2-40B4-BE49-F238E27FC236}">
                <a16:creationId xmlns:a16="http://schemas.microsoft.com/office/drawing/2014/main" id="{C9FFB87F-167B-44D4-9F01-40DF0B572441}"/>
              </a:ext>
            </a:extLst>
          </p:cNvPr>
          <p:cNvGrpSpPr>
            <a:grpSpLocks noChangeAspect="1"/>
          </p:cNvGrpSpPr>
          <p:nvPr/>
        </p:nvGrpSpPr>
        <p:grpSpPr>
          <a:xfrm>
            <a:off x="4340171" y="2700110"/>
            <a:ext cx="1028700" cy="1371600"/>
            <a:chOff x="844712" y="2057400"/>
            <a:chExt cx="2468880" cy="2468880"/>
          </a:xfrm>
        </p:grpSpPr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063EB69D-D319-478E-8A0F-A8C079A1F5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4712" y="2057400"/>
              <a:ext cx="2468880" cy="2468880"/>
            </a:xfrm>
            <a:prstGeom prst="ellipse">
              <a:avLst/>
            </a:prstGeom>
            <a:solidFill>
              <a:srgbClr val="4D4D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E39BDA67-592C-47FE-84CC-5D83083794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27592" y="2240280"/>
              <a:ext cx="2103120" cy="21031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5" name="Text Box 10">
            <a:extLst>
              <a:ext uri="{FF2B5EF4-FFF2-40B4-BE49-F238E27FC236}">
                <a16:creationId xmlns:a16="http://schemas.microsoft.com/office/drawing/2014/main" id="{5FF978E7-4FEF-4A98-BD55-69BC768BA5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9027" y="3146827"/>
            <a:ext cx="490988" cy="10051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0960" tIns="30480" rIns="60960" bIns="30480">
            <a:prstTxWarp prst="textArchUp">
              <a:avLst/>
            </a:prstTxWarp>
            <a:spAutoFit/>
          </a:bodyPr>
          <a:lstStyle/>
          <a:p>
            <a:pPr algn="ctr" defTabSz="1219170">
              <a:spcBef>
                <a:spcPct val="20000"/>
              </a:spcBef>
              <a:defRPr/>
            </a:pPr>
            <a:r>
              <a:rPr lang="en-US" dirty="0" err="1">
                <a:solidFill>
                  <a:srgbClr val="4D4D4D"/>
                </a:solidFill>
              </a:rPr>
              <a:t>Secteur</a:t>
            </a:r>
            <a:r>
              <a:rPr lang="en-US" dirty="0">
                <a:solidFill>
                  <a:srgbClr val="4D4D4D"/>
                </a:solidFill>
              </a:rPr>
              <a:t> </a:t>
            </a:r>
            <a:r>
              <a:rPr lang="en-US" dirty="0" err="1">
                <a:solidFill>
                  <a:srgbClr val="4D4D4D"/>
                </a:solidFill>
              </a:rPr>
              <a:t>Primaire</a:t>
            </a:r>
            <a:r>
              <a:rPr lang="en-US" dirty="0">
                <a:solidFill>
                  <a:srgbClr val="4D4D4D"/>
                </a:solidFill>
              </a:rPr>
              <a:t> </a:t>
            </a:r>
            <a:br>
              <a:rPr lang="en-US" dirty="0">
                <a:solidFill>
                  <a:srgbClr val="4D4D4D"/>
                </a:solidFill>
              </a:rPr>
            </a:br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41" name="Titre 3"/>
          <p:cNvSpPr txBox="1">
            <a:spLocks/>
          </p:cNvSpPr>
          <p:nvPr/>
        </p:nvSpPr>
        <p:spPr>
          <a:xfrm>
            <a:off x="214282" y="214290"/>
            <a:ext cx="8507413" cy="793750"/>
          </a:xfrm>
          <a:prstGeom prst="rect">
            <a:avLst/>
          </a:prstGeom>
        </p:spPr>
        <p:txBody>
          <a:bodyPr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sz="3200" b="1" dirty="0">
                <a:solidFill>
                  <a:schemeClr val="accent6">
                    <a:lumMod val="50000"/>
                  </a:schemeClr>
                </a:solidFill>
                <a:latin typeface="Baskerville Old Face"/>
              </a:rPr>
              <a:t>Le Secteur Primaire </a:t>
            </a:r>
          </a:p>
        </p:txBody>
      </p:sp>
      <p:pic>
        <p:nvPicPr>
          <p:cNvPr id="9218" name="Picture 2" descr="RÃ©sultat de recherche d'images pour &quot;secteur primaire&quot;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48383" y="3143248"/>
            <a:ext cx="2477618" cy="1428760"/>
          </a:xfrm>
          <a:prstGeom prst="rect">
            <a:avLst/>
          </a:prstGeom>
          <a:noFill/>
        </p:spPr>
      </p:pic>
      <p:pic>
        <p:nvPicPr>
          <p:cNvPr id="9220" name="Picture 4" descr="Image associÃ©e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786578" y="5072074"/>
            <a:ext cx="2143140" cy="1571626"/>
          </a:xfrm>
          <a:prstGeom prst="rect">
            <a:avLst/>
          </a:prstGeom>
          <a:noFill/>
        </p:spPr>
      </p:pic>
      <p:sp>
        <p:nvSpPr>
          <p:cNvPr id="9222" name="AutoShape 6" descr="RÃ©sultat de recherche d'images pour &quot;extraction minier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9224" name="AutoShape 8" descr="RÃ©sultat de recherche d'images pour &quot;extraction minier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9226" name="AutoShape 10" descr="RÃ©sultat de recherche d'images pour &quot;extraction minier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9228" name="AutoShape 12" descr="RÃ©sultat de recherche d'images pour &quot;extraction minier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9230" name="Picture 14" descr="Image associÃ©e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57158" y="5081283"/>
            <a:ext cx="2765406" cy="1560942"/>
          </a:xfrm>
          <a:prstGeom prst="rect">
            <a:avLst/>
          </a:prstGeom>
          <a:noFill/>
        </p:spPr>
      </p:pic>
      <p:pic>
        <p:nvPicPr>
          <p:cNvPr id="9232" name="Picture 16" descr="RÃ©sultat de recherche d'images pour &quot;sylviculture&quot;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85720" y="3000372"/>
            <a:ext cx="2857520" cy="1462062"/>
          </a:xfrm>
          <a:prstGeom prst="rect">
            <a:avLst/>
          </a:prstGeom>
          <a:noFill/>
        </p:spPr>
      </p:pic>
      <p:pic>
        <p:nvPicPr>
          <p:cNvPr id="27" name="Son enregistré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 cstate="print"/>
          <a:stretch>
            <a:fillRect/>
          </a:stretch>
        </p:blipFill>
        <p:spPr>
          <a:xfrm>
            <a:off x="4419600" y="3276600"/>
            <a:ext cx="304800" cy="304800"/>
          </a:xfrm>
          <a:prstGeom prst="rect">
            <a:avLst/>
          </a:prstGeom>
        </p:spPr>
      </p:pic>
      <p:pic>
        <p:nvPicPr>
          <p:cNvPr id="29" name="Picture 15">
            <a:extLst>
              <a:ext uri="{FF2B5EF4-FFF2-40B4-BE49-F238E27FC236}">
                <a16:creationId xmlns:a16="http://schemas.microsoft.com/office/drawing/2014/main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460" y="0"/>
            <a:ext cx="3682540" cy="214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9769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7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7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7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2" dur="2120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53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  <p:bldLst>
      <p:bldP spid="50" grpId="0" animBg="1"/>
      <p:bldP spid="49" grpId="0" animBg="1"/>
      <p:bldP spid="48" grpId="0" animBg="1"/>
      <p:bldP spid="47" grpId="0" animBg="1"/>
      <p:bldP spid="63" grpId="0"/>
      <p:bldP spid="64" grpId="0"/>
      <p:bldP spid="65" grpId="0"/>
      <p:bldP spid="66" grpId="0"/>
      <p:bldP spid="8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4B1BB67F-A885-4A15-B989-210F399F4143}"/>
              </a:ext>
            </a:extLst>
          </p:cNvPr>
          <p:cNvSpPr>
            <a:spLocks noChangeAspect="1"/>
          </p:cNvSpPr>
          <p:nvPr/>
        </p:nvSpPr>
        <p:spPr>
          <a:xfrm rot="7345456">
            <a:off x="3148117" y="4461109"/>
            <a:ext cx="2542364" cy="1408530"/>
          </a:xfrm>
          <a:custGeom>
            <a:avLst/>
            <a:gdLst>
              <a:gd name="connsiteX0" fmla="*/ 859612 w 2542364"/>
              <a:gd name="connsiteY0" fmla="*/ 1836892 h 1878040"/>
              <a:gd name="connsiteX1" fmla="*/ 863962 w 2542364"/>
              <a:gd name="connsiteY1" fmla="*/ 1811816 h 1878040"/>
              <a:gd name="connsiteX2" fmla="*/ 855057 w 2542364"/>
              <a:gd name="connsiteY2" fmla="*/ 1811641 h 1878040"/>
              <a:gd name="connsiteX3" fmla="*/ 870009 w 2542364"/>
              <a:gd name="connsiteY3" fmla="*/ 1725466 h 1878040"/>
              <a:gd name="connsiteX4" fmla="*/ 671105 w 2542364"/>
              <a:gd name="connsiteY4" fmla="*/ 841178 h 1878040"/>
              <a:gd name="connsiteX5" fmla="*/ 75721 w 2542364"/>
              <a:gd name="connsiteY5" fmla="*/ 331052 h 1878040"/>
              <a:gd name="connsiteX6" fmla="*/ 0 w 2542364"/>
              <a:gd name="connsiteY6" fmla="*/ 302307 h 1878040"/>
              <a:gd name="connsiteX7" fmla="*/ 85488 w 2542364"/>
              <a:gd name="connsiteY7" fmla="*/ 0 h 1878040"/>
              <a:gd name="connsiteX8" fmla="*/ 188258 w 2542364"/>
              <a:gd name="connsiteY8" fmla="*/ 38309 h 1878040"/>
              <a:gd name="connsiteX9" fmla="*/ 937165 w 2542364"/>
              <a:gd name="connsiteY9" fmla="*/ 672173 h 1878040"/>
              <a:gd name="connsiteX10" fmla="*/ 1181273 w 2542364"/>
              <a:gd name="connsiteY10" fmla="*/ 1757434 h 1878040"/>
              <a:gd name="connsiteX11" fmla="*/ 1177007 w 2542364"/>
              <a:gd name="connsiteY11" fmla="*/ 1782028 h 1878040"/>
              <a:gd name="connsiteX12" fmla="*/ 2416567 w 2542364"/>
              <a:gd name="connsiteY12" fmla="*/ 1782028 h 1878040"/>
              <a:gd name="connsiteX13" fmla="*/ 2425291 w 2542364"/>
              <a:gd name="connsiteY13" fmla="*/ 1760967 h 1878040"/>
              <a:gd name="connsiteX14" fmla="*/ 2473784 w 2542364"/>
              <a:gd name="connsiteY14" fmla="*/ 1740880 h 1878040"/>
              <a:gd name="connsiteX15" fmla="*/ 2522278 w 2542364"/>
              <a:gd name="connsiteY15" fmla="*/ 1760967 h 1878040"/>
              <a:gd name="connsiteX16" fmla="*/ 2531002 w 2542364"/>
              <a:gd name="connsiteY16" fmla="*/ 1782028 h 1878040"/>
              <a:gd name="connsiteX17" fmla="*/ 2542364 w 2542364"/>
              <a:gd name="connsiteY17" fmla="*/ 1782028 h 1878040"/>
              <a:gd name="connsiteX18" fmla="*/ 2542364 w 2542364"/>
              <a:gd name="connsiteY18" fmla="*/ 1809460 h 1878040"/>
              <a:gd name="connsiteX19" fmla="*/ 2542364 w 2542364"/>
              <a:gd name="connsiteY19" fmla="*/ 1836892 h 1878040"/>
              <a:gd name="connsiteX20" fmla="*/ 2531002 w 2542364"/>
              <a:gd name="connsiteY20" fmla="*/ 1836892 h 1878040"/>
              <a:gd name="connsiteX21" fmla="*/ 2522278 w 2542364"/>
              <a:gd name="connsiteY21" fmla="*/ 1857954 h 1878040"/>
              <a:gd name="connsiteX22" fmla="*/ 2473784 w 2542364"/>
              <a:gd name="connsiteY22" fmla="*/ 1878040 h 1878040"/>
              <a:gd name="connsiteX23" fmla="*/ 2425291 w 2542364"/>
              <a:gd name="connsiteY23" fmla="*/ 1857954 h 1878040"/>
              <a:gd name="connsiteX24" fmla="*/ 2416567 w 2542364"/>
              <a:gd name="connsiteY24" fmla="*/ 1836892 h 187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42364" h="1878040">
                <a:moveTo>
                  <a:pt x="859612" y="1836892"/>
                </a:moveTo>
                <a:lnTo>
                  <a:pt x="863962" y="1811816"/>
                </a:lnTo>
                <a:lnTo>
                  <a:pt x="855057" y="1811641"/>
                </a:lnTo>
                <a:lnTo>
                  <a:pt x="870009" y="1725466"/>
                </a:lnTo>
                <a:cubicBezTo>
                  <a:pt x="907199" y="1427200"/>
                  <a:pt x="844853" y="1114707"/>
                  <a:pt x="671105" y="841178"/>
                </a:cubicBezTo>
                <a:cubicBezTo>
                  <a:pt x="522177" y="606725"/>
                  <a:pt x="312549" y="434192"/>
                  <a:pt x="75721" y="331052"/>
                </a:cubicBezTo>
                <a:lnTo>
                  <a:pt x="0" y="302307"/>
                </a:lnTo>
                <a:lnTo>
                  <a:pt x="85488" y="0"/>
                </a:lnTo>
                <a:lnTo>
                  <a:pt x="188258" y="38309"/>
                </a:lnTo>
                <a:cubicBezTo>
                  <a:pt x="486368" y="163900"/>
                  <a:pt x="750582" y="378440"/>
                  <a:pt x="937165" y="672173"/>
                </a:cubicBezTo>
                <a:cubicBezTo>
                  <a:pt x="1150402" y="1007867"/>
                  <a:pt x="1226917" y="1391381"/>
                  <a:pt x="1181273" y="1757434"/>
                </a:cubicBezTo>
                <a:lnTo>
                  <a:pt x="1177007" y="1782028"/>
                </a:lnTo>
                <a:lnTo>
                  <a:pt x="2416567" y="1782028"/>
                </a:lnTo>
                <a:lnTo>
                  <a:pt x="2425291" y="1760967"/>
                </a:lnTo>
                <a:cubicBezTo>
                  <a:pt x="2437701" y="1748556"/>
                  <a:pt x="2454846" y="1740880"/>
                  <a:pt x="2473784" y="1740880"/>
                </a:cubicBezTo>
                <a:cubicBezTo>
                  <a:pt x="2492722" y="1740880"/>
                  <a:pt x="2509867" y="1748556"/>
                  <a:pt x="2522278" y="1760967"/>
                </a:cubicBezTo>
                <a:lnTo>
                  <a:pt x="2531002" y="1782028"/>
                </a:lnTo>
                <a:lnTo>
                  <a:pt x="2542364" y="1782028"/>
                </a:lnTo>
                <a:lnTo>
                  <a:pt x="2542364" y="1809460"/>
                </a:lnTo>
                <a:lnTo>
                  <a:pt x="2542364" y="1836892"/>
                </a:lnTo>
                <a:lnTo>
                  <a:pt x="2531002" y="1836892"/>
                </a:lnTo>
                <a:lnTo>
                  <a:pt x="2522278" y="1857954"/>
                </a:lnTo>
                <a:cubicBezTo>
                  <a:pt x="2509867" y="1870364"/>
                  <a:pt x="2492722" y="1878040"/>
                  <a:pt x="2473784" y="1878040"/>
                </a:cubicBezTo>
                <a:cubicBezTo>
                  <a:pt x="2454846" y="1878040"/>
                  <a:pt x="2437701" y="1870364"/>
                  <a:pt x="2425291" y="1857954"/>
                </a:cubicBezTo>
                <a:lnTo>
                  <a:pt x="2416567" y="1836892"/>
                </a:lnTo>
                <a:close/>
              </a:path>
            </a:pathLst>
          </a:custGeom>
          <a:solidFill>
            <a:srgbClr val="3EB8CD"/>
          </a:solidFill>
          <a:ln>
            <a:solidFill>
              <a:schemeClr val="bg1">
                <a:alpha val="50000"/>
              </a:scheme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0A2AD900-70EF-4C72-8B4E-0338EDC35B30}"/>
              </a:ext>
            </a:extLst>
          </p:cNvPr>
          <p:cNvSpPr>
            <a:spLocks noChangeAspect="1"/>
          </p:cNvSpPr>
          <p:nvPr/>
        </p:nvSpPr>
        <p:spPr>
          <a:xfrm>
            <a:off x="5555129" y="2883584"/>
            <a:ext cx="943290" cy="2817355"/>
          </a:xfrm>
          <a:custGeom>
            <a:avLst/>
            <a:gdLst>
              <a:gd name="connsiteX0" fmla="*/ 719476 w 1257720"/>
              <a:gd name="connsiteY0" fmla="*/ 0 h 2817355"/>
              <a:gd name="connsiteX1" fmla="*/ 751601 w 1257720"/>
              <a:gd name="connsiteY1" fmla="*/ 87772 h 2817355"/>
              <a:gd name="connsiteX2" fmla="*/ 813265 w 1257720"/>
              <a:gd name="connsiteY2" fmla="*/ 495644 h 2817355"/>
              <a:gd name="connsiteX3" fmla="*/ 314130 w 1257720"/>
              <a:gd name="connsiteY3" fmla="*/ 1554037 h 2817355"/>
              <a:gd name="connsiteX4" fmla="*/ 226795 w 1257720"/>
              <a:gd name="connsiteY4" fmla="*/ 1619345 h 2817355"/>
              <a:gd name="connsiteX5" fmla="*/ 1171754 w 1257720"/>
              <a:gd name="connsiteY5" fmla="*/ 2686797 h 2817355"/>
              <a:gd name="connsiteX6" fmla="*/ 1193307 w 1257720"/>
              <a:gd name="connsiteY6" fmla="*/ 2679369 h 2817355"/>
              <a:gd name="connsiteX7" fmla="*/ 1240490 w 1257720"/>
              <a:gd name="connsiteY7" fmla="*/ 2702365 h 2817355"/>
              <a:gd name="connsiteX8" fmla="*/ 1257593 w 1257720"/>
              <a:gd name="connsiteY8" fmla="*/ 2751989 h 2817355"/>
              <a:gd name="connsiteX9" fmla="*/ 1247606 w 1257720"/>
              <a:gd name="connsiteY9" fmla="*/ 2772482 h 2817355"/>
              <a:gd name="connsiteX10" fmla="*/ 1255138 w 1257720"/>
              <a:gd name="connsiteY10" fmla="*/ 2780989 h 2817355"/>
              <a:gd name="connsiteX11" fmla="*/ 1234598 w 1257720"/>
              <a:gd name="connsiteY11" fmla="*/ 2799172 h 2817355"/>
              <a:gd name="connsiteX12" fmla="*/ 1214058 w 1257720"/>
              <a:gd name="connsiteY12" fmla="*/ 2817355 h 2817355"/>
              <a:gd name="connsiteX13" fmla="*/ 1206526 w 1257720"/>
              <a:gd name="connsiteY13" fmla="*/ 2808848 h 2817355"/>
              <a:gd name="connsiteX14" fmla="*/ 1184973 w 1257720"/>
              <a:gd name="connsiteY14" fmla="*/ 2816276 h 2817355"/>
              <a:gd name="connsiteX15" fmla="*/ 1137790 w 1257720"/>
              <a:gd name="connsiteY15" fmla="*/ 2793280 h 2817355"/>
              <a:gd name="connsiteX16" fmla="*/ 1120687 w 1257720"/>
              <a:gd name="connsiteY16" fmla="*/ 2743656 h 2817355"/>
              <a:gd name="connsiteX17" fmla="*/ 1130674 w 1257720"/>
              <a:gd name="connsiteY17" fmla="*/ 2723163 h 2817355"/>
              <a:gd name="connsiteX18" fmla="*/ 0 w 1257720"/>
              <a:gd name="connsiteY18" fmla="*/ 1445923 h 2817355"/>
              <a:gd name="connsiteX19" fmla="*/ 45533 w 1257720"/>
              <a:gd name="connsiteY19" fmla="*/ 1421210 h 2817355"/>
              <a:gd name="connsiteX20" fmla="*/ 48921 w 1257720"/>
              <a:gd name="connsiteY20" fmla="*/ 1418414 h 2817355"/>
              <a:gd name="connsiteX21" fmla="*/ 52370 w 1257720"/>
              <a:gd name="connsiteY21" fmla="*/ 1422310 h 2817355"/>
              <a:gd name="connsiteX22" fmla="*/ 66526 w 1257720"/>
              <a:gd name="connsiteY22" fmla="*/ 1413709 h 2817355"/>
              <a:gd name="connsiteX23" fmla="*/ 559265 w 1257720"/>
              <a:gd name="connsiteY23" fmla="*/ 486978 h 2817355"/>
              <a:gd name="connsiteX24" fmla="*/ 509020 w 1257720"/>
              <a:gd name="connsiteY24" fmla="*/ 154638 h 2817355"/>
              <a:gd name="connsiteX25" fmla="*/ 484402 w 1257720"/>
              <a:gd name="connsiteY25" fmla="*/ 87376 h 2817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57720" h="2817355">
                <a:moveTo>
                  <a:pt x="719476" y="0"/>
                </a:moveTo>
                <a:lnTo>
                  <a:pt x="751601" y="87772"/>
                </a:lnTo>
                <a:cubicBezTo>
                  <a:pt x="791676" y="216619"/>
                  <a:pt x="813265" y="353611"/>
                  <a:pt x="813265" y="495644"/>
                </a:cubicBezTo>
                <a:cubicBezTo>
                  <a:pt x="813265" y="921745"/>
                  <a:pt x="618964" y="1302466"/>
                  <a:pt x="314130" y="1554037"/>
                </a:cubicBezTo>
                <a:lnTo>
                  <a:pt x="226795" y="1619345"/>
                </a:lnTo>
                <a:lnTo>
                  <a:pt x="1171754" y="2686797"/>
                </a:lnTo>
                <a:lnTo>
                  <a:pt x="1193307" y="2679369"/>
                </a:lnTo>
                <a:cubicBezTo>
                  <a:pt x="1210825" y="2680435"/>
                  <a:pt x="1227937" y="2688184"/>
                  <a:pt x="1240490" y="2702365"/>
                </a:cubicBezTo>
                <a:cubicBezTo>
                  <a:pt x="1253043" y="2716545"/>
                  <a:pt x="1258660" y="2734470"/>
                  <a:pt x="1257593" y="2751989"/>
                </a:cubicBezTo>
                <a:lnTo>
                  <a:pt x="1247606" y="2772482"/>
                </a:lnTo>
                <a:lnTo>
                  <a:pt x="1255138" y="2780989"/>
                </a:lnTo>
                <a:lnTo>
                  <a:pt x="1234598" y="2799172"/>
                </a:lnTo>
                <a:lnTo>
                  <a:pt x="1214058" y="2817355"/>
                </a:lnTo>
                <a:lnTo>
                  <a:pt x="1206526" y="2808848"/>
                </a:lnTo>
                <a:lnTo>
                  <a:pt x="1184973" y="2816276"/>
                </a:lnTo>
                <a:cubicBezTo>
                  <a:pt x="1167455" y="2815209"/>
                  <a:pt x="1150343" y="2807460"/>
                  <a:pt x="1137790" y="2793280"/>
                </a:cubicBezTo>
                <a:cubicBezTo>
                  <a:pt x="1125237" y="2779100"/>
                  <a:pt x="1119620" y="2761174"/>
                  <a:pt x="1120687" y="2743656"/>
                </a:cubicBezTo>
                <a:lnTo>
                  <a:pt x="1130674" y="2723163"/>
                </a:lnTo>
                <a:lnTo>
                  <a:pt x="0" y="1445923"/>
                </a:lnTo>
                <a:lnTo>
                  <a:pt x="45533" y="1421210"/>
                </a:lnTo>
                <a:lnTo>
                  <a:pt x="48921" y="1418414"/>
                </a:lnTo>
                <a:lnTo>
                  <a:pt x="52370" y="1422310"/>
                </a:lnTo>
                <a:lnTo>
                  <a:pt x="66526" y="1413709"/>
                </a:lnTo>
                <a:cubicBezTo>
                  <a:pt x="363810" y="1212868"/>
                  <a:pt x="559265" y="872748"/>
                  <a:pt x="559265" y="486978"/>
                </a:cubicBezTo>
                <a:cubicBezTo>
                  <a:pt x="559265" y="371247"/>
                  <a:pt x="541674" y="259624"/>
                  <a:pt x="509020" y="154638"/>
                </a:cubicBezTo>
                <a:lnTo>
                  <a:pt x="484402" y="87376"/>
                </a:lnTo>
                <a:close/>
              </a:path>
            </a:pathLst>
          </a:custGeom>
          <a:solidFill>
            <a:srgbClr val="85C401"/>
          </a:solidFill>
          <a:ln>
            <a:solidFill>
              <a:schemeClr val="bg1">
                <a:alpha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A83021B9-ABD2-43FC-BA66-17E7A0E2BCF9}"/>
              </a:ext>
            </a:extLst>
          </p:cNvPr>
          <p:cNvSpPr>
            <a:spLocks noChangeAspect="1"/>
          </p:cNvSpPr>
          <p:nvPr/>
        </p:nvSpPr>
        <p:spPr>
          <a:xfrm>
            <a:off x="5015425" y="2007626"/>
            <a:ext cx="2039524" cy="1085050"/>
          </a:xfrm>
          <a:custGeom>
            <a:avLst/>
            <a:gdLst>
              <a:gd name="connsiteX0" fmla="*/ 24112 w 2719365"/>
              <a:gd name="connsiteY0" fmla="*/ 0 h 1085050"/>
              <a:gd name="connsiteX1" fmla="*/ 1172928 w 2719365"/>
              <a:gd name="connsiteY1" fmla="*/ 781803 h 1085050"/>
              <a:gd name="connsiteX2" fmla="*/ 1223158 w 2719365"/>
              <a:gd name="connsiteY2" fmla="*/ 950928 h 1085050"/>
              <a:gd name="connsiteX3" fmla="*/ 2582356 w 2719365"/>
              <a:gd name="connsiteY3" fmla="*/ 449892 h 1085050"/>
              <a:gd name="connsiteX4" fmla="*/ 2583257 w 2719365"/>
              <a:gd name="connsiteY4" fmla="*/ 427114 h 1085050"/>
              <a:gd name="connsiteX5" fmla="*/ 2621809 w 2719365"/>
              <a:gd name="connsiteY5" fmla="*/ 391494 h 1085050"/>
              <a:gd name="connsiteX6" fmla="*/ 2648721 w 2719365"/>
              <a:gd name="connsiteY6" fmla="*/ 387318 h 1085050"/>
              <a:gd name="connsiteX7" fmla="*/ 2674258 w 2719365"/>
              <a:gd name="connsiteY7" fmla="*/ 393568 h 1085050"/>
              <a:gd name="connsiteX8" fmla="*/ 2689728 w 2719365"/>
              <a:gd name="connsiteY8" fmla="*/ 410312 h 1085050"/>
              <a:gd name="connsiteX9" fmla="*/ 2700389 w 2719365"/>
              <a:gd name="connsiteY9" fmla="*/ 406382 h 1085050"/>
              <a:gd name="connsiteX10" fmla="*/ 2709877 w 2719365"/>
              <a:gd name="connsiteY10" fmla="*/ 432121 h 1085050"/>
              <a:gd name="connsiteX11" fmla="*/ 2719365 w 2719365"/>
              <a:gd name="connsiteY11" fmla="*/ 457860 h 1085050"/>
              <a:gd name="connsiteX12" fmla="*/ 2708704 w 2719365"/>
              <a:gd name="connsiteY12" fmla="*/ 461790 h 1085050"/>
              <a:gd name="connsiteX13" fmla="*/ 2707803 w 2719365"/>
              <a:gd name="connsiteY13" fmla="*/ 484569 h 1085050"/>
              <a:gd name="connsiteX14" fmla="*/ 2669250 w 2719365"/>
              <a:gd name="connsiteY14" fmla="*/ 520188 h 1085050"/>
              <a:gd name="connsiteX15" fmla="*/ 2616802 w 2719365"/>
              <a:gd name="connsiteY15" fmla="*/ 518115 h 1085050"/>
              <a:gd name="connsiteX16" fmla="*/ 2601332 w 2719365"/>
              <a:gd name="connsiteY16" fmla="*/ 501370 h 1085050"/>
              <a:gd name="connsiteX17" fmla="*/ 1017940 w 2719365"/>
              <a:gd name="connsiteY17" fmla="*/ 1085050 h 1085050"/>
              <a:gd name="connsiteX18" fmla="*/ 1016237 w 2719365"/>
              <a:gd name="connsiteY18" fmla="*/ 1068163 h 1085050"/>
              <a:gd name="connsiteX19" fmla="*/ 1014058 w 2719365"/>
              <a:gd name="connsiteY19" fmla="*/ 1068973 h 1085050"/>
              <a:gd name="connsiteX20" fmla="*/ 1010145 w 2719365"/>
              <a:gd name="connsiteY20" fmla="*/ 1030155 h 1085050"/>
              <a:gd name="connsiteX21" fmla="*/ 1009949 w 2719365"/>
              <a:gd name="connsiteY21" fmla="*/ 1029523 h 1085050"/>
              <a:gd name="connsiteX22" fmla="*/ 1010077 w 2719365"/>
              <a:gd name="connsiteY22" fmla="*/ 1029476 h 1085050"/>
              <a:gd name="connsiteX23" fmla="*/ 1009517 w 2719365"/>
              <a:gd name="connsiteY23" fmla="*/ 1023928 h 1085050"/>
              <a:gd name="connsiteX24" fmla="*/ 24112 w 2719365"/>
              <a:gd name="connsiteY24" fmla="*/ 220800 h 1085050"/>
              <a:gd name="connsiteX25" fmla="*/ 0 w 2719365"/>
              <a:gd name="connsiteY25" fmla="*/ 222018 h 1085050"/>
              <a:gd name="connsiteX26" fmla="*/ 0 w 2719365"/>
              <a:gd name="connsiteY26" fmla="*/ 1218 h 1085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2719365" h="1085050">
                <a:moveTo>
                  <a:pt x="24112" y="0"/>
                </a:moveTo>
                <a:cubicBezTo>
                  <a:pt x="546087" y="0"/>
                  <a:pt x="992394" y="323970"/>
                  <a:pt x="1172928" y="781803"/>
                </a:cubicBezTo>
                <a:lnTo>
                  <a:pt x="1223158" y="950928"/>
                </a:lnTo>
                <a:lnTo>
                  <a:pt x="2582356" y="449892"/>
                </a:lnTo>
                <a:lnTo>
                  <a:pt x="2583257" y="427114"/>
                </a:lnTo>
                <a:cubicBezTo>
                  <a:pt x="2590608" y="411176"/>
                  <a:pt x="2604040" y="398044"/>
                  <a:pt x="2621809" y="391494"/>
                </a:cubicBezTo>
                <a:cubicBezTo>
                  <a:pt x="2630694" y="388219"/>
                  <a:pt x="2639822" y="386899"/>
                  <a:pt x="2648721" y="387318"/>
                </a:cubicBezTo>
                <a:cubicBezTo>
                  <a:pt x="2657620" y="387736"/>
                  <a:pt x="2666290" y="389892"/>
                  <a:pt x="2674258" y="393568"/>
                </a:cubicBezTo>
                <a:lnTo>
                  <a:pt x="2689728" y="410312"/>
                </a:lnTo>
                <a:lnTo>
                  <a:pt x="2700389" y="406382"/>
                </a:lnTo>
                <a:lnTo>
                  <a:pt x="2709877" y="432121"/>
                </a:lnTo>
                <a:lnTo>
                  <a:pt x="2719365" y="457860"/>
                </a:lnTo>
                <a:lnTo>
                  <a:pt x="2708704" y="461790"/>
                </a:lnTo>
                <a:lnTo>
                  <a:pt x="2707803" y="484569"/>
                </a:lnTo>
                <a:cubicBezTo>
                  <a:pt x="2700451" y="500506"/>
                  <a:pt x="2687019" y="513638"/>
                  <a:pt x="2669250" y="520188"/>
                </a:cubicBezTo>
                <a:cubicBezTo>
                  <a:pt x="2651480" y="526739"/>
                  <a:pt x="2632739" y="525466"/>
                  <a:pt x="2616802" y="518115"/>
                </a:cubicBezTo>
                <a:lnTo>
                  <a:pt x="2601332" y="501370"/>
                </a:lnTo>
                <a:lnTo>
                  <a:pt x="1017940" y="1085050"/>
                </a:lnTo>
                <a:lnTo>
                  <a:pt x="1016237" y="1068163"/>
                </a:lnTo>
                <a:lnTo>
                  <a:pt x="1014058" y="1068973"/>
                </a:lnTo>
                <a:lnTo>
                  <a:pt x="1010145" y="1030155"/>
                </a:lnTo>
                <a:lnTo>
                  <a:pt x="1009949" y="1029523"/>
                </a:lnTo>
                <a:lnTo>
                  <a:pt x="1010077" y="1029476"/>
                </a:lnTo>
                <a:lnTo>
                  <a:pt x="1009517" y="1023928"/>
                </a:lnTo>
                <a:cubicBezTo>
                  <a:pt x="915726" y="565584"/>
                  <a:pt x="510184" y="220800"/>
                  <a:pt x="24112" y="220800"/>
                </a:cubicBezTo>
                <a:lnTo>
                  <a:pt x="0" y="222018"/>
                </a:lnTo>
                <a:lnTo>
                  <a:pt x="0" y="1218"/>
                </a:lnTo>
                <a:close/>
              </a:path>
            </a:pathLst>
          </a:custGeom>
          <a:solidFill>
            <a:srgbClr val="FF2B2A"/>
          </a:solidFill>
          <a:ln>
            <a:solidFill>
              <a:schemeClr val="bg1">
                <a:alpha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530B8F8-6FBF-420A-8E33-30B8EFE64353}"/>
              </a:ext>
            </a:extLst>
          </p:cNvPr>
          <p:cNvSpPr txBox="1"/>
          <p:nvPr/>
        </p:nvSpPr>
        <p:spPr>
          <a:xfrm rot="20335263">
            <a:off x="5741746" y="1536016"/>
            <a:ext cx="24700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FF2B2A"/>
                </a:solidFill>
                <a:latin typeface="Candara" panose="020E0502030303020204" pitchFamily="34" charset="0"/>
              </a:rPr>
              <a:t>Industrie</a:t>
            </a:r>
            <a:r>
              <a:rPr lang="en-US" sz="2000" b="1" dirty="0">
                <a:solidFill>
                  <a:srgbClr val="FF2B2A"/>
                </a:solidFill>
                <a:latin typeface="Candara" panose="020E0502030303020204" pitchFamily="34" charset="0"/>
              </a:rPr>
              <a:t> </a:t>
            </a:r>
          </a:p>
          <a:p>
            <a:endParaRPr lang="en-US" sz="2000" dirty="0">
              <a:solidFill>
                <a:srgbClr val="56595E"/>
              </a:solidFill>
              <a:latin typeface="Candara" panose="020E0502030303020204" pitchFamily="34" charset="0"/>
            </a:endParaRPr>
          </a:p>
          <a:p>
            <a:endParaRPr lang="en-US" sz="2000" dirty="0">
              <a:solidFill>
                <a:srgbClr val="56595E"/>
              </a:solidFill>
              <a:latin typeface="Candara" panose="020E050203030302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F91145A-C422-41F0-8FE6-EFF5ABDBDE2D}"/>
              </a:ext>
            </a:extLst>
          </p:cNvPr>
          <p:cNvSpPr txBox="1"/>
          <p:nvPr/>
        </p:nvSpPr>
        <p:spPr>
          <a:xfrm rot="2906228">
            <a:off x="5130014" y="5184336"/>
            <a:ext cx="3293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rgbClr val="85C401"/>
                </a:solidFill>
                <a:latin typeface="Candara" panose="020E0502030303020204" pitchFamily="34" charset="0"/>
              </a:rPr>
              <a:t>L</a:t>
            </a:r>
            <a:r>
              <a:rPr lang="en-US" sz="2000" b="1" dirty="0" err="1">
                <a:solidFill>
                  <a:srgbClr val="85C401"/>
                </a:solidFill>
                <a:latin typeface="Candara" panose="020E0502030303020204" pitchFamily="34" charset="0"/>
              </a:rPr>
              <a:t>Bâtiment</a:t>
            </a:r>
            <a:r>
              <a:rPr lang="en-US" sz="2000" b="1" dirty="0">
                <a:solidFill>
                  <a:srgbClr val="85C401"/>
                </a:solidFill>
                <a:latin typeface="Candara" panose="020E0502030303020204" pitchFamily="34" charset="0"/>
              </a:rPr>
              <a:t>  </a:t>
            </a:r>
          </a:p>
          <a:p>
            <a:endParaRPr lang="en-US" sz="200" dirty="0">
              <a:solidFill>
                <a:srgbClr val="56595E"/>
              </a:solidFill>
              <a:latin typeface="Candara" panose="020E0502030303020204" pitchFamily="34" charset="0"/>
            </a:endParaRPr>
          </a:p>
          <a:p>
            <a:endParaRPr lang="en-US" sz="1000" dirty="0">
              <a:solidFill>
                <a:srgbClr val="56595E"/>
              </a:solidFill>
              <a:latin typeface="Candara" panose="020E050203030302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CEC2A33-2FFF-493D-8540-25436425C2D4}"/>
              </a:ext>
            </a:extLst>
          </p:cNvPr>
          <p:cNvSpPr txBox="1"/>
          <p:nvPr/>
        </p:nvSpPr>
        <p:spPr>
          <a:xfrm rot="18128163">
            <a:off x="3047571" y="5673547"/>
            <a:ext cx="22173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A" altLang="en-US" sz="2400" b="1" dirty="0">
                <a:solidFill>
                  <a:srgbClr val="3EB8CD"/>
                </a:solidFill>
                <a:latin typeface="Candara" panose="020E0502030303020204" pitchFamily="34" charset="0"/>
              </a:rPr>
              <a:t>Travaux </a:t>
            </a:r>
          </a:p>
          <a:p>
            <a:pPr algn="r"/>
            <a:r>
              <a:rPr lang="fr-CA" altLang="en-US" sz="2400" b="1" dirty="0">
                <a:solidFill>
                  <a:srgbClr val="3EB8CD"/>
                </a:solidFill>
                <a:latin typeface="Candara" panose="020E0502030303020204" pitchFamily="34" charset="0"/>
              </a:rPr>
              <a:t>publics </a:t>
            </a:r>
            <a:r>
              <a:rPr lang="en-US" sz="2400" b="1" dirty="0">
                <a:solidFill>
                  <a:srgbClr val="3EB8CD"/>
                </a:solidFill>
                <a:latin typeface="Candara" panose="020E0502030303020204" pitchFamily="34" charset="0"/>
              </a:rPr>
              <a:t> </a:t>
            </a:r>
            <a:endParaRPr lang="en-US" sz="2400" dirty="0">
              <a:solidFill>
                <a:srgbClr val="56595E"/>
              </a:solidFill>
              <a:latin typeface="Candara" panose="020E0502030303020204" pitchFamily="34" charset="0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68C5E3FD-CC95-4713-96B2-F1B7FC358170}"/>
              </a:ext>
            </a:extLst>
          </p:cNvPr>
          <p:cNvSpPr>
            <a:spLocks noChangeAspect="1"/>
          </p:cNvSpPr>
          <p:nvPr/>
        </p:nvSpPr>
        <p:spPr>
          <a:xfrm rot="14929748">
            <a:off x="7059527" y="2347339"/>
            <a:ext cx="731520" cy="548640"/>
          </a:xfrm>
          <a:prstGeom prst="ellipse">
            <a:avLst/>
          </a:prstGeom>
          <a:solidFill>
            <a:srgbClr val="FF2B2A"/>
          </a:solidFill>
          <a:ln>
            <a:solidFill>
              <a:schemeClr val="bg1">
                <a:alpha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8019C57E-B2C0-47F7-BF75-0E0102004C49}"/>
              </a:ext>
            </a:extLst>
          </p:cNvPr>
          <p:cNvSpPr>
            <a:spLocks noChangeAspect="1"/>
          </p:cNvSpPr>
          <p:nvPr/>
        </p:nvSpPr>
        <p:spPr>
          <a:xfrm rot="14929748">
            <a:off x="6022900" y="5737965"/>
            <a:ext cx="731520" cy="548640"/>
          </a:xfrm>
          <a:prstGeom prst="ellipse">
            <a:avLst/>
          </a:prstGeom>
          <a:solidFill>
            <a:srgbClr val="85C401"/>
          </a:solidFill>
          <a:ln>
            <a:solidFill>
              <a:schemeClr val="bg1">
                <a:alpha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A430FF5A-7B0D-4075-9ED6-8FCA2D67C438}"/>
              </a:ext>
            </a:extLst>
          </p:cNvPr>
          <p:cNvSpPr>
            <a:spLocks noChangeAspect="1"/>
          </p:cNvSpPr>
          <p:nvPr/>
        </p:nvSpPr>
        <p:spPr>
          <a:xfrm rot="14929748">
            <a:off x="3103987" y="5913120"/>
            <a:ext cx="731520" cy="548640"/>
          </a:xfrm>
          <a:prstGeom prst="ellipse">
            <a:avLst/>
          </a:prstGeom>
          <a:solidFill>
            <a:srgbClr val="3EB8CD"/>
          </a:solidFill>
          <a:ln>
            <a:solidFill>
              <a:schemeClr val="bg1">
                <a:alpha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Group 83">
            <a:extLst>
              <a:ext uri="{FF2B5EF4-FFF2-40B4-BE49-F238E27FC236}">
                <a16:creationId xmlns:a16="http://schemas.microsoft.com/office/drawing/2014/main" id="{C9FFB87F-167B-44D4-9F01-40DF0B572441}"/>
              </a:ext>
            </a:extLst>
          </p:cNvPr>
          <p:cNvGrpSpPr>
            <a:grpSpLocks noChangeAspect="1"/>
          </p:cNvGrpSpPr>
          <p:nvPr/>
        </p:nvGrpSpPr>
        <p:grpSpPr>
          <a:xfrm>
            <a:off x="4340171" y="2700110"/>
            <a:ext cx="1028700" cy="1371600"/>
            <a:chOff x="844712" y="2057400"/>
            <a:chExt cx="2468880" cy="2468880"/>
          </a:xfrm>
        </p:grpSpPr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063EB69D-D319-478E-8A0F-A8C079A1F5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4712" y="2057400"/>
              <a:ext cx="2468880" cy="2468880"/>
            </a:xfrm>
            <a:prstGeom prst="ellipse">
              <a:avLst/>
            </a:prstGeom>
            <a:solidFill>
              <a:srgbClr val="4D4D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E39BDA67-592C-47FE-84CC-5D83083794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27592" y="2240280"/>
              <a:ext cx="2103120" cy="21031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5" name="Text Box 10">
            <a:extLst>
              <a:ext uri="{FF2B5EF4-FFF2-40B4-BE49-F238E27FC236}">
                <a16:creationId xmlns:a16="http://schemas.microsoft.com/office/drawing/2014/main" id="{5FF978E7-4FEF-4A98-BD55-69BC768BA5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9027" y="3146827"/>
            <a:ext cx="490988" cy="10051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0960" tIns="30480" rIns="60960" bIns="30480">
            <a:prstTxWarp prst="textArchUp">
              <a:avLst/>
            </a:prstTxWarp>
            <a:spAutoFit/>
          </a:bodyPr>
          <a:lstStyle/>
          <a:p>
            <a:pPr algn="ctr" defTabSz="1219170">
              <a:spcBef>
                <a:spcPct val="20000"/>
              </a:spcBef>
              <a:defRPr/>
            </a:pPr>
            <a:r>
              <a:rPr lang="en-US" dirty="0" err="1">
                <a:solidFill>
                  <a:srgbClr val="4D4D4D"/>
                </a:solidFill>
              </a:rPr>
              <a:t>Secteur</a:t>
            </a:r>
            <a:r>
              <a:rPr lang="en-US" dirty="0">
                <a:solidFill>
                  <a:srgbClr val="4D4D4D"/>
                </a:solidFill>
              </a:rPr>
              <a:t> </a:t>
            </a:r>
            <a:r>
              <a:rPr lang="en-US" dirty="0" err="1">
                <a:solidFill>
                  <a:srgbClr val="4D4D4D"/>
                </a:solidFill>
              </a:rPr>
              <a:t>Secondaire</a:t>
            </a:r>
            <a:r>
              <a:rPr lang="en-US" dirty="0">
                <a:solidFill>
                  <a:srgbClr val="4D4D4D"/>
                </a:solidFill>
              </a:rPr>
              <a:t> </a:t>
            </a:r>
            <a:br>
              <a:rPr lang="en-US" dirty="0">
                <a:solidFill>
                  <a:srgbClr val="4D4D4D"/>
                </a:solidFill>
              </a:rPr>
            </a:br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41" name="Titre 3"/>
          <p:cNvSpPr txBox="1">
            <a:spLocks/>
          </p:cNvSpPr>
          <p:nvPr/>
        </p:nvSpPr>
        <p:spPr>
          <a:xfrm>
            <a:off x="214282" y="214290"/>
            <a:ext cx="8507413" cy="793750"/>
          </a:xfrm>
          <a:prstGeom prst="rect">
            <a:avLst/>
          </a:prstGeom>
        </p:spPr>
        <p:txBody>
          <a:bodyPr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sz="3200" b="1" dirty="0">
                <a:solidFill>
                  <a:schemeClr val="accent6">
                    <a:lumMod val="50000"/>
                  </a:schemeClr>
                </a:solidFill>
                <a:latin typeface="Baskerville Old Face"/>
              </a:rPr>
              <a:t>Le Secteur Secondaire  </a:t>
            </a:r>
          </a:p>
        </p:txBody>
      </p:sp>
      <p:sp>
        <p:nvSpPr>
          <p:cNvPr id="9222" name="AutoShape 6" descr="RÃ©sultat de recherche d'images pour &quot;extraction minier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9224" name="AutoShape 8" descr="RÃ©sultat de recherche d'images pour &quot;extraction minier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9226" name="AutoShape 10" descr="RÃ©sultat de recherche d'images pour &quot;extraction minier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9228" name="AutoShape 12" descr="RÃ©sultat de recherche d'images pour &quot;extraction minier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77826" name="Picture 2" descr="RÃ©sultat de recherche d'images pour &quot;secteur secondaire&quot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72264" y="3143248"/>
            <a:ext cx="2095500" cy="1466851"/>
          </a:xfrm>
          <a:prstGeom prst="rect">
            <a:avLst/>
          </a:prstGeom>
          <a:noFill/>
        </p:spPr>
      </p:pic>
      <p:pic>
        <p:nvPicPr>
          <p:cNvPr id="77828" name="Picture 4" descr="RÃ©sultat de recherche d'images pour &quot;secteur secondaire&quot;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15140" y="5072074"/>
            <a:ext cx="2241484" cy="1501018"/>
          </a:xfrm>
          <a:prstGeom prst="rect">
            <a:avLst/>
          </a:prstGeom>
          <a:noFill/>
        </p:spPr>
      </p:pic>
      <p:pic>
        <p:nvPicPr>
          <p:cNvPr id="77830" name="Picture 6" descr="RÃ©sultat de recherche d'images pour &quot;secteur secondaire&quot;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8596" y="3714752"/>
            <a:ext cx="2619375" cy="1743076"/>
          </a:xfrm>
          <a:prstGeom prst="rect">
            <a:avLst/>
          </a:prstGeom>
          <a:noFill/>
        </p:spPr>
      </p:pic>
      <p:pic>
        <p:nvPicPr>
          <p:cNvPr id="23" name="Picture 15">
            <a:extLst>
              <a:ext uri="{FF2B5EF4-FFF2-40B4-BE49-F238E27FC236}">
                <a16:creationId xmlns:a16="http://schemas.microsoft.com/office/drawing/2014/main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460" y="0"/>
            <a:ext cx="3682540" cy="214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976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7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7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48" grpId="0" animBg="1"/>
      <p:bldP spid="47" grpId="0" animBg="1"/>
      <p:bldP spid="63" grpId="0"/>
      <p:bldP spid="64" grpId="0"/>
      <p:bldP spid="65" grpId="0"/>
      <p:bldP spid="8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6BD501C4-728F-4A23-8584-3B85170D0332}"/>
              </a:ext>
            </a:extLst>
          </p:cNvPr>
          <p:cNvSpPr>
            <a:spLocks noChangeAspect="1"/>
          </p:cNvSpPr>
          <p:nvPr/>
        </p:nvSpPr>
        <p:spPr>
          <a:xfrm>
            <a:off x="2659376" y="2365653"/>
            <a:ext cx="1680795" cy="2706421"/>
          </a:xfrm>
          <a:custGeom>
            <a:avLst/>
            <a:gdLst>
              <a:gd name="connsiteX0" fmla="*/ 60233 w 2241060"/>
              <a:gd name="connsiteY0" fmla="*/ 1167 h 2706421"/>
              <a:gd name="connsiteX1" fmla="*/ 87462 w 2241060"/>
              <a:gd name="connsiteY1" fmla="*/ 1589 h 2706421"/>
              <a:gd name="connsiteX2" fmla="*/ 130562 w 2241060"/>
              <a:gd name="connsiteY2" fmla="*/ 31546 h 2706421"/>
              <a:gd name="connsiteX3" fmla="*/ 134598 w 2241060"/>
              <a:gd name="connsiteY3" fmla="*/ 53983 h 2706421"/>
              <a:gd name="connsiteX4" fmla="*/ 1686515 w 2241060"/>
              <a:gd name="connsiteY4" fmla="*/ 392416 h 2706421"/>
              <a:gd name="connsiteX5" fmla="*/ 1667482 w 2241060"/>
              <a:gd name="connsiteY5" fmla="*/ 444418 h 2706421"/>
              <a:gd name="connsiteX6" fmla="*/ 1666442 w 2241060"/>
              <a:gd name="connsiteY6" fmla="*/ 444192 h 2706421"/>
              <a:gd name="connsiteX7" fmla="*/ 1623585 w 2241060"/>
              <a:gd name="connsiteY7" fmla="*/ 561287 h 2706421"/>
              <a:gd name="connsiteX8" fmla="*/ 1549892 w 2241060"/>
              <a:gd name="connsiteY8" fmla="*/ 1048719 h 2706421"/>
              <a:gd name="connsiteX9" fmla="*/ 2146389 w 2241060"/>
              <a:gd name="connsiteY9" fmla="*/ 2313564 h 2706421"/>
              <a:gd name="connsiteX10" fmla="*/ 2241060 w 2241060"/>
              <a:gd name="connsiteY10" fmla="*/ 2384358 h 2706421"/>
              <a:gd name="connsiteX11" fmla="*/ 2033364 w 2241060"/>
              <a:gd name="connsiteY11" fmla="*/ 2706421 h 2706421"/>
              <a:gd name="connsiteX12" fmla="*/ 1909423 w 2241060"/>
              <a:gd name="connsiteY12" fmla="*/ 2613740 h 2706421"/>
              <a:gd name="connsiteX13" fmla="*/ 1177358 w 2241060"/>
              <a:gd name="connsiteY13" fmla="*/ 1061430 h 2706421"/>
              <a:gd name="connsiteX14" fmla="*/ 1267799 w 2241060"/>
              <a:gd name="connsiteY14" fmla="*/ 463218 h 2706421"/>
              <a:gd name="connsiteX15" fmla="*/ 1303715 w 2241060"/>
              <a:gd name="connsiteY15" fmla="*/ 365090 h 2706421"/>
              <a:gd name="connsiteX16" fmla="*/ 122908 w 2241060"/>
              <a:gd name="connsiteY16" fmla="*/ 107587 h 2706421"/>
              <a:gd name="connsiteX17" fmla="*/ 109897 w 2241060"/>
              <a:gd name="connsiteY17" fmla="*/ 126306 h 2706421"/>
              <a:gd name="connsiteX18" fmla="*/ 58238 w 2241060"/>
              <a:gd name="connsiteY18" fmla="*/ 135600 h 2706421"/>
              <a:gd name="connsiteX19" fmla="*/ 15137 w 2241060"/>
              <a:gd name="connsiteY19" fmla="*/ 105641 h 2706421"/>
              <a:gd name="connsiteX20" fmla="*/ 11101 w 2241060"/>
              <a:gd name="connsiteY20" fmla="*/ 83205 h 2706421"/>
              <a:gd name="connsiteX21" fmla="*/ 0 w 2241060"/>
              <a:gd name="connsiteY21" fmla="*/ 80784 h 2706421"/>
              <a:gd name="connsiteX22" fmla="*/ 5845 w 2241060"/>
              <a:gd name="connsiteY22" fmla="*/ 53982 h 2706421"/>
              <a:gd name="connsiteX23" fmla="*/ 11689 w 2241060"/>
              <a:gd name="connsiteY23" fmla="*/ 27180 h 2706421"/>
              <a:gd name="connsiteX24" fmla="*/ 22791 w 2241060"/>
              <a:gd name="connsiteY24" fmla="*/ 29601 h 2706421"/>
              <a:gd name="connsiteX25" fmla="*/ 35802 w 2241060"/>
              <a:gd name="connsiteY25" fmla="*/ 10881 h 2706421"/>
              <a:gd name="connsiteX26" fmla="*/ 60233 w 2241060"/>
              <a:gd name="connsiteY26" fmla="*/ 1167 h 2706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2241060" h="2706421">
                <a:moveTo>
                  <a:pt x="60233" y="1167"/>
                </a:moveTo>
                <a:cubicBezTo>
                  <a:pt x="68988" y="-476"/>
                  <a:pt x="78210" y="-428"/>
                  <a:pt x="87462" y="1589"/>
                </a:cubicBezTo>
                <a:cubicBezTo>
                  <a:pt x="105965" y="5624"/>
                  <a:pt x="121081" y="16777"/>
                  <a:pt x="130562" y="31546"/>
                </a:cubicBezTo>
                <a:lnTo>
                  <a:pt x="134598" y="53983"/>
                </a:lnTo>
                <a:lnTo>
                  <a:pt x="1686515" y="392416"/>
                </a:lnTo>
                <a:lnTo>
                  <a:pt x="1667482" y="444418"/>
                </a:lnTo>
                <a:lnTo>
                  <a:pt x="1666442" y="444192"/>
                </a:lnTo>
                <a:lnTo>
                  <a:pt x="1623585" y="561287"/>
                </a:lnTo>
                <a:cubicBezTo>
                  <a:pt x="1575692" y="715267"/>
                  <a:pt x="1549892" y="878980"/>
                  <a:pt x="1549892" y="1048719"/>
                </a:cubicBezTo>
                <a:cubicBezTo>
                  <a:pt x="1549892" y="1557937"/>
                  <a:pt x="1782093" y="2012921"/>
                  <a:pt x="2146389" y="2313564"/>
                </a:cubicBezTo>
                <a:lnTo>
                  <a:pt x="2241060" y="2384358"/>
                </a:lnTo>
                <a:lnTo>
                  <a:pt x="2033364" y="2706421"/>
                </a:lnTo>
                <a:lnTo>
                  <a:pt x="1909423" y="2613740"/>
                </a:lnTo>
                <a:cubicBezTo>
                  <a:pt x="1462333" y="2244768"/>
                  <a:pt x="1177358" y="1686379"/>
                  <a:pt x="1177358" y="1061430"/>
                </a:cubicBezTo>
                <a:cubicBezTo>
                  <a:pt x="1177358" y="853114"/>
                  <a:pt x="1209022" y="652193"/>
                  <a:pt x="1267799" y="463218"/>
                </a:cubicBezTo>
                <a:lnTo>
                  <a:pt x="1303715" y="365090"/>
                </a:lnTo>
                <a:lnTo>
                  <a:pt x="122908" y="107587"/>
                </a:lnTo>
                <a:lnTo>
                  <a:pt x="109897" y="126306"/>
                </a:lnTo>
                <a:cubicBezTo>
                  <a:pt x="95128" y="135788"/>
                  <a:pt x="76741" y="139635"/>
                  <a:pt x="58238" y="135600"/>
                </a:cubicBezTo>
                <a:cubicBezTo>
                  <a:pt x="39735" y="131565"/>
                  <a:pt x="24619" y="120412"/>
                  <a:pt x="15137" y="105641"/>
                </a:cubicBezTo>
                <a:lnTo>
                  <a:pt x="11101" y="83205"/>
                </a:lnTo>
                <a:lnTo>
                  <a:pt x="0" y="80784"/>
                </a:lnTo>
                <a:lnTo>
                  <a:pt x="5845" y="53982"/>
                </a:lnTo>
                <a:lnTo>
                  <a:pt x="11689" y="27180"/>
                </a:lnTo>
                <a:lnTo>
                  <a:pt x="22791" y="29601"/>
                </a:lnTo>
                <a:lnTo>
                  <a:pt x="35802" y="10881"/>
                </a:lnTo>
                <a:cubicBezTo>
                  <a:pt x="43187" y="6141"/>
                  <a:pt x="51477" y="2810"/>
                  <a:pt x="60233" y="1167"/>
                </a:cubicBezTo>
                <a:close/>
              </a:path>
            </a:pathLst>
          </a:custGeom>
          <a:solidFill>
            <a:srgbClr val="FFA803"/>
          </a:solidFill>
          <a:ln>
            <a:solidFill>
              <a:schemeClr val="bg1">
                <a:alpha val="5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4B1BB67F-A885-4A15-B989-210F399F4143}"/>
              </a:ext>
            </a:extLst>
          </p:cNvPr>
          <p:cNvSpPr>
            <a:spLocks noChangeAspect="1"/>
          </p:cNvSpPr>
          <p:nvPr/>
        </p:nvSpPr>
        <p:spPr>
          <a:xfrm rot="7345456">
            <a:off x="3550512" y="4589105"/>
            <a:ext cx="2542364" cy="1408530"/>
          </a:xfrm>
          <a:custGeom>
            <a:avLst/>
            <a:gdLst>
              <a:gd name="connsiteX0" fmla="*/ 859612 w 2542364"/>
              <a:gd name="connsiteY0" fmla="*/ 1836892 h 1878040"/>
              <a:gd name="connsiteX1" fmla="*/ 863962 w 2542364"/>
              <a:gd name="connsiteY1" fmla="*/ 1811816 h 1878040"/>
              <a:gd name="connsiteX2" fmla="*/ 855057 w 2542364"/>
              <a:gd name="connsiteY2" fmla="*/ 1811641 h 1878040"/>
              <a:gd name="connsiteX3" fmla="*/ 870009 w 2542364"/>
              <a:gd name="connsiteY3" fmla="*/ 1725466 h 1878040"/>
              <a:gd name="connsiteX4" fmla="*/ 671105 w 2542364"/>
              <a:gd name="connsiteY4" fmla="*/ 841178 h 1878040"/>
              <a:gd name="connsiteX5" fmla="*/ 75721 w 2542364"/>
              <a:gd name="connsiteY5" fmla="*/ 331052 h 1878040"/>
              <a:gd name="connsiteX6" fmla="*/ 0 w 2542364"/>
              <a:gd name="connsiteY6" fmla="*/ 302307 h 1878040"/>
              <a:gd name="connsiteX7" fmla="*/ 85488 w 2542364"/>
              <a:gd name="connsiteY7" fmla="*/ 0 h 1878040"/>
              <a:gd name="connsiteX8" fmla="*/ 188258 w 2542364"/>
              <a:gd name="connsiteY8" fmla="*/ 38309 h 1878040"/>
              <a:gd name="connsiteX9" fmla="*/ 937165 w 2542364"/>
              <a:gd name="connsiteY9" fmla="*/ 672173 h 1878040"/>
              <a:gd name="connsiteX10" fmla="*/ 1181273 w 2542364"/>
              <a:gd name="connsiteY10" fmla="*/ 1757434 h 1878040"/>
              <a:gd name="connsiteX11" fmla="*/ 1177007 w 2542364"/>
              <a:gd name="connsiteY11" fmla="*/ 1782028 h 1878040"/>
              <a:gd name="connsiteX12" fmla="*/ 2416567 w 2542364"/>
              <a:gd name="connsiteY12" fmla="*/ 1782028 h 1878040"/>
              <a:gd name="connsiteX13" fmla="*/ 2425291 w 2542364"/>
              <a:gd name="connsiteY13" fmla="*/ 1760967 h 1878040"/>
              <a:gd name="connsiteX14" fmla="*/ 2473784 w 2542364"/>
              <a:gd name="connsiteY14" fmla="*/ 1740880 h 1878040"/>
              <a:gd name="connsiteX15" fmla="*/ 2522278 w 2542364"/>
              <a:gd name="connsiteY15" fmla="*/ 1760967 h 1878040"/>
              <a:gd name="connsiteX16" fmla="*/ 2531002 w 2542364"/>
              <a:gd name="connsiteY16" fmla="*/ 1782028 h 1878040"/>
              <a:gd name="connsiteX17" fmla="*/ 2542364 w 2542364"/>
              <a:gd name="connsiteY17" fmla="*/ 1782028 h 1878040"/>
              <a:gd name="connsiteX18" fmla="*/ 2542364 w 2542364"/>
              <a:gd name="connsiteY18" fmla="*/ 1809460 h 1878040"/>
              <a:gd name="connsiteX19" fmla="*/ 2542364 w 2542364"/>
              <a:gd name="connsiteY19" fmla="*/ 1836892 h 1878040"/>
              <a:gd name="connsiteX20" fmla="*/ 2531002 w 2542364"/>
              <a:gd name="connsiteY20" fmla="*/ 1836892 h 1878040"/>
              <a:gd name="connsiteX21" fmla="*/ 2522278 w 2542364"/>
              <a:gd name="connsiteY21" fmla="*/ 1857954 h 1878040"/>
              <a:gd name="connsiteX22" fmla="*/ 2473784 w 2542364"/>
              <a:gd name="connsiteY22" fmla="*/ 1878040 h 1878040"/>
              <a:gd name="connsiteX23" fmla="*/ 2425291 w 2542364"/>
              <a:gd name="connsiteY23" fmla="*/ 1857954 h 1878040"/>
              <a:gd name="connsiteX24" fmla="*/ 2416567 w 2542364"/>
              <a:gd name="connsiteY24" fmla="*/ 1836892 h 187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42364" h="1878040">
                <a:moveTo>
                  <a:pt x="859612" y="1836892"/>
                </a:moveTo>
                <a:lnTo>
                  <a:pt x="863962" y="1811816"/>
                </a:lnTo>
                <a:lnTo>
                  <a:pt x="855057" y="1811641"/>
                </a:lnTo>
                <a:lnTo>
                  <a:pt x="870009" y="1725466"/>
                </a:lnTo>
                <a:cubicBezTo>
                  <a:pt x="907199" y="1427200"/>
                  <a:pt x="844853" y="1114707"/>
                  <a:pt x="671105" y="841178"/>
                </a:cubicBezTo>
                <a:cubicBezTo>
                  <a:pt x="522177" y="606725"/>
                  <a:pt x="312549" y="434192"/>
                  <a:pt x="75721" y="331052"/>
                </a:cubicBezTo>
                <a:lnTo>
                  <a:pt x="0" y="302307"/>
                </a:lnTo>
                <a:lnTo>
                  <a:pt x="85488" y="0"/>
                </a:lnTo>
                <a:lnTo>
                  <a:pt x="188258" y="38309"/>
                </a:lnTo>
                <a:cubicBezTo>
                  <a:pt x="486368" y="163900"/>
                  <a:pt x="750582" y="378440"/>
                  <a:pt x="937165" y="672173"/>
                </a:cubicBezTo>
                <a:cubicBezTo>
                  <a:pt x="1150402" y="1007867"/>
                  <a:pt x="1226917" y="1391381"/>
                  <a:pt x="1181273" y="1757434"/>
                </a:cubicBezTo>
                <a:lnTo>
                  <a:pt x="1177007" y="1782028"/>
                </a:lnTo>
                <a:lnTo>
                  <a:pt x="2416567" y="1782028"/>
                </a:lnTo>
                <a:lnTo>
                  <a:pt x="2425291" y="1760967"/>
                </a:lnTo>
                <a:cubicBezTo>
                  <a:pt x="2437701" y="1748556"/>
                  <a:pt x="2454846" y="1740880"/>
                  <a:pt x="2473784" y="1740880"/>
                </a:cubicBezTo>
                <a:cubicBezTo>
                  <a:pt x="2492722" y="1740880"/>
                  <a:pt x="2509867" y="1748556"/>
                  <a:pt x="2522278" y="1760967"/>
                </a:cubicBezTo>
                <a:lnTo>
                  <a:pt x="2531002" y="1782028"/>
                </a:lnTo>
                <a:lnTo>
                  <a:pt x="2542364" y="1782028"/>
                </a:lnTo>
                <a:lnTo>
                  <a:pt x="2542364" y="1809460"/>
                </a:lnTo>
                <a:lnTo>
                  <a:pt x="2542364" y="1836892"/>
                </a:lnTo>
                <a:lnTo>
                  <a:pt x="2531002" y="1836892"/>
                </a:lnTo>
                <a:lnTo>
                  <a:pt x="2522278" y="1857954"/>
                </a:lnTo>
                <a:cubicBezTo>
                  <a:pt x="2509867" y="1870364"/>
                  <a:pt x="2492722" y="1878040"/>
                  <a:pt x="2473784" y="1878040"/>
                </a:cubicBezTo>
                <a:cubicBezTo>
                  <a:pt x="2454846" y="1878040"/>
                  <a:pt x="2437701" y="1870364"/>
                  <a:pt x="2425291" y="1857954"/>
                </a:cubicBezTo>
                <a:lnTo>
                  <a:pt x="2416567" y="1836892"/>
                </a:lnTo>
                <a:close/>
              </a:path>
            </a:pathLst>
          </a:custGeom>
          <a:solidFill>
            <a:srgbClr val="3EB8CD"/>
          </a:solidFill>
          <a:ln>
            <a:solidFill>
              <a:schemeClr val="bg1">
                <a:alpha val="50000"/>
              </a:scheme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0A2AD900-70EF-4C72-8B4E-0338EDC35B30}"/>
              </a:ext>
            </a:extLst>
          </p:cNvPr>
          <p:cNvSpPr>
            <a:spLocks noChangeAspect="1"/>
          </p:cNvSpPr>
          <p:nvPr/>
        </p:nvSpPr>
        <p:spPr>
          <a:xfrm>
            <a:off x="5555129" y="2883584"/>
            <a:ext cx="943290" cy="2817355"/>
          </a:xfrm>
          <a:custGeom>
            <a:avLst/>
            <a:gdLst>
              <a:gd name="connsiteX0" fmla="*/ 719476 w 1257720"/>
              <a:gd name="connsiteY0" fmla="*/ 0 h 2817355"/>
              <a:gd name="connsiteX1" fmla="*/ 751601 w 1257720"/>
              <a:gd name="connsiteY1" fmla="*/ 87772 h 2817355"/>
              <a:gd name="connsiteX2" fmla="*/ 813265 w 1257720"/>
              <a:gd name="connsiteY2" fmla="*/ 495644 h 2817355"/>
              <a:gd name="connsiteX3" fmla="*/ 314130 w 1257720"/>
              <a:gd name="connsiteY3" fmla="*/ 1554037 h 2817355"/>
              <a:gd name="connsiteX4" fmla="*/ 226795 w 1257720"/>
              <a:gd name="connsiteY4" fmla="*/ 1619345 h 2817355"/>
              <a:gd name="connsiteX5" fmla="*/ 1171754 w 1257720"/>
              <a:gd name="connsiteY5" fmla="*/ 2686797 h 2817355"/>
              <a:gd name="connsiteX6" fmla="*/ 1193307 w 1257720"/>
              <a:gd name="connsiteY6" fmla="*/ 2679369 h 2817355"/>
              <a:gd name="connsiteX7" fmla="*/ 1240490 w 1257720"/>
              <a:gd name="connsiteY7" fmla="*/ 2702365 h 2817355"/>
              <a:gd name="connsiteX8" fmla="*/ 1257593 w 1257720"/>
              <a:gd name="connsiteY8" fmla="*/ 2751989 h 2817355"/>
              <a:gd name="connsiteX9" fmla="*/ 1247606 w 1257720"/>
              <a:gd name="connsiteY9" fmla="*/ 2772482 h 2817355"/>
              <a:gd name="connsiteX10" fmla="*/ 1255138 w 1257720"/>
              <a:gd name="connsiteY10" fmla="*/ 2780989 h 2817355"/>
              <a:gd name="connsiteX11" fmla="*/ 1234598 w 1257720"/>
              <a:gd name="connsiteY11" fmla="*/ 2799172 h 2817355"/>
              <a:gd name="connsiteX12" fmla="*/ 1214058 w 1257720"/>
              <a:gd name="connsiteY12" fmla="*/ 2817355 h 2817355"/>
              <a:gd name="connsiteX13" fmla="*/ 1206526 w 1257720"/>
              <a:gd name="connsiteY13" fmla="*/ 2808848 h 2817355"/>
              <a:gd name="connsiteX14" fmla="*/ 1184973 w 1257720"/>
              <a:gd name="connsiteY14" fmla="*/ 2816276 h 2817355"/>
              <a:gd name="connsiteX15" fmla="*/ 1137790 w 1257720"/>
              <a:gd name="connsiteY15" fmla="*/ 2793280 h 2817355"/>
              <a:gd name="connsiteX16" fmla="*/ 1120687 w 1257720"/>
              <a:gd name="connsiteY16" fmla="*/ 2743656 h 2817355"/>
              <a:gd name="connsiteX17" fmla="*/ 1130674 w 1257720"/>
              <a:gd name="connsiteY17" fmla="*/ 2723163 h 2817355"/>
              <a:gd name="connsiteX18" fmla="*/ 0 w 1257720"/>
              <a:gd name="connsiteY18" fmla="*/ 1445923 h 2817355"/>
              <a:gd name="connsiteX19" fmla="*/ 45533 w 1257720"/>
              <a:gd name="connsiteY19" fmla="*/ 1421210 h 2817355"/>
              <a:gd name="connsiteX20" fmla="*/ 48921 w 1257720"/>
              <a:gd name="connsiteY20" fmla="*/ 1418414 h 2817355"/>
              <a:gd name="connsiteX21" fmla="*/ 52370 w 1257720"/>
              <a:gd name="connsiteY21" fmla="*/ 1422310 h 2817355"/>
              <a:gd name="connsiteX22" fmla="*/ 66526 w 1257720"/>
              <a:gd name="connsiteY22" fmla="*/ 1413709 h 2817355"/>
              <a:gd name="connsiteX23" fmla="*/ 559265 w 1257720"/>
              <a:gd name="connsiteY23" fmla="*/ 486978 h 2817355"/>
              <a:gd name="connsiteX24" fmla="*/ 509020 w 1257720"/>
              <a:gd name="connsiteY24" fmla="*/ 154638 h 2817355"/>
              <a:gd name="connsiteX25" fmla="*/ 484402 w 1257720"/>
              <a:gd name="connsiteY25" fmla="*/ 87376 h 2817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57720" h="2817355">
                <a:moveTo>
                  <a:pt x="719476" y="0"/>
                </a:moveTo>
                <a:lnTo>
                  <a:pt x="751601" y="87772"/>
                </a:lnTo>
                <a:cubicBezTo>
                  <a:pt x="791676" y="216619"/>
                  <a:pt x="813265" y="353611"/>
                  <a:pt x="813265" y="495644"/>
                </a:cubicBezTo>
                <a:cubicBezTo>
                  <a:pt x="813265" y="921745"/>
                  <a:pt x="618964" y="1302466"/>
                  <a:pt x="314130" y="1554037"/>
                </a:cubicBezTo>
                <a:lnTo>
                  <a:pt x="226795" y="1619345"/>
                </a:lnTo>
                <a:lnTo>
                  <a:pt x="1171754" y="2686797"/>
                </a:lnTo>
                <a:lnTo>
                  <a:pt x="1193307" y="2679369"/>
                </a:lnTo>
                <a:cubicBezTo>
                  <a:pt x="1210825" y="2680435"/>
                  <a:pt x="1227937" y="2688184"/>
                  <a:pt x="1240490" y="2702365"/>
                </a:cubicBezTo>
                <a:cubicBezTo>
                  <a:pt x="1253043" y="2716545"/>
                  <a:pt x="1258660" y="2734470"/>
                  <a:pt x="1257593" y="2751989"/>
                </a:cubicBezTo>
                <a:lnTo>
                  <a:pt x="1247606" y="2772482"/>
                </a:lnTo>
                <a:lnTo>
                  <a:pt x="1255138" y="2780989"/>
                </a:lnTo>
                <a:lnTo>
                  <a:pt x="1234598" y="2799172"/>
                </a:lnTo>
                <a:lnTo>
                  <a:pt x="1214058" y="2817355"/>
                </a:lnTo>
                <a:lnTo>
                  <a:pt x="1206526" y="2808848"/>
                </a:lnTo>
                <a:lnTo>
                  <a:pt x="1184973" y="2816276"/>
                </a:lnTo>
                <a:cubicBezTo>
                  <a:pt x="1167455" y="2815209"/>
                  <a:pt x="1150343" y="2807460"/>
                  <a:pt x="1137790" y="2793280"/>
                </a:cubicBezTo>
                <a:cubicBezTo>
                  <a:pt x="1125237" y="2779100"/>
                  <a:pt x="1119620" y="2761174"/>
                  <a:pt x="1120687" y="2743656"/>
                </a:cubicBezTo>
                <a:lnTo>
                  <a:pt x="1130674" y="2723163"/>
                </a:lnTo>
                <a:lnTo>
                  <a:pt x="0" y="1445923"/>
                </a:lnTo>
                <a:lnTo>
                  <a:pt x="45533" y="1421210"/>
                </a:lnTo>
                <a:lnTo>
                  <a:pt x="48921" y="1418414"/>
                </a:lnTo>
                <a:lnTo>
                  <a:pt x="52370" y="1422310"/>
                </a:lnTo>
                <a:lnTo>
                  <a:pt x="66526" y="1413709"/>
                </a:lnTo>
                <a:cubicBezTo>
                  <a:pt x="363810" y="1212868"/>
                  <a:pt x="559265" y="872748"/>
                  <a:pt x="559265" y="486978"/>
                </a:cubicBezTo>
                <a:cubicBezTo>
                  <a:pt x="559265" y="371247"/>
                  <a:pt x="541674" y="259624"/>
                  <a:pt x="509020" y="154638"/>
                </a:cubicBezTo>
                <a:lnTo>
                  <a:pt x="484402" y="87376"/>
                </a:lnTo>
                <a:close/>
              </a:path>
            </a:pathLst>
          </a:custGeom>
          <a:solidFill>
            <a:srgbClr val="85C401"/>
          </a:solidFill>
          <a:ln>
            <a:solidFill>
              <a:schemeClr val="bg1">
                <a:alpha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A83021B9-ABD2-43FC-BA66-17E7A0E2BCF9}"/>
              </a:ext>
            </a:extLst>
          </p:cNvPr>
          <p:cNvSpPr>
            <a:spLocks noChangeAspect="1"/>
          </p:cNvSpPr>
          <p:nvPr/>
        </p:nvSpPr>
        <p:spPr>
          <a:xfrm>
            <a:off x="5015425" y="2007626"/>
            <a:ext cx="2039524" cy="1085050"/>
          </a:xfrm>
          <a:custGeom>
            <a:avLst/>
            <a:gdLst>
              <a:gd name="connsiteX0" fmla="*/ 24112 w 2719365"/>
              <a:gd name="connsiteY0" fmla="*/ 0 h 1085050"/>
              <a:gd name="connsiteX1" fmla="*/ 1172928 w 2719365"/>
              <a:gd name="connsiteY1" fmla="*/ 781803 h 1085050"/>
              <a:gd name="connsiteX2" fmla="*/ 1223158 w 2719365"/>
              <a:gd name="connsiteY2" fmla="*/ 950928 h 1085050"/>
              <a:gd name="connsiteX3" fmla="*/ 2582356 w 2719365"/>
              <a:gd name="connsiteY3" fmla="*/ 449892 h 1085050"/>
              <a:gd name="connsiteX4" fmla="*/ 2583257 w 2719365"/>
              <a:gd name="connsiteY4" fmla="*/ 427114 h 1085050"/>
              <a:gd name="connsiteX5" fmla="*/ 2621809 w 2719365"/>
              <a:gd name="connsiteY5" fmla="*/ 391494 h 1085050"/>
              <a:gd name="connsiteX6" fmla="*/ 2648721 w 2719365"/>
              <a:gd name="connsiteY6" fmla="*/ 387318 h 1085050"/>
              <a:gd name="connsiteX7" fmla="*/ 2674258 w 2719365"/>
              <a:gd name="connsiteY7" fmla="*/ 393568 h 1085050"/>
              <a:gd name="connsiteX8" fmla="*/ 2689728 w 2719365"/>
              <a:gd name="connsiteY8" fmla="*/ 410312 h 1085050"/>
              <a:gd name="connsiteX9" fmla="*/ 2700389 w 2719365"/>
              <a:gd name="connsiteY9" fmla="*/ 406382 h 1085050"/>
              <a:gd name="connsiteX10" fmla="*/ 2709877 w 2719365"/>
              <a:gd name="connsiteY10" fmla="*/ 432121 h 1085050"/>
              <a:gd name="connsiteX11" fmla="*/ 2719365 w 2719365"/>
              <a:gd name="connsiteY11" fmla="*/ 457860 h 1085050"/>
              <a:gd name="connsiteX12" fmla="*/ 2708704 w 2719365"/>
              <a:gd name="connsiteY12" fmla="*/ 461790 h 1085050"/>
              <a:gd name="connsiteX13" fmla="*/ 2707803 w 2719365"/>
              <a:gd name="connsiteY13" fmla="*/ 484569 h 1085050"/>
              <a:gd name="connsiteX14" fmla="*/ 2669250 w 2719365"/>
              <a:gd name="connsiteY14" fmla="*/ 520188 h 1085050"/>
              <a:gd name="connsiteX15" fmla="*/ 2616802 w 2719365"/>
              <a:gd name="connsiteY15" fmla="*/ 518115 h 1085050"/>
              <a:gd name="connsiteX16" fmla="*/ 2601332 w 2719365"/>
              <a:gd name="connsiteY16" fmla="*/ 501370 h 1085050"/>
              <a:gd name="connsiteX17" fmla="*/ 1017940 w 2719365"/>
              <a:gd name="connsiteY17" fmla="*/ 1085050 h 1085050"/>
              <a:gd name="connsiteX18" fmla="*/ 1016237 w 2719365"/>
              <a:gd name="connsiteY18" fmla="*/ 1068163 h 1085050"/>
              <a:gd name="connsiteX19" fmla="*/ 1014058 w 2719365"/>
              <a:gd name="connsiteY19" fmla="*/ 1068973 h 1085050"/>
              <a:gd name="connsiteX20" fmla="*/ 1010145 w 2719365"/>
              <a:gd name="connsiteY20" fmla="*/ 1030155 h 1085050"/>
              <a:gd name="connsiteX21" fmla="*/ 1009949 w 2719365"/>
              <a:gd name="connsiteY21" fmla="*/ 1029523 h 1085050"/>
              <a:gd name="connsiteX22" fmla="*/ 1010077 w 2719365"/>
              <a:gd name="connsiteY22" fmla="*/ 1029476 h 1085050"/>
              <a:gd name="connsiteX23" fmla="*/ 1009517 w 2719365"/>
              <a:gd name="connsiteY23" fmla="*/ 1023928 h 1085050"/>
              <a:gd name="connsiteX24" fmla="*/ 24112 w 2719365"/>
              <a:gd name="connsiteY24" fmla="*/ 220800 h 1085050"/>
              <a:gd name="connsiteX25" fmla="*/ 0 w 2719365"/>
              <a:gd name="connsiteY25" fmla="*/ 222018 h 1085050"/>
              <a:gd name="connsiteX26" fmla="*/ 0 w 2719365"/>
              <a:gd name="connsiteY26" fmla="*/ 1218 h 1085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2719365" h="1085050">
                <a:moveTo>
                  <a:pt x="24112" y="0"/>
                </a:moveTo>
                <a:cubicBezTo>
                  <a:pt x="546087" y="0"/>
                  <a:pt x="992394" y="323970"/>
                  <a:pt x="1172928" y="781803"/>
                </a:cubicBezTo>
                <a:lnTo>
                  <a:pt x="1223158" y="950928"/>
                </a:lnTo>
                <a:lnTo>
                  <a:pt x="2582356" y="449892"/>
                </a:lnTo>
                <a:lnTo>
                  <a:pt x="2583257" y="427114"/>
                </a:lnTo>
                <a:cubicBezTo>
                  <a:pt x="2590608" y="411176"/>
                  <a:pt x="2604040" y="398044"/>
                  <a:pt x="2621809" y="391494"/>
                </a:cubicBezTo>
                <a:cubicBezTo>
                  <a:pt x="2630694" y="388219"/>
                  <a:pt x="2639822" y="386899"/>
                  <a:pt x="2648721" y="387318"/>
                </a:cubicBezTo>
                <a:cubicBezTo>
                  <a:pt x="2657620" y="387736"/>
                  <a:pt x="2666290" y="389892"/>
                  <a:pt x="2674258" y="393568"/>
                </a:cubicBezTo>
                <a:lnTo>
                  <a:pt x="2689728" y="410312"/>
                </a:lnTo>
                <a:lnTo>
                  <a:pt x="2700389" y="406382"/>
                </a:lnTo>
                <a:lnTo>
                  <a:pt x="2709877" y="432121"/>
                </a:lnTo>
                <a:lnTo>
                  <a:pt x="2719365" y="457860"/>
                </a:lnTo>
                <a:lnTo>
                  <a:pt x="2708704" y="461790"/>
                </a:lnTo>
                <a:lnTo>
                  <a:pt x="2707803" y="484569"/>
                </a:lnTo>
                <a:cubicBezTo>
                  <a:pt x="2700451" y="500506"/>
                  <a:pt x="2687019" y="513638"/>
                  <a:pt x="2669250" y="520188"/>
                </a:cubicBezTo>
                <a:cubicBezTo>
                  <a:pt x="2651480" y="526739"/>
                  <a:pt x="2632739" y="525466"/>
                  <a:pt x="2616802" y="518115"/>
                </a:cubicBezTo>
                <a:lnTo>
                  <a:pt x="2601332" y="501370"/>
                </a:lnTo>
                <a:lnTo>
                  <a:pt x="1017940" y="1085050"/>
                </a:lnTo>
                <a:lnTo>
                  <a:pt x="1016237" y="1068163"/>
                </a:lnTo>
                <a:lnTo>
                  <a:pt x="1014058" y="1068973"/>
                </a:lnTo>
                <a:lnTo>
                  <a:pt x="1010145" y="1030155"/>
                </a:lnTo>
                <a:lnTo>
                  <a:pt x="1009949" y="1029523"/>
                </a:lnTo>
                <a:lnTo>
                  <a:pt x="1010077" y="1029476"/>
                </a:lnTo>
                <a:lnTo>
                  <a:pt x="1009517" y="1023928"/>
                </a:lnTo>
                <a:cubicBezTo>
                  <a:pt x="915726" y="565584"/>
                  <a:pt x="510184" y="220800"/>
                  <a:pt x="24112" y="220800"/>
                </a:cubicBezTo>
                <a:lnTo>
                  <a:pt x="0" y="222018"/>
                </a:lnTo>
                <a:lnTo>
                  <a:pt x="0" y="1218"/>
                </a:lnTo>
                <a:close/>
              </a:path>
            </a:pathLst>
          </a:custGeom>
          <a:solidFill>
            <a:srgbClr val="FF2B2A"/>
          </a:solidFill>
          <a:ln>
            <a:solidFill>
              <a:schemeClr val="bg1">
                <a:alpha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530B8F8-6FBF-420A-8E33-30B8EFE64353}"/>
              </a:ext>
            </a:extLst>
          </p:cNvPr>
          <p:cNvSpPr txBox="1"/>
          <p:nvPr/>
        </p:nvSpPr>
        <p:spPr>
          <a:xfrm rot="20335263">
            <a:off x="5741746" y="1382128"/>
            <a:ext cx="24700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2B2A"/>
                </a:solidFill>
                <a:latin typeface="Candara" panose="020E0502030303020204" pitchFamily="34" charset="0"/>
              </a:rPr>
              <a:t>Commerce et distribution  </a:t>
            </a:r>
          </a:p>
          <a:p>
            <a:endParaRPr lang="en-US" sz="2000" dirty="0">
              <a:solidFill>
                <a:srgbClr val="56595E"/>
              </a:solidFill>
              <a:latin typeface="Candara" panose="020E0502030303020204" pitchFamily="34" charset="0"/>
            </a:endParaRPr>
          </a:p>
          <a:p>
            <a:endParaRPr lang="en-US" sz="2000" dirty="0">
              <a:solidFill>
                <a:srgbClr val="56595E"/>
              </a:solidFill>
              <a:latin typeface="Candara" panose="020E050203030302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F91145A-C422-41F0-8FE6-EFF5ABDBDE2D}"/>
              </a:ext>
            </a:extLst>
          </p:cNvPr>
          <p:cNvSpPr txBox="1"/>
          <p:nvPr/>
        </p:nvSpPr>
        <p:spPr>
          <a:xfrm rot="2906228">
            <a:off x="5130014" y="5184336"/>
            <a:ext cx="3293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rgbClr val="85C401"/>
                </a:solidFill>
                <a:latin typeface="Candara" panose="020E0502030303020204" pitchFamily="34" charset="0"/>
              </a:rPr>
              <a:t>L</a:t>
            </a:r>
            <a:r>
              <a:rPr lang="en-US" sz="2000" b="1" dirty="0" err="1">
                <a:solidFill>
                  <a:srgbClr val="85C401"/>
                </a:solidFill>
                <a:latin typeface="Candara" panose="020E0502030303020204" pitchFamily="34" charset="0"/>
              </a:rPr>
              <a:t>Finance</a:t>
            </a:r>
            <a:r>
              <a:rPr lang="en-US" sz="2000" b="1" dirty="0">
                <a:solidFill>
                  <a:srgbClr val="85C401"/>
                </a:solidFill>
                <a:latin typeface="Candara" panose="020E0502030303020204" pitchFamily="34" charset="0"/>
              </a:rPr>
              <a:t>  </a:t>
            </a:r>
          </a:p>
          <a:p>
            <a:endParaRPr lang="en-US" sz="200" dirty="0">
              <a:solidFill>
                <a:srgbClr val="56595E"/>
              </a:solidFill>
              <a:latin typeface="Candara" panose="020E0502030303020204" pitchFamily="34" charset="0"/>
            </a:endParaRPr>
          </a:p>
          <a:p>
            <a:endParaRPr lang="en-US" sz="1000" dirty="0">
              <a:solidFill>
                <a:srgbClr val="56595E"/>
              </a:solidFill>
              <a:latin typeface="Candara" panose="020E050203030302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CEC2A33-2FFF-493D-8540-25436425C2D4}"/>
              </a:ext>
            </a:extLst>
          </p:cNvPr>
          <p:cNvSpPr txBox="1"/>
          <p:nvPr/>
        </p:nvSpPr>
        <p:spPr>
          <a:xfrm rot="18128163">
            <a:off x="3086790" y="5696864"/>
            <a:ext cx="2217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A" altLang="en-US" sz="2400" b="1" dirty="0">
                <a:solidFill>
                  <a:srgbClr val="3EB8CD"/>
                </a:solidFill>
                <a:latin typeface="Candara" panose="020E0502030303020204" pitchFamily="34" charset="0"/>
              </a:rPr>
              <a:t>tourisme</a:t>
            </a:r>
            <a:endParaRPr lang="en-US" sz="2400" dirty="0">
              <a:solidFill>
                <a:srgbClr val="56595E"/>
              </a:solidFill>
              <a:latin typeface="Candara" panose="020E0502030303020204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E2DD50A-8068-493C-80F2-76D2900CBFA4}"/>
              </a:ext>
            </a:extLst>
          </p:cNvPr>
          <p:cNvSpPr txBox="1"/>
          <p:nvPr/>
        </p:nvSpPr>
        <p:spPr>
          <a:xfrm rot="732960">
            <a:off x="1114056" y="2359957"/>
            <a:ext cx="247000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A" altLang="en-US" sz="2000" b="1" dirty="0">
                <a:solidFill>
                  <a:srgbClr val="FFA803"/>
                </a:solidFill>
                <a:latin typeface="Candara" panose="020E0502030303020204" pitchFamily="34" charset="0"/>
              </a:rPr>
              <a:t>Logistique</a:t>
            </a:r>
          </a:p>
          <a:p>
            <a:pPr algn="r"/>
            <a:endParaRPr lang="en-US" sz="1400" b="1" dirty="0">
              <a:solidFill>
                <a:srgbClr val="FFA803"/>
              </a:solidFill>
              <a:latin typeface="Candara" panose="020E0502030303020204" pitchFamily="34" charset="0"/>
            </a:endParaRPr>
          </a:p>
          <a:p>
            <a:pPr algn="r"/>
            <a:endParaRPr lang="en-US" sz="200" dirty="0">
              <a:solidFill>
                <a:srgbClr val="56595E"/>
              </a:solidFill>
              <a:latin typeface="Candara" panose="020E0502030303020204" pitchFamily="34" charset="0"/>
            </a:endParaRPr>
          </a:p>
          <a:p>
            <a:pPr algn="r"/>
            <a:endParaRPr lang="en-US" sz="1000" dirty="0">
              <a:solidFill>
                <a:srgbClr val="56595E"/>
              </a:solidFill>
              <a:latin typeface="Candara" panose="020E0502030303020204" pitchFamily="34" charset="0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68C5E3FD-CC95-4713-96B2-F1B7FC358170}"/>
              </a:ext>
            </a:extLst>
          </p:cNvPr>
          <p:cNvSpPr>
            <a:spLocks noChangeAspect="1"/>
          </p:cNvSpPr>
          <p:nvPr/>
        </p:nvSpPr>
        <p:spPr>
          <a:xfrm rot="14929748">
            <a:off x="7059527" y="2347339"/>
            <a:ext cx="731520" cy="548640"/>
          </a:xfrm>
          <a:prstGeom prst="ellipse">
            <a:avLst/>
          </a:prstGeom>
          <a:solidFill>
            <a:srgbClr val="FF2B2A"/>
          </a:solidFill>
          <a:ln>
            <a:solidFill>
              <a:schemeClr val="bg1">
                <a:alpha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8019C57E-B2C0-47F7-BF75-0E0102004C49}"/>
              </a:ext>
            </a:extLst>
          </p:cNvPr>
          <p:cNvSpPr>
            <a:spLocks noChangeAspect="1"/>
          </p:cNvSpPr>
          <p:nvPr/>
        </p:nvSpPr>
        <p:spPr>
          <a:xfrm rot="14929748">
            <a:off x="6119535" y="5919643"/>
            <a:ext cx="731520" cy="548640"/>
          </a:xfrm>
          <a:prstGeom prst="ellipse">
            <a:avLst/>
          </a:prstGeom>
          <a:solidFill>
            <a:srgbClr val="85C401"/>
          </a:solidFill>
          <a:ln>
            <a:solidFill>
              <a:schemeClr val="bg1">
                <a:alpha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A430FF5A-7B0D-4075-9ED6-8FCA2D67C438}"/>
              </a:ext>
            </a:extLst>
          </p:cNvPr>
          <p:cNvSpPr>
            <a:spLocks noChangeAspect="1"/>
          </p:cNvSpPr>
          <p:nvPr/>
        </p:nvSpPr>
        <p:spPr>
          <a:xfrm rot="14929748">
            <a:off x="3103987" y="5913120"/>
            <a:ext cx="731520" cy="548640"/>
          </a:xfrm>
          <a:prstGeom prst="ellipse">
            <a:avLst/>
          </a:prstGeom>
          <a:solidFill>
            <a:srgbClr val="3EB8CD"/>
          </a:solidFill>
          <a:ln>
            <a:solidFill>
              <a:schemeClr val="bg1">
                <a:alpha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5A1BF711-141B-47CF-BA67-DC9BE4F0FBD8}"/>
              </a:ext>
            </a:extLst>
          </p:cNvPr>
          <p:cNvSpPr>
            <a:spLocks noChangeAspect="1"/>
          </p:cNvSpPr>
          <p:nvPr/>
        </p:nvSpPr>
        <p:spPr>
          <a:xfrm rot="14929748">
            <a:off x="1997612" y="1874170"/>
            <a:ext cx="731520" cy="548640"/>
          </a:xfrm>
          <a:prstGeom prst="ellipse">
            <a:avLst/>
          </a:prstGeom>
          <a:solidFill>
            <a:srgbClr val="FFA803"/>
          </a:solidFill>
          <a:ln>
            <a:solidFill>
              <a:schemeClr val="bg1">
                <a:alpha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Group 83">
            <a:extLst>
              <a:ext uri="{FF2B5EF4-FFF2-40B4-BE49-F238E27FC236}">
                <a16:creationId xmlns:a16="http://schemas.microsoft.com/office/drawing/2014/main" id="{C9FFB87F-167B-44D4-9F01-40DF0B572441}"/>
              </a:ext>
            </a:extLst>
          </p:cNvPr>
          <p:cNvGrpSpPr>
            <a:grpSpLocks noChangeAspect="1"/>
          </p:cNvGrpSpPr>
          <p:nvPr/>
        </p:nvGrpSpPr>
        <p:grpSpPr>
          <a:xfrm>
            <a:off x="4340171" y="2700110"/>
            <a:ext cx="1028700" cy="1371600"/>
            <a:chOff x="844712" y="2057400"/>
            <a:chExt cx="2468880" cy="2468880"/>
          </a:xfrm>
        </p:grpSpPr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063EB69D-D319-478E-8A0F-A8C079A1F5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4712" y="2057400"/>
              <a:ext cx="2468880" cy="2468880"/>
            </a:xfrm>
            <a:prstGeom prst="ellipse">
              <a:avLst/>
            </a:prstGeom>
            <a:solidFill>
              <a:srgbClr val="4D4D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E39BDA67-592C-47FE-84CC-5D83083794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27592" y="2240280"/>
              <a:ext cx="2103120" cy="21031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5" name="Text Box 10">
            <a:extLst>
              <a:ext uri="{FF2B5EF4-FFF2-40B4-BE49-F238E27FC236}">
                <a16:creationId xmlns:a16="http://schemas.microsoft.com/office/drawing/2014/main" id="{5FF978E7-4FEF-4A98-BD55-69BC768BA5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9027" y="3146827"/>
            <a:ext cx="490988" cy="10051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0960" tIns="30480" rIns="60960" bIns="30480">
            <a:prstTxWarp prst="textArchUp">
              <a:avLst/>
            </a:prstTxWarp>
            <a:spAutoFit/>
          </a:bodyPr>
          <a:lstStyle/>
          <a:p>
            <a:pPr algn="ctr" defTabSz="1219170">
              <a:spcBef>
                <a:spcPct val="20000"/>
              </a:spcBef>
              <a:defRPr/>
            </a:pPr>
            <a:r>
              <a:rPr lang="en-US" dirty="0" err="1">
                <a:solidFill>
                  <a:srgbClr val="4D4D4D"/>
                </a:solidFill>
              </a:rPr>
              <a:t>Secteur</a:t>
            </a:r>
            <a:r>
              <a:rPr lang="en-US" dirty="0">
                <a:solidFill>
                  <a:srgbClr val="4D4D4D"/>
                </a:solidFill>
              </a:rPr>
              <a:t> </a:t>
            </a:r>
            <a:r>
              <a:rPr lang="en-US" dirty="0" err="1">
                <a:solidFill>
                  <a:srgbClr val="4D4D4D"/>
                </a:solidFill>
              </a:rPr>
              <a:t>Tertiaire</a:t>
            </a:r>
            <a:r>
              <a:rPr lang="en-US" dirty="0">
                <a:solidFill>
                  <a:srgbClr val="4D4D4D"/>
                </a:solidFill>
              </a:rPr>
              <a:t> </a:t>
            </a:r>
            <a:br>
              <a:rPr lang="en-US" dirty="0">
                <a:solidFill>
                  <a:srgbClr val="4D4D4D"/>
                </a:solidFill>
              </a:rPr>
            </a:br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41" name="Titre 3"/>
          <p:cNvSpPr txBox="1">
            <a:spLocks/>
          </p:cNvSpPr>
          <p:nvPr/>
        </p:nvSpPr>
        <p:spPr>
          <a:xfrm>
            <a:off x="214282" y="214290"/>
            <a:ext cx="8507413" cy="793750"/>
          </a:xfrm>
          <a:prstGeom prst="rect">
            <a:avLst/>
          </a:prstGeom>
        </p:spPr>
        <p:txBody>
          <a:bodyPr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sz="3200" b="1" dirty="0">
                <a:solidFill>
                  <a:schemeClr val="accent6">
                    <a:lumMod val="50000"/>
                  </a:schemeClr>
                </a:solidFill>
                <a:latin typeface="Baskerville Old Face"/>
              </a:rPr>
              <a:t>Le Secteur Tertiaire </a:t>
            </a:r>
          </a:p>
        </p:txBody>
      </p:sp>
      <p:sp>
        <p:nvSpPr>
          <p:cNvPr id="9222" name="AutoShape 6" descr="RÃ©sultat de recherche d'images pour &quot;extraction minier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9224" name="AutoShape 8" descr="RÃ©sultat de recherche d'images pour &quot;extraction minier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9226" name="AutoShape 10" descr="RÃ©sultat de recherche d'images pour &quot;extraction minier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9228" name="AutoShape 12" descr="RÃ©sultat de recherche d'images pour &quot;extraction minier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78850" name="Picture 2" descr="RÃ©sultat de recherche d'images pour &quot;secteur tertiaire&quot;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86512" y="3143248"/>
            <a:ext cx="2640337" cy="1285884"/>
          </a:xfrm>
          <a:prstGeom prst="rect">
            <a:avLst/>
          </a:prstGeom>
          <a:noFill/>
        </p:spPr>
      </p:pic>
      <p:pic>
        <p:nvPicPr>
          <p:cNvPr id="78852" name="Picture 4" descr="Image associÃ©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86578" y="5072074"/>
            <a:ext cx="1681126" cy="1039764"/>
          </a:xfrm>
          <a:prstGeom prst="rect">
            <a:avLst/>
          </a:prstGeom>
          <a:noFill/>
        </p:spPr>
      </p:pic>
      <p:pic>
        <p:nvPicPr>
          <p:cNvPr id="78854" name="Picture 6" descr="Image associÃ©e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513617" y="5715016"/>
            <a:ext cx="1630383" cy="928670"/>
          </a:xfrm>
          <a:prstGeom prst="rect">
            <a:avLst/>
          </a:prstGeom>
          <a:noFill/>
        </p:spPr>
      </p:pic>
      <p:pic>
        <p:nvPicPr>
          <p:cNvPr id="78856" name="Picture 8" descr="RÃ©sultat de recherche d'images pour &quot;transport&quot;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0" y="3000372"/>
            <a:ext cx="3428992" cy="1547786"/>
          </a:xfrm>
          <a:prstGeom prst="rect">
            <a:avLst/>
          </a:prstGeom>
          <a:noFill/>
        </p:spPr>
      </p:pic>
      <p:pic>
        <p:nvPicPr>
          <p:cNvPr id="78858" name="Picture 10" descr="RÃ©sultat de recherche d'images pour &quot;tourisme&quot;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57158" y="5000636"/>
            <a:ext cx="2798768" cy="1604628"/>
          </a:xfrm>
          <a:prstGeom prst="rect">
            <a:avLst/>
          </a:prstGeom>
          <a:noFill/>
        </p:spPr>
      </p:pic>
      <p:pic>
        <p:nvPicPr>
          <p:cNvPr id="28" name="Picture 15">
            <a:extLst>
              <a:ext uri="{FF2B5EF4-FFF2-40B4-BE49-F238E27FC236}">
                <a16:creationId xmlns:a16="http://schemas.microsoft.com/office/drawing/2014/main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460" y="0"/>
            <a:ext cx="3682540" cy="2146032"/>
          </a:xfrm>
          <a:prstGeom prst="rect">
            <a:avLst/>
          </a:prstGeom>
        </p:spPr>
      </p:pic>
      <p:sp>
        <p:nvSpPr>
          <p:cNvPr id="3" name="Oval 76">
            <a:extLst>
              <a:ext uri="{FF2B5EF4-FFF2-40B4-BE49-F238E27FC236}">
                <a16:creationId xmlns:a16="http://schemas.microsoft.com/office/drawing/2014/main" id="{FAED2688-D74E-0E52-7C0A-BF9893B64256}"/>
              </a:ext>
            </a:extLst>
          </p:cNvPr>
          <p:cNvSpPr>
            <a:spLocks noChangeAspect="1"/>
          </p:cNvSpPr>
          <p:nvPr/>
        </p:nvSpPr>
        <p:spPr>
          <a:xfrm rot="14929748">
            <a:off x="3855367" y="737608"/>
            <a:ext cx="731520" cy="548640"/>
          </a:xfrm>
          <a:prstGeom prst="ellipse">
            <a:avLst/>
          </a:prstGeom>
          <a:solidFill>
            <a:srgbClr val="7030A0"/>
          </a:solidFill>
          <a:ln>
            <a:solidFill>
              <a:schemeClr val="bg1">
                <a:alpha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65">
            <a:extLst>
              <a:ext uri="{FF2B5EF4-FFF2-40B4-BE49-F238E27FC236}">
                <a16:creationId xmlns:a16="http://schemas.microsoft.com/office/drawing/2014/main" id="{48CB5218-DBF6-D3B3-18AD-29F8DE1B0BA8}"/>
              </a:ext>
            </a:extLst>
          </p:cNvPr>
          <p:cNvSpPr txBox="1"/>
          <p:nvPr/>
        </p:nvSpPr>
        <p:spPr>
          <a:xfrm rot="732960">
            <a:off x="2086667" y="1094162"/>
            <a:ext cx="247000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A" altLang="en-US" sz="2000" b="1" dirty="0">
                <a:solidFill>
                  <a:srgbClr val="7030A0"/>
                </a:solidFill>
                <a:latin typeface="Candara" panose="020E0502030303020204" pitchFamily="34" charset="0"/>
              </a:rPr>
              <a:t>Formation </a:t>
            </a:r>
          </a:p>
          <a:p>
            <a:pPr algn="r"/>
            <a:endParaRPr lang="en-US" sz="1400" b="1" dirty="0">
              <a:solidFill>
                <a:srgbClr val="FFA803"/>
              </a:solidFill>
              <a:latin typeface="Candara" panose="020E0502030303020204" pitchFamily="34" charset="0"/>
            </a:endParaRPr>
          </a:p>
          <a:p>
            <a:pPr algn="r"/>
            <a:endParaRPr lang="en-US" sz="200" dirty="0">
              <a:solidFill>
                <a:srgbClr val="56595E"/>
              </a:solidFill>
              <a:latin typeface="Candara" panose="020E0502030303020204" pitchFamily="34" charset="0"/>
            </a:endParaRPr>
          </a:p>
          <a:p>
            <a:pPr algn="r"/>
            <a:endParaRPr lang="en-US" sz="1000" dirty="0">
              <a:solidFill>
                <a:srgbClr val="56595E"/>
              </a:solidFill>
              <a:latin typeface="Candara" panose="020E0502030303020204" pitchFamily="34" charset="0"/>
            </a:endParaRPr>
          </a:p>
        </p:txBody>
      </p:sp>
      <p:sp>
        <p:nvSpPr>
          <p:cNvPr id="5" name="Freeform: Shape 49">
            <a:extLst>
              <a:ext uri="{FF2B5EF4-FFF2-40B4-BE49-F238E27FC236}">
                <a16:creationId xmlns:a16="http://schemas.microsoft.com/office/drawing/2014/main" id="{EC0F695A-72C8-1099-EA9A-03037DE53224}"/>
              </a:ext>
            </a:extLst>
          </p:cNvPr>
          <p:cNvSpPr>
            <a:spLocks noChangeAspect="1"/>
          </p:cNvSpPr>
          <p:nvPr/>
        </p:nvSpPr>
        <p:spPr>
          <a:xfrm rot="4414588">
            <a:off x="3503808" y="1345060"/>
            <a:ext cx="1324961" cy="1221231"/>
          </a:xfrm>
          <a:custGeom>
            <a:avLst/>
            <a:gdLst>
              <a:gd name="connsiteX0" fmla="*/ 60233 w 2241060"/>
              <a:gd name="connsiteY0" fmla="*/ 1167 h 2706421"/>
              <a:gd name="connsiteX1" fmla="*/ 87462 w 2241060"/>
              <a:gd name="connsiteY1" fmla="*/ 1589 h 2706421"/>
              <a:gd name="connsiteX2" fmla="*/ 130562 w 2241060"/>
              <a:gd name="connsiteY2" fmla="*/ 31546 h 2706421"/>
              <a:gd name="connsiteX3" fmla="*/ 134598 w 2241060"/>
              <a:gd name="connsiteY3" fmla="*/ 53983 h 2706421"/>
              <a:gd name="connsiteX4" fmla="*/ 1686515 w 2241060"/>
              <a:gd name="connsiteY4" fmla="*/ 392416 h 2706421"/>
              <a:gd name="connsiteX5" fmla="*/ 1667482 w 2241060"/>
              <a:gd name="connsiteY5" fmla="*/ 444418 h 2706421"/>
              <a:gd name="connsiteX6" fmla="*/ 1666442 w 2241060"/>
              <a:gd name="connsiteY6" fmla="*/ 444192 h 2706421"/>
              <a:gd name="connsiteX7" fmla="*/ 1623585 w 2241060"/>
              <a:gd name="connsiteY7" fmla="*/ 561287 h 2706421"/>
              <a:gd name="connsiteX8" fmla="*/ 1549892 w 2241060"/>
              <a:gd name="connsiteY8" fmla="*/ 1048719 h 2706421"/>
              <a:gd name="connsiteX9" fmla="*/ 2146389 w 2241060"/>
              <a:gd name="connsiteY9" fmla="*/ 2313564 h 2706421"/>
              <a:gd name="connsiteX10" fmla="*/ 2241060 w 2241060"/>
              <a:gd name="connsiteY10" fmla="*/ 2384358 h 2706421"/>
              <a:gd name="connsiteX11" fmla="*/ 2033364 w 2241060"/>
              <a:gd name="connsiteY11" fmla="*/ 2706421 h 2706421"/>
              <a:gd name="connsiteX12" fmla="*/ 1909423 w 2241060"/>
              <a:gd name="connsiteY12" fmla="*/ 2613740 h 2706421"/>
              <a:gd name="connsiteX13" fmla="*/ 1177358 w 2241060"/>
              <a:gd name="connsiteY13" fmla="*/ 1061430 h 2706421"/>
              <a:gd name="connsiteX14" fmla="*/ 1267799 w 2241060"/>
              <a:gd name="connsiteY14" fmla="*/ 463218 h 2706421"/>
              <a:gd name="connsiteX15" fmla="*/ 1303715 w 2241060"/>
              <a:gd name="connsiteY15" fmla="*/ 365090 h 2706421"/>
              <a:gd name="connsiteX16" fmla="*/ 122908 w 2241060"/>
              <a:gd name="connsiteY16" fmla="*/ 107587 h 2706421"/>
              <a:gd name="connsiteX17" fmla="*/ 109897 w 2241060"/>
              <a:gd name="connsiteY17" fmla="*/ 126306 h 2706421"/>
              <a:gd name="connsiteX18" fmla="*/ 58238 w 2241060"/>
              <a:gd name="connsiteY18" fmla="*/ 135600 h 2706421"/>
              <a:gd name="connsiteX19" fmla="*/ 15137 w 2241060"/>
              <a:gd name="connsiteY19" fmla="*/ 105641 h 2706421"/>
              <a:gd name="connsiteX20" fmla="*/ 11101 w 2241060"/>
              <a:gd name="connsiteY20" fmla="*/ 83205 h 2706421"/>
              <a:gd name="connsiteX21" fmla="*/ 0 w 2241060"/>
              <a:gd name="connsiteY21" fmla="*/ 80784 h 2706421"/>
              <a:gd name="connsiteX22" fmla="*/ 5845 w 2241060"/>
              <a:gd name="connsiteY22" fmla="*/ 53982 h 2706421"/>
              <a:gd name="connsiteX23" fmla="*/ 11689 w 2241060"/>
              <a:gd name="connsiteY23" fmla="*/ 27180 h 2706421"/>
              <a:gd name="connsiteX24" fmla="*/ 22791 w 2241060"/>
              <a:gd name="connsiteY24" fmla="*/ 29601 h 2706421"/>
              <a:gd name="connsiteX25" fmla="*/ 35802 w 2241060"/>
              <a:gd name="connsiteY25" fmla="*/ 10881 h 2706421"/>
              <a:gd name="connsiteX26" fmla="*/ 60233 w 2241060"/>
              <a:gd name="connsiteY26" fmla="*/ 1167 h 2706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2241060" h="2706421">
                <a:moveTo>
                  <a:pt x="60233" y="1167"/>
                </a:moveTo>
                <a:cubicBezTo>
                  <a:pt x="68988" y="-476"/>
                  <a:pt x="78210" y="-428"/>
                  <a:pt x="87462" y="1589"/>
                </a:cubicBezTo>
                <a:cubicBezTo>
                  <a:pt x="105965" y="5624"/>
                  <a:pt x="121081" y="16777"/>
                  <a:pt x="130562" y="31546"/>
                </a:cubicBezTo>
                <a:lnTo>
                  <a:pt x="134598" y="53983"/>
                </a:lnTo>
                <a:lnTo>
                  <a:pt x="1686515" y="392416"/>
                </a:lnTo>
                <a:lnTo>
                  <a:pt x="1667482" y="444418"/>
                </a:lnTo>
                <a:lnTo>
                  <a:pt x="1666442" y="444192"/>
                </a:lnTo>
                <a:lnTo>
                  <a:pt x="1623585" y="561287"/>
                </a:lnTo>
                <a:cubicBezTo>
                  <a:pt x="1575692" y="715267"/>
                  <a:pt x="1549892" y="878980"/>
                  <a:pt x="1549892" y="1048719"/>
                </a:cubicBezTo>
                <a:cubicBezTo>
                  <a:pt x="1549892" y="1557937"/>
                  <a:pt x="1782093" y="2012921"/>
                  <a:pt x="2146389" y="2313564"/>
                </a:cubicBezTo>
                <a:lnTo>
                  <a:pt x="2241060" y="2384358"/>
                </a:lnTo>
                <a:lnTo>
                  <a:pt x="2033364" y="2706421"/>
                </a:lnTo>
                <a:lnTo>
                  <a:pt x="1909423" y="2613740"/>
                </a:lnTo>
                <a:cubicBezTo>
                  <a:pt x="1462333" y="2244768"/>
                  <a:pt x="1177358" y="1686379"/>
                  <a:pt x="1177358" y="1061430"/>
                </a:cubicBezTo>
                <a:cubicBezTo>
                  <a:pt x="1177358" y="853114"/>
                  <a:pt x="1209022" y="652193"/>
                  <a:pt x="1267799" y="463218"/>
                </a:cubicBezTo>
                <a:lnTo>
                  <a:pt x="1303715" y="365090"/>
                </a:lnTo>
                <a:lnTo>
                  <a:pt x="122908" y="107587"/>
                </a:lnTo>
                <a:lnTo>
                  <a:pt x="109897" y="126306"/>
                </a:lnTo>
                <a:cubicBezTo>
                  <a:pt x="95128" y="135788"/>
                  <a:pt x="76741" y="139635"/>
                  <a:pt x="58238" y="135600"/>
                </a:cubicBezTo>
                <a:cubicBezTo>
                  <a:pt x="39735" y="131565"/>
                  <a:pt x="24619" y="120412"/>
                  <a:pt x="15137" y="105641"/>
                </a:cubicBezTo>
                <a:lnTo>
                  <a:pt x="11101" y="83205"/>
                </a:lnTo>
                <a:lnTo>
                  <a:pt x="0" y="80784"/>
                </a:lnTo>
                <a:lnTo>
                  <a:pt x="5845" y="53982"/>
                </a:lnTo>
                <a:lnTo>
                  <a:pt x="11689" y="27180"/>
                </a:lnTo>
                <a:lnTo>
                  <a:pt x="22791" y="29601"/>
                </a:lnTo>
                <a:lnTo>
                  <a:pt x="35802" y="10881"/>
                </a:lnTo>
                <a:cubicBezTo>
                  <a:pt x="43187" y="6141"/>
                  <a:pt x="51477" y="2810"/>
                  <a:pt x="60233" y="1167"/>
                </a:cubicBezTo>
                <a:close/>
              </a:path>
            </a:pathLst>
          </a:custGeom>
          <a:solidFill>
            <a:srgbClr val="7030A0"/>
          </a:solidFill>
          <a:ln>
            <a:solidFill>
              <a:schemeClr val="bg1">
                <a:alpha val="5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Images de Ecole Primaire – Téléchargement gratuit sur Freepik">
            <a:extLst>
              <a:ext uri="{FF2B5EF4-FFF2-40B4-BE49-F238E27FC236}">
                <a16:creationId xmlns:a16="http://schemas.microsoft.com/office/drawing/2014/main" id="{F600A29F-8CB3-7533-C694-E4F467186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6" y="955085"/>
            <a:ext cx="1958003" cy="898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ISCA - platforme">
            <a:extLst>
              <a:ext uri="{FF2B5EF4-FFF2-40B4-BE49-F238E27FC236}">
                <a16:creationId xmlns:a16="http://schemas.microsoft.com/office/drawing/2014/main" id="{79168C04-5E65-5F73-625B-8E0C6CB311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840" y="820764"/>
            <a:ext cx="1614013" cy="821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19769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7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7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7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49" grpId="0" animBg="1"/>
      <p:bldP spid="48" grpId="0" animBg="1"/>
      <p:bldP spid="47" grpId="0" animBg="1"/>
      <p:bldP spid="63" grpId="0"/>
      <p:bldP spid="64" grpId="0"/>
      <p:bldP spid="65" grpId="0"/>
      <p:bldP spid="66" grpId="0"/>
      <p:bldP spid="85" grpId="0"/>
      <p:bldP spid="4" grpId="0"/>
      <p:bldP spid="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6BD501C4-728F-4A23-8584-3B85170D0332}"/>
              </a:ext>
            </a:extLst>
          </p:cNvPr>
          <p:cNvSpPr>
            <a:spLocks noChangeAspect="1"/>
          </p:cNvSpPr>
          <p:nvPr/>
        </p:nvSpPr>
        <p:spPr>
          <a:xfrm>
            <a:off x="2641730" y="2353457"/>
            <a:ext cx="1680795" cy="2706421"/>
          </a:xfrm>
          <a:custGeom>
            <a:avLst/>
            <a:gdLst>
              <a:gd name="connsiteX0" fmla="*/ 60233 w 2241060"/>
              <a:gd name="connsiteY0" fmla="*/ 1167 h 2706421"/>
              <a:gd name="connsiteX1" fmla="*/ 87462 w 2241060"/>
              <a:gd name="connsiteY1" fmla="*/ 1589 h 2706421"/>
              <a:gd name="connsiteX2" fmla="*/ 130562 w 2241060"/>
              <a:gd name="connsiteY2" fmla="*/ 31546 h 2706421"/>
              <a:gd name="connsiteX3" fmla="*/ 134598 w 2241060"/>
              <a:gd name="connsiteY3" fmla="*/ 53983 h 2706421"/>
              <a:gd name="connsiteX4" fmla="*/ 1686515 w 2241060"/>
              <a:gd name="connsiteY4" fmla="*/ 392416 h 2706421"/>
              <a:gd name="connsiteX5" fmla="*/ 1667482 w 2241060"/>
              <a:gd name="connsiteY5" fmla="*/ 444418 h 2706421"/>
              <a:gd name="connsiteX6" fmla="*/ 1666442 w 2241060"/>
              <a:gd name="connsiteY6" fmla="*/ 444192 h 2706421"/>
              <a:gd name="connsiteX7" fmla="*/ 1623585 w 2241060"/>
              <a:gd name="connsiteY7" fmla="*/ 561287 h 2706421"/>
              <a:gd name="connsiteX8" fmla="*/ 1549892 w 2241060"/>
              <a:gd name="connsiteY8" fmla="*/ 1048719 h 2706421"/>
              <a:gd name="connsiteX9" fmla="*/ 2146389 w 2241060"/>
              <a:gd name="connsiteY9" fmla="*/ 2313564 h 2706421"/>
              <a:gd name="connsiteX10" fmla="*/ 2241060 w 2241060"/>
              <a:gd name="connsiteY10" fmla="*/ 2384358 h 2706421"/>
              <a:gd name="connsiteX11" fmla="*/ 2033364 w 2241060"/>
              <a:gd name="connsiteY11" fmla="*/ 2706421 h 2706421"/>
              <a:gd name="connsiteX12" fmla="*/ 1909423 w 2241060"/>
              <a:gd name="connsiteY12" fmla="*/ 2613740 h 2706421"/>
              <a:gd name="connsiteX13" fmla="*/ 1177358 w 2241060"/>
              <a:gd name="connsiteY13" fmla="*/ 1061430 h 2706421"/>
              <a:gd name="connsiteX14" fmla="*/ 1267799 w 2241060"/>
              <a:gd name="connsiteY14" fmla="*/ 463218 h 2706421"/>
              <a:gd name="connsiteX15" fmla="*/ 1303715 w 2241060"/>
              <a:gd name="connsiteY15" fmla="*/ 365090 h 2706421"/>
              <a:gd name="connsiteX16" fmla="*/ 122908 w 2241060"/>
              <a:gd name="connsiteY16" fmla="*/ 107587 h 2706421"/>
              <a:gd name="connsiteX17" fmla="*/ 109897 w 2241060"/>
              <a:gd name="connsiteY17" fmla="*/ 126306 h 2706421"/>
              <a:gd name="connsiteX18" fmla="*/ 58238 w 2241060"/>
              <a:gd name="connsiteY18" fmla="*/ 135600 h 2706421"/>
              <a:gd name="connsiteX19" fmla="*/ 15137 w 2241060"/>
              <a:gd name="connsiteY19" fmla="*/ 105641 h 2706421"/>
              <a:gd name="connsiteX20" fmla="*/ 11101 w 2241060"/>
              <a:gd name="connsiteY20" fmla="*/ 83205 h 2706421"/>
              <a:gd name="connsiteX21" fmla="*/ 0 w 2241060"/>
              <a:gd name="connsiteY21" fmla="*/ 80784 h 2706421"/>
              <a:gd name="connsiteX22" fmla="*/ 5845 w 2241060"/>
              <a:gd name="connsiteY22" fmla="*/ 53982 h 2706421"/>
              <a:gd name="connsiteX23" fmla="*/ 11689 w 2241060"/>
              <a:gd name="connsiteY23" fmla="*/ 27180 h 2706421"/>
              <a:gd name="connsiteX24" fmla="*/ 22791 w 2241060"/>
              <a:gd name="connsiteY24" fmla="*/ 29601 h 2706421"/>
              <a:gd name="connsiteX25" fmla="*/ 35802 w 2241060"/>
              <a:gd name="connsiteY25" fmla="*/ 10881 h 2706421"/>
              <a:gd name="connsiteX26" fmla="*/ 60233 w 2241060"/>
              <a:gd name="connsiteY26" fmla="*/ 1167 h 2706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2241060" h="2706421">
                <a:moveTo>
                  <a:pt x="60233" y="1167"/>
                </a:moveTo>
                <a:cubicBezTo>
                  <a:pt x="68988" y="-476"/>
                  <a:pt x="78210" y="-428"/>
                  <a:pt x="87462" y="1589"/>
                </a:cubicBezTo>
                <a:cubicBezTo>
                  <a:pt x="105965" y="5624"/>
                  <a:pt x="121081" y="16777"/>
                  <a:pt x="130562" y="31546"/>
                </a:cubicBezTo>
                <a:lnTo>
                  <a:pt x="134598" y="53983"/>
                </a:lnTo>
                <a:lnTo>
                  <a:pt x="1686515" y="392416"/>
                </a:lnTo>
                <a:lnTo>
                  <a:pt x="1667482" y="444418"/>
                </a:lnTo>
                <a:lnTo>
                  <a:pt x="1666442" y="444192"/>
                </a:lnTo>
                <a:lnTo>
                  <a:pt x="1623585" y="561287"/>
                </a:lnTo>
                <a:cubicBezTo>
                  <a:pt x="1575692" y="715267"/>
                  <a:pt x="1549892" y="878980"/>
                  <a:pt x="1549892" y="1048719"/>
                </a:cubicBezTo>
                <a:cubicBezTo>
                  <a:pt x="1549892" y="1557937"/>
                  <a:pt x="1782093" y="2012921"/>
                  <a:pt x="2146389" y="2313564"/>
                </a:cubicBezTo>
                <a:lnTo>
                  <a:pt x="2241060" y="2384358"/>
                </a:lnTo>
                <a:lnTo>
                  <a:pt x="2033364" y="2706421"/>
                </a:lnTo>
                <a:lnTo>
                  <a:pt x="1909423" y="2613740"/>
                </a:lnTo>
                <a:cubicBezTo>
                  <a:pt x="1462333" y="2244768"/>
                  <a:pt x="1177358" y="1686379"/>
                  <a:pt x="1177358" y="1061430"/>
                </a:cubicBezTo>
                <a:cubicBezTo>
                  <a:pt x="1177358" y="853114"/>
                  <a:pt x="1209022" y="652193"/>
                  <a:pt x="1267799" y="463218"/>
                </a:cubicBezTo>
                <a:lnTo>
                  <a:pt x="1303715" y="365090"/>
                </a:lnTo>
                <a:lnTo>
                  <a:pt x="122908" y="107587"/>
                </a:lnTo>
                <a:lnTo>
                  <a:pt x="109897" y="126306"/>
                </a:lnTo>
                <a:cubicBezTo>
                  <a:pt x="95128" y="135788"/>
                  <a:pt x="76741" y="139635"/>
                  <a:pt x="58238" y="135600"/>
                </a:cubicBezTo>
                <a:cubicBezTo>
                  <a:pt x="39735" y="131565"/>
                  <a:pt x="24619" y="120412"/>
                  <a:pt x="15137" y="105641"/>
                </a:cubicBezTo>
                <a:lnTo>
                  <a:pt x="11101" y="83205"/>
                </a:lnTo>
                <a:lnTo>
                  <a:pt x="0" y="80784"/>
                </a:lnTo>
                <a:lnTo>
                  <a:pt x="5845" y="53982"/>
                </a:lnTo>
                <a:lnTo>
                  <a:pt x="11689" y="27180"/>
                </a:lnTo>
                <a:lnTo>
                  <a:pt x="22791" y="29601"/>
                </a:lnTo>
                <a:lnTo>
                  <a:pt x="35802" y="10881"/>
                </a:lnTo>
                <a:cubicBezTo>
                  <a:pt x="43187" y="6141"/>
                  <a:pt x="51477" y="2810"/>
                  <a:pt x="60233" y="1167"/>
                </a:cubicBezTo>
                <a:close/>
              </a:path>
            </a:pathLst>
          </a:custGeom>
          <a:solidFill>
            <a:srgbClr val="FFA803"/>
          </a:solidFill>
          <a:ln>
            <a:solidFill>
              <a:schemeClr val="bg1">
                <a:alpha val="5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4B1BB67F-A885-4A15-B989-210F399F4143}"/>
              </a:ext>
            </a:extLst>
          </p:cNvPr>
          <p:cNvSpPr>
            <a:spLocks noChangeAspect="1"/>
          </p:cNvSpPr>
          <p:nvPr/>
        </p:nvSpPr>
        <p:spPr>
          <a:xfrm rot="7345456">
            <a:off x="3550512" y="4589105"/>
            <a:ext cx="2542364" cy="1408530"/>
          </a:xfrm>
          <a:custGeom>
            <a:avLst/>
            <a:gdLst>
              <a:gd name="connsiteX0" fmla="*/ 859612 w 2542364"/>
              <a:gd name="connsiteY0" fmla="*/ 1836892 h 1878040"/>
              <a:gd name="connsiteX1" fmla="*/ 863962 w 2542364"/>
              <a:gd name="connsiteY1" fmla="*/ 1811816 h 1878040"/>
              <a:gd name="connsiteX2" fmla="*/ 855057 w 2542364"/>
              <a:gd name="connsiteY2" fmla="*/ 1811641 h 1878040"/>
              <a:gd name="connsiteX3" fmla="*/ 870009 w 2542364"/>
              <a:gd name="connsiteY3" fmla="*/ 1725466 h 1878040"/>
              <a:gd name="connsiteX4" fmla="*/ 671105 w 2542364"/>
              <a:gd name="connsiteY4" fmla="*/ 841178 h 1878040"/>
              <a:gd name="connsiteX5" fmla="*/ 75721 w 2542364"/>
              <a:gd name="connsiteY5" fmla="*/ 331052 h 1878040"/>
              <a:gd name="connsiteX6" fmla="*/ 0 w 2542364"/>
              <a:gd name="connsiteY6" fmla="*/ 302307 h 1878040"/>
              <a:gd name="connsiteX7" fmla="*/ 85488 w 2542364"/>
              <a:gd name="connsiteY7" fmla="*/ 0 h 1878040"/>
              <a:gd name="connsiteX8" fmla="*/ 188258 w 2542364"/>
              <a:gd name="connsiteY8" fmla="*/ 38309 h 1878040"/>
              <a:gd name="connsiteX9" fmla="*/ 937165 w 2542364"/>
              <a:gd name="connsiteY9" fmla="*/ 672173 h 1878040"/>
              <a:gd name="connsiteX10" fmla="*/ 1181273 w 2542364"/>
              <a:gd name="connsiteY10" fmla="*/ 1757434 h 1878040"/>
              <a:gd name="connsiteX11" fmla="*/ 1177007 w 2542364"/>
              <a:gd name="connsiteY11" fmla="*/ 1782028 h 1878040"/>
              <a:gd name="connsiteX12" fmla="*/ 2416567 w 2542364"/>
              <a:gd name="connsiteY12" fmla="*/ 1782028 h 1878040"/>
              <a:gd name="connsiteX13" fmla="*/ 2425291 w 2542364"/>
              <a:gd name="connsiteY13" fmla="*/ 1760967 h 1878040"/>
              <a:gd name="connsiteX14" fmla="*/ 2473784 w 2542364"/>
              <a:gd name="connsiteY14" fmla="*/ 1740880 h 1878040"/>
              <a:gd name="connsiteX15" fmla="*/ 2522278 w 2542364"/>
              <a:gd name="connsiteY15" fmla="*/ 1760967 h 1878040"/>
              <a:gd name="connsiteX16" fmla="*/ 2531002 w 2542364"/>
              <a:gd name="connsiteY16" fmla="*/ 1782028 h 1878040"/>
              <a:gd name="connsiteX17" fmla="*/ 2542364 w 2542364"/>
              <a:gd name="connsiteY17" fmla="*/ 1782028 h 1878040"/>
              <a:gd name="connsiteX18" fmla="*/ 2542364 w 2542364"/>
              <a:gd name="connsiteY18" fmla="*/ 1809460 h 1878040"/>
              <a:gd name="connsiteX19" fmla="*/ 2542364 w 2542364"/>
              <a:gd name="connsiteY19" fmla="*/ 1836892 h 1878040"/>
              <a:gd name="connsiteX20" fmla="*/ 2531002 w 2542364"/>
              <a:gd name="connsiteY20" fmla="*/ 1836892 h 1878040"/>
              <a:gd name="connsiteX21" fmla="*/ 2522278 w 2542364"/>
              <a:gd name="connsiteY21" fmla="*/ 1857954 h 1878040"/>
              <a:gd name="connsiteX22" fmla="*/ 2473784 w 2542364"/>
              <a:gd name="connsiteY22" fmla="*/ 1878040 h 1878040"/>
              <a:gd name="connsiteX23" fmla="*/ 2425291 w 2542364"/>
              <a:gd name="connsiteY23" fmla="*/ 1857954 h 1878040"/>
              <a:gd name="connsiteX24" fmla="*/ 2416567 w 2542364"/>
              <a:gd name="connsiteY24" fmla="*/ 1836892 h 187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42364" h="1878040">
                <a:moveTo>
                  <a:pt x="859612" y="1836892"/>
                </a:moveTo>
                <a:lnTo>
                  <a:pt x="863962" y="1811816"/>
                </a:lnTo>
                <a:lnTo>
                  <a:pt x="855057" y="1811641"/>
                </a:lnTo>
                <a:lnTo>
                  <a:pt x="870009" y="1725466"/>
                </a:lnTo>
                <a:cubicBezTo>
                  <a:pt x="907199" y="1427200"/>
                  <a:pt x="844853" y="1114707"/>
                  <a:pt x="671105" y="841178"/>
                </a:cubicBezTo>
                <a:cubicBezTo>
                  <a:pt x="522177" y="606725"/>
                  <a:pt x="312549" y="434192"/>
                  <a:pt x="75721" y="331052"/>
                </a:cubicBezTo>
                <a:lnTo>
                  <a:pt x="0" y="302307"/>
                </a:lnTo>
                <a:lnTo>
                  <a:pt x="85488" y="0"/>
                </a:lnTo>
                <a:lnTo>
                  <a:pt x="188258" y="38309"/>
                </a:lnTo>
                <a:cubicBezTo>
                  <a:pt x="486368" y="163900"/>
                  <a:pt x="750582" y="378440"/>
                  <a:pt x="937165" y="672173"/>
                </a:cubicBezTo>
                <a:cubicBezTo>
                  <a:pt x="1150402" y="1007867"/>
                  <a:pt x="1226917" y="1391381"/>
                  <a:pt x="1181273" y="1757434"/>
                </a:cubicBezTo>
                <a:lnTo>
                  <a:pt x="1177007" y="1782028"/>
                </a:lnTo>
                <a:lnTo>
                  <a:pt x="2416567" y="1782028"/>
                </a:lnTo>
                <a:lnTo>
                  <a:pt x="2425291" y="1760967"/>
                </a:lnTo>
                <a:cubicBezTo>
                  <a:pt x="2437701" y="1748556"/>
                  <a:pt x="2454846" y="1740880"/>
                  <a:pt x="2473784" y="1740880"/>
                </a:cubicBezTo>
                <a:cubicBezTo>
                  <a:pt x="2492722" y="1740880"/>
                  <a:pt x="2509867" y="1748556"/>
                  <a:pt x="2522278" y="1760967"/>
                </a:cubicBezTo>
                <a:lnTo>
                  <a:pt x="2531002" y="1782028"/>
                </a:lnTo>
                <a:lnTo>
                  <a:pt x="2542364" y="1782028"/>
                </a:lnTo>
                <a:lnTo>
                  <a:pt x="2542364" y="1809460"/>
                </a:lnTo>
                <a:lnTo>
                  <a:pt x="2542364" y="1836892"/>
                </a:lnTo>
                <a:lnTo>
                  <a:pt x="2531002" y="1836892"/>
                </a:lnTo>
                <a:lnTo>
                  <a:pt x="2522278" y="1857954"/>
                </a:lnTo>
                <a:cubicBezTo>
                  <a:pt x="2509867" y="1870364"/>
                  <a:pt x="2492722" y="1878040"/>
                  <a:pt x="2473784" y="1878040"/>
                </a:cubicBezTo>
                <a:cubicBezTo>
                  <a:pt x="2454846" y="1878040"/>
                  <a:pt x="2437701" y="1870364"/>
                  <a:pt x="2425291" y="1857954"/>
                </a:cubicBezTo>
                <a:lnTo>
                  <a:pt x="2416567" y="1836892"/>
                </a:lnTo>
                <a:close/>
              </a:path>
            </a:pathLst>
          </a:custGeom>
          <a:solidFill>
            <a:srgbClr val="3EB8CD"/>
          </a:solidFill>
          <a:ln>
            <a:solidFill>
              <a:schemeClr val="bg1">
                <a:alpha val="50000"/>
              </a:scheme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0A2AD900-70EF-4C72-8B4E-0338EDC35B30}"/>
              </a:ext>
            </a:extLst>
          </p:cNvPr>
          <p:cNvSpPr>
            <a:spLocks noChangeAspect="1"/>
          </p:cNvSpPr>
          <p:nvPr/>
        </p:nvSpPr>
        <p:spPr>
          <a:xfrm>
            <a:off x="5555129" y="2883584"/>
            <a:ext cx="943290" cy="2817355"/>
          </a:xfrm>
          <a:custGeom>
            <a:avLst/>
            <a:gdLst>
              <a:gd name="connsiteX0" fmla="*/ 719476 w 1257720"/>
              <a:gd name="connsiteY0" fmla="*/ 0 h 2817355"/>
              <a:gd name="connsiteX1" fmla="*/ 751601 w 1257720"/>
              <a:gd name="connsiteY1" fmla="*/ 87772 h 2817355"/>
              <a:gd name="connsiteX2" fmla="*/ 813265 w 1257720"/>
              <a:gd name="connsiteY2" fmla="*/ 495644 h 2817355"/>
              <a:gd name="connsiteX3" fmla="*/ 314130 w 1257720"/>
              <a:gd name="connsiteY3" fmla="*/ 1554037 h 2817355"/>
              <a:gd name="connsiteX4" fmla="*/ 226795 w 1257720"/>
              <a:gd name="connsiteY4" fmla="*/ 1619345 h 2817355"/>
              <a:gd name="connsiteX5" fmla="*/ 1171754 w 1257720"/>
              <a:gd name="connsiteY5" fmla="*/ 2686797 h 2817355"/>
              <a:gd name="connsiteX6" fmla="*/ 1193307 w 1257720"/>
              <a:gd name="connsiteY6" fmla="*/ 2679369 h 2817355"/>
              <a:gd name="connsiteX7" fmla="*/ 1240490 w 1257720"/>
              <a:gd name="connsiteY7" fmla="*/ 2702365 h 2817355"/>
              <a:gd name="connsiteX8" fmla="*/ 1257593 w 1257720"/>
              <a:gd name="connsiteY8" fmla="*/ 2751989 h 2817355"/>
              <a:gd name="connsiteX9" fmla="*/ 1247606 w 1257720"/>
              <a:gd name="connsiteY9" fmla="*/ 2772482 h 2817355"/>
              <a:gd name="connsiteX10" fmla="*/ 1255138 w 1257720"/>
              <a:gd name="connsiteY10" fmla="*/ 2780989 h 2817355"/>
              <a:gd name="connsiteX11" fmla="*/ 1234598 w 1257720"/>
              <a:gd name="connsiteY11" fmla="*/ 2799172 h 2817355"/>
              <a:gd name="connsiteX12" fmla="*/ 1214058 w 1257720"/>
              <a:gd name="connsiteY12" fmla="*/ 2817355 h 2817355"/>
              <a:gd name="connsiteX13" fmla="*/ 1206526 w 1257720"/>
              <a:gd name="connsiteY13" fmla="*/ 2808848 h 2817355"/>
              <a:gd name="connsiteX14" fmla="*/ 1184973 w 1257720"/>
              <a:gd name="connsiteY14" fmla="*/ 2816276 h 2817355"/>
              <a:gd name="connsiteX15" fmla="*/ 1137790 w 1257720"/>
              <a:gd name="connsiteY15" fmla="*/ 2793280 h 2817355"/>
              <a:gd name="connsiteX16" fmla="*/ 1120687 w 1257720"/>
              <a:gd name="connsiteY16" fmla="*/ 2743656 h 2817355"/>
              <a:gd name="connsiteX17" fmla="*/ 1130674 w 1257720"/>
              <a:gd name="connsiteY17" fmla="*/ 2723163 h 2817355"/>
              <a:gd name="connsiteX18" fmla="*/ 0 w 1257720"/>
              <a:gd name="connsiteY18" fmla="*/ 1445923 h 2817355"/>
              <a:gd name="connsiteX19" fmla="*/ 45533 w 1257720"/>
              <a:gd name="connsiteY19" fmla="*/ 1421210 h 2817355"/>
              <a:gd name="connsiteX20" fmla="*/ 48921 w 1257720"/>
              <a:gd name="connsiteY20" fmla="*/ 1418414 h 2817355"/>
              <a:gd name="connsiteX21" fmla="*/ 52370 w 1257720"/>
              <a:gd name="connsiteY21" fmla="*/ 1422310 h 2817355"/>
              <a:gd name="connsiteX22" fmla="*/ 66526 w 1257720"/>
              <a:gd name="connsiteY22" fmla="*/ 1413709 h 2817355"/>
              <a:gd name="connsiteX23" fmla="*/ 559265 w 1257720"/>
              <a:gd name="connsiteY23" fmla="*/ 486978 h 2817355"/>
              <a:gd name="connsiteX24" fmla="*/ 509020 w 1257720"/>
              <a:gd name="connsiteY24" fmla="*/ 154638 h 2817355"/>
              <a:gd name="connsiteX25" fmla="*/ 484402 w 1257720"/>
              <a:gd name="connsiteY25" fmla="*/ 87376 h 2817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57720" h="2817355">
                <a:moveTo>
                  <a:pt x="719476" y="0"/>
                </a:moveTo>
                <a:lnTo>
                  <a:pt x="751601" y="87772"/>
                </a:lnTo>
                <a:cubicBezTo>
                  <a:pt x="791676" y="216619"/>
                  <a:pt x="813265" y="353611"/>
                  <a:pt x="813265" y="495644"/>
                </a:cubicBezTo>
                <a:cubicBezTo>
                  <a:pt x="813265" y="921745"/>
                  <a:pt x="618964" y="1302466"/>
                  <a:pt x="314130" y="1554037"/>
                </a:cubicBezTo>
                <a:lnTo>
                  <a:pt x="226795" y="1619345"/>
                </a:lnTo>
                <a:lnTo>
                  <a:pt x="1171754" y="2686797"/>
                </a:lnTo>
                <a:lnTo>
                  <a:pt x="1193307" y="2679369"/>
                </a:lnTo>
                <a:cubicBezTo>
                  <a:pt x="1210825" y="2680435"/>
                  <a:pt x="1227937" y="2688184"/>
                  <a:pt x="1240490" y="2702365"/>
                </a:cubicBezTo>
                <a:cubicBezTo>
                  <a:pt x="1253043" y="2716545"/>
                  <a:pt x="1258660" y="2734470"/>
                  <a:pt x="1257593" y="2751989"/>
                </a:cubicBezTo>
                <a:lnTo>
                  <a:pt x="1247606" y="2772482"/>
                </a:lnTo>
                <a:lnTo>
                  <a:pt x="1255138" y="2780989"/>
                </a:lnTo>
                <a:lnTo>
                  <a:pt x="1234598" y="2799172"/>
                </a:lnTo>
                <a:lnTo>
                  <a:pt x="1214058" y="2817355"/>
                </a:lnTo>
                <a:lnTo>
                  <a:pt x="1206526" y="2808848"/>
                </a:lnTo>
                <a:lnTo>
                  <a:pt x="1184973" y="2816276"/>
                </a:lnTo>
                <a:cubicBezTo>
                  <a:pt x="1167455" y="2815209"/>
                  <a:pt x="1150343" y="2807460"/>
                  <a:pt x="1137790" y="2793280"/>
                </a:cubicBezTo>
                <a:cubicBezTo>
                  <a:pt x="1125237" y="2779100"/>
                  <a:pt x="1119620" y="2761174"/>
                  <a:pt x="1120687" y="2743656"/>
                </a:cubicBezTo>
                <a:lnTo>
                  <a:pt x="1130674" y="2723163"/>
                </a:lnTo>
                <a:lnTo>
                  <a:pt x="0" y="1445923"/>
                </a:lnTo>
                <a:lnTo>
                  <a:pt x="45533" y="1421210"/>
                </a:lnTo>
                <a:lnTo>
                  <a:pt x="48921" y="1418414"/>
                </a:lnTo>
                <a:lnTo>
                  <a:pt x="52370" y="1422310"/>
                </a:lnTo>
                <a:lnTo>
                  <a:pt x="66526" y="1413709"/>
                </a:lnTo>
                <a:cubicBezTo>
                  <a:pt x="363810" y="1212868"/>
                  <a:pt x="559265" y="872748"/>
                  <a:pt x="559265" y="486978"/>
                </a:cubicBezTo>
                <a:cubicBezTo>
                  <a:pt x="559265" y="371247"/>
                  <a:pt x="541674" y="259624"/>
                  <a:pt x="509020" y="154638"/>
                </a:cubicBezTo>
                <a:lnTo>
                  <a:pt x="484402" y="87376"/>
                </a:lnTo>
                <a:close/>
              </a:path>
            </a:pathLst>
          </a:custGeom>
          <a:solidFill>
            <a:srgbClr val="85C401"/>
          </a:solidFill>
          <a:ln>
            <a:solidFill>
              <a:schemeClr val="bg1">
                <a:alpha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A83021B9-ABD2-43FC-BA66-17E7A0E2BCF9}"/>
              </a:ext>
            </a:extLst>
          </p:cNvPr>
          <p:cNvSpPr>
            <a:spLocks noChangeAspect="1"/>
          </p:cNvSpPr>
          <p:nvPr/>
        </p:nvSpPr>
        <p:spPr>
          <a:xfrm>
            <a:off x="5015425" y="2007626"/>
            <a:ext cx="2039524" cy="1085050"/>
          </a:xfrm>
          <a:custGeom>
            <a:avLst/>
            <a:gdLst>
              <a:gd name="connsiteX0" fmla="*/ 24112 w 2719365"/>
              <a:gd name="connsiteY0" fmla="*/ 0 h 1085050"/>
              <a:gd name="connsiteX1" fmla="*/ 1172928 w 2719365"/>
              <a:gd name="connsiteY1" fmla="*/ 781803 h 1085050"/>
              <a:gd name="connsiteX2" fmla="*/ 1223158 w 2719365"/>
              <a:gd name="connsiteY2" fmla="*/ 950928 h 1085050"/>
              <a:gd name="connsiteX3" fmla="*/ 2582356 w 2719365"/>
              <a:gd name="connsiteY3" fmla="*/ 449892 h 1085050"/>
              <a:gd name="connsiteX4" fmla="*/ 2583257 w 2719365"/>
              <a:gd name="connsiteY4" fmla="*/ 427114 h 1085050"/>
              <a:gd name="connsiteX5" fmla="*/ 2621809 w 2719365"/>
              <a:gd name="connsiteY5" fmla="*/ 391494 h 1085050"/>
              <a:gd name="connsiteX6" fmla="*/ 2648721 w 2719365"/>
              <a:gd name="connsiteY6" fmla="*/ 387318 h 1085050"/>
              <a:gd name="connsiteX7" fmla="*/ 2674258 w 2719365"/>
              <a:gd name="connsiteY7" fmla="*/ 393568 h 1085050"/>
              <a:gd name="connsiteX8" fmla="*/ 2689728 w 2719365"/>
              <a:gd name="connsiteY8" fmla="*/ 410312 h 1085050"/>
              <a:gd name="connsiteX9" fmla="*/ 2700389 w 2719365"/>
              <a:gd name="connsiteY9" fmla="*/ 406382 h 1085050"/>
              <a:gd name="connsiteX10" fmla="*/ 2709877 w 2719365"/>
              <a:gd name="connsiteY10" fmla="*/ 432121 h 1085050"/>
              <a:gd name="connsiteX11" fmla="*/ 2719365 w 2719365"/>
              <a:gd name="connsiteY11" fmla="*/ 457860 h 1085050"/>
              <a:gd name="connsiteX12" fmla="*/ 2708704 w 2719365"/>
              <a:gd name="connsiteY12" fmla="*/ 461790 h 1085050"/>
              <a:gd name="connsiteX13" fmla="*/ 2707803 w 2719365"/>
              <a:gd name="connsiteY13" fmla="*/ 484569 h 1085050"/>
              <a:gd name="connsiteX14" fmla="*/ 2669250 w 2719365"/>
              <a:gd name="connsiteY14" fmla="*/ 520188 h 1085050"/>
              <a:gd name="connsiteX15" fmla="*/ 2616802 w 2719365"/>
              <a:gd name="connsiteY15" fmla="*/ 518115 h 1085050"/>
              <a:gd name="connsiteX16" fmla="*/ 2601332 w 2719365"/>
              <a:gd name="connsiteY16" fmla="*/ 501370 h 1085050"/>
              <a:gd name="connsiteX17" fmla="*/ 1017940 w 2719365"/>
              <a:gd name="connsiteY17" fmla="*/ 1085050 h 1085050"/>
              <a:gd name="connsiteX18" fmla="*/ 1016237 w 2719365"/>
              <a:gd name="connsiteY18" fmla="*/ 1068163 h 1085050"/>
              <a:gd name="connsiteX19" fmla="*/ 1014058 w 2719365"/>
              <a:gd name="connsiteY19" fmla="*/ 1068973 h 1085050"/>
              <a:gd name="connsiteX20" fmla="*/ 1010145 w 2719365"/>
              <a:gd name="connsiteY20" fmla="*/ 1030155 h 1085050"/>
              <a:gd name="connsiteX21" fmla="*/ 1009949 w 2719365"/>
              <a:gd name="connsiteY21" fmla="*/ 1029523 h 1085050"/>
              <a:gd name="connsiteX22" fmla="*/ 1010077 w 2719365"/>
              <a:gd name="connsiteY22" fmla="*/ 1029476 h 1085050"/>
              <a:gd name="connsiteX23" fmla="*/ 1009517 w 2719365"/>
              <a:gd name="connsiteY23" fmla="*/ 1023928 h 1085050"/>
              <a:gd name="connsiteX24" fmla="*/ 24112 w 2719365"/>
              <a:gd name="connsiteY24" fmla="*/ 220800 h 1085050"/>
              <a:gd name="connsiteX25" fmla="*/ 0 w 2719365"/>
              <a:gd name="connsiteY25" fmla="*/ 222018 h 1085050"/>
              <a:gd name="connsiteX26" fmla="*/ 0 w 2719365"/>
              <a:gd name="connsiteY26" fmla="*/ 1218 h 1085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2719365" h="1085050">
                <a:moveTo>
                  <a:pt x="24112" y="0"/>
                </a:moveTo>
                <a:cubicBezTo>
                  <a:pt x="546087" y="0"/>
                  <a:pt x="992394" y="323970"/>
                  <a:pt x="1172928" y="781803"/>
                </a:cubicBezTo>
                <a:lnTo>
                  <a:pt x="1223158" y="950928"/>
                </a:lnTo>
                <a:lnTo>
                  <a:pt x="2582356" y="449892"/>
                </a:lnTo>
                <a:lnTo>
                  <a:pt x="2583257" y="427114"/>
                </a:lnTo>
                <a:cubicBezTo>
                  <a:pt x="2590608" y="411176"/>
                  <a:pt x="2604040" y="398044"/>
                  <a:pt x="2621809" y="391494"/>
                </a:cubicBezTo>
                <a:cubicBezTo>
                  <a:pt x="2630694" y="388219"/>
                  <a:pt x="2639822" y="386899"/>
                  <a:pt x="2648721" y="387318"/>
                </a:cubicBezTo>
                <a:cubicBezTo>
                  <a:pt x="2657620" y="387736"/>
                  <a:pt x="2666290" y="389892"/>
                  <a:pt x="2674258" y="393568"/>
                </a:cubicBezTo>
                <a:lnTo>
                  <a:pt x="2689728" y="410312"/>
                </a:lnTo>
                <a:lnTo>
                  <a:pt x="2700389" y="406382"/>
                </a:lnTo>
                <a:lnTo>
                  <a:pt x="2709877" y="432121"/>
                </a:lnTo>
                <a:lnTo>
                  <a:pt x="2719365" y="457860"/>
                </a:lnTo>
                <a:lnTo>
                  <a:pt x="2708704" y="461790"/>
                </a:lnTo>
                <a:lnTo>
                  <a:pt x="2707803" y="484569"/>
                </a:lnTo>
                <a:cubicBezTo>
                  <a:pt x="2700451" y="500506"/>
                  <a:pt x="2687019" y="513638"/>
                  <a:pt x="2669250" y="520188"/>
                </a:cubicBezTo>
                <a:cubicBezTo>
                  <a:pt x="2651480" y="526739"/>
                  <a:pt x="2632739" y="525466"/>
                  <a:pt x="2616802" y="518115"/>
                </a:cubicBezTo>
                <a:lnTo>
                  <a:pt x="2601332" y="501370"/>
                </a:lnTo>
                <a:lnTo>
                  <a:pt x="1017940" y="1085050"/>
                </a:lnTo>
                <a:lnTo>
                  <a:pt x="1016237" y="1068163"/>
                </a:lnTo>
                <a:lnTo>
                  <a:pt x="1014058" y="1068973"/>
                </a:lnTo>
                <a:lnTo>
                  <a:pt x="1010145" y="1030155"/>
                </a:lnTo>
                <a:lnTo>
                  <a:pt x="1009949" y="1029523"/>
                </a:lnTo>
                <a:lnTo>
                  <a:pt x="1010077" y="1029476"/>
                </a:lnTo>
                <a:lnTo>
                  <a:pt x="1009517" y="1023928"/>
                </a:lnTo>
                <a:cubicBezTo>
                  <a:pt x="915726" y="565584"/>
                  <a:pt x="510184" y="220800"/>
                  <a:pt x="24112" y="220800"/>
                </a:cubicBezTo>
                <a:lnTo>
                  <a:pt x="0" y="222018"/>
                </a:lnTo>
                <a:lnTo>
                  <a:pt x="0" y="1218"/>
                </a:lnTo>
                <a:close/>
              </a:path>
            </a:pathLst>
          </a:custGeom>
          <a:solidFill>
            <a:srgbClr val="FF2B2A"/>
          </a:solidFill>
          <a:ln>
            <a:solidFill>
              <a:schemeClr val="bg1">
                <a:alpha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530B8F8-6FBF-420A-8E33-30B8EFE64353}"/>
              </a:ext>
            </a:extLst>
          </p:cNvPr>
          <p:cNvSpPr txBox="1"/>
          <p:nvPr/>
        </p:nvSpPr>
        <p:spPr>
          <a:xfrm rot="20335263">
            <a:off x="5741746" y="1382128"/>
            <a:ext cx="24700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FF2B2A"/>
                </a:solidFill>
                <a:latin typeface="Candara" panose="020E0502030303020204" pitchFamily="34" charset="0"/>
              </a:rPr>
              <a:t>Matériel</a:t>
            </a:r>
            <a:r>
              <a:rPr lang="en-US" sz="2000" b="1" dirty="0">
                <a:solidFill>
                  <a:srgbClr val="FF2B2A"/>
                </a:solidFill>
                <a:latin typeface="Candara" panose="020E0502030303020204" pitchFamily="34" charset="0"/>
              </a:rPr>
              <a:t> </a:t>
            </a:r>
            <a:r>
              <a:rPr lang="en-US" sz="2000" b="1" dirty="0" err="1">
                <a:solidFill>
                  <a:srgbClr val="FF2B2A"/>
                </a:solidFill>
                <a:latin typeface="Candara" panose="020E0502030303020204" pitchFamily="34" charset="0"/>
              </a:rPr>
              <a:t>informatique</a:t>
            </a:r>
            <a:r>
              <a:rPr lang="en-US" sz="2000" b="1" dirty="0">
                <a:solidFill>
                  <a:srgbClr val="FF2B2A"/>
                </a:solidFill>
                <a:latin typeface="Candara" panose="020E0502030303020204" pitchFamily="34" charset="0"/>
              </a:rPr>
              <a:t>   </a:t>
            </a:r>
          </a:p>
          <a:p>
            <a:endParaRPr lang="en-US" sz="2000" dirty="0">
              <a:solidFill>
                <a:srgbClr val="56595E"/>
              </a:solidFill>
              <a:latin typeface="Candara" panose="020E0502030303020204" pitchFamily="34" charset="0"/>
            </a:endParaRPr>
          </a:p>
          <a:p>
            <a:endParaRPr lang="en-US" sz="2000" dirty="0">
              <a:solidFill>
                <a:srgbClr val="56595E"/>
              </a:solidFill>
              <a:latin typeface="Candara" panose="020E050203030302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F91145A-C422-41F0-8FE6-EFF5ABDBDE2D}"/>
              </a:ext>
            </a:extLst>
          </p:cNvPr>
          <p:cNvSpPr txBox="1"/>
          <p:nvPr/>
        </p:nvSpPr>
        <p:spPr>
          <a:xfrm rot="2906228">
            <a:off x="5130014" y="5184336"/>
            <a:ext cx="3293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rgbClr val="85C401"/>
                </a:solidFill>
                <a:latin typeface="Candara" panose="020E0502030303020204" pitchFamily="34" charset="0"/>
              </a:rPr>
              <a:t>L</a:t>
            </a:r>
            <a:r>
              <a:rPr lang="en-US" sz="2000" b="1" dirty="0" err="1">
                <a:solidFill>
                  <a:srgbClr val="85C401"/>
                </a:solidFill>
                <a:latin typeface="Candara" panose="020E0502030303020204" pitchFamily="34" charset="0"/>
              </a:rPr>
              <a:t>logiciels</a:t>
            </a:r>
            <a:r>
              <a:rPr lang="en-US" sz="2000" b="1" dirty="0">
                <a:solidFill>
                  <a:srgbClr val="85C401"/>
                </a:solidFill>
                <a:latin typeface="Candara" panose="020E0502030303020204" pitchFamily="34" charset="0"/>
              </a:rPr>
              <a:t>   </a:t>
            </a:r>
          </a:p>
          <a:p>
            <a:endParaRPr lang="en-US" sz="200" dirty="0">
              <a:solidFill>
                <a:srgbClr val="56595E"/>
              </a:solidFill>
              <a:latin typeface="Candara" panose="020E0502030303020204" pitchFamily="34" charset="0"/>
            </a:endParaRPr>
          </a:p>
          <a:p>
            <a:endParaRPr lang="en-US" sz="1000" dirty="0">
              <a:solidFill>
                <a:srgbClr val="56595E"/>
              </a:solidFill>
              <a:latin typeface="Candara" panose="020E050203030302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CEC2A33-2FFF-493D-8540-25436425C2D4}"/>
              </a:ext>
            </a:extLst>
          </p:cNvPr>
          <p:cNvSpPr txBox="1"/>
          <p:nvPr/>
        </p:nvSpPr>
        <p:spPr>
          <a:xfrm rot="18128163">
            <a:off x="3086790" y="5327532"/>
            <a:ext cx="22173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A" sz="2400" b="1" dirty="0">
                <a:solidFill>
                  <a:srgbClr val="3EB8CD"/>
                </a:solidFill>
                <a:latin typeface="Candara" panose="020E0502030303020204" pitchFamily="34" charset="0"/>
              </a:rPr>
              <a:t>Matériels Télécommunications </a:t>
            </a:r>
            <a:endParaRPr lang="en-US" sz="2400" dirty="0">
              <a:solidFill>
                <a:srgbClr val="56595E"/>
              </a:solidFill>
              <a:latin typeface="Candara" panose="020E0502030303020204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E2DD50A-8068-493C-80F2-76D2900CBFA4}"/>
              </a:ext>
            </a:extLst>
          </p:cNvPr>
          <p:cNvSpPr txBox="1"/>
          <p:nvPr/>
        </p:nvSpPr>
        <p:spPr>
          <a:xfrm rot="732960">
            <a:off x="326634" y="2334044"/>
            <a:ext cx="3306585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A" altLang="en-US" sz="2000" b="1" dirty="0">
                <a:solidFill>
                  <a:srgbClr val="FFA803"/>
                </a:solidFill>
                <a:latin typeface="Candara" panose="020E0502030303020204" pitchFamily="34" charset="0"/>
              </a:rPr>
              <a:t>Visualisation, stockage et transmission de l’information   </a:t>
            </a:r>
          </a:p>
          <a:p>
            <a:pPr algn="r"/>
            <a:endParaRPr lang="en-US" sz="1400" b="1" dirty="0">
              <a:solidFill>
                <a:srgbClr val="FFA803"/>
              </a:solidFill>
              <a:latin typeface="Candara" panose="020E0502030303020204" pitchFamily="34" charset="0"/>
            </a:endParaRPr>
          </a:p>
          <a:p>
            <a:pPr algn="r"/>
            <a:endParaRPr lang="en-US" sz="200" dirty="0">
              <a:solidFill>
                <a:srgbClr val="56595E"/>
              </a:solidFill>
              <a:latin typeface="Candara" panose="020E0502030303020204" pitchFamily="34" charset="0"/>
            </a:endParaRPr>
          </a:p>
          <a:p>
            <a:pPr algn="r"/>
            <a:endParaRPr lang="en-US" sz="1000" dirty="0">
              <a:solidFill>
                <a:srgbClr val="56595E"/>
              </a:solidFill>
              <a:latin typeface="Candara" panose="020E0502030303020204" pitchFamily="34" charset="0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68C5E3FD-CC95-4713-96B2-F1B7FC358170}"/>
              </a:ext>
            </a:extLst>
          </p:cNvPr>
          <p:cNvSpPr>
            <a:spLocks noChangeAspect="1"/>
          </p:cNvSpPr>
          <p:nvPr/>
        </p:nvSpPr>
        <p:spPr>
          <a:xfrm rot="14929748">
            <a:off x="7059527" y="2347339"/>
            <a:ext cx="731520" cy="548640"/>
          </a:xfrm>
          <a:prstGeom prst="ellipse">
            <a:avLst/>
          </a:prstGeom>
          <a:solidFill>
            <a:srgbClr val="FF2B2A"/>
          </a:solidFill>
          <a:ln>
            <a:solidFill>
              <a:schemeClr val="bg1">
                <a:alpha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8019C57E-B2C0-47F7-BF75-0E0102004C49}"/>
              </a:ext>
            </a:extLst>
          </p:cNvPr>
          <p:cNvSpPr>
            <a:spLocks noChangeAspect="1"/>
          </p:cNvSpPr>
          <p:nvPr/>
        </p:nvSpPr>
        <p:spPr>
          <a:xfrm rot="14929748">
            <a:off x="6119535" y="5919643"/>
            <a:ext cx="731520" cy="548640"/>
          </a:xfrm>
          <a:prstGeom prst="ellipse">
            <a:avLst/>
          </a:prstGeom>
          <a:solidFill>
            <a:srgbClr val="85C401"/>
          </a:solidFill>
          <a:ln>
            <a:solidFill>
              <a:schemeClr val="bg1">
                <a:alpha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A430FF5A-7B0D-4075-9ED6-8FCA2D67C438}"/>
              </a:ext>
            </a:extLst>
          </p:cNvPr>
          <p:cNvSpPr>
            <a:spLocks noChangeAspect="1"/>
          </p:cNvSpPr>
          <p:nvPr/>
        </p:nvSpPr>
        <p:spPr>
          <a:xfrm rot="14929748">
            <a:off x="3103987" y="5913120"/>
            <a:ext cx="731520" cy="548640"/>
          </a:xfrm>
          <a:prstGeom prst="ellipse">
            <a:avLst/>
          </a:prstGeom>
          <a:solidFill>
            <a:srgbClr val="3EB8CD"/>
          </a:solidFill>
          <a:ln>
            <a:solidFill>
              <a:schemeClr val="bg1">
                <a:alpha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5A1BF711-141B-47CF-BA67-DC9BE4F0FBD8}"/>
              </a:ext>
            </a:extLst>
          </p:cNvPr>
          <p:cNvSpPr>
            <a:spLocks noChangeAspect="1"/>
          </p:cNvSpPr>
          <p:nvPr/>
        </p:nvSpPr>
        <p:spPr>
          <a:xfrm rot="14929748">
            <a:off x="1997612" y="1874170"/>
            <a:ext cx="731520" cy="548640"/>
          </a:xfrm>
          <a:prstGeom prst="ellipse">
            <a:avLst/>
          </a:prstGeom>
          <a:solidFill>
            <a:srgbClr val="FFA803"/>
          </a:solidFill>
          <a:ln>
            <a:solidFill>
              <a:schemeClr val="bg1">
                <a:alpha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Group 83">
            <a:extLst>
              <a:ext uri="{FF2B5EF4-FFF2-40B4-BE49-F238E27FC236}">
                <a16:creationId xmlns:a16="http://schemas.microsoft.com/office/drawing/2014/main" id="{C9FFB87F-167B-44D4-9F01-40DF0B572441}"/>
              </a:ext>
            </a:extLst>
          </p:cNvPr>
          <p:cNvGrpSpPr>
            <a:grpSpLocks noChangeAspect="1"/>
          </p:cNvGrpSpPr>
          <p:nvPr/>
        </p:nvGrpSpPr>
        <p:grpSpPr>
          <a:xfrm>
            <a:off x="4340171" y="2700110"/>
            <a:ext cx="1028700" cy="1371600"/>
            <a:chOff x="844712" y="2057400"/>
            <a:chExt cx="2468880" cy="2468880"/>
          </a:xfrm>
        </p:grpSpPr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063EB69D-D319-478E-8A0F-A8C079A1F5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4712" y="2057400"/>
              <a:ext cx="2468880" cy="2468880"/>
            </a:xfrm>
            <a:prstGeom prst="ellipse">
              <a:avLst/>
            </a:prstGeom>
            <a:solidFill>
              <a:srgbClr val="4D4D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E39BDA67-592C-47FE-84CC-5D83083794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27592" y="2240280"/>
              <a:ext cx="2103120" cy="21031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5" name="Text Box 10">
            <a:extLst>
              <a:ext uri="{FF2B5EF4-FFF2-40B4-BE49-F238E27FC236}">
                <a16:creationId xmlns:a16="http://schemas.microsoft.com/office/drawing/2014/main" id="{5FF978E7-4FEF-4A98-BD55-69BC768BA5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9027" y="3146827"/>
            <a:ext cx="490988" cy="10051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0960" tIns="30480" rIns="60960" bIns="30480">
            <a:prstTxWarp prst="textArchUp">
              <a:avLst/>
            </a:prstTxWarp>
            <a:spAutoFit/>
          </a:bodyPr>
          <a:lstStyle/>
          <a:p>
            <a:pPr algn="ctr" defTabSz="1219170">
              <a:spcBef>
                <a:spcPct val="20000"/>
              </a:spcBef>
              <a:defRPr/>
            </a:pPr>
            <a:r>
              <a:rPr lang="en-US" dirty="0" err="1">
                <a:solidFill>
                  <a:srgbClr val="4D4D4D"/>
                </a:solidFill>
              </a:rPr>
              <a:t>Secteur</a:t>
            </a:r>
            <a:r>
              <a:rPr lang="en-US" dirty="0">
                <a:solidFill>
                  <a:srgbClr val="4D4D4D"/>
                </a:solidFill>
              </a:rPr>
              <a:t> NTICs</a:t>
            </a:r>
            <a:br>
              <a:rPr lang="en-US" dirty="0">
                <a:solidFill>
                  <a:srgbClr val="4D4D4D"/>
                </a:solidFill>
              </a:rPr>
            </a:br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41" name="Titre 3"/>
          <p:cNvSpPr txBox="1">
            <a:spLocks/>
          </p:cNvSpPr>
          <p:nvPr/>
        </p:nvSpPr>
        <p:spPr>
          <a:xfrm>
            <a:off x="214282" y="214290"/>
            <a:ext cx="8507413" cy="793750"/>
          </a:xfrm>
          <a:prstGeom prst="rect">
            <a:avLst/>
          </a:prstGeom>
        </p:spPr>
        <p:txBody>
          <a:bodyPr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sz="3200" b="1" dirty="0">
                <a:solidFill>
                  <a:schemeClr val="accent6">
                    <a:lumMod val="50000"/>
                  </a:schemeClr>
                </a:solidFill>
                <a:latin typeface="Baskerville Old Face"/>
              </a:rPr>
              <a:t>Le Secteur </a:t>
            </a:r>
            <a:r>
              <a:rPr lang="fr-FR" sz="3200" b="1" dirty="0" err="1">
                <a:solidFill>
                  <a:schemeClr val="accent6">
                    <a:lumMod val="50000"/>
                  </a:schemeClr>
                </a:solidFill>
                <a:latin typeface="Baskerville Old Face"/>
              </a:rPr>
              <a:t>Ntics</a:t>
            </a:r>
            <a:r>
              <a:rPr lang="fr-FR" sz="3200" b="1" dirty="0">
                <a:solidFill>
                  <a:schemeClr val="accent6">
                    <a:lumMod val="50000"/>
                  </a:schemeClr>
                </a:solidFill>
                <a:latin typeface="Baskerville Old Face"/>
              </a:rPr>
              <a:t> </a:t>
            </a:r>
          </a:p>
        </p:txBody>
      </p:sp>
      <p:sp>
        <p:nvSpPr>
          <p:cNvPr id="9222" name="AutoShape 6" descr="RÃ©sultat de recherche d'images pour &quot;extraction minier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9224" name="AutoShape 8" descr="RÃ©sultat de recherche d'images pour &quot;extraction minier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9226" name="AutoShape 10" descr="RÃ©sultat de recherche d'images pour &quot;extraction minier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9228" name="AutoShape 12" descr="RÃ©sultat de recherche d'images pour &quot;extraction minier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79874" name="Picture 2" descr="RÃ©sultat de recherche d'images pour &quot;secteur ntics&quot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00826" y="3214686"/>
            <a:ext cx="2393930" cy="1702084"/>
          </a:xfrm>
          <a:prstGeom prst="rect">
            <a:avLst/>
          </a:prstGeom>
          <a:noFill/>
        </p:spPr>
      </p:pic>
      <p:sp>
        <p:nvSpPr>
          <p:cNvPr id="79876" name="AutoShape 4" descr="RÃ©sultat de recherche d'images pour &quot;logiciels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79878" name="Picture 6" descr="Image associÃ©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15140" y="5257800"/>
            <a:ext cx="2428860" cy="1600200"/>
          </a:xfrm>
          <a:prstGeom prst="rect">
            <a:avLst/>
          </a:prstGeom>
          <a:noFill/>
        </p:spPr>
      </p:pic>
      <p:sp>
        <p:nvSpPr>
          <p:cNvPr id="79880" name="AutoShape 8" descr="RÃ©sultat de recherche d'images pour &quot;telecommunications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79882" name="Picture 10" descr="Image associÃ©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4282" y="4929198"/>
            <a:ext cx="2928958" cy="1784739"/>
          </a:xfrm>
          <a:prstGeom prst="rect">
            <a:avLst/>
          </a:prstGeom>
          <a:noFill/>
        </p:spPr>
      </p:pic>
      <p:pic>
        <p:nvPicPr>
          <p:cNvPr id="32" name="Picture 4" descr="RÃ©sultat de recherche d'images pour &quot;secteur ntic&quot;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14282" y="3571876"/>
            <a:ext cx="2857519" cy="11191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9" name="Picture 15">
            <a:extLst>
              <a:ext uri="{FF2B5EF4-FFF2-40B4-BE49-F238E27FC236}">
                <a16:creationId xmlns:a16="http://schemas.microsoft.com/office/drawing/2014/main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460" y="0"/>
            <a:ext cx="3682540" cy="214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9769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7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7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7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49" grpId="0" animBg="1"/>
      <p:bldP spid="48" grpId="0" animBg="1"/>
      <p:bldP spid="47" grpId="0" animBg="1"/>
      <p:bldP spid="63" grpId="0"/>
      <p:bldP spid="64" grpId="0"/>
      <p:bldP spid="65" grpId="0"/>
      <p:bldP spid="66" grpId="0"/>
      <p:bldP spid="8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071935" y="1785927"/>
            <a:ext cx="5072066" cy="2052594"/>
            <a:chOff x="6414487" y="1849045"/>
            <a:chExt cx="4988526" cy="1368834"/>
          </a:xfrm>
        </p:grpSpPr>
        <p:sp>
          <p:nvSpPr>
            <p:cNvPr id="31" name="TextBox 30"/>
            <p:cNvSpPr txBox="1"/>
            <p:nvPr/>
          </p:nvSpPr>
          <p:spPr>
            <a:xfrm>
              <a:off x="6414487" y="1849045"/>
              <a:ext cx="2226673" cy="3899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 err="1">
                  <a:solidFill>
                    <a:schemeClr val="tx2">
                      <a:lumMod val="75000"/>
                    </a:schemeClr>
                  </a:solidFill>
                  <a:latin typeface="Candara" pitchFamily="34" charset="0"/>
                  <a:ea typeface="Roboto Light" panose="02000000000000000000" pitchFamily="2" charset="0"/>
                </a:rPr>
                <a:t>Activité</a:t>
              </a:r>
              <a:r>
                <a:rPr lang="en-US" sz="3200" b="1" dirty="0">
                  <a:solidFill>
                    <a:schemeClr val="tx2">
                      <a:lumMod val="75000"/>
                    </a:schemeClr>
                  </a:solidFill>
                  <a:latin typeface="Candara" pitchFamily="34" charset="0"/>
                  <a:ea typeface="Roboto Light" panose="02000000000000000000" pitchFamily="2" charset="0"/>
                </a:rPr>
                <a:t> 4 :</a:t>
              </a:r>
              <a:endParaRPr lang="ru-RU" sz="3200" b="1" dirty="0">
                <a:solidFill>
                  <a:schemeClr val="tx2">
                    <a:lumMod val="75000"/>
                  </a:schemeClr>
                </a:solidFill>
                <a:latin typeface="Candara" pitchFamily="34" charset="0"/>
                <a:ea typeface="Roboto Light" panose="02000000000000000000" pitchFamily="2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414490" y="2343514"/>
              <a:ext cx="4988523" cy="8743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ct val="20000"/>
                </a:spcBef>
                <a:defRPr/>
              </a:pPr>
              <a:r>
                <a:rPr lang="en-US" sz="3600" b="1" dirty="0">
                  <a:solidFill>
                    <a:schemeClr val="tx2">
                      <a:lumMod val="75000"/>
                    </a:schemeClr>
                  </a:solidFill>
                  <a:latin typeface="Candara" pitchFamily="34" charset="0"/>
                  <a:ea typeface="Roboto Light" panose="02000000000000000000" pitchFamily="2" charset="0"/>
                </a:rPr>
                <a:t>Bubbles Match !!!</a:t>
              </a:r>
            </a:p>
            <a:p>
              <a:pPr>
                <a:spcBef>
                  <a:spcPct val="20000"/>
                </a:spcBef>
                <a:defRPr/>
              </a:pPr>
              <a:r>
                <a:rPr lang="en-US" sz="3600" b="1" dirty="0">
                  <a:solidFill>
                    <a:schemeClr val="tx2">
                      <a:lumMod val="75000"/>
                    </a:schemeClr>
                  </a:solidFill>
                  <a:latin typeface="Candara" pitchFamily="34" charset="0"/>
                  <a:ea typeface="Roboto Light" panose="02000000000000000000" pitchFamily="2" charset="0"/>
                </a:rPr>
                <a:t>       </a:t>
              </a:r>
            </a:p>
          </p:txBody>
        </p:sp>
      </p:grpSp>
      <p:grpSp>
        <p:nvGrpSpPr>
          <p:cNvPr id="3" name="Group 4"/>
          <p:cNvGrpSpPr/>
          <p:nvPr/>
        </p:nvGrpSpPr>
        <p:grpSpPr>
          <a:xfrm>
            <a:off x="928662" y="1500174"/>
            <a:ext cx="2304011" cy="4066253"/>
            <a:chOff x="917378" y="1693550"/>
            <a:chExt cx="3072015" cy="4066253"/>
          </a:xfrm>
        </p:grpSpPr>
        <p:sp>
          <p:nvSpPr>
            <p:cNvPr id="38" name="Shape 2180"/>
            <p:cNvSpPr/>
            <p:nvPr/>
          </p:nvSpPr>
          <p:spPr>
            <a:xfrm>
              <a:off x="1439040" y="1796893"/>
              <a:ext cx="889593" cy="8893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8" h="19678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bg1"/>
            </a:solidFill>
            <a:ln w="12700" cap="flat">
              <a:solidFill>
                <a:schemeClr val="accent1"/>
              </a:solidFill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lvl="0" algn="l" defTabSz="455612">
                <a:defRPr sz="1800">
                  <a:solidFill>
                    <a:srgbClr val="070707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39" name="Shape 2181"/>
            <p:cNvSpPr/>
            <p:nvPr/>
          </p:nvSpPr>
          <p:spPr>
            <a:xfrm>
              <a:off x="917378" y="2380512"/>
              <a:ext cx="2320078" cy="33792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50" h="21276" extrusionOk="0">
                  <a:moveTo>
                    <a:pt x="15139" y="153"/>
                  </a:moveTo>
                  <a:lnTo>
                    <a:pt x="10554" y="2666"/>
                  </a:lnTo>
                  <a:lnTo>
                    <a:pt x="8420" y="2691"/>
                  </a:lnTo>
                  <a:lnTo>
                    <a:pt x="9880" y="2576"/>
                  </a:lnTo>
                  <a:cubicBezTo>
                    <a:pt x="9292" y="2366"/>
                    <a:pt x="8640" y="2257"/>
                    <a:pt x="7977" y="2256"/>
                  </a:cubicBezTo>
                  <a:cubicBezTo>
                    <a:pt x="7299" y="2256"/>
                    <a:pt x="6632" y="2371"/>
                    <a:pt x="6033" y="2590"/>
                  </a:cubicBezTo>
                  <a:cubicBezTo>
                    <a:pt x="5847" y="2669"/>
                    <a:pt x="5686" y="2774"/>
                    <a:pt x="5559" y="2897"/>
                  </a:cubicBezTo>
                  <a:cubicBezTo>
                    <a:pt x="5268" y="3179"/>
                    <a:pt x="5183" y="3522"/>
                    <a:pt x="5134" y="3855"/>
                  </a:cubicBezTo>
                  <a:cubicBezTo>
                    <a:pt x="5083" y="4197"/>
                    <a:pt x="5069" y="4546"/>
                    <a:pt x="5094" y="4899"/>
                  </a:cubicBezTo>
                  <a:lnTo>
                    <a:pt x="5880" y="14818"/>
                  </a:lnTo>
                  <a:lnTo>
                    <a:pt x="591" y="18707"/>
                  </a:lnTo>
                  <a:cubicBezTo>
                    <a:pt x="-161" y="19253"/>
                    <a:pt x="-200" y="20099"/>
                    <a:pt x="500" y="20677"/>
                  </a:cubicBezTo>
                  <a:cubicBezTo>
                    <a:pt x="1276" y="21318"/>
                    <a:pt x="2661" y="21405"/>
                    <a:pt x="3592" y="20871"/>
                  </a:cubicBezTo>
                  <a:lnTo>
                    <a:pt x="9585" y="16419"/>
                  </a:lnTo>
                  <a:cubicBezTo>
                    <a:pt x="9810" y="16257"/>
                    <a:pt x="9989" y="16067"/>
                    <a:pt x="10111" y="15859"/>
                  </a:cubicBezTo>
                  <a:cubicBezTo>
                    <a:pt x="10235" y="15649"/>
                    <a:pt x="10300" y="15425"/>
                    <a:pt x="10302" y="15198"/>
                  </a:cubicBezTo>
                  <a:lnTo>
                    <a:pt x="10408" y="12572"/>
                  </a:lnTo>
                  <a:lnTo>
                    <a:pt x="10862" y="12365"/>
                  </a:lnTo>
                  <a:cubicBezTo>
                    <a:pt x="11063" y="12280"/>
                    <a:pt x="11241" y="12172"/>
                    <a:pt x="11387" y="12045"/>
                  </a:cubicBezTo>
                  <a:cubicBezTo>
                    <a:pt x="11527" y="11923"/>
                    <a:pt x="11636" y="11787"/>
                    <a:pt x="11710" y="11641"/>
                  </a:cubicBezTo>
                  <a:lnTo>
                    <a:pt x="12674" y="9915"/>
                  </a:lnTo>
                  <a:lnTo>
                    <a:pt x="11917" y="11736"/>
                  </a:lnTo>
                  <a:cubicBezTo>
                    <a:pt x="11847" y="11880"/>
                    <a:pt x="11742" y="12015"/>
                    <a:pt x="11605" y="12135"/>
                  </a:cubicBezTo>
                  <a:cubicBezTo>
                    <a:pt x="11462" y="12261"/>
                    <a:pt x="11287" y="12368"/>
                    <a:pt x="11089" y="12451"/>
                  </a:cubicBezTo>
                  <a:lnTo>
                    <a:pt x="10671" y="12648"/>
                  </a:lnTo>
                  <a:lnTo>
                    <a:pt x="14607" y="14752"/>
                  </a:lnTo>
                  <a:lnTo>
                    <a:pt x="16850" y="20281"/>
                  </a:lnTo>
                  <a:cubicBezTo>
                    <a:pt x="17307" y="21070"/>
                    <a:pt x="18592" y="21469"/>
                    <a:pt x="19755" y="21183"/>
                  </a:cubicBezTo>
                  <a:cubicBezTo>
                    <a:pt x="20783" y="20930"/>
                    <a:pt x="21400" y="20208"/>
                    <a:pt x="21219" y="19468"/>
                  </a:cubicBezTo>
                  <a:lnTo>
                    <a:pt x="18564" y="13517"/>
                  </a:lnTo>
                  <a:cubicBezTo>
                    <a:pt x="18484" y="13324"/>
                    <a:pt x="18361" y="13141"/>
                    <a:pt x="18198" y="12974"/>
                  </a:cubicBezTo>
                  <a:cubicBezTo>
                    <a:pt x="18060" y="12834"/>
                    <a:pt x="17897" y="12708"/>
                    <a:pt x="17711" y="12598"/>
                  </a:cubicBezTo>
                  <a:lnTo>
                    <a:pt x="12806" y="9592"/>
                  </a:lnTo>
                  <a:lnTo>
                    <a:pt x="12168" y="4943"/>
                  </a:lnTo>
                  <a:lnTo>
                    <a:pt x="12599" y="6696"/>
                  </a:lnTo>
                  <a:lnTo>
                    <a:pt x="13014" y="6844"/>
                  </a:lnTo>
                  <a:cubicBezTo>
                    <a:pt x="13142" y="6874"/>
                    <a:pt x="13274" y="6896"/>
                    <a:pt x="13407" y="6911"/>
                  </a:cubicBezTo>
                  <a:cubicBezTo>
                    <a:pt x="13587" y="6930"/>
                    <a:pt x="13769" y="6934"/>
                    <a:pt x="13950" y="6923"/>
                  </a:cubicBezTo>
                  <a:lnTo>
                    <a:pt x="19601" y="6672"/>
                  </a:lnTo>
                  <a:cubicBezTo>
                    <a:pt x="20440" y="6578"/>
                    <a:pt x="21026" y="6051"/>
                    <a:pt x="20937" y="5470"/>
                  </a:cubicBezTo>
                  <a:cubicBezTo>
                    <a:pt x="20848" y="4885"/>
                    <a:pt x="20105" y="4451"/>
                    <a:pt x="19250" y="4484"/>
                  </a:cubicBezTo>
                  <a:lnTo>
                    <a:pt x="14113" y="4776"/>
                  </a:lnTo>
                  <a:lnTo>
                    <a:pt x="13074" y="4140"/>
                  </a:lnTo>
                  <a:lnTo>
                    <a:pt x="12521" y="4445"/>
                  </a:lnTo>
                  <a:cubicBezTo>
                    <a:pt x="12361" y="4505"/>
                    <a:pt x="12192" y="4553"/>
                    <a:pt x="12017" y="4588"/>
                  </a:cubicBezTo>
                  <a:cubicBezTo>
                    <a:pt x="11788" y="4635"/>
                    <a:pt x="11551" y="4659"/>
                    <a:pt x="11312" y="4660"/>
                  </a:cubicBezTo>
                  <a:lnTo>
                    <a:pt x="10129" y="4744"/>
                  </a:lnTo>
                  <a:lnTo>
                    <a:pt x="11322" y="4611"/>
                  </a:lnTo>
                  <a:cubicBezTo>
                    <a:pt x="11528" y="4586"/>
                    <a:pt x="11730" y="4549"/>
                    <a:pt x="11926" y="4499"/>
                  </a:cubicBezTo>
                  <a:cubicBezTo>
                    <a:pt x="12100" y="4454"/>
                    <a:pt x="12268" y="4399"/>
                    <a:pt x="12429" y="4335"/>
                  </a:cubicBezTo>
                  <a:lnTo>
                    <a:pt x="16883" y="2016"/>
                  </a:lnTo>
                  <a:cubicBezTo>
                    <a:pt x="17624" y="1648"/>
                    <a:pt x="17778" y="933"/>
                    <a:pt x="17225" y="433"/>
                  </a:cubicBezTo>
                  <a:cubicBezTo>
                    <a:pt x="16734" y="-11"/>
                    <a:pt x="15837" y="-131"/>
                    <a:pt x="15139" y="153"/>
                  </a:cubicBezTo>
                  <a:close/>
                </a:path>
              </a:pathLst>
            </a:custGeom>
            <a:solidFill>
              <a:schemeClr val="bg1"/>
            </a:solidFill>
            <a:ln w="12700" cap="flat">
              <a:solidFill>
                <a:schemeClr val="accent1"/>
              </a:solidFill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lvl="0" algn="l" defTabSz="455612">
                <a:defRPr sz="1800">
                  <a:solidFill>
                    <a:srgbClr val="070707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40" name="Shape 2182"/>
            <p:cNvSpPr/>
            <p:nvPr/>
          </p:nvSpPr>
          <p:spPr>
            <a:xfrm>
              <a:off x="2583420" y="1693550"/>
              <a:ext cx="1405973" cy="15863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5" h="21458" extrusionOk="0">
                  <a:moveTo>
                    <a:pt x="14768" y="0"/>
                  </a:moveTo>
                  <a:cubicBezTo>
                    <a:pt x="11682" y="279"/>
                    <a:pt x="8751" y="1325"/>
                    <a:pt x="6316" y="3018"/>
                  </a:cubicBezTo>
                  <a:cubicBezTo>
                    <a:pt x="3974" y="4646"/>
                    <a:pt x="2184" y="6809"/>
                    <a:pt x="1141" y="9271"/>
                  </a:cubicBezTo>
                  <a:cubicBezTo>
                    <a:pt x="2104" y="9290"/>
                    <a:pt x="2984" y="9759"/>
                    <a:pt x="3451" y="10501"/>
                  </a:cubicBezTo>
                  <a:cubicBezTo>
                    <a:pt x="4024" y="11411"/>
                    <a:pt x="3878" y="12542"/>
                    <a:pt x="3086" y="13315"/>
                  </a:cubicBezTo>
                  <a:lnTo>
                    <a:pt x="0" y="15442"/>
                  </a:lnTo>
                  <a:lnTo>
                    <a:pt x="4923" y="15200"/>
                  </a:lnTo>
                  <a:cubicBezTo>
                    <a:pt x="5306" y="15206"/>
                    <a:pt x="5677" y="15267"/>
                    <a:pt x="6024" y="15374"/>
                  </a:cubicBezTo>
                  <a:cubicBezTo>
                    <a:pt x="6371" y="15481"/>
                    <a:pt x="6711" y="15640"/>
                    <a:pt x="6954" y="15902"/>
                  </a:cubicBezTo>
                  <a:cubicBezTo>
                    <a:pt x="7352" y="16332"/>
                    <a:pt x="7393" y="16938"/>
                    <a:pt x="7056" y="17405"/>
                  </a:cubicBezTo>
                  <a:cubicBezTo>
                    <a:pt x="6814" y="17687"/>
                    <a:pt x="6637" y="18007"/>
                    <a:pt x="6534" y="18348"/>
                  </a:cubicBezTo>
                  <a:cubicBezTo>
                    <a:pt x="6441" y="18655"/>
                    <a:pt x="6409" y="18974"/>
                    <a:pt x="6440" y="19291"/>
                  </a:cubicBezTo>
                  <a:cubicBezTo>
                    <a:pt x="6624" y="20412"/>
                    <a:pt x="7633" y="21288"/>
                    <a:pt x="8908" y="21436"/>
                  </a:cubicBezTo>
                  <a:cubicBezTo>
                    <a:pt x="10328" y="21600"/>
                    <a:pt x="11673" y="20831"/>
                    <a:pt x="12079" y="19622"/>
                  </a:cubicBezTo>
                  <a:cubicBezTo>
                    <a:pt x="12197" y="19191"/>
                    <a:pt x="12191" y="18740"/>
                    <a:pt x="12062" y="18311"/>
                  </a:cubicBezTo>
                  <a:cubicBezTo>
                    <a:pt x="11962" y="17978"/>
                    <a:pt x="11789" y="17666"/>
                    <a:pt x="11554" y="17390"/>
                  </a:cubicBezTo>
                  <a:cubicBezTo>
                    <a:pt x="11216" y="16965"/>
                    <a:pt x="11162" y="16414"/>
                    <a:pt x="11412" y="15944"/>
                  </a:cubicBezTo>
                  <a:cubicBezTo>
                    <a:pt x="11706" y="15392"/>
                    <a:pt x="12355" y="15058"/>
                    <a:pt x="13045" y="15102"/>
                  </a:cubicBezTo>
                  <a:lnTo>
                    <a:pt x="15810" y="15677"/>
                  </a:lnTo>
                  <a:lnTo>
                    <a:pt x="16049" y="14612"/>
                  </a:lnTo>
                  <a:cubicBezTo>
                    <a:pt x="15557" y="13797"/>
                    <a:pt x="15190" y="12927"/>
                    <a:pt x="14958" y="12027"/>
                  </a:cubicBezTo>
                  <a:cubicBezTo>
                    <a:pt x="14730" y="11140"/>
                    <a:pt x="14635" y="10231"/>
                    <a:pt x="14674" y="9322"/>
                  </a:cubicBezTo>
                  <a:cubicBezTo>
                    <a:pt x="14713" y="8979"/>
                    <a:pt x="14902" y="8663"/>
                    <a:pt x="15203" y="8441"/>
                  </a:cubicBezTo>
                  <a:cubicBezTo>
                    <a:pt x="15695" y="8077"/>
                    <a:pt x="16391" y="8018"/>
                    <a:pt x="16954" y="8292"/>
                  </a:cubicBezTo>
                  <a:cubicBezTo>
                    <a:pt x="17187" y="8445"/>
                    <a:pt x="17436" y="8578"/>
                    <a:pt x="17696" y="8690"/>
                  </a:cubicBezTo>
                  <a:cubicBezTo>
                    <a:pt x="17915" y="8785"/>
                    <a:pt x="18143" y="8864"/>
                    <a:pt x="18380" y="8912"/>
                  </a:cubicBezTo>
                  <a:cubicBezTo>
                    <a:pt x="18952" y="9030"/>
                    <a:pt x="19554" y="8967"/>
                    <a:pt x="20079" y="8734"/>
                  </a:cubicBezTo>
                  <a:cubicBezTo>
                    <a:pt x="21011" y="8266"/>
                    <a:pt x="21589" y="7396"/>
                    <a:pt x="21595" y="6452"/>
                  </a:cubicBezTo>
                  <a:cubicBezTo>
                    <a:pt x="21600" y="5680"/>
                    <a:pt x="21217" y="4947"/>
                    <a:pt x="20548" y="4448"/>
                  </a:cubicBezTo>
                  <a:cubicBezTo>
                    <a:pt x="20044" y="4129"/>
                    <a:pt x="19435" y="3967"/>
                    <a:pt x="18815" y="3986"/>
                  </a:cubicBezTo>
                  <a:cubicBezTo>
                    <a:pt x="18253" y="4004"/>
                    <a:pt x="17711" y="4171"/>
                    <a:pt x="17260" y="4465"/>
                  </a:cubicBezTo>
                  <a:cubicBezTo>
                    <a:pt x="16658" y="4811"/>
                    <a:pt x="15876" y="4793"/>
                    <a:pt x="15297" y="4418"/>
                  </a:cubicBezTo>
                  <a:cubicBezTo>
                    <a:pt x="14878" y="4147"/>
                    <a:pt x="14626" y="3721"/>
                    <a:pt x="14614" y="3264"/>
                  </a:cubicBezTo>
                  <a:lnTo>
                    <a:pt x="14768" y="0"/>
                  </a:lnTo>
                  <a:close/>
                </a:path>
              </a:pathLst>
            </a:cu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lvl="0" algn="l" defTabSz="455612">
                <a:defRPr sz="1800">
                  <a:solidFill>
                    <a:srgbClr val="070707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2214546" y="1500174"/>
            <a:ext cx="1633685" cy="3418171"/>
            <a:chOff x="3196499" y="2217615"/>
            <a:chExt cx="2178247" cy="3418171"/>
          </a:xfrm>
        </p:grpSpPr>
        <p:sp>
          <p:nvSpPr>
            <p:cNvPr id="36" name="Shape 2178"/>
            <p:cNvSpPr/>
            <p:nvPr/>
          </p:nvSpPr>
          <p:spPr>
            <a:xfrm>
              <a:off x="3938675" y="4782484"/>
              <a:ext cx="637136" cy="7049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18603"/>
                  </a:lnTo>
                  <a:lnTo>
                    <a:pt x="3317" y="21600"/>
                  </a:lnTo>
                  <a:lnTo>
                    <a:pt x="18095" y="21600"/>
                  </a:lnTo>
                  <a:lnTo>
                    <a:pt x="21600" y="18432"/>
                  </a:lnTo>
                  <a:lnTo>
                    <a:pt x="21600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7ABB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lvl="0" defTabSz="825500">
                <a:defRPr sz="320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37" name="Shape 2179"/>
            <p:cNvSpPr/>
            <p:nvPr/>
          </p:nvSpPr>
          <p:spPr>
            <a:xfrm>
              <a:off x="3806816" y="4537747"/>
              <a:ext cx="915351" cy="291882"/>
            </a:xfrm>
            <a:prstGeom prst="roundRect">
              <a:avLst>
                <a:gd name="adj" fmla="val 35919"/>
              </a:avLst>
            </a:prstGeom>
            <a:solidFill>
              <a:srgbClr val="A7ABB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lvl="0" defTabSz="825500">
                <a:defRPr sz="3200"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41" name="Shape 2183"/>
            <p:cNvSpPr/>
            <p:nvPr/>
          </p:nvSpPr>
          <p:spPr>
            <a:xfrm>
              <a:off x="4177346" y="2217615"/>
              <a:ext cx="1197400" cy="11463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4" h="21119" extrusionOk="0">
                  <a:moveTo>
                    <a:pt x="160" y="104"/>
                  </a:moveTo>
                  <a:lnTo>
                    <a:pt x="1" y="4052"/>
                  </a:lnTo>
                  <a:cubicBezTo>
                    <a:pt x="-7" y="4404"/>
                    <a:pt x="39" y="4740"/>
                    <a:pt x="129" y="5058"/>
                  </a:cubicBezTo>
                  <a:cubicBezTo>
                    <a:pt x="208" y="5333"/>
                    <a:pt x="325" y="5616"/>
                    <a:pt x="569" y="5794"/>
                  </a:cubicBezTo>
                  <a:cubicBezTo>
                    <a:pt x="1209" y="6259"/>
                    <a:pt x="1949" y="5684"/>
                    <a:pt x="2629" y="5313"/>
                  </a:cubicBezTo>
                  <a:cubicBezTo>
                    <a:pt x="2861" y="5186"/>
                    <a:pt x="3107" y="5086"/>
                    <a:pt x="3362" y="5016"/>
                  </a:cubicBezTo>
                  <a:cubicBezTo>
                    <a:pt x="5496" y="4484"/>
                    <a:pt x="7636" y="5868"/>
                    <a:pt x="8093" y="8076"/>
                  </a:cubicBezTo>
                  <a:cubicBezTo>
                    <a:pt x="8528" y="10173"/>
                    <a:pt x="7265" y="12246"/>
                    <a:pt x="5240" y="12761"/>
                  </a:cubicBezTo>
                  <a:cubicBezTo>
                    <a:pt x="4654" y="12914"/>
                    <a:pt x="4042" y="12925"/>
                    <a:pt x="3451" y="12793"/>
                  </a:cubicBezTo>
                  <a:cubicBezTo>
                    <a:pt x="3032" y="12700"/>
                    <a:pt x="2632" y="12536"/>
                    <a:pt x="2265" y="12308"/>
                  </a:cubicBezTo>
                  <a:cubicBezTo>
                    <a:pt x="1811" y="11919"/>
                    <a:pt x="1163" y="11880"/>
                    <a:pt x="667" y="12211"/>
                  </a:cubicBezTo>
                  <a:cubicBezTo>
                    <a:pt x="240" y="12497"/>
                    <a:pt x="10" y="13009"/>
                    <a:pt x="75" y="13529"/>
                  </a:cubicBezTo>
                  <a:cubicBezTo>
                    <a:pt x="95" y="14568"/>
                    <a:pt x="216" y="15603"/>
                    <a:pt x="436" y="16617"/>
                  </a:cubicBezTo>
                  <a:cubicBezTo>
                    <a:pt x="679" y="17735"/>
                    <a:pt x="1041" y="18822"/>
                    <a:pt x="1515" y="19858"/>
                  </a:cubicBezTo>
                  <a:lnTo>
                    <a:pt x="8609" y="21077"/>
                  </a:lnTo>
                  <a:cubicBezTo>
                    <a:pt x="8838" y="21129"/>
                    <a:pt x="9067" y="21131"/>
                    <a:pt x="9285" y="21090"/>
                  </a:cubicBezTo>
                  <a:cubicBezTo>
                    <a:pt x="9367" y="21074"/>
                    <a:pt x="9447" y="21053"/>
                    <a:pt x="9526" y="21024"/>
                  </a:cubicBezTo>
                  <a:cubicBezTo>
                    <a:pt x="9604" y="20995"/>
                    <a:pt x="9679" y="20958"/>
                    <a:pt x="9749" y="20913"/>
                  </a:cubicBezTo>
                  <a:cubicBezTo>
                    <a:pt x="9942" y="20788"/>
                    <a:pt x="10091" y="20596"/>
                    <a:pt x="10180" y="20365"/>
                  </a:cubicBezTo>
                  <a:cubicBezTo>
                    <a:pt x="10469" y="19621"/>
                    <a:pt x="10057" y="18873"/>
                    <a:pt x="9804" y="18157"/>
                  </a:cubicBezTo>
                  <a:cubicBezTo>
                    <a:pt x="9643" y="17702"/>
                    <a:pt x="9540" y="17226"/>
                    <a:pt x="9500" y="16737"/>
                  </a:cubicBezTo>
                  <a:cubicBezTo>
                    <a:pt x="9365" y="15414"/>
                    <a:pt x="9896" y="14111"/>
                    <a:pt x="10910" y="13283"/>
                  </a:cubicBezTo>
                  <a:cubicBezTo>
                    <a:pt x="11674" y="12658"/>
                    <a:pt x="12647" y="12367"/>
                    <a:pt x="13619" y="12473"/>
                  </a:cubicBezTo>
                  <a:cubicBezTo>
                    <a:pt x="14755" y="12578"/>
                    <a:pt x="15790" y="13189"/>
                    <a:pt x="16452" y="14144"/>
                  </a:cubicBezTo>
                  <a:cubicBezTo>
                    <a:pt x="17056" y="15017"/>
                    <a:pt x="17295" y="16103"/>
                    <a:pt x="17115" y="17158"/>
                  </a:cubicBezTo>
                  <a:cubicBezTo>
                    <a:pt x="17055" y="17619"/>
                    <a:pt x="16918" y="18062"/>
                    <a:pt x="16713" y="18470"/>
                  </a:cubicBezTo>
                  <a:cubicBezTo>
                    <a:pt x="16450" y="18993"/>
                    <a:pt x="16064" y="19547"/>
                    <a:pt x="16298" y="20112"/>
                  </a:cubicBezTo>
                  <a:cubicBezTo>
                    <a:pt x="16435" y="20441"/>
                    <a:pt x="16733" y="20628"/>
                    <a:pt x="17036" y="20741"/>
                  </a:cubicBezTo>
                  <a:cubicBezTo>
                    <a:pt x="17304" y="20841"/>
                    <a:pt x="17594" y="20892"/>
                    <a:pt x="17897" y="20880"/>
                  </a:cubicBezTo>
                  <a:lnTo>
                    <a:pt x="21448" y="20388"/>
                  </a:lnTo>
                  <a:cubicBezTo>
                    <a:pt x="21593" y="14575"/>
                    <a:pt x="19256" y="8988"/>
                    <a:pt x="15052" y="5098"/>
                  </a:cubicBezTo>
                  <a:cubicBezTo>
                    <a:pt x="10997" y="1345"/>
                    <a:pt x="5588" y="-469"/>
                    <a:pt x="160" y="104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lvl="0" algn="l" defTabSz="455612">
                <a:defRPr sz="1800">
                  <a:solidFill>
                    <a:srgbClr val="070707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42" name="Shape 2184"/>
            <p:cNvSpPr/>
            <p:nvPr/>
          </p:nvSpPr>
          <p:spPr>
            <a:xfrm>
              <a:off x="3196499" y="3390974"/>
              <a:ext cx="1445026" cy="11210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7" h="21571" extrusionOk="0">
                  <a:moveTo>
                    <a:pt x="0" y="314"/>
                  </a:moveTo>
                  <a:lnTo>
                    <a:pt x="4873" y="107"/>
                  </a:lnTo>
                  <a:cubicBezTo>
                    <a:pt x="5177" y="49"/>
                    <a:pt x="5475" y="84"/>
                    <a:pt x="5750" y="194"/>
                  </a:cubicBezTo>
                  <a:cubicBezTo>
                    <a:pt x="5978" y="285"/>
                    <a:pt x="6205" y="432"/>
                    <a:pt x="6345" y="709"/>
                  </a:cubicBezTo>
                  <a:cubicBezTo>
                    <a:pt x="6658" y="1329"/>
                    <a:pt x="6350" y="2057"/>
                    <a:pt x="6129" y="2710"/>
                  </a:cubicBezTo>
                  <a:cubicBezTo>
                    <a:pt x="6003" y="3083"/>
                    <a:pt x="5906" y="3473"/>
                    <a:pt x="5842" y="3879"/>
                  </a:cubicBezTo>
                  <a:cubicBezTo>
                    <a:pt x="5657" y="4975"/>
                    <a:pt x="5829" y="6120"/>
                    <a:pt x="6317" y="7049"/>
                  </a:cubicBezTo>
                  <a:cubicBezTo>
                    <a:pt x="6942" y="8238"/>
                    <a:pt x="7998" y="8928"/>
                    <a:pt x="9111" y="8873"/>
                  </a:cubicBezTo>
                  <a:cubicBezTo>
                    <a:pt x="9937" y="8859"/>
                    <a:pt x="10726" y="8423"/>
                    <a:pt x="11304" y="7660"/>
                  </a:cubicBezTo>
                  <a:cubicBezTo>
                    <a:pt x="11883" y="6896"/>
                    <a:pt x="12204" y="5865"/>
                    <a:pt x="12195" y="4796"/>
                  </a:cubicBezTo>
                  <a:cubicBezTo>
                    <a:pt x="12209" y="4355"/>
                    <a:pt x="12172" y="3913"/>
                    <a:pt x="12085" y="3486"/>
                  </a:cubicBezTo>
                  <a:cubicBezTo>
                    <a:pt x="12002" y="3084"/>
                    <a:pt x="11875" y="2699"/>
                    <a:pt x="11708" y="2342"/>
                  </a:cubicBezTo>
                  <a:cubicBezTo>
                    <a:pt x="11563" y="2084"/>
                    <a:pt x="11478" y="1788"/>
                    <a:pt x="11453" y="1486"/>
                  </a:cubicBezTo>
                  <a:cubicBezTo>
                    <a:pt x="11428" y="1189"/>
                    <a:pt x="11461" y="876"/>
                    <a:pt x="11590" y="606"/>
                  </a:cubicBezTo>
                  <a:cubicBezTo>
                    <a:pt x="11712" y="350"/>
                    <a:pt x="11902" y="175"/>
                    <a:pt x="12110" y="81"/>
                  </a:cubicBezTo>
                  <a:cubicBezTo>
                    <a:pt x="12322" y="-14"/>
                    <a:pt x="12557" y="-29"/>
                    <a:pt x="12785" y="54"/>
                  </a:cubicBezTo>
                  <a:lnTo>
                    <a:pt x="15202" y="732"/>
                  </a:lnTo>
                  <a:lnTo>
                    <a:pt x="14626" y="4996"/>
                  </a:lnTo>
                  <a:cubicBezTo>
                    <a:pt x="14456" y="5780"/>
                    <a:pt x="14650" y="6621"/>
                    <a:pt x="15126" y="7156"/>
                  </a:cubicBezTo>
                  <a:cubicBezTo>
                    <a:pt x="15656" y="7752"/>
                    <a:pt x="16420" y="7850"/>
                    <a:pt x="17031" y="7401"/>
                  </a:cubicBezTo>
                  <a:cubicBezTo>
                    <a:pt x="17428" y="7050"/>
                    <a:pt x="17871" y="6812"/>
                    <a:pt x="18332" y="6694"/>
                  </a:cubicBezTo>
                  <a:cubicBezTo>
                    <a:pt x="18760" y="6585"/>
                    <a:pt x="19207" y="6579"/>
                    <a:pt x="19641" y="6729"/>
                  </a:cubicBezTo>
                  <a:cubicBezTo>
                    <a:pt x="20809" y="7132"/>
                    <a:pt x="21600" y="8534"/>
                    <a:pt x="21539" y="10093"/>
                  </a:cubicBezTo>
                  <a:cubicBezTo>
                    <a:pt x="21597" y="11021"/>
                    <a:pt x="21348" y="11937"/>
                    <a:pt x="20851" y="12614"/>
                  </a:cubicBezTo>
                  <a:cubicBezTo>
                    <a:pt x="20191" y="13515"/>
                    <a:pt x="19198" y="13871"/>
                    <a:pt x="18271" y="13539"/>
                  </a:cubicBezTo>
                  <a:cubicBezTo>
                    <a:pt x="18003" y="13375"/>
                    <a:pt x="17745" y="13204"/>
                    <a:pt x="17495" y="13027"/>
                  </a:cubicBezTo>
                  <a:cubicBezTo>
                    <a:pt x="17264" y="12862"/>
                    <a:pt x="17035" y="12690"/>
                    <a:pt x="16785" y="12597"/>
                  </a:cubicBezTo>
                  <a:cubicBezTo>
                    <a:pt x="16368" y="12443"/>
                    <a:pt x="15905" y="12508"/>
                    <a:pt x="15521" y="12836"/>
                  </a:cubicBezTo>
                  <a:cubicBezTo>
                    <a:pt x="15219" y="13093"/>
                    <a:pt x="15015" y="13476"/>
                    <a:pt x="14886" y="13887"/>
                  </a:cubicBezTo>
                  <a:cubicBezTo>
                    <a:pt x="14743" y="14344"/>
                    <a:pt x="14689" y="14850"/>
                    <a:pt x="14743" y="15362"/>
                  </a:cubicBezTo>
                  <a:lnTo>
                    <a:pt x="15381" y="21571"/>
                  </a:lnTo>
                  <a:lnTo>
                    <a:pt x="7502" y="21086"/>
                  </a:lnTo>
                  <a:cubicBezTo>
                    <a:pt x="7111" y="20411"/>
                    <a:pt x="6769" y="19690"/>
                    <a:pt x="6481" y="18934"/>
                  </a:cubicBezTo>
                  <a:cubicBezTo>
                    <a:pt x="6130" y="18010"/>
                    <a:pt x="5862" y="17039"/>
                    <a:pt x="5681" y="16038"/>
                  </a:cubicBezTo>
                  <a:cubicBezTo>
                    <a:pt x="5501" y="15157"/>
                    <a:pt x="5192" y="14328"/>
                    <a:pt x="4772" y="13596"/>
                  </a:cubicBezTo>
                  <a:cubicBezTo>
                    <a:pt x="4534" y="13180"/>
                    <a:pt x="4261" y="12799"/>
                    <a:pt x="3990" y="12418"/>
                  </a:cubicBezTo>
                  <a:cubicBezTo>
                    <a:pt x="3744" y="12074"/>
                    <a:pt x="3500" y="11728"/>
                    <a:pt x="3256" y="11381"/>
                  </a:cubicBezTo>
                  <a:cubicBezTo>
                    <a:pt x="2270" y="9728"/>
                    <a:pt x="1486" y="7891"/>
                    <a:pt x="930" y="5932"/>
                  </a:cubicBezTo>
                  <a:cubicBezTo>
                    <a:pt x="417" y="4125"/>
                    <a:pt x="104" y="2234"/>
                    <a:pt x="0" y="314"/>
                  </a:cubicBezTo>
                  <a:close/>
                </a:path>
              </a:pathLst>
            </a:custGeom>
            <a:solidFill>
              <a:srgbClr val="00B05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lvl="0" algn="l" defTabSz="455612">
                <a:defRPr sz="1800">
                  <a:solidFill>
                    <a:srgbClr val="070707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43" name="Shape 2185"/>
            <p:cNvSpPr/>
            <p:nvPr/>
          </p:nvSpPr>
          <p:spPr>
            <a:xfrm>
              <a:off x="4203775" y="2934757"/>
              <a:ext cx="1166487" cy="15547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9" h="21444" extrusionOk="0">
                  <a:moveTo>
                    <a:pt x="1113" y="5524"/>
                  </a:moveTo>
                  <a:lnTo>
                    <a:pt x="50" y="9863"/>
                  </a:lnTo>
                  <a:cubicBezTo>
                    <a:pt x="-31" y="10120"/>
                    <a:pt x="-12" y="10380"/>
                    <a:pt x="91" y="10618"/>
                  </a:cubicBezTo>
                  <a:cubicBezTo>
                    <a:pt x="181" y="10828"/>
                    <a:pt x="339" y="11028"/>
                    <a:pt x="597" y="11160"/>
                  </a:cubicBezTo>
                  <a:cubicBezTo>
                    <a:pt x="871" y="11300"/>
                    <a:pt x="1200" y="11335"/>
                    <a:pt x="1514" y="11318"/>
                  </a:cubicBezTo>
                  <a:cubicBezTo>
                    <a:pt x="1872" y="11299"/>
                    <a:pt x="2227" y="11212"/>
                    <a:pt x="2541" y="11055"/>
                  </a:cubicBezTo>
                  <a:cubicBezTo>
                    <a:pt x="3686" y="10503"/>
                    <a:pt x="5126" y="10420"/>
                    <a:pt x="6371" y="10834"/>
                  </a:cubicBezTo>
                  <a:cubicBezTo>
                    <a:pt x="7680" y="11269"/>
                    <a:pt x="8582" y="12188"/>
                    <a:pt x="8744" y="13250"/>
                  </a:cubicBezTo>
                  <a:cubicBezTo>
                    <a:pt x="8916" y="14139"/>
                    <a:pt x="8522" y="15036"/>
                    <a:pt x="7680" y="15677"/>
                  </a:cubicBezTo>
                  <a:cubicBezTo>
                    <a:pt x="6641" y="16468"/>
                    <a:pt x="5093" y="16754"/>
                    <a:pt x="3679" y="16417"/>
                  </a:cubicBezTo>
                  <a:cubicBezTo>
                    <a:pt x="3315" y="16281"/>
                    <a:pt x="2953" y="16159"/>
                    <a:pt x="2587" y="16051"/>
                  </a:cubicBezTo>
                  <a:cubicBezTo>
                    <a:pt x="2030" y="15886"/>
                    <a:pt x="1394" y="15743"/>
                    <a:pt x="844" y="15975"/>
                  </a:cubicBezTo>
                  <a:cubicBezTo>
                    <a:pt x="546" y="16101"/>
                    <a:pt x="357" y="16313"/>
                    <a:pt x="245" y="16537"/>
                  </a:cubicBezTo>
                  <a:cubicBezTo>
                    <a:pt x="126" y="16776"/>
                    <a:pt x="90" y="17041"/>
                    <a:pt x="158" y="17308"/>
                  </a:cubicBezTo>
                  <a:lnTo>
                    <a:pt x="958" y="21444"/>
                  </a:lnTo>
                  <a:lnTo>
                    <a:pt x="11789" y="21421"/>
                  </a:lnTo>
                  <a:cubicBezTo>
                    <a:pt x="12290" y="21042"/>
                    <a:pt x="12711" y="20608"/>
                    <a:pt x="13035" y="20134"/>
                  </a:cubicBezTo>
                  <a:cubicBezTo>
                    <a:pt x="13378" y="19631"/>
                    <a:pt x="13609" y="19089"/>
                    <a:pt x="13717" y="18531"/>
                  </a:cubicBezTo>
                  <a:cubicBezTo>
                    <a:pt x="13955" y="17950"/>
                    <a:pt x="14289" y="17393"/>
                    <a:pt x="14713" y="16875"/>
                  </a:cubicBezTo>
                  <a:cubicBezTo>
                    <a:pt x="15148" y="16342"/>
                    <a:pt x="15674" y="15854"/>
                    <a:pt x="16276" y="15422"/>
                  </a:cubicBezTo>
                  <a:cubicBezTo>
                    <a:pt x="17987" y="14068"/>
                    <a:pt x="19334" y="12481"/>
                    <a:pt x="20243" y="10747"/>
                  </a:cubicBezTo>
                  <a:cubicBezTo>
                    <a:pt x="21043" y="9221"/>
                    <a:pt x="21492" y="7605"/>
                    <a:pt x="21569" y="5967"/>
                  </a:cubicBezTo>
                  <a:lnTo>
                    <a:pt x="18132" y="6285"/>
                  </a:lnTo>
                  <a:cubicBezTo>
                    <a:pt x="17862" y="6304"/>
                    <a:pt x="17593" y="6301"/>
                    <a:pt x="17330" y="6276"/>
                  </a:cubicBezTo>
                  <a:cubicBezTo>
                    <a:pt x="16700" y="6215"/>
                    <a:pt x="16071" y="6026"/>
                    <a:pt x="15700" y="5619"/>
                  </a:cubicBezTo>
                  <a:cubicBezTo>
                    <a:pt x="15375" y="5263"/>
                    <a:pt x="15332" y="4804"/>
                    <a:pt x="15590" y="4419"/>
                  </a:cubicBezTo>
                  <a:cubicBezTo>
                    <a:pt x="17038" y="3297"/>
                    <a:pt x="16870" y="1489"/>
                    <a:pt x="15230" y="526"/>
                  </a:cubicBezTo>
                  <a:cubicBezTo>
                    <a:pt x="14280" y="-32"/>
                    <a:pt x="12998" y="-156"/>
                    <a:pt x="11889" y="202"/>
                  </a:cubicBezTo>
                  <a:cubicBezTo>
                    <a:pt x="11204" y="429"/>
                    <a:pt x="10647" y="828"/>
                    <a:pt x="10317" y="1330"/>
                  </a:cubicBezTo>
                  <a:cubicBezTo>
                    <a:pt x="9996" y="1818"/>
                    <a:pt x="9907" y="2356"/>
                    <a:pt x="9979" y="2877"/>
                  </a:cubicBezTo>
                  <a:cubicBezTo>
                    <a:pt x="10052" y="3399"/>
                    <a:pt x="10288" y="3911"/>
                    <a:pt x="10686" y="4368"/>
                  </a:cubicBezTo>
                  <a:cubicBezTo>
                    <a:pt x="10959" y="4864"/>
                    <a:pt x="10859" y="5430"/>
                    <a:pt x="10422" y="5855"/>
                  </a:cubicBezTo>
                  <a:cubicBezTo>
                    <a:pt x="9948" y="6318"/>
                    <a:pt x="9161" y="6537"/>
                    <a:pt x="8396" y="6420"/>
                  </a:cubicBezTo>
                  <a:lnTo>
                    <a:pt x="1113" y="5524"/>
                  </a:lnTo>
                  <a:close/>
                </a:path>
              </a:pathLst>
            </a:custGeom>
            <a:solidFill>
              <a:srgbClr val="FF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lvl="0" algn="l" defTabSz="455612">
                <a:defRPr sz="1800">
                  <a:solidFill>
                    <a:srgbClr val="070707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44" name="Shape 2186"/>
            <p:cNvSpPr/>
            <p:nvPr/>
          </p:nvSpPr>
          <p:spPr>
            <a:xfrm>
              <a:off x="4056601" y="5519060"/>
              <a:ext cx="407295" cy="1167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98" extrusionOk="0">
                  <a:moveTo>
                    <a:pt x="0" y="102"/>
                  </a:moveTo>
                  <a:lnTo>
                    <a:pt x="2875" y="16209"/>
                  </a:lnTo>
                  <a:cubicBezTo>
                    <a:pt x="5436" y="19804"/>
                    <a:pt x="8177" y="21600"/>
                    <a:pt x="10940" y="21494"/>
                  </a:cubicBezTo>
                  <a:cubicBezTo>
                    <a:pt x="13546" y="21393"/>
                    <a:pt x="16123" y="19601"/>
                    <a:pt x="18539" y="16209"/>
                  </a:cubicBezTo>
                  <a:lnTo>
                    <a:pt x="21600" y="0"/>
                  </a:lnTo>
                  <a:lnTo>
                    <a:pt x="0" y="102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solidFill>
                <a:schemeClr val="accent1"/>
              </a:solidFill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lvl="0" algn="l" defTabSz="455612">
                <a:defRPr sz="1800">
                  <a:solidFill>
                    <a:srgbClr val="070707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45" name="Shape 2187"/>
            <p:cNvSpPr/>
            <p:nvPr/>
          </p:nvSpPr>
          <p:spPr>
            <a:xfrm>
              <a:off x="3684017" y="4467939"/>
              <a:ext cx="591994" cy="2492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4909" y="21584"/>
                  </a:lnTo>
                  <a:cubicBezTo>
                    <a:pt x="3985" y="20289"/>
                    <a:pt x="3089" y="18888"/>
                    <a:pt x="2222" y="17386"/>
                  </a:cubicBezTo>
                  <a:cubicBezTo>
                    <a:pt x="1456" y="16058"/>
                    <a:pt x="715" y="14653"/>
                    <a:pt x="0" y="13173"/>
                  </a:cubicBezTo>
                  <a:lnTo>
                    <a:pt x="110" y="0"/>
                  </a:lnTo>
                  <a:close/>
                </a:path>
              </a:pathLst>
            </a:custGeom>
            <a:solidFill>
              <a:srgbClr val="A7ABB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lvl="0" algn="l" defTabSz="455612">
                <a:defRPr sz="1800">
                  <a:solidFill>
                    <a:srgbClr val="070707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46" name="Shape 2188"/>
            <p:cNvSpPr/>
            <p:nvPr/>
          </p:nvSpPr>
          <p:spPr>
            <a:xfrm>
              <a:off x="4267407" y="4467939"/>
              <a:ext cx="589498" cy="2492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9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16691" y="21584"/>
                  </a:lnTo>
                  <a:cubicBezTo>
                    <a:pt x="17615" y="20289"/>
                    <a:pt x="18511" y="18888"/>
                    <a:pt x="19378" y="17386"/>
                  </a:cubicBezTo>
                  <a:cubicBezTo>
                    <a:pt x="20144" y="16058"/>
                    <a:pt x="20885" y="14653"/>
                    <a:pt x="21600" y="13173"/>
                  </a:cubicBezTo>
                  <a:lnTo>
                    <a:pt x="21490" y="0"/>
                  </a:lnTo>
                  <a:close/>
                </a:path>
              </a:pathLst>
            </a:custGeom>
            <a:solidFill>
              <a:srgbClr val="A7ABB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lvl="0" algn="l" defTabSz="455612">
                <a:defRPr sz="1800">
                  <a:solidFill>
                    <a:srgbClr val="070707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47" name="Shape 2189"/>
            <p:cNvSpPr/>
            <p:nvPr/>
          </p:nvSpPr>
          <p:spPr>
            <a:xfrm>
              <a:off x="3682883" y="4465437"/>
              <a:ext cx="1172956" cy="72311"/>
            </a:xfrm>
            <a:prstGeom prst="rect">
              <a:avLst/>
            </a:prstGeom>
            <a:solidFill>
              <a:srgbClr val="A7ABB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lvl="0" algn="l" defTabSz="455612">
                <a:defRPr sz="2400"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48" name="Shape 2190"/>
            <p:cNvSpPr/>
            <p:nvPr/>
          </p:nvSpPr>
          <p:spPr>
            <a:xfrm rot="21245215">
              <a:off x="3897603" y="4898824"/>
              <a:ext cx="719279" cy="72310"/>
            </a:xfrm>
            <a:prstGeom prst="roundRect">
              <a:avLst>
                <a:gd name="adj" fmla="val 50000"/>
              </a:avLst>
            </a:prstGeom>
            <a:solidFill>
              <a:srgbClr val="A7ABB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lvl="0" defTabSz="825500">
                <a:defRPr sz="3200"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49" name="Shape 2191"/>
            <p:cNvSpPr/>
            <p:nvPr/>
          </p:nvSpPr>
          <p:spPr>
            <a:xfrm rot="21245215">
              <a:off x="3897603" y="5021445"/>
              <a:ext cx="719279" cy="72310"/>
            </a:xfrm>
            <a:prstGeom prst="roundRect">
              <a:avLst>
                <a:gd name="adj" fmla="val 50000"/>
              </a:avLst>
            </a:prstGeom>
            <a:solidFill>
              <a:srgbClr val="A7ABB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lvl="0" defTabSz="825500">
                <a:defRPr sz="3200"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50" name="Shape 2192"/>
            <p:cNvSpPr/>
            <p:nvPr/>
          </p:nvSpPr>
          <p:spPr>
            <a:xfrm rot="21245215">
              <a:off x="3897603" y="5144066"/>
              <a:ext cx="719279" cy="72311"/>
            </a:xfrm>
            <a:prstGeom prst="roundRect">
              <a:avLst>
                <a:gd name="adj" fmla="val 50000"/>
              </a:avLst>
            </a:prstGeom>
            <a:solidFill>
              <a:srgbClr val="A7ABB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lvl="0" defTabSz="825500">
                <a:defRPr sz="3200"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51" name="Shape 2193"/>
            <p:cNvSpPr/>
            <p:nvPr/>
          </p:nvSpPr>
          <p:spPr>
            <a:xfrm rot="21245215">
              <a:off x="3897603" y="5266688"/>
              <a:ext cx="719279" cy="72310"/>
            </a:xfrm>
            <a:prstGeom prst="roundRect">
              <a:avLst>
                <a:gd name="adj" fmla="val 50000"/>
              </a:avLst>
            </a:prstGeom>
            <a:solidFill>
              <a:srgbClr val="A7ABB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lvl="0" defTabSz="825500">
                <a:defRPr sz="3200"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</p:grpSp>
      <p:sp>
        <p:nvSpPr>
          <p:cNvPr id="25" name="Espace réservé du numéro de diapositive 2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43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8317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/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" b="42"/>
          <a:stretch>
            <a:fillRect/>
          </a:stretch>
        </p:blipFill>
        <p:spPr>
          <a:xfrm>
            <a:off x="785786" y="1357298"/>
            <a:ext cx="1421516" cy="1894789"/>
          </a:xfrm>
          <a:ln>
            <a:solidFill>
              <a:srgbClr val="FF2B2A"/>
            </a:solidFill>
          </a:ln>
        </p:spPr>
      </p:pic>
      <p:pic>
        <p:nvPicPr>
          <p:cNvPr id="9" name="Picture Placeholder 8"/>
          <p:cNvPicPr>
            <a:picLocks noGrp="1" noChangeAspect="1"/>
          </p:cNvPicPr>
          <p:nvPr>
            <p:ph type="pic" sz="quarter" idx="18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" b="42"/>
          <a:stretch>
            <a:fillRect/>
          </a:stretch>
        </p:blipFill>
        <p:spPr>
          <a:xfrm>
            <a:off x="2786050" y="2786058"/>
            <a:ext cx="1421516" cy="1894789"/>
          </a:xfrm>
          <a:ln>
            <a:solidFill>
              <a:srgbClr val="85C401"/>
            </a:solidFill>
          </a:ln>
        </p:spPr>
      </p:pic>
      <p:pic>
        <p:nvPicPr>
          <p:cNvPr id="10" name="Picture Placeholder 9"/>
          <p:cNvPicPr>
            <a:picLocks noGrp="1" noChangeAspect="1"/>
          </p:cNvPicPr>
          <p:nvPr>
            <p:ph type="pic" sz="quarter" idx="2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" b="42"/>
          <a:stretch>
            <a:fillRect/>
          </a:stretch>
        </p:blipFill>
        <p:spPr>
          <a:xfrm>
            <a:off x="4572000" y="1000108"/>
            <a:ext cx="1421516" cy="1894789"/>
          </a:xfrm>
          <a:ln>
            <a:solidFill>
              <a:srgbClr val="3EB8CD"/>
            </a:solidFill>
          </a:ln>
        </p:spPr>
      </p:pic>
      <p:pic>
        <p:nvPicPr>
          <p:cNvPr id="11" name="Picture Placeholder 10"/>
          <p:cNvPicPr>
            <a:picLocks noGrp="1" noChangeAspect="1"/>
          </p:cNvPicPr>
          <p:nvPr>
            <p:ph type="pic" sz="quarter" idx="24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" b="42"/>
          <a:stretch>
            <a:fillRect/>
          </a:stretch>
        </p:blipFill>
        <p:spPr>
          <a:xfrm>
            <a:off x="7000892" y="2500306"/>
            <a:ext cx="1421516" cy="1894789"/>
          </a:xfrm>
          <a:ln>
            <a:solidFill>
              <a:srgbClr val="FFA803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57224" y="3500438"/>
            <a:ext cx="1500198" cy="110799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Répartissez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vous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 en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équipes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de 5 à 6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étudiants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32" name="Oval 31"/>
          <p:cNvSpPr/>
          <p:nvPr/>
        </p:nvSpPr>
        <p:spPr>
          <a:xfrm>
            <a:off x="1785918" y="1071546"/>
            <a:ext cx="686790" cy="915720"/>
          </a:xfrm>
          <a:prstGeom prst="ellipse">
            <a:avLst/>
          </a:prstGeom>
          <a:blipFill>
            <a:blip r:embed="rId7" cstate="print"/>
            <a:stretch>
              <a:fillRect/>
            </a:stretch>
          </a:blipFill>
          <a:ln w="190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733" dirty="0">
              <a:solidFill>
                <a:schemeClr val="accent1">
                  <a:lumMod val="75000"/>
                </a:schemeClr>
              </a:solidFill>
              <a:latin typeface="FontAwesome" pitchFamily="2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071802" y="4857760"/>
            <a:ext cx="1009445" cy="110799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Vous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disposez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de 15 minutes </a:t>
            </a:r>
          </a:p>
        </p:txBody>
      </p:sp>
      <p:sp>
        <p:nvSpPr>
          <p:cNvPr id="63" name="Oval 62"/>
          <p:cNvSpPr/>
          <p:nvPr/>
        </p:nvSpPr>
        <p:spPr>
          <a:xfrm>
            <a:off x="3357554" y="2285992"/>
            <a:ext cx="686790" cy="915720"/>
          </a:xfrm>
          <a:prstGeom prst="ellipse">
            <a:avLst/>
          </a:prstGeom>
          <a:blipFill>
            <a:blip r:embed="rId7" cstate="print"/>
            <a:stretch>
              <a:fillRect/>
            </a:stretch>
          </a:blipFill>
          <a:ln w="190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733" dirty="0">
              <a:solidFill>
                <a:schemeClr val="accent2">
                  <a:lumMod val="50000"/>
                </a:schemeClr>
              </a:solidFill>
              <a:latin typeface="FontAwesome" pitchFamily="2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500562" y="3143248"/>
            <a:ext cx="2286016" cy="5539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Lisez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les bubbles, et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matchez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-les    </a:t>
            </a:r>
          </a:p>
        </p:txBody>
      </p:sp>
      <p:sp>
        <p:nvSpPr>
          <p:cNvPr id="68" name="Oval 67"/>
          <p:cNvSpPr/>
          <p:nvPr/>
        </p:nvSpPr>
        <p:spPr>
          <a:xfrm>
            <a:off x="5643570" y="857232"/>
            <a:ext cx="686790" cy="915720"/>
          </a:xfrm>
          <a:prstGeom prst="ellipse">
            <a:avLst/>
          </a:prstGeom>
          <a:blipFill>
            <a:blip r:embed="rId7" cstate="print"/>
            <a:stretch>
              <a:fillRect/>
            </a:stretch>
          </a:blipFill>
          <a:ln w="190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733" dirty="0">
              <a:solidFill>
                <a:schemeClr val="accent3">
                  <a:lumMod val="75000"/>
                </a:schemeClr>
              </a:solidFill>
              <a:latin typeface="FontAwesome" pitchFamily="2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7000892" y="4429132"/>
            <a:ext cx="1773234" cy="33239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Nommez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un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rapporteur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par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équipe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pour la restitution</a:t>
            </a:r>
          </a:p>
          <a:p>
            <a:pPr algn="ctr"/>
            <a:endParaRPr lang="en-US" sz="1600" b="1" dirty="0">
              <a:solidFill>
                <a:srgbClr val="FFA803"/>
              </a:solidFill>
            </a:endParaRPr>
          </a:p>
          <a:p>
            <a:pPr algn="ctr"/>
            <a:endParaRPr lang="en-US" sz="1600" b="1" dirty="0">
              <a:solidFill>
                <a:srgbClr val="FFA803"/>
              </a:solidFill>
            </a:endParaRPr>
          </a:p>
          <a:p>
            <a:pPr algn="ctr"/>
            <a:endParaRPr lang="en-US" sz="1600" b="1" dirty="0">
              <a:solidFill>
                <a:srgbClr val="FFA803"/>
              </a:solidFill>
            </a:endParaRPr>
          </a:p>
          <a:p>
            <a:pPr algn="ctr"/>
            <a:endParaRPr lang="en-US" sz="1600" b="1" dirty="0">
              <a:solidFill>
                <a:srgbClr val="FFA803"/>
              </a:solidFill>
            </a:endParaRPr>
          </a:p>
          <a:p>
            <a:pPr algn="ctr"/>
            <a:endParaRPr lang="en-US" sz="1600" b="1" dirty="0">
              <a:solidFill>
                <a:srgbClr val="FFA803"/>
              </a:solidFill>
            </a:endParaRPr>
          </a:p>
          <a:p>
            <a:pPr algn="ctr"/>
            <a:endParaRPr lang="en-US" sz="1600" b="1" dirty="0">
              <a:solidFill>
                <a:srgbClr val="FFA803"/>
              </a:solidFill>
            </a:endParaRPr>
          </a:p>
          <a:p>
            <a:pPr algn="ctr"/>
            <a:endParaRPr lang="en-US" sz="1600" b="1" dirty="0">
              <a:solidFill>
                <a:srgbClr val="FFA803"/>
              </a:solidFill>
            </a:endParaRPr>
          </a:p>
          <a:p>
            <a:pPr algn="ctr"/>
            <a:endParaRPr lang="en-US" sz="1600" b="1" dirty="0">
              <a:solidFill>
                <a:srgbClr val="FFA803"/>
              </a:solidFill>
            </a:endParaRPr>
          </a:p>
          <a:p>
            <a:pPr algn="ctr"/>
            <a:endParaRPr lang="en-US" sz="1600" b="1" dirty="0">
              <a:solidFill>
                <a:srgbClr val="FFA803"/>
              </a:solidFill>
            </a:endParaRPr>
          </a:p>
        </p:txBody>
      </p:sp>
      <p:sp>
        <p:nvSpPr>
          <p:cNvPr id="73" name="Oval 72"/>
          <p:cNvSpPr/>
          <p:nvPr/>
        </p:nvSpPr>
        <p:spPr>
          <a:xfrm>
            <a:off x="7786710" y="2071678"/>
            <a:ext cx="686790" cy="915720"/>
          </a:xfrm>
          <a:prstGeom prst="ellipse">
            <a:avLst/>
          </a:prstGeom>
          <a:blipFill>
            <a:blip r:embed="rId7" cstate="print"/>
            <a:stretch>
              <a:fillRect/>
            </a:stretch>
          </a:blipFill>
          <a:ln w="190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0" tIns="0" rIns="0" rtlCol="0" anchor="ctr"/>
          <a:lstStyle/>
          <a:p>
            <a:pPr algn="ctr"/>
            <a:endParaRPr lang="en-US" sz="3200" dirty="0">
              <a:solidFill>
                <a:schemeClr val="accent4">
                  <a:lumMod val="75000"/>
                </a:schemeClr>
              </a:solidFill>
              <a:latin typeface="FontAwesome" pitchFamily="2" charset="0"/>
            </a:endParaRPr>
          </a:p>
        </p:txBody>
      </p:sp>
      <p:sp>
        <p:nvSpPr>
          <p:cNvPr id="28" name="TextBox 66"/>
          <p:cNvSpPr txBox="1"/>
          <p:nvPr/>
        </p:nvSpPr>
        <p:spPr>
          <a:xfrm>
            <a:off x="428596" y="357166"/>
            <a:ext cx="56435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Baskerville Old Face"/>
              </a:rPr>
              <a:t>Les </a:t>
            </a:r>
            <a:r>
              <a:rPr lang="en-US" sz="3200" b="1" dirty="0" err="1">
                <a:solidFill>
                  <a:srgbClr val="FF0000"/>
                </a:solidFill>
                <a:latin typeface="Baskerville Old Face"/>
              </a:rPr>
              <a:t>régles</a:t>
            </a:r>
            <a:r>
              <a:rPr lang="en-US" sz="3200" b="1" dirty="0">
                <a:solidFill>
                  <a:srgbClr val="FF0000"/>
                </a:solidFill>
                <a:latin typeface="Baskerville Old Face"/>
              </a:rPr>
              <a:t> du </a:t>
            </a:r>
            <a:r>
              <a:rPr lang="en-US" sz="3200" b="1" dirty="0" err="1">
                <a:solidFill>
                  <a:srgbClr val="FF0000"/>
                </a:solidFill>
                <a:latin typeface="Baskerville Old Face"/>
              </a:rPr>
              <a:t>jeu</a:t>
            </a:r>
            <a:r>
              <a:rPr lang="en-US" sz="3200" b="1" dirty="0">
                <a:solidFill>
                  <a:srgbClr val="FF0000"/>
                </a:solidFill>
                <a:latin typeface="Baskerville Old Face"/>
              </a:rPr>
              <a:t> </a:t>
            </a:r>
          </a:p>
          <a:p>
            <a:pPr algn="r"/>
            <a:endParaRPr lang="en-US" dirty="0">
              <a:solidFill>
                <a:srgbClr val="56595E"/>
              </a:solidFill>
              <a:latin typeface="Candara" panose="020E0502030303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6EE8333-FB03-48F6-9DCA-397B782747D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460" y="0"/>
            <a:ext cx="3682540" cy="2146032"/>
          </a:xfrm>
          <a:prstGeom prst="rect">
            <a:avLst/>
          </a:prstGeom>
        </p:spPr>
      </p:pic>
      <p:sp>
        <p:nvSpPr>
          <p:cNvPr id="17" name="Isosceles Triangle 46">
            <a:extLst>
              <a:ext uri="{FF2B5EF4-FFF2-40B4-BE49-F238E27FC236}">
                <a16:creationId xmlns:a16="http://schemas.microsoft.com/office/drawing/2014/main" id="{295CE181-88D7-4815-BC0F-BC87C9322824}"/>
              </a:ext>
            </a:extLst>
          </p:cNvPr>
          <p:cNvSpPr/>
          <p:nvPr/>
        </p:nvSpPr>
        <p:spPr>
          <a:xfrm rot="5400000">
            <a:off x="-31494" y="460098"/>
            <a:ext cx="510899" cy="447911"/>
          </a:xfrm>
          <a:prstGeom prst="triangl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297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60" grpId="0"/>
      <p:bldP spid="63" grpId="0" animBg="1"/>
      <p:bldP spid="65" grpId="0"/>
      <p:bldP spid="68" grpId="0" animBg="1"/>
      <p:bldP spid="70" grpId="0"/>
      <p:bldP spid="73" grpId="0" animBg="1"/>
      <p:bldP spid="28" grpId="0"/>
      <p:bldP spid="1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2BB5E1-F19D-4940-85D2-92E472CFC44C}" type="slidenum">
              <a:rPr lang="fr-FR" smtClean="0"/>
              <a:pPr>
                <a:defRPr/>
              </a:pPr>
              <a:t>45</a:t>
            </a:fld>
            <a:endParaRPr lang="fr-FR" dirty="0"/>
          </a:p>
        </p:txBody>
      </p:sp>
      <p:pic>
        <p:nvPicPr>
          <p:cNvPr id="6148" name="Picture 4" descr="Résultat de recherche d'images pour &quot;entreprise&quot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7290" y="1142984"/>
            <a:ext cx="6572296" cy="4182370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1156</Words>
  <Application>Microsoft Office PowerPoint</Application>
  <PresentationFormat>Affichage à l'écran (4:3)</PresentationFormat>
  <Paragraphs>326</Paragraphs>
  <Slides>45</Slides>
  <Notes>11</Notes>
  <HiddenSlides>0</HiddenSlides>
  <MMClips>2</MMClips>
  <ScaleCrop>false</ScaleCrop>
  <HeadingPairs>
    <vt:vector size="6" baseType="variant">
      <vt:variant>
        <vt:lpstr>Polices utilisées</vt:lpstr>
      </vt:variant>
      <vt:variant>
        <vt:i4>12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45</vt:i4>
      </vt:variant>
    </vt:vector>
  </HeadingPairs>
  <TitlesOfParts>
    <vt:vector size="58" baseType="lpstr">
      <vt:lpstr>Arial</vt:lpstr>
      <vt:lpstr>Baskerville Old Face</vt:lpstr>
      <vt:lpstr>Bernard MT Condensed</vt:lpstr>
      <vt:lpstr>Calibri</vt:lpstr>
      <vt:lpstr>Calibri Light</vt:lpstr>
      <vt:lpstr>Candara</vt:lpstr>
      <vt:lpstr>FontAwesome</vt:lpstr>
      <vt:lpstr>Garamond</vt:lpstr>
      <vt:lpstr>Lato</vt:lpstr>
      <vt:lpstr>Open Sans</vt:lpstr>
      <vt:lpstr>Times New Roman</vt:lpstr>
      <vt:lpstr>Trebuchet MS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 Classification de l’entreprise</vt:lpstr>
      <vt:lpstr>Présentation PowerPoint</vt:lpstr>
      <vt:lpstr>Présentation PowerPoint</vt:lpstr>
      <vt:lpstr>Présentation PowerPoint</vt:lpstr>
      <vt:lpstr>Critère dimensionnel</vt:lpstr>
      <vt:lpstr> Effectif du personnel employé : selon ce critère, en Tunisie on distingue  </vt:lpstr>
      <vt:lpstr>Présentation PowerPoint</vt:lpstr>
      <vt:lpstr> la valeur ajoutée :</vt:lpstr>
      <vt:lpstr>Critère sectoriel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user</dc:creator>
  <cp:lastModifiedBy>insaf tekaya</cp:lastModifiedBy>
  <cp:revision>229</cp:revision>
  <dcterms:created xsi:type="dcterms:W3CDTF">2019-06-20T09:22:27Z</dcterms:created>
  <dcterms:modified xsi:type="dcterms:W3CDTF">2023-09-08T10:27:53Z</dcterms:modified>
</cp:coreProperties>
</file>