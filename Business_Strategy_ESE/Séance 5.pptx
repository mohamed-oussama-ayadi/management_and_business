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6" r:id="rId2"/>
    <p:sldId id="256" r:id="rId3"/>
    <p:sldId id="257" r:id="rId4"/>
    <p:sldId id="315" r:id="rId5"/>
    <p:sldId id="1499" r:id="rId6"/>
    <p:sldId id="1500" r:id="rId7"/>
    <p:sldId id="269" r:id="rId8"/>
    <p:sldId id="1501" r:id="rId9"/>
    <p:sldId id="1503" r:id="rId10"/>
    <p:sldId id="1502" r:id="rId11"/>
    <p:sldId id="270" r:id="rId12"/>
    <p:sldId id="271" r:id="rId13"/>
    <p:sldId id="1504" r:id="rId14"/>
  </p:sldIdLst>
  <p:sldSz cx="12192000" cy="6858000"/>
  <p:notesSz cx="6858000" cy="9144000"/>
  <p:defaultTextStyle>
    <a:defPPr>
      <a:defRPr lang="fr-T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97B9AD-8331-463D-8A5C-1E0B6CC7D499}" type="doc">
      <dgm:prSet loTypeId="urn:microsoft.com/office/officeart/2005/8/layout/funnel1" loCatId="relationship" qsTypeId="urn:microsoft.com/office/officeart/2005/8/quickstyle/3d1" qsCatId="3D" csTypeId="urn:microsoft.com/office/officeart/2005/8/colors/accent5_2" csCatId="accent5" phldr="1"/>
      <dgm:spPr/>
      <dgm:t>
        <a:bodyPr/>
        <a:lstStyle/>
        <a:p>
          <a:endParaRPr lang="fr-TN"/>
        </a:p>
      </dgm:t>
    </dgm:pt>
    <dgm:pt modelId="{332AB9BE-7866-4BF1-B6BA-D65A22569AA3}">
      <dgm:prSet phldrT="[Texte]"/>
      <dgm:spPr/>
      <dgm:t>
        <a:bodyPr/>
        <a:lstStyle/>
        <a:p>
          <a:r>
            <a:rPr lang="fr-FR" dirty="0"/>
            <a:t>Compétences </a:t>
          </a:r>
          <a:endParaRPr lang="fr-TN" dirty="0"/>
        </a:p>
      </dgm:t>
    </dgm:pt>
    <dgm:pt modelId="{0CCF8284-87DC-4FD7-88DB-589CE63471AE}" type="parTrans" cxnId="{B113A20B-76B1-4641-BF40-EEA0CFB95C7D}">
      <dgm:prSet/>
      <dgm:spPr/>
      <dgm:t>
        <a:bodyPr/>
        <a:lstStyle/>
        <a:p>
          <a:endParaRPr lang="fr-TN"/>
        </a:p>
      </dgm:t>
    </dgm:pt>
    <dgm:pt modelId="{5600110F-1236-4E87-AC43-F9E66462E320}" type="sibTrans" cxnId="{B113A20B-76B1-4641-BF40-EEA0CFB95C7D}">
      <dgm:prSet/>
      <dgm:spPr/>
      <dgm:t>
        <a:bodyPr/>
        <a:lstStyle/>
        <a:p>
          <a:endParaRPr lang="fr-TN"/>
        </a:p>
      </dgm:t>
    </dgm:pt>
    <dgm:pt modelId="{5D740596-FC8E-4AFD-80A6-002F36E1CE62}">
      <dgm:prSet phldrT="[Texte]"/>
      <dgm:spPr/>
      <dgm:t>
        <a:bodyPr/>
        <a:lstStyle/>
        <a:p>
          <a:r>
            <a:rPr lang="fr-FR" dirty="0"/>
            <a:t>Ressources </a:t>
          </a:r>
          <a:endParaRPr lang="fr-TN" dirty="0"/>
        </a:p>
      </dgm:t>
    </dgm:pt>
    <dgm:pt modelId="{1B947217-29CD-4A9F-BA50-6D7038F5059F}" type="parTrans" cxnId="{63ACA48F-867F-46E8-B0FE-CEDD28363E4D}">
      <dgm:prSet/>
      <dgm:spPr/>
      <dgm:t>
        <a:bodyPr/>
        <a:lstStyle/>
        <a:p>
          <a:endParaRPr lang="fr-TN"/>
        </a:p>
      </dgm:t>
    </dgm:pt>
    <dgm:pt modelId="{B77447B1-1B82-4874-BFB2-8B399E86A2F7}" type="sibTrans" cxnId="{63ACA48F-867F-46E8-B0FE-CEDD28363E4D}">
      <dgm:prSet/>
      <dgm:spPr/>
      <dgm:t>
        <a:bodyPr/>
        <a:lstStyle/>
        <a:p>
          <a:endParaRPr lang="fr-TN"/>
        </a:p>
      </dgm:t>
    </dgm:pt>
    <dgm:pt modelId="{06ECF8AA-8C36-4F00-B062-BF5958EBC1DB}">
      <dgm:prSet phldrT="[Texte]" custT="1"/>
      <dgm:spPr/>
      <dgm:t>
        <a:bodyPr/>
        <a:lstStyle/>
        <a:p>
          <a:r>
            <a:rPr lang="fr-FR" sz="2400" b="1" dirty="0">
              <a:solidFill>
                <a:srgbClr val="0070C0"/>
              </a:solidFill>
            </a:rPr>
            <a:t>Capacité stratégique</a:t>
          </a:r>
          <a:r>
            <a:rPr lang="fr-FR" sz="3300" b="1" dirty="0">
              <a:solidFill>
                <a:srgbClr val="0070C0"/>
              </a:solidFill>
            </a:rPr>
            <a:t> </a:t>
          </a:r>
          <a:endParaRPr lang="fr-TN" sz="3300" b="1" dirty="0">
            <a:solidFill>
              <a:srgbClr val="0070C0"/>
            </a:solidFill>
          </a:endParaRPr>
        </a:p>
      </dgm:t>
    </dgm:pt>
    <dgm:pt modelId="{FD38B22A-2379-4ED6-AEF1-7611DD12D4F5}" type="parTrans" cxnId="{8BE49B37-0B5D-4BC8-82E4-514C7B52D801}">
      <dgm:prSet/>
      <dgm:spPr/>
      <dgm:t>
        <a:bodyPr/>
        <a:lstStyle/>
        <a:p>
          <a:endParaRPr lang="fr-TN"/>
        </a:p>
      </dgm:t>
    </dgm:pt>
    <dgm:pt modelId="{4915548A-5D18-4715-A2A0-44E43408F209}" type="sibTrans" cxnId="{8BE49B37-0B5D-4BC8-82E4-514C7B52D801}">
      <dgm:prSet/>
      <dgm:spPr/>
      <dgm:t>
        <a:bodyPr/>
        <a:lstStyle/>
        <a:p>
          <a:endParaRPr lang="fr-TN"/>
        </a:p>
      </dgm:t>
    </dgm:pt>
    <dgm:pt modelId="{06343708-60EC-452C-B8B8-A7059017E0BD}" type="pres">
      <dgm:prSet presAssocID="{8797B9AD-8331-463D-8A5C-1E0B6CC7D499}" presName="Name0" presStyleCnt="0">
        <dgm:presLayoutVars>
          <dgm:chMax val="4"/>
          <dgm:resizeHandles val="exact"/>
        </dgm:presLayoutVars>
      </dgm:prSet>
      <dgm:spPr/>
    </dgm:pt>
    <dgm:pt modelId="{E6704427-0BBE-4824-8294-F942E560E5B1}" type="pres">
      <dgm:prSet presAssocID="{8797B9AD-8331-463D-8A5C-1E0B6CC7D499}" presName="ellipse" presStyleLbl="trBgShp" presStyleIdx="0" presStyleCnt="1" custScaleX="86018" custScaleY="117982" custLinFactNeighborX="-41860" custLinFactNeighborY="78809"/>
      <dgm:spPr/>
    </dgm:pt>
    <dgm:pt modelId="{76352334-70C1-4BA7-A5E7-CDAAAD1EE838}" type="pres">
      <dgm:prSet presAssocID="{8797B9AD-8331-463D-8A5C-1E0B6CC7D499}" presName="arrow1" presStyleLbl="fgShp" presStyleIdx="0" presStyleCnt="1" custLinFactX="-100000" custLinFactNeighborX="-106880" custLinFactNeighborY="-4109"/>
      <dgm:spPr/>
    </dgm:pt>
    <dgm:pt modelId="{BFBFE8AA-24FF-48C5-9C12-62741C9BC313}" type="pres">
      <dgm:prSet presAssocID="{8797B9AD-8331-463D-8A5C-1E0B6CC7D499}" presName="rectangle" presStyleLbl="revTx" presStyleIdx="0" presStyleCnt="1" custLinFactNeighborX="-42684" custLinFactNeighborY="-1612">
        <dgm:presLayoutVars>
          <dgm:bulletEnabled val="1"/>
        </dgm:presLayoutVars>
      </dgm:prSet>
      <dgm:spPr/>
    </dgm:pt>
    <dgm:pt modelId="{11BEDB2A-EB6F-41DB-B013-DF40FE986E6B}" type="pres">
      <dgm:prSet presAssocID="{5D740596-FC8E-4AFD-80A6-002F36E1CE62}" presName="item1" presStyleLbl="node1" presStyleIdx="0" presStyleCnt="2" custLinFactNeighborX="-84840" custLinFactNeighborY="-10108">
        <dgm:presLayoutVars>
          <dgm:bulletEnabled val="1"/>
        </dgm:presLayoutVars>
      </dgm:prSet>
      <dgm:spPr/>
    </dgm:pt>
    <dgm:pt modelId="{AC857E4F-539C-451E-8D42-D1A44E9C3FE5}" type="pres">
      <dgm:prSet presAssocID="{06ECF8AA-8C36-4F00-B062-BF5958EBC1DB}" presName="item2" presStyleLbl="node1" presStyleIdx="1" presStyleCnt="2" custLinFactNeighborX="-96923" custLinFactNeighborY="41507">
        <dgm:presLayoutVars>
          <dgm:bulletEnabled val="1"/>
        </dgm:presLayoutVars>
      </dgm:prSet>
      <dgm:spPr/>
    </dgm:pt>
    <dgm:pt modelId="{5B0D8957-12F2-4A1A-86FE-86EEA0168099}" type="pres">
      <dgm:prSet presAssocID="{8797B9AD-8331-463D-8A5C-1E0B6CC7D499}" presName="funnel" presStyleLbl="trAlignAcc1" presStyleIdx="0" presStyleCnt="1" custScaleX="99576" custScaleY="69254" custLinFactNeighborX="-39082" custLinFactNeighborY="14551"/>
      <dgm:spPr/>
    </dgm:pt>
  </dgm:ptLst>
  <dgm:cxnLst>
    <dgm:cxn modelId="{B113A20B-76B1-4641-BF40-EEA0CFB95C7D}" srcId="{8797B9AD-8331-463D-8A5C-1E0B6CC7D499}" destId="{332AB9BE-7866-4BF1-B6BA-D65A22569AA3}" srcOrd="0" destOrd="0" parTransId="{0CCF8284-87DC-4FD7-88DB-589CE63471AE}" sibTransId="{5600110F-1236-4E87-AC43-F9E66462E320}"/>
    <dgm:cxn modelId="{8BE49B37-0B5D-4BC8-82E4-514C7B52D801}" srcId="{8797B9AD-8331-463D-8A5C-1E0B6CC7D499}" destId="{06ECF8AA-8C36-4F00-B062-BF5958EBC1DB}" srcOrd="2" destOrd="0" parTransId="{FD38B22A-2379-4ED6-AEF1-7611DD12D4F5}" sibTransId="{4915548A-5D18-4715-A2A0-44E43408F209}"/>
    <dgm:cxn modelId="{0A0B7144-55B0-47A1-AB48-D457D5D8F1A2}" type="presOf" srcId="{332AB9BE-7866-4BF1-B6BA-D65A22569AA3}" destId="{AC857E4F-539C-451E-8D42-D1A44E9C3FE5}" srcOrd="0" destOrd="0" presId="urn:microsoft.com/office/officeart/2005/8/layout/funnel1"/>
    <dgm:cxn modelId="{63ACA48F-867F-46E8-B0FE-CEDD28363E4D}" srcId="{8797B9AD-8331-463D-8A5C-1E0B6CC7D499}" destId="{5D740596-FC8E-4AFD-80A6-002F36E1CE62}" srcOrd="1" destOrd="0" parTransId="{1B947217-29CD-4A9F-BA50-6D7038F5059F}" sibTransId="{B77447B1-1B82-4874-BFB2-8B399E86A2F7}"/>
    <dgm:cxn modelId="{A5BD34A5-94E2-4F8C-A6DD-5B8A0D1B2DE2}" type="presOf" srcId="{8797B9AD-8331-463D-8A5C-1E0B6CC7D499}" destId="{06343708-60EC-452C-B8B8-A7059017E0BD}" srcOrd="0" destOrd="0" presId="urn:microsoft.com/office/officeart/2005/8/layout/funnel1"/>
    <dgm:cxn modelId="{A2F8C8AE-2AA3-4FDB-B172-0114901A63B0}" type="presOf" srcId="{06ECF8AA-8C36-4F00-B062-BF5958EBC1DB}" destId="{BFBFE8AA-24FF-48C5-9C12-62741C9BC313}" srcOrd="0" destOrd="0" presId="urn:microsoft.com/office/officeart/2005/8/layout/funnel1"/>
    <dgm:cxn modelId="{57BEDBD2-B079-4E41-B6E0-3AF619C103CB}" type="presOf" srcId="{5D740596-FC8E-4AFD-80A6-002F36E1CE62}" destId="{11BEDB2A-EB6F-41DB-B013-DF40FE986E6B}" srcOrd="0" destOrd="0" presId="urn:microsoft.com/office/officeart/2005/8/layout/funnel1"/>
    <dgm:cxn modelId="{8E102CDA-F518-471F-BB74-991746700441}" type="presParOf" srcId="{06343708-60EC-452C-B8B8-A7059017E0BD}" destId="{E6704427-0BBE-4824-8294-F942E560E5B1}" srcOrd="0" destOrd="0" presId="urn:microsoft.com/office/officeart/2005/8/layout/funnel1"/>
    <dgm:cxn modelId="{8378F1FA-1197-4DB0-9FD7-324BE1C70131}" type="presParOf" srcId="{06343708-60EC-452C-B8B8-A7059017E0BD}" destId="{76352334-70C1-4BA7-A5E7-CDAAAD1EE838}" srcOrd="1" destOrd="0" presId="urn:microsoft.com/office/officeart/2005/8/layout/funnel1"/>
    <dgm:cxn modelId="{130B9E9B-3B9D-4A6A-9768-B55BAC6BBD9F}" type="presParOf" srcId="{06343708-60EC-452C-B8B8-A7059017E0BD}" destId="{BFBFE8AA-24FF-48C5-9C12-62741C9BC313}" srcOrd="2" destOrd="0" presId="urn:microsoft.com/office/officeart/2005/8/layout/funnel1"/>
    <dgm:cxn modelId="{F2337BC2-0F5F-413E-A5D9-677F58F36AF7}" type="presParOf" srcId="{06343708-60EC-452C-B8B8-A7059017E0BD}" destId="{11BEDB2A-EB6F-41DB-B013-DF40FE986E6B}" srcOrd="3" destOrd="0" presId="urn:microsoft.com/office/officeart/2005/8/layout/funnel1"/>
    <dgm:cxn modelId="{BDC52C25-5D59-4D96-902E-F2778DCD1E0C}" type="presParOf" srcId="{06343708-60EC-452C-B8B8-A7059017E0BD}" destId="{AC857E4F-539C-451E-8D42-D1A44E9C3FE5}" srcOrd="4" destOrd="0" presId="urn:microsoft.com/office/officeart/2005/8/layout/funnel1"/>
    <dgm:cxn modelId="{216DD2CF-F8DD-4FFE-8FB1-A1DF787ECB99}" type="presParOf" srcId="{06343708-60EC-452C-B8B8-A7059017E0BD}" destId="{5B0D8957-12F2-4A1A-86FE-86EEA0168099}" srcOrd="5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704427-0BBE-4824-8294-F942E560E5B1}">
      <dsp:nvSpPr>
        <dsp:cNvPr id="0" name=""/>
        <dsp:cNvSpPr/>
      </dsp:nvSpPr>
      <dsp:spPr>
        <a:xfrm>
          <a:off x="703383" y="1134977"/>
          <a:ext cx="3399903" cy="1619501"/>
        </a:xfrm>
        <a:prstGeom prst="ellipse">
          <a:avLst/>
        </a:prstGeom>
        <a:solidFill>
          <a:schemeClr val="accent5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z="-190500" extrusionH="127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352334-70C1-4BA7-A5E7-CDAAAD1EE838}">
      <dsp:nvSpPr>
        <dsp:cNvPr id="0" name=""/>
        <dsp:cNvSpPr/>
      </dsp:nvSpPr>
      <dsp:spPr>
        <a:xfrm>
          <a:off x="2096304" y="3517662"/>
          <a:ext cx="765997" cy="490238"/>
        </a:xfrm>
        <a:prstGeom prst="downArrow">
          <a:avLst/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z="190500"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FBFE8AA-24FF-48C5-9C12-62741C9BC313}">
      <dsp:nvSpPr>
        <dsp:cNvPr id="0" name=""/>
        <dsp:cNvSpPr/>
      </dsp:nvSpPr>
      <dsp:spPr>
        <a:xfrm>
          <a:off x="656204" y="3915179"/>
          <a:ext cx="3676789" cy="919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solidFill>
                <a:srgbClr val="0070C0"/>
              </a:solidFill>
            </a:rPr>
            <a:t>Capacité stratégique</a:t>
          </a:r>
          <a:r>
            <a:rPr lang="fr-FR" sz="3300" b="1" kern="1200" dirty="0">
              <a:solidFill>
                <a:srgbClr val="0070C0"/>
              </a:solidFill>
            </a:rPr>
            <a:t> </a:t>
          </a:r>
          <a:endParaRPr lang="fr-TN" sz="3300" b="1" kern="1200" dirty="0">
            <a:solidFill>
              <a:srgbClr val="0070C0"/>
            </a:solidFill>
          </a:endParaRPr>
        </a:p>
      </dsp:txBody>
      <dsp:txXfrm>
        <a:off x="656204" y="3915179"/>
        <a:ext cx="3676789" cy="919197"/>
      </dsp:txXfrm>
    </dsp:sp>
    <dsp:sp modelId="{11BEDB2A-EB6F-41DB-B013-DF40FE986E6B}">
      <dsp:nvSpPr>
        <dsp:cNvPr id="0" name=""/>
        <dsp:cNvSpPr/>
      </dsp:nvSpPr>
      <dsp:spPr>
        <a:xfrm>
          <a:off x="2348838" y="1515921"/>
          <a:ext cx="1378796" cy="1378796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Ressources </a:t>
          </a:r>
          <a:endParaRPr lang="fr-TN" sz="1300" kern="1200" dirty="0"/>
        </a:p>
      </dsp:txBody>
      <dsp:txXfrm>
        <a:off x="2550758" y="1717841"/>
        <a:ext cx="974956" cy="974956"/>
      </dsp:txXfrm>
    </dsp:sp>
    <dsp:sp modelId="{AC857E4F-539C-451E-8D42-D1A44E9C3FE5}">
      <dsp:nvSpPr>
        <dsp:cNvPr id="0" name=""/>
        <dsp:cNvSpPr/>
      </dsp:nvSpPr>
      <dsp:spPr>
        <a:xfrm>
          <a:off x="1195633" y="1193183"/>
          <a:ext cx="1378796" cy="1378796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300" kern="1200" dirty="0"/>
            <a:t>Compétences </a:t>
          </a:r>
          <a:endParaRPr lang="fr-TN" sz="1300" kern="1200" dirty="0"/>
        </a:p>
      </dsp:txBody>
      <dsp:txXfrm>
        <a:off x="1397553" y="1395103"/>
        <a:ext cx="974956" cy="974956"/>
      </dsp:txXfrm>
    </dsp:sp>
    <dsp:sp modelId="{5B0D8957-12F2-4A1A-86FE-86EEA0168099}">
      <dsp:nvSpPr>
        <dsp:cNvPr id="0" name=""/>
        <dsp:cNvSpPr/>
      </dsp:nvSpPr>
      <dsp:spPr>
        <a:xfrm>
          <a:off x="251843" y="1034981"/>
          <a:ext cx="4271399" cy="2376568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TN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97B70-8D4C-4126-B58A-CC6DD7D4BC49}" type="datetimeFigureOut">
              <a:rPr lang="fr-TN" smtClean="0"/>
              <a:t>07/10/2023</a:t>
            </a:fld>
            <a:endParaRPr lang="fr-TN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TN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N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TN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539E09-9407-403C-B63E-8300A3882778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4164086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TN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539E09-9407-403C-B63E-8300A3882778}" type="slidenum">
              <a:rPr lang="fr-TN" smtClean="0"/>
              <a:t>8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530020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TN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539E09-9407-403C-B63E-8300A3882778}" type="slidenum">
              <a:rPr lang="fr-TN" smtClean="0"/>
              <a:t>9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633964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TN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539E09-9407-403C-B63E-8300A3882778}" type="slidenum">
              <a:rPr lang="fr-TN" smtClean="0"/>
              <a:t>10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087756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322FCC-1ECF-8A5E-4CE5-4C9180EBC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TN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9786B8D-FBEA-EEC8-4CCE-D28D90148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T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F3E627-1754-0483-22E5-87F72A942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CB0C7-10D5-4EC1-A74C-B41FC2CF723C}" type="datetimeFigureOut">
              <a:rPr lang="fr-TN" smtClean="0"/>
              <a:t>07/10/2023</a:t>
            </a:fld>
            <a:endParaRPr lang="fr-T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2029CA-028D-440E-B385-B1B0D2BB7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026F91-4DE3-480A-F44A-5A49B21F3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35D3-220D-43CA-A6B4-B208211243A1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123966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0EADFA-0EFE-3439-DA79-F8D68E5C4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T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32958E-788F-631F-84B0-1CE5C045B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1226C8-7F1D-C9FE-9878-7E33E14A4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CB0C7-10D5-4EC1-A74C-B41FC2CF723C}" type="datetimeFigureOut">
              <a:rPr lang="fr-TN" smtClean="0"/>
              <a:t>07/10/2023</a:t>
            </a:fld>
            <a:endParaRPr lang="fr-T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5B84CC-C8C2-CE3E-B377-D0A9D391F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1ECE25-FD5B-10B0-76E0-65AAD7EB6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35D3-220D-43CA-A6B4-B208211243A1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094677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D6483C-E95D-FF4F-6D5A-98A79FD8C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T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0D307E6-20A1-BE66-AEE4-81BA0A2D9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D8DC57-E20A-5551-602C-5382DBB37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CB0C7-10D5-4EC1-A74C-B41FC2CF723C}" type="datetimeFigureOut">
              <a:rPr lang="fr-TN" smtClean="0"/>
              <a:t>07/10/2023</a:t>
            </a:fld>
            <a:endParaRPr lang="fr-T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46E860-787B-62AE-3DCD-8D43D78A6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B471DA-D3A0-85A9-F760-DDDFA7375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35D3-220D-43CA-A6B4-B208211243A1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098982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9AC862-7757-26DF-68F0-C95072FD2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T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E60ED9-4C11-831E-B94D-B26AED0DA6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N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A3D2A99-FE00-B8BA-6361-1F4993A5F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N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E2FFD8A-2C5B-AAAB-7D63-574098641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CB0C7-10D5-4EC1-A74C-B41FC2CF723C}" type="datetimeFigureOut">
              <a:rPr lang="fr-TN" smtClean="0"/>
              <a:t>07/10/2023</a:t>
            </a:fld>
            <a:endParaRPr lang="fr-T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AC8859C-CD19-1264-2F19-A69AB959D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CB486A9-6DBF-D7A3-4550-867D5910A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35D3-220D-43CA-A6B4-B208211243A1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435343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E911F8-DED7-6DF8-07F6-72F7A3EE9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T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B0D56A7-EBB3-8173-C2AE-D7C84286E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2858B2-0BA9-E6D4-FCB0-8A92675B9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N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51EB1DC-29A1-1C5C-7477-F1F589308C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DF356ED-F8BD-3A14-BEFB-23B1FA6D33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N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E862447-E71E-6451-77A6-21ED0744C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CB0C7-10D5-4EC1-A74C-B41FC2CF723C}" type="datetimeFigureOut">
              <a:rPr lang="fr-TN" smtClean="0"/>
              <a:t>07/10/2023</a:t>
            </a:fld>
            <a:endParaRPr lang="fr-TN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E70DA52-D3DD-D712-BB6D-74809E516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23651E1-A38F-E8DC-3AB6-1CFE8A6B2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35D3-220D-43CA-A6B4-B208211243A1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929188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70F56D-575F-0C80-86E2-95585255B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TN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003F341-51C4-427C-90AC-09BF11D56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CB0C7-10D5-4EC1-A74C-B41FC2CF723C}" type="datetimeFigureOut">
              <a:rPr lang="fr-TN" smtClean="0"/>
              <a:t>07/10/2023</a:t>
            </a:fld>
            <a:endParaRPr lang="fr-TN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14F80F6-F6D8-6B3E-B118-460D6F033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2DF9375-95C9-3F6E-0A8D-137899450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35D3-220D-43CA-A6B4-B208211243A1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925419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5DA9A1E-DB21-41D1-0826-B083C97E8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CB0C7-10D5-4EC1-A74C-B41FC2CF723C}" type="datetimeFigureOut">
              <a:rPr lang="fr-TN" smtClean="0"/>
              <a:t>07/10/2023</a:t>
            </a:fld>
            <a:endParaRPr lang="fr-TN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60944A7-EBBB-42D0-5E8A-0A7326ED9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24DCA9-1B52-D260-0B95-3D3109BC1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35D3-220D-43CA-A6B4-B208211243A1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961077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A43155-FAE5-73BD-46B4-5831E0204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TN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028ABD-5534-92A8-4311-A721726A9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N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9E6FA6-CD7E-4BAB-8468-7BDC0592D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6881F55-D485-9D29-ECFE-5E02FE0B4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CB0C7-10D5-4EC1-A74C-B41FC2CF723C}" type="datetimeFigureOut">
              <a:rPr lang="fr-TN" smtClean="0"/>
              <a:t>07/10/2023</a:t>
            </a:fld>
            <a:endParaRPr lang="fr-T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EA13D5D-ED27-F998-98C7-A5565A10E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2886E8A-71C0-58DC-6958-88CCFA330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35D3-220D-43CA-A6B4-B208211243A1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88842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E18709-1444-5696-8DA5-24E57271C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TN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27115D5-9C93-6883-8472-EDCC841396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TN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87B6304-8774-37E7-D01B-70EFE45C4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C7261D3-04F5-E1C0-4D4A-650A68CE7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CB0C7-10D5-4EC1-A74C-B41FC2CF723C}" type="datetimeFigureOut">
              <a:rPr lang="fr-TN" smtClean="0"/>
              <a:t>07/10/2023</a:t>
            </a:fld>
            <a:endParaRPr lang="fr-TN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BF201E-34A8-B600-EAA0-23C6F0B05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B18F141-7A2E-1566-5ED3-ED7C70B5A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35D3-220D-43CA-A6B4-B208211243A1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705290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99B71E-11D9-A673-B9A3-1C94C42F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TN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B28A300-BE6C-692A-DC05-8A88DA8546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C173A5-63B9-7A18-77D3-3C7BED800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CB0C7-10D5-4EC1-A74C-B41FC2CF723C}" type="datetimeFigureOut">
              <a:rPr lang="fr-TN" smtClean="0"/>
              <a:t>07/10/2023</a:t>
            </a:fld>
            <a:endParaRPr lang="fr-T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0E364F-6162-6B7A-C9B6-225AE3246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9118AE-70AE-70AA-D130-CFF3E5A69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35D3-220D-43CA-A6B4-B208211243A1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150929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1A3067F-560F-F420-E3DE-5E20A05AD1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TN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B6C8A48-290A-474E-2F77-CBCA0B998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32DD13-024C-AE76-7911-7B4514FC6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CB0C7-10D5-4EC1-A74C-B41FC2CF723C}" type="datetimeFigureOut">
              <a:rPr lang="fr-TN" smtClean="0"/>
              <a:t>07/10/2023</a:t>
            </a:fld>
            <a:endParaRPr lang="fr-T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04DED3-4F06-C285-3F90-BF28A7FC7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T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EBC245-28AF-25BB-08E4-EF5B23B42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735D3-220D-43CA-A6B4-B208211243A1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738556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>
            <a:spLocks noGrp="1"/>
          </p:cNvSpPr>
          <p:nvPr>
            <p:ph type="pic" idx="2"/>
          </p:nvPr>
        </p:nvSpPr>
        <p:spPr>
          <a:xfrm>
            <a:off x="1028700" y="1485900"/>
            <a:ext cx="2489200" cy="2576848"/>
          </a:xfrm>
          <a:prstGeom prst="ellipse">
            <a:avLst/>
          </a:prstGeom>
          <a:noFill/>
          <a:ln>
            <a:noFill/>
          </a:ln>
        </p:spPr>
      </p:sp>
      <p:sp>
        <p:nvSpPr>
          <p:cNvPr id="17" name="Google Shape;17;p2"/>
          <p:cNvSpPr>
            <a:spLocks noGrp="1"/>
          </p:cNvSpPr>
          <p:nvPr>
            <p:ph type="pic" idx="3"/>
          </p:nvPr>
        </p:nvSpPr>
        <p:spPr>
          <a:xfrm>
            <a:off x="3606800" y="1485900"/>
            <a:ext cx="2489200" cy="2576848"/>
          </a:xfrm>
          <a:prstGeom prst="ellipse">
            <a:avLst/>
          </a:prstGeom>
          <a:noFill/>
          <a:ln>
            <a:noFill/>
          </a:ln>
        </p:spPr>
      </p:sp>
      <p:sp>
        <p:nvSpPr>
          <p:cNvPr id="18" name="Google Shape;18;p2"/>
          <p:cNvSpPr>
            <a:spLocks noGrp="1"/>
          </p:cNvSpPr>
          <p:nvPr>
            <p:ph type="pic" idx="4"/>
          </p:nvPr>
        </p:nvSpPr>
        <p:spPr>
          <a:xfrm>
            <a:off x="6184900" y="1485900"/>
            <a:ext cx="2489200" cy="2576848"/>
          </a:xfrm>
          <a:prstGeom prst="ellipse">
            <a:avLst/>
          </a:prstGeom>
          <a:noFill/>
          <a:ln>
            <a:noFill/>
          </a:ln>
        </p:spPr>
      </p:sp>
      <p:sp>
        <p:nvSpPr>
          <p:cNvPr id="19" name="Google Shape;19;p2"/>
          <p:cNvSpPr>
            <a:spLocks noGrp="1"/>
          </p:cNvSpPr>
          <p:nvPr>
            <p:ph type="pic" idx="5"/>
          </p:nvPr>
        </p:nvSpPr>
        <p:spPr>
          <a:xfrm>
            <a:off x="8763000" y="1485900"/>
            <a:ext cx="2489200" cy="2576848"/>
          </a:xfrm>
          <a:prstGeom prst="ellipse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99693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2320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Free Blank With Footer">
  <p:cSld name="1_Free Blank With Foot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33676" y="356630"/>
            <a:ext cx="11524648" cy="471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solidFill>
                  <a:srgbClr val="7F7F7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33678" y="825952"/>
            <a:ext cx="11524647" cy="267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 b="1" i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5"/>
              <a:buNone/>
              <a:defRPr sz="1335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8880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BB9C9D4-2B5F-6F15-DF48-7F0F042A0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TN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0625A81-2FFF-4985-AC73-A5402FC10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N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3FF955-C6B7-AB23-F253-22DE74AE66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CB0C7-10D5-4EC1-A74C-B41FC2CF723C}" type="datetimeFigureOut">
              <a:rPr lang="fr-TN" smtClean="0"/>
              <a:t>07/10/2023</a:t>
            </a:fld>
            <a:endParaRPr lang="fr-TN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5FF6D1-C45A-683A-0310-E71A93618E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TN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BE80D3-4868-2621-FE39-66FB1D476C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735D3-220D-43CA-A6B4-B208211243A1}" type="slidenum">
              <a:rPr lang="fr-TN" smtClean="0"/>
              <a:t>‹N°›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182425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T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jpeg"/><Relationship Id="rId2" Type="http://schemas.openxmlformats.org/officeDocument/2006/relationships/hyperlink" Target="http://slides.sage-fox.com/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hyperlink" Target="https://youtu.be/HSnWBfeuKqg" TargetMode="External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2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3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6"/>
          <p:cNvGrpSpPr/>
          <p:nvPr/>
        </p:nvGrpSpPr>
        <p:grpSpPr>
          <a:xfrm>
            <a:off x="3924301" y="3339971"/>
            <a:ext cx="822957" cy="1097280"/>
            <a:chOff x="3241866" y="1103796"/>
            <a:chExt cx="4627785" cy="4627785"/>
          </a:xfrm>
        </p:grpSpPr>
        <p:sp>
          <p:nvSpPr>
            <p:cNvPr id="105" name="Google Shape;105;p16"/>
            <p:cNvSpPr/>
            <p:nvPr/>
          </p:nvSpPr>
          <p:spPr>
            <a:xfrm>
              <a:off x="3241866" y="1103796"/>
              <a:ext cx="4627785" cy="4627785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35000">
                  <a:srgbClr val="FFFFFF"/>
                </a:gs>
                <a:gs pos="100000">
                  <a:schemeClr val="accent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3627512" y="1489445"/>
              <a:ext cx="3856489" cy="3856488"/>
            </a:xfrm>
            <a:prstGeom prst="ellipse">
              <a:avLst/>
            </a:prstGeom>
            <a:gradFill>
              <a:gsLst>
                <a:gs pos="0">
                  <a:srgbClr val="8CAE47"/>
                </a:gs>
                <a:gs pos="23000">
                  <a:srgbClr val="8CAE47"/>
                </a:gs>
                <a:gs pos="69000">
                  <a:srgbClr val="76923C"/>
                </a:gs>
                <a:gs pos="97000">
                  <a:srgbClr val="6E8938"/>
                </a:gs>
                <a:gs pos="100000">
                  <a:srgbClr val="6E8938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6"/>
          <p:cNvGrpSpPr/>
          <p:nvPr/>
        </p:nvGrpSpPr>
        <p:grpSpPr>
          <a:xfrm>
            <a:off x="5747098" y="3339971"/>
            <a:ext cx="822957" cy="1097280"/>
            <a:chOff x="3241866" y="1103796"/>
            <a:chExt cx="4627785" cy="4627785"/>
          </a:xfrm>
        </p:grpSpPr>
        <p:sp>
          <p:nvSpPr>
            <p:cNvPr id="108" name="Google Shape;108;p16"/>
            <p:cNvSpPr/>
            <p:nvPr/>
          </p:nvSpPr>
          <p:spPr>
            <a:xfrm>
              <a:off x="3241866" y="1103796"/>
              <a:ext cx="4627785" cy="4627785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35000">
                  <a:srgbClr val="FFFFFF"/>
                </a:gs>
                <a:gs pos="100000">
                  <a:schemeClr val="accent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6"/>
            <p:cNvSpPr/>
            <p:nvPr/>
          </p:nvSpPr>
          <p:spPr>
            <a:xfrm>
              <a:off x="3627512" y="1489445"/>
              <a:ext cx="3856489" cy="3856488"/>
            </a:xfrm>
            <a:prstGeom prst="ellipse">
              <a:avLst/>
            </a:prstGeom>
            <a:gradFill>
              <a:gsLst>
                <a:gs pos="0">
                  <a:srgbClr val="8CAE47"/>
                </a:gs>
                <a:gs pos="23000">
                  <a:srgbClr val="8CAE47"/>
                </a:gs>
                <a:gs pos="69000">
                  <a:srgbClr val="76923C"/>
                </a:gs>
                <a:gs pos="97000">
                  <a:srgbClr val="6E8938"/>
                </a:gs>
                <a:gs pos="100000">
                  <a:srgbClr val="6E8938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16"/>
          <p:cNvGrpSpPr/>
          <p:nvPr/>
        </p:nvGrpSpPr>
        <p:grpSpPr>
          <a:xfrm>
            <a:off x="7584615" y="3339971"/>
            <a:ext cx="822957" cy="1097280"/>
            <a:chOff x="3241866" y="1103796"/>
            <a:chExt cx="4627785" cy="4627785"/>
          </a:xfrm>
        </p:grpSpPr>
        <p:sp>
          <p:nvSpPr>
            <p:cNvPr id="111" name="Google Shape;111;p16"/>
            <p:cNvSpPr/>
            <p:nvPr/>
          </p:nvSpPr>
          <p:spPr>
            <a:xfrm>
              <a:off x="3241866" y="1103796"/>
              <a:ext cx="4627785" cy="4627785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35000">
                  <a:srgbClr val="FFFFFF"/>
                </a:gs>
                <a:gs pos="100000">
                  <a:schemeClr val="accent3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3627512" y="1489445"/>
              <a:ext cx="3856489" cy="3856488"/>
            </a:xfrm>
            <a:prstGeom prst="ellipse">
              <a:avLst/>
            </a:prstGeom>
            <a:gradFill>
              <a:gsLst>
                <a:gs pos="0">
                  <a:srgbClr val="8CAE47"/>
                </a:gs>
                <a:gs pos="23000">
                  <a:srgbClr val="8CAE47"/>
                </a:gs>
                <a:gs pos="69000">
                  <a:srgbClr val="76923C"/>
                </a:gs>
                <a:gs pos="97000">
                  <a:srgbClr val="6E8938"/>
                </a:gs>
                <a:gs pos="100000">
                  <a:srgbClr val="6E8938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16"/>
          <p:cNvSpPr/>
          <p:nvPr/>
        </p:nvSpPr>
        <p:spPr>
          <a:xfrm>
            <a:off x="2568576" y="3962400"/>
            <a:ext cx="7192963" cy="2438400"/>
          </a:xfrm>
          <a:custGeom>
            <a:avLst/>
            <a:gdLst/>
            <a:ahLst/>
            <a:cxnLst/>
            <a:rect l="l" t="t" r="r" b="b"/>
            <a:pathLst>
              <a:path w="9590205" h="2438400" extrusionOk="0">
                <a:moveTo>
                  <a:pt x="0" y="0"/>
                </a:moveTo>
                <a:lnTo>
                  <a:pt x="1722746" y="0"/>
                </a:lnTo>
                <a:lnTo>
                  <a:pt x="1728376" y="55846"/>
                </a:lnTo>
                <a:cubicBezTo>
                  <a:pt x="1788061" y="347520"/>
                  <a:pt x="2046133" y="566928"/>
                  <a:pt x="2355450" y="566928"/>
                </a:cubicBezTo>
                <a:cubicBezTo>
                  <a:pt x="2664767" y="566928"/>
                  <a:pt x="2922838" y="347520"/>
                  <a:pt x="2982523" y="55846"/>
                </a:cubicBezTo>
                <a:lnTo>
                  <a:pt x="2988153" y="0"/>
                </a:lnTo>
                <a:lnTo>
                  <a:pt x="4166358" y="0"/>
                </a:lnTo>
                <a:lnTo>
                  <a:pt x="4171987" y="55846"/>
                </a:lnTo>
                <a:cubicBezTo>
                  <a:pt x="4231672" y="347520"/>
                  <a:pt x="4489745" y="566928"/>
                  <a:pt x="4799061" y="566928"/>
                </a:cubicBezTo>
                <a:cubicBezTo>
                  <a:pt x="5108378" y="566928"/>
                  <a:pt x="5366450" y="347520"/>
                  <a:pt x="5426135" y="55846"/>
                </a:cubicBezTo>
                <a:lnTo>
                  <a:pt x="5431765" y="0"/>
                </a:lnTo>
                <a:lnTo>
                  <a:pt x="6586138" y="0"/>
                </a:lnTo>
                <a:lnTo>
                  <a:pt x="6591767" y="55846"/>
                </a:lnTo>
                <a:cubicBezTo>
                  <a:pt x="6651452" y="347520"/>
                  <a:pt x="6909524" y="566928"/>
                  <a:pt x="7218841" y="566928"/>
                </a:cubicBezTo>
                <a:cubicBezTo>
                  <a:pt x="7528158" y="566928"/>
                  <a:pt x="7786230" y="347520"/>
                  <a:pt x="7845915" y="55846"/>
                </a:cubicBezTo>
                <a:lnTo>
                  <a:pt x="7851545" y="0"/>
                </a:lnTo>
                <a:lnTo>
                  <a:pt x="9590205" y="0"/>
                </a:lnTo>
                <a:lnTo>
                  <a:pt x="9590205" y="2438400"/>
                </a:lnTo>
                <a:lnTo>
                  <a:pt x="0" y="24384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 w="9525" cap="flat" cmpd="sng">
            <a:solidFill>
              <a:schemeClr val="lt1">
                <a:alpha val="24705"/>
              </a:schemeClr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8900000" algn="b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2271251" y="445147"/>
            <a:ext cx="7302910" cy="172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400" b="1" dirty="0" err="1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Environnement</a:t>
            </a:r>
            <a:r>
              <a:rPr lang="en-US" sz="4400" b="1" dirty="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et </a:t>
            </a:r>
            <a:r>
              <a:rPr lang="en-US" sz="4400" b="1" dirty="0" err="1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stratégie</a:t>
            </a:r>
            <a:r>
              <a:rPr lang="en-US" sz="4400" b="1" dirty="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de </a:t>
            </a:r>
            <a:r>
              <a:rPr lang="en-US" sz="4400" b="1" dirty="0" err="1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l’Entreprise</a:t>
            </a:r>
            <a:endParaRPr sz="4400" dirty="0">
              <a:solidFill>
                <a:srgbClr val="4C4F54"/>
              </a:solidFill>
              <a:latin typeface="Anton"/>
              <a:ea typeface="Anton"/>
              <a:cs typeface="Anton"/>
              <a:sym typeface="Anton"/>
            </a:endParaRPr>
          </a:p>
          <a:p>
            <a:pPr algn="ctr"/>
            <a:endParaRPr dirty="0">
              <a:solidFill>
                <a:srgbClr val="4C4F54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1992314" y="2143125"/>
            <a:ext cx="8207375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b="1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Classe 3</a:t>
            </a:r>
            <a:r>
              <a:rPr lang="en-US" b="1" baseline="30000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ème</a:t>
            </a:r>
            <a:r>
              <a:rPr lang="en-US" b="1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année</a:t>
            </a:r>
            <a:endParaRPr/>
          </a:p>
          <a:p>
            <a:pPr algn="ctr"/>
            <a:r>
              <a:rPr lang="en-US" b="1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Responsables du module:</a:t>
            </a:r>
            <a:endParaRPr/>
          </a:p>
          <a:p>
            <a:pPr algn="ctr"/>
            <a:r>
              <a:rPr lang="en-US" b="1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Dhouha Melliti Ben Khedher</a:t>
            </a:r>
            <a:r>
              <a:rPr lang="en-US" b="1">
                <a:solidFill>
                  <a:srgbClr val="00B0F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1600" b="1">
                <a:solidFill>
                  <a:srgbClr val="00B0F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dhouha.melliti@esprit.tn</a:t>
            </a:r>
            <a:r>
              <a:rPr lang="en-US" b="1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</a:t>
            </a:r>
            <a:endParaRPr/>
          </a:p>
          <a:p>
            <a:pPr algn="ctr"/>
            <a:r>
              <a:rPr lang="en-US" b="1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Insaf Riahi Tekaya </a:t>
            </a:r>
            <a:r>
              <a:rPr lang="en-US" sz="1600" b="1">
                <a:solidFill>
                  <a:srgbClr val="00B0F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insaf.tekaya@esprit.tn</a:t>
            </a:r>
            <a:r>
              <a:rPr lang="en-US" b="1">
                <a:solidFill>
                  <a:srgbClr val="59595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</a:t>
            </a:r>
            <a:endParaRPr b="1">
              <a:solidFill>
                <a:srgbClr val="595959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116" name="Google Shape;11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85460" y="0"/>
            <a:ext cx="3682540" cy="214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001" y="0"/>
            <a:ext cx="1893155" cy="714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24001" y="4711968"/>
            <a:ext cx="5396825" cy="214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710369"/>
            <a:ext cx="5394959" cy="21476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1219200" y="2147634"/>
            <a:ext cx="9354311" cy="1902444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975"/>
              </a:spcBef>
              <a:buNone/>
            </a:pPr>
            <a:r>
              <a:rPr sz="3600" b="1" spc="-215" dirty="0">
                <a:solidFill>
                  <a:srgbClr val="C00000"/>
                </a:solidFill>
                <a:latin typeface="Times New Roman"/>
                <a:cs typeface="Times New Roman"/>
              </a:rPr>
              <a:t>Chapitre II.</a:t>
            </a:r>
            <a:r>
              <a:rPr lang="fr-FR" sz="3600" b="1" spc="-215" dirty="0">
                <a:solidFill>
                  <a:srgbClr val="C00000"/>
                </a:solidFill>
                <a:latin typeface="Times New Roman"/>
                <a:cs typeface="Times New Roman"/>
              </a:rPr>
              <a:t> Stratégie de l’entreprise </a:t>
            </a:r>
            <a:endParaRPr sz="3600" b="1" spc="-215" dirty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marL="442595" marR="657860" indent="0" algn="ctr">
              <a:lnSpc>
                <a:spcPct val="100000"/>
              </a:lnSpc>
              <a:spcBef>
                <a:spcPts val="875"/>
              </a:spcBef>
              <a:buNone/>
            </a:pPr>
            <a:r>
              <a:rPr sz="3600" b="1" spc="-215" dirty="0">
                <a:solidFill>
                  <a:srgbClr val="C00000"/>
                </a:solidFill>
                <a:latin typeface="Times New Roman"/>
                <a:cs typeface="Times New Roman"/>
              </a:rPr>
              <a:t>Section </a:t>
            </a:r>
            <a:r>
              <a:rPr lang="fr-FR" sz="3600" b="1" spc="-215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r>
              <a:rPr sz="3600" b="1" spc="-215" dirty="0">
                <a:solidFill>
                  <a:srgbClr val="C00000"/>
                </a:solidFill>
                <a:latin typeface="Times New Roman"/>
                <a:cs typeface="Times New Roman"/>
              </a:rPr>
              <a:t>. </a:t>
            </a:r>
            <a:r>
              <a:rPr lang="fr-FR" sz="3600" b="1" spc="-215" dirty="0">
                <a:solidFill>
                  <a:srgbClr val="C00000"/>
                </a:solidFill>
                <a:latin typeface="Times New Roman"/>
                <a:cs typeface="Times New Roman"/>
              </a:rPr>
              <a:t>Diagnostic stratégique : Analyse Interne</a:t>
            </a:r>
            <a:endParaRPr sz="3600" b="1" spc="-215" dirty="0">
              <a:solidFill>
                <a:srgbClr val="C00000"/>
              </a:solidFill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03919" y="0"/>
            <a:ext cx="3685031" cy="21493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816462"/>
            <a:ext cx="12189460" cy="2120265"/>
            <a:chOff x="0" y="4737804"/>
            <a:chExt cx="12189460" cy="21202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737804"/>
              <a:ext cx="12188951" cy="212019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85216" y="4838407"/>
              <a:ext cx="6172200" cy="1536700"/>
            </a:xfrm>
            <a:custGeom>
              <a:avLst/>
              <a:gdLst/>
              <a:ahLst/>
              <a:cxnLst/>
              <a:rect l="l" t="t" r="r" b="b"/>
              <a:pathLst>
                <a:path w="6172200" h="1536700">
                  <a:moveTo>
                    <a:pt x="1828787" y="484746"/>
                  </a:moveTo>
                  <a:lnTo>
                    <a:pt x="1408163" y="484746"/>
                  </a:lnTo>
                  <a:lnTo>
                    <a:pt x="1408163" y="0"/>
                  </a:lnTo>
                  <a:lnTo>
                    <a:pt x="109728" y="0"/>
                  </a:lnTo>
                  <a:lnTo>
                    <a:pt x="109728" y="484746"/>
                  </a:lnTo>
                  <a:lnTo>
                    <a:pt x="0" y="484746"/>
                  </a:lnTo>
                  <a:lnTo>
                    <a:pt x="0" y="1189012"/>
                  </a:lnTo>
                  <a:lnTo>
                    <a:pt x="1828787" y="1189012"/>
                  </a:lnTo>
                  <a:lnTo>
                    <a:pt x="1828787" y="484746"/>
                  </a:lnTo>
                  <a:close/>
                </a:path>
                <a:path w="6172200" h="1536700">
                  <a:moveTo>
                    <a:pt x="6172200" y="768273"/>
                  </a:moveTo>
                  <a:lnTo>
                    <a:pt x="4123944" y="768273"/>
                  </a:lnTo>
                  <a:lnTo>
                    <a:pt x="4123944" y="1536560"/>
                  </a:lnTo>
                  <a:lnTo>
                    <a:pt x="6172200" y="1536560"/>
                  </a:lnTo>
                  <a:lnTo>
                    <a:pt x="6172200" y="7682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86983" y="4838446"/>
              <a:ext cx="128015" cy="12801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513831" y="4765167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29">
                  <a:moveTo>
                    <a:pt x="132841" y="0"/>
                  </a:moveTo>
                  <a:lnTo>
                    <a:pt x="90887" y="6767"/>
                  </a:lnTo>
                  <a:lnTo>
                    <a:pt x="54425" y="25611"/>
                  </a:lnTo>
                  <a:lnTo>
                    <a:pt x="25656" y="54342"/>
                  </a:lnTo>
                  <a:lnTo>
                    <a:pt x="6780" y="90773"/>
                  </a:lnTo>
                  <a:lnTo>
                    <a:pt x="0" y="132714"/>
                  </a:lnTo>
                  <a:lnTo>
                    <a:pt x="6780" y="174594"/>
                  </a:lnTo>
                  <a:lnTo>
                    <a:pt x="25656" y="210987"/>
                  </a:lnTo>
                  <a:lnTo>
                    <a:pt x="54425" y="239699"/>
                  </a:lnTo>
                  <a:lnTo>
                    <a:pt x="90887" y="258536"/>
                  </a:lnTo>
                  <a:lnTo>
                    <a:pt x="132841" y="265302"/>
                  </a:lnTo>
                  <a:lnTo>
                    <a:pt x="174792" y="258536"/>
                  </a:lnTo>
                  <a:lnTo>
                    <a:pt x="207557" y="241553"/>
                  </a:lnTo>
                  <a:lnTo>
                    <a:pt x="132841" y="241553"/>
                  </a:lnTo>
                  <a:lnTo>
                    <a:pt x="90473" y="232995"/>
                  </a:lnTo>
                  <a:lnTo>
                    <a:pt x="55832" y="209661"/>
                  </a:lnTo>
                  <a:lnTo>
                    <a:pt x="32454" y="175063"/>
                  </a:lnTo>
                  <a:lnTo>
                    <a:pt x="23875" y="132714"/>
                  </a:lnTo>
                  <a:lnTo>
                    <a:pt x="32454" y="90366"/>
                  </a:lnTo>
                  <a:lnTo>
                    <a:pt x="55832" y="55768"/>
                  </a:lnTo>
                  <a:lnTo>
                    <a:pt x="90473" y="32434"/>
                  </a:lnTo>
                  <a:lnTo>
                    <a:pt x="132841" y="23875"/>
                  </a:lnTo>
                  <a:lnTo>
                    <a:pt x="207788" y="23875"/>
                  </a:lnTo>
                  <a:lnTo>
                    <a:pt x="174792" y="6767"/>
                  </a:lnTo>
                  <a:lnTo>
                    <a:pt x="132841" y="0"/>
                  </a:lnTo>
                  <a:close/>
                </a:path>
                <a:path w="265429" h="265429">
                  <a:moveTo>
                    <a:pt x="207788" y="23875"/>
                  </a:moveTo>
                  <a:lnTo>
                    <a:pt x="132841" y="23875"/>
                  </a:lnTo>
                  <a:lnTo>
                    <a:pt x="175283" y="32434"/>
                  </a:lnTo>
                  <a:lnTo>
                    <a:pt x="209962" y="55768"/>
                  </a:lnTo>
                  <a:lnTo>
                    <a:pt x="233354" y="90366"/>
                  </a:lnTo>
                  <a:lnTo>
                    <a:pt x="241934" y="132714"/>
                  </a:lnTo>
                  <a:lnTo>
                    <a:pt x="233354" y="175063"/>
                  </a:lnTo>
                  <a:lnTo>
                    <a:pt x="209962" y="209661"/>
                  </a:lnTo>
                  <a:lnTo>
                    <a:pt x="175283" y="232995"/>
                  </a:lnTo>
                  <a:lnTo>
                    <a:pt x="132841" y="241553"/>
                  </a:lnTo>
                  <a:lnTo>
                    <a:pt x="207557" y="241553"/>
                  </a:lnTo>
                  <a:lnTo>
                    <a:pt x="211134" y="239699"/>
                  </a:lnTo>
                  <a:lnTo>
                    <a:pt x="239735" y="210987"/>
                  </a:lnTo>
                  <a:lnTo>
                    <a:pt x="258460" y="174594"/>
                  </a:lnTo>
                  <a:lnTo>
                    <a:pt x="265175" y="132714"/>
                  </a:lnTo>
                  <a:lnTo>
                    <a:pt x="258460" y="90773"/>
                  </a:lnTo>
                  <a:lnTo>
                    <a:pt x="239735" y="54342"/>
                  </a:lnTo>
                  <a:lnTo>
                    <a:pt x="211134" y="25611"/>
                  </a:lnTo>
                  <a:lnTo>
                    <a:pt x="207788" y="23875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513832" y="1033525"/>
            <a:ext cx="265430" cy="265430"/>
            <a:chOff x="5513832" y="1033525"/>
            <a:chExt cx="265430" cy="26543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77840" y="1106677"/>
              <a:ext cx="128015" cy="12801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513832" y="1033525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30">
                  <a:moveTo>
                    <a:pt x="132841" y="0"/>
                  </a:moveTo>
                  <a:lnTo>
                    <a:pt x="90887" y="6766"/>
                  </a:lnTo>
                  <a:lnTo>
                    <a:pt x="54425" y="25603"/>
                  </a:lnTo>
                  <a:lnTo>
                    <a:pt x="25656" y="54315"/>
                  </a:lnTo>
                  <a:lnTo>
                    <a:pt x="6780" y="90708"/>
                  </a:lnTo>
                  <a:lnTo>
                    <a:pt x="0" y="132587"/>
                  </a:lnTo>
                  <a:lnTo>
                    <a:pt x="6780" y="174529"/>
                  </a:lnTo>
                  <a:lnTo>
                    <a:pt x="25656" y="210960"/>
                  </a:lnTo>
                  <a:lnTo>
                    <a:pt x="54425" y="239691"/>
                  </a:lnTo>
                  <a:lnTo>
                    <a:pt x="90887" y="258535"/>
                  </a:lnTo>
                  <a:lnTo>
                    <a:pt x="132841" y="265302"/>
                  </a:lnTo>
                  <a:lnTo>
                    <a:pt x="174792" y="258535"/>
                  </a:lnTo>
                  <a:lnTo>
                    <a:pt x="207788" y="241426"/>
                  </a:lnTo>
                  <a:lnTo>
                    <a:pt x="132841" y="241426"/>
                  </a:lnTo>
                  <a:lnTo>
                    <a:pt x="90473" y="232868"/>
                  </a:lnTo>
                  <a:lnTo>
                    <a:pt x="55832" y="209534"/>
                  </a:lnTo>
                  <a:lnTo>
                    <a:pt x="32454" y="174936"/>
                  </a:lnTo>
                  <a:lnTo>
                    <a:pt x="23875" y="132587"/>
                  </a:lnTo>
                  <a:lnTo>
                    <a:pt x="32454" y="90239"/>
                  </a:lnTo>
                  <a:lnTo>
                    <a:pt x="55832" y="55641"/>
                  </a:lnTo>
                  <a:lnTo>
                    <a:pt x="90473" y="32307"/>
                  </a:lnTo>
                  <a:lnTo>
                    <a:pt x="132841" y="23749"/>
                  </a:lnTo>
                  <a:lnTo>
                    <a:pt x="207557" y="23749"/>
                  </a:lnTo>
                  <a:lnTo>
                    <a:pt x="174792" y="6766"/>
                  </a:lnTo>
                  <a:lnTo>
                    <a:pt x="132841" y="0"/>
                  </a:lnTo>
                  <a:close/>
                </a:path>
                <a:path w="265429" h="265430">
                  <a:moveTo>
                    <a:pt x="207557" y="23749"/>
                  </a:moveTo>
                  <a:lnTo>
                    <a:pt x="132841" y="23749"/>
                  </a:lnTo>
                  <a:lnTo>
                    <a:pt x="175283" y="32307"/>
                  </a:lnTo>
                  <a:lnTo>
                    <a:pt x="209962" y="55641"/>
                  </a:lnTo>
                  <a:lnTo>
                    <a:pt x="233354" y="90239"/>
                  </a:lnTo>
                  <a:lnTo>
                    <a:pt x="241934" y="132587"/>
                  </a:lnTo>
                  <a:lnTo>
                    <a:pt x="233354" y="174936"/>
                  </a:lnTo>
                  <a:lnTo>
                    <a:pt x="209962" y="209534"/>
                  </a:lnTo>
                  <a:lnTo>
                    <a:pt x="175283" y="232868"/>
                  </a:lnTo>
                  <a:lnTo>
                    <a:pt x="132841" y="241426"/>
                  </a:lnTo>
                  <a:lnTo>
                    <a:pt x="207788" y="241426"/>
                  </a:lnTo>
                  <a:lnTo>
                    <a:pt x="211134" y="239691"/>
                  </a:lnTo>
                  <a:lnTo>
                    <a:pt x="239735" y="210960"/>
                  </a:lnTo>
                  <a:lnTo>
                    <a:pt x="258460" y="174529"/>
                  </a:lnTo>
                  <a:lnTo>
                    <a:pt x="265175" y="132587"/>
                  </a:lnTo>
                  <a:lnTo>
                    <a:pt x="258460" y="90708"/>
                  </a:lnTo>
                  <a:lnTo>
                    <a:pt x="239735" y="54315"/>
                  </a:lnTo>
                  <a:lnTo>
                    <a:pt x="211134" y="25603"/>
                  </a:lnTo>
                  <a:lnTo>
                    <a:pt x="207557" y="23749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5932932" y="1105153"/>
            <a:ext cx="1355090" cy="76200"/>
          </a:xfrm>
          <a:custGeom>
            <a:avLst/>
            <a:gdLst/>
            <a:ahLst/>
            <a:cxnLst/>
            <a:rect l="l" t="t" r="r" b="b"/>
            <a:pathLst>
              <a:path w="1355090" h="76200">
                <a:moveTo>
                  <a:pt x="38100" y="0"/>
                </a:moveTo>
                <a:lnTo>
                  <a:pt x="23252" y="3006"/>
                </a:lnTo>
                <a:lnTo>
                  <a:pt x="11144" y="11191"/>
                </a:lnTo>
                <a:lnTo>
                  <a:pt x="2988" y="23306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282" y="47625"/>
                </a:lnTo>
                <a:lnTo>
                  <a:pt x="38100" y="47625"/>
                </a:lnTo>
                <a:lnTo>
                  <a:pt x="38100" y="28575"/>
                </a:lnTo>
                <a:lnTo>
                  <a:pt x="74275" y="28575"/>
                </a:lnTo>
                <a:lnTo>
                  <a:pt x="73211" y="23306"/>
                </a:lnTo>
                <a:lnTo>
                  <a:pt x="65055" y="11191"/>
                </a:lnTo>
                <a:lnTo>
                  <a:pt x="52947" y="3006"/>
                </a:lnTo>
                <a:lnTo>
                  <a:pt x="38100" y="0"/>
                </a:lnTo>
                <a:close/>
              </a:path>
              <a:path w="1355090" h="76200">
                <a:moveTo>
                  <a:pt x="74275" y="28575"/>
                </a:moveTo>
                <a:lnTo>
                  <a:pt x="38100" y="28575"/>
                </a:lnTo>
                <a:lnTo>
                  <a:pt x="38100" y="47625"/>
                </a:lnTo>
                <a:lnTo>
                  <a:pt x="74282" y="47625"/>
                </a:lnTo>
                <a:lnTo>
                  <a:pt x="76200" y="38100"/>
                </a:lnTo>
                <a:lnTo>
                  <a:pt x="74275" y="28575"/>
                </a:lnTo>
                <a:close/>
              </a:path>
              <a:path w="1355090" h="76200">
                <a:moveTo>
                  <a:pt x="95250" y="28575"/>
                </a:moveTo>
                <a:lnTo>
                  <a:pt x="74275" y="28575"/>
                </a:lnTo>
                <a:lnTo>
                  <a:pt x="76200" y="38100"/>
                </a:lnTo>
                <a:lnTo>
                  <a:pt x="74282" y="47625"/>
                </a:lnTo>
                <a:lnTo>
                  <a:pt x="95250" y="47625"/>
                </a:lnTo>
                <a:lnTo>
                  <a:pt x="95250" y="28575"/>
                </a:lnTo>
                <a:close/>
              </a:path>
              <a:path w="1355090" h="76200">
                <a:moveTo>
                  <a:pt x="171450" y="28575"/>
                </a:moveTo>
                <a:lnTo>
                  <a:pt x="114300" y="28575"/>
                </a:lnTo>
                <a:lnTo>
                  <a:pt x="114300" y="47625"/>
                </a:lnTo>
                <a:lnTo>
                  <a:pt x="171450" y="47625"/>
                </a:lnTo>
                <a:lnTo>
                  <a:pt x="171450" y="28575"/>
                </a:lnTo>
                <a:close/>
              </a:path>
              <a:path w="1355090" h="76200">
                <a:moveTo>
                  <a:pt x="247650" y="28575"/>
                </a:moveTo>
                <a:lnTo>
                  <a:pt x="190500" y="28575"/>
                </a:lnTo>
                <a:lnTo>
                  <a:pt x="190500" y="47625"/>
                </a:lnTo>
                <a:lnTo>
                  <a:pt x="247650" y="47625"/>
                </a:lnTo>
                <a:lnTo>
                  <a:pt x="247650" y="28575"/>
                </a:lnTo>
                <a:close/>
              </a:path>
              <a:path w="1355090" h="76200">
                <a:moveTo>
                  <a:pt x="323722" y="28575"/>
                </a:moveTo>
                <a:lnTo>
                  <a:pt x="266700" y="28575"/>
                </a:lnTo>
                <a:lnTo>
                  <a:pt x="266700" y="47625"/>
                </a:lnTo>
                <a:lnTo>
                  <a:pt x="323722" y="47625"/>
                </a:lnTo>
                <a:lnTo>
                  <a:pt x="323722" y="28575"/>
                </a:lnTo>
                <a:close/>
              </a:path>
              <a:path w="1355090" h="76200">
                <a:moveTo>
                  <a:pt x="399922" y="28575"/>
                </a:moveTo>
                <a:lnTo>
                  <a:pt x="342772" y="28575"/>
                </a:lnTo>
                <a:lnTo>
                  <a:pt x="342772" y="47625"/>
                </a:lnTo>
                <a:lnTo>
                  <a:pt x="399922" y="47625"/>
                </a:lnTo>
                <a:lnTo>
                  <a:pt x="399922" y="28575"/>
                </a:lnTo>
                <a:close/>
              </a:path>
              <a:path w="1355090" h="76200">
                <a:moveTo>
                  <a:pt x="476122" y="28575"/>
                </a:moveTo>
                <a:lnTo>
                  <a:pt x="418972" y="28575"/>
                </a:lnTo>
                <a:lnTo>
                  <a:pt x="418972" y="47625"/>
                </a:lnTo>
                <a:lnTo>
                  <a:pt x="476122" y="47625"/>
                </a:lnTo>
                <a:lnTo>
                  <a:pt x="476122" y="28575"/>
                </a:lnTo>
                <a:close/>
              </a:path>
              <a:path w="1355090" h="76200">
                <a:moveTo>
                  <a:pt x="552322" y="28575"/>
                </a:moveTo>
                <a:lnTo>
                  <a:pt x="495172" y="28575"/>
                </a:lnTo>
                <a:lnTo>
                  <a:pt x="495172" y="47625"/>
                </a:lnTo>
                <a:lnTo>
                  <a:pt x="552322" y="47625"/>
                </a:lnTo>
                <a:lnTo>
                  <a:pt x="552322" y="28575"/>
                </a:lnTo>
                <a:close/>
              </a:path>
              <a:path w="1355090" h="76200">
                <a:moveTo>
                  <a:pt x="628522" y="28575"/>
                </a:moveTo>
                <a:lnTo>
                  <a:pt x="571372" y="28575"/>
                </a:lnTo>
                <a:lnTo>
                  <a:pt x="571372" y="47625"/>
                </a:lnTo>
                <a:lnTo>
                  <a:pt x="628522" y="47625"/>
                </a:lnTo>
                <a:lnTo>
                  <a:pt x="628522" y="28575"/>
                </a:lnTo>
                <a:close/>
              </a:path>
              <a:path w="1355090" h="76200">
                <a:moveTo>
                  <a:pt x="704722" y="28575"/>
                </a:moveTo>
                <a:lnTo>
                  <a:pt x="647572" y="28575"/>
                </a:lnTo>
                <a:lnTo>
                  <a:pt x="647572" y="47625"/>
                </a:lnTo>
                <a:lnTo>
                  <a:pt x="704722" y="47625"/>
                </a:lnTo>
                <a:lnTo>
                  <a:pt x="704722" y="28575"/>
                </a:lnTo>
                <a:close/>
              </a:path>
              <a:path w="1355090" h="76200">
                <a:moveTo>
                  <a:pt x="780922" y="28575"/>
                </a:moveTo>
                <a:lnTo>
                  <a:pt x="723772" y="28575"/>
                </a:lnTo>
                <a:lnTo>
                  <a:pt x="723772" y="47625"/>
                </a:lnTo>
                <a:lnTo>
                  <a:pt x="780922" y="47625"/>
                </a:lnTo>
                <a:lnTo>
                  <a:pt x="780922" y="28575"/>
                </a:lnTo>
                <a:close/>
              </a:path>
              <a:path w="1355090" h="76200">
                <a:moveTo>
                  <a:pt x="856995" y="28575"/>
                </a:moveTo>
                <a:lnTo>
                  <a:pt x="799845" y="28575"/>
                </a:lnTo>
                <a:lnTo>
                  <a:pt x="799845" y="47625"/>
                </a:lnTo>
                <a:lnTo>
                  <a:pt x="856995" y="47625"/>
                </a:lnTo>
                <a:lnTo>
                  <a:pt x="856995" y="28575"/>
                </a:lnTo>
                <a:close/>
              </a:path>
              <a:path w="1355090" h="76200">
                <a:moveTo>
                  <a:pt x="933195" y="28575"/>
                </a:moveTo>
                <a:lnTo>
                  <a:pt x="876045" y="28575"/>
                </a:lnTo>
                <a:lnTo>
                  <a:pt x="876045" y="47625"/>
                </a:lnTo>
                <a:lnTo>
                  <a:pt x="933195" y="47625"/>
                </a:lnTo>
                <a:lnTo>
                  <a:pt x="933195" y="28575"/>
                </a:lnTo>
                <a:close/>
              </a:path>
              <a:path w="1355090" h="76200">
                <a:moveTo>
                  <a:pt x="1009395" y="28575"/>
                </a:moveTo>
                <a:lnTo>
                  <a:pt x="952245" y="28575"/>
                </a:lnTo>
                <a:lnTo>
                  <a:pt x="952245" y="47625"/>
                </a:lnTo>
                <a:lnTo>
                  <a:pt x="1009395" y="47625"/>
                </a:lnTo>
                <a:lnTo>
                  <a:pt x="1009395" y="28575"/>
                </a:lnTo>
                <a:close/>
              </a:path>
              <a:path w="1355090" h="76200">
                <a:moveTo>
                  <a:pt x="1085595" y="28575"/>
                </a:moveTo>
                <a:lnTo>
                  <a:pt x="1028445" y="28575"/>
                </a:lnTo>
                <a:lnTo>
                  <a:pt x="1028445" y="47625"/>
                </a:lnTo>
                <a:lnTo>
                  <a:pt x="1085595" y="47625"/>
                </a:lnTo>
                <a:lnTo>
                  <a:pt x="1085595" y="28575"/>
                </a:lnTo>
                <a:close/>
              </a:path>
              <a:path w="1355090" h="76200">
                <a:moveTo>
                  <a:pt x="1161795" y="28575"/>
                </a:moveTo>
                <a:lnTo>
                  <a:pt x="1104645" y="28575"/>
                </a:lnTo>
                <a:lnTo>
                  <a:pt x="1104645" y="47625"/>
                </a:lnTo>
                <a:lnTo>
                  <a:pt x="1161795" y="47625"/>
                </a:lnTo>
                <a:lnTo>
                  <a:pt x="1161795" y="28575"/>
                </a:lnTo>
                <a:close/>
              </a:path>
              <a:path w="1355090" h="76200">
                <a:moveTo>
                  <a:pt x="1237995" y="28575"/>
                </a:moveTo>
                <a:lnTo>
                  <a:pt x="1180845" y="28575"/>
                </a:lnTo>
                <a:lnTo>
                  <a:pt x="1180845" y="47625"/>
                </a:lnTo>
                <a:lnTo>
                  <a:pt x="1237995" y="47625"/>
                </a:lnTo>
                <a:lnTo>
                  <a:pt x="1237995" y="28575"/>
                </a:lnTo>
                <a:close/>
              </a:path>
              <a:path w="1355090" h="76200">
                <a:moveTo>
                  <a:pt x="1316482" y="0"/>
                </a:moveTo>
                <a:lnTo>
                  <a:pt x="1301688" y="3006"/>
                </a:lnTo>
                <a:lnTo>
                  <a:pt x="1289573" y="11191"/>
                </a:lnTo>
                <a:lnTo>
                  <a:pt x="1281388" y="23306"/>
                </a:lnTo>
                <a:lnTo>
                  <a:pt x="1278382" y="38100"/>
                </a:lnTo>
                <a:lnTo>
                  <a:pt x="1281388" y="52947"/>
                </a:lnTo>
                <a:lnTo>
                  <a:pt x="1289573" y="65055"/>
                </a:lnTo>
                <a:lnTo>
                  <a:pt x="1301688" y="73211"/>
                </a:lnTo>
                <a:lnTo>
                  <a:pt x="1316482" y="76200"/>
                </a:lnTo>
                <a:lnTo>
                  <a:pt x="1331329" y="73211"/>
                </a:lnTo>
                <a:lnTo>
                  <a:pt x="1343437" y="65055"/>
                </a:lnTo>
                <a:lnTo>
                  <a:pt x="1351593" y="52947"/>
                </a:lnTo>
                <a:lnTo>
                  <a:pt x="1352664" y="47625"/>
                </a:lnTo>
                <a:lnTo>
                  <a:pt x="1314068" y="47625"/>
                </a:lnTo>
                <a:lnTo>
                  <a:pt x="1314068" y="28575"/>
                </a:lnTo>
                <a:lnTo>
                  <a:pt x="1352657" y="28575"/>
                </a:lnTo>
                <a:lnTo>
                  <a:pt x="1351593" y="23306"/>
                </a:lnTo>
                <a:lnTo>
                  <a:pt x="1343437" y="11191"/>
                </a:lnTo>
                <a:lnTo>
                  <a:pt x="1331329" y="3006"/>
                </a:lnTo>
                <a:lnTo>
                  <a:pt x="1316482" y="0"/>
                </a:lnTo>
                <a:close/>
              </a:path>
              <a:path w="1355090" h="76200">
                <a:moveTo>
                  <a:pt x="1280317" y="28575"/>
                </a:moveTo>
                <a:lnTo>
                  <a:pt x="1257045" y="28575"/>
                </a:lnTo>
                <a:lnTo>
                  <a:pt x="1257045" y="47625"/>
                </a:lnTo>
                <a:lnTo>
                  <a:pt x="1280310" y="47625"/>
                </a:lnTo>
                <a:lnTo>
                  <a:pt x="1278382" y="38100"/>
                </a:lnTo>
                <a:lnTo>
                  <a:pt x="1280317" y="28575"/>
                </a:lnTo>
                <a:close/>
              </a:path>
              <a:path w="1355090" h="76200">
                <a:moveTo>
                  <a:pt x="1352657" y="28575"/>
                </a:moveTo>
                <a:lnTo>
                  <a:pt x="1314068" y="28575"/>
                </a:lnTo>
                <a:lnTo>
                  <a:pt x="1314068" y="47625"/>
                </a:lnTo>
                <a:lnTo>
                  <a:pt x="1352664" y="47625"/>
                </a:lnTo>
                <a:lnTo>
                  <a:pt x="1354582" y="38100"/>
                </a:lnTo>
                <a:lnTo>
                  <a:pt x="1352657" y="28575"/>
                </a:lnTo>
                <a:close/>
              </a:path>
            </a:pathLst>
          </a:custGeom>
          <a:solidFill>
            <a:srgbClr val="8496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850635" y="2861310"/>
            <a:ext cx="1355090" cy="76200"/>
          </a:xfrm>
          <a:custGeom>
            <a:avLst/>
            <a:gdLst/>
            <a:ahLst/>
            <a:cxnLst/>
            <a:rect l="l" t="t" r="r" b="b"/>
            <a:pathLst>
              <a:path w="135509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893"/>
                </a:lnTo>
                <a:lnTo>
                  <a:pt x="11144" y="65008"/>
                </a:lnTo>
                <a:lnTo>
                  <a:pt x="23252" y="73193"/>
                </a:lnTo>
                <a:lnTo>
                  <a:pt x="38100" y="76200"/>
                </a:lnTo>
                <a:lnTo>
                  <a:pt x="52947" y="73193"/>
                </a:lnTo>
                <a:lnTo>
                  <a:pt x="65055" y="65008"/>
                </a:lnTo>
                <a:lnTo>
                  <a:pt x="73211" y="52893"/>
                </a:lnTo>
                <a:lnTo>
                  <a:pt x="74275" y="47625"/>
                </a:lnTo>
                <a:lnTo>
                  <a:pt x="38100" y="47625"/>
                </a:lnTo>
                <a:lnTo>
                  <a:pt x="38100" y="28575"/>
                </a:lnTo>
                <a:lnTo>
                  <a:pt x="74282" y="28575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1355090" h="76200">
                <a:moveTo>
                  <a:pt x="74282" y="28575"/>
                </a:moveTo>
                <a:lnTo>
                  <a:pt x="38100" y="28575"/>
                </a:lnTo>
                <a:lnTo>
                  <a:pt x="38100" y="47625"/>
                </a:lnTo>
                <a:lnTo>
                  <a:pt x="74275" y="47625"/>
                </a:lnTo>
                <a:lnTo>
                  <a:pt x="76200" y="38100"/>
                </a:lnTo>
                <a:lnTo>
                  <a:pt x="74282" y="28575"/>
                </a:lnTo>
                <a:close/>
              </a:path>
              <a:path w="1355090" h="76200">
                <a:moveTo>
                  <a:pt x="95250" y="28575"/>
                </a:moveTo>
                <a:lnTo>
                  <a:pt x="74282" y="28575"/>
                </a:lnTo>
                <a:lnTo>
                  <a:pt x="76200" y="38100"/>
                </a:lnTo>
                <a:lnTo>
                  <a:pt x="74275" y="47625"/>
                </a:lnTo>
                <a:lnTo>
                  <a:pt x="95250" y="47625"/>
                </a:lnTo>
                <a:lnTo>
                  <a:pt x="95250" y="28575"/>
                </a:lnTo>
                <a:close/>
              </a:path>
              <a:path w="1355090" h="76200">
                <a:moveTo>
                  <a:pt x="171450" y="28575"/>
                </a:moveTo>
                <a:lnTo>
                  <a:pt x="114300" y="28575"/>
                </a:lnTo>
                <a:lnTo>
                  <a:pt x="114300" y="47625"/>
                </a:lnTo>
                <a:lnTo>
                  <a:pt x="171450" y="47625"/>
                </a:lnTo>
                <a:lnTo>
                  <a:pt x="171450" y="28575"/>
                </a:lnTo>
                <a:close/>
              </a:path>
              <a:path w="1355090" h="76200">
                <a:moveTo>
                  <a:pt x="247650" y="28575"/>
                </a:moveTo>
                <a:lnTo>
                  <a:pt x="190500" y="28575"/>
                </a:lnTo>
                <a:lnTo>
                  <a:pt x="190500" y="47625"/>
                </a:lnTo>
                <a:lnTo>
                  <a:pt x="247650" y="47625"/>
                </a:lnTo>
                <a:lnTo>
                  <a:pt x="247650" y="28575"/>
                </a:lnTo>
                <a:close/>
              </a:path>
              <a:path w="1355090" h="76200">
                <a:moveTo>
                  <a:pt x="323723" y="28575"/>
                </a:moveTo>
                <a:lnTo>
                  <a:pt x="266700" y="28575"/>
                </a:lnTo>
                <a:lnTo>
                  <a:pt x="266700" y="47625"/>
                </a:lnTo>
                <a:lnTo>
                  <a:pt x="323723" y="47625"/>
                </a:lnTo>
                <a:lnTo>
                  <a:pt x="323723" y="28575"/>
                </a:lnTo>
                <a:close/>
              </a:path>
              <a:path w="1355090" h="76200">
                <a:moveTo>
                  <a:pt x="399923" y="28575"/>
                </a:moveTo>
                <a:lnTo>
                  <a:pt x="342773" y="28575"/>
                </a:lnTo>
                <a:lnTo>
                  <a:pt x="342773" y="47625"/>
                </a:lnTo>
                <a:lnTo>
                  <a:pt x="399923" y="47625"/>
                </a:lnTo>
                <a:lnTo>
                  <a:pt x="399923" y="28575"/>
                </a:lnTo>
                <a:close/>
              </a:path>
              <a:path w="1355090" h="76200">
                <a:moveTo>
                  <a:pt x="476123" y="28575"/>
                </a:moveTo>
                <a:lnTo>
                  <a:pt x="418973" y="28575"/>
                </a:lnTo>
                <a:lnTo>
                  <a:pt x="418973" y="47625"/>
                </a:lnTo>
                <a:lnTo>
                  <a:pt x="476123" y="47625"/>
                </a:lnTo>
                <a:lnTo>
                  <a:pt x="476123" y="28575"/>
                </a:lnTo>
                <a:close/>
              </a:path>
              <a:path w="1355090" h="76200">
                <a:moveTo>
                  <a:pt x="552323" y="28575"/>
                </a:moveTo>
                <a:lnTo>
                  <a:pt x="495173" y="28575"/>
                </a:lnTo>
                <a:lnTo>
                  <a:pt x="495173" y="47625"/>
                </a:lnTo>
                <a:lnTo>
                  <a:pt x="552323" y="47625"/>
                </a:lnTo>
                <a:lnTo>
                  <a:pt x="552323" y="28575"/>
                </a:lnTo>
                <a:close/>
              </a:path>
              <a:path w="1355090" h="76200">
                <a:moveTo>
                  <a:pt x="628523" y="28575"/>
                </a:moveTo>
                <a:lnTo>
                  <a:pt x="571373" y="28575"/>
                </a:lnTo>
                <a:lnTo>
                  <a:pt x="571373" y="47625"/>
                </a:lnTo>
                <a:lnTo>
                  <a:pt x="628523" y="47625"/>
                </a:lnTo>
                <a:lnTo>
                  <a:pt x="628523" y="28575"/>
                </a:lnTo>
                <a:close/>
              </a:path>
              <a:path w="1355090" h="76200">
                <a:moveTo>
                  <a:pt x="704722" y="28575"/>
                </a:moveTo>
                <a:lnTo>
                  <a:pt x="647573" y="28575"/>
                </a:lnTo>
                <a:lnTo>
                  <a:pt x="647573" y="47625"/>
                </a:lnTo>
                <a:lnTo>
                  <a:pt x="704722" y="47625"/>
                </a:lnTo>
                <a:lnTo>
                  <a:pt x="704722" y="28575"/>
                </a:lnTo>
                <a:close/>
              </a:path>
              <a:path w="1355090" h="76200">
                <a:moveTo>
                  <a:pt x="780922" y="28575"/>
                </a:moveTo>
                <a:lnTo>
                  <a:pt x="723772" y="28575"/>
                </a:lnTo>
                <a:lnTo>
                  <a:pt x="723772" y="47625"/>
                </a:lnTo>
                <a:lnTo>
                  <a:pt x="780922" y="47625"/>
                </a:lnTo>
                <a:lnTo>
                  <a:pt x="780922" y="28575"/>
                </a:lnTo>
                <a:close/>
              </a:path>
              <a:path w="1355090" h="76200">
                <a:moveTo>
                  <a:pt x="856995" y="28575"/>
                </a:moveTo>
                <a:lnTo>
                  <a:pt x="799845" y="28575"/>
                </a:lnTo>
                <a:lnTo>
                  <a:pt x="799845" y="47625"/>
                </a:lnTo>
                <a:lnTo>
                  <a:pt x="856995" y="47625"/>
                </a:lnTo>
                <a:lnTo>
                  <a:pt x="856995" y="28575"/>
                </a:lnTo>
                <a:close/>
              </a:path>
              <a:path w="1355090" h="76200">
                <a:moveTo>
                  <a:pt x="933195" y="28575"/>
                </a:moveTo>
                <a:lnTo>
                  <a:pt x="876045" y="28575"/>
                </a:lnTo>
                <a:lnTo>
                  <a:pt x="876045" y="47625"/>
                </a:lnTo>
                <a:lnTo>
                  <a:pt x="933195" y="47625"/>
                </a:lnTo>
                <a:lnTo>
                  <a:pt x="933195" y="28575"/>
                </a:lnTo>
                <a:close/>
              </a:path>
              <a:path w="1355090" h="76200">
                <a:moveTo>
                  <a:pt x="1009395" y="28575"/>
                </a:moveTo>
                <a:lnTo>
                  <a:pt x="952245" y="28575"/>
                </a:lnTo>
                <a:lnTo>
                  <a:pt x="952245" y="47625"/>
                </a:lnTo>
                <a:lnTo>
                  <a:pt x="1009395" y="47625"/>
                </a:lnTo>
                <a:lnTo>
                  <a:pt x="1009395" y="28575"/>
                </a:lnTo>
                <a:close/>
              </a:path>
              <a:path w="1355090" h="76200">
                <a:moveTo>
                  <a:pt x="1085595" y="28575"/>
                </a:moveTo>
                <a:lnTo>
                  <a:pt x="1028445" y="28575"/>
                </a:lnTo>
                <a:lnTo>
                  <a:pt x="1028445" y="47625"/>
                </a:lnTo>
                <a:lnTo>
                  <a:pt x="1085595" y="47625"/>
                </a:lnTo>
                <a:lnTo>
                  <a:pt x="1085595" y="28575"/>
                </a:lnTo>
                <a:close/>
              </a:path>
              <a:path w="1355090" h="76200">
                <a:moveTo>
                  <a:pt x="1161795" y="28575"/>
                </a:moveTo>
                <a:lnTo>
                  <a:pt x="1104645" y="28575"/>
                </a:lnTo>
                <a:lnTo>
                  <a:pt x="1104645" y="47625"/>
                </a:lnTo>
                <a:lnTo>
                  <a:pt x="1161795" y="47625"/>
                </a:lnTo>
                <a:lnTo>
                  <a:pt x="1161795" y="28575"/>
                </a:lnTo>
                <a:close/>
              </a:path>
              <a:path w="1355090" h="76200">
                <a:moveTo>
                  <a:pt x="1237995" y="28575"/>
                </a:moveTo>
                <a:lnTo>
                  <a:pt x="1180845" y="28575"/>
                </a:lnTo>
                <a:lnTo>
                  <a:pt x="1180845" y="47625"/>
                </a:lnTo>
                <a:lnTo>
                  <a:pt x="1237995" y="47625"/>
                </a:lnTo>
                <a:lnTo>
                  <a:pt x="1237995" y="28575"/>
                </a:lnTo>
                <a:close/>
              </a:path>
              <a:path w="1355090" h="76200">
                <a:moveTo>
                  <a:pt x="1316482" y="0"/>
                </a:moveTo>
                <a:lnTo>
                  <a:pt x="1301688" y="2988"/>
                </a:lnTo>
                <a:lnTo>
                  <a:pt x="1289573" y="11144"/>
                </a:lnTo>
                <a:lnTo>
                  <a:pt x="1281388" y="23252"/>
                </a:lnTo>
                <a:lnTo>
                  <a:pt x="1278382" y="38100"/>
                </a:lnTo>
                <a:lnTo>
                  <a:pt x="1281388" y="52893"/>
                </a:lnTo>
                <a:lnTo>
                  <a:pt x="1289573" y="65008"/>
                </a:lnTo>
                <a:lnTo>
                  <a:pt x="1301688" y="73193"/>
                </a:lnTo>
                <a:lnTo>
                  <a:pt x="1316482" y="76200"/>
                </a:lnTo>
                <a:lnTo>
                  <a:pt x="1331329" y="73193"/>
                </a:lnTo>
                <a:lnTo>
                  <a:pt x="1343437" y="65008"/>
                </a:lnTo>
                <a:lnTo>
                  <a:pt x="1351593" y="52893"/>
                </a:lnTo>
                <a:lnTo>
                  <a:pt x="1352657" y="47625"/>
                </a:lnTo>
                <a:lnTo>
                  <a:pt x="1314068" y="47625"/>
                </a:lnTo>
                <a:lnTo>
                  <a:pt x="1314068" y="28575"/>
                </a:lnTo>
                <a:lnTo>
                  <a:pt x="1352664" y="28575"/>
                </a:lnTo>
                <a:lnTo>
                  <a:pt x="1351593" y="23252"/>
                </a:lnTo>
                <a:lnTo>
                  <a:pt x="1343437" y="11144"/>
                </a:lnTo>
                <a:lnTo>
                  <a:pt x="1331329" y="2988"/>
                </a:lnTo>
                <a:lnTo>
                  <a:pt x="1316482" y="0"/>
                </a:lnTo>
                <a:close/>
              </a:path>
              <a:path w="1355090" h="76200">
                <a:moveTo>
                  <a:pt x="1280310" y="28575"/>
                </a:moveTo>
                <a:lnTo>
                  <a:pt x="1257045" y="28575"/>
                </a:lnTo>
                <a:lnTo>
                  <a:pt x="1257045" y="47625"/>
                </a:lnTo>
                <a:lnTo>
                  <a:pt x="1280317" y="47625"/>
                </a:lnTo>
                <a:lnTo>
                  <a:pt x="1278382" y="38100"/>
                </a:lnTo>
                <a:lnTo>
                  <a:pt x="1280310" y="28575"/>
                </a:lnTo>
                <a:close/>
              </a:path>
              <a:path w="1355090" h="76200">
                <a:moveTo>
                  <a:pt x="1352664" y="28575"/>
                </a:moveTo>
                <a:lnTo>
                  <a:pt x="1314068" y="28575"/>
                </a:lnTo>
                <a:lnTo>
                  <a:pt x="1314068" y="47625"/>
                </a:lnTo>
                <a:lnTo>
                  <a:pt x="1352657" y="47625"/>
                </a:lnTo>
                <a:lnTo>
                  <a:pt x="1354582" y="38100"/>
                </a:lnTo>
                <a:lnTo>
                  <a:pt x="1352664" y="28575"/>
                </a:lnTo>
                <a:close/>
              </a:path>
            </a:pathLst>
          </a:custGeom>
          <a:solidFill>
            <a:srgbClr val="8496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341247" y="1672589"/>
            <a:ext cx="3632835" cy="37452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105"/>
              </a:spcBef>
            </a:pPr>
            <a:r>
              <a:rPr lang="fr-FR" sz="20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lang="fr-FR" sz="2400" b="1" spc="-15" dirty="0">
                <a:solidFill>
                  <a:srgbClr val="006FC0"/>
                </a:solidFill>
                <a:latin typeface="Calibri"/>
                <a:cs typeface="Calibri"/>
              </a:rPr>
              <a:t>Démarche      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91400" y="945197"/>
            <a:ext cx="3096260" cy="3853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fr-FR" sz="2400" b="1" spc="5" dirty="0">
                <a:solidFill>
                  <a:srgbClr val="006FC0"/>
                </a:solidFill>
                <a:latin typeface="Calibri"/>
                <a:cs typeface="Calibri"/>
              </a:rPr>
              <a:t>Analyse Interne   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504688" y="1307858"/>
            <a:ext cx="265430" cy="3448685"/>
            <a:chOff x="5504688" y="1307858"/>
            <a:chExt cx="265430" cy="344868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68696" y="2835402"/>
              <a:ext cx="128015" cy="12801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504688" y="2762123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30">
                  <a:moveTo>
                    <a:pt x="132841" y="0"/>
                  </a:moveTo>
                  <a:lnTo>
                    <a:pt x="90887" y="6767"/>
                  </a:lnTo>
                  <a:lnTo>
                    <a:pt x="54425" y="25611"/>
                  </a:lnTo>
                  <a:lnTo>
                    <a:pt x="25656" y="54342"/>
                  </a:lnTo>
                  <a:lnTo>
                    <a:pt x="6780" y="90773"/>
                  </a:lnTo>
                  <a:lnTo>
                    <a:pt x="0" y="132714"/>
                  </a:lnTo>
                  <a:lnTo>
                    <a:pt x="6780" y="174594"/>
                  </a:lnTo>
                  <a:lnTo>
                    <a:pt x="25656" y="210987"/>
                  </a:lnTo>
                  <a:lnTo>
                    <a:pt x="54425" y="239699"/>
                  </a:lnTo>
                  <a:lnTo>
                    <a:pt x="90887" y="258536"/>
                  </a:lnTo>
                  <a:lnTo>
                    <a:pt x="132841" y="265302"/>
                  </a:lnTo>
                  <a:lnTo>
                    <a:pt x="174792" y="258536"/>
                  </a:lnTo>
                  <a:lnTo>
                    <a:pt x="207557" y="241553"/>
                  </a:lnTo>
                  <a:lnTo>
                    <a:pt x="132841" y="241553"/>
                  </a:lnTo>
                  <a:lnTo>
                    <a:pt x="90473" y="232995"/>
                  </a:lnTo>
                  <a:lnTo>
                    <a:pt x="55832" y="209661"/>
                  </a:lnTo>
                  <a:lnTo>
                    <a:pt x="32454" y="175063"/>
                  </a:lnTo>
                  <a:lnTo>
                    <a:pt x="23875" y="132714"/>
                  </a:lnTo>
                  <a:lnTo>
                    <a:pt x="32454" y="90366"/>
                  </a:lnTo>
                  <a:lnTo>
                    <a:pt x="55832" y="55768"/>
                  </a:lnTo>
                  <a:lnTo>
                    <a:pt x="90473" y="32434"/>
                  </a:lnTo>
                  <a:lnTo>
                    <a:pt x="132841" y="23875"/>
                  </a:lnTo>
                  <a:lnTo>
                    <a:pt x="207788" y="23875"/>
                  </a:lnTo>
                  <a:lnTo>
                    <a:pt x="174792" y="6767"/>
                  </a:lnTo>
                  <a:lnTo>
                    <a:pt x="132841" y="0"/>
                  </a:lnTo>
                  <a:close/>
                </a:path>
                <a:path w="265429" h="265430">
                  <a:moveTo>
                    <a:pt x="207788" y="23875"/>
                  </a:moveTo>
                  <a:lnTo>
                    <a:pt x="132841" y="23875"/>
                  </a:lnTo>
                  <a:lnTo>
                    <a:pt x="175283" y="32434"/>
                  </a:lnTo>
                  <a:lnTo>
                    <a:pt x="209962" y="55768"/>
                  </a:lnTo>
                  <a:lnTo>
                    <a:pt x="233354" y="90366"/>
                  </a:lnTo>
                  <a:lnTo>
                    <a:pt x="241935" y="132714"/>
                  </a:lnTo>
                  <a:lnTo>
                    <a:pt x="233354" y="175063"/>
                  </a:lnTo>
                  <a:lnTo>
                    <a:pt x="209962" y="209661"/>
                  </a:lnTo>
                  <a:lnTo>
                    <a:pt x="175283" y="232995"/>
                  </a:lnTo>
                  <a:lnTo>
                    <a:pt x="132841" y="241553"/>
                  </a:lnTo>
                  <a:lnTo>
                    <a:pt x="207557" y="241553"/>
                  </a:lnTo>
                  <a:lnTo>
                    <a:pt x="211134" y="239699"/>
                  </a:lnTo>
                  <a:lnTo>
                    <a:pt x="239735" y="210987"/>
                  </a:lnTo>
                  <a:lnTo>
                    <a:pt x="258460" y="174594"/>
                  </a:lnTo>
                  <a:lnTo>
                    <a:pt x="265175" y="132714"/>
                  </a:lnTo>
                  <a:lnTo>
                    <a:pt x="258460" y="90773"/>
                  </a:lnTo>
                  <a:lnTo>
                    <a:pt x="239735" y="54342"/>
                  </a:lnTo>
                  <a:lnTo>
                    <a:pt x="211134" y="25611"/>
                  </a:lnTo>
                  <a:lnTo>
                    <a:pt x="207788" y="23875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23560" y="1307858"/>
              <a:ext cx="27940" cy="448309"/>
            </a:xfrm>
            <a:custGeom>
              <a:avLst/>
              <a:gdLst/>
              <a:ahLst/>
              <a:cxnLst/>
              <a:rect l="l" t="t" r="r" b="b"/>
              <a:pathLst>
                <a:path w="27939" h="448310">
                  <a:moveTo>
                    <a:pt x="27432" y="0"/>
                  </a:moveTo>
                  <a:lnTo>
                    <a:pt x="0" y="0"/>
                  </a:lnTo>
                  <a:lnTo>
                    <a:pt x="0" y="448170"/>
                  </a:lnTo>
                  <a:lnTo>
                    <a:pt x="27432" y="448170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77840" y="1820164"/>
              <a:ext cx="128015" cy="12801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504688" y="1756029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30">
                  <a:moveTo>
                    <a:pt x="132841" y="0"/>
                  </a:moveTo>
                  <a:lnTo>
                    <a:pt x="90887" y="6767"/>
                  </a:lnTo>
                  <a:lnTo>
                    <a:pt x="54425" y="25611"/>
                  </a:lnTo>
                  <a:lnTo>
                    <a:pt x="25656" y="54342"/>
                  </a:lnTo>
                  <a:lnTo>
                    <a:pt x="6780" y="90773"/>
                  </a:lnTo>
                  <a:lnTo>
                    <a:pt x="0" y="132715"/>
                  </a:lnTo>
                  <a:lnTo>
                    <a:pt x="6780" y="174594"/>
                  </a:lnTo>
                  <a:lnTo>
                    <a:pt x="25656" y="210987"/>
                  </a:lnTo>
                  <a:lnTo>
                    <a:pt x="54425" y="239699"/>
                  </a:lnTo>
                  <a:lnTo>
                    <a:pt x="90887" y="258536"/>
                  </a:lnTo>
                  <a:lnTo>
                    <a:pt x="132841" y="265303"/>
                  </a:lnTo>
                  <a:lnTo>
                    <a:pt x="174792" y="258536"/>
                  </a:lnTo>
                  <a:lnTo>
                    <a:pt x="207557" y="241554"/>
                  </a:lnTo>
                  <a:lnTo>
                    <a:pt x="132841" y="241554"/>
                  </a:lnTo>
                  <a:lnTo>
                    <a:pt x="90473" y="232995"/>
                  </a:lnTo>
                  <a:lnTo>
                    <a:pt x="55832" y="209661"/>
                  </a:lnTo>
                  <a:lnTo>
                    <a:pt x="32454" y="175063"/>
                  </a:lnTo>
                  <a:lnTo>
                    <a:pt x="23875" y="132715"/>
                  </a:lnTo>
                  <a:lnTo>
                    <a:pt x="32454" y="90366"/>
                  </a:lnTo>
                  <a:lnTo>
                    <a:pt x="55832" y="55768"/>
                  </a:lnTo>
                  <a:lnTo>
                    <a:pt x="90473" y="32434"/>
                  </a:lnTo>
                  <a:lnTo>
                    <a:pt x="132841" y="23875"/>
                  </a:lnTo>
                  <a:lnTo>
                    <a:pt x="207788" y="23875"/>
                  </a:lnTo>
                  <a:lnTo>
                    <a:pt x="174792" y="6767"/>
                  </a:lnTo>
                  <a:lnTo>
                    <a:pt x="132841" y="0"/>
                  </a:lnTo>
                  <a:close/>
                </a:path>
                <a:path w="265429" h="265430">
                  <a:moveTo>
                    <a:pt x="207788" y="23875"/>
                  </a:moveTo>
                  <a:lnTo>
                    <a:pt x="132841" y="23875"/>
                  </a:lnTo>
                  <a:lnTo>
                    <a:pt x="175283" y="32434"/>
                  </a:lnTo>
                  <a:lnTo>
                    <a:pt x="209962" y="55768"/>
                  </a:lnTo>
                  <a:lnTo>
                    <a:pt x="233354" y="90366"/>
                  </a:lnTo>
                  <a:lnTo>
                    <a:pt x="241935" y="132715"/>
                  </a:lnTo>
                  <a:lnTo>
                    <a:pt x="233354" y="175063"/>
                  </a:lnTo>
                  <a:lnTo>
                    <a:pt x="209962" y="209661"/>
                  </a:lnTo>
                  <a:lnTo>
                    <a:pt x="175283" y="232995"/>
                  </a:lnTo>
                  <a:lnTo>
                    <a:pt x="132841" y="241554"/>
                  </a:lnTo>
                  <a:lnTo>
                    <a:pt x="207557" y="241554"/>
                  </a:lnTo>
                  <a:lnTo>
                    <a:pt x="211134" y="239699"/>
                  </a:lnTo>
                  <a:lnTo>
                    <a:pt x="239735" y="210987"/>
                  </a:lnTo>
                  <a:lnTo>
                    <a:pt x="258460" y="174594"/>
                  </a:lnTo>
                  <a:lnTo>
                    <a:pt x="265175" y="132715"/>
                  </a:lnTo>
                  <a:lnTo>
                    <a:pt x="258460" y="90773"/>
                  </a:lnTo>
                  <a:lnTo>
                    <a:pt x="239735" y="54342"/>
                  </a:lnTo>
                  <a:lnTo>
                    <a:pt x="211134" y="25611"/>
                  </a:lnTo>
                  <a:lnTo>
                    <a:pt x="207788" y="23875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623560" y="2030425"/>
              <a:ext cx="45720" cy="713740"/>
            </a:xfrm>
            <a:custGeom>
              <a:avLst/>
              <a:gdLst/>
              <a:ahLst/>
              <a:cxnLst/>
              <a:rect l="l" t="t" r="r" b="b"/>
              <a:pathLst>
                <a:path w="45720" h="713739">
                  <a:moveTo>
                    <a:pt x="45720" y="0"/>
                  </a:moveTo>
                  <a:lnTo>
                    <a:pt x="0" y="0"/>
                  </a:lnTo>
                  <a:lnTo>
                    <a:pt x="0" y="713409"/>
                  </a:lnTo>
                  <a:lnTo>
                    <a:pt x="45720" y="713409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68696" y="4097527"/>
              <a:ext cx="137159" cy="12801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504688" y="3036569"/>
              <a:ext cx="265430" cy="1253490"/>
            </a:xfrm>
            <a:custGeom>
              <a:avLst/>
              <a:gdLst/>
              <a:ahLst/>
              <a:cxnLst/>
              <a:rect l="l" t="t" r="r" b="b"/>
              <a:pathLst>
                <a:path w="265429" h="1253489">
                  <a:moveTo>
                    <a:pt x="265176" y="1120394"/>
                  </a:moveTo>
                  <a:lnTo>
                    <a:pt x="258457" y="1078522"/>
                  </a:lnTo>
                  <a:lnTo>
                    <a:pt x="241935" y="1046429"/>
                  </a:lnTo>
                  <a:lnTo>
                    <a:pt x="241935" y="1120394"/>
                  </a:lnTo>
                  <a:lnTo>
                    <a:pt x="233349" y="1162748"/>
                  </a:lnTo>
                  <a:lnTo>
                    <a:pt x="209956" y="1197343"/>
                  </a:lnTo>
                  <a:lnTo>
                    <a:pt x="175272" y="1220685"/>
                  </a:lnTo>
                  <a:lnTo>
                    <a:pt x="132842" y="1229233"/>
                  </a:lnTo>
                  <a:lnTo>
                    <a:pt x="90462" y="1220685"/>
                  </a:lnTo>
                  <a:lnTo>
                    <a:pt x="55829" y="1197343"/>
                  </a:lnTo>
                  <a:lnTo>
                    <a:pt x="32448" y="1162748"/>
                  </a:lnTo>
                  <a:lnTo>
                    <a:pt x="23876" y="1120394"/>
                  </a:lnTo>
                  <a:lnTo>
                    <a:pt x="32448" y="1078052"/>
                  </a:lnTo>
                  <a:lnTo>
                    <a:pt x="55829" y="1043457"/>
                  </a:lnTo>
                  <a:lnTo>
                    <a:pt x="90462" y="1020114"/>
                  </a:lnTo>
                  <a:lnTo>
                    <a:pt x="132842" y="1011555"/>
                  </a:lnTo>
                  <a:lnTo>
                    <a:pt x="175272" y="1020114"/>
                  </a:lnTo>
                  <a:lnTo>
                    <a:pt x="209956" y="1043457"/>
                  </a:lnTo>
                  <a:lnTo>
                    <a:pt x="233349" y="1078052"/>
                  </a:lnTo>
                  <a:lnTo>
                    <a:pt x="241935" y="1120394"/>
                  </a:lnTo>
                  <a:lnTo>
                    <a:pt x="241935" y="1046429"/>
                  </a:lnTo>
                  <a:lnTo>
                    <a:pt x="211124" y="1013421"/>
                  </a:lnTo>
                  <a:lnTo>
                    <a:pt x="174790" y="994575"/>
                  </a:lnTo>
                  <a:lnTo>
                    <a:pt x="155448" y="991463"/>
                  </a:lnTo>
                  <a:lnTo>
                    <a:pt x="155448" y="0"/>
                  </a:lnTo>
                  <a:lnTo>
                    <a:pt x="109728" y="0"/>
                  </a:lnTo>
                  <a:lnTo>
                    <a:pt x="109728" y="991539"/>
                  </a:lnTo>
                  <a:lnTo>
                    <a:pt x="90881" y="994575"/>
                  </a:lnTo>
                  <a:lnTo>
                    <a:pt x="54419" y="1013421"/>
                  </a:lnTo>
                  <a:lnTo>
                    <a:pt x="25654" y="1042123"/>
                  </a:lnTo>
                  <a:lnTo>
                    <a:pt x="6769" y="1078522"/>
                  </a:lnTo>
                  <a:lnTo>
                    <a:pt x="0" y="1120394"/>
                  </a:lnTo>
                  <a:lnTo>
                    <a:pt x="6769" y="1162278"/>
                  </a:lnTo>
                  <a:lnTo>
                    <a:pt x="25654" y="1198676"/>
                  </a:lnTo>
                  <a:lnTo>
                    <a:pt x="54419" y="1227378"/>
                  </a:lnTo>
                  <a:lnTo>
                    <a:pt x="90881" y="1246225"/>
                  </a:lnTo>
                  <a:lnTo>
                    <a:pt x="132842" y="1252982"/>
                  </a:lnTo>
                  <a:lnTo>
                    <a:pt x="174790" y="1246225"/>
                  </a:lnTo>
                  <a:lnTo>
                    <a:pt x="207556" y="1229233"/>
                  </a:lnTo>
                  <a:lnTo>
                    <a:pt x="211124" y="1227378"/>
                  </a:lnTo>
                  <a:lnTo>
                    <a:pt x="239725" y="1198676"/>
                  </a:lnTo>
                  <a:lnTo>
                    <a:pt x="258457" y="1162278"/>
                  </a:lnTo>
                  <a:lnTo>
                    <a:pt x="265176" y="1120394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632704" y="4298708"/>
              <a:ext cx="27940" cy="457834"/>
            </a:xfrm>
            <a:custGeom>
              <a:avLst/>
              <a:gdLst/>
              <a:ahLst/>
              <a:cxnLst/>
              <a:rect l="l" t="t" r="r" b="b"/>
              <a:pathLst>
                <a:path w="27939" h="457835">
                  <a:moveTo>
                    <a:pt x="27430" y="0"/>
                  </a:moveTo>
                  <a:lnTo>
                    <a:pt x="0" y="0"/>
                  </a:lnTo>
                  <a:lnTo>
                    <a:pt x="0" y="457314"/>
                  </a:lnTo>
                  <a:lnTo>
                    <a:pt x="27430" y="457314"/>
                  </a:lnTo>
                  <a:lnTo>
                    <a:pt x="2743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/>
          <p:nvPr/>
        </p:nvSpPr>
        <p:spPr>
          <a:xfrm>
            <a:off x="5932932" y="4864353"/>
            <a:ext cx="1355090" cy="76200"/>
          </a:xfrm>
          <a:custGeom>
            <a:avLst/>
            <a:gdLst/>
            <a:ahLst/>
            <a:cxnLst/>
            <a:rect l="l" t="t" r="r" b="b"/>
            <a:pathLst>
              <a:path w="135509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893"/>
                </a:lnTo>
                <a:lnTo>
                  <a:pt x="11144" y="65008"/>
                </a:lnTo>
                <a:lnTo>
                  <a:pt x="23252" y="73193"/>
                </a:lnTo>
                <a:lnTo>
                  <a:pt x="38100" y="76200"/>
                </a:lnTo>
                <a:lnTo>
                  <a:pt x="52947" y="73193"/>
                </a:lnTo>
                <a:lnTo>
                  <a:pt x="65055" y="65008"/>
                </a:lnTo>
                <a:lnTo>
                  <a:pt x="73211" y="52893"/>
                </a:lnTo>
                <a:lnTo>
                  <a:pt x="74275" y="47625"/>
                </a:lnTo>
                <a:lnTo>
                  <a:pt x="38100" y="47625"/>
                </a:lnTo>
                <a:lnTo>
                  <a:pt x="38100" y="28575"/>
                </a:lnTo>
                <a:lnTo>
                  <a:pt x="74282" y="28575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1355090" h="76200">
                <a:moveTo>
                  <a:pt x="74282" y="28575"/>
                </a:moveTo>
                <a:lnTo>
                  <a:pt x="38100" y="28575"/>
                </a:lnTo>
                <a:lnTo>
                  <a:pt x="38100" y="47625"/>
                </a:lnTo>
                <a:lnTo>
                  <a:pt x="74275" y="47625"/>
                </a:lnTo>
                <a:lnTo>
                  <a:pt x="76200" y="38100"/>
                </a:lnTo>
                <a:lnTo>
                  <a:pt x="74282" y="28575"/>
                </a:lnTo>
                <a:close/>
              </a:path>
              <a:path w="1355090" h="76200">
                <a:moveTo>
                  <a:pt x="95250" y="28575"/>
                </a:moveTo>
                <a:lnTo>
                  <a:pt x="74282" y="28575"/>
                </a:lnTo>
                <a:lnTo>
                  <a:pt x="76200" y="38100"/>
                </a:lnTo>
                <a:lnTo>
                  <a:pt x="74275" y="47625"/>
                </a:lnTo>
                <a:lnTo>
                  <a:pt x="95250" y="47625"/>
                </a:lnTo>
                <a:lnTo>
                  <a:pt x="95250" y="28575"/>
                </a:lnTo>
                <a:close/>
              </a:path>
              <a:path w="1355090" h="76200">
                <a:moveTo>
                  <a:pt x="171450" y="28575"/>
                </a:moveTo>
                <a:lnTo>
                  <a:pt x="114300" y="28575"/>
                </a:lnTo>
                <a:lnTo>
                  <a:pt x="114300" y="47625"/>
                </a:lnTo>
                <a:lnTo>
                  <a:pt x="171450" y="47625"/>
                </a:lnTo>
                <a:lnTo>
                  <a:pt x="171450" y="28575"/>
                </a:lnTo>
                <a:close/>
              </a:path>
              <a:path w="1355090" h="76200">
                <a:moveTo>
                  <a:pt x="247650" y="28575"/>
                </a:moveTo>
                <a:lnTo>
                  <a:pt x="190500" y="28575"/>
                </a:lnTo>
                <a:lnTo>
                  <a:pt x="190500" y="47625"/>
                </a:lnTo>
                <a:lnTo>
                  <a:pt x="247650" y="47625"/>
                </a:lnTo>
                <a:lnTo>
                  <a:pt x="247650" y="28575"/>
                </a:lnTo>
                <a:close/>
              </a:path>
              <a:path w="1355090" h="76200">
                <a:moveTo>
                  <a:pt x="323722" y="28575"/>
                </a:moveTo>
                <a:lnTo>
                  <a:pt x="266700" y="28575"/>
                </a:lnTo>
                <a:lnTo>
                  <a:pt x="266700" y="47625"/>
                </a:lnTo>
                <a:lnTo>
                  <a:pt x="323722" y="47625"/>
                </a:lnTo>
                <a:lnTo>
                  <a:pt x="323722" y="28575"/>
                </a:lnTo>
                <a:close/>
              </a:path>
              <a:path w="1355090" h="76200">
                <a:moveTo>
                  <a:pt x="399922" y="28575"/>
                </a:moveTo>
                <a:lnTo>
                  <a:pt x="342772" y="28575"/>
                </a:lnTo>
                <a:lnTo>
                  <a:pt x="342772" y="47625"/>
                </a:lnTo>
                <a:lnTo>
                  <a:pt x="399922" y="47625"/>
                </a:lnTo>
                <a:lnTo>
                  <a:pt x="399922" y="28575"/>
                </a:lnTo>
                <a:close/>
              </a:path>
              <a:path w="1355090" h="76200">
                <a:moveTo>
                  <a:pt x="476122" y="28575"/>
                </a:moveTo>
                <a:lnTo>
                  <a:pt x="418972" y="28575"/>
                </a:lnTo>
                <a:lnTo>
                  <a:pt x="418972" y="47625"/>
                </a:lnTo>
                <a:lnTo>
                  <a:pt x="476122" y="47625"/>
                </a:lnTo>
                <a:lnTo>
                  <a:pt x="476122" y="28575"/>
                </a:lnTo>
                <a:close/>
              </a:path>
              <a:path w="1355090" h="76200">
                <a:moveTo>
                  <a:pt x="552322" y="28575"/>
                </a:moveTo>
                <a:lnTo>
                  <a:pt x="495172" y="28575"/>
                </a:lnTo>
                <a:lnTo>
                  <a:pt x="495172" y="47625"/>
                </a:lnTo>
                <a:lnTo>
                  <a:pt x="552322" y="47625"/>
                </a:lnTo>
                <a:lnTo>
                  <a:pt x="552322" y="28575"/>
                </a:lnTo>
                <a:close/>
              </a:path>
              <a:path w="1355090" h="76200">
                <a:moveTo>
                  <a:pt x="628522" y="28575"/>
                </a:moveTo>
                <a:lnTo>
                  <a:pt x="571372" y="28575"/>
                </a:lnTo>
                <a:lnTo>
                  <a:pt x="571372" y="47625"/>
                </a:lnTo>
                <a:lnTo>
                  <a:pt x="628522" y="47625"/>
                </a:lnTo>
                <a:lnTo>
                  <a:pt x="628522" y="28575"/>
                </a:lnTo>
                <a:close/>
              </a:path>
              <a:path w="1355090" h="76200">
                <a:moveTo>
                  <a:pt x="704722" y="28575"/>
                </a:moveTo>
                <a:lnTo>
                  <a:pt x="647572" y="28575"/>
                </a:lnTo>
                <a:lnTo>
                  <a:pt x="647572" y="47625"/>
                </a:lnTo>
                <a:lnTo>
                  <a:pt x="704722" y="47625"/>
                </a:lnTo>
                <a:lnTo>
                  <a:pt x="704722" y="28575"/>
                </a:lnTo>
                <a:close/>
              </a:path>
              <a:path w="1355090" h="76200">
                <a:moveTo>
                  <a:pt x="780922" y="28575"/>
                </a:moveTo>
                <a:lnTo>
                  <a:pt x="723772" y="28575"/>
                </a:lnTo>
                <a:lnTo>
                  <a:pt x="723772" y="47625"/>
                </a:lnTo>
                <a:lnTo>
                  <a:pt x="780922" y="47625"/>
                </a:lnTo>
                <a:lnTo>
                  <a:pt x="780922" y="28575"/>
                </a:lnTo>
                <a:close/>
              </a:path>
              <a:path w="1355090" h="76200">
                <a:moveTo>
                  <a:pt x="856995" y="28575"/>
                </a:moveTo>
                <a:lnTo>
                  <a:pt x="799845" y="28575"/>
                </a:lnTo>
                <a:lnTo>
                  <a:pt x="799845" y="47625"/>
                </a:lnTo>
                <a:lnTo>
                  <a:pt x="856995" y="47625"/>
                </a:lnTo>
                <a:lnTo>
                  <a:pt x="856995" y="28575"/>
                </a:lnTo>
                <a:close/>
              </a:path>
              <a:path w="1355090" h="76200">
                <a:moveTo>
                  <a:pt x="933195" y="28575"/>
                </a:moveTo>
                <a:lnTo>
                  <a:pt x="876045" y="28575"/>
                </a:lnTo>
                <a:lnTo>
                  <a:pt x="876045" y="47625"/>
                </a:lnTo>
                <a:lnTo>
                  <a:pt x="933195" y="47625"/>
                </a:lnTo>
                <a:lnTo>
                  <a:pt x="933195" y="28575"/>
                </a:lnTo>
                <a:close/>
              </a:path>
              <a:path w="1355090" h="76200">
                <a:moveTo>
                  <a:pt x="1009395" y="28575"/>
                </a:moveTo>
                <a:lnTo>
                  <a:pt x="952245" y="28575"/>
                </a:lnTo>
                <a:lnTo>
                  <a:pt x="952245" y="47625"/>
                </a:lnTo>
                <a:lnTo>
                  <a:pt x="1009395" y="47625"/>
                </a:lnTo>
                <a:lnTo>
                  <a:pt x="1009395" y="28575"/>
                </a:lnTo>
                <a:close/>
              </a:path>
              <a:path w="1355090" h="76200">
                <a:moveTo>
                  <a:pt x="1085595" y="28575"/>
                </a:moveTo>
                <a:lnTo>
                  <a:pt x="1028445" y="28575"/>
                </a:lnTo>
                <a:lnTo>
                  <a:pt x="1028445" y="47625"/>
                </a:lnTo>
                <a:lnTo>
                  <a:pt x="1085595" y="47625"/>
                </a:lnTo>
                <a:lnTo>
                  <a:pt x="1085595" y="28575"/>
                </a:lnTo>
                <a:close/>
              </a:path>
              <a:path w="1355090" h="76200">
                <a:moveTo>
                  <a:pt x="1161795" y="28575"/>
                </a:moveTo>
                <a:lnTo>
                  <a:pt x="1104645" y="28575"/>
                </a:lnTo>
                <a:lnTo>
                  <a:pt x="1104645" y="47625"/>
                </a:lnTo>
                <a:lnTo>
                  <a:pt x="1161795" y="47625"/>
                </a:lnTo>
                <a:lnTo>
                  <a:pt x="1161795" y="28575"/>
                </a:lnTo>
                <a:close/>
              </a:path>
              <a:path w="1355090" h="76200">
                <a:moveTo>
                  <a:pt x="1237995" y="28575"/>
                </a:moveTo>
                <a:lnTo>
                  <a:pt x="1180845" y="28575"/>
                </a:lnTo>
                <a:lnTo>
                  <a:pt x="1180845" y="47625"/>
                </a:lnTo>
                <a:lnTo>
                  <a:pt x="1237995" y="47625"/>
                </a:lnTo>
                <a:lnTo>
                  <a:pt x="1237995" y="28575"/>
                </a:lnTo>
                <a:close/>
              </a:path>
              <a:path w="1355090" h="76200">
                <a:moveTo>
                  <a:pt x="1316482" y="0"/>
                </a:moveTo>
                <a:lnTo>
                  <a:pt x="1301688" y="2988"/>
                </a:lnTo>
                <a:lnTo>
                  <a:pt x="1289573" y="11144"/>
                </a:lnTo>
                <a:lnTo>
                  <a:pt x="1281388" y="23252"/>
                </a:lnTo>
                <a:lnTo>
                  <a:pt x="1278382" y="38100"/>
                </a:lnTo>
                <a:lnTo>
                  <a:pt x="1281388" y="52893"/>
                </a:lnTo>
                <a:lnTo>
                  <a:pt x="1289573" y="65008"/>
                </a:lnTo>
                <a:lnTo>
                  <a:pt x="1301688" y="73193"/>
                </a:lnTo>
                <a:lnTo>
                  <a:pt x="1316482" y="76200"/>
                </a:lnTo>
                <a:lnTo>
                  <a:pt x="1331329" y="73193"/>
                </a:lnTo>
                <a:lnTo>
                  <a:pt x="1343437" y="65008"/>
                </a:lnTo>
                <a:lnTo>
                  <a:pt x="1351593" y="52893"/>
                </a:lnTo>
                <a:lnTo>
                  <a:pt x="1352657" y="47625"/>
                </a:lnTo>
                <a:lnTo>
                  <a:pt x="1314068" y="47625"/>
                </a:lnTo>
                <a:lnTo>
                  <a:pt x="1314068" y="28575"/>
                </a:lnTo>
                <a:lnTo>
                  <a:pt x="1352664" y="28575"/>
                </a:lnTo>
                <a:lnTo>
                  <a:pt x="1351593" y="23252"/>
                </a:lnTo>
                <a:lnTo>
                  <a:pt x="1343437" y="11144"/>
                </a:lnTo>
                <a:lnTo>
                  <a:pt x="1331329" y="2988"/>
                </a:lnTo>
                <a:lnTo>
                  <a:pt x="1316482" y="0"/>
                </a:lnTo>
                <a:close/>
              </a:path>
              <a:path w="1355090" h="76200">
                <a:moveTo>
                  <a:pt x="1280310" y="28575"/>
                </a:moveTo>
                <a:lnTo>
                  <a:pt x="1257045" y="28575"/>
                </a:lnTo>
                <a:lnTo>
                  <a:pt x="1257045" y="47625"/>
                </a:lnTo>
                <a:lnTo>
                  <a:pt x="1280317" y="47625"/>
                </a:lnTo>
                <a:lnTo>
                  <a:pt x="1278382" y="38100"/>
                </a:lnTo>
                <a:lnTo>
                  <a:pt x="1280310" y="28575"/>
                </a:lnTo>
                <a:close/>
              </a:path>
              <a:path w="1355090" h="76200">
                <a:moveTo>
                  <a:pt x="1352664" y="28575"/>
                </a:moveTo>
                <a:lnTo>
                  <a:pt x="1314068" y="28575"/>
                </a:lnTo>
                <a:lnTo>
                  <a:pt x="1314068" y="47625"/>
                </a:lnTo>
                <a:lnTo>
                  <a:pt x="1352657" y="47625"/>
                </a:lnTo>
                <a:lnTo>
                  <a:pt x="1354582" y="38100"/>
                </a:lnTo>
                <a:lnTo>
                  <a:pt x="1352664" y="28575"/>
                </a:lnTo>
                <a:close/>
              </a:path>
            </a:pathLst>
          </a:custGeom>
          <a:solidFill>
            <a:srgbClr val="8496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408798" y="2552319"/>
            <a:ext cx="4417695" cy="364587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65"/>
              </a:spcBef>
              <a:tabLst>
                <a:tab pos="1137920" algn="l"/>
              </a:tabLst>
            </a:pPr>
            <a:r>
              <a:rPr lang="fr-FR" sz="2350" b="1" spc="10" dirty="0">
                <a:solidFill>
                  <a:srgbClr val="006FC0"/>
                </a:solidFill>
                <a:latin typeface="Calibri"/>
                <a:cs typeface="Calibri"/>
              </a:rPr>
              <a:t>Ressources et Compétences  </a:t>
            </a:r>
            <a:endParaRPr sz="2350" dirty="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323588" y="1864360"/>
            <a:ext cx="1110615" cy="77470"/>
          </a:xfrm>
          <a:custGeom>
            <a:avLst/>
            <a:gdLst/>
            <a:ahLst/>
            <a:cxnLst/>
            <a:rect l="l" t="t" r="r" b="b"/>
            <a:pathLst>
              <a:path w="1110614" h="77469">
                <a:moveTo>
                  <a:pt x="38100" y="0"/>
                </a:moveTo>
                <a:lnTo>
                  <a:pt x="23306" y="2988"/>
                </a:lnTo>
                <a:lnTo>
                  <a:pt x="11191" y="11144"/>
                </a:lnTo>
                <a:lnTo>
                  <a:pt x="3006" y="23252"/>
                </a:lnTo>
                <a:lnTo>
                  <a:pt x="0" y="38100"/>
                </a:lnTo>
                <a:lnTo>
                  <a:pt x="2988" y="52893"/>
                </a:lnTo>
                <a:lnTo>
                  <a:pt x="11144" y="65008"/>
                </a:lnTo>
                <a:lnTo>
                  <a:pt x="23252" y="73193"/>
                </a:lnTo>
                <a:lnTo>
                  <a:pt x="38100" y="76200"/>
                </a:lnTo>
                <a:lnTo>
                  <a:pt x="52920" y="73193"/>
                </a:lnTo>
                <a:lnTo>
                  <a:pt x="65008" y="65055"/>
                </a:lnTo>
                <a:lnTo>
                  <a:pt x="73193" y="52947"/>
                </a:lnTo>
                <a:lnTo>
                  <a:pt x="74271" y="47625"/>
                </a:lnTo>
                <a:lnTo>
                  <a:pt x="38100" y="47625"/>
                </a:lnTo>
                <a:lnTo>
                  <a:pt x="38100" y="28575"/>
                </a:lnTo>
                <a:lnTo>
                  <a:pt x="74282" y="28575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1110614" h="77469">
                <a:moveTo>
                  <a:pt x="74282" y="28575"/>
                </a:moveTo>
                <a:lnTo>
                  <a:pt x="38100" y="28575"/>
                </a:lnTo>
                <a:lnTo>
                  <a:pt x="38100" y="47625"/>
                </a:lnTo>
                <a:lnTo>
                  <a:pt x="74271" y="47625"/>
                </a:lnTo>
                <a:lnTo>
                  <a:pt x="76200" y="38100"/>
                </a:lnTo>
                <a:lnTo>
                  <a:pt x="74282" y="28575"/>
                </a:lnTo>
                <a:close/>
              </a:path>
              <a:path w="1110614" h="77469">
                <a:moveTo>
                  <a:pt x="95250" y="28575"/>
                </a:moveTo>
                <a:lnTo>
                  <a:pt x="74282" y="28575"/>
                </a:lnTo>
                <a:lnTo>
                  <a:pt x="76200" y="38100"/>
                </a:lnTo>
                <a:lnTo>
                  <a:pt x="74271" y="47625"/>
                </a:lnTo>
                <a:lnTo>
                  <a:pt x="95250" y="47625"/>
                </a:lnTo>
                <a:lnTo>
                  <a:pt x="95250" y="28575"/>
                </a:lnTo>
                <a:close/>
              </a:path>
              <a:path w="1110614" h="77469">
                <a:moveTo>
                  <a:pt x="114300" y="28575"/>
                </a:moveTo>
                <a:lnTo>
                  <a:pt x="114300" y="47625"/>
                </a:lnTo>
                <a:lnTo>
                  <a:pt x="171450" y="47751"/>
                </a:lnTo>
                <a:lnTo>
                  <a:pt x="171450" y="28701"/>
                </a:lnTo>
                <a:lnTo>
                  <a:pt x="114300" y="28575"/>
                </a:lnTo>
                <a:close/>
              </a:path>
              <a:path w="1110614" h="77469">
                <a:moveTo>
                  <a:pt x="247650" y="28701"/>
                </a:moveTo>
                <a:lnTo>
                  <a:pt x="190500" y="28701"/>
                </a:lnTo>
                <a:lnTo>
                  <a:pt x="190500" y="47751"/>
                </a:lnTo>
                <a:lnTo>
                  <a:pt x="247650" y="47751"/>
                </a:lnTo>
                <a:lnTo>
                  <a:pt x="247650" y="28701"/>
                </a:lnTo>
                <a:close/>
              </a:path>
              <a:path w="1110614" h="77469">
                <a:moveTo>
                  <a:pt x="266700" y="28701"/>
                </a:moveTo>
                <a:lnTo>
                  <a:pt x="266573" y="47751"/>
                </a:lnTo>
                <a:lnTo>
                  <a:pt x="323723" y="47878"/>
                </a:lnTo>
                <a:lnTo>
                  <a:pt x="323723" y="28828"/>
                </a:lnTo>
                <a:lnTo>
                  <a:pt x="266700" y="28701"/>
                </a:lnTo>
                <a:close/>
              </a:path>
              <a:path w="1110614" h="77469">
                <a:moveTo>
                  <a:pt x="399923" y="28828"/>
                </a:moveTo>
                <a:lnTo>
                  <a:pt x="342773" y="28828"/>
                </a:lnTo>
                <a:lnTo>
                  <a:pt x="342773" y="47878"/>
                </a:lnTo>
                <a:lnTo>
                  <a:pt x="399923" y="47878"/>
                </a:lnTo>
                <a:lnTo>
                  <a:pt x="399923" y="28828"/>
                </a:lnTo>
                <a:close/>
              </a:path>
              <a:path w="1110614" h="77469">
                <a:moveTo>
                  <a:pt x="418973" y="28828"/>
                </a:moveTo>
                <a:lnTo>
                  <a:pt x="418973" y="47878"/>
                </a:lnTo>
                <a:lnTo>
                  <a:pt x="476123" y="48005"/>
                </a:lnTo>
                <a:lnTo>
                  <a:pt x="476123" y="28955"/>
                </a:lnTo>
                <a:lnTo>
                  <a:pt x="418973" y="28828"/>
                </a:lnTo>
                <a:close/>
              </a:path>
              <a:path w="1110614" h="77469">
                <a:moveTo>
                  <a:pt x="552323" y="28955"/>
                </a:moveTo>
                <a:lnTo>
                  <a:pt x="495173" y="28955"/>
                </a:lnTo>
                <a:lnTo>
                  <a:pt x="495173" y="48005"/>
                </a:lnTo>
                <a:lnTo>
                  <a:pt x="552323" y="48005"/>
                </a:lnTo>
                <a:lnTo>
                  <a:pt x="552323" y="28955"/>
                </a:lnTo>
                <a:close/>
              </a:path>
              <a:path w="1110614" h="77469">
                <a:moveTo>
                  <a:pt x="628523" y="28955"/>
                </a:moveTo>
                <a:lnTo>
                  <a:pt x="571373" y="28955"/>
                </a:lnTo>
                <a:lnTo>
                  <a:pt x="571373" y="48005"/>
                </a:lnTo>
                <a:lnTo>
                  <a:pt x="628523" y="48005"/>
                </a:lnTo>
                <a:lnTo>
                  <a:pt x="628523" y="28955"/>
                </a:lnTo>
                <a:close/>
              </a:path>
              <a:path w="1110614" h="77469">
                <a:moveTo>
                  <a:pt x="704723" y="29082"/>
                </a:moveTo>
                <a:lnTo>
                  <a:pt x="647573" y="29082"/>
                </a:lnTo>
                <a:lnTo>
                  <a:pt x="647573" y="48132"/>
                </a:lnTo>
                <a:lnTo>
                  <a:pt x="704723" y="48132"/>
                </a:lnTo>
                <a:lnTo>
                  <a:pt x="704723" y="29082"/>
                </a:lnTo>
                <a:close/>
              </a:path>
              <a:path w="1110614" h="77469">
                <a:moveTo>
                  <a:pt x="780923" y="29082"/>
                </a:moveTo>
                <a:lnTo>
                  <a:pt x="723773" y="29082"/>
                </a:lnTo>
                <a:lnTo>
                  <a:pt x="723773" y="48132"/>
                </a:lnTo>
                <a:lnTo>
                  <a:pt x="780796" y="48132"/>
                </a:lnTo>
                <a:lnTo>
                  <a:pt x="780923" y="29082"/>
                </a:lnTo>
                <a:close/>
              </a:path>
              <a:path w="1110614" h="77469">
                <a:moveTo>
                  <a:pt x="856996" y="29210"/>
                </a:moveTo>
                <a:lnTo>
                  <a:pt x="799973" y="29210"/>
                </a:lnTo>
                <a:lnTo>
                  <a:pt x="799846" y="48260"/>
                </a:lnTo>
                <a:lnTo>
                  <a:pt x="856996" y="48260"/>
                </a:lnTo>
                <a:lnTo>
                  <a:pt x="856996" y="29210"/>
                </a:lnTo>
                <a:close/>
              </a:path>
              <a:path w="1110614" h="77469">
                <a:moveTo>
                  <a:pt x="933196" y="29210"/>
                </a:moveTo>
                <a:lnTo>
                  <a:pt x="876046" y="29210"/>
                </a:lnTo>
                <a:lnTo>
                  <a:pt x="876046" y="48260"/>
                </a:lnTo>
                <a:lnTo>
                  <a:pt x="933196" y="48260"/>
                </a:lnTo>
                <a:lnTo>
                  <a:pt x="933196" y="29210"/>
                </a:lnTo>
                <a:close/>
              </a:path>
              <a:path w="1110614" h="77469">
                <a:moveTo>
                  <a:pt x="1009396" y="29337"/>
                </a:moveTo>
                <a:lnTo>
                  <a:pt x="952246" y="29337"/>
                </a:lnTo>
                <a:lnTo>
                  <a:pt x="952246" y="48387"/>
                </a:lnTo>
                <a:lnTo>
                  <a:pt x="1009396" y="48387"/>
                </a:lnTo>
                <a:lnTo>
                  <a:pt x="1009396" y="29337"/>
                </a:lnTo>
                <a:close/>
              </a:path>
              <a:path w="1110614" h="77469">
                <a:moveTo>
                  <a:pt x="1072134" y="762"/>
                </a:moveTo>
                <a:lnTo>
                  <a:pt x="1057284" y="3750"/>
                </a:lnTo>
                <a:lnTo>
                  <a:pt x="1045162" y="11906"/>
                </a:lnTo>
                <a:lnTo>
                  <a:pt x="1036968" y="24014"/>
                </a:lnTo>
                <a:lnTo>
                  <a:pt x="1033907" y="38862"/>
                </a:lnTo>
                <a:lnTo>
                  <a:pt x="1036913" y="53709"/>
                </a:lnTo>
                <a:lnTo>
                  <a:pt x="1045122" y="65833"/>
                </a:lnTo>
                <a:lnTo>
                  <a:pt x="1057223" y="73975"/>
                </a:lnTo>
                <a:lnTo>
                  <a:pt x="1072007" y="76962"/>
                </a:lnTo>
                <a:lnTo>
                  <a:pt x="1086857" y="73973"/>
                </a:lnTo>
                <a:lnTo>
                  <a:pt x="1098973" y="65817"/>
                </a:lnTo>
                <a:lnTo>
                  <a:pt x="1107118" y="53762"/>
                </a:lnTo>
                <a:lnTo>
                  <a:pt x="1108205" y="48387"/>
                </a:lnTo>
                <a:lnTo>
                  <a:pt x="1072007" y="48387"/>
                </a:lnTo>
                <a:lnTo>
                  <a:pt x="1072007" y="29337"/>
                </a:lnTo>
                <a:lnTo>
                  <a:pt x="1108168" y="29337"/>
                </a:lnTo>
                <a:lnTo>
                  <a:pt x="1107120" y="24122"/>
                </a:lnTo>
                <a:lnTo>
                  <a:pt x="1098978" y="11969"/>
                </a:lnTo>
                <a:lnTo>
                  <a:pt x="1086907" y="3770"/>
                </a:lnTo>
                <a:lnTo>
                  <a:pt x="1072134" y="762"/>
                </a:lnTo>
                <a:close/>
              </a:path>
              <a:path w="1110614" h="77469">
                <a:moveTo>
                  <a:pt x="1035871" y="29337"/>
                </a:moveTo>
                <a:lnTo>
                  <a:pt x="1028446" y="29337"/>
                </a:lnTo>
                <a:lnTo>
                  <a:pt x="1028446" y="48387"/>
                </a:lnTo>
                <a:lnTo>
                  <a:pt x="1035835" y="48387"/>
                </a:lnTo>
                <a:lnTo>
                  <a:pt x="1033907" y="38862"/>
                </a:lnTo>
                <a:lnTo>
                  <a:pt x="1035871" y="29337"/>
                </a:lnTo>
                <a:close/>
              </a:path>
              <a:path w="1110614" h="77469">
                <a:moveTo>
                  <a:pt x="1108168" y="29337"/>
                </a:moveTo>
                <a:lnTo>
                  <a:pt x="1072007" y="29337"/>
                </a:lnTo>
                <a:lnTo>
                  <a:pt x="1072007" y="48387"/>
                </a:lnTo>
                <a:lnTo>
                  <a:pt x="1108205" y="48387"/>
                </a:lnTo>
                <a:lnTo>
                  <a:pt x="1110107" y="38988"/>
                </a:lnTo>
                <a:lnTo>
                  <a:pt x="1108168" y="29337"/>
                </a:lnTo>
                <a:close/>
              </a:path>
            </a:pathLst>
          </a:custGeom>
          <a:solidFill>
            <a:srgbClr val="8496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003547" y="4105147"/>
            <a:ext cx="1355090" cy="76200"/>
          </a:xfrm>
          <a:custGeom>
            <a:avLst/>
            <a:gdLst/>
            <a:ahLst/>
            <a:cxnLst/>
            <a:rect l="l" t="t" r="r" b="b"/>
            <a:pathLst>
              <a:path w="1355089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282" y="47625"/>
                </a:lnTo>
                <a:lnTo>
                  <a:pt x="38100" y="47625"/>
                </a:lnTo>
                <a:lnTo>
                  <a:pt x="38100" y="28575"/>
                </a:lnTo>
                <a:lnTo>
                  <a:pt x="74282" y="28575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1355089" h="76200">
                <a:moveTo>
                  <a:pt x="74282" y="28575"/>
                </a:moveTo>
                <a:lnTo>
                  <a:pt x="38100" y="28575"/>
                </a:lnTo>
                <a:lnTo>
                  <a:pt x="38100" y="47625"/>
                </a:lnTo>
                <a:lnTo>
                  <a:pt x="74282" y="47625"/>
                </a:lnTo>
                <a:lnTo>
                  <a:pt x="76200" y="38100"/>
                </a:lnTo>
                <a:lnTo>
                  <a:pt x="74282" y="28575"/>
                </a:lnTo>
                <a:close/>
              </a:path>
              <a:path w="1355089" h="76200">
                <a:moveTo>
                  <a:pt x="95250" y="28575"/>
                </a:moveTo>
                <a:lnTo>
                  <a:pt x="74282" y="28575"/>
                </a:lnTo>
                <a:lnTo>
                  <a:pt x="76200" y="38100"/>
                </a:lnTo>
                <a:lnTo>
                  <a:pt x="74282" y="47625"/>
                </a:lnTo>
                <a:lnTo>
                  <a:pt x="95250" y="47625"/>
                </a:lnTo>
                <a:lnTo>
                  <a:pt x="95250" y="28575"/>
                </a:lnTo>
                <a:close/>
              </a:path>
              <a:path w="1355089" h="76200">
                <a:moveTo>
                  <a:pt x="171450" y="28575"/>
                </a:moveTo>
                <a:lnTo>
                  <a:pt x="114300" y="28575"/>
                </a:lnTo>
                <a:lnTo>
                  <a:pt x="114300" y="47625"/>
                </a:lnTo>
                <a:lnTo>
                  <a:pt x="171450" y="47625"/>
                </a:lnTo>
                <a:lnTo>
                  <a:pt x="171450" y="28575"/>
                </a:lnTo>
                <a:close/>
              </a:path>
              <a:path w="1355089" h="76200">
                <a:moveTo>
                  <a:pt x="247650" y="28575"/>
                </a:moveTo>
                <a:lnTo>
                  <a:pt x="190500" y="28575"/>
                </a:lnTo>
                <a:lnTo>
                  <a:pt x="190500" y="47625"/>
                </a:lnTo>
                <a:lnTo>
                  <a:pt x="247650" y="47625"/>
                </a:lnTo>
                <a:lnTo>
                  <a:pt x="247650" y="28575"/>
                </a:lnTo>
                <a:close/>
              </a:path>
              <a:path w="1355089" h="76200">
                <a:moveTo>
                  <a:pt x="323723" y="28575"/>
                </a:moveTo>
                <a:lnTo>
                  <a:pt x="266700" y="28575"/>
                </a:lnTo>
                <a:lnTo>
                  <a:pt x="266700" y="47625"/>
                </a:lnTo>
                <a:lnTo>
                  <a:pt x="323723" y="47625"/>
                </a:lnTo>
                <a:lnTo>
                  <a:pt x="323723" y="28575"/>
                </a:lnTo>
                <a:close/>
              </a:path>
              <a:path w="1355089" h="76200">
                <a:moveTo>
                  <a:pt x="399923" y="28575"/>
                </a:moveTo>
                <a:lnTo>
                  <a:pt x="342773" y="28575"/>
                </a:lnTo>
                <a:lnTo>
                  <a:pt x="342773" y="47625"/>
                </a:lnTo>
                <a:lnTo>
                  <a:pt x="399923" y="47625"/>
                </a:lnTo>
                <a:lnTo>
                  <a:pt x="399923" y="28575"/>
                </a:lnTo>
                <a:close/>
              </a:path>
              <a:path w="1355089" h="76200">
                <a:moveTo>
                  <a:pt x="476123" y="28575"/>
                </a:moveTo>
                <a:lnTo>
                  <a:pt x="418973" y="28575"/>
                </a:lnTo>
                <a:lnTo>
                  <a:pt x="418973" y="47625"/>
                </a:lnTo>
                <a:lnTo>
                  <a:pt x="476123" y="47625"/>
                </a:lnTo>
                <a:lnTo>
                  <a:pt x="476123" y="28575"/>
                </a:lnTo>
                <a:close/>
              </a:path>
              <a:path w="1355089" h="76200">
                <a:moveTo>
                  <a:pt x="552323" y="28575"/>
                </a:moveTo>
                <a:lnTo>
                  <a:pt x="495173" y="28575"/>
                </a:lnTo>
                <a:lnTo>
                  <a:pt x="495173" y="47625"/>
                </a:lnTo>
                <a:lnTo>
                  <a:pt x="552323" y="47625"/>
                </a:lnTo>
                <a:lnTo>
                  <a:pt x="552323" y="28575"/>
                </a:lnTo>
                <a:close/>
              </a:path>
              <a:path w="1355089" h="76200">
                <a:moveTo>
                  <a:pt x="628523" y="28575"/>
                </a:moveTo>
                <a:lnTo>
                  <a:pt x="571373" y="28575"/>
                </a:lnTo>
                <a:lnTo>
                  <a:pt x="571373" y="47625"/>
                </a:lnTo>
                <a:lnTo>
                  <a:pt x="628523" y="47625"/>
                </a:lnTo>
                <a:lnTo>
                  <a:pt x="628523" y="28575"/>
                </a:lnTo>
                <a:close/>
              </a:path>
              <a:path w="1355089" h="76200">
                <a:moveTo>
                  <a:pt x="704723" y="28575"/>
                </a:moveTo>
                <a:lnTo>
                  <a:pt x="647573" y="28575"/>
                </a:lnTo>
                <a:lnTo>
                  <a:pt x="647573" y="47625"/>
                </a:lnTo>
                <a:lnTo>
                  <a:pt x="704723" y="47625"/>
                </a:lnTo>
                <a:lnTo>
                  <a:pt x="704723" y="28575"/>
                </a:lnTo>
                <a:close/>
              </a:path>
              <a:path w="1355089" h="76200">
                <a:moveTo>
                  <a:pt x="780923" y="28575"/>
                </a:moveTo>
                <a:lnTo>
                  <a:pt x="723773" y="28575"/>
                </a:lnTo>
                <a:lnTo>
                  <a:pt x="723773" y="47625"/>
                </a:lnTo>
                <a:lnTo>
                  <a:pt x="780923" y="47625"/>
                </a:lnTo>
                <a:lnTo>
                  <a:pt x="780923" y="28575"/>
                </a:lnTo>
                <a:close/>
              </a:path>
              <a:path w="1355089" h="76200">
                <a:moveTo>
                  <a:pt x="856996" y="28575"/>
                </a:moveTo>
                <a:lnTo>
                  <a:pt x="799846" y="28575"/>
                </a:lnTo>
                <a:lnTo>
                  <a:pt x="799846" y="47625"/>
                </a:lnTo>
                <a:lnTo>
                  <a:pt x="856996" y="47625"/>
                </a:lnTo>
                <a:lnTo>
                  <a:pt x="856996" y="28575"/>
                </a:lnTo>
                <a:close/>
              </a:path>
              <a:path w="1355089" h="76200">
                <a:moveTo>
                  <a:pt x="933196" y="28575"/>
                </a:moveTo>
                <a:lnTo>
                  <a:pt x="876046" y="28575"/>
                </a:lnTo>
                <a:lnTo>
                  <a:pt x="876046" y="47625"/>
                </a:lnTo>
                <a:lnTo>
                  <a:pt x="933196" y="47625"/>
                </a:lnTo>
                <a:lnTo>
                  <a:pt x="933196" y="28575"/>
                </a:lnTo>
                <a:close/>
              </a:path>
              <a:path w="1355089" h="76200">
                <a:moveTo>
                  <a:pt x="1009396" y="28575"/>
                </a:moveTo>
                <a:lnTo>
                  <a:pt x="952246" y="28575"/>
                </a:lnTo>
                <a:lnTo>
                  <a:pt x="952246" y="47625"/>
                </a:lnTo>
                <a:lnTo>
                  <a:pt x="1009396" y="47625"/>
                </a:lnTo>
                <a:lnTo>
                  <a:pt x="1009396" y="28575"/>
                </a:lnTo>
                <a:close/>
              </a:path>
              <a:path w="1355089" h="76200">
                <a:moveTo>
                  <a:pt x="1085596" y="28575"/>
                </a:moveTo>
                <a:lnTo>
                  <a:pt x="1028446" y="28575"/>
                </a:lnTo>
                <a:lnTo>
                  <a:pt x="1028446" y="47625"/>
                </a:lnTo>
                <a:lnTo>
                  <a:pt x="1085596" y="47625"/>
                </a:lnTo>
                <a:lnTo>
                  <a:pt x="1085596" y="28575"/>
                </a:lnTo>
                <a:close/>
              </a:path>
              <a:path w="1355089" h="76200">
                <a:moveTo>
                  <a:pt x="1161796" y="28575"/>
                </a:moveTo>
                <a:lnTo>
                  <a:pt x="1104646" y="28575"/>
                </a:lnTo>
                <a:lnTo>
                  <a:pt x="1104646" y="47625"/>
                </a:lnTo>
                <a:lnTo>
                  <a:pt x="1161796" y="47625"/>
                </a:lnTo>
                <a:lnTo>
                  <a:pt x="1161796" y="28575"/>
                </a:lnTo>
                <a:close/>
              </a:path>
              <a:path w="1355089" h="76200">
                <a:moveTo>
                  <a:pt x="1237996" y="28575"/>
                </a:moveTo>
                <a:lnTo>
                  <a:pt x="1180846" y="28575"/>
                </a:lnTo>
                <a:lnTo>
                  <a:pt x="1180846" y="47625"/>
                </a:lnTo>
                <a:lnTo>
                  <a:pt x="1237996" y="47625"/>
                </a:lnTo>
                <a:lnTo>
                  <a:pt x="1237996" y="28575"/>
                </a:lnTo>
                <a:close/>
              </a:path>
              <a:path w="1355089" h="76200">
                <a:moveTo>
                  <a:pt x="1316481" y="0"/>
                </a:moveTo>
                <a:lnTo>
                  <a:pt x="1301688" y="2988"/>
                </a:lnTo>
                <a:lnTo>
                  <a:pt x="1289573" y="11144"/>
                </a:lnTo>
                <a:lnTo>
                  <a:pt x="1281388" y="23252"/>
                </a:lnTo>
                <a:lnTo>
                  <a:pt x="1278381" y="38100"/>
                </a:lnTo>
                <a:lnTo>
                  <a:pt x="1281388" y="52947"/>
                </a:lnTo>
                <a:lnTo>
                  <a:pt x="1289573" y="65055"/>
                </a:lnTo>
                <a:lnTo>
                  <a:pt x="1301688" y="73211"/>
                </a:lnTo>
                <a:lnTo>
                  <a:pt x="1316481" y="76200"/>
                </a:lnTo>
                <a:lnTo>
                  <a:pt x="1331329" y="73211"/>
                </a:lnTo>
                <a:lnTo>
                  <a:pt x="1343437" y="65055"/>
                </a:lnTo>
                <a:lnTo>
                  <a:pt x="1351593" y="52947"/>
                </a:lnTo>
                <a:lnTo>
                  <a:pt x="1352664" y="47625"/>
                </a:lnTo>
                <a:lnTo>
                  <a:pt x="1314068" y="47625"/>
                </a:lnTo>
                <a:lnTo>
                  <a:pt x="1314068" y="28575"/>
                </a:lnTo>
                <a:lnTo>
                  <a:pt x="1352664" y="28575"/>
                </a:lnTo>
                <a:lnTo>
                  <a:pt x="1351593" y="23252"/>
                </a:lnTo>
                <a:lnTo>
                  <a:pt x="1343437" y="11144"/>
                </a:lnTo>
                <a:lnTo>
                  <a:pt x="1331329" y="2988"/>
                </a:lnTo>
                <a:lnTo>
                  <a:pt x="1316481" y="0"/>
                </a:lnTo>
                <a:close/>
              </a:path>
              <a:path w="1355089" h="76200">
                <a:moveTo>
                  <a:pt x="1280310" y="28575"/>
                </a:moveTo>
                <a:lnTo>
                  <a:pt x="1257046" y="28575"/>
                </a:lnTo>
                <a:lnTo>
                  <a:pt x="1257046" y="47625"/>
                </a:lnTo>
                <a:lnTo>
                  <a:pt x="1280310" y="47625"/>
                </a:lnTo>
                <a:lnTo>
                  <a:pt x="1278381" y="38100"/>
                </a:lnTo>
                <a:lnTo>
                  <a:pt x="1280310" y="28575"/>
                </a:lnTo>
                <a:close/>
              </a:path>
              <a:path w="1355089" h="76200">
                <a:moveTo>
                  <a:pt x="1352664" y="28575"/>
                </a:moveTo>
                <a:lnTo>
                  <a:pt x="1314068" y="28575"/>
                </a:lnTo>
                <a:lnTo>
                  <a:pt x="1314068" y="47625"/>
                </a:lnTo>
                <a:lnTo>
                  <a:pt x="1352664" y="47625"/>
                </a:lnTo>
                <a:lnTo>
                  <a:pt x="1354581" y="38100"/>
                </a:lnTo>
                <a:lnTo>
                  <a:pt x="1352664" y="28575"/>
                </a:lnTo>
                <a:close/>
              </a:path>
            </a:pathLst>
          </a:custGeom>
          <a:solidFill>
            <a:srgbClr val="8496A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5522976" y="5048770"/>
            <a:ext cx="265430" cy="695325"/>
            <a:chOff x="5522976" y="5048770"/>
            <a:chExt cx="265430" cy="695325"/>
          </a:xfrm>
        </p:grpSpPr>
        <p:sp>
          <p:nvSpPr>
            <p:cNvPr id="29" name="object 29"/>
            <p:cNvSpPr/>
            <p:nvPr/>
          </p:nvSpPr>
          <p:spPr>
            <a:xfrm>
              <a:off x="5632704" y="5048770"/>
              <a:ext cx="27940" cy="439420"/>
            </a:xfrm>
            <a:custGeom>
              <a:avLst/>
              <a:gdLst/>
              <a:ahLst/>
              <a:cxnLst/>
              <a:rect l="l" t="t" r="r" b="b"/>
              <a:pathLst>
                <a:path w="27939" h="439420">
                  <a:moveTo>
                    <a:pt x="27430" y="0"/>
                  </a:moveTo>
                  <a:lnTo>
                    <a:pt x="0" y="0"/>
                  </a:lnTo>
                  <a:lnTo>
                    <a:pt x="0" y="439026"/>
                  </a:lnTo>
                  <a:lnTo>
                    <a:pt x="27430" y="439026"/>
                  </a:lnTo>
                  <a:lnTo>
                    <a:pt x="2743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96128" y="5542660"/>
              <a:ext cx="128016" cy="12804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522976" y="5478652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29" h="265429">
                  <a:moveTo>
                    <a:pt x="132841" y="0"/>
                  </a:moveTo>
                  <a:lnTo>
                    <a:pt x="90887" y="6766"/>
                  </a:lnTo>
                  <a:lnTo>
                    <a:pt x="54425" y="25603"/>
                  </a:lnTo>
                  <a:lnTo>
                    <a:pt x="25656" y="54315"/>
                  </a:lnTo>
                  <a:lnTo>
                    <a:pt x="6780" y="90708"/>
                  </a:lnTo>
                  <a:lnTo>
                    <a:pt x="0" y="132588"/>
                  </a:lnTo>
                  <a:lnTo>
                    <a:pt x="6780" y="174490"/>
                  </a:lnTo>
                  <a:lnTo>
                    <a:pt x="25656" y="210895"/>
                  </a:lnTo>
                  <a:lnTo>
                    <a:pt x="54425" y="239612"/>
                  </a:lnTo>
                  <a:lnTo>
                    <a:pt x="90887" y="258448"/>
                  </a:lnTo>
                  <a:lnTo>
                    <a:pt x="132841" y="265214"/>
                  </a:lnTo>
                  <a:lnTo>
                    <a:pt x="174792" y="258448"/>
                  </a:lnTo>
                  <a:lnTo>
                    <a:pt x="207608" y="241439"/>
                  </a:lnTo>
                  <a:lnTo>
                    <a:pt x="132841" y="241439"/>
                  </a:lnTo>
                  <a:lnTo>
                    <a:pt x="90473" y="232877"/>
                  </a:lnTo>
                  <a:lnTo>
                    <a:pt x="55832" y="209535"/>
                  </a:lnTo>
                  <a:lnTo>
                    <a:pt x="32454" y="174933"/>
                  </a:lnTo>
                  <a:lnTo>
                    <a:pt x="23875" y="132588"/>
                  </a:lnTo>
                  <a:lnTo>
                    <a:pt x="32454" y="90239"/>
                  </a:lnTo>
                  <a:lnTo>
                    <a:pt x="55832" y="55641"/>
                  </a:lnTo>
                  <a:lnTo>
                    <a:pt x="90473" y="32307"/>
                  </a:lnTo>
                  <a:lnTo>
                    <a:pt x="132841" y="23749"/>
                  </a:lnTo>
                  <a:lnTo>
                    <a:pt x="207557" y="23749"/>
                  </a:lnTo>
                  <a:lnTo>
                    <a:pt x="174792" y="6766"/>
                  </a:lnTo>
                  <a:lnTo>
                    <a:pt x="132841" y="0"/>
                  </a:lnTo>
                  <a:close/>
                </a:path>
                <a:path w="265429" h="265429">
                  <a:moveTo>
                    <a:pt x="207557" y="23749"/>
                  </a:moveTo>
                  <a:lnTo>
                    <a:pt x="132841" y="23749"/>
                  </a:lnTo>
                  <a:lnTo>
                    <a:pt x="175283" y="32307"/>
                  </a:lnTo>
                  <a:lnTo>
                    <a:pt x="209962" y="55641"/>
                  </a:lnTo>
                  <a:lnTo>
                    <a:pt x="233354" y="90239"/>
                  </a:lnTo>
                  <a:lnTo>
                    <a:pt x="241935" y="132588"/>
                  </a:lnTo>
                  <a:lnTo>
                    <a:pt x="233354" y="174933"/>
                  </a:lnTo>
                  <a:lnTo>
                    <a:pt x="209962" y="209535"/>
                  </a:lnTo>
                  <a:lnTo>
                    <a:pt x="175283" y="232877"/>
                  </a:lnTo>
                  <a:lnTo>
                    <a:pt x="132841" y="241439"/>
                  </a:lnTo>
                  <a:lnTo>
                    <a:pt x="207608" y="241439"/>
                  </a:lnTo>
                  <a:lnTo>
                    <a:pt x="211134" y="239612"/>
                  </a:lnTo>
                  <a:lnTo>
                    <a:pt x="239735" y="210895"/>
                  </a:lnTo>
                  <a:lnTo>
                    <a:pt x="258460" y="174490"/>
                  </a:lnTo>
                  <a:lnTo>
                    <a:pt x="265175" y="132588"/>
                  </a:lnTo>
                  <a:lnTo>
                    <a:pt x="258460" y="90708"/>
                  </a:lnTo>
                  <a:lnTo>
                    <a:pt x="239735" y="54315"/>
                  </a:lnTo>
                  <a:lnTo>
                    <a:pt x="211134" y="25603"/>
                  </a:lnTo>
                  <a:lnTo>
                    <a:pt x="207557" y="237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58787" y="3802570"/>
            <a:ext cx="4715295" cy="3268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2390"/>
              </a:lnSpc>
              <a:spcBef>
                <a:spcPts val="114"/>
              </a:spcBef>
            </a:pPr>
            <a:r>
              <a:rPr lang="fr-FR" sz="2400" b="1" spc="5" dirty="0">
                <a:solidFill>
                  <a:srgbClr val="006FC0"/>
                </a:solidFill>
                <a:latin typeface="Calibri"/>
                <a:cs typeface="Calibri"/>
              </a:rPr>
              <a:t>Capacité stratégique de l’entreprise 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461756" y="4675314"/>
            <a:ext cx="3663443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fr-FR" sz="2400" b="1" spc="25" dirty="0">
                <a:solidFill>
                  <a:srgbClr val="006FC0"/>
                </a:solidFill>
                <a:latin typeface="Calibri"/>
                <a:cs typeface="Calibri"/>
              </a:rPr>
              <a:t>SWOT 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265027" y="6526834"/>
            <a:ext cx="104775" cy="212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spc="10" dirty="0">
                <a:solidFill>
                  <a:srgbClr val="7E7E7E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5" name="object 3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839679" y="156349"/>
            <a:ext cx="1166505" cy="453892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1143000" y="375031"/>
            <a:ext cx="448309" cy="512445"/>
          </a:xfrm>
          <a:custGeom>
            <a:avLst/>
            <a:gdLst/>
            <a:ahLst/>
            <a:cxnLst/>
            <a:rect l="l" t="t" r="r" b="b"/>
            <a:pathLst>
              <a:path w="448309" h="512444">
                <a:moveTo>
                  <a:pt x="0" y="0"/>
                </a:moveTo>
                <a:lnTo>
                  <a:pt x="0" y="512191"/>
                </a:lnTo>
                <a:lnTo>
                  <a:pt x="448056" y="25603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1856104" y="425577"/>
            <a:ext cx="605790" cy="3886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350" spc="-5" dirty="0">
                <a:solidFill>
                  <a:srgbClr val="44536A"/>
                </a:solidFill>
                <a:latin typeface="Times New Roman"/>
                <a:cs typeface="Times New Roman"/>
              </a:rPr>
              <a:t>Pl</a:t>
            </a:r>
            <a:r>
              <a:rPr sz="2350" spc="-25" dirty="0">
                <a:solidFill>
                  <a:srgbClr val="44536A"/>
                </a:solidFill>
                <a:latin typeface="Times New Roman"/>
                <a:cs typeface="Times New Roman"/>
              </a:rPr>
              <a:t>a</a:t>
            </a:r>
            <a:r>
              <a:rPr sz="2350" spc="15" dirty="0">
                <a:solidFill>
                  <a:srgbClr val="44536A"/>
                </a:solidFill>
                <a:latin typeface="Times New Roman"/>
                <a:cs typeface="Times New Roman"/>
              </a:rPr>
              <a:t>n</a:t>
            </a:r>
            <a:endParaRPr sz="2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Box 10"/>
          <p:cNvSpPr txBox="1">
            <a:spLocks noChangeArrowheads="1"/>
          </p:cNvSpPr>
          <p:nvPr/>
        </p:nvSpPr>
        <p:spPr bwMode="auto">
          <a:xfrm>
            <a:off x="7298218" y="5350788"/>
            <a:ext cx="4185859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0960" tIns="30480" rIns="60960" bIns="30480">
            <a:spAutoFit/>
          </a:bodyPr>
          <a:lstStyle/>
          <a:p>
            <a:pPr algn="just" defTabSz="1219170">
              <a:spcBef>
                <a:spcPct val="20000"/>
              </a:spcBef>
              <a:defRPr/>
            </a:pPr>
            <a:r>
              <a:rPr lang="en-US" sz="2000" dirty="0">
                <a:solidFill>
                  <a:srgbClr val="002060"/>
                </a:solidFill>
                <a:latin typeface="Candara" panose="020E0502030303020204" pitchFamily="34" charset="0"/>
              </a:rPr>
              <a:t> la </a:t>
            </a:r>
            <a:r>
              <a:rPr lang="en-US" sz="2000" dirty="0" err="1">
                <a:solidFill>
                  <a:srgbClr val="002060"/>
                </a:solidFill>
                <a:latin typeface="Candara" panose="020E0502030303020204" pitchFamily="34" charset="0"/>
              </a:rPr>
              <a:t>capacité</a:t>
            </a:r>
            <a:r>
              <a:rPr lang="en-US" sz="2000" dirty="0">
                <a:solidFill>
                  <a:srgbClr val="002060"/>
                </a:solidFill>
                <a:latin typeface="Candara" panose="020E0502030303020204" pitchFamily="34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ndara" panose="020E0502030303020204" pitchFamily="34" charset="0"/>
              </a:rPr>
              <a:t>stratégique</a:t>
            </a:r>
            <a:r>
              <a:rPr lang="en-US" sz="2000" dirty="0">
                <a:solidFill>
                  <a:srgbClr val="002060"/>
                </a:solidFill>
                <a:latin typeface="Candara" panose="020E0502030303020204" pitchFamily="34" charset="0"/>
              </a:rPr>
              <a:t> et   </a:t>
            </a:r>
            <a:r>
              <a:rPr lang="en-US" sz="2000" dirty="0" err="1">
                <a:solidFill>
                  <a:srgbClr val="002060"/>
                </a:solidFill>
                <a:latin typeface="Candara" panose="020E0502030303020204" pitchFamily="34" charset="0"/>
              </a:rPr>
              <a:t>l’avantage</a:t>
            </a:r>
            <a:r>
              <a:rPr lang="en-US" sz="2000" dirty="0">
                <a:solidFill>
                  <a:srgbClr val="002060"/>
                </a:solidFill>
                <a:latin typeface="Candara" panose="020E0502030303020204" pitchFamily="34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ndara" panose="020E0502030303020204" pitchFamily="34" charset="0"/>
              </a:rPr>
              <a:t>concurrentiel</a:t>
            </a:r>
            <a:r>
              <a:rPr lang="en-US" sz="2000" dirty="0">
                <a:solidFill>
                  <a:srgbClr val="002060"/>
                </a:solidFill>
                <a:latin typeface="Candara" panose="020E0502030303020204" pitchFamily="34" charset="0"/>
              </a:rPr>
              <a:t> que </a:t>
            </a:r>
            <a:r>
              <a:rPr lang="en-US" sz="2000" dirty="0" err="1">
                <a:solidFill>
                  <a:srgbClr val="002060"/>
                </a:solidFill>
                <a:latin typeface="Candara" panose="020E0502030303020204" pitchFamily="34" charset="0"/>
              </a:rPr>
              <a:t>l’entreprise</a:t>
            </a:r>
            <a:r>
              <a:rPr lang="en-US" sz="2000" dirty="0">
                <a:solidFill>
                  <a:srgbClr val="002060"/>
                </a:solidFill>
                <a:latin typeface="Candara" panose="020E0502030303020204" pitchFamily="34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ndara" panose="020E0502030303020204" pitchFamily="34" charset="0"/>
              </a:rPr>
              <a:t>posséde</a:t>
            </a:r>
            <a:r>
              <a:rPr lang="en-US" sz="2000" dirty="0">
                <a:solidFill>
                  <a:srgbClr val="002060"/>
                </a:solidFill>
                <a:latin typeface="Candara" panose="020E0502030303020204" pitchFamily="34" charset="0"/>
              </a:rPr>
              <a:t>.   </a:t>
            </a:r>
          </a:p>
        </p:txBody>
      </p:sp>
      <p:sp>
        <p:nvSpPr>
          <p:cNvPr id="73" name="Text Box 10"/>
          <p:cNvSpPr txBox="1">
            <a:spLocks noChangeArrowheads="1"/>
          </p:cNvSpPr>
          <p:nvPr/>
        </p:nvSpPr>
        <p:spPr bwMode="auto">
          <a:xfrm>
            <a:off x="7298218" y="2858417"/>
            <a:ext cx="4303847" cy="160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0960" tIns="30480" rIns="60960" bIns="30480">
            <a:spAutoFit/>
          </a:bodyPr>
          <a:lstStyle/>
          <a:p>
            <a:pPr algn="just"/>
            <a:r>
              <a:rPr lang="en-US" sz="2000" b="1" dirty="0" err="1">
                <a:solidFill>
                  <a:srgbClr val="002060"/>
                </a:solidFill>
                <a:latin typeface="Candara" panose="020E0502030303020204" pitchFamily="34" charset="0"/>
              </a:rPr>
              <a:t>Cette</a:t>
            </a:r>
            <a:r>
              <a:rPr lang="en-US" sz="2000" b="1" dirty="0">
                <a:solidFill>
                  <a:srgbClr val="002060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Candara" panose="020E0502030303020204" pitchFamily="34" charset="0"/>
              </a:rPr>
              <a:t>évaluation</a:t>
            </a:r>
            <a:r>
              <a:rPr lang="en-US" sz="2000" b="1" dirty="0">
                <a:solidFill>
                  <a:srgbClr val="002060"/>
                </a:solidFill>
                <a:latin typeface="Candara" panose="020E0502030303020204" pitchFamily="34" charset="0"/>
              </a:rPr>
              <a:t> </a:t>
            </a:r>
            <a:r>
              <a:rPr lang="en-US" sz="2000" b="1" dirty="0" err="1">
                <a:solidFill>
                  <a:srgbClr val="002060"/>
                </a:solidFill>
                <a:latin typeface="Candara" panose="020E0502030303020204" pitchFamily="34" charset="0"/>
              </a:rPr>
              <a:t>permet</a:t>
            </a:r>
            <a:r>
              <a:rPr lang="en-US" sz="2000" b="1" dirty="0">
                <a:solidFill>
                  <a:srgbClr val="002060"/>
                </a:solidFill>
                <a:latin typeface="Candara" panose="020E0502030303020204" pitchFamily="34" charset="0"/>
              </a:rPr>
              <a:t> de: </a:t>
            </a:r>
          </a:p>
          <a:p>
            <a:pPr algn="just"/>
            <a:r>
              <a:rPr lang="en-US" sz="2000" dirty="0">
                <a:solidFill>
                  <a:srgbClr val="002060"/>
                </a:solidFill>
                <a:latin typeface="Candara" panose="020E0502030303020204" pitchFamily="34" charset="0"/>
              </a:rPr>
              <a:t>Identifier les </a:t>
            </a:r>
            <a:r>
              <a:rPr lang="en-US" sz="2000" dirty="0" err="1">
                <a:solidFill>
                  <a:srgbClr val="002060"/>
                </a:solidFill>
                <a:latin typeface="Candara" panose="020E0502030303020204" pitchFamily="34" charset="0"/>
              </a:rPr>
              <a:t>compétences</a:t>
            </a:r>
            <a:r>
              <a:rPr lang="en-US" sz="2000" dirty="0">
                <a:solidFill>
                  <a:srgbClr val="002060"/>
                </a:solidFill>
                <a:latin typeface="Candara" panose="020E0502030303020204" pitchFamily="34" charset="0"/>
              </a:rPr>
              <a:t> distinctives et les </a:t>
            </a:r>
            <a:r>
              <a:rPr lang="en-US" sz="2000" dirty="0" err="1">
                <a:solidFill>
                  <a:srgbClr val="002060"/>
                </a:solidFill>
                <a:latin typeface="Candara" panose="020E0502030303020204" pitchFamily="34" charset="0"/>
              </a:rPr>
              <a:t>ressources</a:t>
            </a:r>
            <a:r>
              <a:rPr lang="en-US" sz="2000" dirty="0">
                <a:solidFill>
                  <a:srgbClr val="002060"/>
                </a:solidFill>
                <a:latin typeface="Candara" panose="020E0502030303020204" pitchFamily="34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ndara" panose="020E0502030303020204" pitchFamily="34" charset="0"/>
              </a:rPr>
              <a:t>stratégiques</a:t>
            </a:r>
            <a:r>
              <a:rPr lang="en-US" sz="2000" dirty="0">
                <a:solidFill>
                  <a:srgbClr val="002060"/>
                </a:solidFill>
                <a:latin typeface="Candara" panose="020E0502030303020204" pitchFamily="34" charset="0"/>
              </a:rPr>
              <a:t> de </a:t>
            </a:r>
            <a:r>
              <a:rPr lang="en-US" sz="2000" dirty="0" err="1">
                <a:solidFill>
                  <a:srgbClr val="002060"/>
                </a:solidFill>
                <a:latin typeface="Candara" panose="020E0502030303020204" pitchFamily="34" charset="0"/>
              </a:rPr>
              <a:t>l’entreprise</a:t>
            </a:r>
            <a:r>
              <a:rPr lang="en-US" sz="2000" dirty="0">
                <a:solidFill>
                  <a:srgbClr val="002060"/>
                </a:solidFill>
                <a:latin typeface="Candara" panose="020E0502030303020204" pitchFamily="34" charset="0"/>
              </a:rPr>
              <a:t> </a:t>
            </a:r>
          </a:p>
          <a:p>
            <a:pPr algn="just"/>
            <a:r>
              <a:rPr lang="en-US" sz="2000" dirty="0" err="1">
                <a:solidFill>
                  <a:srgbClr val="002060"/>
                </a:solidFill>
                <a:latin typeface="Candara" panose="020E0502030303020204" pitchFamily="34" charset="0"/>
              </a:rPr>
              <a:t>Préciser</a:t>
            </a:r>
            <a:r>
              <a:rPr lang="en-US" sz="2000" dirty="0">
                <a:solidFill>
                  <a:srgbClr val="002060"/>
                </a:solidFill>
                <a:latin typeface="Candara" panose="020E0502030303020204" pitchFamily="34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ndara" panose="020E0502030303020204" pitchFamily="34" charset="0"/>
              </a:rPr>
              <a:t>ses</a:t>
            </a:r>
            <a:r>
              <a:rPr lang="en-US" sz="2000" dirty="0">
                <a:solidFill>
                  <a:srgbClr val="002060"/>
                </a:solidFill>
                <a:latin typeface="Candara" panose="020E0502030303020204" pitchFamily="34" charset="0"/>
              </a:rPr>
              <a:t> forces et </a:t>
            </a:r>
            <a:r>
              <a:rPr lang="en-US" sz="2000" dirty="0" err="1">
                <a:solidFill>
                  <a:srgbClr val="002060"/>
                </a:solidFill>
                <a:latin typeface="Candara" panose="020E0502030303020204" pitchFamily="34" charset="0"/>
              </a:rPr>
              <a:t>ses</a:t>
            </a:r>
            <a:r>
              <a:rPr lang="en-US" sz="2000" dirty="0">
                <a:solidFill>
                  <a:srgbClr val="002060"/>
                </a:solidFill>
                <a:latin typeface="Candara" panose="020E0502030303020204" pitchFamily="34" charset="0"/>
              </a:rPr>
              <a:t> faiblesses.  </a:t>
            </a:r>
          </a:p>
        </p:txBody>
      </p:sp>
      <p:sp>
        <p:nvSpPr>
          <p:cNvPr id="74" name="Oval 73"/>
          <p:cNvSpPr>
            <a:spLocks noChangeAspect="1"/>
          </p:cNvSpPr>
          <p:nvPr/>
        </p:nvSpPr>
        <p:spPr>
          <a:xfrm>
            <a:off x="6677628" y="1347551"/>
            <a:ext cx="548640" cy="548640"/>
          </a:xfrm>
          <a:prstGeom prst="ellipse">
            <a:avLst/>
          </a:prstGeom>
          <a:solidFill>
            <a:srgbClr val="34738D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  <p:sp>
        <p:nvSpPr>
          <p:cNvPr id="75" name="Text Box 10"/>
          <p:cNvSpPr txBox="1">
            <a:spLocks noChangeArrowheads="1"/>
          </p:cNvSpPr>
          <p:nvPr/>
        </p:nvSpPr>
        <p:spPr bwMode="auto">
          <a:xfrm>
            <a:off x="7180230" y="1289089"/>
            <a:ext cx="4303847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0960" tIns="30480" rIns="60960" bIns="30480">
            <a:spAutoFit/>
          </a:bodyPr>
          <a:lstStyle/>
          <a:p>
            <a:pPr algn="just"/>
            <a:r>
              <a:rPr lang="en-US" sz="2000" dirty="0" err="1">
                <a:solidFill>
                  <a:srgbClr val="002060"/>
                </a:solidFill>
                <a:latin typeface="Candara" panose="020E0502030303020204" pitchFamily="34" charset="0"/>
              </a:rPr>
              <a:t>Etudier</a:t>
            </a:r>
            <a:r>
              <a:rPr lang="en-US" sz="2000" dirty="0">
                <a:solidFill>
                  <a:srgbClr val="002060"/>
                </a:solidFill>
                <a:latin typeface="Candara" panose="020E0502030303020204" pitchFamily="34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ndara" panose="020E0502030303020204" pitchFamily="34" charset="0"/>
              </a:rPr>
              <a:t>l’entreprise</a:t>
            </a:r>
            <a:r>
              <a:rPr lang="en-US" sz="2000" dirty="0">
                <a:solidFill>
                  <a:srgbClr val="002060"/>
                </a:solidFill>
                <a:latin typeface="Candara" panose="020E0502030303020204" pitchFamily="34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ndara" panose="020E0502030303020204" pitchFamily="34" charset="0"/>
              </a:rPr>
              <a:t>en</a:t>
            </a:r>
            <a:r>
              <a:rPr lang="en-US" sz="2000" dirty="0">
                <a:solidFill>
                  <a:srgbClr val="002060"/>
                </a:solidFill>
                <a:latin typeface="Candara" panose="020E0502030303020204" pitchFamily="34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Candara" panose="020E0502030303020204" pitchFamily="34" charset="0"/>
              </a:rPr>
              <a:t>elle</a:t>
            </a:r>
            <a:r>
              <a:rPr lang="fr-FR" sz="2000" dirty="0">
                <a:solidFill>
                  <a:srgbClr val="002060"/>
                </a:solidFill>
                <a:latin typeface="Candara" panose="020E0502030303020204" pitchFamily="34" charset="0"/>
              </a:rPr>
              <a:t>-même, évaluer ses ressources et ses compétences. </a:t>
            </a:r>
          </a:p>
          <a:p>
            <a:pPr algn="just"/>
            <a:r>
              <a:rPr lang="en-US" sz="2000" dirty="0">
                <a:solidFill>
                  <a:srgbClr val="002060"/>
                </a:solidFill>
                <a:latin typeface="Candara" panose="020E0502030303020204" pitchFamily="34" charset="0"/>
              </a:rPr>
              <a:t> </a:t>
            </a:r>
          </a:p>
        </p:txBody>
      </p:sp>
      <p:sp>
        <p:nvSpPr>
          <p:cNvPr id="76" name="Oval 75"/>
          <p:cNvSpPr>
            <a:spLocks noChangeAspect="1"/>
          </p:cNvSpPr>
          <p:nvPr/>
        </p:nvSpPr>
        <p:spPr>
          <a:xfrm>
            <a:off x="6677628" y="3076540"/>
            <a:ext cx="548640" cy="548640"/>
          </a:xfrm>
          <a:prstGeom prst="ellipse">
            <a:avLst/>
          </a:prstGeom>
          <a:solidFill>
            <a:srgbClr val="189A80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  <p:sp>
        <p:nvSpPr>
          <p:cNvPr id="77" name="Oval 76"/>
          <p:cNvSpPr>
            <a:spLocks noChangeAspect="1"/>
          </p:cNvSpPr>
          <p:nvPr/>
        </p:nvSpPr>
        <p:spPr>
          <a:xfrm>
            <a:off x="6677628" y="5294591"/>
            <a:ext cx="548640" cy="548640"/>
          </a:xfrm>
          <a:prstGeom prst="ellipse">
            <a:avLst/>
          </a:prstGeom>
          <a:solidFill>
            <a:srgbClr val="EF9D27"/>
          </a:solidFill>
          <a:ln w="63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</p:txBody>
      </p:sp>
      <p:sp>
        <p:nvSpPr>
          <p:cNvPr id="83" name="TextBox 82"/>
          <p:cNvSpPr txBox="1"/>
          <p:nvPr/>
        </p:nvSpPr>
        <p:spPr>
          <a:xfrm>
            <a:off x="84668" y="408174"/>
            <a:ext cx="55089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400" dirty="0">
              <a:solidFill>
                <a:srgbClr val="4F4F4F"/>
              </a:solidFill>
              <a:latin typeface="Bernard MT Condensed" panose="02050806060905020404" pitchFamily="18" charset="0"/>
            </a:endParaRPr>
          </a:p>
        </p:txBody>
      </p:sp>
      <p:pic>
        <p:nvPicPr>
          <p:cNvPr id="21" name="Picture 20">
            <a:hlinkClick r:id="rId2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4125" y="6778911"/>
            <a:ext cx="365760" cy="98854"/>
          </a:xfrm>
          <a:prstGeom prst="rect">
            <a:avLst/>
          </a:prstGeom>
          <a:noFill/>
          <a:effectLst>
            <a:glow rad="63500">
              <a:schemeClr val="bg1">
                <a:alpha val="45000"/>
              </a:schemeClr>
            </a:glow>
          </a:effectLst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734225F4-DA86-DFAA-D013-25A32C8EE2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2646" y="412669"/>
            <a:ext cx="7452234" cy="4475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00" b="1" spc="10" dirty="0">
                <a:solidFill>
                  <a:srgbClr val="C00000"/>
                </a:solidFill>
                <a:latin typeface="Calibri"/>
                <a:cs typeface="Calibri"/>
              </a:rPr>
              <a:t>Analyse de </a:t>
            </a:r>
            <a:r>
              <a:rPr sz="2800" b="1" spc="10" dirty="0" err="1">
                <a:solidFill>
                  <a:srgbClr val="C00000"/>
                </a:solidFill>
                <a:latin typeface="Calibri"/>
                <a:cs typeface="Calibri"/>
              </a:rPr>
              <a:t>l’environnement</a:t>
            </a:r>
            <a:r>
              <a:rPr lang="fr-FR" sz="2800" b="1" spc="10" dirty="0">
                <a:solidFill>
                  <a:srgbClr val="C00000"/>
                </a:solidFill>
                <a:latin typeface="Calibri"/>
                <a:cs typeface="Calibri"/>
              </a:rPr>
              <a:t> Interne </a:t>
            </a:r>
            <a:r>
              <a:rPr sz="2800" b="1" spc="10" dirty="0">
                <a:solidFill>
                  <a:srgbClr val="C00000"/>
                </a:solidFill>
                <a:latin typeface="Calibri"/>
                <a:cs typeface="Calibri"/>
              </a:rPr>
              <a:t>..</a:t>
            </a: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DF7BDFF3-E212-9016-B3DA-C9FBC1C3C1DB}"/>
              </a:ext>
            </a:extLst>
          </p:cNvPr>
          <p:cNvSpPr/>
          <p:nvPr/>
        </p:nvSpPr>
        <p:spPr>
          <a:xfrm>
            <a:off x="228600" y="447293"/>
            <a:ext cx="448309" cy="512445"/>
          </a:xfrm>
          <a:custGeom>
            <a:avLst/>
            <a:gdLst/>
            <a:ahLst/>
            <a:cxnLst/>
            <a:rect l="l" t="t" r="r" b="b"/>
            <a:pathLst>
              <a:path w="448309" h="512444">
                <a:moveTo>
                  <a:pt x="0" y="0"/>
                </a:moveTo>
                <a:lnTo>
                  <a:pt x="0" y="512190"/>
                </a:lnTo>
                <a:lnTo>
                  <a:pt x="448056" y="25603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35">
            <a:extLst>
              <a:ext uri="{FF2B5EF4-FFF2-40B4-BE49-F238E27FC236}">
                <a16:creationId xmlns:a16="http://schemas.microsoft.com/office/drawing/2014/main" id="{9D8131CB-ACA8-FD3A-6D7F-4B7CD91C7A8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39679" y="156349"/>
            <a:ext cx="1166505" cy="453892"/>
          </a:xfrm>
          <a:prstGeom prst="rect">
            <a:avLst/>
          </a:prstGeom>
        </p:spPr>
      </p:pic>
      <p:pic>
        <p:nvPicPr>
          <p:cNvPr id="6" name="Google Shape;497;p31">
            <a:extLst>
              <a:ext uri="{FF2B5EF4-FFF2-40B4-BE49-F238E27FC236}">
                <a16:creationId xmlns:a16="http://schemas.microsoft.com/office/drawing/2014/main" id="{D8308BEF-9D91-97C2-8203-3260DB40A61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06096" y="0"/>
            <a:ext cx="2761905" cy="1700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4" descr="Diagnostique - Icônes les communications gratuites">
            <a:extLst>
              <a:ext uri="{FF2B5EF4-FFF2-40B4-BE49-F238E27FC236}">
                <a16:creationId xmlns:a16="http://schemas.microsoft.com/office/drawing/2014/main" id="{3AB18C91-FE50-F16A-F167-F78DBF1B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30" y="1498546"/>
            <a:ext cx="1279576" cy="1299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2">
            <a:extLst>
              <a:ext uri="{FF2B5EF4-FFF2-40B4-BE49-F238E27FC236}">
                <a16:creationId xmlns:a16="http://schemas.microsoft.com/office/drawing/2014/main" id="{898C27E8-57C1-9BE3-B840-2EB994D06A9B}"/>
              </a:ext>
            </a:extLst>
          </p:cNvPr>
          <p:cNvGrpSpPr/>
          <p:nvPr/>
        </p:nvGrpSpPr>
        <p:grpSpPr>
          <a:xfrm>
            <a:off x="1764855" y="2020031"/>
            <a:ext cx="1994465" cy="2377440"/>
            <a:chOff x="1143000" y="1737360"/>
            <a:chExt cx="1994465" cy="2377440"/>
          </a:xfrm>
        </p:grpSpPr>
        <p:sp>
          <p:nvSpPr>
            <p:cNvPr id="12" name="Freeform: Shape 13">
              <a:extLst>
                <a:ext uri="{FF2B5EF4-FFF2-40B4-BE49-F238E27FC236}">
                  <a16:creationId xmlns:a16="http://schemas.microsoft.com/office/drawing/2014/main" id="{8BEFCB07-0613-E3B9-25FB-9BFB99957E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3000" y="1737360"/>
              <a:ext cx="1994465" cy="2377440"/>
            </a:xfrm>
            <a:custGeom>
              <a:avLst/>
              <a:gdLst>
                <a:gd name="connsiteX0" fmla="*/ 805745 w 1994465"/>
                <a:gd name="connsiteY0" fmla="*/ 0 h 2377440"/>
                <a:gd name="connsiteX1" fmla="*/ 1994465 w 1994465"/>
                <a:gd name="connsiteY1" fmla="*/ 1188720 h 2377440"/>
                <a:gd name="connsiteX2" fmla="*/ 805745 w 1994465"/>
                <a:gd name="connsiteY2" fmla="*/ 2377440 h 2377440"/>
                <a:gd name="connsiteX3" fmla="*/ 49609 w 1994465"/>
                <a:gd name="connsiteY3" fmla="*/ 2105994 h 2377440"/>
                <a:gd name="connsiteX4" fmla="*/ 0 w 1994465"/>
                <a:gd name="connsiteY4" fmla="*/ 2060907 h 2377440"/>
                <a:gd name="connsiteX5" fmla="*/ 0 w 1994465"/>
                <a:gd name="connsiteY5" fmla="*/ 316533 h 2377440"/>
                <a:gd name="connsiteX6" fmla="*/ 49609 w 1994465"/>
                <a:gd name="connsiteY6" fmla="*/ 271446 h 2377440"/>
                <a:gd name="connsiteX7" fmla="*/ 805745 w 1994465"/>
                <a:gd name="connsiteY7" fmla="*/ 0 h 2377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94465" h="2377440">
                  <a:moveTo>
                    <a:pt x="805745" y="0"/>
                  </a:moveTo>
                  <a:cubicBezTo>
                    <a:pt x="1462257" y="0"/>
                    <a:pt x="1994465" y="532208"/>
                    <a:pt x="1994465" y="1188720"/>
                  </a:cubicBezTo>
                  <a:cubicBezTo>
                    <a:pt x="1994465" y="1845232"/>
                    <a:pt x="1462257" y="2377440"/>
                    <a:pt x="805745" y="2377440"/>
                  </a:cubicBezTo>
                  <a:cubicBezTo>
                    <a:pt x="518521" y="2377440"/>
                    <a:pt x="255090" y="2275572"/>
                    <a:pt x="49609" y="2105994"/>
                  </a:cubicBezTo>
                  <a:lnTo>
                    <a:pt x="0" y="2060907"/>
                  </a:lnTo>
                  <a:lnTo>
                    <a:pt x="0" y="316533"/>
                  </a:lnTo>
                  <a:lnTo>
                    <a:pt x="49609" y="271446"/>
                  </a:lnTo>
                  <a:cubicBezTo>
                    <a:pt x="255090" y="101868"/>
                    <a:pt x="518521" y="0"/>
                    <a:pt x="80574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4F4F4F"/>
                </a:solidFill>
              </a:endParaRPr>
            </a:p>
          </p:txBody>
        </p:sp>
        <p:sp>
          <p:nvSpPr>
            <p:cNvPr id="13" name="Freeform: Shape 27">
              <a:extLst>
                <a:ext uri="{FF2B5EF4-FFF2-40B4-BE49-F238E27FC236}">
                  <a16:creationId xmlns:a16="http://schemas.microsoft.com/office/drawing/2014/main" id="{A707BD2E-A5B4-FDF2-E5EF-632DBE628F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6765" y="1936932"/>
              <a:ext cx="1766427" cy="2011680"/>
            </a:xfrm>
            <a:custGeom>
              <a:avLst/>
              <a:gdLst>
                <a:gd name="connsiteX0" fmla="*/ 691443 w 1605843"/>
                <a:gd name="connsiteY0" fmla="*/ 0 h 1828800"/>
                <a:gd name="connsiteX1" fmla="*/ 1605843 w 1605843"/>
                <a:gd name="connsiteY1" fmla="*/ 914400 h 1828800"/>
                <a:gd name="connsiteX2" fmla="*/ 691443 w 1605843"/>
                <a:gd name="connsiteY2" fmla="*/ 1828800 h 1828800"/>
                <a:gd name="connsiteX3" fmla="*/ 44865 w 1605843"/>
                <a:gd name="connsiteY3" fmla="*/ 1560979 h 1828800"/>
                <a:gd name="connsiteX4" fmla="*/ 0 w 1605843"/>
                <a:gd name="connsiteY4" fmla="*/ 1506602 h 1828800"/>
                <a:gd name="connsiteX5" fmla="*/ 0 w 1605843"/>
                <a:gd name="connsiteY5" fmla="*/ 322198 h 1828800"/>
                <a:gd name="connsiteX6" fmla="*/ 44865 w 1605843"/>
                <a:gd name="connsiteY6" fmla="*/ 267822 h 1828800"/>
                <a:gd name="connsiteX7" fmla="*/ 691443 w 1605843"/>
                <a:gd name="connsiteY7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05843" h="1828800">
                  <a:moveTo>
                    <a:pt x="691443" y="0"/>
                  </a:moveTo>
                  <a:cubicBezTo>
                    <a:pt x="1196452" y="0"/>
                    <a:pt x="1605843" y="409391"/>
                    <a:pt x="1605843" y="914400"/>
                  </a:cubicBezTo>
                  <a:cubicBezTo>
                    <a:pt x="1605843" y="1419409"/>
                    <a:pt x="1196452" y="1828800"/>
                    <a:pt x="691443" y="1828800"/>
                  </a:cubicBezTo>
                  <a:cubicBezTo>
                    <a:pt x="438939" y="1828800"/>
                    <a:pt x="210339" y="1726452"/>
                    <a:pt x="44865" y="1560979"/>
                  </a:cubicBezTo>
                  <a:lnTo>
                    <a:pt x="0" y="1506602"/>
                  </a:lnTo>
                  <a:lnTo>
                    <a:pt x="0" y="322198"/>
                  </a:lnTo>
                  <a:lnTo>
                    <a:pt x="44865" y="267822"/>
                  </a:lnTo>
                  <a:cubicBezTo>
                    <a:pt x="210339" y="102348"/>
                    <a:pt x="438939" y="0"/>
                    <a:pt x="691443" y="0"/>
                  </a:cubicBezTo>
                  <a:close/>
                </a:path>
              </a:pathLst>
            </a:custGeom>
            <a:noFill/>
            <a:ln w="15875">
              <a:solidFill>
                <a:srgbClr val="34738D"/>
              </a:solidFill>
              <a:prstDash val="lgDashDotDot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rgbClr val="4F4F4F"/>
                </a:solidFill>
              </a:endParaRPr>
            </a:p>
          </p:txBody>
        </p:sp>
      </p:grpSp>
      <p:sp>
        <p:nvSpPr>
          <p:cNvPr id="14" name="Oval 26" descr="Ingénieur programmant un robot dans une usine de robotique">
            <a:extLst>
              <a:ext uri="{FF2B5EF4-FFF2-40B4-BE49-F238E27FC236}">
                <a16:creationId xmlns:a16="http://schemas.microsoft.com/office/drawing/2014/main" id="{A11E68B9-FC91-BFC9-9294-207FCB2F70D3}"/>
              </a:ext>
            </a:extLst>
          </p:cNvPr>
          <p:cNvSpPr>
            <a:spLocks noChangeAspect="1"/>
          </p:cNvSpPr>
          <p:nvPr/>
        </p:nvSpPr>
        <p:spPr>
          <a:xfrm>
            <a:off x="1790157" y="2405446"/>
            <a:ext cx="1645920" cy="1645920"/>
          </a:xfrm>
          <a:prstGeom prst="ellipse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4F4F4F"/>
              </a:solidFill>
            </a:endParaRPr>
          </a:p>
        </p:txBody>
      </p:sp>
      <p:grpSp>
        <p:nvGrpSpPr>
          <p:cNvPr id="15" name="Group 3">
            <a:extLst>
              <a:ext uri="{FF2B5EF4-FFF2-40B4-BE49-F238E27FC236}">
                <a16:creationId xmlns:a16="http://schemas.microsoft.com/office/drawing/2014/main" id="{E278A9FE-2511-FED2-C516-F145B7BB05EE}"/>
              </a:ext>
            </a:extLst>
          </p:cNvPr>
          <p:cNvGrpSpPr/>
          <p:nvPr/>
        </p:nvGrpSpPr>
        <p:grpSpPr>
          <a:xfrm>
            <a:off x="1746670" y="2405446"/>
            <a:ext cx="550617" cy="1744374"/>
            <a:chOff x="1059178" y="2053893"/>
            <a:chExt cx="550617" cy="1744374"/>
          </a:xfrm>
        </p:grpSpPr>
        <p:sp>
          <p:nvSpPr>
            <p:cNvPr id="16" name="Freeform: Shape 11">
              <a:extLst>
                <a:ext uri="{FF2B5EF4-FFF2-40B4-BE49-F238E27FC236}">
                  <a16:creationId xmlns:a16="http://schemas.microsoft.com/office/drawing/2014/main" id="{82643A2E-9C68-C6C0-48E8-9704C0CC3C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2999" y="2053893"/>
              <a:ext cx="382977" cy="1744374"/>
            </a:xfrm>
            <a:custGeom>
              <a:avLst/>
              <a:gdLst>
                <a:gd name="connsiteX0" fmla="*/ 2 w 382977"/>
                <a:gd name="connsiteY0" fmla="*/ 0 h 1744374"/>
                <a:gd name="connsiteX1" fmla="*/ 34809 w 382977"/>
                <a:gd name="connsiteY1" fmla="*/ 31635 h 1744374"/>
                <a:gd name="connsiteX2" fmla="*/ 382977 w 382977"/>
                <a:gd name="connsiteY2" fmla="*/ 872187 h 1744374"/>
                <a:gd name="connsiteX3" fmla="*/ 34809 w 382977"/>
                <a:gd name="connsiteY3" fmla="*/ 1712739 h 1744374"/>
                <a:gd name="connsiteX4" fmla="*/ 2 w 382977"/>
                <a:gd name="connsiteY4" fmla="*/ 1744374 h 1744374"/>
                <a:gd name="connsiteX5" fmla="*/ 0 w 382977"/>
                <a:gd name="connsiteY5" fmla="*/ 1744372 h 1744374"/>
                <a:gd name="connsiteX6" fmla="*/ 0 w 382977"/>
                <a:gd name="connsiteY6" fmla="*/ 2 h 1744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2977" h="1744374">
                  <a:moveTo>
                    <a:pt x="2" y="0"/>
                  </a:moveTo>
                  <a:lnTo>
                    <a:pt x="34809" y="31635"/>
                  </a:lnTo>
                  <a:cubicBezTo>
                    <a:pt x="249925" y="246751"/>
                    <a:pt x="382977" y="543931"/>
                    <a:pt x="382977" y="872187"/>
                  </a:cubicBezTo>
                  <a:cubicBezTo>
                    <a:pt x="382977" y="1200443"/>
                    <a:pt x="249925" y="1497623"/>
                    <a:pt x="34809" y="1712739"/>
                  </a:cubicBezTo>
                  <a:lnTo>
                    <a:pt x="2" y="1744374"/>
                  </a:lnTo>
                  <a:lnTo>
                    <a:pt x="0" y="174437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34738D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4F4F4F"/>
                </a:solidFill>
              </a:endParaRPr>
            </a:p>
          </p:txBody>
        </p:sp>
        <p:sp>
          <p:nvSpPr>
            <p:cNvPr id="17" name="TextBox 14">
              <a:extLst>
                <a:ext uri="{FF2B5EF4-FFF2-40B4-BE49-F238E27FC236}">
                  <a16:creationId xmlns:a16="http://schemas.microsoft.com/office/drawing/2014/main" id="{78E7DE7C-C8C0-D522-380A-3FCF494F8DBF}"/>
                </a:ext>
              </a:extLst>
            </p:cNvPr>
            <p:cNvSpPr txBox="1"/>
            <p:nvPr/>
          </p:nvSpPr>
          <p:spPr>
            <a:xfrm>
              <a:off x="1059178" y="2695247"/>
              <a:ext cx="5506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Bernard MT Condensed" panose="02050806060905020404" pitchFamily="18" charset="0"/>
                </a:rPr>
                <a:t>01</a:t>
              </a:r>
            </a:p>
          </p:txBody>
        </p:sp>
      </p:grpSp>
      <p:sp>
        <p:nvSpPr>
          <p:cNvPr id="18" name="TextBox 28">
            <a:extLst>
              <a:ext uri="{FF2B5EF4-FFF2-40B4-BE49-F238E27FC236}">
                <a16:creationId xmlns:a16="http://schemas.microsoft.com/office/drawing/2014/main" id="{1BE431E9-FC3C-37F3-E1C0-7C0C941A263B}"/>
              </a:ext>
            </a:extLst>
          </p:cNvPr>
          <p:cNvSpPr txBox="1"/>
          <p:nvPr/>
        </p:nvSpPr>
        <p:spPr>
          <a:xfrm>
            <a:off x="1510431" y="4696996"/>
            <a:ext cx="25033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spcBef>
                <a:spcPct val="20000"/>
              </a:spcBef>
              <a:defRPr/>
            </a:pPr>
            <a:r>
              <a:rPr lang="en-US" dirty="0" err="1">
                <a:solidFill>
                  <a:srgbClr val="34738D"/>
                </a:solidFill>
                <a:latin typeface="Bernard MT Condensed" panose="02050806060905020404" pitchFamily="18" charset="0"/>
              </a:rPr>
              <a:t>Approche</a:t>
            </a:r>
            <a:r>
              <a:rPr lang="en-US" dirty="0">
                <a:solidFill>
                  <a:srgbClr val="34738D"/>
                </a:solidFill>
                <a:latin typeface="Bernard MT Condensed" panose="02050806060905020404" pitchFamily="18" charset="0"/>
              </a:rPr>
              <a:t>  </a:t>
            </a:r>
            <a:r>
              <a:rPr lang="en-US" dirty="0" err="1">
                <a:solidFill>
                  <a:srgbClr val="34738D"/>
                </a:solidFill>
                <a:latin typeface="Bernard MT Condensed" panose="02050806060905020404" pitchFamily="18" charset="0"/>
              </a:rPr>
              <a:t>ressources</a:t>
            </a:r>
            <a:r>
              <a:rPr lang="en-US" dirty="0">
                <a:solidFill>
                  <a:srgbClr val="34738D"/>
                </a:solidFill>
                <a:latin typeface="Bernard MT Condensed" panose="02050806060905020404" pitchFamily="18" charset="0"/>
              </a:rPr>
              <a:t> et  </a:t>
            </a:r>
            <a:r>
              <a:rPr lang="en-US" dirty="0" err="1">
                <a:solidFill>
                  <a:srgbClr val="34738D"/>
                </a:solidFill>
                <a:latin typeface="Bernard MT Condensed" panose="02050806060905020404" pitchFamily="18" charset="0"/>
              </a:rPr>
              <a:t>compétences</a:t>
            </a:r>
            <a:r>
              <a:rPr lang="en-US" dirty="0">
                <a:solidFill>
                  <a:srgbClr val="34738D"/>
                </a:solidFill>
                <a:latin typeface="Bernard MT Condensed" panose="02050806060905020404" pitchFamily="18" charset="0"/>
              </a:rPr>
              <a:t> </a:t>
            </a:r>
          </a:p>
          <a:p>
            <a:pPr defTabSz="1219170">
              <a:spcBef>
                <a:spcPct val="20000"/>
              </a:spcBef>
              <a:defRPr/>
            </a:pPr>
            <a:endParaRPr lang="en-US" sz="400" b="1" dirty="0">
              <a:solidFill>
                <a:srgbClr val="4F4F4F"/>
              </a:solidFill>
              <a:latin typeface="Candara" panose="020E0502030303020204" pitchFamily="34" charset="0"/>
            </a:endParaRPr>
          </a:p>
          <a:p>
            <a:pPr defTabSz="1219170">
              <a:spcBef>
                <a:spcPct val="20000"/>
              </a:spcBef>
              <a:defRPr/>
            </a:pPr>
            <a:endParaRPr lang="en-US" sz="100" b="1" dirty="0">
              <a:solidFill>
                <a:srgbClr val="4F4F4F"/>
              </a:solidFill>
              <a:latin typeface="Candara" panose="020E0502030303020204" pitchFamily="34" charset="0"/>
            </a:endParaRPr>
          </a:p>
          <a:p>
            <a:r>
              <a:rPr lang="en-US" dirty="0">
                <a:solidFill>
                  <a:srgbClr val="4F4F4F"/>
                </a:solidFill>
                <a:latin typeface="Candara" panose="020E0502030303020204" pitchFamily="34" charset="0"/>
              </a:rPr>
              <a:t>Edith Penrose </a:t>
            </a:r>
          </a:p>
          <a:p>
            <a:r>
              <a:rPr lang="en-US" dirty="0">
                <a:solidFill>
                  <a:srgbClr val="4F4F4F"/>
                </a:solidFill>
                <a:latin typeface="Candara" panose="020E0502030303020204" pitchFamily="34" charset="0"/>
              </a:rPr>
              <a:t>Hamel et </a:t>
            </a:r>
            <a:r>
              <a:rPr lang="en-US" dirty="0" err="1">
                <a:solidFill>
                  <a:srgbClr val="4F4F4F"/>
                </a:solidFill>
                <a:latin typeface="Candara" panose="020E0502030303020204" pitchFamily="34" charset="0"/>
              </a:rPr>
              <a:t>prahalad</a:t>
            </a:r>
            <a:r>
              <a:rPr lang="en-US" dirty="0">
                <a:solidFill>
                  <a:srgbClr val="4F4F4F"/>
                </a:solidFill>
                <a:latin typeface="Candara" panose="020E0502030303020204" pitchFamily="34" charset="0"/>
              </a:rPr>
              <a:t> </a:t>
            </a:r>
          </a:p>
          <a:p>
            <a:r>
              <a:rPr lang="en-US" dirty="0">
                <a:solidFill>
                  <a:srgbClr val="4F4F4F"/>
                </a:solidFill>
                <a:latin typeface="Candara" panose="020E0502030303020204" pitchFamily="34" charset="0"/>
              </a:rPr>
              <a:t>Barney</a:t>
            </a:r>
          </a:p>
        </p:txBody>
      </p:sp>
      <p:sp>
        <p:nvSpPr>
          <p:cNvPr id="23" name="Flèche : bas 22">
            <a:extLst>
              <a:ext uri="{FF2B5EF4-FFF2-40B4-BE49-F238E27FC236}">
                <a16:creationId xmlns:a16="http://schemas.microsoft.com/office/drawing/2014/main" id="{61A8E655-5105-5C29-26C6-105E7212E07C}"/>
              </a:ext>
            </a:extLst>
          </p:cNvPr>
          <p:cNvSpPr/>
          <p:nvPr/>
        </p:nvSpPr>
        <p:spPr>
          <a:xfrm>
            <a:off x="8686800" y="4559643"/>
            <a:ext cx="308919" cy="548640"/>
          </a:xfrm>
          <a:prstGeom prst="downArrow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1953310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75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90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3" grpId="0"/>
      <p:bldP spid="74" grpId="0" animBg="1"/>
      <p:bldP spid="75" grpId="0"/>
      <p:bldP spid="76" grpId="0" animBg="1"/>
      <p:bldP spid="77" grpId="0" animBg="1"/>
      <p:bldP spid="14" grpId="0" animBg="1"/>
      <p:bldP spid="1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>
            <a:extLst>
              <a:ext uri="{FF2B5EF4-FFF2-40B4-BE49-F238E27FC236}">
                <a16:creationId xmlns:a16="http://schemas.microsoft.com/office/drawing/2014/main" id="{82D2C064-72C4-7565-6F5C-6A5756D4B030}"/>
              </a:ext>
            </a:extLst>
          </p:cNvPr>
          <p:cNvSpPr txBox="1"/>
          <p:nvPr/>
        </p:nvSpPr>
        <p:spPr>
          <a:xfrm>
            <a:off x="655019" y="374963"/>
            <a:ext cx="55089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pc="10" dirty="0">
                <a:solidFill>
                  <a:srgbClr val="C00000"/>
                </a:solidFill>
                <a:latin typeface="Calibri"/>
                <a:ea typeface="+mj-ea"/>
                <a:cs typeface="Calibri"/>
              </a:rPr>
              <a:t>Démarche   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CD0B0EC-5BB1-5312-69A8-3B355B62A4F8}"/>
              </a:ext>
            </a:extLst>
          </p:cNvPr>
          <p:cNvSpPr/>
          <p:nvPr/>
        </p:nvSpPr>
        <p:spPr>
          <a:xfrm>
            <a:off x="228600" y="447293"/>
            <a:ext cx="448309" cy="512445"/>
          </a:xfrm>
          <a:custGeom>
            <a:avLst/>
            <a:gdLst/>
            <a:ahLst/>
            <a:cxnLst/>
            <a:rect l="l" t="t" r="r" b="b"/>
            <a:pathLst>
              <a:path w="448309" h="512444">
                <a:moveTo>
                  <a:pt x="0" y="0"/>
                </a:moveTo>
                <a:lnTo>
                  <a:pt x="0" y="512190"/>
                </a:lnTo>
                <a:lnTo>
                  <a:pt x="448056" y="25603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6" name="Straight Line buttom">
            <a:extLst>
              <a:ext uri="{FF2B5EF4-FFF2-40B4-BE49-F238E27FC236}">
                <a16:creationId xmlns:a16="http://schemas.microsoft.com/office/drawing/2014/main" id="{18C8C789-2D63-10CD-DCC6-3E6E10690870}"/>
              </a:ext>
            </a:extLst>
          </p:cNvPr>
          <p:cNvCxnSpPr>
            <a:cxnSpLocks/>
          </p:cNvCxnSpPr>
          <p:nvPr/>
        </p:nvCxnSpPr>
        <p:spPr>
          <a:xfrm>
            <a:off x="-207169" y="8052436"/>
            <a:ext cx="6820935" cy="0"/>
          </a:xfrm>
          <a:prstGeom prst="line">
            <a:avLst/>
          </a:prstGeom>
          <a:ln w="19050">
            <a:solidFill>
              <a:srgbClr val="4C4F54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Prabook">
            <a:extLst>
              <a:ext uri="{FF2B5EF4-FFF2-40B4-BE49-F238E27FC236}">
                <a16:creationId xmlns:a16="http://schemas.microsoft.com/office/drawing/2014/main" id="{4C0B16E1-3A8F-EFC9-7F33-7D457A659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754" y="5877530"/>
            <a:ext cx="1449844" cy="8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Line buttom">
            <a:extLst>
              <a:ext uri="{FF2B5EF4-FFF2-40B4-BE49-F238E27FC236}">
                <a16:creationId xmlns:a16="http://schemas.microsoft.com/office/drawing/2014/main" id="{1641EBCA-0C85-F33C-979C-87844A223175}"/>
              </a:ext>
            </a:extLst>
          </p:cNvPr>
          <p:cNvCxnSpPr>
            <a:cxnSpLocks/>
          </p:cNvCxnSpPr>
          <p:nvPr/>
        </p:nvCxnSpPr>
        <p:spPr>
          <a:xfrm>
            <a:off x="213754" y="5796280"/>
            <a:ext cx="11764492" cy="0"/>
          </a:xfrm>
          <a:prstGeom prst="line">
            <a:avLst/>
          </a:prstGeom>
          <a:ln w="19050">
            <a:solidFill>
              <a:srgbClr val="4C4F54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5D15469B-5103-2CD6-D06A-35BCF72A48A1}"/>
              </a:ext>
            </a:extLst>
          </p:cNvPr>
          <p:cNvSpPr txBox="1"/>
          <p:nvPr/>
        </p:nvSpPr>
        <p:spPr>
          <a:xfrm>
            <a:off x="1902598" y="6178748"/>
            <a:ext cx="619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4F4F4F"/>
                </a:solidFill>
                <a:latin typeface="Candara" panose="020E0502030303020204" pitchFamily="34" charset="0"/>
              </a:rPr>
              <a:t>Edith Penrose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D276B0-F3A9-B29C-487E-5CA55242D5BF}"/>
              </a:ext>
            </a:extLst>
          </p:cNvPr>
          <p:cNvSpPr/>
          <p:nvPr/>
        </p:nvSpPr>
        <p:spPr>
          <a:xfrm>
            <a:off x="2371213" y="1147103"/>
            <a:ext cx="7246374" cy="873760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2">
                <a:lumMod val="20000"/>
                <a:lumOff val="8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Analyse des ressources et des compétences </a:t>
            </a:r>
            <a:endParaRPr lang="fr-TN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04E841-102A-62FF-DE59-E315AC731194}"/>
              </a:ext>
            </a:extLst>
          </p:cNvPr>
          <p:cNvSpPr/>
          <p:nvPr/>
        </p:nvSpPr>
        <p:spPr>
          <a:xfrm>
            <a:off x="1295907" y="2927938"/>
            <a:ext cx="3017520" cy="94487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00B0F0"/>
                </a:solidFill>
              </a:rPr>
              <a:t>Ressources tangibles </a:t>
            </a:r>
            <a:endParaRPr lang="fr-TN" dirty="0">
              <a:solidFill>
                <a:srgbClr val="00B0F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130F61-E9FF-2BB8-9023-00B9A6ED2D23}"/>
              </a:ext>
            </a:extLst>
          </p:cNvPr>
          <p:cNvSpPr/>
          <p:nvPr/>
        </p:nvSpPr>
        <p:spPr>
          <a:xfrm>
            <a:off x="4409189" y="2912521"/>
            <a:ext cx="3017520" cy="94487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00B0F0"/>
                </a:solidFill>
              </a:rPr>
              <a:t>Ressources intangibles </a:t>
            </a:r>
            <a:r>
              <a:rPr lang="fr-FR" dirty="0"/>
              <a:t>Re</a:t>
            </a:r>
            <a:endParaRPr lang="fr-TN" dirty="0"/>
          </a:p>
        </p:txBody>
      </p:sp>
      <p:sp>
        <p:nvSpPr>
          <p:cNvPr id="16" name="Flèche : courbe vers la gauche 15">
            <a:extLst>
              <a:ext uri="{FF2B5EF4-FFF2-40B4-BE49-F238E27FC236}">
                <a16:creationId xmlns:a16="http://schemas.microsoft.com/office/drawing/2014/main" id="{25C8DA5D-7503-E197-6C37-698E15F7A384}"/>
              </a:ext>
            </a:extLst>
          </p:cNvPr>
          <p:cNvSpPr/>
          <p:nvPr/>
        </p:nvSpPr>
        <p:spPr>
          <a:xfrm>
            <a:off x="10815560" y="2533707"/>
            <a:ext cx="1190623" cy="1865295"/>
          </a:xfrm>
          <a:prstGeom prst="curvedLef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 dirty="0">
              <a:solidFill>
                <a:srgbClr val="00B0F0"/>
              </a:solidFill>
            </a:endParaRPr>
          </a:p>
        </p:txBody>
      </p:sp>
      <p:sp>
        <p:nvSpPr>
          <p:cNvPr id="24" name="Flèche : courbe vers la droite 23">
            <a:extLst>
              <a:ext uri="{FF2B5EF4-FFF2-40B4-BE49-F238E27FC236}">
                <a16:creationId xmlns:a16="http://schemas.microsoft.com/office/drawing/2014/main" id="{8E0BB256-46A7-757C-D647-15B2ECF01391}"/>
              </a:ext>
            </a:extLst>
          </p:cNvPr>
          <p:cNvSpPr/>
          <p:nvPr/>
        </p:nvSpPr>
        <p:spPr>
          <a:xfrm>
            <a:off x="49425" y="2533707"/>
            <a:ext cx="1250564" cy="1725875"/>
          </a:xfrm>
          <a:prstGeom prst="curvedRightArrow">
            <a:avLst>
              <a:gd name="adj1" fmla="val 20047"/>
              <a:gd name="adj2" fmla="val 39354"/>
              <a:gd name="adj3" fmla="val 25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 dirty="0">
              <a:solidFill>
                <a:schemeClr val="tx1"/>
              </a:solidFill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0646204F-6E98-7F48-A4DA-93B304F45465}"/>
              </a:ext>
            </a:extLst>
          </p:cNvPr>
          <p:cNvSpPr txBox="1"/>
          <p:nvPr/>
        </p:nvSpPr>
        <p:spPr>
          <a:xfrm>
            <a:off x="7523981" y="2942185"/>
            <a:ext cx="3402090" cy="923330"/>
          </a:xfrm>
          <a:prstGeom prst="rect">
            <a:avLst/>
          </a:prstGeom>
          <a:noFill/>
          <a:ln>
            <a:solidFill>
              <a:srgbClr val="00B0F0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endParaRPr lang="fr-FR" dirty="0">
              <a:solidFill>
                <a:srgbClr val="00B0F0"/>
              </a:solidFill>
            </a:endParaRPr>
          </a:p>
          <a:p>
            <a:pPr algn="ctr"/>
            <a:r>
              <a:rPr lang="fr-FR" dirty="0">
                <a:solidFill>
                  <a:srgbClr val="00B0F0"/>
                </a:solidFill>
              </a:rPr>
              <a:t>Compétences</a:t>
            </a:r>
            <a:endParaRPr lang="fr-FR" dirty="0">
              <a:solidFill>
                <a:srgbClr val="002060"/>
              </a:solidFill>
            </a:endParaRPr>
          </a:p>
          <a:p>
            <a:pPr algn="ctr"/>
            <a:r>
              <a:rPr lang="fr-FR" dirty="0">
                <a:solidFill>
                  <a:srgbClr val="002060"/>
                </a:solidFill>
              </a:rPr>
              <a:t> </a:t>
            </a:r>
            <a:endParaRPr lang="fr-TN" dirty="0">
              <a:solidFill>
                <a:srgbClr val="002060"/>
              </a:solidFill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2FC5ACE-C9EF-A809-AE9E-314E55FBCADD}"/>
              </a:ext>
            </a:extLst>
          </p:cNvPr>
          <p:cNvSpPr txBox="1"/>
          <p:nvPr/>
        </p:nvSpPr>
        <p:spPr>
          <a:xfrm>
            <a:off x="7075067" y="5005307"/>
            <a:ext cx="319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B0F0"/>
                </a:solidFill>
              </a:rPr>
              <a:t>Compétences distinctives (clés) </a:t>
            </a:r>
            <a:endParaRPr lang="fr-TN" b="1" dirty="0">
              <a:solidFill>
                <a:srgbClr val="00B0F0"/>
              </a:solidFill>
            </a:endParaRPr>
          </a:p>
        </p:txBody>
      </p:sp>
      <p:sp>
        <p:nvSpPr>
          <p:cNvPr id="28" name="Flèche : bas 27">
            <a:extLst>
              <a:ext uri="{FF2B5EF4-FFF2-40B4-BE49-F238E27FC236}">
                <a16:creationId xmlns:a16="http://schemas.microsoft.com/office/drawing/2014/main" id="{D48886FA-4EF0-0FD0-7B19-44737B2A8A3E}"/>
              </a:ext>
            </a:extLst>
          </p:cNvPr>
          <p:cNvSpPr/>
          <p:nvPr/>
        </p:nvSpPr>
        <p:spPr>
          <a:xfrm>
            <a:off x="7449426" y="3979119"/>
            <a:ext cx="513868" cy="858019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9B31F87-C137-6797-88B7-72B8C0E9C884}"/>
              </a:ext>
            </a:extLst>
          </p:cNvPr>
          <p:cNvSpPr txBox="1"/>
          <p:nvPr/>
        </p:nvSpPr>
        <p:spPr>
          <a:xfrm>
            <a:off x="2814069" y="5074113"/>
            <a:ext cx="319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B0F0"/>
                </a:solidFill>
              </a:rPr>
              <a:t>Ressources stratégiques  </a:t>
            </a:r>
            <a:endParaRPr lang="fr-TN" b="1" dirty="0">
              <a:solidFill>
                <a:srgbClr val="00B0F0"/>
              </a:solidFill>
            </a:endParaRPr>
          </a:p>
        </p:txBody>
      </p:sp>
      <p:pic>
        <p:nvPicPr>
          <p:cNvPr id="7" name="Picture 2" descr="Jay Barney - Wikipedia">
            <a:extLst>
              <a:ext uri="{FF2B5EF4-FFF2-40B4-BE49-F238E27FC236}">
                <a16:creationId xmlns:a16="http://schemas.microsoft.com/office/drawing/2014/main" id="{D60BD8DC-1FB8-3B6B-2E23-ED34C39F2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7143" y="5881082"/>
            <a:ext cx="1158793" cy="8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419C756-615B-1C52-5952-F4C6E4E15D63}"/>
              </a:ext>
            </a:extLst>
          </p:cNvPr>
          <p:cNvSpPr txBox="1"/>
          <p:nvPr/>
        </p:nvSpPr>
        <p:spPr>
          <a:xfrm>
            <a:off x="4869753" y="6185315"/>
            <a:ext cx="2015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4F4F4F"/>
                </a:solidFill>
                <a:latin typeface="Candara" panose="020E0502030303020204" pitchFamily="34" charset="0"/>
              </a:rPr>
              <a:t>Jay Barney </a:t>
            </a:r>
            <a:endParaRPr lang="fr-TN" dirty="0">
              <a:solidFill>
                <a:srgbClr val="4F4F4F"/>
              </a:solidFill>
              <a:latin typeface="Candara" panose="020E0502030303020204" pitchFamily="34" charset="0"/>
            </a:endParaRPr>
          </a:p>
        </p:txBody>
      </p:sp>
      <p:pic>
        <p:nvPicPr>
          <p:cNvPr id="3" name="object 35">
            <a:extLst>
              <a:ext uri="{FF2B5EF4-FFF2-40B4-BE49-F238E27FC236}">
                <a16:creationId xmlns:a16="http://schemas.microsoft.com/office/drawing/2014/main" id="{AA1431E1-6758-874B-5BAD-A3625DBB623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39679" y="156349"/>
            <a:ext cx="1166505" cy="453892"/>
          </a:xfrm>
          <a:prstGeom prst="rect">
            <a:avLst/>
          </a:prstGeom>
        </p:spPr>
      </p:pic>
      <p:pic>
        <p:nvPicPr>
          <p:cNvPr id="10" name="Google Shape;497;p31">
            <a:extLst>
              <a:ext uri="{FF2B5EF4-FFF2-40B4-BE49-F238E27FC236}">
                <a16:creationId xmlns:a16="http://schemas.microsoft.com/office/drawing/2014/main" id="{48B41D94-EDC6-8B00-6DEA-E97A643562F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06096" y="0"/>
            <a:ext cx="2761905" cy="170080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Flèche : bas 12">
            <a:extLst>
              <a:ext uri="{FF2B5EF4-FFF2-40B4-BE49-F238E27FC236}">
                <a16:creationId xmlns:a16="http://schemas.microsoft.com/office/drawing/2014/main" id="{5B9B5E63-F4BE-A5C0-EEE2-D83AA08A0A58}"/>
              </a:ext>
            </a:extLst>
          </p:cNvPr>
          <p:cNvSpPr/>
          <p:nvPr/>
        </p:nvSpPr>
        <p:spPr>
          <a:xfrm>
            <a:off x="4152255" y="3995773"/>
            <a:ext cx="513868" cy="858019"/>
          </a:xfrm>
          <a:prstGeom prst="downArrow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 dirty="0"/>
          </a:p>
        </p:txBody>
      </p:sp>
    </p:spTree>
    <p:extLst>
      <p:ext uri="{BB962C8B-B14F-4D97-AF65-F5344CB8AC3E}">
        <p14:creationId xmlns:p14="http://schemas.microsoft.com/office/powerpoint/2010/main" val="2736920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91" name="Rectangle 7190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93" name="Rectangle 7192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7170" name="Picture 2" descr="Ressources et Compétences | Saint-Sauveur-en-Puisaye">
            <a:extLst>
              <a:ext uri="{FF2B5EF4-FFF2-40B4-BE49-F238E27FC236}">
                <a16:creationId xmlns:a16="http://schemas.microsoft.com/office/drawing/2014/main" id="{A3F23706-284C-E6AA-AFA4-068FC522ED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2" r="6205"/>
          <a:stretch/>
        </p:blipFill>
        <p:spPr bwMode="auto">
          <a:xfrm>
            <a:off x="179940" y="182880"/>
            <a:ext cx="5915025" cy="6499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4" descr="▷ Comment optimiser la gestion d'inventaire pour gagner du temps et de  l'argent ?">
            <a:extLst>
              <a:ext uri="{FF2B5EF4-FFF2-40B4-BE49-F238E27FC236}">
                <a16:creationId xmlns:a16="http://schemas.microsoft.com/office/drawing/2014/main" id="{506F96F5-5773-3D07-A6CE-0CC64953BBC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85" r="16538" b="-1"/>
          <a:stretch/>
        </p:blipFill>
        <p:spPr bwMode="auto">
          <a:xfrm>
            <a:off x="6096844" y="182880"/>
            <a:ext cx="5915025" cy="6499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E1841C2-4C28-5EDB-830E-8B2D9545D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6981" y="2951163"/>
            <a:ext cx="9795637" cy="22207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Activité</a:t>
            </a:r>
            <a:r>
              <a:rPr lang="en-US" sz="5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1 </a:t>
            </a:r>
          </a:p>
        </p:txBody>
      </p:sp>
      <p:pic>
        <p:nvPicPr>
          <p:cNvPr id="4" name="object 35">
            <a:extLst>
              <a:ext uri="{FF2B5EF4-FFF2-40B4-BE49-F238E27FC236}">
                <a16:creationId xmlns:a16="http://schemas.microsoft.com/office/drawing/2014/main" id="{40ECAA2C-495C-524A-1C59-B1803931442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39679" y="156349"/>
            <a:ext cx="1166505" cy="45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486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2985" y="1325054"/>
            <a:ext cx="1950720" cy="1960245"/>
            <a:chOff x="1022985" y="1325054"/>
            <a:chExt cx="1950720" cy="19602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1560" y="1353692"/>
              <a:ext cx="1892807" cy="190233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37272" y="1339341"/>
              <a:ext cx="1922145" cy="1931670"/>
            </a:xfrm>
            <a:custGeom>
              <a:avLst/>
              <a:gdLst/>
              <a:ahLst/>
              <a:cxnLst/>
              <a:rect l="l" t="t" r="r" b="b"/>
              <a:pathLst>
                <a:path w="1922145" h="1931670">
                  <a:moveTo>
                    <a:pt x="960945" y="0"/>
                  </a:moveTo>
                  <a:lnTo>
                    <a:pt x="1010475" y="1270"/>
                  </a:lnTo>
                  <a:lnTo>
                    <a:pt x="1059497" y="4825"/>
                  </a:lnTo>
                  <a:lnTo>
                    <a:pt x="1154747" y="19685"/>
                  </a:lnTo>
                  <a:lnTo>
                    <a:pt x="1246568" y="43561"/>
                  </a:lnTo>
                  <a:lnTo>
                    <a:pt x="1334833" y="75692"/>
                  </a:lnTo>
                  <a:lnTo>
                    <a:pt x="1419034" y="116459"/>
                  </a:lnTo>
                  <a:lnTo>
                    <a:pt x="1497901" y="165227"/>
                  </a:lnTo>
                  <a:lnTo>
                    <a:pt x="1572069" y="220725"/>
                  </a:lnTo>
                  <a:lnTo>
                    <a:pt x="1640141" y="282829"/>
                  </a:lnTo>
                  <a:lnTo>
                    <a:pt x="1702117" y="351663"/>
                  </a:lnTo>
                  <a:lnTo>
                    <a:pt x="1757743" y="425831"/>
                  </a:lnTo>
                  <a:lnTo>
                    <a:pt x="1805622" y="505587"/>
                  </a:lnTo>
                  <a:lnTo>
                    <a:pt x="1845881" y="589788"/>
                  </a:lnTo>
                  <a:lnTo>
                    <a:pt x="1878520" y="678434"/>
                  </a:lnTo>
                  <a:lnTo>
                    <a:pt x="1901888" y="771144"/>
                  </a:lnTo>
                  <a:lnTo>
                    <a:pt x="1916366" y="866775"/>
                  </a:lnTo>
                  <a:lnTo>
                    <a:pt x="1920430" y="915670"/>
                  </a:lnTo>
                  <a:lnTo>
                    <a:pt x="1921573" y="965581"/>
                  </a:lnTo>
                  <a:lnTo>
                    <a:pt x="1920430" y="1015111"/>
                  </a:lnTo>
                  <a:lnTo>
                    <a:pt x="1916747" y="1064387"/>
                  </a:lnTo>
                  <a:lnTo>
                    <a:pt x="1902269" y="1160145"/>
                  </a:lnTo>
                  <a:lnTo>
                    <a:pt x="1878520" y="1252855"/>
                  </a:lnTo>
                  <a:lnTo>
                    <a:pt x="1846262" y="1341501"/>
                  </a:lnTo>
                  <a:lnTo>
                    <a:pt x="1805622" y="1426083"/>
                  </a:lnTo>
                  <a:lnTo>
                    <a:pt x="1757743" y="1505458"/>
                  </a:lnTo>
                  <a:lnTo>
                    <a:pt x="1702117" y="1579880"/>
                  </a:lnTo>
                  <a:lnTo>
                    <a:pt x="1640141" y="1648460"/>
                  </a:lnTo>
                  <a:lnTo>
                    <a:pt x="1572069" y="1710817"/>
                  </a:lnTo>
                  <a:lnTo>
                    <a:pt x="1497901" y="1766443"/>
                  </a:lnTo>
                  <a:lnTo>
                    <a:pt x="1419034" y="1814830"/>
                  </a:lnTo>
                  <a:lnTo>
                    <a:pt x="1334833" y="1855470"/>
                  </a:lnTo>
                  <a:lnTo>
                    <a:pt x="1246568" y="1887728"/>
                  </a:lnTo>
                  <a:lnTo>
                    <a:pt x="1154366" y="1911477"/>
                  </a:lnTo>
                  <a:lnTo>
                    <a:pt x="1059497" y="1926336"/>
                  </a:lnTo>
                  <a:lnTo>
                    <a:pt x="1010094" y="1930019"/>
                  </a:lnTo>
                  <a:lnTo>
                    <a:pt x="960945" y="1931162"/>
                  </a:lnTo>
                  <a:lnTo>
                    <a:pt x="911542" y="1930019"/>
                  </a:lnTo>
                  <a:lnTo>
                    <a:pt x="862520" y="1926336"/>
                  </a:lnTo>
                  <a:lnTo>
                    <a:pt x="767270" y="1911477"/>
                  </a:lnTo>
                  <a:lnTo>
                    <a:pt x="675068" y="1887728"/>
                  </a:lnTo>
                  <a:lnTo>
                    <a:pt x="586803" y="1855470"/>
                  </a:lnTo>
                  <a:lnTo>
                    <a:pt x="502983" y="1814830"/>
                  </a:lnTo>
                  <a:lnTo>
                    <a:pt x="423735" y="1766443"/>
                  </a:lnTo>
                  <a:lnTo>
                    <a:pt x="349567" y="1710817"/>
                  </a:lnTo>
                  <a:lnTo>
                    <a:pt x="281495" y="1648460"/>
                  </a:lnTo>
                  <a:lnTo>
                    <a:pt x="219481" y="1579880"/>
                  </a:lnTo>
                  <a:lnTo>
                    <a:pt x="163906" y="1505458"/>
                  </a:lnTo>
                  <a:lnTo>
                    <a:pt x="115976" y="1426083"/>
                  </a:lnTo>
                  <a:lnTo>
                    <a:pt x="75298" y="1341501"/>
                  </a:lnTo>
                  <a:lnTo>
                    <a:pt x="43078" y="1252855"/>
                  </a:lnTo>
                  <a:lnTo>
                    <a:pt x="19316" y="1160145"/>
                  </a:lnTo>
                  <a:lnTo>
                    <a:pt x="4838" y="1064387"/>
                  </a:lnTo>
                  <a:lnTo>
                    <a:pt x="1206" y="1015111"/>
                  </a:lnTo>
                  <a:lnTo>
                    <a:pt x="0" y="965581"/>
                  </a:lnTo>
                  <a:lnTo>
                    <a:pt x="1206" y="916051"/>
                  </a:lnTo>
                  <a:lnTo>
                    <a:pt x="4838" y="866775"/>
                  </a:lnTo>
                  <a:lnTo>
                    <a:pt x="19316" y="771017"/>
                  </a:lnTo>
                  <a:lnTo>
                    <a:pt x="43078" y="678815"/>
                  </a:lnTo>
                  <a:lnTo>
                    <a:pt x="75298" y="589788"/>
                  </a:lnTo>
                  <a:lnTo>
                    <a:pt x="115976" y="505587"/>
                  </a:lnTo>
                  <a:lnTo>
                    <a:pt x="163906" y="425831"/>
                  </a:lnTo>
                  <a:lnTo>
                    <a:pt x="219481" y="351663"/>
                  </a:lnTo>
                  <a:lnTo>
                    <a:pt x="281495" y="282829"/>
                  </a:lnTo>
                  <a:lnTo>
                    <a:pt x="349567" y="220725"/>
                  </a:lnTo>
                  <a:lnTo>
                    <a:pt x="423608" y="165227"/>
                  </a:lnTo>
                  <a:lnTo>
                    <a:pt x="502983" y="116459"/>
                  </a:lnTo>
                  <a:lnTo>
                    <a:pt x="586803" y="75692"/>
                  </a:lnTo>
                  <a:lnTo>
                    <a:pt x="675068" y="43561"/>
                  </a:lnTo>
                  <a:lnTo>
                    <a:pt x="767270" y="19685"/>
                  </a:lnTo>
                  <a:lnTo>
                    <a:pt x="862520" y="4825"/>
                  </a:lnTo>
                  <a:lnTo>
                    <a:pt x="911542" y="1270"/>
                  </a:lnTo>
                  <a:lnTo>
                    <a:pt x="960945" y="0"/>
                  </a:lnTo>
                  <a:close/>
                </a:path>
              </a:pathLst>
            </a:custGeom>
            <a:ln w="28575">
              <a:solidFill>
                <a:srgbClr val="FF2B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3683825" y="2761043"/>
            <a:ext cx="1950720" cy="1950720"/>
            <a:chOff x="3683825" y="2761043"/>
            <a:chExt cx="1950720" cy="195072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2464" y="2789554"/>
              <a:ext cx="1892808" cy="189331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698113" y="2775330"/>
              <a:ext cx="1922145" cy="1922145"/>
            </a:xfrm>
            <a:custGeom>
              <a:avLst/>
              <a:gdLst/>
              <a:ahLst/>
              <a:cxnLst/>
              <a:rect l="l" t="t" r="r" b="b"/>
              <a:pathLst>
                <a:path w="1922145" h="1922145">
                  <a:moveTo>
                    <a:pt x="961009" y="0"/>
                  </a:moveTo>
                  <a:lnTo>
                    <a:pt x="1010538" y="1143"/>
                  </a:lnTo>
                  <a:lnTo>
                    <a:pt x="1059434" y="4826"/>
                  </a:lnTo>
                  <a:lnTo>
                    <a:pt x="1154811" y="19304"/>
                  </a:lnTo>
                  <a:lnTo>
                    <a:pt x="1246632" y="43053"/>
                  </a:lnTo>
                  <a:lnTo>
                    <a:pt x="1334897" y="75311"/>
                  </a:lnTo>
                  <a:lnTo>
                    <a:pt x="1418971" y="116078"/>
                  </a:lnTo>
                  <a:lnTo>
                    <a:pt x="1497964" y="163957"/>
                  </a:lnTo>
                  <a:lnTo>
                    <a:pt x="1572133" y="219583"/>
                  </a:lnTo>
                  <a:lnTo>
                    <a:pt x="1640077" y="281559"/>
                  </a:lnTo>
                  <a:lnTo>
                    <a:pt x="1702181" y="349631"/>
                  </a:lnTo>
                  <a:lnTo>
                    <a:pt x="1757679" y="423799"/>
                  </a:lnTo>
                  <a:lnTo>
                    <a:pt x="1805686" y="503174"/>
                  </a:lnTo>
                  <a:lnTo>
                    <a:pt x="1845945" y="586994"/>
                  </a:lnTo>
                  <a:lnTo>
                    <a:pt x="1878584" y="675259"/>
                  </a:lnTo>
                  <a:lnTo>
                    <a:pt x="1901952" y="767461"/>
                  </a:lnTo>
                  <a:lnTo>
                    <a:pt x="1916429" y="862711"/>
                  </a:lnTo>
                  <a:lnTo>
                    <a:pt x="1920494" y="911606"/>
                  </a:lnTo>
                  <a:lnTo>
                    <a:pt x="1921637" y="961263"/>
                  </a:lnTo>
                  <a:lnTo>
                    <a:pt x="1920494" y="1010793"/>
                  </a:lnTo>
                  <a:lnTo>
                    <a:pt x="1916811" y="1059688"/>
                  </a:lnTo>
                  <a:lnTo>
                    <a:pt x="1902333" y="1154938"/>
                  </a:lnTo>
                  <a:lnTo>
                    <a:pt x="1878584" y="1246886"/>
                  </a:lnTo>
                  <a:lnTo>
                    <a:pt x="1846326" y="1335151"/>
                  </a:lnTo>
                  <a:lnTo>
                    <a:pt x="1805686" y="1419352"/>
                  </a:lnTo>
                  <a:lnTo>
                    <a:pt x="1757679" y="1498219"/>
                  </a:lnTo>
                  <a:lnTo>
                    <a:pt x="1702181" y="1572387"/>
                  </a:lnTo>
                  <a:lnTo>
                    <a:pt x="1640077" y="1640459"/>
                  </a:lnTo>
                  <a:lnTo>
                    <a:pt x="1572133" y="1702562"/>
                  </a:lnTo>
                  <a:lnTo>
                    <a:pt x="1497964" y="1758061"/>
                  </a:lnTo>
                  <a:lnTo>
                    <a:pt x="1418971" y="1806067"/>
                  </a:lnTo>
                  <a:lnTo>
                    <a:pt x="1334897" y="1846326"/>
                  </a:lnTo>
                  <a:lnTo>
                    <a:pt x="1246632" y="1878965"/>
                  </a:lnTo>
                  <a:lnTo>
                    <a:pt x="1154302" y="1902333"/>
                  </a:lnTo>
                  <a:lnTo>
                    <a:pt x="1059561" y="1916811"/>
                  </a:lnTo>
                  <a:lnTo>
                    <a:pt x="1010285" y="1920875"/>
                  </a:lnTo>
                  <a:lnTo>
                    <a:pt x="961009" y="1922018"/>
                  </a:lnTo>
                  <a:lnTo>
                    <a:pt x="911606" y="1920875"/>
                  </a:lnTo>
                  <a:lnTo>
                    <a:pt x="862584" y="1917192"/>
                  </a:lnTo>
                  <a:lnTo>
                    <a:pt x="767334" y="1902714"/>
                  </a:lnTo>
                  <a:lnTo>
                    <a:pt x="675132" y="1878965"/>
                  </a:lnTo>
                  <a:lnTo>
                    <a:pt x="586866" y="1846707"/>
                  </a:lnTo>
                  <a:lnTo>
                    <a:pt x="503047" y="1806067"/>
                  </a:lnTo>
                  <a:lnTo>
                    <a:pt x="423799" y="1758061"/>
                  </a:lnTo>
                  <a:lnTo>
                    <a:pt x="349631" y="1702562"/>
                  </a:lnTo>
                  <a:lnTo>
                    <a:pt x="281559" y="1640459"/>
                  </a:lnTo>
                  <a:lnTo>
                    <a:pt x="219583" y="1572387"/>
                  </a:lnTo>
                  <a:lnTo>
                    <a:pt x="163957" y="1498219"/>
                  </a:lnTo>
                  <a:lnTo>
                    <a:pt x="116077" y="1419352"/>
                  </a:lnTo>
                  <a:lnTo>
                    <a:pt x="75437" y="1335151"/>
                  </a:lnTo>
                  <a:lnTo>
                    <a:pt x="43179" y="1246886"/>
                  </a:lnTo>
                  <a:lnTo>
                    <a:pt x="19431" y="1154557"/>
                  </a:lnTo>
                  <a:lnTo>
                    <a:pt x="4952" y="1059688"/>
                  </a:lnTo>
                  <a:lnTo>
                    <a:pt x="1270" y="1010412"/>
                  </a:lnTo>
                  <a:lnTo>
                    <a:pt x="0" y="960882"/>
                  </a:lnTo>
                  <a:lnTo>
                    <a:pt x="1270" y="911733"/>
                  </a:lnTo>
                  <a:lnTo>
                    <a:pt x="4952" y="862838"/>
                  </a:lnTo>
                  <a:lnTo>
                    <a:pt x="19431" y="767461"/>
                  </a:lnTo>
                  <a:lnTo>
                    <a:pt x="43179" y="675259"/>
                  </a:lnTo>
                  <a:lnTo>
                    <a:pt x="75437" y="586994"/>
                  </a:lnTo>
                  <a:lnTo>
                    <a:pt x="116077" y="503174"/>
                  </a:lnTo>
                  <a:lnTo>
                    <a:pt x="163957" y="423799"/>
                  </a:lnTo>
                  <a:lnTo>
                    <a:pt x="219583" y="349631"/>
                  </a:lnTo>
                  <a:lnTo>
                    <a:pt x="281559" y="281559"/>
                  </a:lnTo>
                  <a:lnTo>
                    <a:pt x="349631" y="219583"/>
                  </a:lnTo>
                  <a:lnTo>
                    <a:pt x="423799" y="163957"/>
                  </a:lnTo>
                  <a:lnTo>
                    <a:pt x="503047" y="116078"/>
                  </a:lnTo>
                  <a:lnTo>
                    <a:pt x="586866" y="75311"/>
                  </a:lnTo>
                  <a:lnTo>
                    <a:pt x="675132" y="43053"/>
                  </a:lnTo>
                  <a:lnTo>
                    <a:pt x="767334" y="19304"/>
                  </a:lnTo>
                  <a:lnTo>
                    <a:pt x="862584" y="4826"/>
                  </a:lnTo>
                  <a:lnTo>
                    <a:pt x="911606" y="1143"/>
                  </a:lnTo>
                  <a:lnTo>
                    <a:pt x="961009" y="0"/>
                  </a:lnTo>
                  <a:close/>
                </a:path>
              </a:pathLst>
            </a:custGeom>
            <a:ln w="28575">
              <a:solidFill>
                <a:srgbClr val="85C4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070409" y="968311"/>
            <a:ext cx="1950720" cy="1960245"/>
            <a:chOff x="6070409" y="968311"/>
            <a:chExt cx="1950720" cy="196024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9047" y="996950"/>
              <a:ext cx="1892807" cy="190246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084696" y="982599"/>
              <a:ext cx="1922145" cy="1931670"/>
            </a:xfrm>
            <a:custGeom>
              <a:avLst/>
              <a:gdLst/>
              <a:ahLst/>
              <a:cxnLst/>
              <a:rect l="l" t="t" r="r" b="b"/>
              <a:pathLst>
                <a:path w="1922145" h="1931670">
                  <a:moveTo>
                    <a:pt x="961008" y="0"/>
                  </a:moveTo>
                  <a:lnTo>
                    <a:pt x="1010538" y="1270"/>
                  </a:lnTo>
                  <a:lnTo>
                    <a:pt x="1059560" y="4952"/>
                  </a:lnTo>
                  <a:lnTo>
                    <a:pt x="1154810" y="19812"/>
                  </a:lnTo>
                  <a:lnTo>
                    <a:pt x="1246631" y="43561"/>
                  </a:lnTo>
                  <a:lnTo>
                    <a:pt x="1334897" y="75818"/>
                  </a:lnTo>
                  <a:lnTo>
                    <a:pt x="1419098" y="116459"/>
                  </a:lnTo>
                  <a:lnTo>
                    <a:pt x="1497964" y="165226"/>
                  </a:lnTo>
                  <a:lnTo>
                    <a:pt x="1572132" y="220852"/>
                  </a:lnTo>
                  <a:lnTo>
                    <a:pt x="1640204" y="282828"/>
                  </a:lnTo>
                  <a:lnTo>
                    <a:pt x="1702180" y="351789"/>
                  </a:lnTo>
                  <a:lnTo>
                    <a:pt x="1757806" y="425830"/>
                  </a:lnTo>
                  <a:lnTo>
                    <a:pt x="1805685" y="505587"/>
                  </a:lnTo>
                  <a:lnTo>
                    <a:pt x="1845945" y="589788"/>
                  </a:lnTo>
                  <a:lnTo>
                    <a:pt x="1878583" y="678434"/>
                  </a:lnTo>
                  <a:lnTo>
                    <a:pt x="1901952" y="771143"/>
                  </a:lnTo>
                  <a:lnTo>
                    <a:pt x="1916429" y="866775"/>
                  </a:lnTo>
                  <a:lnTo>
                    <a:pt x="1920494" y="915670"/>
                  </a:lnTo>
                  <a:lnTo>
                    <a:pt x="1921636" y="965708"/>
                  </a:lnTo>
                  <a:lnTo>
                    <a:pt x="1920494" y="1015111"/>
                  </a:lnTo>
                  <a:lnTo>
                    <a:pt x="1916810" y="1064514"/>
                  </a:lnTo>
                  <a:lnTo>
                    <a:pt x="1902332" y="1160145"/>
                  </a:lnTo>
                  <a:lnTo>
                    <a:pt x="1878583" y="1252854"/>
                  </a:lnTo>
                  <a:lnTo>
                    <a:pt x="1846326" y="1341501"/>
                  </a:lnTo>
                  <a:lnTo>
                    <a:pt x="1805685" y="1426083"/>
                  </a:lnTo>
                  <a:lnTo>
                    <a:pt x="1757806" y="1505458"/>
                  </a:lnTo>
                  <a:lnTo>
                    <a:pt x="1702180" y="1580006"/>
                  </a:lnTo>
                  <a:lnTo>
                    <a:pt x="1640204" y="1648460"/>
                  </a:lnTo>
                  <a:lnTo>
                    <a:pt x="1572132" y="1710816"/>
                  </a:lnTo>
                  <a:lnTo>
                    <a:pt x="1497964" y="1766442"/>
                  </a:lnTo>
                  <a:lnTo>
                    <a:pt x="1419098" y="1814829"/>
                  </a:lnTo>
                  <a:lnTo>
                    <a:pt x="1334897" y="1855470"/>
                  </a:lnTo>
                  <a:lnTo>
                    <a:pt x="1246631" y="1887727"/>
                  </a:lnTo>
                  <a:lnTo>
                    <a:pt x="1154429" y="1911477"/>
                  </a:lnTo>
                  <a:lnTo>
                    <a:pt x="1059560" y="1926463"/>
                  </a:lnTo>
                  <a:lnTo>
                    <a:pt x="1010157" y="1930018"/>
                  </a:lnTo>
                  <a:lnTo>
                    <a:pt x="961008" y="1931289"/>
                  </a:lnTo>
                  <a:lnTo>
                    <a:pt x="911605" y="1930018"/>
                  </a:lnTo>
                  <a:lnTo>
                    <a:pt x="862583" y="1926463"/>
                  </a:lnTo>
                  <a:lnTo>
                    <a:pt x="767333" y="1911477"/>
                  </a:lnTo>
                  <a:lnTo>
                    <a:pt x="675131" y="1887727"/>
                  </a:lnTo>
                  <a:lnTo>
                    <a:pt x="586867" y="1855470"/>
                  </a:lnTo>
                  <a:lnTo>
                    <a:pt x="503047" y="1814829"/>
                  </a:lnTo>
                  <a:lnTo>
                    <a:pt x="423799" y="1766442"/>
                  </a:lnTo>
                  <a:lnTo>
                    <a:pt x="349630" y="1710816"/>
                  </a:lnTo>
                  <a:lnTo>
                    <a:pt x="281558" y="1648460"/>
                  </a:lnTo>
                  <a:lnTo>
                    <a:pt x="219582" y="1580006"/>
                  </a:lnTo>
                  <a:lnTo>
                    <a:pt x="163956" y="1505458"/>
                  </a:lnTo>
                  <a:lnTo>
                    <a:pt x="116077" y="1426083"/>
                  </a:lnTo>
                  <a:lnTo>
                    <a:pt x="75311" y="1341501"/>
                  </a:lnTo>
                  <a:lnTo>
                    <a:pt x="43179" y="1252854"/>
                  </a:lnTo>
                  <a:lnTo>
                    <a:pt x="19430" y="1160145"/>
                  </a:lnTo>
                  <a:lnTo>
                    <a:pt x="4952" y="1064514"/>
                  </a:lnTo>
                  <a:lnTo>
                    <a:pt x="1269" y="1015111"/>
                  </a:lnTo>
                  <a:lnTo>
                    <a:pt x="0" y="965580"/>
                  </a:lnTo>
                  <a:lnTo>
                    <a:pt x="1269" y="916177"/>
                  </a:lnTo>
                  <a:lnTo>
                    <a:pt x="4952" y="866775"/>
                  </a:lnTo>
                  <a:lnTo>
                    <a:pt x="19430" y="771143"/>
                  </a:lnTo>
                  <a:lnTo>
                    <a:pt x="43179" y="678814"/>
                  </a:lnTo>
                  <a:lnTo>
                    <a:pt x="75311" y="589788"/>
                  </a:lnTo>
                  <a:lnTo>
                    <a:pt x="116077" y="505587"/>
                  </a:lnTo>
                  <a:lnTo>
                    <a:pt x="163956" y="425830"/>
                  </a:lnTo>
                  <a:lnTo>
                    <a:pt x="219582" y="351789"/>
                  </a:lnTo>
                  <a:lnTo>
                    <a:pt x="281558" y="282828"/>
                  </a:lnTo>
                  <a:lnTo>
                    <a:pt x="349630" y="220852"/>
                  </a:lnTo>
                  <a:lnTo>
                    <a:pt x="423672" y="165226"/>
                  </a:lnTo>
                  <a:lnTo>
                    <a:pt x="503047" y="116459"/>
                  </a:lnTo>
                  <a:lnTo>
                    <a:pt x="586867" y="75818"/>
                  </a:lnTo>
                  <a:lnTo>
                    <a:pt x="675131" y="43561"/>
                  </a:lnTo>
                  <a:lnTo>
                    <a:pt x="767333" y="19812"/>
                  </a:lnTo>
                  <a:lnTo>
                    <a:pt x="862583" y="4952"/>
                  </a:lnTo>
                  <a:lnTo>
                    <a:pt x="911605" y="1270"/>
                  </a:lnTo>
                  <a:lnTo>
                    <a:pt x="961008" y="0"/>
                  </a:lnTo>
                  <a:close/>
                </a:path>
              </a:pathLst>
            </a:custGeom>
            <a:ln w="28575">
              <a:solidFill>
                <a:srgbClr val="3DB8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278623" y="0"/>
            <a:ext cx="4910455" cy="4428490"/>
            <a:chOff x="7278623" y="0"/>
            <a:chExt cx="4910455" cy="442849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36023" y="2496947"/>
              <a:ext cx="1892807" cy="190245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321672" y="2482595"/>
              <a:ext cx="1922145" cy="1931670"/>
            </a:xfrm>
            <a:custGeom>
              <a:avLst/>
              <a:gdLst/>
              <a:ahLst/>
              <a:cxnLst/>
              <a:rect l="l" t="t" r="r" b="b"/>
              <a:pathLst>
                <a:path w="1922145" h="1931670">
                  <a:moveTo>
                    <a:pt x="961008" y="0"/>
                  </a:moveTo>
                  <a:lnTo>
                    <a:pt x="1010538" y="1269"/>
                  </a:lnTo>
                  <a:lnTo>
                    <a:pt x="1059560" y="4952"/>
                  </a:lnTo>
                  <a:lnTo>
                    <a:pt x="1154810" y="19812"/>
                  </a:lnTo>
                  <a:lnTo>
                    <a:pt x="1246631" y="43561"/>
                  </a:lnTo>
                  <a:lnTo>
                    <a:pt x="1334897" y="75818"/>
                  </a:lnTo>
                  <a:lnTo>
                    <a:pt x="1419098" y="116458"/>
                  </a:lnTo>
                  <a:lnTo>
                    <a:pt x="1497965" y="165226"/>
                  </a:lnTo>
                  <a:lnTo>
                    <a:pt x="1572132" y="220852"/>
                  </a:lnTo>
                  <a:lnTo>
                    <a:pt x="1640204" y="282828"/>
                  </a:lnTo>
                  <a:lnTo>
                    <a:pt x="1702180" y="351789"/>
                  </a:lnTo>
                  <a:lnTo>
                    <a:pt x="1757806" y="425830"/>
                  </a:lnTo>
                  <a:lnTo>
                    <a:pt x="1805685" y="505587"/>
                  </a:lnTo>
                  <a:lnTo>
                    <a:pt x="1845945" y="589788"/>
                  </a:lnTo>
                  <a:lnTo>
                    <a:pt x="1878583" y="678433"/>
                  </a:lnTo>
                  <a:lnTo>
                    <a:pt x="1901952" y="771143"/>
                  </a:lnTo>
                  <a:lnTo>
                    <a:pt x="1916429" y="866775"/>
                  </a:lnTo>
                  <a:lnTo>
                    <a:pt x="1920494" y="915669"/>
                  </a:lnTo>
                  <a:lnTo>
                    <a:pt x="1921636" y="965707"/>
                  </a:lnTo>
                  <a:lnTo>
                    <a:pt x="1920494" y="1015111"/>
                  </a:lnTo>
                  <a:lnTo>
                    <a:pt x="1916810" y="1064514"/>
                  </a:lnTo>
                  <a:lnTo>
                    <a:pt x="1902332" y="1160145"/>
                  </a:lnTo>
                  <a:lnTo>
                    <a:pt x="1878583" y="1252854"/>
                  </a:lnTo>
                  <a:lnTo>
                    <a:pt x="1846326" y="1341501"/>
                  </a:lnTo>
                  <a:lnTo>
                    <a:pt x="1805685" y="1426083"/>
                  </a:lnTo>
                  <a:lnTo>
                    <a:pt x="1757806" y="1505458"/>
                  </a:lnTo>
                  <a:lnTo>
                    <a:pt x="1702180" y="1580006"/>
                  </a:lnTo>
                  <a:lnTo>
                    <a:pt x="1640204" y="1648459"/>
                  </a:lnTo>
                  <a:lnTo>
                    <a:pt x="1572132" y="1710816"/>
                  </a:lnTo>
                  <a:lnTo>
                    <a:pt x="1497965" y="1766442"/>
                  </a:lnTo>
                  <a:lnTo>
                    <a:pt x="1419098" y="1814829"/>
                  </a:lnTo>
                  <a:lnTo>
                    <a:pt x="1334897" y="1855470"/>
                  </a:lnTo>
                  <a:lnTo>
                    <a:pt x="1246631" y="1887727"/>
                  </a:lnTo>
                  <a:lnTo>
                    <a:pt x="1154429" y="1911477"/>
                  </a:lnTo>
                  <a:lnTo>
                    <a:pt x="1059560" y="1926462"/>
                  </a:lnTo>
                  <a:lnTo>
                    <a:pt x="1010157" y="1930018"/>
                  </a:lnTo>
                  <a:lnTo>
                    <a:pt x="961008" y="1931289"/>
                  </a:lnTo>
                  <a:lnTo>
                    <a:pt x="911605" y="1930018"/>
                  </a:lnTo>
                  <a:lnTo>
                    <a:pt x="862583" y="1926462"/>
                  </a:lnTo>
                  <a:lnTo>
                    <a:pt x="767333" y="1911477"/>
                  </a:lnTo>
                  <a:lnTo>
                    <a:pt x="675131" y="1887727"/>
                  </a:lnTo>
                  <a:lnTo>
                    <a:pt x="586867" y="1855470"/>
                  </a:lnTo>
                  <a:lnTo>
                    <a:pt x="503047" y="1814829"/>
                  </a:lnTo>
                  <a:lnTo>
                    <a:pt x="423799" y="1766442"/>
                  </a:lnTo>
                  <a:lnTo>
                    <a:pt x="349630" y="1710816"/>
                  </a:lnTo>
                  <a:lnTo>
                    <a:pt x="281558" y="1648459"/>
                  </a:lnTo>
                  <a:lnTo>
                    <a:pt x="219582" y="1580006"/>
                  </a:lnTo>
                  <a:lnTo>
                    <a:pt x="163956" y="1505458"/>
                  </a:lnTo>
                  <a:lnTo>
                    <a:pt x="116077" y="1426083"/>
                  </a:lnTo>
                  <a:lnTo>
                    <a:pt x="75310" y="1341501"/>
                  </a:lnTo>
                  <a:lnTo>
                    <a:pt x="43179" y="1252854"/>
                  </a:lnTo>
                  <a:lnTo>
                    <a:pt x="19430" y="1160145"/>
                  </a:lnTo>
                  <a:lnTo>
                    <a:pt x="4952" y="1064514"/>
                  </a:lnTo>
                  <a:lnTo>
                    <a:pt x="1270" y="1015111"/>
                  </a:lnTo>
                  <a:lnTo>
                    <a:pt x="0" y="965580"/>
                  </a:lnTo>
                  <a:lnTo>
                    <a:pt x="1270" y="916177"/>
                  </a:lnTo>
                  <a:lnTo>
                    <a:pt x="4952" y="866775"/>
                  </a:lnTo>
                  <a:lnTo>
                    <a:pt x="19430" y="771143"/>
                  </a:lnTo>
                  <a:lnTo>
                    <a:pt x="43179" y="678814"/>
                  </a:lnTo>
                  <a:lnTo>
                    <a:pt x="75310" y="589788"/>
                  </a:lnTo>
                  <a:lnTo>
                    <a:pt x="116077" y="505587"/>
                  </a:lnTo>
                  <a:lnTo>
                    <a:pt x="163956" y="425830"/>
                  </a:lnTo>
                  <a:lnTo>
                    <a:pt x="219582" y="351789"/>
                  </a:lnTo>
                  <a:lnTo>
                    <a:pt x="281558" y="282828"/>
                  </a:lnTo>
                  <a:lnTo>
                    <a:pt x="349630" y="220852"/>
                  </a:lnTo>
                  <a:lnTo>
                    <a:pt x="423672" y="165226"/>
                  </a:lnTo>
                  <a:lnTo>
                    <a:pt x="503047" y="116458"/>
                  </a:lnTo>
                  <a:lnTo>
                    <a:pt x="586867" y="75818"/>
                  </a:lnTo>
                  <a:lnTo>
                    <a:pt x="675131" y="43561"/>
                  </a:lnTo>
                  <a:lnTo>
                    <a:pt x="767333" y="19812"/>
                  </a:lnTo>
                  <a:lnTo>
                    <a:pt x="862583" y="4952"/>
                  </a:lnTo>
                  <a:lnTo>
                    <a:pt x="911605" y="1269"/>
                  </a:lnTo>
                  <a:lnTo>
                    <a:pt x="961008" y="0"/>
                  </a:lnTo>
                  <a:close/>
                </a:path>
              </a:pathLst>
            </a:custGeom>
            <a:ln w="28575">
              <a:solidFill>
                <a:srgbClr val="FFA80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78439" y="2076221"/>
              <a:ext cx="914145" cy="91437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0378439" y="2076195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59" y="410458"/>
                  </a:lnTo>
                  <a:lnTo>
                    <a:pt x="9284" y="365066"/>
                  </a:lnTo>
                  <a:lnTo>
                    <a:pt x="20545" y="321253"/>
                  </a:lnTo>
                  <a:lnTo>
                    <a:pt x="35913" y="279249"/>
                  </a:lnTo>
                  <a:lnTo>
                    <a:pt x="55157" y="239283"/>
                  </a:lnTo>
                  <a:lnTo>
                    <a:pt x="78049" y="201587"/>
                  </a:lnTo>
                  <a:lnTo>
                    <a:pt x="104359" y="166390"/>
                  </a:lnTo>
                  <a:lnTo>
                    <a:pt x="133857" y="133921"/>
                  </a:lnTo>
                  <a:lnTo>
                    <a:pt x="166314" y="104411"/>
                  </a:lnTo>
                  <a:lnTo>
                    <a:pt x="201500" y="78090"/>
                  </a:lnTo>
                  <a:lnTo>
                    <a:pt x="239186" y="55187"/>
                  </a:lnTo>
                  <a:lnTo>
                    <a:pt x="279142" y="35933"/>
                  </a:lnTo>
                  <a:lnTo>
                    <a:pt x="321138" y="20557"/>
                  </a:lnTo>
                  <a:lnTo>
                    <a:pt x="364944" y="9289"/>
                  </a:lnTo>
                  <a:lnTo>
                    <a:pt x="410333" y="2360"/>
                  </a:lnTo>
                  <a:lnTo>
                    <a:pt x="457073" y="0"/>
                  </a:lnTo>
                  <a:lnTo>
                    <a:pt x="503812" y="2360"/>
                  </a:lnTo>
                  <a:lnTo>
                    <a:pt x="549201" y="9289"/>
                  </a:lnTo>
                  <a:lnTo>
                    <a:pt x="593007" y="20557"/>
                  </a:lnTo>
                  <a:lnTo>
                    <a:pt x="635003" y="35933"/>
                  </a:lnTo>
                  <a:lnTo>
                    <a:pt x="674959" y="55187"/>
                  </a:lnTo>
                  <a:lnTo>
                    <a:pt x="712645" y="78090"/>
                  </a:lnTo>
                  <a:lnTo>
                    <a:pt x="747831" y="104411"/>
                  </a:lnTo>
                  <a:lnTo>
                    <a:pt x="780288" y="133921"/>
                  </a:lnTo>
                  <a:lnTo>
                    <a:pt x="809786" y="166390"/>
                  </a:lnTo>
                  <a:lnTo>
                    <a:pt x="836096" y="201587"/>
                  </a:lnTo>
                  <a:lnTo>
                    <a:pt x="858988" y="239283"/>
                  </a:lnTo>
                  <a:lnTo>
                    <a:pt x="878232" y="279249"/>
                  </a:lnTo>
                  <a:lnTo>
                    <a:pt x="893600" y="321253"/>
                  </a:lnTo>
                  <a:lnTo>
                    <a:pt x="904861" y="365066"/>
                  </a:lnTo>
                  <a:lnTo>
                    <a:pt x="911786" y="410458"/>
                  </a:lnTo>
                  <a:lnTo>
                    <a:pt x="914145" y="457200"/>
                  </a:lnTo>
                  <a:lnTo>
                    <a:pt x="911786" y="503941"/>
                  </a:lnTo>
                  <a:lnTo>
                    <a:pt x="904861" y="549333"/>
                  </a:lnTo>
                  <a:lnTo>
                    <a:pt x="893600" y="593146"/>
                  </a:lnTo>
                  <a:lnTo>
                    <a:pt x="878232" y="635150"/>
                  </a:lnTo>
                  <a:lnTo>
                    <a:pt x="858988" y="675116"/>
                  </a:lnTo>
                  <a:lnTo>
                    <a:pt x="836096" y="712812"/>
                  </a:lnTo>
                  <a:lnTo>
                    <a:pt x="809786" y="748009"/>
                  </a:lnTo>
                  <a:lnTo>
                    <a:pt x="780288" y="780478"/>
                  </a:lnTo>
                  <a:lnTo>
                    <a:pt x="747831" y="809988"/>
                  </a:lnTo>
                  <a:lnTo>
                    <a:pt x="712645" y="836309"/>
                  </a:lnTo>
                  <a:lnTo>
                    <a:pt x="674959" y="859212"/>
                  </a:lnTo>
                  <a:lnTo>
                    <a:pt x="635003" y="878466"/>
                  </a:lnTo>
                  <a:lnTo>
                    <a:pt x="593007" y="893842"/>
                  </a:lnTo>
                  <a:lnTo>
                    <a:pt x="549201" y="905110"/>
                  </a:lnTo>
                  <a:lnTo>
                    <a:pt x="503812" y="912039"/>
                  </a:lnTo>
                  <a:lnTo>
                    <a:pt x="457073" y="914400"/>
                  </a:lnTo>
                  <a:lnTo>
                    <a:pt x="410333" y="912039"/>
                  </a:lnTo>
                  <a:lnTo>
                    <a:pt x="364944" y="905110"/>
                  </a:lnTo>
                  <a:lnTo>
                    <a:pt x="321138" y="893842"/>
                  </a:lnTo>
                  <a:lnTo>
                    <a:pt x="279142" y="878466"/>
                  </a:lnTo>
                  <a:lnTo>
                    <a:pt x="239186" y="859212"/>
                  </a:lnTo>
                  <a:lnTo>
                    <a:pt x="201500" y="836309"/>
                  </a:lnTo>
                  <a:lnTo>
                    <a:pt x="166314" y="809988"/>
                  </a:lnTo>
                  <a:lnTo>
                    <a:pt x="133857" y="780478"/>
                  </a:lnTo>
                  <a:lnTo>
                    <a:pt x="104359" y="748009"/>
                  </a:lnTo>
                  <a:lnTo>
                    <a:pt x="78049" y="712812"/>
                  </a:lnTo>
                  <a:lnTo>
                    <a:pt x="55157" y="675116"/>
                  </a:lnTo>
                  <a:lnTo>
                    <a:pt x="35913" y="635150"/>
                  </a:lnTo>
                  <a:lnTo>
                    <a:pt x="20545" y="593146"/>
                  </a:lnTo>
                  <a:lnTo>
                    <a:pt x="9284" y="549333"/>
                  </a:lnTo>
                  <a:lnTo>
                    <a:pt x="2359" y="503941"/>
                  </a:lnTo>
                  <a:lnTo>
                    <a:pt x="0" y="45720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25511" y="859789"/>
              <a:ext cx="914146" cy="9144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525511" y="85978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59" y="410437"/>
                  </a:lnTo>
                  <a:lnTo>
                    <a:pt x="9284" y="365029"/>
                  </a:lnTo>
                  <a:lnTo>
                    <a:pt x="20545" y="321206"/>
                  </a:lnTo>
                  <a:lnTo>
                    <a:pt x="35913" y="279195"/>
                  </a:lnTo>
                  <a:lnTo>
                    <a:pt x="55157" y="239227"/>
                  </a:lnTo>
                  <a:lnTo>
                    <a:pt x="78049" y="201531"/>
                  </a:lnTo>
                  <a:lnTo>
                    <a:pt x="104359" y="166337"/>
                  </a:lnTo>
                  <a:lnTo>
                    <a:pt x="133857" y="133873"/>
                  </a:lnTo>
                  <a:lnTo>
                    <a:pt x="166314" y="104370"/>
                  </a:lnTo>
                  <a:lnTo>
                    <a:pt x="201500" y="78056"/>
                  </a:lnTo>
                  <a:lnTo>
                    <a:pt x="239186" y="55161"/>
                  </a:lnTo>
                  <a:lnTo>
                    <a:pt x="279142" y="35915"/>
                  </a:lnTo>
                  <a:lnTo>
                    <a:pt x="321138" y="20546"/>
                  </a:lnTo>
                  <a:lnTo>
                    <a:pt x="364944" y="9284"/>
                  </a:lnTo>
                  <a:lnTo>
                    <a:pt x="410333" y="2359"/>
                  </a:lnTo>
                  <a:lnTo>
                    <a:pt x="457073" y="0"/>
                  </a:lnTo>
                  <a:lnTo>
                    <a:pt x="503812" y="2359"/>
                  </a:lnTo>
                  <a:lnTo>
                    <a:pt x="549201" y="9284"/>
                  </a:lnTo>
                  <a:lnTo>
                    <a:pt x="593007" y="20546"/>
                  </a:lnTo>
                  <a:lnTo>
                    <a:pt x="635003" y="35915"/>
                  </a:lnTo>
                  <a:lnTo>
                    <a:pt x="674959" y="55161"/>
                  </a:lnTo>
                  <a:lnTo>
                    <a:pt x="712645" y="78056"/>
                  </a:lnTo>
                  <a:lnTo>
                    <a:pt x="747831" y="104370"/>
                  </a:lnTo>
                  <a:lnTo>
                    <a:pt x="780288" y="133873"/>
                  </a:lnTo>
                  <a:lnTo>
                    <a:pt x="809786" y="166337"/>
                  </a:lnTo>
                  <a:lnTo>
                    <a:pt x="836096" y="201531"/>
                  </a:lnTo>
                  <a:lnTo>
                    <a:pt x="858988" y="239227"/>
                  </a:lnTo>
                  <a:lnTo>
                    <a:pt x="878232" y="279195"/>
                  </a:lnTo>
                  <a:lnTo>
                    <a:pt x="893600" y="321206"/>
                  </a:lnTo>
                  <a:lnTo>
                    <a:pt x="904861" y="365029"/>
                  </a:lnTo>
                  <a:lnTo>
                    <a:pt x="911786" y="410437"/>
                  </a:lnTo>
                  <a:lnTo>
                    <a:pt x="914146" y="457200"/>
                  </a:lnTo>
                  <a:lnTo>
                    <a:pt x="911786" y="503941"/>
                  </a:lnTo>
                  <a:lnTo>
                    <a:pt x="904861" y="549333"/>
                  </a:lnTo>
                  <a:lnTo>
                    <a:pt x="893600" y="593146"/>
                  </a:lnTo>
                  <a:lnTo>
                    <a:pt x="878232" y="635150"/>
                  </a:lnTo>
                  <a:lnTo>
                    <a:pt x="858988" y="675116"/>
                  </a:lnTo>
                  <a:lnTo>
                    <a:pt x="836096" y="712812"/>
                  </a:lnTo>
                  <a:lnTo>
                    <a:pt x="809786" y="748009"/>
                  </a:lnTo>
                  <a:lnTo>
                    <a:pt x="780288" y="780478"/>
                  </a:lnTo>
                  <a:lnTo>
                    <a:pt x="747831" y="809988"/>
                  </a:lnTo>
                  <a:lnTo>
                    <a:pt x="712645" y="836309"/>
                  </a:lnTo>
                  <a:lnTo>
                    <a:pt x="674959" y="859212"/>
                  </a:lnTo>
                  <a:lnTo>
                    <a:pt x="635003" y="878466"/>
                  </a:lnTo>
                  <a:lnTo>
                    <a:pt x="593007" y="893842"/>
                  </a:lnTo>
                  <a:lnTo>
                    <a:pt x="549201" y="905110"/>
                  </a:lnTo>
                  <a:lnTo>
                    <a:pt x="503812" y="912039"/>
                  </a:lnTo>
                  <a:lnTo>
                    <a:pt x="457073" y="914400"/>
                  </a:lnTo>
                  <a:lnTo>
                    <a:pt x="410333" y="912039"/>
                  </a:lnTo>
                  <a:lnTo>
                    <a:pt x="364944" y="905110"/>
                  </a:lnTo>
                  <a:lnTo>
                    <a:pt x="321138" y="893842"/>
                  </a:lnTo>
                  <a:lnTo>
                    <a:pt x="279142" y="878466"/>
                  </a:lnTo>
                  <a:lnTo>
                    <a:pt x="239186" y="859212"/>
                  </a:lnTo>
                  <a:lnTo>
                    <a:pt x="201500" y="836309"/>
                  </a:lnTo>
                  <a:lnTo>
                    <a:pt x="166314" y="809988"/>
                  </a:lnTo>
                  <a:lnTo>
                    <a:pt x="133857" y="780478"/>
                  </a:lnTo>
                  <a:lnTo>
                    <a:pt x="104359" y="748009"/>
                  </a:lnTo>
                  <a:lnTo>
                    <a:pt x="78049" y="712812"/>
                  </a:lnTo>
                  <a:lnTo>
                    <a:pt x="55157" y="675116"/>
                  </a:lnTo>
                  <a:lnTo>
                    <a:pt x="35913" y="635150"/>
                  </a:lnTo>
                  <a:lnTo>
                    <a:pt x="20545" y="593146"/>
                  </a:lnTo>
                  <a:lnTo>
                    <a:pt x="9284" y="549333"/>
                  </a:lnTo>
                  <a:lnTo>
                    <a:pt x="2359" y="503941"/>
                  </a:lnTo>
                  <a:lnTo>
                    <a:pt x="0" y="45720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78623" y="0"/>
              <a:ext cx="4910328" cy="2149348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176655" y="3617785"/>
            <a:ext cx="194183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333E50"/>
                </a:solidFill>
                <a:latin typeface="Calibri"/>
                <a:cs typeface="Calibri"/>
              </a:rPr>
              <a:t>R</a:t>
            </a:r>
            <a:r>
              <a:rPr sz="1800" b="1" spc="25" dirty="0">
                <a:solidFill>
                  <a:srgbClr val="333E50"/>
                </a:solidFill>
                <a:latin typeface="Calibri"/>
                <a:cs typeface="Calibri"/>
              </a:rPr>
              <a:t>é</a:t>
            </a:r>
            <a:r>
              <a:rPr sz="1800" b="1" spc="-35" dirty="0">
                <a:solidFill>
                  <a:srgbClr val="333E50"/>
                </a:solidFill>
                <a:latin typeface="Calibri"/>
                <a:cs typeface="Calibri"/>
              </a:rPr>
              <a:t>p</a:t>
            </a:r>
            <a:r>
              <a:rPr sz="1800" b="1" spc="-30" dirty="0">
                <a:solidFill>
                  <a:srgbClr val="333E50"/>
                </a:solidFill>
                <a:latin typeface="Calibri"/>
                <a:cs typeface="Calibri"/>
              </a:rPr>
              <a:t>a</a:t>
            </a:r>
            <a:r>
              <a:rPr sz="1800" b="1" spc="5" dirty="0">
                <a:solidFill>
                  <a:srgbClr val="333E50"/>
                </a:solidFill>
                <a:latin typeface="Calibri"/>
                <a:cs typeface="Calibri"/>
              </a:rPr>
              <a:t>r</a:t>
            </a:r>
            <a:r>
              <a:rPr sz="1800" b="1" spc="20" dirty="0">
                <a:solidFill>
                  <a:srgbClr val="333E50"/>
                </a:solidFill>
                <a:latin typeface="Calibri"/>
                <a:cs typeface="Calibri"/>
              </a:rPr>
              <a:t>t</a:t>
            </a:r>
            <a:r>
              <a:rPr sz="1800" b="1" spc="-15" dirty="0">
                <a:solidFill>
                  <a:srgbClr val="333E50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333E50"/>
                </a:solidFill>
                <a:latin typeface="Calibri"/>
                <a:cs typeface="Calibri"/>
              </a:rPr>
              <a:t>ss</a:t>
            </a:r>
            <a:r>
              <a:rPr sz="1800" b="1" spc="25" dirty="0">
                <a:solidFill>
                  <a:srgbClr val="333E50"/>
                </a:solidFill>
                <a:latin typeface="Calibri"/>
                <a:cs typeface="Calibri"/>
              </a:rPr>
              <a:t>e</a:t>
            </a:r>
            <a:r>
              <a:rPr sz="1800" b="1" dirty="0">
                <a:solidFill>
                  <a:srgbClr val="333E50"/>
                </a:solidFill>
                <a:latin typeface="Calibri"/>
                <a:cs typeface="Calibri"/>
              </a:rPr>
              <a:t>z</a:t>
            </a:r>
            <a:r>
              <a:rPr sz="1800" b="1" spc="-10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b="1" spc="5" dirty="0">
                <a:solidFill>
                  <a:srgbClr val="333E50"/>
                </a:solidFill>
                <a:latin typeface="Calibri"/>
                <a:cs typeface="Calibri"/>
              </a:rPr>
              <a:t>v</a:t>
            </a:r>
            <a:r>
              <a:rPr sz="1800" b="1" spc="-35" dirty="0">
                <a:solidFill>
                  <a:srgbClr val="333E50"/>
                </a:solidFill>
                <a:latin typeface="Calibri"/>
                <a:cs typeface="Calibri"/>
              </a:rPr>
              <a:t>ou</a:t>
            </a:r>
            <a:r>
              <a:rPr sz="1800" b="1" dirty="0">
                <a:solidFill>
                  <a:srgbClr val="333E50"/>
                </a:solidFill>
                <a:latin typeface="Calibri"/>
                <a:cs typeface="Calibri"/>
              </a:rPr>
              <a:t>s </a:t>
            </a:r>
            <a:r>
              <a:rPr sz="1800" b="1" spc="5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b="1" spc="25" dirty="0">
                <a:solidFill>
                  <a:srgbClr val="333E50"/>
                </a:solidFill>
                <a:latin typeface="Calibri"/>
                <a:cs typeface="Calibri"/>
              </a:rPr>
              <a:t>e</a:t>
            </a:r>
            <a:r>
              <a:rPr sz="1800" b="1" dirty="0">
                <a:solidFill>
                  <a:srgbClr val="333E50"/>
                </a:solidFill>
                <a:latin typeface="Calibri"/>
                <a:cs typeface="Calibri"/>
              </a:rPr>
              <a:t>n  </a:t>
            </a:r>
            <a:r>
              <a:rPr sz="1800" b="1" spc="-10" dirty="0">
                <a:solidFill>
                  <a:srgbClr val="333E50"/>
                </a:solidFill>
                <a:latin typeface="Calibri"/>
                <a:cs typeface="Calibri"/>
              </a:rPr>
              <a:t>équipes</a:t>
            </a:r>
            <a:r>
              <a:rPr sz="1800" b="1" spc="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b="1" spc="-15" dirty="0">
                <a:solidFill>
                  <a:srgbClr val="333E50"/>
                </a:solidFill>
                <a:latin typeface="Calibri"/>
                <a:cs typeface="Calibri"/>
              </a:rPr>
              <a:t>de</a:t>
            </a:r>
            <a:r>
              <a:rPr sz="1800" b="1" spc="-2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33E50"/>
                </a:solidFill>
                <a:latin typeface="Calibri"/>
                <a:cs typeface="Calibri"/>
              </a:rPr>
              <a:t>5</a:t>
            </a:r>
            <a:r>
              <a:rPr sz="1800" b="1" spc="4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33E50"/>
                </a:solidFill>
                <a:latin typeface="Calibri"/>
                <a:cs typeface="Calibri"/>
              </a:rPr>
              <a:t>à</a:t>
            </a:r>
            <a:r>
              <a:rPr sz="1800" b="1" spc="-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33E50"/>
                </a:solidFill>
                <a:latin typeface="Calibri"/>
                <a:cs typeface="Calibri"/>
              </a:rPr>
              <a:t>6 </a:t>
            </a:r>
            <a:r>
              <a:rPr sz="1800" b="1" spc="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333E50"/>
                </a:solidFill>
                <a:latin typeface="Calibri"/>
                <a:cs typeface="Calibri"/>
              </a:rPr>
              <a:t>étudiants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367914" y="1060577"/>
            <a:ext cx="933450" cy="933450"/>
            <a:chOff x="2367914" y="1060577"/>
            <a:chExt cx="933450" cy="933450"/>
          </a:xfrm>
        </p:grpSpPr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77439" y="1070127"/>
              <a:ext cx="914146" cy="91437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377439" y="1070102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59" y="410458"/>
                  </a:lnTo>
                  <a:lnTo>
                    <a:pt x="9284" y="365066"/>
                  </a:lnTo>
                  <a:lnTo>
                    <a:pt x="20545" y="321253"/>
                  </a:lnTo>
                  <a:lnTo>
                    <a:pt x="35913" y="279249"/>
                  </a:lnTo>
                  <a:lnTo>
                    <a:pt x="55157" y="239283"/>
                  </a:lnTo>
                  <a:lnTo>
                    <a:pt x="78049" y="201587"/>
                  </a:lnTo>
                  <a:lnTo>
                    <a:pt x="104359" y="166390"/>
                  </a:lnTo>
                  <a:lnTo>
                    <a:pt x="133857" y="133921"/>
                  </a:lnTo>
                  <a:lnTo>
                    <a:pt x="166314" y="104411"/>
                  </a:lnTo>
                  <a:lnTo>
                    <a:pt x="201500" y="78090"/>
                  </a:lnTo>
                  <a:lnTo>
                    <a:pt x="239186" y="55187"/>
                  </a:lnTo>
                  <a:lnTo>
                    <a:pt x="279142" y="35933"/>
                  </a:lnTo>
                  <a:lnTo>
                    <a:pt x="321138" y="20557"/>
                  </a:lnTo>
                  <a:lnTo>
                    <a:pt x="364944" y="9289"/>
                  </a:lnTo>
                  <a:lnTo>
                    <a:pt x="410333" y="2360"/>
                  </a:lnTo>
                  <a:lnTo>
                    <a:pt x="457073" y="0"/>
                  </a:lnTo>
                  <a:lnTo>
                    <a:pt x="503812" y="2360"/>
                  </a:lnTo>
                  <a:lnTo>
                    <a:pt x="549201" y="9289"/>
                  </a:lnTo>
                  <a:lnTo>
                    <a:pt x="593007" y="20557"/>
                  </a:lnTo>
                  <a:lnTo>
                    <a:pt x="635003" y="35933"/>
                  </a:lnTo>
                  <a:lnTo>
                    <a:pt x="674959" y="55187"/>
                  </a:lnTo>
                  <a:lnTo>
                    <a:pt x="712645" y="78090"/>
                  </a:lnTo>
                  <a:lnTo>
                    <a:pt x="747831" y="104411"/>
                  </a:lnTo>
                  <a:lnTo>
                    <a:pt x="780288" y="133921"/>
                  </a:lnTo>
                  <a:lnTo>
                    <a:pt x="809786" y="166390"/>
                  </a:lnTo>
                  <a:lnTo>
                    <a:pt x="836096" y="201587"/>
                  </a:lnTo>
                  <a:lnTo>
                    <a:pt x="858988" y="239283"/>
                  </a:lnTo>
                  <a:lnTo>
                    <a:pt x="878232" y="279249"/>
                  </a:lnTo>
                  <a:lnTo>
                    <a:pt x="893600" y="321253"/>
                  </a:lnTo>
                  <a:lnTo>
                    <a:pt x="904861" y="365066"/>
                  </a:lnTo>
                  <a:lnTo>
                    <a:pt x="911786" y="410458"/>
                  </a:lnTo>
                  <a:lnTo>
                    <a:pt x="914146" y="457200"/>
                  </a:lnTo>
                  <a:lnTo>
                    <a:pt x="911786" y="503941"/>
                  </a:lnTo>
                  <a:lnTo>
                    <a:pt x="904861" y="549333"/>
                  </a:lnTo>
                  <a:lnTo>
                    <a:pt x="893600" y="593146"/>
                  </a:lnTo>
                  <a:lnTo>
                    <a:pt x="878232" y="635150"/>
                  </a:lnTo>
                  <a:lnTo>
                    <a:pt x="858988" y="675116"/>
                  </a:lnTo>
                  <a:lnTo>
                    <a:pt x="836096" y="712812"/>
                  </a:lnTo>
                  <a:lnTo>
                    <a:pt x="809786" y="748009"/>
                  </a:lnTo>
                  <a:lnTo>
                    <a:pt x="780288" y="780478"/>
                  </a:lnTo>
                  <a:lnTo>
                    <a:pt x="747831" y="809988"/>
                  </a:lnTo>
                  <a:lnTo>
                    <a:pt x="712645" y="836309"/>
                  </a:lnTo>
                  <a:lnTo>
                    <a:pt x="674959" y="859212"/>
                  </a:lnTo>
                  <a:lnTo>
                    <a:pt x="635003" y="878466"/>
                  </a:lnTo>
                  <a:lnTo>
                    <a:pt x="593007" y="893842"/>
                  </a:lnTo>
                  <a:lnTo>
                    <a:pt x="549201" y="905110"/>
                  </a:lnTo>
                  <a:lnTo>
                    <a:pt x="503812" y="912039"/>
                  </a:lnTo>
                  <a:lnTo>
                    <a:pt x="457073" y="914400"/>
                  </a:lnTo>
                  <a:lnTo>
                    <a:pt x="410333" y="912039"/>
                  </a:lnTo>
                  <a:lnTo>
                    <a:pt x="364944" y="905110"/>
                  </a:lnTo>
                  <a:lnTo>
                    <a:pt x="321138" y="893842"/>
                  </a:lnTo>
                  <a:lnTo>
                    <a:pt x="279142" y="878466"/>
                  </a:lnTo>
                  <a:lnTo>
                    <a:pt x="239186" y="859212"/>
                  </a:lnTo>
                  <a:lnTo>
                    <a:pt x="201500" y="836309"/>
                  </a:lnTo>
                  <a:lnTo>
                    <a:pt x="166314" y="809988"/>
                  </a:lnTo>
                  <a:lnTo>
                    <a:pt x="133858" y="780478"/>
                  </a:lnTo>
                  <a:lnTo>
                    <a:pt x="104359" y="748009"/>
                  </a:lnTo>
                  <a:lnTo>
                    <a:pt x="78049" y="712812"/>
                  </a:lnTo>
                  <a:lnTo>
                    <a:pt x="55157" y="675116"/>
                  </a:lnTo>
                  <a:lnTo>
                    <a:pt x="35913" y="635150"/>
                  </a:lnTo>
                  <a:lnTo>
                    <a:pt x="20545" y="593146"/>
                  </a:lnTo>
                  <a:lnTo>
                    <a:pt x="9284" y="549333"/>
                  </a:lnTo>
                  <a:lnTo>
                    <a:pt x="2359" y="503941"/>
                  </a:lnTo>
                  <a:lnTo>
                    <a:pt x="0" y="45720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085716" y="5114607"/>
            <a:ext cx="137033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1800" b="1" spc="-30" dirty="0">
                <a:solidFill>
                  <a:srgbClr val="333E50"/>
                </a:solidFill>
                <a:latin typeface="Calibri"/>
                <a:cs typeface="Calibri"/>
              </a:rPr>
              <a:t>Vous</a:t>
            </a:r>
            <a:r>
              <a:rPr sz="1800" b="1" spc="-4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b="1" spc="-15" dirty="0">
                <a:solidFill>
                  <a:srgbClr val="333E50"/>
                </a:solidFill>
                <a:latin typeface="Calibri"/>
                <a:cs typeface="Calibri"/>
              </a:rPr>
              <a:t>disposez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15" dirty="0">
                <a:solidFill>
                  <a:srgbClr val="333E50"/>
                </a:solidFill>
                <a:latin typeface="Calibri"/>
                <a:cs typeface="Calibri"/>
              </a:rPr>
              <a:t>de</a:t>
            </a:r>
            <a:r>
              <a:rPr sz="1800" b="1" spc="10" dirty="0">
                <a:solidFill>
                  <a:srgbClr val="333E50"/>
                </a:solidFill>
                <a:latin typeface="Calibri"/>
                <a:cs typeface="Calibri"/>
              </a:rPr>
              <a:t> 1</a:t>
            </a:r>
            <a:r>
              <a:rPr lang="fr-FR" sz="1800" b="1" spc="10" dirty="0">
                <a:solidFill>
                  <a:srgbClr val="333E50"/>
                </a:solidFill>
                <a:latin typeface="Calibri"/>
                <a:cs typeface="Calibri"/>
              </a:rPr>
              <a:t>5</a:t>
            </a:r>
            <a:r>
              <a:rPr sz="1800" b="1" spc="-6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333E50"/>
                </a:solidFill>
                <a:latin typeface="Calibri"/>
                <a:cs typeface="Calibri"/>
              </a:rPr>
              <a:t>minutes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461890" y="2277110"/>
            <a:ext cx="942975" cy="934085"/>
            <a:chOff x="4461890" y="2277110"/>
            <a:chExt cx="942975" cy="934085"/>
          </a:xfrm>
        </p:grpSpPr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71415" y="2286533"/>
              <a:ext cx="923543" cy="91462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471415" y="2286635"/>
              <a:ext cx="923925" cy="915035"/>
            </a:xfrm>
            <a:custGeom>
              <a:avLst/>
              <a:gdLst/>
              <a:ahLst/>
              <a:cxnLst/>
              <a:rect l="l" t="t" r="r" b="b"/>
              <a:pathLst>
                <a:path w="923925" h="915035">
                  <a:moveTo>
                    <a:pt x="0" y="457200"/>
                  </a:moveTo>
                  <a:lnTo>
                    <a:pt x="2384" y="410458"/>
                  </a:lnTo>
                  <a:lnTo>
                    <a:pt x="9382" y="365066"/>
                  </a:lnTo>
                  <a:lnTo>
                    <a:pt x="20761" y="321253"/>
                  </a:lnTo>
                  <a:lnTo>
                    <a:pt x="36290" y="279249"/>
                  </a:lnTo>
                  <a:lnTo>
                    <a:pt x="55736" y="239283"/>
                  </a:lnTo>
                  <a:lnTo>
                    <a:pt x="78866" y="201587"/>
                  </a:lnTo>
                  <a:lnTo>
                    <a:pt x="105450" y="166390"/>
                  </a:lnTo>
                  <a:lnTo>
                    <a:pt x="135254" y="133921"/>
                  </a:lnTo>
                  <a:lnTo>
                    <a:pt x="168047" y="104411"/>
                  </a:lnTo>
                  <a:lnTo>
                    <a:pt x="203596" y="78090"/>
                  </a:lnTo>
                  <a:lnTo>
                    <a:pt x="241670" y="55187"/>
                  </a:lnTo>
                  <a:lnTo>
                    <a:pt x="282035" y="35933"/>
                  </a:lnTo>
                  <a:lnTo>
                    <a:pt x="324460" y="20557"/>
                  </a:lnTo>
                  <a:lnTo>
                    <a:pt x="368712" y="9289"/>
                  </a:lnTo>
                  <a:lnTo>
                    <a:pt x="414560" y="2360"/>
                  </a:lnTo>
                  <a:lnTo>
                    <a:pt x="461772" y="0"/>
                  </a:lnTo>
                  <a:lnTo>
                    <a:pt x="508983" y="2360"/>
                  </a:lnTo>
                  <a:lnTo>
                    <a:pt x="554831" y="9289"/>
                  </a:lnTo>
                  <a:lnTo>
                    <a:pt x="599083" y="20557"/>
                  </a:lnTo>
                  <a:lnTo>
                    <a:pt x="641508" y="35933"/>
                  </a:lnTo>
                  <a:lnTo>
                    <a:pt x="681873" y="55187"/>
                  </a:lnTo>
                  <a:lnTo>
                    <a:pt x="719947" y="78090"/>
                  </a:lnTo>
                  <a:lnTo>
                    <a:pt x="755496" y="104411"/>
                  </a:lnTo>
                  <a:lnTo>
                    <a:pt x="788289" y="133921"/>
                  </a:lnTo>
                  <a:lnTo>
                    <a:pt x="818093" y="166390"/>
                  </a:lnTo>
                  <a:lnTo>
                    <a:pt x="844677" y="201587"/>
                  </a:lnTo>
                  <a:lnTo>
                    <a:pt x="867807" y="239283"/>
                  </a:lnTo>
                  <a:lnTo>
                    <a:pt x="887253" y="279249"/>
                  </a:lnTo>
                  <a:lnTo>
                    <a:pt x="902782" y="321253"/>
                  </a:lnTo>
                  <a:lnTo>
                    <a:pt x="914161" y="365066"/>
                  </a:lnTo>
                  <a:lnTo>
                    <a:pt x="921159" y="410458"/>
                  </a:lnTo>
                  <a:lnTo>
                    <a:pt x="923544" y="457200"/>
                  </a:lnTo>
                  <a:lnTo>
                    <a:pt x="921159" y="503963"/>
                  </a:lnTo>
                  <a:lnTo>
                    <a:pt x="914161" y="549375"/>
                  </a:lnTo>
                  <a:lnTo>
                    <a:pt x="902782" y="593205"/>
                  </a:lnTo>
                  <a:lnTo>
                    <a:pt x="887253" y="635224"/>
                  </a:lnTo>
                  <a:lnTo>
                    <a:pt x="867807" y="675201"/>
                  </a:lnTo>
                  <a:lnTo>
                    <a:pt x="844677" y="712908"/>
                  </a:lnTo>
                  <a:lnTo>
                    <a:pt x="818093" y="748114"/>
                  </a:lnTo>
                  <a:lnTo>
                    <a:pt x="788289" y="780589"/>
                  </a:lnTo>
                  <a:lnTo>
                    <a:pt x="755496" y="810104"/>
                  </a:lnTo>
                  <a:lnTo>
                    <a:pt x="719947" y="836430"/>
                  </a:lnTo>
                  <a:lnTo>
                    <a:pt x="681873" y="859335"/>
                  </a:lnTo>
                  <a:lnTo>
                    <a:pt x="641508" y="878591"/>
                  </a:lnTo>
                  <a:lnTo>
                    <a:pt x="599083" y="893968"/>
                  </a:lnTo>
                  <a:lnTo>
                    <a:pt x="554831" y="905236"/>
                  </a:lnTo>
                  <a:lnTo>
                    <a:pt x="508983" y="912166"/>
                  </a:lnTo>
                  <a:lnTo>
                    <a:pt x="461772" y="914526"/>
                  </a:lnTo>
                  <a:lnTo>
                    <a:pt x="414560" y="912166"/>
                  </a:lnTo>
                  <a:lnTo>
                    <a:pt x="368712" y="905236"/>
                  </a:lnTo>
                  <a:lnTo>
                    <a:pt x="324460" y="893968"/>
                  </a:lnTo>
                  <a:lnTo>
                    <a:pt x="282035" y="878591"/>
                  </a:lnTo>
                  <a:lnTo>
                    <a:pt x="241670" y="859335"/>
                  </a:lnTo>
                  <a:lnTo>
                    <a:pt x="203596" y="836430"/>
                  </a:lnTo>
                  <a:lnTo>
                    <a:pt x="168047" y="810104"/>
                  </a:lnTo>
                  <a:lnTo>
                    <a:pt x="135254" y="780589"/>
                  </a:lnTo>
                  <a:lnTo>
                    <a:pt x="105450" y="748114"/>
                  </a:lnTo>
                  <a:lnTo>
                    <a:pt x="78866" y="712908"/>
                  </a:lnTo>
                  <a:lnTo>
                    <a:pt x="55736" y="675201"/>
                  </a:lnTo>
                  <a:lnTo>
                    <a:pt x="36290" y="635224"/>
                  </a:lnTo>
                  <a:lnTo>
                    <a:pt x="20761" y="593205"/>
                  </a:lnTo>
                  <a:lnTo>
                    <a:pt x="9382" y="549375"/>
                  </a:lnTo>
                  <a:lnTo>
                    <a:pt x="2384" y="503963"/>
                  </a:lnTo>
                  <a:lnTo>
                    <a:pt x="0" y="45720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701029" y="3957954"/>
            <a:ext cx="298450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 algn="ctr">
              <a:lnSpc>
                <a:spcPct val="100000"/>
              </a:lnSpc>
              <a:spcBef>
                <a:spcPts val="105"/>
              </a:spcBef>
            </a:pPr>
            <a:r>
              <a:rPr sz="1800" b="1" u="heavy" spc="-3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T.A.F:</a:t>
            </a:r>
            <a:endParaRPr sz="1800" dirty="0">
              <a:latin typeface="Calibri"/>
              <a:cs typeface="Calibri"/>
            </a:endParaRPr>
          </a:p>
          <a:p>
            <a:pPr marL="15240" algn="ctr">
              <a:lnSpc>
                <a:spcPct val="100000"/>
              </a:lnSpc>
              <a:spcBef>
                <a:spcPts val="5"/>
              </a:spcBef>
            </a:pPr>
            <a:r>
              <a:rPr sz="1800" b="1" u="heavy" spc="6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 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65621" y="5057457"/>
            <a:ext cx="26543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0">
              <a:lnSpc>
                <a:spcPct val="100000"/>
              </a:lnSpc>
              <a:spcBef>
                <a:spcPts val="100"/>
              </a:spcBef>
            </a:pPr>
            <a:r>
              <a:rPr lang="fr-FR" b="1" spc="15" dirty="0">
                <a:latin typeface="Calibri"/>
                <a:cs typeface="Calibri"/>
              </a:rPr>
              <a:t>Lisez le cas et répondez aux questions  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399905" y="4697412"/>
            <a:ext cx="2247265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333E50"/>
                </a:solidFill>
                <a:latin typeface="Calibri"/>
                <a:cs typeface="Calibri"/>
              </a:rPr>
              <a:t>Nommez</a:t>
            </a:r>
            <a:r>
              <a:rPr sz="1800" b="1" spc="-1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b="1" spc="-15" dirty="0">
                <a:solidFill>
                  <a:srgbClr val="333E50"/>
                </a:solidFill>
                <a:latin typeface="Calibri"/>
                <a:cs typeface="Calibri"/>
              </a:rPr>
              <a:t>un</a:t>
            </a:r>
            <a:r>
              <a:rPr sz="1800" b="1" spc="3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333E50"/>
                </a:solidFill>
                <a:latin typeface="Calibri"/>
                <a:cs typeface="Calibri"/>
              </a:rPr>
              <a:t>rapporteur </a:t>
            </a:r>
            <a:r>
              <a:rPr sz="1800" b="1" spc="-39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333E50"/>
                </a:solidFill>
                <a:latin typeface="Calibri"/>
                <a:cs typeface="Calibri"/>
              </a:rPr>
              <a:t>par</a:t>
            </a:r>
            <a:r>
              <a:rPr sz="1800" b="1" spc="2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b="1" spc="-15" dirty="0">
                <a:solidFill>
                  <a:srgbClr val="333E50"/>
                </a:solidFill>
                <a:latin typeface="Calibri"/>
                <a:cs typeface="Calibri"/>
              </a:rPr>
              <a:t>équipe</a:t>
            </a:r>
            <a:r>
              <a:rPr sz="1800" b="1" spc="55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333E50"/>
                </a:solidFill>
                <a:latin typeface="Calibri"/>
                <a:cs typeface="Calibri"/>
              </a:rPr>
              <a:t>pour </a:t>
            </a:r>
            <a:r>
              <a:rPr sz="1800" b="1" spc="-20" dirty="0">
                <a:solidFill>
                  <a:srgbClr val="333E50"/>
                </a:solidFill>
                <a:latin typeface="Calibri"/>
                <a:cs typeface="Calibri"/>
              </a:rPr>
              <a:t> </a:t>
            </a:r>
            <a:r>
              <a:rPr sz="1800" b="1" spc="-15" dirty="0">
                <a:solidFill>
                  <a:srgbClr val="333E50"/>
                </a:solidFill>
                <a:latin typeface="Calibri"/>
                <a:cs typeface="Calibri"/>
              </a:rPr>
              <a:t>répondre </a:t>
            </a:r>
            <a:r>
              <a:rPr sz="1800" b="1" dirty="0">
                <a:solidFill>
                  <a:srgbClr val="333E50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78739" y="714756"/>
            <a:ext cx="2924175" cy="509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150" spc="-95" dirty="0">
                <a:solidFill>
                  <a:srgbClr val="006FC0"/>
                </a:solidFill>
                <a:latin typeface="Times New Roman"/>
                <a:cs typeface="Times New Roman"/>
              </a:rPr>
              <a:t>L</a:t>
            </a:r>
            <a:r>
              <a:rPr sz="3150" spc="110" dirty="0">
                <a:solidFill>
                  <a:srgbClr val="006FC0"/>
                </a:solidFill>
                <a:latin typeface="Times New Roman"/>
                <a:cs typeface="Times New Roman"/>
              </a:rPr>
              <a:t>e</a:t>
            </a:r>
            <a:r>
              <a:rPr sz="3150" spc="-105" dirty="0">
                <a:solidFill>
                  <a:srgbClr val="006FC0"/>
                </a:solidFill>
                <a:latin typeface="Times New Roman"/>
                <a:cs typeface="Times New Roman"/>
              </a:rPr>
              <a:t>s </a:t>
            </a:r>
            <a:r>
              <a:rPr sz="3150" spc="-250" dirty="0">
                <a:solidFill>
                  <a:srgbClr val="006FC0"/>
                </a:solidFill>
                <a:latin typeface="Times New Roman"/>
                <a:cs typeface="Times New Roman"/>
              </a:rPr>
              <a:t>r</a:t>
            </a:r>
            <a:r>
              <a:rPr sz="3150" spc="110" dirty="0">
                <a:solidFill>
                  <a:srgbClr val="006FC0"/>
                </a:solidFill>
                <a:latin typeface="Times New Roman"/>
                <a:cs typeface="Times New Roman"/>
              </a:rPr>
              <a:t>é</a:t>
            </a:r>
            <a:r>
              <a:rPr sz="3150" spc="-215" dirty="0">
                <a:solidFill>
                  <a:srgbClr val="006FC0"/>
                </a:solidFill>
                <a:latin typeface="Times New Roman"/>
                <a:cs typeface="Times New Roman"/>
              </a:rPr>
              <a:t>g</a:t>
            </a:r>
            <a:r>
              <a:rPr sz="3150" spc="-20" dirty="0">
                <a:solidFill>
                  <a:srgbClr val="006FC0"/>
                </a:solidFill>
                <a:latin typeface="Times New Roman"/>
                <a:cs typeface="Times New Roman"/>
              </a:rPr>
              <a:t>l</a:t>
            </a:r>
            <a:r>
              <a:rPr sz="3150" spc="-40" dirty="0">
                <a:solidFill>
                  <a:srgbClr val="006FC0"/>
                </a:solidFill>
                <a:latin typeface="Times New Roman"/>
                <a:cs typeface="Times New Roman"/>
              </a:rPr>
              <a:t>es</a:t>
            </a:r>
            <a:r>
              <a:rPr sz="3150" spc="-1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150" spc="-30" dirty="0">
                <a:solidFill>
                  <a:srgbClr val="006FC0"/>
                </a:solidFill>
                <a:latin typeface="Times New Roman"/>
                <a:cs typeface="Times New Roman"/>
              </a:rPr>
              <a:t>d</a:t>
            </a:r>
            <a:r>
              <a:rPr sz="3150" spc="-130" dirty="0">
                <a:solidFill>
                  <a:srgbClr val="006FC0"/>
                </a:solidFill>
                <a:latin typeface="Times New Roman"/>
                <a:cs typeface="Times New Roman"/>
              </a:rPr>
              <a:t>u</a:t>
            </a:r>
            <a:r>
              <a:rPr sz="3150" spc="-3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150" spc="-335" dirty="0">
                <a:solidFill>
                  <a:srgbClr val="006FC0"/>
                </a:solidFill>
                <a:latin typeface="Times New Roman"/>
                <a:cs typeface="Times New Roman"/>
              </a:rPr>
              <a:t>j</a:t>
            </a:r>
            <a:r>
              <a:rPr sz="3150" spc="110" dirty="0">
                <a:solidFill>
                  <a:srgbClr val="006FC0"/>
                </a:solidFill>
                <a:latin typeface="Times New Roman"/>
                <a:cs typeface="Times New Roman"/>
              </a:rPr>
              <a:t>e</a:t>
            </a:r>
            <a:r>
              <a:rPr sz="3150" spc="-130" dirty="0">
                <a:solidFill>
                  <a:srgbClr val="006FC0"/>
                </a:solidFill>
                <a:latin typeface="Times New Roman"/>
                <a:cs typeface="Times New Roman"/>
              </a:rPr>
              <a:t>u</a:t>
            </a:r>
            <a:r>
              <a:rPr sz="3150" spc="-10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3150" spc="-275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endParaRPr sz="3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3 façons de retenir des mos en anglais">
            <a:extLst>
              <a:ext uri="{FF2B5EF4-FFF2-40B4-BE49-F238E27FC236}">
                <a16:creationId xmlns:a16="http://schemas.microsoft.com/office/drawing/2014/main" id="{3F9F6774-EFAE-909E-FAF7-64DA34CD1DD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1218" y="2326798"/>
            <a:ext cx="3300447" cy="22044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98508C-466F-980B-41E7-F62B4377B8BE}"/>
              </a:ext>
            </a:extLst>
          </p:cNvPr>
          <p:cNvSpPr txBox="1"/>
          <p:nvPr/>
        </p:nvSpPr>
        <p:spPr>
          <a:xfrm>
            <a:off x="1158240" y="728239"/>
            <a:ext cx="638048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B0F0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just"/>
            <a:r>
              <a:rPr lang="fr-FR" b="1" dirty="0">
                <a:solidFill>
                  <a:srgbClr val="002060"/>
                </a:solidFill>
              </a:rPr>
              <a:t>Ressources:</a:t>
            </a:r>
            <a:r>
              <a:rPr lang="fr-FR" dirty="0">
                <a:solidFill>
                  <a:srgbClr val="002060"/>
                </a:solidFill>
              </a:rPr>
              <a:t>  moyens qu’une entreprise emploie pour développer, fabriquer et livrer des produits à ses clients </a:t>
            </a:r>
            <a:endParaRPr lang="fr-TN" dirty="0">
              <a:solidFill>
                <a:srgbClr val="00206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F12D7EB-2BF1-CC9F-3206-B081FAAF1DDE}"/>
              </a:ext>
            </a:extLst>
          </p:cNvPr>
          <p:cNvSpPr txBox="1"/>
          <p:nvPr/>
        </p:nvSpPr>
        <p:spPr>
          <a:xfrm>
            <a:off x="1158240" y="2993826"/>
            <a:ext cx="638048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B0F0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just"/>
            <a:r>
              <a:rPr lang="fr-FR" b="1" dirty="0">
                <a:solidFill>
                  <a:srgbClr val="002060"/>
                </a:solidFill>
              </a:rPr>
              <a:t>Compétence:</a:t>
            </a:r>
            <a:r>
              <a:rPr lang="fr-FR" dirty="0">
                <a:solidFill>
                  <a:srgbClr val="002060"/>
                </a:solidFill>
              </a:rPr>
              <a:t>  capacité de l’entreprise à utiliser ses ressources (les mobiliser) pour atteindre un objectif donné </a:t>
            </a:r>
            <a:endParaRPr lang="fr-TN" dirty="0">
              <a:solidFill>
                <a:srgbClr val="002060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526E3EE-6194-CA08-43F6-22317C9EF180}"/>
              </a:ext>
            </a:extLst>
          </p:cNvPr>
          <p:cNvSpPr txBox="1"/>
          <p:nvPr/>
        </p:nvSpPr>
        <p:spPr>
          <a:xfrm>
            <a:off x="1158240" y="4014374"/>
            <a:ext cx="638048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B0F0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just"/>
            <a:r>
              <a:rPr lang="fr-FR" b="1" dirty="0">
                <a:solidFill>
                  <a:srgbClr val="FF0000"/>
                </a:solidFill>
              </a:rPr>
              <a:t>Compétence clé (distinctive, fondamentale)  </a:t>
            </a:r>
            <a:r>
              <a:rPr lang="fr-FR" dirty="0">
                <a:solidFill>
                  <a:srgbClr val="002060"/>
                </a:solidFill>
              </a:rPr>
              <a:t>:  capacité de l’entreprise à déployer et à combiner des ressources  de façon organisée créant un avantage concurrentiel. Elle est difficile à obtenir et  à imiter. </a:t>
            </a:r>
            <a:endParaRPr lang="fr-TN" dirty="0">
              <a:solidFill>
                <a:srgbClr val="002060"/>
              </a:solidFill>
            </a:endParaRPr>
          </a:p>
        </p:txBody>
      </p:sp>
      <p:cxnSp>
        <p:nvCxnSpPr>
          <p:cNvPr id="8" name="Straight Line buttom">
            <a:extLst>
              <a:ext uri="{FF2B5EF4-FFF2-40B4-BE49-F238E27FC236}">
                <a16:creationId xmlns:a16="http://schemas.microsoft.com/office/drawing/2014/main" id="{0E5245A1-B344-744E-3916-3B5AF62EE37A}"/>
              </a:ext>
            </a:extLst>
          </p:cNvPr>
          <p:cNvCxnSpPr>
            <a:cxnSpLocks/>
          </p:cNvCxnSpPr>
          <p:nvPr/>
        </p:nvCxnSpPr>
        <p:spPr>
          <a:xfrm>
            <a:off x="213754" y="5886715"/>
            <a:ext cx="11764492" cy="0"/>
          </a:xfrm>
          <a:prstGeom prst="line">
            <a:avLst/>
          </a:prstGeom>
          <a:ln w="19050">
            <a:solidFill>
              <a:srgbClr val="4C4F54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E0BF1B11-00A5-3BBA-29AA-72711454BDD6}"/>
              </a:ext>
            </a:extLst>
          </p:cNvPr>
          <p:cNvSpPr txBox="1"/>
          <p:nvPr/>
        </p:nvSpPr>
        <p:spPr>
          <a:xfrm>
            <a:off x="1158240" y="1909980"/>
            <a:ext cx="638048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B0F0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just"/>
            <a:r>
              <a:rPr lang="fr-FR" b="1" dirty="0">
                <a:solidFill>
                  <a:srgbClr val="FF0000"/>
                </a:solidFill>
              </a:rPr>
              <a:t>Ressources stratégiques </a:t>
            </a:r>
            <a:r>
              <a:rPr lang="fr-FR" b="1" dirty="0">
                <a:solidFill>
                  <a:srgbClr val="002060"/>
                </a:solidFill>
              </a:rPr>
              <a:t>: Procurent une force particulière à l’entreprise . </a:t>
            </a:r>
            <a:endParaRPr lang="fr-TN" dirty="0">
              <a:solidFill>
                <a:srgbClr val="002060"/>
              </a:solidFill>
            </a:endParaRPr>
          </a:p>
        </p:txBody>
      </p:sp>
      <p:pic>
        <p:nvPicPr>
          <p:cNvPr id="1026" name="Picture 2" descr="Jay Barney - Wikipedia">
            <a:extLst>
              <a:ext uri="{FF2B5EF4-FFF2-40B4-BE49-F238E27FC236}">
                <a16:creationId xmlns:a16="http://schemas.microsoft.com/office/drawing/2014/main" id="{F50E88BC-6424-E8DD-1F7E-7C9FC2A2D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69" y="5988820"/>
            <a:ext cx="1158793" cy="869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AFC469C1-F4F8-71DC-8386-A0CF1B5EFC73}"/>
              </a:ext>
            </a:extLst>
          </p:cNvPr>
          <p:cNvSpPr txBox="1"/>
          <p:nvPr/>
        </p:nvSpPr>
        <p:spPr>
          <a:xfrm>
            <a:off x="1693069" y="6293218"/>
            <a:ext cx="2015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4F4F4F"/>
                </a:solidFill>
                <a:latin typeface="Candara" panose="020E0502030303020204" pitchFamily="34" charset="0"/>
              </a:rPr>
              <a:t>Jay Barney </a:t>
            </a:r>
            <a:endParaRPr lang="fr-TN" dirty="0">
              <a:solidFill>
                <a:srgbClr val="4F4F4F"/>
              </a:solidFill>
              <a:latin typeface="Candara" panose="020E0502030303020204" pitchFamily="34" charset="0"/>
            </a:endParaRPr>
          </a:p>
        </p:txBody>
      </p:sp>
      <p:pic>
        <p:nvPicPr>
          <p:cNvPr id="7" name="object 35">
            <a:extLst>
              <a:ext uri="{FF2B5EF4-FFF2-40B4-BE49-F238E27FC236}">
                <a16:creationId xmlns:a16="http://schemas.microsoft.com/office/drawing/2014/main" id="{9AC2C8C0-0CB6-F142-EC38-56E0857FC57F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39679" y="156349"/>
            <a:ext cx="1166505" cy="453892"/>
          </a:xfrm>
          <a:prstGeom prst="rect">
            <a:avLst/>
          </a:prstGeom>
        </p:spPr>
      </p:pic>
      <p:pic>
        <p:nvPicPr>
          <p:cNvPr id="9" name="Google Shape;497;p31">
            <a:extLst>
              <a:ext uri="{FF2B5EF4-FFF2-40B4-BE49-F238E27FC236}">
                <a16:creationId xmlns:a16="http://schemas.microsoft.com/office/drawing/2014/main" id="{688358D2-E45D-4176-6331-5D5F287D507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06096" y="0"/>
            <a:ext cx="2761905" cy="17008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292B2EDF-E4A1-914D-62FB-31B18129BA07}"/>
              </a:ext>
            </a:extLst>
          </p:cNvPr>
          <p:cNvCxnSpPr/>
          <p:nvPr/>
        </p:nvCxnSpPr>
        <p:spPr>
          <a:xfrm>
            <a:off x="7796981" y="452284"/>
            <a:ext cx="0" cy="5122606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57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164FE394-6440-06C5-D7B8-D1CCAE88E3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8949921"/>
              </p:ext>
            </p:extLst>
          </p:nvPr>
        </p:nvGraphicFramePr>
        <p:xfrm>
          <a:off x="2032000" y="1235948"/>
          <a:ext cx="8128000" cy="49023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9FCEF659-676F-3445-2750-D533948948B7}"/>
              </a:ext>
            </a:extLst>
          </p:cNvPr>
          <p:cNvSpPr txBox="1"/>
          <p:nvPr/>
        </p:nvSpPr>
        <p:spPr>
          <a:xfrm>
            <a:off x="6551526" y="3125037"/>
            <a:ext cx="37580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b="1" dirty="0">
                <a:solidFill>
                  <a:srgbClr val="002060"/>
                </a:solidFill>
                <a:latin typeface="Candara" panose="020E0502030303020204" pitchFamily="34" charset="0"/>
              </a:rPr>
              <a:t>L’ensemble des compétences et des ressources qui permet à l’entreprise de survivre, de perdurer et de prospérer.</a:t>
            </a:r>
            <a:endParaRPr lang="fr-TN" b="1" dirty="0">
              <a:solidFill>
                <a:srgbClr val="002060"/>
              </a:solidFill>
              <a:latin typeface="Candara" panose="020E0502030303020204" pitchFamily="34" charset="0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35CB60F-2A21-7D1F-665B-AF11C2F091C1}"/>
              </a:ext>
            </a:extLst>
          </p:cNvPr>
          <p:cNvSpPr/>
          <p:nvPr/>
        </p:nvSpPr>
        <p:spPr>
          <a:xfrm>
            <a:off x="211788" y="329018"/>
            <a:ext cx="448309" cy="512445"/>
          </a:xfrm>
          <a:custGeom>
            <a:avLst/>
            <a:gdLst/>
            <a:ahLst/>
            <a:cxnLst/>
            <a:rect l="l" t="t" r="r" b="b"/>
            <a:pathLst>
              <a:path w="448309" h="512444">
                <a:moveTo>
                  <a:pt x="0" y="0"/>
                </a:moveTo>
                <a:lnTo>
                  <a:pt x="0" y="512190"/>
                </a:lnTo>
                <a:lnTo>
                  <a:pt x="448056" y="25603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E18431-F1D8-76AE-7321-E4A7F15F7E17}"/>
              </a:ext>
            </a:extLst>
          </p:cNvPr>
          <p:cNvSpPr txBox="1"/>
          <p:nvPr/>
        </p:nvSpPr>
        <p:spPr>
          <a:xfrm>
            <a:off x="731126" y="256688"/>
            <a:ext cx="55089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pc="10" dirty="0" err="1">
                <a:solidFill>
                  <a:srgbClr val="C00000"/>
                </a:solidFill>
                <a:latin typeface="Calibri"/>
                <a:ea typeface="+mj-ea"/>
                <a:cs typeface="Calibri"/>
              </a:rPr>
              <a:t>Capacité</a:t>
            </a:r>
            <a:r>
              <a:rPr lang="en-US" sz="3200" b="1" spc="10" dirty="0">
                <a:solidFill>
                  <a:srgbClr val="C00000"/>
                </a:solidFill>
                <a:latin typeface="Calibri"/>
                <a:ea typeface="+mj-ea"/>
                <a:cs typeface="Calibri"/>
              </a:rPr>
              <a:t> </a:t>
            </a:r>
            <a:r>
              <a:rPr lang="en-US" sz="3200" b="1" spc="10" dirty="0" err="1">
                <a:solidFill>
                  <a:srgbClr val="C00000"/>
                </a:solidFill>
                <a:latin typeface="Calibri"/>
                <a:ea typeface="+mj-ea"/>
                <a:cs typeface="Calibri"/>
              </a:rPr>
              <a:t>stratégique</a:t>
            </a:r>
            <a:r>
              <a:rPr lang="en-US" sz="3200" b="1" spc="10" dirty="0">
                <a:solidFill>
                  <a:srgbClr val="C00000"/>
                </a:solidFill>
                <a:latin typeface="Calibri"/>
                <a:ea typeface="+mj-ea"/>
                <a:cs typeface="Calibri"/>
              </a:rPr>
              <a:t>   </a:t>
            </a:r>
          </a:p>
        </p:txBody>
      </p:sp>
      <p:pic>
        <p:nvPicPr>
          <p:cNvPr id="2" name="Picture 2" descr="Jay Barney - Wikipedia">
            <a:extLst>
              <a:ext uri="{FF2B5EF4-FFF2-40B4-BE49-F238E27FC236}">
                <a16:creationId xmlns:a16="http://schemas.microsoft.com/office/drawing/2014/main" id="{3B0B124B-082E-D3F4-70D8-73286177E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69" y="5988820"/>
            <a:ext cx="1158793" cy="869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Line buttom">
            <a:extLst>
              <a:ext uri="{FF2B5EF4-FFF2-40B4-BE49-F238E27FC236}">
                <a16:creationId xmlns:a16="http://schemas.microsoft.com/office/drawing/2014/main" id="{B0560684-DA46-CAA1-B594-99B3053CF118}"/>
              </a:ext>
            </a:extLst>
          </p:cNvPr>
          <p:cNvCxnSpPr>
            <a:cxnSpLocks/>
          </p:cNvCxnSpPr>
          <p:nvPr/>
        </p:nvCxnSpPr>
        <p:spPr>
          <a:xfrm>
            <a:off x="213754" y="5886715"/>
            <a:ext cx="11764492" cy="0"/>
          </a:xfrm>
          <a:prstGeom prst="line">
            <a:avLst/>
          </a:prstGeom>
          <a:ln w="19050">
            <a:solidFill>
              <a:srgbClr val="4C4F54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object 35">
            <a:extLst>
              <a:ext uri="{FF2B5EF4-FFF2-40B4-BE49-F238E27FC236}">
                <a16:creationId xmlns:a16="http://schemas.microsoft.com/office/drawing/2014/main" id="{BE25C441-A5E2-13FE-AF55-4951A5F3E6A7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839679" y="156349"/>
            <a:ext cx="1166505" cy="453892"/>
          </a:xfrm>
          <a:prstGeom prst="rect">
            <a:avLst/>
          </a:prstGeom>
        </p:spPr>
      </p:pic>
      <p:pic>
        <p:nvPicPr>
          <p:cNvPr id="10" name="Google Shape;497;p31">
            <a:extLst>
              <a:ext uri="{FF2B5EF4-FFF2-40B4-BE49-F238E27FC236}">
                <a16:creationId xmlns:a16="http://schemas.microsoft.com/office/drawing/2014/main" id="{C7144792-02DB-F27D-2DFE-542A044B8164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906096" y="0"/>
            <a:ext cx="2761905" cy="170080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D6A06A1F-A35E-86C9-BB13-CDB747DC5F84}"/>
              </a:ext>
            </a:extLst>
          </p:cNvPr>
          <p:cNvSpPr txBox="1"/>
          <p:nvPr/>
        </p:nvSpPr>
        <p:spPr>
          <a:xfrm>
            <a:off x="1552494" y="6336729"/>
            <a:ext cx="2015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4F4F4F"/>
                </a:solidFill>
                <a:latin typeface="Candara" panose="020E0502030303020204" pitchFamily="34" charset="0"/>
              </a:rPr>
              <a:t>Jay Barney </a:t>
            </a:r>
            <a:endParaRPr lang="fr-TN" dirty="0">
              <a:solidFill>
                <a:srgbClr val="4F4F4F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776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060D687-F014-205B-F312-7E2ABF21DD04}"/>
              </a:ext>
            </a:extLst>
          </p:cNvPr>
          <p:cNvSpPr/>
          <p:nvPr/>
        </p:nvSpPr>
        <p:spPr>
          <a:xfrm>
            <a:off x="580103" y="2172929"/>
            <a:ext cx="2261420" cy="10913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0070C0"/>
                </a:solidFill>
              </a:rPr>
              <a:t>Valeur </a:t>
            </a:r>
            <a:endParaRPr lang="fr-TN" dirty="0">
              <a:solidFill>
                <a:srgbClr val="0070C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75F7B3-CBB0-1FF7-4239-3881A9501EA5}"/>
              </a:ext>
            </a:extLst>
          </p:cNvPr>
          <p:cNvSpPr/>
          <p:nvPr/>
        </p:nvSpPr>
        <p:spPr>
          <a:xfrm>
            <a:off x="3121742" y="2172928"/>
            <a:ext cx="2261420" cy="10913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0070C0"/>
                </a:solidFill>
              </a:rPr>
              <a:t>Rareté  </a:t>
            </a:r>
            <a:endParaRPr lang="fr-TN" dirty="0">
              <a:solidFill>
                <a:srgbClr val="0070C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F7B707-5C16-EBC1-1534-7CDF3232BC3A}"/>
              </a:ext>
            </a:extLst>
          </p:cNvPr>
          <p:cNvSpPr/>
          <p:nvPr/>
        </p:nvSpPr>
        <p:spPr>
          <a:xfrm>
            <a:off x="5678130" y="2150805"/>
            <a:ext cx="2261420" cy="10913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0070C0"/>
                </a:solidFill>
              </a:rPr>
              <a:t>Inimitabilité  </a:t>
            </a:r>
            <a:endParaRPr lang="fr-TN" dirty="0">
              <a:solidFill>
                <a:srgbClr val="0070C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C82715-915C-0963-5185-4A7E68CE36C7}"/>
              </a:ext>
            </a:extLst>
          </p:cNvPr>
          <p:cNvSpPr/>
          <p:nvPr/>
        </p:nvSpPr>
        <p:spPr>
          <a:xfrm>
            <a:off x="8323007" y="2128682"/>
            <a:ext cx="2261420" cy="10913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0070C0"/>
                </a:solidFill>
              </a:rPr>
              <a:t>Non </a:t>
            </a:r>
          </a:p>
          <a:p>
            <a:pPr algn="ctr"/>
            <a:r>
              <a:rPr lang="fr-FR" dirty="0">
                <a:solidFill>
                  <a:srgbClr val="0070C0"/>
                </a:solidFill>
              </a:rPr>
              <a:t>Substituabilité  </a:t>
            </a:r>
            <a:endParaRPr lang="fr-TN" dirty="0">
              <a:solidFill>
                <a:srgbClr val="0070C0"/>
              </a:solidFill>
            </a:endParaRP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936BF20E-001B-D7DB-E991-AB6716B5B634}"/>
              </a:ext>
            </a:extLst>
          </p:cNvPr>
          <p:cNvCxnSpPr>
            <a:cxnSpLocks/>
          </p:cNvCxnSpPr>
          <p:nvPr/>
        </p:nvCxnSpPr>
        <p:spPr>
          <a:xfrm>
            <a:off x="2998839" y="1946787"/>
            <a:ext cx="0" cy="328397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2AE337F4-FA84-2A95-8296-17A906A50331}"/>
              </a:ext>
            </a:extLst>
          </p:cNvPr>
          <p:cNvSpPr/>
          <p:nvPr/>
        </p:nvSpPr>
        <p:spPr>
          <a:xfrm>
            <a:off x="299889" y="3746549"/>
            <a:ext cx="11305956" cy="796412"/>
          </a:xfrm>
          <a:prstGeom prst="rightArrow">
            <a:avLst/>
          </a:prstGeom>
          <a:noFill/>
          <a:ln w="2857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9EC25EC5-3D7C-3538-D5DD-660D81B321C1}"/>
              </a:ext>
            </a:extLst>
          </p:cNvPr>
          <p:cNvCxnSpPr>
            <a:cxnSpLocks/>
          </p:cNvCxnSpPr>
          <p:nvPr/>
        </p:nvCxnSpPr>
        <p:spPr>
          <a:xfrm>
            <a:off x="8185354" y="1868131"/>
            <a:ext cx="0" cy="328397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" descr="Jay Barney - Wikipedia">
            <a:extLst>
              <a:ext uri="{FF2B5EF4-FFF2-40B4-BE49-F238E27FC236}">
                <a16:creationId xmlns:a16="http://schemas.microsoft.com/office/drawing/2014/main" id="{1AC148F9-7BA5-8114-51A5-4DE04370F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69" y="6069204"/>
            <a:ext cx="1158793" cy="788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Straight Line buttom">
            <a:extLst>
              <a:ext uri="{FF2B5EF4-FFF2-40B4-BE49-F238E27FC236}">
                <a16:creationId xmlns:a16="http://schemas.microsoft.com/office/drawing/2014/main" id="{4D37737C-2839-D387-C0B2-03405880881F}"/>
              </a:ext>
            </a:extLst>
          </p:cNvPr>
          <p:cNvCxnSpPr>
            <a:cxnSpLocks/>
          </p:cNvCxnSpPr>
          <p:nvPr/>
        </p:nvCxnSpPr>
        <p:spPr>
          <a:xfrm>
            <a:off x="213754" y="6027392"/>
            <a:ext cx="11764492" cy="0"/>
          </a:xfrm>
          <a:prstGeom prst="line">
            <a:avLst/>
          </a:prstGeom>
          <a:ln w="19050">
            <a:solidFill>
              <a:srgbClr val="4C4F54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3CF0F67-A26E-2786-2DE1-25F68AC56E27}"/>
              </a:ext>
            </a:extLst>
          </p:cNvPr>
          <p:cNvSpPr/>
          <p:nvPr/>
        </p:nvSpPr>
        <p:spPr>
          <a:xfrm>
            <a:off x="2841523" y="964642"/>
            <a:ext cx="5267496" cy="681800"/>
          </a:xfrm>
          <a:prstGeom prst="rect">
            <a:avLst/>
          </a:prstGeom>
          <a:solidFill>
            <a:srgbClr val="00B0F0"/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n w="0"/>
                <a:solidFill>
                  <a:schemeClr val="bg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Modèle VRIN </a:t>
            </a:r>
            <a:endParaRPr lang="fr-TN" b="1" dirty="0">
              <a:ln w="0"/>
              <a:solidFill>
                <a:schemeClr val="bg2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4D598284-8656-E793-05EB-7699AB304DA0}"/>
              </a:ext>
            </a:extLst>
          </p:cNvPr>
          <p:cNvSpPr txBox="1"/>
          <p:nvPr/>
        </p:nvSpPr>
        <p:spPr>
          <a:xfrm>
            <a:off x="580103" y="4672484"/>
            <a:ext cx="2132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070C0"/>
                </a:solidFill>
              </a:rPr>
              <a:t>Capacité minimale: </a:t>
            </a:r>
          </a:p>
          <a:p>
            <a:r>
              <a:rPr lang="fr-FR" b="1" dirty="0">
                <a:solidFill>
                  <a:srgbClr val="0070C0"/>
                </a:solidFill>
              </a:rPr>
              <a:t>Parité concurrentielle </a:t>
            </a:r>
            <a:endParaRPr lang="fr-TN" b="1" dirty="0">
              <a:solidFill>
                <a:srgbClr val="0070C0"/>
              </a:solidFill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55F6C03-8094-F020-C46B-ADCE03D74D3E}"/>
              </a:ext>
            </a:extLst>
          </p:cNvPr>
          <p:cNvSpPr txBox="1"/>
          <p:nvPr/>
        </p:nvSpPr>
        <p:spPr>
          <a:xfrm>
            <a:off x="3727938" y="4590865"/>
            <a:ext cx="40293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TN"/>
            </a:defPPr>
            <a:lvl1pPr>
              <a:defRPr b="1">
                <a:solidFill>
                  <a:srgbClr val="0070C0"/>
                </a:solidFill>
              </a:defRPr>
            </a:lvl1pPr>
          </a:lstStyle>
          <a:p>
            <a:pPr algn="ctr"/>
            <a:r>
              <a:rPr lang="fr-FR" dirty="0"/>
              <a:t>Capacité intermédiaire: </a:t>
            </a:r>
          </a:p>
          <a:p>
            <a:pPr algn="ctr"/>
            <a:r>
              <a:rPr lang="fr-FR" dirty="0"/>
              <a:t>Avantage concurrentiel temporaire et à portée réduite  </a:t>
            </a:r>
            <a:endParaRPr lang="fr-TN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D7DB3D7-5951-660A-DB35-F0AA92A26653}"/>
              </a:ext>
            </a:extLst>
          </p:cNvPr>
          <p:cNvSpPr txBox="1"/>
          <p:nvPr/>
        </p:nvSpPr>
        <p:spPr>
          <a:xfrm>
            <a:off x="7757327" y="4640146"/>
            <a:ext cx="4029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70C0"/>
                </a:solidFill>
              </a:rPr>
              <a:t>Capacité stratégique: avantage concurrentiel durable  </a:t>
            </a:r>
            <a:endParaRPr lang="fr-TN" b="1" dirty="0">
              <a:solidFill>
                <a:srgbClr val="0070C0"/>
              </a:solidFill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DE7E6726-9AFD-3995-8A7D-4815698089C3}"/>
              </a:ext>
            </a:extLst>
          </p:cNvPr>
          <p:cNvSpPr txBox="1"/>
          <p:nvPr/>
        </p:nvSpPr>
        <p:spPr>
          <a:xfrm>
            <a:off x="1552494" y="6336729"/>
            <a:ext cx="2015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4F4F4F"/>
                </a:solidFill>
                <a:latin typeface="Candara" panose="020E0502030303020204" pitchFamily="34" charset="0"/>
              </a:rPr>
              <a:t>Jay Barney </a:t>
            </a:r>
            <a:endParaRPr lang="fr-TN" dirty="0">
              <a:solidFill>
                <a:srgbClr val="4F4F4F"/>
              </a:solidFill>
              <a:latin typeface="Candara" panose="020E0502030303020204" pitchFamily="34" charset="0"/>
            </a:endParaRPr>
          </a:p>
        </p:txBody>
      </p:sp>
      <p:pic>
        <p:nvPicPr>
          <p:cNvPr id="10" name="object 35">
            <a:extLst>
              <a:ext uri="{FF2B5EF4-FFF2-40B4-BE49-F238E27FC236}">
                <a16:creationId xmlns:a16="http://schemas.microsoft.com/office/drawing/2014/main" id="{1D500C06-59E7-2AB0-6615-E651558A16E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39679" y="156349"/>
            <a:ext cx="1166505" cy="453892"/>
          </a:xfrm>
          <a:prstGeom prst="rect">
            <a:avLst/>
          </a:prstGeom>
        </p:spPr>
      </p:pic>
      <p:pic>
        <p:nvPicPr>
          <p:cNvPr id="12" name="Google Shape;497;p31">
            <a:extLst>
              <a:ext uri="{FF2B5EF4-FFF2-40B4-BE49-F238E27FC236}">
                <a16:creationId xmlns:a16="http://schemas.microsoft.com/office/drawing/2014/main" id="{3FE20D43-6BD8-9E3B-9CE6-13065FE6B31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50477" y="309985"/>
            <a:ext cx="2761905" cy="17008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0315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1"/>
          <p:cNvSpPr/>
          <p:nvPr/>
        </p:nvSpPr>
        <p:spPr>
          <a:xfrm>
            <a:off x="1994440" y="3564369"/>
            <a:ext cx="7848872" cy="1938992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lang="en-US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matrice</a:t>
            </a: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SWOT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outil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d'analyse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stratégique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qui combine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l'étude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 </a:t>
            </a:r>
            <a:r>
              <a:rPr lang="en-US" sz="2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forces et des faiblesses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issues du </a:t>
            </a:r>
            <a:r>
              <a:rPr lang="en-US" sz="24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diagnostic interne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l’entreprise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avec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celle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 </a:t>
            </a:r>
            <a:r>
              <a:rPr lang="en-US" sz="2400" b="1" dirty="0" err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opportunités</a:t>
            </a:r>
            <a:r>
              <a:rPr lang="en-US" sz="24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et des menaces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son </a:t>
            </a:r>
            <a:r>
              <a:rPr lang="en-US" sz="2400" u="sng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environnement</a:t>
            </a:r>
            <a:r>
              <a:rPr lang="en-US" sz="24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u="sng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externe</a:t>
            </a:r>
            <a:r>
              <a:rPr lang="en-US" sz="24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afin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d'aider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à la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prise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décision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entre </a:t>
            </a:r>
            <a:r>
              <a:rPr lang="en-US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plusieurs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solutions possibles.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7" name="Google Shape;49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06096" y="0"/>
            <a:ext cx="2761905" cy="1700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14675" y="800100"/>
            <a:ext cx="5962650" cy="2070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object 35">
            <a:extLst>
              <a:ext uri="{FF2B5EF4-FFF2-40B4-BE49-F238E27FC236}">
                <a16:creationId xmlns:a16="http://schemas.microsoft.com/office/drawing/2014/main" id="{5A0875F8-486D-6C87-E529-1DDC0ECA1EB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39679" y="156349"/>
            <a:ext cx="1166505" cy="453892"/>
          </a:xfrm>
          <a:prstGeom prst="rect">
            <a:avLst/>
          </a:prstGeom>
        </p:spPr>
      </p:pic>
      <p:sp>
        <p:nvSpPr>
          <p:cNvPr id="3" name="object 5">
            <a:extLst>
              <a:ext uri="{FF2B5EF4-FFF2-40B4-BE49-F238E27FC236}">
                <a16:creationId xmlns:a16="http://schemas.microsoft.com/office/drawing/2014/main" id="{29FA0C1E-1AB5-8FEA-E915-CE83B3468659}"/>
              </a:ext>
            </a:extLst>
          </p:cNvPr>
          <p:cNvSpPr/>
          <p:nvPr/>
        </p:nvSpPr>
        <p:spPr>
          <a:xfrm>
            <a:off x="185816" y="156349"/>
            <a:ext cx="422555" cy="512445"/>
          </a:xfrm>
          <a:custGeom>
            <a:avLst/>
            <a:gdLst/>
            <a:ahLst/>
            <a:cxnLst/>
            <a:rect l="l" t="t" r="r" b="b"/>
            <a:pathLst>
              <a:path w="448309" h="512444">
                <a:moveTo>
                  <a:pt x="0" y="0"/>
                </a:moveTo>
                <a:lnTo>
                  <a:pt x="0" y="512190"/>
                </a:lnTo>
                <a:lnTo>
                  <a:pt x="448056" y="256032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24D86D6A-9FD0-F1A2-5C45-7FA1B29C0E71}"/>
              </a:ext>
            </a:extLst>
          </p:cNvPr>
          <p:cNvSpPr txBox="1"/>
          <p:nvPr/>
        </p:nvSpPr>
        <p:spPr>
          <a:xfrm>
            <a:off x="695034" y="107663"/>
            <a:ext cx="55089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pc="10" dirty="0">
                <a:solidFill>
                  <a:srgbClr val="C00000"/>
                </a:solidFill>
                <a:latin typeface="Calibri"/>
                <a:ea typeface="+mj-ea"/>
                <a:cs typeface="Calibri"/>
              </a:rPr>
              <a:t>SWOT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2"/>
          <p:cNvSpPr/>
          <p:nvPr/>
        </p:nvSpPr>
        <p:spPr>
          <a:xfrm>
            <a:off x="2666976" y="285728"/>
            <a:ext cx="2322198" cy="3657600"/>
          </a:xfrm>
          <a:custGeom>
            <a:avLst/>
            <a:gdLst/>
            <a:ahLst/>
            <a:cxnLst/>
            <a:rect l="l" t="t" r="r" b="b"/>
            <a:pathLst>
              <a:path w="3657" h="4320" extrusionOk="0">
                <a:moveTo>
                  <a:pt x="2878" y="182"/>
                </a:moveTo>
                <a:lnTo>
                  <a:pt x="2813" y="186"/>
                </a:lnTo>
                <a:lnTo>
                  <a:pt x="2750" y="198"/>
                </a:lnTo>
                <a:lnTo>
                  <a:pt x="2690" y="217"/>
                </a:lnTo>
                <a:lnTo>
                  <a:pt x="2633" y="243"/>
                </a:lnTo>
                <a:lnTo>
                  <a:pt x="2581" y="275"/>
                </a:lnTo>
                <a:lnTo>
                  <a:pt x="2532" y="313"/>
                </a:lnTo>
                <a:lnTo>
                  <a:pt x="2489" y="357"/>
                </a:lnTo>
                <a:lnTo>
                  <a:pt x="2451" y="406"/>
                </a:lnTo>
                <a:lnTo>
                  <a:pt x="2419" y="458"/>
                </a:lnTo>
                <a:lnTo>
                  <a:pt x="2392" y="514"/>
                </a:lnTo>
                <a:lnTo>
                  <a:pt x="2373" y="575"/>
                </a:lnTo>
                <a:lnTo>
                  <a:pt x="2361" y="638"/>
                </a:lnTo>
                <a:lnTo>
                  <a:pt x="2357" y="703"/>
                </a:lnTo>
                <a:lnTo>
                  <a:pt x="2361" y="768"/>
                </a:lnTo>
                <a:lnTo>
                  <a:pt x="2373" y="831"/>
                </a:lnTo>
                <a:lnTo>
                  <a:pt x="2392" y="891"/>
                </a:lnTo>
                <a:lnTo>
                  <a:pt x="2419" y="948"/>
                </a:lnTo>
                <a:lnTo>
                  <a:pt x="2451" y="1001"/>
                </a:lnTo>
                <a:lnTo>
                  <a:pt x="2489" y="1049"/>
                </a:lnTo>
                <a:lnTo>
                  <a:pt x="2532" y="1093"/>
                </a:lnTo>
                <a:lnTo>
                  <a:pt x="2581" y="1131"/>
                </a:lnTo>
                <a:lnTo>
                  <a:pt x="2633" y="1164"/>
                </a:lnTo>
                <a:lnTo>
                  <a:pt x="2690" y="1189"/>
                </a:lnTo>
                <a:lnTo>
                  <a:pt x="2750" y="1208"/>
                </a:lnTo>
                <a:lnTo>
                  <a:pt x="2813" y="1220"/>
                </a:lnTo>
                <a:lnTo>
                  <a:pt x="2878" y="1224"/>
                </a:lnTo>
                <a:lnTo>
                  <a:pt x="2943" y="1220"/>
                </a:lnTo>
                <a:lnTo>
                  <a:pt x="3006" y="1208"/>
                </a:lnTo>
                <a:lnTo>
                  <a:pt x="3066" y="1189"/>
                </a:lnTo>
                <a:lnTo>
                  <a:pt x="3123" y="1164"/>
                </a:lnTo>
                <a:lnTo>
                  <a:pt x="3176" y="1131"/>
                </a:lnTo>
                <a:lnTo>
                  <a:pt x="3225" y="1093"/>
                </a:lnTo>
                <a:lnTo>
                  <a:pt x="3268" y="1049"/>
                </a:lnTo>
                <a:lnTo>
                  <a:pt x="3306" y="1001"/>
                </a:lnTo>
                <a:lnTo>
                  <a:pt x="3339" y="948"/>
                </a:lnTo>
                <a:lnTo>
                  <a:pt x="3365" y="891"/>
                </a:lnTo>
                <a:lnTo>
                  <a:pt x="3383" y="831"/>
                </a:lnTo>
                <a:lnTo>
                  <a:pt x="3395" y="768"/>
                </a:lnTo>
                <a:lnTo>
                  <a:pt x="3399" y="703"/>
                </a:lnTo>
                <a:lnTo>
                  <a:pt x="3395" y="638"/>
                </a:lnTo>
                <a:lnTo>
                  <a:pt x="3383" y="575"/>
                </a:lnTo>
                <a:lnTo>
                  <a:pt x="3365" y="514"/>
                </a:lnTo>
                <a:lnTo>
                  <a:pt x="3339" y="458"/>
                </a:lnTo>
                <a:lnTo>
                  <a:pt x="3306" y="406"/>
                </a:lnTo>
                <a:lnTo>
                  <a:pt x="3268" y="357"/>
                </a:lnTo>
                <a:lnTo>
                  <a:pt x="3225" y="313"/>
                </a:lnTo>
                <a:lnTo>
                  <a:pt x="3176" y="275"/>
                </a:lnTo>
                <a:lnTo>
                  <a:pt x="3123" y="243"/>
                </a:lnTo>
                <a:lnTo>
                  <a:pt x="3066" y="217"/>
                </a:lnTo>
                <a:lnTo>
                  <a:pt x="3006" y="198"/>
                </a:lnTo>
                <a:lnTo>
                  <a:pt x="2943" y="186"/>
                </a:lnTo>
                <a:lnTo>
                  <a:pt x="2878" y="182"/>
                </a:lnTo>
                <a:close/>
                <a:moveTo>
                  <a:pt x="2603" y="0"/>
                </a:moveTo>
                <a:lnTo>
                  <a:pt x="3154" y="0"/>
                </a:lnTo>
                <a:lnTo>
                  <a:pt x="3193" y="4"/>
                </a:lnTo>
                <a:lnTo>
                  <a:pt x="3231" y="14"/>
                </a:lnTo>
                <a:lnTo>
                  <a:pt x="3268" y="30"/>
                </a:lnTo>
                <a:lnTo>
                  <a:pt x="3299" y="52"/>
                </a:lnTo>
                <a:lnTo>
                  <a:pt x="3327" y="81"/>
                </a:lnTo>
                <a:lnTo>
                  <a:pt x="3350" y="114"/>
                </a:lnTo>
                <a:lnTo>
                  <a:pt x="3625" y="589"/>
                </a:lnTo>
                <a:lnTo>
                  <a:pt x="3642" y="626"/>
                </a:lnTo>
                <a:lnTo>
                  <a:pt x="3653" y="664"/>
                </a:lnTo>
                <a:lnTo>
                  <a:pt x="3657" y="703"/>
                </a:lnTo>
                <a:lnTo>
                  <a:pt x="3653" y="742"/>
                </a:lnTo>
                <a:lnTo>
                  <a:pt x="3642" y="782"/>
                </a:lnTo>
                <a:lnTo>
                  <a:pt x="3625" y="817"/>
                </a:lnTo>
                <a:lnTo>
                  <a:pt x="3350" y="1293"/>
                </a:lnTo>
                <a:lnTo>
                  <a:pt x="3327" y="1326"/>
                </a:lnTo>
                <a:lnTo>
                  <a:pt x="3299" y="1355"/>
                </a:lnTo>
                <a:lnTo>
                  <a:pt x="3268" y="1377"/>
                </a:lnTo>
                <a:lnTo>
                  <a:pt x="3231" y="1394"/>
                </a:lnTo>
                <a:lnTo>
                  <a:pt x="3193" y="1405"/>
                </a:lnTo>
                <a:lnTo>
                  <a:pt x="3154" y="1409"/>
                </a:lnTo>
                <a:lnTo>
                  <a:pt x="2747" y="1409"/>
                </a:lnTo>
                <a:lnTo>
                  <a:pt x="2744" y="1409"/>
                </a:lnTo>
                <a:lnTo>
                  <a:pt x="2738" y="1409"/>
                </a:lnTo>
                <a:lnTo>
                  <a:pt x="2729" y="1411"/>
                </a:lnTo>
                <a:lnTo>
                  <a:pt x="2717" y="1413"/>
                </a:lnTo>
                <a:lnTo>
                  <a:pt x="2703" y="1416"/>
                </a:lnTo>
                <a:lnTo>
                  <a:pt x="2686" y="1422"/>
                </a:lnTo>
                <a:lnTo>
                  <a:pt x="2669" y="1430"/>
                </a:lnTo>
                <a:lnTo>
                  <a:pt x="2650" y="1437"/>
                </a:lnTo>
                <a:lnTo>
                  <a:pt x="2631" y="1449"/>
                </a:lnTo>
                <a:lnTo>
                  <a:pt x="2612" y="1462"/>
                </a:lnTo>
                <a:lnTo>
                  <a:pt x="2594" y="1478"/>
                </a:lnTo>
                <a:lnTo>
                  <a:pt x="2578" y="1496"/>
                </a:lnTo>
                <a:lnTo>
                  <a:pt x="2563" y="1519"/>
                </a:lnTo>
                <a:lnTo>
                  <a:pt x="2549" y="1543"/>
                </a:lnTo>
                <a:lnTo>
                  <a:pt x="2540" y="1572"/>
                </a:lnTo>
                <a:lnTo>
                  <a:pt x="2532" y="1604"/>
                </a:lnTo>
                <a:lnTo>
                  <a:pt x="2530" y="1640"/>
                </a:lnTo>
                <a:lnTo>
                  <a:pt x="2531" y="1681"/>
                </a:lnTo>
                <a:lnTo>
                  <a:pt x="2536" y="1725"/>
                </a:lnTo>
                <a:lnTo>
                  <a:pt x="3078" y="2661"/>
                </a:lnTo>
                <a:lnTo>
                  <a:pt x="3103" y="2710"/>
                </a:lnTo>
                <a:lnTo>
                  <a:pt x="3121" y="2760"/>
                </a:lnTo>
                <a:lnTo>
                  <a:pt x="3133" y="2812"/>
                </a:lnTo>
                <a:lnTo>
                  <a:pt x="3140" y="2864"/>
                </a:lnTo>
                <a:lnTo>
                  <a:pt x="3140" y="2918"/>
                </a:lnTo>
                <a:lnTo>
                  <a:pt x="3133" y="2970"/>
                </a:lnTo>
                <a:lnTo>
                  <a:pt x="3121" y="3023"/>
                </a:lnTo>
                <a:lnTo>
                  <a:pt x="3103" y="3074"/>
                </a:lnTo>
                <a:lnTo>
                  <a:pt x="3078" y="3122"/>
                </a:lnTo>
                <a:lnTo>
                  <a:pt x="2523" y="4086"/>
                </a:lnTo>
                <a:lnTo>
                  <a:pt x="2493" y="4130"/>
                </a:lnTo>
                <a:lnTo>
                  <a:pt x="2459" y="4172"/>
                </a:lnTo>
                <a:lnTo>
                  <a:pt x="2420" y="4209"/>
                </a:lnTo>
                <a:lnTo>
                  <a:pt x="2378" y="4241"/>
                </a:lnTo>
                <a:lnTo>
                  <a:pt x="2332" y="4269"/>
                </a:lnTo>
                <a:lnTo>
                  <a:pt x="2284" y="4291"/>
                </a:lnTo>
                <a:lnTo>
                  <a:pt x="2233" y="4307"/>
                </a:lnTo>
                <a:lnTo>
                  <a:pt x="2179" y="4316"/>
                </a:lnTo>
                <a:lnTo>
                  <a:pt x="2125" y="4320"/>
                </a:lnTo>
                <a:lnTo>
                  <a:pt x="1013" y="4320"/>
                </a:lnTo>
                <a:lnTo>
                  <a:pt x="959" y="4316"/>
                </a:lnTo>
                <a:lnTo>
                  <a:pt x="907" y="4307"/>
                </a:lnTo>
                <a:lnTo>
                  <a:pt x="856" y="4291"/>
                </a:lnTo>
                <a:lnTo>
                  <a:pt x="808" y="4269"/>
                </a:lnTo>
                <a:lnTo>
                  <a:pt x="762" y="4241"/>
                </a:lnTo>
                <a:lnTo>
                  <a:pt x="719" y="4210"/>
                </a:lnTo>
                <a:lnTo>
                  <a:pt x="681" y="4172"/>
                </a:lnTo>
                <a:lnTo>
                  <a:pt x="647" y="4131"/>
                </a:lnTo>
                <a:lnTo>
                  <a:pt x="616" y="4086"/>
                </a:lnTo>
                <a:lnTo>
                  <a:pt x="60" y="3121"/>
                </a:lnTo>
                <a:lnTo>
                  <a:pt x="37" y="3072"/>
                </a:lnTo>
                <a:lnTo>
                  <a:pt x="18" y="3021"/>
                </a:lnTo>
                <a:lnTo>
                  <a:pt x="5" y="2970"/>
                </a:lnTo>
                <a:lnTo>
                  <a:pt x="0" y="2918"/>
                </a:lnTo>
                <a:lnTo>
                  <a:pt x="0" y="2864"/>
                </a:lnTo>
                <a:lnTo>
                  <a:pt x="5" y="2812"/>
                </a:lnTo>
                <a:lnTo>
                  <a:pt x="18" y="2761"/>
                </a:lnTo>
                <a:lnTo>
                  <a:pt x="37" y="2710"/>
                </a:lnTo>
                <a:lnTo>
                  <a:pt x="60" y="2661"/>
                </a:lnTo>
                <a:lnTo>
                  <a:pt x="616" y="1704"/>
                </a:lnTo>
                <a:lnTo>
                  <a:pt x="647" y="1659"/>
                </a:lnTo>
                <a:lnTo>
                  <a:pt x="681" y="1618"/>
                </a:lnTo>
                <a:lnTo>
                  <a:pt x="719" y="1583"/>
                </a:lnTo>
                <a:lnTo>
                  <a:pt x="762" y="1553"/>
                </a:lnTo>
                <a:lnTo>
                  <a:pt x="808" y="1526"/>
                </a:lnTo>
                <a:lnTo>
                  <a:pt x="856" y="1507"/>
                </a:lnTo>
                <a:lnTo>
                  <a:pt x="907" y="1492"/>
                </a:lnTo>
                <a:lnTo>
                  <a:pt x="959" y="1483"/>
                </a:lnTo>
                <a:lnTo>
                  <a:pt x="1013" y="1479"/>
                </a:lnTo>
                <a:lnTo>
                  <a:pt x="2125" y="1479"/>
                </a:lnTo>
                <a:lnTo>
                  <a:pt x="2171" y="1474"/>
                </a:lnTo>
                <a:lnTo>
                  <a:pt x="2211" y="1464"/>
                </a:lnTo>
                <a:lnTo>
                  <a:pt x="2243" y="1452"/>
                </a:lnTo>
                <a:lnTo>
                  <a:pt x="2272" y="1437"/>
                </a:lnTo>
                <a:lnTo>
                  <a:pt x="2296" y="1420"/>
                </a:lnTo>
                <a:lnTo>
                  <a:pt x="2314" y="1402"/>
                </a:lnTo>
                <a:lnTo>
                  <a:pt x="2328" y="1382"/>
                </a:lnTo>
                <a:lnTo>
                  <a:pt x="2339" y="1361"/>
                </a:lnTo>
                <a:lnTo>
                  <a:pt x="2347" y="1339"/>
                </a:lnTo>
                <a:lnTo>
                  <a:pt x="2352" y="1317"/>
                </a:lnTo>
                <a:lnTo>
                  <a:pt x="2353" y="1295"/>
                </a:lnTo>
                <a:lnTo>
                  <a:pt x="2353" y="1274"/>
                </a:lnTo>
                <a:lnTo>
                  <a:pt x="2352" y="1253"/>
                </a:lnTo>
                <a:lnTo>
                  <a:pt x="2349" y="1233"/>
                </a:lnTo>
                <a:lnTo>
                  <a:pt x="2345" y="1215"/>
                </a:lnTo>
                <a:lnTo>
                  <a:pt x="2341" y="1199"/>
                </a:lnTo>
                <a:lnTo>
                  <a:pt x="2336" y="1185"/>
                </a:lnTo>
                <a:lnTo>
                  <a:pt x="2332" y="1173"/>
                </a:lnTo>
                <a:lnTo>
                  <a:pt x="2328" y="1164"/>
                </a:lnTo>
                <a:lnTo>
                  <a:pt x="2326" y="1159"/>
                </a:lnTo>
                <a:lnTo>
                  <a:pt x="2326" y="1157"/>
                </a:lnTo>
                <a:lnTo>
                  <a:pt x="2132" y="817"/>
                </a:lnTo>
                <a:lnTo>
                  <a:pt x="2115" y="780"/>
                </a:lnTo>
                <a:lnTo>
                  <a:pt x="2104" y="742"/>
                </a:lnTo>
                <a:lnTo>
                  <a:pt x="2101" y="703"/>
                </a:lnTo>
                <a:lnTo>
                  <a:pt x="2104" y="664"/>
                </a:lnTo>
                <a:lnTo>
                  <a:pt x="2115" y="626"/>
                </a:lnTo>
                <a:lnTo>
                  <a:pt x="2132" y="589"/>
                </a:lnTo>
                <a:lnTo>
                  <a:pt x="2407" y="114"/>
                </a:lnTo>
                <a:lnTo>
                  <a:pt x="2429" y="81"/>
                </a:lnTo>
                <a:lnTo>
                  <a:pt x="2458" y="52"/>
                </a:lnTo>
                <a:lnTo>
                  <a:pt x="2489" y="30"/>
                </a:lnTo>
                <a:lnTo>
                  <a:pt x="2525" y="14"/>
                </a:lnTo>
                <a:lnTo>
                  <a:pt x="2563" y="4"/>
                </a:lnTo>
                <a:lnTo>
                  <a:pt x="2603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0" tIns="60950" rIns="121900" bIns="60950" anchor="t" anchorCtr="0">
            <a:noAutofit/>
          </a:bodyPr>
          <a:lstStyle/>
          <a:p>
            <a:endParaRPr sz="18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32"/>
          <p:cNvSpPr/>
          <p:nvPr/>
        </p:nvSpPr>
        <p:spPr>
          <a:xfrm>
            <a:off x="3238480" y="2928934"/>
            <a:ext cx="2322198" cy="3657600"/>
          </a:xfrm>
          <a:custGeom>
            <a:avLst/>
            <a:gdLst/>
            <a:ahLst/>
            <a:cxnLst/>
            <a:rect l="l" t="t" r="r" b="b"/>
            <a:pathLst>
              <a:path w="3657" h="4320" extrusionOk="0">
                <a:moveTo>
                  <a:pt x="2878" y="182"/>
                </a:moveTo>
                <a:lnTo>
                  <a:pt x="2813" y="186"/>
                </a:lnTo>
                <a:lnTo>
                  <a:pt x="2750" y="198"/>
                </a:lnTo>
                <a:lnTo>
                  <a:pt x="2690" y="217"/>
                </a:lnTo>
                <a:lnTo>
                  <a:pt x="2633" y="243"/>
                </a:lnTo>
                <a:lnTo>
                  <a:pt x="2581" y="275"/>
                </a:lnTo>
                <a:lnTo>
                  <a:pt x="2532" y="313"/>
                </a:lnTo>
                <a:lnTo>
                  <a:pt x="2489" y="357"/>
                </a:lnTo>
                <a:lnTo>
                  <a:pt x="2451" y="406"/>
                </a:lnTo>
                <a:lnTo>
                  <a:pt x="2419" y="458"/>
                </a:lnTo>
                <a:lnTo>
                  <a:pt x="2392" y="514"/>
                </a:lnTo>
                <a:lnTo>
                  <a:pt x="2373" y="575"/>
                </a:lnTo>
                <a:lnTo>
                  <a:pt x="2361" y="638"/>
                </a:lnTo>
                <a:lnTo>
                  <a:pt x="2357" y="703"/>
                </a:lnTo>
                <a:lnTo>
                  <a:pt x="2361" y="768"/>
                </a:lnTo>
                <a:lnTo>
                  <a:pt x="2373" y="831"/>
                </a:lnTo>
                <a:lnTo>
                  <a:pt x="2392" y="891"/>
                </a:lnTo>
                <a:lnTo>
                  <a:pt x="2419" y="948"/>
                </a:lnTo>
                <a:lnTo>
                  <a:pt x="2451" y="1001"/>
                </a:lnTo>
                <a:lnTo>
                  <a:pt x="2489" y="1049"/>
                </a:lnTo>
                <a:lnTo>
                  <a:pt x="2532" y="1093"/>
                </a:lnTo>
                <a:lnTo>
                  <a:pt x="2581" y="1131"/>
                </a:lnTo>
                <a:lnTo>
                  <a:pt x="2633" y="1164"/>
                </a:lnTo>
                <a:lnTo>
                  <a:pt x="2690" y="1189"/>
                </a:lnTo>
                <a:lnTo>
                  <a:pt x="2750" y="1208"/>
                </a:lnTo>
                <a:lnTo>
                  <a:pt x="2813" y="1220"/>
                </a:lnTo>
                <a:lnTo>
                  <a:pt x="2878" y="1224"/>
                </a:lnTo>
                <a:lnTo>
                  <a:pt x="2943" y="1220"/>
                </a:lnTo>
                <a:lnTo>
                  <a:pt x="3006" y="1208"/>
                </a:lnTo>
                <a:lnTo>
                  <a:pt x="3066" y="1189"/>
                </a:lnTo>
                <a:lnTo>
                  <a:pt x="3123" y="1164"/>
                </a:lnTo>
                <a:lnTo>
                  <a:pt x="3176" y="1131"/>
                </a:lnTo>
                <a:lnTo>
                  <a:pt x="3225" y="1093"/>
                </a:lnTo>
                <a:lnTo>
                  <a:pt x="3268" y="1049"/>
                </a:lnTo>
                <a:lnTo>
                  <a:pt x="3306" y="1001"/>
                </a:lnTo>
                <a:lnTo>
                  <a:pt x="3339" y="948"/>
                </a:lnTo>
                <a:lnTo>
                  <a:pt x="3365" y="891"/>
                </a:lnTo>
                <a:lnTo>
                  <a:pt x="3383" y="831"/>
                </a:lnTo>
                <a:lnTo>
                  <a:pt x="3395" y="768"/>
                </a:lnTo>
                <a:lnTo>
                  <a:pt x="3399" y="703"/>
                </a:lnTo>
                <a:lnTo>
                  <a:pt x="3395" y="638"/>
                </a:lnTo>
                <a:lnTo>
                  <a:pt x="3383" y="575"/>
                </a:lnTo>
                <a:lnTo>
                  <a:pt x="3365" y="514"/>
                </a:lnTo>
                <a:lnTo>
                  <a:pt x="3339" y="458"/>
                </a:lnTo>
                <a:lnTo>
                  <a:pt x="3306" y="406"/>
                </a:lnTo>
                <a:lnTo>
                  <a:pt x="3268" y="357"/>
                </a:lnTo>
                <a:lnTo>
                  <a:pt x="3225" y="313"/>
                </a:lnTo>
                <a:lnTo>
                  <a:pt x="3176" y="275"/>
                </a:lnTo>
                <a:lnTo>
                  <a:pt x="3123" y="243"/>
                </a:lnTo>
                <a:lnTo>
                  <a:pt x="3066" y="217"/>
                </a:lnTo>
                <a:lnTo>
                  <a:pt x="3006" y="198"/>
                </a:lnTo>
                <a:lnTo>
                  <a:pt x="2943" y="186"/>
                </a:lnTo>
                <a:lnTo>
                  <a:pt x="2878" y="182"/>
                </a:lnTo>
                <a:close/>
                <a:moveTo>
                  <a:pt x="2603" y="0"/>
                </a:moveTo>
                <a:lnTo>
                  <a:pt x="3154" y="0"/>
                </a:lnTo>
                <a:lnTo>
                  <a:pt x="3193" y="4"/>
                </a:lnTo>
                <a:lnTo>
                  <a:pt x="3231" y="14"/>
                </a:lnTo>
                <a:lnTo>
                  <a:pt x="3268" y="30"/>
                </a:lnTo>
                <a:lnTo>
                  <a:pt x="3299" y="52"/>
                </a:lnTo>
                <a:lnTo>
                  <a:pt x="3327" y="81"/>
                </a:lnTo>
                <a:lnTo>
                  <a:pt x="3350" y="114"/>
                </a:lnTo>
                <a:lnTo>
                  <a:pt x="3625" y="589"/>
                </a:lnTo>
                <a:lnTo>
                  <a:pt x="3642" y="626"/>
                </a:lnTo>
                <a:lnTo>
                  <a:pt x="3653" y="664"/>
                </a:lnTo>
                <a:lnTo>
                  <a:pt x="3657" y="703"/>
                </a:lnTo>
                <a:lnTo>
                  <a:pt x="3653" y="742"/>
                </a:lnTo>
                <a:lnTo>
                  <a:pt x="3642" y="782"/>
                </a:lnTo>
                <a:lnTo>
                  <a:pt x="3625" y="817"/>
                </a:lnTo>
                <a:lnTo>
                  <a:pt x="3350" y="1293"/>
                </a:lnTo>
                <a:lnTo>
                  <a:pt x="3327" y="1326"/>
                </a:lnTo>
                <a:lnTo>
                  <a:pt x="3299" y="1355"/>
                </a:lnTo>
                <a:lnTo>
                  <a:pt x="3268" y="1377"/>
                </a:lnTo>
                <a:lnTo>
                  <a:pt x="3231" y="1394"/>
                </a:lnTo>
                <a:lnTo>
                  <a:pt x="3193" y="1405"/>
                </a:lnTo>
                <a:lnTo>
                  <a:pt x="3154" y="1409"/>
                </a:lnTo>
                <a:lnTo>
                  <a:pt x="2747" y="1409"/>
                </a:lnTo>
                <a:lnTo>
                  <a:pt x="2744" y="1409"/>
                </a:lnTo>
                <a:lnTo>
                  <a:pt x="2738" y="1409"/>
                </a:lnTo>
                <a:lnTo>
                  <a:pt x="2729" y="1411"/>
                </a:lnTo>
                <a:lnTo>
                  <a:pt x="2717" y="1413"/>
                </a:lnTo>
                <a:lnTo>
                  <a:pt x="2703" y="1416"/>
                </a:lnTo>
                <a:lnTo>
                  <a:pt x="2686" y="1422"/>
                </a:lnTo>
                <a:lnTo>
                  <a:pt x="2669" y="1430"/>
                </a:lnTo>
                <a:lnTo>
                  <a:pt x="2650" y="1437"/>
                </a:lnTo>
                <a:lnTo>
                  <a:pt x="2631" y="1449"/>
                </a:lnTo>
                <a:lnTo>
                  <a:pt x="2612" y="1462"/>
                </a:lnTo>
                <a:lnTo>
                  <a:pt x="2594" y="1478"/>
                </a:lnTo>
                <a:lnTo>
                  <a:pt x="2578" y="1496"/>
                </a:lnTo>
                <a:lnTo>
                  <a:pt x="2563" y="1519"/>
                </a:lnTo>
                <a:lnTo>
                  <a:pt x="2549" y="1543"/>
                </a:lnTo>
                <a:lnTo>
                  <a:pt x="2540" y="1572"/>
                </a:lnTo>
                <a:lnTo>
                  <a:pt x="2532" y="1604"/>
                </a:lnTo>
                <a:lnTo>
                  <a:pt x="2530" y="1640"/>
                </a:lnTo>
                <a:lnTo>
                  <a:pt x="2531" y="1681"/>
                </a:lnTo>
                <a:lnTo>
                  <a:pt x="2536" y="1725"/>
                </a:lnTo>
                <a:lnTo>
                  <a:pt x="3078" y="2661"/>
                </a:lnTo>
                <a:lnTo>
                  <a:pt x="3103" y="2710"/>
                </a:lnTo>
                <a:lnTo>
                  <a:pt x="3121" y="2760"/>
                </a:lnTo>
                <a:lnTo>
                  <a:pt x="3133" y="2812"/>
                </a:lnTo>
                <a:lnTo>
                  <a:pt x="3140" y="2864"/>
                </a:lnTo>
                <a:lnTo>
                  <a:pt x="3140" y="2918"/>
                </a:lnTo>
                <a:lnTo>
                  <a:pt x="3133" y="2970"/>
                </a:lnTo>
                <a:lnTo>
                  <a:pt x="3121" y="3023"/>
                </a:lnTo>
                <a:lnTo>
                  <a:pt x="3103" y="3074"/>
                </a:lnTo>
                <a:lnTo>
                  <a:pt x="3078" y="3122"/>
                </a:lnTo>
                <a:lnTo>
                  <a:pt x="2523" y="4086"/>
                </a:lnTo>
                <a:lnTo>
                  <a:pt x="2493" y="4130"/>
                </a:lnTo>
                <a:lnTo>
                  <a:pt x="2459" y="4172"/>
                </a:lnTo>
                <a:lnTo>
                  <a:pt x="2420" y="4209"/>
                </a:lnTo>
                <a:lnTo>
                  <a:pt x="2378" y="4241"/>
                </a:lnTo>
                <a:lnTo>
                  <a:pt x="2332" y="4269"/>
                </a:lnTo>
                <a:lnTo>
                  <a:pt x="2284" y="4291"/>
                </a:lnTo>
                <a:lnTo>
                  <a:pt x="2233" y="4307"/>
                </a:lnTo>
                <a:lnTo>
                  <a:pt x="2179" y="4316"/>
                </a:lnTo>
                <a:lnTo>
                  <a:pt x="2125" y="4320"/>
                </a:lnTo>
                <a:lnTo>
                  <a:pt x="1013" y="4320"/>
                </a:lnTo>
                <a:lnTo>
                  <a:pt x="959" y="4316"/>
                </a:lnTo>
                <a:lnTo>
                  <a:pt x="907" y="4307"/>
                </a:lnTo>
                <a:lnTo>
                  <a:pt x="856" y="4291"/>
                </a:lnTo>
                <a:lnTo>
                  <a:pt x="808" y="4269"/>
                </a:lnTo>
                <a:lnTo>
                  <a:pt x="762" y="4241"/>
                </a:lnTo>
                <a:lnTo>
                  <a:pt x="719" y="4210"/>
                </a:lnTo>
                <a:lnTo>
                  <a:pt x="681" y="4172"/>
                </a:lnTo>
                <a:lnTo>
                  <a:pt x="647" y="4131"/>
                </a:lnTo>
                <a:lnTo>
                  <a:pt x="616" y="4086"/>
                </a:lnTo>
                <a:lnTo>
                  <a:pt x="60" y="3121"/>
                </a:lnTo>
                <a:lnTo>
                  <a:pt x="37" y="3072"/>
                </a:lnTo>
                <a:lnTo>
                  <a:pt x="18" y="3021"/>
                </a:lnTo>
                <a:lnTo>
                  <a:pt x="5" y="2970"/>
                </a:lnTo>
                <a:lnTo>
                  <a:pt x="0" y="2918"/>
                </a:lnTo>
                <a:lnTo>
                  <a:pt x="0" y="2864"/>
                </a:lnTo>
                <a:lnTo>
                  <a:pt x="5" y="2812"/>
                </a:lnTo>
                <a:lnTo>
                  <a:pt x="18" y="2761"/>
                </a:lnTo>
                <a:lnTo>
                  <a:pt x="37" y="2710"/>
                </a:lnTo>
                <a:lnTo>
                  <a:pt x="60" y="2661"/>
                </a:lnTo>
                <a:lnTo>
                  <a:pt x="616" y="1704"/>
                </a:lnTo>
                <a:lnTo>
                  <a:pt x="647" y="1659"/>
                </a:lnTo>
                <a:lnTo>
                  <a:pt x="681" y="1618"/>
                </a:lnTo>
                <a:lnTo>
                  <a:pt x="719" y="1583"/>
                </a:lnTo>
                <a:lnTo>
                  <a:pt x="762" y="1553"/>
                </a:lnTo>
                <a:lnTo>
                  <a:pt x="808" y="1526"/>
                </a:lnTo>
                <a:lnTo>
                  <a:pt x="856" y="1507"/>
                </a:lnTo>
                <a:lnTo>
                  <a:pt x="907" y="1492"/>
                </a:lnTo>
                <a:lnTo>
                  <a:pt x="959" y="1483"/>
                </a:lnTo>
                <a:lnTo>
                  <a:pt x="1013" y="1479"/>
                </a:lnTo>
                <a:lnTo>
                  <a:pt x="2125" y="1479"/>
                </a:lnTo>
                <a:lnTo>
                  <a:pt x="2171" y="1474"/>
                </a:lnTo>
                <a:lnTo>
                  <a:pt x="2211" y="1464"/>
                </a:lnTo>
                <a:lnTo>
                  <a:pt x="2243" y="1452"/>
                </a:lnTo>
                <a:lnTo>
                  <a:pt x="2272" y="1437"/>
                </a:lnTo>
                <a:lnTo>
                  <a:pt x="2296" y="1420"/>
                </a:lnTo>
                <a:lnTo>
                  <a:pt x="2314" y="1402"/>
                </a:lnTo>
                <a:lnTo>
                  <a:pt x="2328" y="1382"/>
                </a:lnTo>
                <a:lnTo>
                  <a:pt x="2339" y="1361"/>
                </a:lnTo>
                <a:lnTo>
                  <a:pt x="2347" y="1339"/>
                </a:lnTo>
                <a:lnTo>
                  <a:pt x="2352" y="1317"/>
                </a:lnTo>
                <a:lnTo>
                  <a:pt x="2353" y="1295"/>
                </a:lnTo>
                <a:lnTo>
                  <a:pt x="2353" y="1274"/>
                </a:lnTo>
                <a:lnTo>
                  <a:pt x="2352" y="1253"/>
                </a:lnTo>
                <a:lnTo>
                  <a:pt x="2349" y="1233"/>
                </a:lnTo>
                <a:lnTo>
                  <a:pt x="2345" y="1215"/>
                </a:lnTo>
                <a:lnTo>
                  <a:pt x="2341" y="1199"/>
                </a:lnTo>
                <a:lnTo>
                  <a:pt x="2336" y="1185"/>
                </a:lnTo>
                <a:lnTo>
                  <a:pt x="2332" y="1173"/>
                </a:lnTo>
                <a:lnTo>
                  <a:pt x="2328" y="1164"/>
                </a:lnTo>
                <a:lnTo>
                  <a:pt x="2326" y="1159"/>
                </a:lnTo>
                <a:lnTo>
                  <a:pt x="2326" y="1157"/>
                </a:lnTo>
                <a:lnTo>
                  <a:pt x="2132" y="817"/>
                </a:lnTo>
                <a:lnTo>
                  <a:pt x="2115" y="780"/>
                </a:lnTo>
                <a:lnTo>
                  <a:pt x="2104" y="742"/>
                </a:lnTo>
                <a:lnTo>
                  <a:pt x="2101" y="703"/>
                </a:lnTo>
                <a:lnTo>
                  <a:pt x="2104" y="664"/>
                </a:lnTo>
                <a:lnTo>
                  <a:pt x="2115" y="626"/>
                </a:lnTo>
                <a:lnTo>
                  <a:pt x="2132" y="589"/>
                </a:lnTo>
                <a:lnTo>
                  <a:pt x="2407" y="114"/>
                </a:lnTo>
                <a:lnTo>
                  <a:pt x="2429" y="81"/>
                </a:lnTo>
                <a:lnTo>
                  <a:pt x="2458" y="52"/>
                </a:lnTo>
                <a:lnTo>
                  <a:pt x="2489" y="30"/>
                </a:lnTo>
                <a:lnTo>
                  <a:pt x="2525" y="14"/>
                </a:lnTo>
                <a:lnTo>
                  <a:pt x="2563" y="4"/>
                </a:lnTo>
                <a:lnTo>
                  <a:pt x="2603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0" tIns="60950" rIns="121900" bIns="60950" anchor="t" anchorCtr="0">
            <a:noAutofit/>
          </a:bodyPr>
          <a:lstStyle/>
          <a:p>
            <a:endParaRPr sz="187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32"/>
          <p:cNvSpPr/>
          <p:nvPr/>
        </p:nvSpPr>
        <p:spPr>
          <a:xfrm>
            <a:off x="6238876" y="155297"/>
            <a:ext cx="2322198" cy="3657600"/>
          </a:xfrm>
          <a:custGeom>
            <a:avLst/>
            <a:gdLst/>
            <a:ahLst/>
            <a:cxnLst/>
            <a:rect l="l" t="t" r="r" b="b"/>
            <a:pathLst>
              <a:path w="3657" h="4320" extrusionOk="0">
                <a:moveTo>
                  <a:pt x="2878" y="182"/>
                </a:moveTo>
                <a:lnTo>
                  <a:pt x="2813" y="186"/>
                </a:lnTo>
                <a:lnTo>
                  <a:pt x="2750" y="198"/>
                </a:lnTo>
                <a:lnTo>
                  <a:pt x="2690" y="217"/>
                </a:lnTo>
                <a:lnTo>
                  <a:pt x="2633" y="243"/>
                </a:lnTo>
                <a:lnTo>
                  <a:pt x="2581" y="275"/>
                </a:lnTo>
                <a:lnTo>
                  <a:pt x="2532" y="313"/>
                </a:lnTo>
                <a:lnTo>
                  <a:pt x="2489" y="357"/>
                </a:lnTo>
                <a:lnTo>
                  <a:pt x="2451" y="406"/>
                </a:lnTo>
                <a:lnTo>
                  <a:pt x="2419" y="458"/>
                </a:lnTo>
                <a:lnTo>
                  <a:pt x="2392" y="514"/>
                </a:lnTo>
                <a:lnTo>
                  <a:pt x="2373" y="575"/>
                </a:lnTo>
                <a:lnTo>
                  <a:pt x="2361" y="638"/>
                </a:lnTo>
                <a:lnTo>
                  <a:pt x="2357" y="703"/>
                </a:lnTo>
                <a:lnTo>
                  <a:pt x="2361" y="768"/>
                </a:lnTo>
                <a:lnTo>
                  <a:pt x="2373" y="831"/>
                </a:lnTo>
                <a:lnTo>
                  <a:pt x="2392" y="891"/>
                </a:lnTo>
                <a:lnTo>
                  <a:pt x="2419" y="948"/>
                </a:lnTo>
                <a:lnTo>
                  <a:pt x="2451" y="1001"/>
                </a:lnTo>
                <a:lnTo>
                  <a:pt x="2489" y="1049"/>
                </a:lnTo>
                <a:lnTo>
                  <a:pt x="2532" y="1093"/>
                </a:lnTo>
                <a:lnTo>
                  <a:pt x="2581" y="1131"/>
                </a:lnTo>
                <a:lnTo>
                  <a:pt x="2633" y="1164"/>
                </a:lnTo>
                <a:lnTo>
                  <a:pt x="2690" y="1189"/>
                </a:lnTo>
                <a:lnTo>
                  <a:pt x="2750" y="1208"/>
                </a:lnTo>
                <a:lnTo>
                  <a:pt x="2813" y="1220"/>
                </a:lnTo>
                <a:lnTo>
                  <a:pt x="2878" y="1224"/>
                </a:lnTo>
                <a:lnTo>
                  <a:pt x="2943" y="1220"/>
                </a:lnTo>
                <a:lnTo>
                  <a:pt x="3006" y="1208"/>
                </a:lnTo>
                <a:lnTo>
                  <a:pt x="3066" y="1189"/>
                </a:lnTo>
                <a:lnTo>
                  <a:pt x="3123" y="1164"/>
                </a:lnTo>
                <a:lnTo>
                  <a:pt x="3176" y="1131"/>
                </a:lnTo>
                <a:lnTo>
                  <a:pt x="3225" y="1093"/>
                </a:lnTo>
                <a:lnTo>
                  <a:pt x="3268" y="1049"/>
                </a:lnTo>
                <a:lnTo>
                  <a:pt x="3306" y="1001"/>
                </a:lnTo>
                <a:lnTo>
                  <a:pt x="3339" y="948"/>
                </a:lnTo>
                <a:lnTo>
                  <a:pt x="3365" y="891"/>
                </a:lnTo>
                <a:lnTo>
                  <a:pt x="3383" y="831"/>
                </a:lnTo>
                <a:lnTo>
                  <a:pt x="3395" y="768"/>
                </a:lnTo>
                <a:lnTo>
                  <a:pt x="3399" y="703"/>
                </a:lnTo>
                <a:lnTo>
                  <a:pt x="3395" y="638"/>
                </a:lnTo>
                <a:lnTo>
                  <a:pt x="3383" y="575"/>
                </a:lnTo>
                <a:lnTo>
                  <a:pt x="3365" y="514"/>
                </a:lnTo>
                <a:lnTo>
                  <a:pt x="3339" y="458"/>
                </a:lnTo>
                <a:lnTo>
                  <a:pt x="3306" y="406"/>
                </a:lnTo>
                <a:lnTo>
                  <a:pt x="3268" y="357"/>
                </a:lnTo>
                <a:lnTo>
                  <a:pt x="3225" y="313"/>
                </a:lnTo>
                <a:lnTo>
                  <a:pt x="3176" y="275"/>
                </a:lnTo>
                <a:lnTo>
                  <a:pt x="3123" y="243"/>
                </a:lnTo>
                <a:lnTo>
                  <a:pt x="3066" y="217"/>
                </a:lnTo>
                <a:lnTo>
                  <a:pt x="3006" y="198"/>
                </a:lnTo>
                <a:lnTo>
                  <a:pt x="2943" y="186"/>
                </a:lnTo>
                <a:lnTo>
                  <a:pt x="2878" y="182"/>
                </a:lnTo>
                <a:close/>
                <a:moveTo>
                  <a:pt x="2603" y="0"/>
                </a:moveTo>
                <a:lnTo>
                  <a:pt x="3154" y="0"/>
                </a:lnTo>
                <a:lnTo>
                  <a:pt x="3193" y="4"/>
                </a:lnTo>
                <a:lnTo>
                  <a:pt x="3231" y="14"/>
                </a:lnTo>
                <a:lnTo>
                  <a:pt x="3268" y="30"/>
                </a:lnTo>
                <a:lnTo>
                  <a:pt x="3299" y="52"/>
                </a:lnTo>
                <a:lnTo>
                  <a:pt x="3327" y="81"/>
                </a:lnTo>
                <a:lnTo>
                  <a:pt x="3350" y="114"/>
                </a:lnTo>
                <a:lnTo>
                  <a:pt x="3625" y="589"/>
                </a:lnTo>
                <a:lnTo>
                  <a:pt x="3642" y="626"/>
                </a:lnTo>
                <a:lnTo>
                  <a:pt x="3653" y="664"/>
                </a:lnTo>
                <a:lnTo>
                  <a:pt x="3657" y="703"/>
                </a:lnTo>
                <a:lnTo>
                  <a:pt x="3653" y="742"/>
                </a:lnTo>
                <a:lnTo>
                  <a:pt x="3642" y="782"/>
                </a:lnTo>
                <a:lnTo>
                  <a:pt x="3625" y="817"/>
                </a:lnTo>
                <a:lnTo>
                  <a:pt x="3350" y="1293"/>
                </a:lnTo>
                <a:lnTo>
                  <a:pt x="3327" y="1326"/>
                </a:lnTo>
                <a:lnTo>
                  <a:pt x="3299" y="1355"/>
                </a:lnTo>
                <a:lnTo>
                  <a:pt x="3268" y="1377"/>
                </a:lnTo>
                <a:lnTo>
                  <a:pt x="3231" y="1394"/>
                </a:lnTo>
                <a:lnTo>
                  <a:pt x="3193" y="1405"/>
                </a:lnTo>
                <a:lnTo>
                  <a:pt x="3154" y="1409"/>
                </a:lnTo>
                <a:lnTo>
                  <a:pt x="2747" y="1409"/>
                </a:lnTo>
                <a:lnTo>
                  <a:pt x="2744" y="1409"/>
                </a:lnTo>
                <a:lnTo>
                  <a:pt x="2738" y="1409"/>
                </a:lnTo>
                <a:lnTo>
                  <a:pt x="2729" y="1411"/>
                </a:lnTo>
                <a:lnTo>
                  <a:pt x="2717" y="1413"/>
                </a:lnTo>
                <a:lnTo>
                  <a:pt x="2703" y="1416"/>
                </a:lnTo>
                <a:lnTo>
                  <a:pt x="2686" y="1422"/>
                </a:lnTo>
                <a:lnTo>
                  <a:pt x="2669" y="1430"/>
                </a:lnTo>
                <a:lnTo>
                  <a:pt x="2650" y="1437"/>
                </a:lnTo>
                <a:lnTo>
                  <a:pt x="2631" y="1449"/>
                </a:lnTo>
                <a:lnTo>
                  <a:pt x="2612" y="1462"/>
                </a:lnTo>
                <a:lnTo>
                  <a:pt x="2594" y="1478"/>
                </a:lnTo>
                <a:lnTo>
                  <a:pt x="2578" y="1496"/>
                </a:lnTo>
                <a:lnTo>
                  <a:pt x="2563" y="1519"/>
                </a:lnTo>
                <a:lnTo>
                  <a:pt x="2549" y="1543"/>
                </a:lnTo>
                <a:lnTo>
                  <a:pt x="2540" y="1572"/>
                </a:lnTo>
                <a:lnTo>
                  <a:pt x="2532" y="1604"/>
                </a:lnTo>
                <a:lnTo>
                  <a:pt x="2530" y="1640"/>
                </a:lnTo>
                <a:lnTo>
                  <a:pt x="2531" y="1681"/>
                </a:lnTo>
                <a:lnTo>
                  <a:pt x="2536" y="1725"/>
                </a:lnTo>
                <a:lnTo>
                  <a:pt x="3078" y="2661"/>
                </a:lnTo>
                <a:lnTo>
                  <a:pt x="3103" y="2710"/>
                </a:lnTo>
                <a:lnTo>
                  <a:pt x="3121" y="2760"/>
                </a:lnTo>
                <a:lnTo>
                  <a:pt x="3133" y="2812"/>
                </a:lnTo>
                <a:lnTo>
                  <a:pt x="3140" y="2864"/>
                </a:lnTo>
                <a:lnTo>
                  <a:pt x="3140" y="2918"/>
                </a:lnTo>
                <a:lnTo>
                  <a:pt x="3133" y="2970"/>
                </a:lnTo>
                <a:lnTo>
                  <a:pt x="3121" y="3023"/>
                </a:lnTo>
                <a:lnTo>
                  <a:pt x="3103" y="3074"/>
                </a:lnTo>
                <a:lnTo>
                  <a:pt x="3078" y="3122"/>
                </a:lnTo>
                <a:lnTo>
                  <a:pt x="2523" y="4086"/>
                </a:lnTo>
                <a:lnTo>
                  <a:pt x="2493" y="4130"/>
                </a:lnTo>
                <a:lnTo>
                  <a:pt x="2459" y="4172"/>
                </a:lnTo>
                <a:lnTo>
                  <a:pt x="2420" y="4209"/>
                </a:lnTo>
                <a:lnTo>
                  <a:pt x="2378" y="4241"/>
                </a:lnTo>
                <a:lnTo>
                  <a:pt x="2332" y="4269"/>
                </a:lnTo>
                <a:lnTo>
                  <a:pt x="2284" y="4291"/>
                </a:lnTo>
                <a:lnTo>
                  <a:pt x="2233" y="4307"/>
                </a:lnTo>
                <a:lnTo>
                  <a:pt x="2179" y="4316"/>
                </a:lnTo>
                <a:lnTo>
                  <a:pt x="2125" y="4320"/>
                </a:lnTo>
                <a:lnTo>
                  <a:pt x="1013" y="4320"/>
                </a:lnTo>
                <a:lnTo>
                  <a:pt x="959" y="4316"/>
                </a:lnTo>
                <a:lnTo>
                  <a:pt x="907" y="4307"/>
                </a:lnTo>
                <a:lnTo>
                  <a:pt x="856" y="4291"/>
                </a:lnTo>
                <a:lnTo>
                  <a:pt x="808" y="4269"/>
                </a:lnTo>
                <a:lnTo>
                  <a:pt x="762" y="4241"/>
                </a:lnTo>
                <a:lnTo>
                  <a:pt x="719" y="4210"/>
                </a:lnTo>
                <a:lnTo>
                  <a:pt x="681" y="4172"/>
                </a:lnTo>
                <a:lnTo>
                  <a:pt x="647" y="4131"/>
                </a:lnTo>
                <a:lnTo>
                  <a:pt x="616" y="4086"/>
                </a:lnTo>
                <a:lnTo>
                  <a:pt x="60" y="3121"/>
                </a:lnTo>
                <a:lnTo>
                  <a:pt x="37" y="3072"/>
                </a:lnTo>
                <a:lnTo>
                  <a:pt x="18" y="3021"/>
                </a:lnTo>
                <a:lnTo>
                  <a:pt x="5" y="2970"/>
                </a:lnTo>
                <a:lnTo>
                  <a:pt x="0" y="2918"/>
                </a:lnTo>
                <a:lnTo>
                  <a:pt x="0" y="2864"/>
                </a:lnTo>
                <a:lnTo>
                  <a:pt x="5" y="2812"/>
                </a:lnTo>
                <a:lnTo>
                  <a:pt x="18" y="2761"/>
                </a:lnTo>
                <a:lnTo>
                  <a:pt x="37" y="2710"/>
                </a:lnTo>
                <a:lnTo>
                  <a:pt x="60" y="2661"/>
                </a:lnTo>
                <a:lnTo>
                  <a:pt x="616" y="1704"/>
                </a:lnTo>
                <a:lnTo>
                  <a:pt x="647" y="1659"/>
                </a:lnTo>
                <a:lnTo>
                  <a:pt x="681" y="1618"/>
                </a:lnTo>
                <a:lnTo>
                  <a:pt x="719" y="1583"/>
                </a:lnTo>
                <a:lnTo>
                  <a:pt x="762" y="1553"/>
                </a:lnTo>
                <a:lnTo>
                  <a:pt x="808" y="1526"/>
                </a:lnTo>
                <a:lnTo>
                  <a:pt x="856" y="1507"/>
                </a:lnTo>
                <a:lnTo>
                  <a:pt x="907" y="1492"/>
                </a:lnTo>
                <a:lnTo>
                  <a:pt x="959" y="1483"/>
                </a:lnTo>
                <a:lnTo>
                  <a:pt x="1013" y="1479"/>
                </a:lnTo>
                <a:lnTo>
                  <a:pt x="2125" y="1479"/>
                </a:lnTo>
                <a:lnTo>
                  <a:pt x="2171" y="1474"/>
                </a:lnTo>
                <a:lnTo>
                  <a:pt x="2211" y="1464"/>
                </a:lnTo>
                <a:lnTo>
                  <a:pt x="2243" y="1452"/>
                </a:lnTo>
                <a:lnTo>
                  <a:pt x="2272" y="1437"/>
                </a:lnTo>
                <a:lnTo>
                  <a:pt x="2296" y="1420"/>
                </a:lnTo>
                <a:lnTo>
                  <a:pt x="2314" y="1402"/>
                </a:lnTo>
                <a:lnTo>
                  <a:pt x="2328" y="1382"/>
                </a:lnTo>
                <a:lnTo>
                  <a:pt x="2339" y="1361"/>
                </a:lnTo>
                <a:lnTo>
                  <a:pt x="2347" y="1339"/>
                </a:lnTo>
                <a:lnTo>
                  <a:pt x="2352" y="1317"/>
                </a:lnTo>
                <a:lnTo>
                  <a:pt x="2353" y="1295"/>
                </a:lnTo>
                <a:lnTo>
                  <a:pt x="2353" y="1274"/>
                </a:lnTo>
                <a:lnTo>
                  <a:pt x="2352" y="1253"/>
                </a:lnTo>
                <a:lnTo>
                  <a:pt x="2349" y="1233"/>
                </a:lnTo>
                <a:lnTo>
                  <a:pt x="2345" y="1215"/>
                </a:lnTo>
                <a:lnTo>
                  <a:pt x="2341" y="1199"/>
                </a:lnTo>
                <a:lnTo>
                  <a:pt x="2336" y="1185"/>
                </a:lnTo>
                <a:lnTo>
                  <a:pt x="2332" y="1173"/>
                </a:lnTo>
                <a:lnTo>
                  <a:pt x="2328" y="1164"/>
                </a:lnTo>
                <a:lnTo>
                  <a:pt x="2326" y="1159"/>
                </a:lnTo>
                <a:lnTo>
                  <a:pt x="2326" y="1157"/>
                </a:lnTo>
                <a:lnTo>
                  <a:pt x="2132" y="817"/>
                </a:lnTo>
                <a:lnTo>
                  <a:pt x="2115" y="780"/>
                </a:lnTo>
                <a:lnTo>
                  <a:pt x="2104" y="742"/>
                </a:lnTo>
                <a:lnTo>
                  <a:pt x="2101" y="703"/>
                </a:lnTo>
                <a:lnTo>
                  <a:pt x="2104" y="664"/>
                </a:lnTo>
                <a:lnTo>
                  <a:pt x="2115" y="626"/>
                </a:lnTo>
                <a:lnTo>
                  <a:pt x="2132" y="589"/>
                </a:lnTo>
                <a:lnTo>
                  <a:pt x="2407" y="114"/>
                </a:lnTo>
                <a:lnTo>
                  <a:pt x="2429" y="81"/>
                </a:lnTo>
                <a:lnTo>
                  <a:pt x="2458" y="52"/>
                </a:lnTo>
                <a:lnTo>
                  <a:pt x="2489" y="30"/>
                </a:lnTo>
                <a:lnTo>
                  <a:pt x="2525" y="14"/>
                </a:lnTo>
                <a:lnTo>
                  <a:pt x="2563" y="4"/>
                </a:lnTo>
                <a:lnTo>
                  <a:pt x="2603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0" tIns="60950" rIns="121900" bIns="60950" anchor="t" anchorCtr="0">
            <a:noAutofit/>
          </a:bodyPr>
          <a:lstStyle/>
          <a:p>
            <a:endParaRPr sz="187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32"/>
          <p:cNvSpPr/>
          <p:nvPr/>
        </p:nvSpPr>
        <p:spPr>
          <a:xfrm>
            <a:off x="6810380" y="2928934"/>
            <a:ext cx="2322198" cy="3657600"/>
          </a:xfrm>
          <a:custGeom>
            <a:avLst/>
            <a:gdLst/>
            <a:ahLst/>
            <a:cxnLst/>
            <a:rect l="l" t="t" r="r" b="b"/>
            <a:pathLst>
              <a:path w="3657" h="4320" extrusionOk="0">
                <a:moveTo>
                  <a:pt x="2878" y="182"/>
                </a:moveTo>
                <a:lnTo>
                  <a:pt x="2813" y="186"/>
                </a:lnTo>
                <a:lnTo>
                  <a:pt x="2750" y="198"/>
                </a:lnTo>
                <a:lnTo>
                  <a:pt x="2690" y="217"/>
                </a:lnTo>
                <a:lnTo>
                  <a:pt x="2633" y="243"/>
                </a:lnTo>
                <a:lnTo>
                  <a:pt x="2581" y="275"/>
                </a:lnTo>
                <a:lnTo>
                  <a:pt x="2532" y="313"/>
                </a:lnTo>
                <a:lnTo>
                  <a:pt x="2489" y="357"/>
                </a:lnTo>
                <a:lnTo>
                  <a:pt x="2451" y="406"/>
                </a:lnTo>
                <a:lnTo>
                  <a:pt x="2419" y="458"/>
                </a:lnTo>
                <a:lnTo>
                  <a:pt x="2392" y="514"/>
                </a:lnTo>
                <a:lnTo>
                  <a:pt x="2373" y="575"/>
                </a:lnTo>
                <a:lnTo>
                  <a:pt x="2361" y="638"/>
                </a:lnTo>
                <a:lnTo>
                  <a:pt x="2357" y="703"/>
                </a:lnTo>
                <a:lnTo>
                  <a:pt x="2361" y="768"/>
                </a:lnTo>
                <a:lnTo>
                  <a:pt x="2373" y="831"/>
                </a:lnTo>
                <a:lnTo>
                  <a:pt x="2392" y="891"/>
                </a:lnTo>
                <a:lnTo>
                  <a:pt x="2419" y="948"/>
                </a:lnTo>
                <a:lnTo>
                  <a:pt x="2451" y="1001"/>
                </a:lnTo>
                <a:lnTo>
                  <a:pt x="2489" y="1049"/>
                </a:lnTo>
                <a:lnTo>
                  <a:pt x="2532" y="1093"/>
                </a:lnTo>
                <a:lnTo>
                  <a:pt x="2581" y="1131"/>
                </a:lnTo>
                <a:lnTo>
                  <a:pt x="2633" y="1164"/>
                </a:lnTo>
                <a:lnTo>
                  <a:pt x="2690" y="1189"/>
                </a:lnTo>
                <a:lnTo>
                  <a:pt x="2750" y="1208"/>
                </a:lnTo>
                <a:lnTo>
                  <a:pt x="2813" y="1220"/>
                </a:lnTo>
                <a:lnTo>
                  <a:pt x="2878" y="1224"/>
                </a:lnTo>
                <a:lnTo>
                  <a:pt x="2943" y="1220"/>
                </a:lnTo>
                <a:lnTo>
                  <a:pt x="3006" y="1208"/>
                </a:lnTo>
                <a:lnTo>
                  <a:pt x="3066" y="1189"/>
                </a:lnTo>
                <a:lnTo>
                  <a:pt x="3123" y="1164"/>
                </a:lnTo>
                <a:lnTo>
                  <a:pt x="3176" y="1131"/>
                </a:lnTo>
                <a:lnTo>
                  <a:pt x="3225" y="1093"/>
                </a:lnTo>
                <a:lnTo>
                  <a:pt x="3268" y="1049"/>
                </a:lnTo>
                <a:lnTo>
                  <a:pt x="3306" y="1001"/>
                </a:lnTo>
                <a:lnTo>
                  <a:pt x="3339" y="948"/>
                </a:lnTo>
                <a:lnTo>
                  <a:pt x="3365" y="891"/>
                </a:lnTo>
                <a:lnTo>
                  <a:pt x="3383" y="831"/>
                </a:lnTo>
                <a:lnTo>
                  <a:pt x="3395" y="768"/>
                </a:lnTo>
                <a:lnTo>
                  <a:pt x="3399" y="703"/>
                </a:lnTo>
                <a:lnTo>
                  <a:pt x="3395" y="638"/>
                </a:lnTo>
                <a:lnTo>
                  <a:pt x="3383" y="575"/>
                </a:lnTo>
                <a:lnTo>
                  <a:pt x="3365" y="514"/>
                </a:lnTo>
                <a:lnTo>
                  <a:pt x="3339" y="458"/>
                </a:lnTo>
                <a:lnTo>
                  <a:pt x="3306" y="406"/>
                </a:lnTo>
                <a:lnTo>
                  <a:pt x="3268" y="357"/>
                </a:lnTo>
                <a:lnTo>
                  <a:pt x="3225" y="313"/>
                </a:lnTo>
                <a:lnTo>
                  <a:pt x="3176" y="275"/>
                </a:lnTo>
                <a:lnTo>
                  <a:pt x="3123" y="243"/>
                </a:lnTo>
                <a:lnTo>
                  <a:pt x="3066" y="217"/>
                </a:lnTo>
                <a:lnTo>
                  <a:pt x="3006" y="198"/>
                </a:lnTo>
                <a:lnTo>
                  <a:pt x="2943" y="186"/>
                </a:lnTo>
                <a:lnTo>
                  <a:pt x="2878" y="182"/>
                </a:lnTo>
                <a:close/>
                <a:moveTo>
                  <a:pt x="2603" y="0"/>
                </a:moveTo>
                <a:lnTo>
                  <a:pt x="3154" y="0"/>
                </a:lnTo>
                <a:lnTo>
                  <a:pt x="3193" y="4"/>
                </a:lnTo>
                <a:lnTo>
                  <a:pt x="3231" y="14"/>
                </a:lnTo>
                <a:lnTo>
                  <a:pt x="3268" y="30"/>
                </a:lnTo>
                <a:lnTo>
                  <a:pt x="3299" y="52"/>
                </a:lnTo>
                <a:lnTo>
                  <a:pt x="3327" y="81"/>
                </a:lnTo>
                <a:lnTo>
                  <a:pt x="3350" y="114"/>
                </a:lnTo>
                <a:lnTo>
                  <a:pt x="3625" y="589"/>
                </a:lnTo>
                <a:lnTo>
                  <a:pt x="3642" y="626"/>
                </a:lnTo>
                <a:lnTo>
                  <a:pt x="3653" y="664"/>
                </a:lnTo>
                <a:lnTo>
                  <a:pt x="3657" y="703"/>
                </a:lnTo>
                <a:lnTo>
                  <a:pt x="3653" y="742"/>
                </a:lnTo>
                <a:lnTo>
                  <a:pt x="3642" y="782"/>
                </a:lnTo>
                <a:lnTo>
                  <a:pt x="3625" y="817"/>
                </a:lnTo>
                <a:lnTo>
                  <a:pt x="3350" y="1293"/>
                </a:lnTo>
                <a:lnTo>
                  <a:pt x="3327" y="1326"/>
                </a:lnTo>
                <a:lnTo>
                  <a:pt x="3299" y="1355"/>
                </a:lnTo>
                <a:lnTo>
                  <a:pt x="3268" y="1377"/>
                </a:lnTo>
                <a:lnTo>
                  <a:pt x="3231" y="1394"/>
                </a:lnTo>
                <a:lnTo>
                  <a:pt x="3193" y="1405"/>
                </a:lnTo>
                <a:lnTo>
                  <a:pt x="3154" y="1409"/>
                </a:lnTo>
                <a:lnTo>
                  <a:pt x="2747" y="1409"/>
                </a:lnTo>
                <a:lnTo>
                  <a:pt x="2744" y="1409"/>
                </a:lnTo>
                <a:lnTo>
                  <a:pt x="2738" y="1409"/>
                </a:lnTo>
                <a:lnTo>
                  <a:pt x="2729" y="1411"/>
                </a:lnTo>
                <a:lnTo>
                  <a:pt x="2717" y="1413"/>
                </a:lnTo>
                <a:lnTo>
                  <a:pt x="2703" y="1416"/>
                </a:lnTo>
                <a:lnTo>
                  <a:pt x="2686" y="1422"/>
                </a:lnTo>
                <a:lnTo>
                  <a:pt x="2669" y="1430"/>
                </a:lnTo>
                <a:lnTo>
                  <a:pt x="2650" y="1437"/>
                </a:lnTo>
                <a:lnTo>
                  <a:pt x="2631" y="1449"/>
                </a:lnTo>
                <a:lnTo>
                  <a:pt x="2612" y="1462"/>
                </a:lnTo>
                <a:lnTo>
                  <a:pt x="2594" y="1478"/>
                </a:lnTo>
                <a:lnTo>
                  <a:pt x="2578" y="1496"/>
                </a:lnTo>
                <a:lnTo>
                  <a:pt x="2563" y="1519"/>
                </a:lnTo>
                <a:lnTo>
                  <a:pt x="2549" y="1543"/>
                </a:lnTo>
                <a:lnTo>
                  <a:pt x="2540" y="1572"/>
                </a:lnTo>
                <a:lnTo>
                  <a:pt x="2532" y="1604"/>
                </a:lnTo>
                <a:lnTo>
                  <a:pt x="2530" y="1640"/>
                </a:lnTo>
                <a:lnTo>
                  <a:pt x="2531" y="1681"/>
                </a:lnTo>
                <a:lnTo>
                  <a:pt x="2536" y="1725"/>
                </a:lnTo>
                <a:lnTo>
                  <a:pt x="3078" y="2661"/>
                </a:lnTo>
                <a:lnTo>
                  <a:pt x="3103" y="2710"/>
                </a:lnTo>
                <a:lnTo>
                  <a:pt x="3121" y="2760"/>
                </a:lnTo>
                <a:lnTo>
                  <a:pt x="3133" y="2812"/>
                </a:lnTo>
                <a:lnTo>
                  <a:pt x="3140" y="2864"/>
                </a:lnTo>
                <a:lnTo>
                  <a:pt x="3140" y="2918"/>
                </a:lnTo>
                <a:lnTo>
                  <a:pt x="3133" y="2970"/>
                </a:lnTo>
                <a:lnTo>
                  <a:pt x="3121" y="3023"/>
                </a:lnTo>
                <a:lnTo>
                  <a:pt x="3103" y="3074"/>
                </a:lnTo>
                <a:lnTo>
                  <a:pt x="3078" y="3122"/>
                </a:lnTo>
                <a:lnTo>
                  <a:pt x="2523" y="4086"/>
                </a:lnTo>
                <a:lnTo>
                  <a:pt x="2493" y="4130"/>
                </a:lnTo>
                <a:lnTo>
                  <a:pt x="2459" y="4172"/>
                </a:lnTo>
                <a:lnTo>
                  <a:pt x="2420" y="4209"/>
                </a:lnTo>
                <a:lnTo>
                  <a:pt x="2378" y="4241"/>
                </a:lnTo>
                <a:lnTo>
                  <a:pt x="2332" y="4269"/>
                </a:lnTo>
                <a:lnTo>
                  <a:pt x="2284" y="4291"/>
                </a:lnTo>
                <a:lnTo>
                  <a:pt x="2233" y="4307"/>
                </a:lnTo>
                <a:lnTo>
                  <a:pt x="2179" y="4316"/>
                </a:lnTo>
                <a:lnTo>
                  <a:pt x="2125" y="4320"/>
                </a:lnTo>
                <a:lnTo>
                  <a:pt x="1013" y="4320"/>
                </a:lnTo>
                <a:lnTo>
                  <a:pt x="959" y="4316"/>
                </a:lnTo>
                <a:lnTo>
                  <a:pt x="907" y="4307"/>
                </a:lnTo>
                <a:lnTo>
                  <a:pt x="856" y="4291"/>
                </a:lnTo>
                <a:lnTo>
                  <a:pt x="808" y="4269"/>
                </a:lnTo>
                <a:lnTo>
                  <a:pt x="762" y="4241"/>
                </a:lnTo>
                <a:lnTo>
                  <a:pt x="719" y="4210"/>
                </a:lnTo>
                <a:lnTo>
                  <a:pt x="681" y="4172"/>
                </a:lnTo>
                <a:lnTo>
                  <a:pt x="647" y="4131"/>
                </a:lnTo>
                <a:lnTo>
                  <a:pt x="616" y="4086"/>
                </a:lnTo>
                <a:lnTo>
                  <a:pt x="60" y="3121"/>
                </a:lnTo>
                <a:lnTo>
                  <a:pt x="37" y="3072"/>
                </a:lnTo>
                <a:lnTo>
                  <a:pt x="18" y="3021"/>
                </a:lnTo>
                <a:lnTo>
                  <a:pt x="5" y="2970"/>
                </a:lnTo>
                <a:lnTo>
                  <a:pt x="0" y="2918"/>
                </a:lnTo>
                <a:lnTo>
                  <a:pt x="0" y="2864"/>
                </a:lnTo>
                <a:lnTo>
                  <a:pt x="5" y="2812"/>
                </a:lnTo>
                <a:lnTo>
                  <a:pt x="18" y="2761"/>
                </a:lnTo>
                <a:lnTo>
                  <a:pt x="37" y="2710"/>
                </a:lnTo>
                <a:lnTo>
                  <a:pt x="60" y="2661"/>
                </a:lnTo>
                <a:lnTo>
                  <a:pt x="616" y="1704"/>
                </a:lnTo>
                <a:lnTo>
                  <a:pt x="647" y="1659"/>
                </a:lnTo>
                <a:lnTo>
                  <a:pt x="681" y="1618"/>
                </a:lnTo>
                <a:lnTo>
                  <a:pt x="719" y="1583"/>
                </a:lnTo>
                <a:lnTo>
                  <a:pt x="762" y="1553"/>
                </a:lnTo>
                <a:lnTo>
                  <a:pt x="808" y="1526"/>
                </a:lnTo>
                <a:lnTo>
                  <a:pt x="856" y="1507"/>
                </a:lnTo>
                <a:lnTo>
                  <a:pt x="907" y="1492"/>
                </a:lnTo>
                <a:lnTo>
                  <a:pt x="959" y="1483"/>
                </a:lnTo>
                <a:lnTo>
                  <a:pt x="1013" y="1479"/>
                </a:lnTo>
                <a:lnTo>
                  <a:pt x="2125" y="1479"/>
                </a:lnTo>
                <a:lnTo>
                  <a:pt x="2171" y="1474"/>
                </a:lnTo>
                <a:lnTo>
                  <a:pt x="2211" y="1464"/>
                </a:lnTo>
                <a:lnTo>
                  <a:pt x="2243" y="1452"/>
                </a:lnTo>
                <a:lnTo>
                  <a:pt x="2272" y="1437"/>
                </a:lnTo>
                <a:lnTo>
                  <a:pt x="2296" y="1420"/>
                </a:lnTo>
                <a:lnTo>
                  <a:pt x="2314" y="1402"/>
                </a:lnTo>
                <a:lnTo>
                  <a:pt x="2328" y="1382"/>
                </a:lnTo>
                <a:lnTo>
                  <a:pt x="2339" y="1361"/>
                </a:lnTo>
                <a:lnTo>
                  <a:pt x="2347" y="1339"/>
                </a:lnTo>
                <a:lnTo>
                  <a:pt x="2352" y="1317"/>
                </a:lnTo>
                <a:lnTo>
                  <a:pt x="2353" y="1295"/>
                </a:lnTo>
                <a:lnTo>
                  <a:pt x="2353" y="1274"/>
                </a:lnTo>
                <a:lnTo>
                  <a:pt x="2352" y="1253"/>
                </a:lnTo>
                <a:lnTo>
                  <a:pt x="2349" y="1233"/>
                </a:lnTo>
                <a:lnTo>
                  <a:pt x="2345" y="1215"/>
                </a:lnTo>
                <a:lnTo>
                  <a:pt x="2341" y="1199"/>
                </a:lnTo>
                <a:lnTo>
                  <a:pt x="2336" y="1185"/>
                </a:lnTo>
                <a:lnTo>
                  <a:pt x="2332" y="1173"/>
                </a:lnTo>
                <a:lnTo>
                  <a:pt x="2328" y="1164"/>
                </a:lnTo>
                <a:lnTo>
                  <a:pt x="2326" y="1159"/>
                </a:lnTo>
                <a:lnTo>
                  <a:pt x="2326" y="1157"/>
                </a:lnTo>
                <a:lnTo>
                  <a:pt x="2132" y="817"/>
                </a:lnTo>
                <a:lnTo>
                  <a:pt x="2115" y="780"/>
                </a:lnTo>
                <a:lnTo>
                  <a:pt x="2104" y="742"/>
                </a:lnTo>
                <a:lnTo>
                  <a:pt x="2101" y="703"/>
                </a:lnTo>
                <a:lnTo>
                  <a:pt x="2104" y="664"/>
                </a:lnTo>
                <a:lnTo>
                  <a:pt x="2115" y="626"/>
                </a:lnTo>
                <a:lnTo>
                  <a:pt x="2132" y="589"/>
                </a:lnTo>
                <a:lnTo>
                  <a:pt x="2407" y="114"/>
                </a:lnTo>
                <a:lnTo>
                  <a:pt x="2429" y="81"/>
                </a:lnTo>
                <a:lnTo>
                  <a:pt x="2458" y="52"/>
                </a:lnTo>
                <a:lnTo>
                  <a:pt x="2489" y="30"/>
                </a:lnTo>
                <a:lnTo>
                  <a:pt x="2525" y="14"/>
                </a:lnTo>
                <a:lnTo>
                  <a:pt x="2563" y="4"/>
                </a:lnTo>
                <a:lnTo>
                  <a:pt x="2603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0" tIns="60950" rIns="121900" bIns="60950" anchor="t" anchorCtr="0">
            <a:noAutofit/>
          </a:bodyPr>
          <a:lstStyle/>
          <a:p>
            <a:endParaRPr sz="187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8" name="Google Shape;508;p32"/>
          <p:cNvGrpSpPr/>
          <p:nvPr/>
        </p:nvGrpSpPr>
        <p:grpSpPr>
          <a:xfrm>
            <a:off x="6310314" y="1714489"/>
            <a:ext cx="1798958" cy="610695"/>
            <a:chOff x="1199156" y="1220012"/>
            <a:chExt cx="1775683" cy="458021"/>
          </a:xfrm>
        </p:grpSpPr>
        <p:sp>
          <p:nvSpPr>
            <p:cNvPr id="509" name="Google Shape;509;p32"/>
            <p:cNvSpPr txBox="1"/>
            <p:nvPr/>
          </p:nvSpPr>
          <p:spPr>
            <a:xfrm>
              <a:off x="1295283" y="1447200"/>
              <a:ext cx="1679556" cy="230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/>
              <a:endParaRPr sz="1400" dirty="0">
                <a:solidFill>
                  <a:srgbClr val="1D1B1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32"/>
            <p:cNvSpPr/>
            <p:nvPr/>
          </p:nvSpPr>
          <p:spPr>
            <a:xfrm>
              <a:off x="1199156" y="1220012"/>
              <a:ext cx="1775683" cy="2839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/>
              <a:r>
                <a:rPr lang="en-US" sz="1860" b="1" dirty="0">
                  <a:solidFill>
                    <a:srgbClr val="00B0F0"/>
                  </a:solidFill>
                  <a:latin typeface="Arial"/>
                  <a:ea typeface="Arial"/>
                  <a:cs typeface="Arial"/>
                  <a:sym typeface="Arial"/>
                </a:rPr>
                <a:t>Faiblesses </a:t>
              </a:r>
              <a:endParaRPr sz="1860" b="1" dirty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1" name="Google Shape;511;p32"/>
          <p:cNvGrpSpPr/>
          <p:nvPr/>
        </p:nvGrpSpPr>
        <p:grpSpPr>
          <a:xfrm>
            <a:off x="2738414" y="1643051"/>
            <a:ext cx="1798958" cy="610695"/>
            <a:chOff x="1199156" y="1220012"/>
            <a:chExt cx="1775683" cy="458021"/>
          </a:xfrm>
        </p:grpSpPr>
        <p:sp>
          <p:nvSpPr>
            <p:cNvPr id="512" name="Google Shape;512;p32"/>
            <p:cNvSpPr txBox="1"/>
            <p:nvPr/>
          </p:nvSpPr>
          <p:spPr>
            <a:xfrm>
              <a:off x="1295283" y="1447200"/>
              <a:ext cx="1679556" cy="230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/>
              <a:endParaRPr sz="1400">
                <a:solidFill>
                  <a:srgbClr val="1D1B1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32"/>
            <p:cNvSpPr/>
            <p:nvPr/>
          </p:nvSpPr>
          <p:spPr>
            <a:xfrm>
              <a:off x="1199156" y="1220012"/>
              <a:ext cx="1775683" cy="2839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/>
              <a:r>
                <a:rPr lang="en-US" sz="1860" b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Forces </a:t>
              </a:r>
              <a:endParaRPr sz="186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4" name="Google Shape;514;p32"/>
          <p:cNvGrpSpPr/>
          <p:nvPr/>
        </p:nvGrpSpPr>
        <p:grpSpPr>
          <a:xfrm>
            <a:off x="3309918" y="4429133"/>
            <a:ext cx="1798958" cy="610695"/>
            <a:chOff x="1199156" y="1220012"/>
            <a:chExt cx="1775683" cy="458021"/>
          </a:xfrm>
        </p:grpSpPr>
        <p:sp>
          <p:nvSpPr>
            <p:cNvPr id="515" name="Google Shape;515;p32"/>
            <p:cNvSpPr txBox="1"/>
            <p:nvPr/>
          </p:nvSpPr>
          <p:spPr>
            <a:xfrm>
              <a:off x="1295283" y="1447200"/>
              <a:ext cx="1679556" cy="230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/>
              <a:r>
                <a:rPr lang="en-US" sz="1400">
                  <a:solidFill>
                    <a:srgbClr val="1D1B10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sz="1400">
                <a:solidFill>
                  <a:srgbClr val="1D1B1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32"/>
            <p:cNvSpPr/>
            <p:nvPr/>
          </p:nvSpPr>
          <p:spPr>
            <a:xfrm>
              <a:off x="1199156" y="1220012"/>
              <a:ext cx="1775683" cy="2839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/>
              <a:r>
                <a:rPr lang="en-US" sz="1860" b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Opportunité </a:t>
              </a:r>
              <a:endParaRPr sz="186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7" name="Google Shape;517;p32"/>
          <p:cNvGrpSpPr/>
          <p:nvPr/>
        </p:nvGrpSpPr>
        <p:grpSpPr>
          <a:xfrm>
            <a:off x="6881818" y="4429133"/>
            <a:ext cx="1798958" cy="610695"/>
            <a:chOff x="1199156" y="1220012"/>
            <a:chExt cx="1775683" cy="458021"/>
          </a:xfrm>
        </p:grpSpPr>
        <p:sp>
          <p:nvSpPr>
            <p:cNvPr id="518" name="Google Shape;518;p32"/>
            <p:cNvSpPr txBox="1"/>
            <p:nvPr/>
          </p:nvSpPr>
          <p:spPr>
            <a:xfrm>
              <a:off x="1295283" y="1447200"/>
              <a:ext cx="1679556" cy="230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/>
              <a:r>
                <a:rPr lang="en-US" sz="1400">
                  <a:solidFill>
                    <a:srgbClr val="1D1B10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endParaRPr sz="1400">
                <a:solidFill>
                  <a:srgbClr val="1D1B1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32"/>
            <p:cNvSpPr/>
            <p:nvPr/>
          </p:nvSpPr>
          <p:spPr>
            <a:xfrm>
              <a:off x="1199156" y="1220012"/>
              <a:ext cx="1775683" cy="2839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algn="ctr"/>
              <a:r>
                <a:rPr lang="en-US" sz="1860" b="1" dirty="0">
                  <a:solidFill>
                    <a:srgbClr val="00B0F0"/>
                  </a:solidFill>
                  <a:latin typeface="Arial"/>
                  <a:ea typeface="Arial"/>
                  <a:cs typeface="Arial"/>
                  <a:sym typeface="Arial"/>
                </a:rPr>
                <a:t>Menace </a:t>
              </a:r>
              <a:endParaRPr sz="1860" b="1" dirty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0" name="Google Shape;520;p32"/>
          <p:cNvSpPr/>
          <p:nvPr/>
        </p:nvSpPr>
        <p:spPr>
          <a:xfrm>
            <a:off x="3238480" y="5500703"/>
            <a:ext cx="485775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Diagnostic </a:t>
            </a:r>
            <a:r>
              <a:rPr lang="en-US" b="1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externe</a:t>
            </a:r>
            <a:r>
              <a:rPr lang="en-US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b="1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</a:t>
            </a:r>
            <a:r>
              <a:rPr lang="en-US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b="1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l’environnement</a:t>
            </a:r>
            <a:r>
              <a:rPr lang="en-US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</a:t>
            </a:r>
            <a:r>
              <a:rPr lang="en-US" b="1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industrie</a:t>
            </a:r>
            <a:r>
              <a:rPr lang="en-US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b="1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32"/>
          <p:cNvSpPr/>
          <p:nvPr/>
        </p:nvSpPr>
        <p:spPr>
          <a:xfrm>
            <a:off x="3154067" y="2428868"/>
            <a:ext cx="4727851" cy="75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Diagnostic interne </a:t>
            </a:r>
            <a:r>
              <a:rPr lang="en-US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b="1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</a:t>
            </a:r>
            <a:r>
              <a:rPr lang="en-US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la </a:t>
            </a:r>
            <a:r>
              <a:rPr lang="en-US" b="1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capacité</a:t>
            </a:r>
            <a:r>
              <a:rPr lang="en-US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d’une</a:t>
            </a:r>
            <a:r>
              <a:rPr lang="en-US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firme</a:t>
            </a:r>
            <a:r>
              <a:rPr lang="en-US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à </a:t>
            </a:r>
            <a:r>
              <a:rPr lang="en-US" b="1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répondre</a:t>
            </a:r>
            <a:r>
              <a:rPr lang="en-US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 conditions </a:t>
            </a:r>
            <a:r>
              <a:rPr lang="en-US" b="1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externes</a:t>
            </a:r>
            <a:r>
              <a:rPr lang="en-US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3" name="Google Shape;52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06096" y="0"/>
            <a:ext cx="2761905" cy="1700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101" y="5877272"/>
            <a:ext cx="4047619" cy="9807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lèche : courbe vers le bas 1">
            <a:extLst>
              <a:ext uri="{FF2B5EF4-FFF2-40B4-BE49-F238E27FC236}">
                <a16:creationId xmlns:a16="http://schemas.microsoft.com/office/drawing/2014/main" id="{CC7FA5AB-A4D8-46A8-6F93-ABE591538045}"/>
              </a:ext>
            </a:extLst>
          </p:cNvPr>
          <p:cNvSpPr/>
          <p:nvPr/>
        </p:nvSpPr>
        <p:spPr>
          <a:xfrm>
            <a:off x="1002751" y="543639"/>
            <a:ext cx="2276595" cy="1019219"/>
          </a:xfrm>
          <a:prstGeom prst="curvedDownArrow">
            <a:avLst/>
          </a:prstGeom>
          <a:solidFill>
            <a:srgbClr val="00B0F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 dirty="0">
              <a:solidFill>
                <a:schemeClr val="tx1"/>
              </a:solidFill>
            </a:endParaRPr>
          </a:p>
        </p:txBody>
      </p:sp>
      <p:sp>
        <p:nvSpPr>
          <p:cNvPr id="3" name="Flèche : courbe vers le bas 2">
            <a:extLst>
              <a:ext uri="{FF2B5EF4-FFF2-40B4-BE49-F238E27FC236}">
                <a16:creationId xmlns:a16="http://schemas.microsoft.com/office/drawing/2014/main" id="{E798C737-87CE-A4F6-BF6C-3378D8CAC52D}"/>
              </a:ext>
            </a:extLst>
          </p:cNvPr>
          <p:cNvSpPr/>
          <p:nvPr/>
        </p:nvSpPr>
        <p:spPr>
          <a:xfrm>
            <a:off x="1182435" y="3780221"/>
            <a:ext cx="2276595" cy="1019219"/>
          </a:xfrm>
          <a:prstGeom prst="curvedDownArrow">
            <a:avLst/>
          </a:prstGeom>
          <a:solidFill>
            <a:srgbClr val="00B0F0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 dirty="0">
              <a:solidFill>
                <a:schemeClr val="tx1"/>
              </a:solidFill>
            </a:endParaRPr>
          </a:p>
        </p:txBody>
      </p:sp>
      <p:pic>
        <p:nvPicPr>
          <p:cNvPr id="1030" name="Picture 6" descr="Analyse PESTEL : comment faire ? - Avec exemple">
            <a:extLst>
              <a:ext uri="{FF2B5EF4-FFF2-40B4-BE49-F238E27FC236}">
                <a16:creationId xmlns:a16="http://schemas.microsoft.com/office/drawing/2014/main" id="{75FD1620-DFCC-B236-CB0E-D8B467EB5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820" y="4807699"/>
            <a:ext cx="1107164" cy="109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Opportunités de développement – E-Santé consulting">
            <a:extLst>
              <a:ext uri="{FF2B5EF4-FFF2-40B4-BE49-F238E27FC236}">
                <a16:creationId xmlns:a16="http://schemas.microsoft.com/office/drawing/2014/main" id="{E1187FE6-E90E-F087-43E3-F92D5B4E2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778" y="5184268"/>
            <a:ext cx="1039318" cy="823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▷ Comment optimiser la gestion d'inventaire pour gagner du temps et de  l'argent ?">
            <a:extLst>
              <a:ext uri="{FF2B5EF4-FFF2-40B4-BE49-F238E27FC236}">
                <a16:creationId xmlns:a16="http://schemas.microsoft.com/office/drawing/2014/main" id="{EEEE1F7F-3A9C-427B-5F47-403834175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10" y="1682083"/>
            <a:ext cx="2389712" cy="1493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FEFF211-3B93-2F0D-3302-9EC49837369E}"/>
              </a:ext>
            </a:extLst>
          </p:cNvPr>
          <p:cNvSpPr txBox="1"/>
          <p:nvPr/>
        </p:nvSpPr>
        <p:spPr>
          <a:xfrm>
            <a:off x="18369" y="2795520"/>
            <a:ext cx="2648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Ressources compétences </a:t>
            </a:r>
            <a:endParaRPr lang="fr-TN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8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4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7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4" name="Rectangle 2063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SWOT Analysis Flat Vector Landing Page Illustration par HengkiL · Creative  Fabrica">
            <a:extLst>
              <a:ext uri="{FF2B5EF4-FFF2-40B4-BE49-F238E27FC236}">
                <a16:creationId xmlns:a16="http://schemas.microsoft.com/office/drawing/2014/main" id="{5A96FE7B-54DC-FFB3-FA72-04F21F52E3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6" b="11288"/>
          <a:stretch/>
        </p:blipFill>
        <p:spPr bwMode="auto">
          <a:xfrm>
            <a:off x="-3047" y="10"/>
            <a:ext cx="1219199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8" name="Rectangle 2067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016831C-6E80-B18B-8168-D7953FA0E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b="1">
                <a:solidFill>
                  <a:srgbClr val="FFFFFF"/>
                </a:solidFill>
              </a:rPr>
              <a:t>Activité 2 </a:t>
            </a:r>
          </a:p>
        </p:txBody>
      </p:sp>
    </p:spTree>
    <p:extLst>
      <p:ext uri="{BB962C8B-B14F-4D97-AF65-F5344CB8AC3E}">
        <p14:creationId xmlns:p14="http://schemas.microsoft.com/office/powerpoint/2010/main" val="47371220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</Words>
  <Application>Microsoft Office PowerPoint</Application>
  <PresentationFormat>Grand écran</PresentationFormat>
  <Paragraphs>86</Paragraphs>
  <Slides>13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2" baseType="lpstr">
      <vt:lpstr>Anton</vt:lpstr>
      <vt:lpstr>Arial</vt:lpstr>
      <vt:lpstr>Bernard MT Condensed</vt:lpstr>
      <vt:lpstr>Calibri</vt:lpstr>
      <vt:lpstr>Calibri Light</vt:lpstr>
      <vt:lpstr>Candara</vt:lpstr>
      <vt:lpstr>Libre Baskerville</vt:lpstr>
      <vt:lpstr>Times New Roman</vt:lpstr>
      <vt:lpstr>Thème Office</vt:lpstr>
      <vt:lpstr>Présentation PowerPoint</vt:lpstr>
      <vt:lpstr>Présentation PowerPoint</vt:lpstr>
      <vt:lpstr>Plan</vt:lpstr>
      <vt:lpstr>Analyse de l’environnement Interne ..</vt:lpstr>
      <vt:lpstr>Présentation PowerPoint</vt:lpstr>
      <vt:lpstr>Activité 1 </vt:lpstr>
      <vt:lpstr>Les régles du jeu :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Activité 2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insaf tekaya</dc:creator>
  <cp:lastModifiedBy>insaf tekaya</cp:lastModifiedBy>
  <cp:revision>64</cp:revision>
  <dcterms:created xsi:type="dcterms:W3CDTF">2023-10-04T17:17:54Z</dcterms:created>
  <dcterms:modified xsi:type="dcterms:W3CDTF">2023-10-07T14:04:53Z</dcterms:modified>
</cp:coreProperties>
</file>