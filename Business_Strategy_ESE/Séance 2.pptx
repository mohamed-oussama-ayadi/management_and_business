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540" r:id="rId24"/>
    <p:sldId id="541" r:id="rId25"/>
  </p:sldIdLst>
  <p:sldSz cx="9144000" cy="6858000" type="screen4x3"/>
  <p:notesSz cx="6858000" cy="9144000"/>
  <p:embeddedFontLst>
    <p:embeddedFont>
      <p:font typeface="Anton" pitchFamily="2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ndara" panose="020E0502030303020204" pitchFamily="34" charset="0"/>
      <p:regular r:id="rId32"/>
      <p:bold r:id="rId33"/>
      <p:italic r:id="rId34"/>
      <p:boldItalic r:id="rId35"/>
    </p:embeddedFont>
    <p:embeddedFont>
      <p:font typeface="Libre Baskerville" panose="02000000000000000000" pitchFamily="2" charset="0"/>
      <p:regular r:id="rId36"/>
      <p:bold r:id="rId37"/>
      <p:italic r:id="rId38"/>
    </p:embeddedFont>
    <p:embeddedFont>
      <p:font typeface="Trebuchet MS" panose="020B060302020202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64E010"/>
    <a:srgbClr val="CBB21F"/>
    <a:srgbClr val="EAB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 First Template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0735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 First Template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 First Template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 First Template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70923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771525" y="1485900"/>
            <a:ext cx="18669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17" name="Google Shape;17;p2"/>
          <p:cNvSpPr>
            <a:spLocks noGrp="1"/>
          </p:cNvSpPr>
          <p:nvPr>
            <p:ph type="pic" idx="3"/>
          </p:nvPr>
        </p:nvSpPr>
        <p:spPr>
          <a:xfrm>
            <a:off x="2705100" y="1485900"/>
            <a:ext cx="18669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18" name="Google Shape;18;p2"/>
          <p:cNvSpPr>
            <a:spLocks noGrp="1"/>
          </p:cNvSpPr>
          <p:nvPr>
            <p:ph type="pic" idx="4"/>
          </p:nvPr>
        </p:nvSpPr>
        <p:spPr>
          <a:xfrm>
            <a:off x="4638675" y="1485900"/>
            <a:ext cx="18669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2"/>
          <p:cNvSpPr>
            <a:spLocks noGrp="1"/>
          </p:cNvSpPr>
          <p:nvPr>
            <p:ph type="pic" idx="5"/>
          </p:nvPr>
        </p:nvSpPr>
        <p:spPr>
          <a:xfrm>
            <a:off x="6572250" y="1485900"/>
            <a:ext cx="1866900" cy="2576848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01">
  <p:cSld name="Team0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>
            <a:spLocks noGrp="1"/>
          </p:cNvSpPr>
          <p:nvPr>
            <p:ph type="pic" idx="2"/>
          </p:nvPr>
        </p:nvSpPr>
        <p:spPr>
          <a:xfrm>
            <a:off x="867991" y="1963503"/>
            <a:ext cx="1421516" cy="1894789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3"/>
          <p:cNvSpPr>
            <a:spLocks noGrp="1"/>
          </p:cNvSpPr>
          <p:nvPr>
            <p:ph type="pic" idx="3"/>
          </p:nvPr>
        </p:nvSpPr>
        <p:spPr>
          <a:xfrm>
            <a:off x="2822644" y="1963503"/>
            <a:ext cx="1421516" cy="1894789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3"/>
          <p:cNvSpPr>
            <a:spLocks noGrp="1"/>
          </p:cNvSpPr>
          <p:nvPr>
            <p:ph type="pic" idx="4"/>
          </p:nvPr>
        </p:nvSpPr>
        <p:spPr>
          <a:xfrm>
            <a:off x="4829092" y="1963503"/>
            <a:ext cx="1421516" cy="1894789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3"/>
          <p:cNvSpPr>
            <a:spLocks noGrp="1"/>
          </p:cNvSpPr>
          <p:nvPr>
            <p:ph type="pic" idx="5"/>
          </p:nvPr>
        </p:nvSpPr>
        <p:spPr>
          <a:xfrm>
            <a:off x="6835351" y="1963503"/>
            <a:ext cx="1421516" cy="1894789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250257" y="356629"/>
            <a:ext cx="8643486" cy="47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Calibri"/>
              <a:buNone/>
              <a:defRPr sz="3200" b="1">
                <a:solidFill>
                  <a:srgbClr val="7F7F7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 i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7039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jpg"/><Relationship Id="rId5" Type="http://schemas.openxmlformats.org/officeDocument/2006/relationships/image" Target="../media/image19.gif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hyperlink" Target="http://www.businessinsider.fr/" TargetMode="External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6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36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37.jpg"/><Relationship Id="rId4" Type="http://schemas.openxmlformats.org/officeDocument/2006/relationships/image" Target="../media/image30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2400300" y="3339971"/>
            <a:ext cx="822957" cy="1097280"/>
            <a:chOff x="3241866" y="1103796"/>
            <a:chExt cx="4627785" cy="4627785"/>
          </a:xfrm>
        </p:grpSpPr>
        <p:sp>
          <p:nvSpPr>
            <p:cNvPr id="105" name="Google Shape;105;p16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4223097" y="3339971"/>
            <a:ext cx="822957" cy="1097280"/>
            <a:chOff x="3241866" y="1103796"/>
            <a:chExt cx="4627785" cy="4627785"/>
          </a:xfrm>
        </p:grpSpPr>
        <p:sp>
          <p:nvSpPr>
            <p:cNvPr id="108" name="Google Shape;108;p16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6060614" y="3339971"/>
            <a:ext cx="822957" cy="1097280"/>
            <a:chOff x="3241866" y="1103796"/>
            <a:chExt cx="4627785" cy="4627785"/>
          </a:xfrm>
        </p:grpSpPr>
        <p:sp>
          <p:nvSpPr>
            <p:cNvPr id="111" name="Google Shape;111;p16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6"/>
          <p:cNvSpPr/>
          <p:nvPr/>
        </p:nvSpPr>
        <p:spPr>
          <a:xfrm>
            <a:off x="1044575" y="3962400"/>
            <a:ext cx="7192963" cy="2438400"/>
          </a:xfrm>
          <a:custGeom>
            <a:avLst/>
            <a:gdLst/>
            <a:ahLst/>
            <a:cxnLst/>
            <a:rect l="l" t="t" r="r" b="b"/>
            <a:pathLst>
              <a:path w="9590205" h="2438400" extrusionOk="0">
                <a:moveTo>
                  <a:pt x="0" y="0"/>
                </a:moveTo>
                <a:lnTo>
                  <a:pt x="1722746" y="0"/>
                </a:lnTo>
                <a:lnTo>
                  <a:pt x="1728376" y="55846"/>
                </a:lnTo>
                <a:cubicBezTo>
                  <a:pt x="1788061" y="347520"/>
                  <a:pt x="2046133" y="566928"/>
                  <a:pt x="2355450" y="566928"/>
                </a:cubicBezTo>
                <a:cubicBezTo>
                  <a:pt x="2664767" y="566928"/>
                  <a:pt x="2922838" y="347520"/>
                  <a:pt x="2982523" y="55846"/>
                </a:cubicBezTo>
                <a:lnTo>
                  <a:pt x="2988153" y="0"/>
                </a:lnTo>
                <a:lnTo>
                  <a:pt x="4166358" y="0"/>
                </a:lnTo>
                <a:lnTo>
                  <a:pt x="4171987" y="55846"/>
                </a:lnTo>
                <a:cubicBezTo>
                  <a:pt x="4231672" y="347520"/>
                  <a:pt x="4489745" y="566928"/>
                  <a:pt x="4799061" y="566928"/>
                </a:cubicBezTo>
                <a:cubicBezTo>
                  <a:pt x="5108378" y="566928"/>
                  <a:pt x="5366450" y="347520"/>
                  <a:pt x="5426135" y="55846"/>
                </a:cubicBezTo>
                <a:lnTo>
                  <a:pt x="5431765" y="0"/>
                </a:lnTo>
                <a:lnTo>
                  <a:pt x="6586138" y="0"/>
                </a:lnTo>
                <a:lnTo>
                  <a:pt x="6591767" y="55846"/>
                </a:lnTo>
                <a:cubicBezTo>
                  <a:pt x="6651452" y="347520"/>
                  <a:pt x="6909524" y="566928"/>
                  <a:pt x="7218841" y="566928"/>
                </a:cubicBezTo>
                <a:cubicBezTo>
                  <a:pt x="7528158" y="566928"/>
                  <a:pt x="7786230" y="347520"/>
                  <a:pt x="7845915" y="55846"/>
                </a:cubicBezTo>
                <a:lnTo>
                  <a:pt x="7851545" y="0"/>
                </a:lnTo>
                <a:lnTo>
                  <a:pt x="9590205" y="0"/>
                </a:lnTo>
                <a:lnTo>
                  <a:pt x="9590205" y="2438400"/>
                </a:lnTo>
                <a:lnTo>
                  <a:pt x="0" y="24384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 w="9525" cap="flat" cmpd="sng">
            <a:solidFill>
              <a:schemeClr val="lt1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747251" y="445147"/>
            <a:ext cx="730291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Environnement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et 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stratégie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de 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l’Entreprise</a:t>
            </a:r>
            <a:endParaRPr sz="4400" b="0" i="0" u="none" strike="noStrike" cap="none" dirty="0">
              <a:solidFill>
                <a:srgbClr val="4C4F54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4C4F54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68313" y="2143125"/>
            <a:ext cx="82073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Classe 3</a:t>
            </a:r>
            <a:r>
              <a:rPr lang="en-US" sz="1800" b="1" i="0" u="none" strike="noStrike" cap="none" baseline="30000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ème</a:t>
            </a:r>
            <a:r>
              <a:rPr lang="en-US" sz="1800" b="1" i="0" u="none" strike="noStrike" cap="non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année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Responsables du module: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Dhouha Melliti Ben Khedher</a:t>
            </a:r>
            <a:r>
              <a:rPr lang="en-US" sz="1800" b="1" i="0" u="none" strike="noStrike" cap="none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b="1" i="0" u="none" strike="noStrike" cap="none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dhouha.melliti@esprit.tn</a:t>
            </a:r>
            <a:r>
              <a:rPr lang="en-US" sz="1800" b="1" i="0" u="none" strike="noStrike" cap="non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Insaf Riahi Tekaya </a:t>
            </a:r>
            <a:r>
              <a:rPr lang="en-US" sz="1600" b="1" i="0" u="none" strike="noStrike" cap="none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insaf.tekaya@esprit.tn</a:t>
            </a:r>
            <a:r>
              <a:rPr lang="en-US" sz="1800" b="1" i="0" u="none" strike="noStrike" cap="none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  <a:endParaRPr sz="1800" b="1" i="0" u="none" strike="noStrike" cap="none">
              <a:solidFill>
                <a:srgbClr val="595959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893155" cy="71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4711968"/>
            <a:ext cx="5396825" cy="214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/>
          <p:nvPr/>
        </p:nvSpPr>
        <p:spPr>
          <a:xfrm>
            <a:off x="4365625" y="0"/>
            <a:ext cx="4778375" cy="6858000"/>
          </a:xfrm>
          <a:custGeom>
            <a:avLst/>
            <a:gdLst/>
            <a:ahLst/>
            <a:cxnLst/>
            <a:rect l="l" t="t" r="r" b="b"/>
            <a:pathLst>
              <a:path w="6370160" h="6858000" extrusionOk="0">
                <a:moveTo>
                  <a:pt x="2270862" y="0"/>
                </a:moveTo>
                <a:lnTo>
                  <a:pt x="2273877" y="0"/>
                </a:lnTo>
                <a:lnTo>
                  <a:pt x="3738721" y="0"/>
                </a:lnTo>
                <a:lnTo>
                  <a:pt x="3740681" y="0"/>
                </a:lnTo>
                <a:lnTo>
                  <a:pt x="6318205" y="0"/>
                </a:lnTo>
                <a:lnTo>
                  <a:pt x="6370160" y="0"/>
                </a:lnTo>
                <a:lnTo>
                  <a:pt x="6370160" y="6858000"/>
                </a:lnTo>
                <a:lnTo>
                  <a:pt x="6318205" y="6858000"/>
                </a:lnTo>
                <a:lnTo>
                  <a:pt x="5219076" y="6858000"/>
                </a:lnTo>
                <a:lnTo>
                  <a:pt x="4547754" y="6858000"/>
                </a:lnTo>
                <a:lnTo>
                  <a:pt x="3738721" y="6858000"/>
                </a:lnTo>
                <a:lnTo>
                  <a:pt x="2270862" y="6858000"/>
                </a:lnTo>
                <a:lnTo>
                  <a:pt x="2262287" y="6858000"/>
                </a:lnTo>
                <a:lnTo>
                  <a:pt x="0" y="6858000"/>
                </a:lnTo>
                <a:lnTo>
                  <a:pt x="2270862" y="909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0" y="3565525"/>
            <a:ext cx="5580063" cy="1098550"/>
          </a:xfrm>
          <a:custGeom>
            <a:avLst/>
            <a:gdLst/>
            <a:ahLst/>
            <a:cxnLst/>
            <a:rect l="l" t="t" r="r" b="b"/>
            <a:pathLst>
              <a:path w="6965256" h="1097280" extrusionOk="0">
                <a:moveTo>
                  <a:pt x="0" y="0"/>
                </a:moveTo>
                <a:lnTo>
                  <a:pt x="6965256" y="0"/>
                </a:lnTo>
                <a:lnTo>
                  <a:pt x="6601436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EF9D27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Management stratégique    /Management opérationnel  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0" y="2468563"/>
            <a:ext cx="5497513" cy="1096962"/>
          </a:xfrm>
          <a:custGeom>
            <a:avLst/>
            <a:gdLst/>
            <a:ahLst/>
            <a:cxnLst/>
            <a:rect l="l" t="t" r="r" b="b"/>
            <a:pathLst>
              <a:path w="7329076" h="1097280" extrusionOk="0">
                <a:moveTo>
                  <a:pt x="0" y="0"/>
                </a:moveTo>
                <a:lnTo>
                  <a:pt x="7329076" y="0"/>
                </a:lnTo>
                <a:lnTo>
                  <a:pt x="6965256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189A80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</a:t>
            </a:r>
            <a:r>
              <a:rPr lang="en-U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Finalité</a:t>
            </a: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-But-</a:t>
            </a:r>
            <a:r>
              <a:rPr lang="en-U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objectif</a:t>
            </a: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0" y="1450141"/>
            <a:ext cx="5786316" cy="1097280"/>
          </a:xfrm>
          <a:custGeom>
            <a:avLst/>
            <a:gdLst/>
            <a:ahLst/>
            <a:cxnLst/>
            <a:rect l="l" t="t" r="r" b="b"/>
            <a:pathLst>
              <a:path w="7715088" h="1234346" extrusionOk="0">
                <a:moveTo>
                  <a:pt x="0" y="0"/>
                </a:moveTo>
                <a:lnTo>
                  <a:pt x="7715088" y="0"/>
                </a:lnTo>
                <a:lnTo>
                  <a:pt x="7305822" y="1234346"/>
                </a:lnTo>
                <a:lnTo>
                  <a:pt x="0" y="1234346"/>
                </a:lnTo>
                <a:close/>
              </a:path>
            </a:pathLst>
          </a:custGeom>
          <a:solidFill>
            <a:srgbClr val="5C9A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013325" y="3186113"/>
            <a:ext cx="1285875" cy="1096962"/>
          </a:xfrm>
          <a:custGeom>
            <a:avLst/>
            <a:gdLst/>
            <a:ahLst/>
            <a:cxnLst/>
            <a:rect l="l" t="t" r="r" b="b"/>
            <a:pathLst>
              <a:path w="1714500" h="1097280" extrusionOk="0">
                <a:moveTo>
                  <a:pt x="354489" y="0"/>
                </a:moveTo>
                <a:lnTo>
                  <a:pt x="1165860" y="0"/>
                </a:lnTo>
                <a:lnTo>
                  <a:pt x="1714500" y="548640"/>
                </a:lnTo>
                <a:lnTo>
                  <a:pt x="1165860" y="1097280"/>
                </a:lnTo>
                <a:lnTo>
                  <a:pt x="0" y="1097280"/>
                </a:lnTo>
                <a:lnTo>
                  <a:pt x="0" y="1069137"/>
                </a:lnTo>
                <a:close/>
              </a:path>
            </a:pathLst>
          </a:custGeom>
          <a:solidFill>
            <a:srgbClr val="EF9D27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5278438" y="2093913"/>
            <a:ext cx="1285875" cy="1096962"/>
          </a:xfrm>
          <a:custGeom>
            <a:avLst/>
            <a:gdLst/>
            <a:ahLst/>
            <a:cxnLst/>
            <a:rect l="l" t="t" r="r" b="b"/>
            <a:pathLst>
              <a:path w="1714500" h="1097280" extrusionOk="0">
                <a:moveTo>
                  <a:pt x="363294" y="0"/>
                </a:moveTo>
                <a:lnTo>
                  <a:pt x="1165860" y="0"/>
                </a:lnTo>
                <a:lnTo>
                  <a:pt x="1714500" y="548640"/>
                </a:lnTo>
                <a:lnTo>
                  <a:pt x="1165860" y="1097280"/>
                </a:lnTo>
                <a:lnTo>
                  <a:pt x="0" y="1097280"/>
                </a:lnTo>
                <a:lnTo>
                  <a:pt x="0" y="1095691"/>
                </a:lnTo>
                <a:close/>
              </a:path>
            </a:pathLst>
          </a:custGeom>
          <a:solidFill>
            <a:srgbClr val="189A80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548280" y="1007918"/>
            <a:ext cx="1281162" cy="1097280"/>
          </a:xfrm>
          <a:custGeom>
            <a:avLst/>
            <a:gdLst/>
            <a:ahLst/>
            <a:cxnLst/>
            <a:rect l="l" t="t" r="r" b="b"/>
            <a:pathLst>
              <a:path w="1708216" h="1097280" extrusionOk="0">
                <a:moveTo>
                  <a:pt x="363820" y="0"/>
                </a:moveTo>
                <a:lnTo>
                  <a:pt x="1159576" y="0"/>
                </a:lnTo>
                <a:lnTo>
                  <a:pt x="1708216" y="548640"/>
                </a:lnTo>
                <a:lnTo>
                  <a:pt x="1159576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5C9A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277813" y="304800"/>
            <a:ext cx="4457700" cy="1046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TITLE GOES HERE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Your Subtitle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86438" y="1285875"/>
            <a:ext cx="714375" cy="571500"/>
          </a:xfrm>
          <a:prstGeom prst="rect">
            <a:avLst/>
          </a:prstGeom>
          <a:solidFill>
            <a:srgbClr val="5C9A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1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656263" y="2274888"/>
            <a:ext cx="625475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422900" y="3325813"/>
            <a:ext cx="623888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826000" y="5540375"/>
            <a:ext cx="625475" cy="73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grpSp>
        <p:nvGrpSpPr>
          <p:cNvPr id="135" name="Google Shape;135;p17"/>
          <p:cNvGrpSpPr/>
          <p:nvPr/>
        </p:nvGrpSpPr>
        <p:grpSpPr>
          <a:xfrm>
            <a:off x="2139950" y="1589087"/>
            <a:ext cx="3503613" cy="584775"/>
            <a:chOff x="4597685" y="3155869"/>
            <a:chExt cx="2380089" cy="438766"/>
          </a:xfrm>
        </p:grpSpPr>
        <p:sp>
          <p:nvSpPr>
            <p:cNvPr id="136" name="Google Shape;136;p17"/>
            <p:cNvSpPr txBox="1"/>
            <p:nvPr/>
          </p:nvSpPr>
          <p:spPr>
            <a:xfrm>
              <a:off x="4597686" y="3155869"/>
              <a:ext cx="2380088" cy="4387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Les finalités de l’entreprise    </a:t>
              </a:r>
              <a:endPara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4597685" y="3348831"/>
              <a:ext cx="1699601" cy="138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6FA0D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17"/>
          <p:cNvGrpSpPr/>
          <p:nvPr/>
        </p:nvGrpSpPr>
        <p:grpSpPr>
          <a:xfrm>
            <a:off x="2000232" y="2571744"/>
            <a:ext cx="2740025" cy="615950"/>
            <a:chOff x="4597685" y="3155866"/>
            <a:chExt cx="1861611" cy="461664"/>
          </a:xfrm>
        </p:grpSpPr>
        <p:sp>
          <p:nvSpPr>
            <p:cNvPr id="139" name="Google Shape;139;p17"/>
            <p:cNvSpPr txBox="1"/>
            <p:nvPr/>
          </p:nvSpPr>
          <p:spPr>
            <a:xfrm>
              <a:off x="4597685" y="3155866"/>
              <a:ext cx="1861611" cy="461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4597685" y="3348623"/>
              <a:ext cx="1698747" cy="139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6FA0D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1508125" y="4881563"/>
            <a:ext cx="3135313" cy="441325"/>
            <a:chOff x="4597684" y="3155882"/>
            <a:chExt cx="2130484" cy="331555"/>
          </a:xfrm>
        </p:grpSpPr>
        <p:sp>
          <p:nvSpPr>
            <p:cNvPr id="142" name="Google Shape;142;p17"/>
            <p:cNvSpPr txBox="1"/>
            <p:nvPr/>
          </p:nvSpPr>
          <p:spPr>
            <a:xfrm>
              <a:off x="4597684" y="3155882"/>
              <a:ext cx="2130484" cy="23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4597684" y="3349090"/>
              <a:ext cx="1698994" cy="1383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6FA0D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1255713" y="6002338"/>
            <a:ext cx="2500312" cy="811212"/>
            <a:chOff x="4597685" y="3155872"/>
            <a:chExt cx="1699181" cy="608564"/>
          </a:xfrm>
        </p:grpSpPr>
        <p:sp>
          <p:nvSpPr>
            <p:cNvPr id="145" name="Google Shape;145;p17"/>
            <p:cNvSpPr txBox="1"/>
            <p:nvPr/>
          </p:nvSpPr>
          <p:spPr>
            <a:xfrm>
              <a:off x="4597686" y="3155872"/>
              <a:ext cx="1542506" cy="207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Lorem Ipsum</a:t>
              </a: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4597685" y="3348802"/>
              <a:ext cx="1699181" cy="415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Lorem ipsum dolor sit amet, consectetur adipiscing elit, sed do eiusmod tempor incididunt.</a:t>
              </a:r>
              <a:endParaRPr sz="1200">
                <a:solidFill>
                  <a:srgbClr val="6FA0D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6830333" y="2423721"/>
            <a:ext cx="382588" cy="527051"/>
            <a:chOff x="3775075" y="1663700"/>
            <a:chExt cx="382588" cy="395288"/>
          </a:xfrm>
        </p:grpSpPr>
        <p:sp>
          <p:nvSpPr>
            <p:cNvPr id="148" name="Google Shape;148;p17"/>
            <p:cNvSpPr/>
            <p:nvPr/>
          </p:nvSpPr>
          <p:spPr>
            <a:xfrm>
              <a:off x="4064000" y="1952625"/>
              <a:ext cx="6350" cy="19050"/>
            </a:xfrm>
            <a:custGeom>
              <a:avLst/>
              <a:gdLst/>
              <a:ahLst/>
              <a:cxnLst/>
              <a:rect l="l" t="t" r="r" b="b"/>
              <a:pathLst>
                <a:path w="3" h="8" extrusionOk="0">
                  <a:moveTo>
                    <a:pt x="0" y="4"/>
                  </a:moveTo>
                  <a:cubicBezTo>
                    <a:pt x="0" y="6"/>
                    <a:pt x="1" y="7"/>
                    <a:pt x="3" y="8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189A80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4081463" y="1987550"/>
              <a:ext cx="11113" cy="17463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2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8"/>
                    <a:pt x="5" y="6"/>
                    <a:pt x="5" y="4"/>
                  </a:cubicBezTo>
                  <a:cubicBezTo>
                    <a:pt x="5" y="2"/>
                    <a:pt x="4" y="1"/>
                    <a:pt x="2" y="0"/>
                  </a:cubicBezTo>
                  <a:close/>
                </a:path>
              </a:pathLst>
            </a:custGeom>
            <a:solidFill>
              <a:srgbClr val="189A80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3995738" y="1898650"/>
              <a:ext cx="161925" cy="160338"/>
            </a:xfrm>
            <a:custGeom>
              <a:avLst/>
              <a:gdLst/>
              <a:ahLst/>
              <a:cxnLst/>
              <a:rect l="l" t="t" r="r" b="b"/>
              <a:pathLst>
                <a:path w="72" h="71" extrusionOk="0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5"/>
                    <a:pt x="16" y="71"/>
                    <a:pt x="36" y="71"/>
                  </a:cubicBezTo>
                  <a:cubicBezTo>
                    <a:pt x="56" y="71"/>
                    <a:pt x="72" y="55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45" y="50"/>
                  </a:moveTo>
                  <a:cubicBezTo>
                    <a:pt x="43" y="51"/>
                    <a:pt x="41" y="52"/>
                    <a:pt x="38" y="52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1" y="51"/>
                    <a:pt x="28" y="51"/>
                    <a:pt x="27" y="49"/>
                  </a:cubicBezTo>
                  <a:cubicBezTo>
                    <a:pt x="24" y="47"/>
                    <a:pt x="23" y="44"/>
                    <a:pt x="23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4"/>
                    <a:pt x="30" y="46"/>
                    <a:pt x="33" y="4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2" y="37"/>
                    <a:pt x="31" y="37"/>
                  </a:cubicBezTo>
                  <a:cubicBezTo>
                    <a:pt x="26" y="35"/>
                    <a:pt x="24" y="33"/>
                    <a:pt x="24" y="29"/>
                  </a:cubicBezTo>
                  <a:cubicBezTo>
                    <a:pt x="24" y="26"/>
                    <a:pt x="25" y="23"/>
                    <a:pt x="28" y="21"/>
                  </a:cubicBezTo>
                  <a:cubicBezTo>
                    <a:pt x="29" y="20"/>
                    <a:pt x="31" y="20"/>
                    <a:pt x="33" y="19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41" y="20"/>
                    <a:pt x="43" y="20"/>
                    <a:pt x="44" y="22"/>
                  </a:cubicBezTo>
                  <a:cubicBezTo>
                    <a:pt x="47" y="24"/>
                    <a:pt x="48" y="26"/>
                    <a:pt x="48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7"/>
                    <a:pt x="40" y="25"/>
                    <a:pt x="38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9" y="33"/>
                    <a:pt x="41" y="33"/>
                    <a:pt x="42" y="34"/>
                  </a:cubicBezTo>
                  <a:cubicBezTo>
                    <a:pt x="45" y="34"/>
                    <a:pt x="46" y="36"/>
                    <a:pt x="47" y="37"/>
                  </a:cubicBezTo>
                  <a:cubicBezTo>
                    <a:pt x="48" y="39"/>
                    <a:pt x="49" y="40"/>
                    <a:pt x="49" y="42"/>
                  </a:cubicBezTo>
                  <a:cubicBezTo>
                    <a:pt x="49" y="45"/>
                    <a:pt x="48" y="48"/>
                    <a:pt x="45" y="50"/>
                  </a:cubicBezTo>
                  <a:close/>
                </a:path>
              </a:pathLst>
            </a:custGeom>
            <a:solidFill>
              <a:srgbClr val="189A80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3775075" y="166370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161" h="161" extrusionOk="0">
                  <a:moveTo>
                    <a:pt x="96" y="148"/>
                  </a:moveTo>
                  <a:cubicBezTo>
                    <a:pt x="92" y="151"/>
                    <a:pt x="88" y="153"/>
                    <a:pt x="84" y="153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90" y="115"/>
                    <a:pt x="97" y="116"/>
                    <a:pt x="103" y="118"/>
                  </a:cubicBezTo>
                  <a:cubicBezTo>
                    <a:pt x="105" y="115"/>
                    <a:pt x="107" y="113"/>
                    <a:pt x="109" y="111"/>
                  </a:cubicBezTo>
                  <a:cubicBezTo>
                    <a:pt x="101" y="109"/>
                    <a:pt x="92" y="108"/>
                    <a:pt x="84" y="108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120" y="85"/>
                    <a:pt x="120" y="85"/>
                    <a:pt x="120" y="85"/>
                  </a:cubicBezTo>
                  <a:cubicBezTo>
                    <a:pt x="119" y="92"/>
                    <a:pt x="119" y="99"/>
                    <a:pt x="117" y="106"/>
                  </a:cubicBezTo>
                  <a:cubicBezTo>
                    <a:pt x="120" y="105"/>
                    <a:pt x="123" y="104"/>
                    <a:pt x="126" y="103"/>
                  </a:cubicBezTo>
                  <a:cubicBezTo>
                    <a:pt x="126" y="97"/>
                    <a:pt x="127" y="91"/>
                    <a:pt x="127" y="85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53" y="92"/>
                    <a:pt x="152" y="99"/>
                    <a:pt x="149" y="106"/>
                  </a:cubicBezTo>
                  <a:cubicBezTo>
                    <a:pt x="152" y="107"/>
                    <a:pt x="154" y="108"/>
                    <a:pt x="156" y="109"/>
                  </a:cubicBezTo>
                  <a:cubicBezTo>
                    <a:pt x="159" y="101"/>
                    <a:pt x="161" y="91"/>
                    <a:pt x="161" y="81"/>
                  </a:cubicBezTo>
                  <a:cubicBezTo>
                    <a:pt x="161" y="37"/>
                    <a:pt x="127" y="2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34" y="3"/>
                    <a:pt x="0" y="38"/>
                    <a:pt x="0" y="81"/>
                  </a:cubicBezTo>
                  <a:cubicBezTo>
                    <a:pt x="0" y="125"/>
                    <a:pt x="36" y="161"/>
                    <a:pt x="81" y="161"/>
                  </a:cubicBezTo>
                  <a:cubicBezTo>
                    <a:pt x="87" y="161"/>
                    <a:pt x="94" y="161"/>
                    <a:pt x="100" y="159"/>
                  </a:cubicBezTo>
                  <a:cubicBezTo>
                    <a:pt x="98" y="156"/>
                    <a:pt x="97" y="152"/>
                    <a:pt x="96" y="148"/>
                  </a:cubicBezTo>
                  <a:close/>
                  <a:moveTo>
                    <a:pt x="135" y="32"/>
                  </a:moveTo>
                  <a:cubicBezTo>
                    <a:pt x="146" y="44"/>
                    <a:pt x="153" y="60"/>
                    <a:pt x="154" y="78"/>
                  </a:cubicBezTo>
                  <a:cubicBezTo>
                    <a:pt x="127" y="78"/>
                    <a:pt x="127" y="78"/>
                    <a:pt x="127" y="78"/>
                  </a:cubicBezTo>
                  <a:cubicBezTo>
                    <a:pt x="127" y="67"/>
                    <a:pt x="125" y="56"/>
                    <a:pt x="122" y="46"/>
                  </a:cubicBezTo>
                  <a:cubicBezTo>
                    <a:pt x="129" y="42"/>
                    <a:pt x="133" y="38"/>
                    <a:pt x="135" y="32"/>
                  </a:cubicBezTo>
                  <a:close/>
                  <a:moveTo>
                    <a:pt x="129" y="26"/>
                  </a:moveTo>
                  <a:cubicBezTo>
                    <a:pt x="129" y="31"/>
                    <a:pt x="125" y="35"/>
                    <a:pt x="120" y="38"/>
                  </a:cubicBezTo>
                  <a:cubicBezTo>
                    <a:pt x="116" y="27"/>
                    <a:pt x="110" y="17"/>
                    <a:pt x="101" y="10"/>
                  </a:cubicBezTo>
                  <a:cubicBezTo>
                    <a:pt x="111" y="13"/>
                    <a:pt x="121" y="19"/>
                    <a:pt x="129" y="26"/>
                  </a:cubicBezTo>
                  <a:close/>
                  <a:moveTo>
                    <a:pt x="84" y="11"/>
                  </a:moveTo>
                  <a:cubicBezTo>
                    <a:pt x="98" y="13"/>
                    <a:pt x="108" y="26"/>
                    <a:pt x="113" y="42"/>
                  </a:cubicBezTo>
                  <a:cubicBezTo>
                    <a:pt x="104" y="45"/>
                    <a:pt x="93" y="47"/>
                    <a:pt x="84" y="47"/>
                  </a:cubicBezTo>
                  <a:lnTo>
                    <a:pt x="84" y="11"/>
                  </a:lnTo>
                  <a:close/>
                  <a:moveTo>
                    <a:pt x="84" y="55"/>
                  </a:moveTo>
                  <a:cubicBezTo>
                    <a:pt x="95" y="54"/>
                    <a:pt x="106" y="53"/>
                    <a:pt x="115" y="49"/>
                  </a:cubicBezTo>
                  <a:cubicBezTo>
                    <a:pt x="118" y="59"/>
                    <a:pt x="119" y="69"/>
                    <a:pt x="120" y="78"/>
                  </a:cubicBezTo>
                  <a:cubicBezTo>
                    <a:pt x="84" y="78"/>
                    <a:pt x="84" y="78"/>
                    <a:pt x="84" y="78"/>
                  </a:cubicBezTo>
                  <a:lnTo>
                    <a:pt x="84" y="55"/>
                  </a:lnTo>
                  <a:close/>
                  <a:moveTo>
                    <a:pt x="54" y="12"/>
                  </a:moveTo>
                  <a:cubicBezTo>
                    <a:pt x="48" y="19"/>
                    <a:pt x="43" y="27"/>
                    <a:pt x="40" y="37"/>
                  </a:cubicBezTo>
                  <a:cubicBezTo>
                    <a:pt x="35" y="34"/>
                    <a:pt x="33" y="30"/>
                    <a:pt x="33" y="26"/>
                  </a:cubicBezTo>
                  <a:cubicBezTo>
                    <a:pt x="39" y="20"/>
                    <a:pt x="46" y="15"/>
                    <a:pt x="54" y="12"/>
                  </a:cubicBezTo>
                  <a:close/>
                  <a:moveTo>
                    <a:pt x="26" y="32"/>
                  </a:moveTo>
                  <a:cubicBezTo>
                    <a:pt x="28" y="37"/>
                    <a:pt x="32" y="41"/>
                    <a:pt x="37" y="44"/>
                  </a:cubicBezTo>
                  <a:cubicBezTo>
                    <a:pt x="34" y="55"/>
                    <a:pt x="33" y="66"/>
                    <a:pt x="33" y="78"/>
                  </a:cubicBezTo>
                  <a:cubicBezTo>
                    <a:pt x="7" y="78"/>
                    <a:pt x="7" y="78"/>
                    <a:pt x="7" y="78"/>
                  </a:cubicBezTo>
                  <a:cubicBezTo>
                    <a:pt x="8" y="60"/>
                    <a:pt x="15" y="44"/>
                    <a:pt x="26" y="32"/>
                  </a:cubicBezTo>
                  <a:close/>
                  <a:moveTo>
                    <a:pt x="26" y="129"/>
                  </a:moveTo>
                  <a:cubicBezTo>
                    <a:pt x="15" y="118"/>
                    <a:pt x="9" y="102"/>
                    <a:pt x="8" y="85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33" y="95"/>
                    <a:pt x="35" y="107"/>
                    <a:pt x="38" y="117"/>
                  </a:cubicBezTo>
                  <a:cubicBezTo>
                    <a:pt x="32" y="120"/>
                    <a:pt x="28" y="124"/>
                    <a:pt x="26" y="129"/>
                  </a:cubicBezTo>
                  <a:close/>
                  <a:moveTo>
                    <a:pt x="32" y="135"/>
                  </a:moveTo>
                  <a:cubicBezTo>
                    <a:pt x="33" y="131"/>
                    <a:pt x="36" y="127"/>
                    <a:pt x="40" y="125"/>
                  </a:cubicBezTo>
                  <a:cubicBezTo>
                    <a:pt x="44" y="134"/>
                    <a:pt x="49" y="143"/>
                    <a:pt x="55" y="149"/>
                  </a:cubicBezTo>
                  <a:cubicBezTo>
                    <a:pt x="47" y="146"/>
                    <a:pt x="39" y="141"/>
                    <a:pt x="32" y="135"/>
                  </a:cubicBezTo>
                  <a:close/>
                  <a:moveTo>
                    <a:pt x="76" y="152"/>
                  </a:moveTo>
                  <a:cubicBezTo>
                    <a:pt x="62" y="149"/>
                    <a:pt x="52" y="137"/>
                    <a:pt x="47" y="121"/>
                  </a:cubicBezTo>
                  <a:cubicBezTo>
                    <a:pt x="55" y="117"/>
                    <a:pt x="66" y="115"/>
                    <a:pt x="76" y="115"/>
                  </a:cubicBezTo>
                  <a:lnTo>
                    <a:pt x="76" y="152"/>
                  </a:lnTo>
                  <a:close/>
                  <a:moveTo>
                    <a:pt x="76" y="108"/>
                  </a:moveTo>
                  <a:cubicBezTo>
                    <a:pt x="66" y="108"/>
                    <a:pt x="54" y="110"/>
                    <a:pt x="45" y="114"/>
                  </a:cubicBezTo>
                  <a:cubicBezTo>
                    <a:pt x="42" y="104"/>
                    <a:pt x="40" y="94"/>
                    <a:pt x="40" y="85"/>
                  </a:cubicBezTo>
                  <a:cubicBezTo>
                    <a:pt x="76" y="85"/>
                    <a:pt x="76" y="85"/>
                    <a:pt x="76" y="85"/>
                  </a:cubicBezTo>
                  <a:lnTo>
                    <a:pt x="76" y="108"/>
                  </a:lnTo>
                  <a:close/>
                  <a:moveTo>
                    <a:pt x="76" y="78"/>
                  </a:moveTo>
                  <a:cubicBezTo>
                    <a:pt x="40" y="78"/>
                    <a:pt x="40" y="78"/>
                    <a:pt x="40" y="78"/>
                  </a:cubicBezTo>
                  <a:cubicBezTo>
                    <a:pt x="40" y="69"/>
                    <a:pt x="42" y="58"/>
                    <a:pt x="44" y="48"/>
                  </a:cubicBezTo>
                  <a:cubicBezTo>
                    <a:pt x="54" y="52"/>
                    <a:pt x="66" y="54"/>
                    <a:pt x="76" y="55"/>
                  </a:cubicBezTo>
                  <a:lnTo>
                    <a:pt x="76" y="78"/>
                  </a:lnTo>
                  <a:close/>
                  <a:moveTo>
                    <a:pt x="76" y="47"/>
                  </a:moveTo>
                  <a:cubicBezTo>
                    <a:pt x="66" y="47"/>
                    <a:pt x="55" y="45"/>
                    <a:pt x="46" y="41"/>
                  </a:cubicBezTo>
                  <a:cubicBezTo>
                    <a:pt x="52" y="25"/>
                    <a:pt x="61" y="11"/>
                    <a:pt x="76" y="10"/>
                  </a:cubicBezTo>
                  <a:lnTo>
                    <a:pt x="76" y="47"/>
                  </a:lnTo>
                  <a:close/>
                </a:path>
              </a:pathLst>
            </a:custGeom>
            <a:solidFill>
              <a:srgbClr val="189A80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4064000" y="1952625"/>
              <a:ext cx="6350" cy="19050"/>
            </a:xfrm>
            <a:custGeom>
              <a:avLst/>
              <a:gdLst/>
              <a:ahLst/>
              <a:cxnLst/>
              <a:rect l="l" t="t" r="r" b="b"/>
              <a:pathLst>
                <a:path w="3" h="8" extrusionOk="0">
                  <a:moveTo>
                    <a:pt x="0" y="4"/>
                  </a:moveTo>
                  <a:cubicBezTo>
                    <a:pt x="0" y="6"/>
                    <a:pt x="1" y="7"/>
                    <a:pt x="3" y="8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189A80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3775075" y="166370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161" h="161" extrusionOk="0">
                  <a:moveTo>
                    <a:pt x="96" y="148"/>
                  </a:moveTo>
                  <a:cubicBezTo>
                    <a:pt x="92" y="151"/>
                    <a:pt x="88" y="153"/>
                    <a:pt x="84" y="153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90" y="115"/>
                    <a:pt x="97" y="116"/>
                    <a:pt x="103" y="118"/>
                  </a:cubicBezTo>
                  <a:cubicBezTo>
                    <a:pt x="105" y="115"/>
                    <a:pt x="107" y="113"/>
                    <a:pt x="109" y="111"/>
                  </a:cubicBezTo>
                  <a:cubicBezTo>
                    <a:pt x="101" y="109"/>
                    <a:pt x="92" y="108"/>
                    <a:pt x="84" y="108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120" y="85"/>
                    <a:pt x="120" y="85"/>
                    <a:pt x="120" y="85"/>
                  </a:cubicBezTo>
                  <a:cubicBezTo>
                    <a:pt x="119" y="92"/>
                    <a:pt x="119" y="99"/>
                    <a:pt x="117" y="106"/>
                  </a:cubicBezTo>
                  <a:cubicBezTo>
                    <a:pt x="120" y="105"/>
                    <a:pt x="123" y="104"/>
                    <a:pt x="126" y="103"/>
                  </a:cubicBezTo>
                  <a:cubicBezTo>
                    <a:pt x="126" y="97"/>
                    <a:pt x="127" y="91"/>
                    <a:pt x="127" y="85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53" y="92"/>
                    <a:pt x="152" y="99"/>
                    <a:pt x="149" y="106"/>
                  </a:cubicBezTo>
                  <a:cubicBezTo>
                    <a:pt x="152" y="107"/>
                    <a:pt x="154" y="108"/>
                    <a:pt x="156" y="109"/>
                  </a:cubicBezTo>
                  <a:cubicBezTo>
                    <a:pt x="159" y="101"/>
                    <a:pt x="161" y="91"/>
                    <a:pt x="161" y="81"/>
                  </a:cubicBezTo>
                  <a:cubicBezTo>
                    <a:pt x="161" y="37"/>
                    <a:pt x="127" y="2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34" y="3"/>
                    <a:pt x="0" y="38"/>
                    <a:pt x="0" y="81"/>
                  </a:cubicBezTo>
                  <a:cubicBezTo>
                    <a:pt x="0" y="125"/>
                    <a:pt x="36" y="161"/>
                    <a:pt x="81" y="161"/>
                  </a:cubicBezTo>
                  <a:cubicBezTo>
                    <a:pt x="87" y="161"/>
                    <a:pt x="94" y="161"/>
                    <a:pt x="100" y="159"/>
                  </a:cubicBezTo>
                  <a:cubicBezTo>
                    <a:pt x="98" y="156"/>
                    <a:pt x="97" y="152"/>
                    <a:pt x="96" y="148"/>
                  </a:cubicBezTo>
                  <a:close/>
                  <a:moveTo>
                    <a:pt x="135" y="32"/>
                  </a:moveTo>
                  <a:cubicBezTo>
                    <a:pt x="146" y="44"/>
                    <a:pt x="153" y="60"/>
                    <a:pt x="154" y="78"/>
                  </a:cubicBezTo>
                  <a:cubicBezTo>
                    <a:pt x="127" y="78"/>
                    <a:pt x="127" y="78"/>
                    <a:pt x="127" y="78"/>
                  </a:cubicBezTo>
                  <a:cubicBezTo>
                    <a:pt x="127" y="67"/>
                    <a:pt x="125" y="56"/>
                    <a:pt x="122" y="46"/>
                  </a:cubicBezTo>
                  <a:cubicBezTo>
                    <a:pt x="129" y="42"/>
                    <a:pt x="133" y="38"/>
                    <a:pt x="135" y="32"/>
                  </a:cubicBezTo>
                  <a:close/>
                  <a:moveTo>
                    <a:pt x="129" y="26"/>
                  </a:moveTo>
                  <a:cubicBezTo>
                    <a:pt x="129" y="31"/>
                    <a:pt x="125" y="35"/>
                    <a:pt x="120" y="38"/>
                  </a:cubicBezTo>
                  <a:cubicBezTo>
                    <a:pt x="116" y="27"/>
                    <a:pt x="110" y="17"/>
                    <a:pt x="101" y="10"/>
                  </a:cubicBezTo>
                  <a:cubicBezTo>
                    <a:pt x="111" y="13"/>
                    <a:pt x="121" y="19"/>
                    <a:pt x="129" y="26"/>
                  </a:cubicBezTo>
                  <a:close/>
                  <a:moveTo>
                    <a:pt x="84" y="11"/>
                  </a:moveTo>
                  <a:cubicBezTo>
                    <a:pt x="98" y="13"/>
                    <a:pt x="108" y="26"/>
                    <a:pt x="113" y="42"/>
                  </a:cubicBezTo>
                  <a:cubicBezTo>
                    <a:pt x="104" y="45"/>
                    <a:pt x="93" y="47"/>
                    <a:pt x="84" y="47"/>
                  </a:cubicBezTo>
                  <a:lnTo>
                    <a:pt x="84" y="11"/>
                  </a:lnTo>
                  <a:close/>
                  <a:moveTo>
                    <a:pt x="84" y="55"/>
                  </a:moveTo>
                  <a:cubicBezTo>
                    <a:pt x="95" y="54"/>
                    <a:pt x="106" y="53"/>
                    <a:pt x="115" y="49"/>
                  </a:cubicBezTo>
                  <a:cubicBezTo>
                    <a:pt x="118" y="59"/>
                    <a:pt x="119" y="69"/>
                    <a:pt x="120" y="78"/>
                  </a:cubicBezTo>
                  <a:cubicBezTo>
                    <a:pt x="84" y="78"/>
                    <a:pt x="84" y="78"/>
                    <a:pt x="84" y="78"/>
                  </a:cubicBezTo>
                  <a:lnTo>
                    <a:pt x="84" y="55"/>
                  </a:lnTo>
                  <a:close/>
                  <a:moveTo>
                    <a:pt x="54" y="12"/>
                  </a:moveTo>
                  <a:cubicBezTo>
                    <a:pt x="48" y="19"/>
                    <a:pt x="43" y="27"/>
                    <a:pt x="40" y="37"/>
                  </a:cubicBezTo>
                  <a:cubicBezTo>
                    <a:pt x="35" y="34"/>
                    <a:pt x="33" y="30"/>
                    <a:pt x="33" y="26"/>
                  </a:cubicBezTo>
                  <a:cubicBezTo>
                    <a:pt x="39" y="20"/>
                    <a:pt x="46" y="15"/>
                    <a:pt x="54" y="12"/>
                  </a:cubicBezTo>
                  <a:close/>
                  <a:moveTo>
                    <a:pt x="26" y="32"/>
                  </a:moveTo>
                  <a:cubicBezTo>
                    <a:pt x="28" y="37"/>
                    <a:pt x="32" y="41"/>
                    <a:pt x="37" y="44"/>
                  </a:cubicBezTo>
                  <a:cubicBezTo>
                    <a:pt x="34" y="55"/>
                    <a:pt x="33" y="66"/>
                    <a:pt x="33" y="78"/>
                  </a:cubicBezTo>
                  <a:cubicBezTo>
                    <a:pt x="7" y="78"/>
                    <a:pt x="7" y="78"/>
                    <a:pt x="7" y="78"/>
                  </a:cubicBezTo>
                  <a:cubicBezTo>
                    <a:pt x="8" y="60"/>
                    <a:pt x="15" y="44"/>
                    <a:pt x="26" y="32"/>
                  </a:cubicBezTo>
                  <a:close/>
                  <a:moveTo>
                    <a:pt x="26" y="129"/>
                  </a:moveTo>
                  <a:cubicBezTo>
                    <a:pt x="15" y="118"/>
                    <a:pt x="9" y="102"/>
                    <a:pt x="8" y="85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33" y="95"/>
                    <a:pt x="35" y="107"/>
                    <a:pt x="38" y="117"/>
                  </a:cubicBezTo>
                  <a:cubicBezTo>
                    <a:pt x="32" y="120"/>
                    <a:pt x="28" y="124"/>
                    <a:pt x="26" y="129"/>
                  </a:cubicBezTo>
                  <a:close/>
                  <a:moveTo>
                    <a:pt x="32" y="135"/>
                  </a:moveTo>
                  <a:cubicBezTo>
                    <a:pt x="33" y="131"/>
                    <a:pt x="36" y="127"/>
                    <a:pt x="40" y="125"/>
                  </a:cubicBezTo>
                  <a:cubicBezTo>
                    <a:pt x="44" y="134"/>
                    <a:pt x="49" y="143"/>
                    <a:pt x="55" y="149"/>
                  </a:cubicBezTo>
                  <a:cubicBezTo>
                    <a:pt x="47" y="146"/>
                    <a:pt x="39" y="141"/>
                    <a:pt x="32" y="135"/>
                  </a:cubicBezTo>
                  <a:close/>
                  <a:moveTo>
                    <a:pt x="76" y="152"/>
                  </a:moveTo>
                  <a:cubicBezTo>
                    <a:pt x="62" y="149"/>
                    <a:pt x="52" y="137"/>
                    <a:pt x="47" y="121"/>
                  </a:cubicBezTo>
                  <a:cubicBezTo>
                    <a:pt x="55" y="117"/>
                    <a:pt x="66" y="115"/>
                    <a:pt x="76" y="115"/>
                  </a:cubicBezTo>
                  <a:lnTo>
                    <a:pt x="76" y="152"/>
                  </a:lnTo>
                  <a:close/>
                  <a:moveTo>
                    <a:pt x="76" y="108"/>
                  </a:moveTo>
                  <a:cubicBezTo>
                    <a:pt x="66" y="108"/>
                    <a:pt x="54" y="110"/>
                    <a:pt x="45" y="114"/>
                  </a:cubicBezTo>
                  <a:cubicBezTo>
                    <a:pt x="42" y="104"/>
                    <a:pt x="40" y="94"/>
                    <a:pt x="40" y="85"/>
                  </a:cubicBezTo>
                  <a:cubicBezTo>
                    <a:pt x="76" y="85"/>
                    <a:pt x="76" y="85"/>
                    <a:pt x="76" y="85"/>
                  </a:cubicBezTo>
                  <a:lnTo>
                    <a:pt x="76" y="108"/>
                  </a:lnTo>
                  <a:close/>
                  <a:moveTo>
                    <a:pt x="76" y="78"/>
                  </a:moveTo>
                  <a:cubicBezTo>
                    <a:pt x="40" y="78"/>
                    <a:pt x="40" y="78"/>
                    <a:pt x="40" y="78"/>
                  </a:cubicBezTo>
                  <a:cubicBezTo>
                    <a:pt x="40" y="69"/>
                    <a:pt x="42" y="58"/>
                    <a:pt x="44" y="48"/>
                  </a:cubicBezTo>
                  <a:cubicBezTo>
                    <a:pt x="54" y="52"/>
                    <a:pt x="66" y="54"/>
                    <a:pt x="76" y="55"/>
                  </a:cubicBezTo>
                  <a:lnTo>
                    <a:pt x="76" y="78"/>
                  </a:lnTo>
                  <a:close/>
                  <a:moveTo>
                    <a:pt x="76" y="47"/>
                  </a:moveTo>
                  <a:cubicBezTo>
                    <a:pt x="66" y="47"/>
                    <a:pt x="55" y="45"/>
                    <a:pt x="46" y="41"/>
                  </a:cubicBezTo>
                  <a:cubicBezTo>
                    <a:pt x="52" y="25"/>
                    <a:pt x="61" y="11"/>
                    <a:pt x="76" y="10"/>
                  </a:cubicBezTo>
                  <a:lnTo>
                    <a:pt x="76" y="47"/>
                  </a:lnTo>
                  <a:close/>
                </a:path>
              </a:pathLst>
            </a:custGeom>
            <a:solidFill>
              <a:srgbClr val="189A80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7"/>
          <p:cNvGrpSpPr/>
          <p:nvPr/>
        </p:nvGrpSpPr>
        <p:grpSpPr>
          <a:xfrm>
            <a:off x="6588372" y="3463217"/>
            <a:ext cx="393700" cy="552451"/>
            <a:chOff x="3768725" y="2336800"/>
            <a:chExt cx="393700" cy="414338"/>
          </a:xfrm>
        </p:grpSpPr>
        <p:sp>
          <p:nvSpPr>
            <p:cNvPr id="155" name="Google Shape;155;p17"/>
            <p:cNvSpPr/>
            <p:nvPr/>
          </p:nvSpPr>
          <p:spPr>
            <a:xfrm>
              <a:off x="3768725" y="2547938"/>
              <a:ext cx="393700" cy="203200"/>
            </a:xfrm>
            <a:custGeom>
              <a:avLst/>
              <a:gdLst/>
              <a:ahLst/>
              <a:cxnLst/>
              <a:rect l="l" t="t" r="r" b="b"/>
              <a:pathLst>
                <a:path w="175" h="90" extrusionOk="0">
                  <a:moveTo>
                    <a:pt x="175" y="4"/>
                  </a:moveTo>
                  <a:cubicBezTo>
                    <a:pt x="175" y="3"/>
                    <a:pt x="175" y="3"/>
                    <a:pt x="175" y="3"/>
                  </a:cubicBezTo>
                  <a:cubicBezTo>
                    <a:pt x="175" y="2"/>
                    <a:pt x="175" y="2"/>
                    <a:pt x="175" y="2"/>
                  </a:cubicBezTo>
                  <a:cubicBezTo>
                    <a:pt x="175" y="2"/>
                    <a:pt x="175" y="2"/>
                    <a:pt x="175" y="2"/>
                  </a:cubicBezTo>
                  <a:cubicBezTo>
                    <a:pt x="175" y="0"/>
                    <a:pt x="175" y="0"/>
                    <a:pt x="1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2"/>
                    <a:pt x="40" y="90"/>
                    <a:pt x="88" y="90"/>
                  </a:cubicBezTo>
                  <a:cubicBezTo>
                    <a:pt x="135" y="90"/>
                    <a:pt x="174" y="52"/>
                    <a:pt x="175" y="5"/>
                  </a:cubicBezTo>
                  <a:cubicBezTo>
                    <a:pt x="175" y="5"/>
                    <a:pt x="175" y="5"/>
                    <a:pt x="175" y="5"/>
                  </a:cubicBezTo>
                  <a:lnTo>
                    <a:pt x="175" y="4"/>
                  </a:lnTo>
                  <a:close/>
                  <a:moveTo>
                    <a:pt x="130" y="8"/>
                  </a:moveTo>
                  <a:cubicBezTo>
                    <a:pt x="130" y="17"/>
                    <a:pt x="128" y="28"/>
                    <a:pt x="126" y="38"/>
                  </a:cubicBezTo>
                  <a:cubicBezTo>
                    <a:pt x="116" y="34"/>
                    <a:pt x="103" y="32"/>
                    <a:pt x="91" y="32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130" y="8"/>
                  </a:lnTo>
                  <a:close/>
                  <a:moveTo>
                    <a:pt x="28" y="55"/>
                  </a:moveTo>
                  <a:cubicBezTo>
                    <a:pt x="17" y="43"/>
                    <a:pt x="10" y="26"/>
                    <a:pt x="8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19"/>
                    <a:pt x="38" y="31"/>
                    <a:pt x="41" y="42"/>
                  </a:cubicBezTo>
                  <a:cubicBezTo>
                    <a:pt x="35" y="46"/>
                    <a:pt x="31" y="50"/>
                    <a:pt x="28" y="55"/>
                  </a:cubicBezTo>
                  <a:close/>
                  <a:moveTo>
                    <a:pt x="35" y="62"/>
                  </a:moveTo>
                  <a:cubicBezTo>
                    <a:pt x="36" y="57"/>
                    <a:pt x="39" y="53"/>
                    <a:pt x="44" y="50"/>
                  </a:cubicBezTo>
                  <a:cubicBezTo>
                    <a:pt x="48" y="61"/>
                    <a:pt x="53" y="70"/>
                    <a:pt x="60" y="77"/>
                  </a:cubicBezTo>
                  <a:cubicBezTo>
                    <a:pt x="51" y="74"/>
                    <a:pt x="42" y="69"/>
                    <a:pt x="35" y="62"/>
                  </a:cubicBezTo>
                  <a:close/>
                  <a:moveTo>
                    <a:pt x="83" y="79"/>
                  </a:moveTo>
                  <a:cubicBezTo>
                    <a:pt x="67" y="77"/>
                    <a:pt x="57" y="63"/>
                    <a:pt x="51" y="46"/>
                  </a:cubicBezTo>
                  <a:cubicBezTo>
                    <a:pt x="60" y="42"/>
                    <a:pt x="72" y="40"/>
                    <a:pt x="83" y="40"/>
                  </a:cubicBezTo>
                  <a:lnTo>
                    <a:pt x="83" y="79"/>
                  </a:lnTo>
                  <a:close/>
                  <a:moveTo>
                    <a:pt x="83" y="32"/>
                  </a:moveTo>
                  <a:cubicBezTo>
                    <a:pt x="72" y="32"/>
                    <a:pt x="59" y="34"/>
                    <a:pt x="49" y="39"/>
                  </a:cubicBezTo>
                  <a:cubicBezTo>
                    <a:pt x="46" y="28"/>
                    <a:pt x="44" y="17"/>
                    <a:pt x="44" y="8"/>
                  </a:cubicBezTo>
                  <a:cubicBezTo>
                    <a:pt x="83" y="8"/>
                    <a:pt x="83" y="8"/>
                    <a:pt x="83" y="8"/>
                  </a:cubicBezTo>
                  <a:lnTo>
                    <a:pt x="83" y="32"/>
                  </a:lnTo>
                  <a:close/>
                  <a:moveTo>
                    <a:pt x="91" y="81"/>
                  </a:moveTo>
                  <a:cubicBezTo>
                    <a:pt x="91" y="40"/>
                    <a:pt x="91" y="40"/>
                    <a:pt x="91" y="40"/>
                  </a:cubicBezTo>
                  <a:cubicBezTo>
                    <a:pt x="101" y="40"/>
                    <a:pt x="114" y="42"/>
                    <a:pt x="123" y="46"/>
                  </a:cubicBezTo>
                  <a:cubicBezTo>
                    <a:pt x="117" y="64"/>
                    <a:pt x="107" y="79"/>
                    <a:pt x="91" y="81"/>
                  </a:cubicBezTo>
                  <a:close/>
                  <a:moveTo>
                    <a:pt x="115" y="77"/>
                  </a:moveTo>
                  <a:cubicBezTo>
                    <a:pt x="122" y="70"/>
                    <a:pt x="127" y="61"/>
                    <a:pt x="131" y="50"/>
                  </a:cubicBezTo>
                  <a:cubicBezTo>
                    <a:pt x="136" y="54"/>
                    <a:pt x="139" y="58"/>
                    <a:pt x="139" y="63"/>
                  </a:cubicBezTo>
                  <a:cubicBezTo>
                    <a:pt x="132" y="69"/>
                    <a:pt x="124" y="74"/>
                    <a:pt x="115" y="77"/>
                  </a:cubicBezTo>
                  <a:close/>
                  <a:moveTo>
                    <a:pt x="146" y="56"/>
                  </a:moveTo>
                  <a:cubicBezTo>
                    <a:pt x="144" y="51"/>
                    <a:pt x="139" y="46"/>
                    <a:pt x="133" y="42"/>
                  </a:cubicBezTo>
                  <a:cubicBezTo>
                    <a:pt x="136" y="31"/>
                    <a:pt x="138" y="18"/>
                    <a:pt x="138" y="8"/>
                  </a:cubicBezTo>
                  <a:cubicBezTo>
                    <a:pt x="167" y="8"/>
                    <a:pt x="167" y="8"/>
                    <a:pt x="167" y="8"/>
                  </a:cubicBezTo>
                  <a:cubicBezTo>
                    <a:pt x="166" y="26"/>
                    <a:pt x="158" y="43"/>
                    <a:pt x="146" y="56"/>
                  </a:cubicBez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3925888" y="2336800"/>
              <a:ext cx="74613" cy="87313"/>
            </a:xfrm>
            <a:prstGeom prst="ellipse">
              <a:avLst/>
            </a:pr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3890963" y="2432050"/>
              <a:ext cx="146050" cy="104775"/>
            </a:xfrm>
            <a:custGeom>
              <a:avLst/>
              <a:gdLst/>
              <a:ahLst/>
              <a:cxnLst/>
              <a:rect l="l" t="t" r="r" b="b"/>
              <a:pathLst>
                <a:path w="65" h="47" extrusionOk="0">
                  <a:moveTo>
                    <a:pt x="54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7"/>
                    <a:pt x="0" y="1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5" y="7"/>
                    <a:pt x="60" y="0"/>
                    <a:pt x="54" y="0"/>
                  </a:cubicBez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3952875" y="2432050"/>
              <a:ext cx="20638" cy="15875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3" y="3"/>
                  </a:moveTo>
                  <a:lnTo>
                    <a:pt x="1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6" y="1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4044950" y="2355850"/>
              <a:ext cx="68263" cy="77788"/>
            </a:xfrm>
            <a:prstGeom prst="ellipse">
              <a:avLst/>
            </a:pr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4070350" y="2439988"/>
              <a:ext cx="17463" cy="14288"/>
            </a:xfrm>
            <a:custGeom>
              <a:avLst/>
              <a:gdLst/>
              <a:ahLst/>
              <a:cxnLst/>
              <a:rect l="l" t="t" r="r" b="b"/>
              <a:pathLst>
                <a:path w="11" h="9" extrusionOk="0">
                  <a:moveTo>
                    <a:pt x="11" y="3"/>
                  </a:moveTo>
                  <a:lnTo>
                    <a:pt x="1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6" y="9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4037013" y="2439988"/>
              <a:ext cx="109538" cy="96838"/>
            </a:xfrm>
            <a:custGeom>
              <a:avLst/>
              <a:gdLst/>
              <a:ahLst/>
              <a:cxnLst/>
              <a:rect l="l" t="t" r="r" b="b"/>
              <a:pathLst>
                <a:path w="49" h="43" extrusionOk="0">
                  <a:moveTo>
                    <a:pt x="39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3" y="7"/>
                    <a:pt x="3" y="11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6"/>
                    <a:pt x="44" y="0"/>
                    <a:pt x="39" y="0"/>
                  </a:cubicBez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3811588" y="2355850"/>
              <a:ext cx="69850" cy="80963"/>
            </a:xfrm>
            <a:prstGeom prst="ellipse">
              <a:avLst/>
            </a:pr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3836988" y="2439988"/>
              <a:ext cx="17463" cy="15875"/>
            </a:xfrm>
            <a:custGeom>
              <a:avLst/>
              <a:gdLst/>
              <a:ahLst/>
              <a:cxnLst/>
              <a:rect l="l" t="t" r="r" b="b"/>
              <a:pathLst>
                <a:path w="11" h="10" extrusionOk="0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3"/>
                  </a:lnTo>
                  <a:lnTo>
                    <a:pt x="5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779838" y="2439988"/>
              <a:ext cx="111125" cy="100013"/>
            </a:xfrm>
            <a:custGeom>
              <a:avLst/>
              <a:gdLst/>
              <a:ahLst/>
              <a:cxnLst/>
              <a:rect l="l" t="t" r="r" b="b"/>
              <a:pathLst>
                <a:path w="49" h="44" extrusionOk="0">
                  <a:moveTo>
                    <a:pt x="1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7" y="3"/>
                    <a:pt x="46" y="7"/>
                    <a:pt x="46" y="12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10" y="0"/>
                  </a:cubicBez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3768725" y="2547938"/>
              <a:ext cx="393700" cy="203200"/>
            </a:xfrm>
            <a:custGeom>
              <a:avLst/>
              <a:gdLst/>
              <a:ahLst/>
              <a:cxnLst/>
              <a:rect l="l" t="t" r="r" b="b"/>
              <a:pathLst>
                <a:path w="175" h="90" extrusionOk="0">
                  <a:moveTo>
                    <a:pt x="175" y="4"/>
                  </a:moveTo>
                  <a:cubicBezTo>
                    <a:pt x="175" y="3"/>
                    <a:pt x="175" y="3"/>
                    <a:pt x="175" y="3"/>
                  </a:cubicBezTo>
                  <a:cubicBezTo>
                    <a:pt x="175" y="2"/>
                    <a:pt x="175" y="2"/>
                    <a:pt x="175" y="2"/>
                  </a:cubicBezTo>
                  <a:cubicBezTo>
                    <a:pt x="175" y="2"/>
                    <a:pt x="175" y="2"/>
                    <a:pt x="175" y="2"/>
                  </a:cubicBezTo>
                  <a:cubicBezTo>
                    <a:pt x="175" y="0"/>
                    <a:pt x="175" y="0"/>
                    <a:pt x="17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2"/>
                    <a:pt x="40" y="90"/>
                    <a:pt x="88" y="90"/>
                  </a:cubicBezTo>
                  <a:cubicBezTo>
                    <a:pt x="135" y="90"/>
                    <a:pt x="174" y="52"/>
                    <a:pt x="175" y="5"/>
                  </a:cubicBezTo>
                  <a:cubicBezTo>
                    <a:pt x="175" y="5"/>
                    <a:pt x="175" y="5"/>
                    <a:pt x="175" y="5"/>
                  </a:cubicBezTo>
                  <a:lnTo>
                    <a:pt x="175" y="4"/>
                  </a:lnTo>
                  <a:close/>
                  <a:moveTo>
                    <a:pt x="130" y="8"/>
                  </a:moveTo>
                  <a:cubicBezTo>
                    <a:pt x="130" y="17"/>
                    <a:pt x="128" y="28"/>
                    <a:pt x="126" y="38"/>
                  </a:cubicBezTo>
                  <a:cubicBezTo>
                    <a:pt x="116" y="34"/>
                    <a:pt x="103" y="32"/>
                    <a:pt x="91" y="32"/>
                  </a:cubicBezTo>
                  <a:cubicBezTo>
                    <a:pt x="91" y="8"/>
                    <a:pt x="91" y="8"/>
                    <a:pt x="91" y="8"/>
                  </a:cubicBezTo>
                  <a:lnTo>
                    <a:pt x="130" y="8"/>
                  </a:lnTo>
                  <a:close/>
                  <a:moveTo>
                    <a:pt x="28" y="55"/>
                  </a:moveTo>
                  <a:cubicBezTo>
                    <a:pt x="17" y="43"/>
                    <a:pt x="10" y="26"/>
                    <a:pt x="8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19"/>
                    <a:pt x="38" y="31"/>
                    <a:pt x="41" y="42"/>
                  </a:cubicBezTo>
                  <a:cubicBezTo>
                    <a:pt x="35" y="46"/>
                    <a:pt x="31" y="50"/>
                    <a:pt x="28" y="55"/>
                  </a:cubicBezTo>
                  <a:close/>
                  <a:moveTo>
                    <a:pt x="35" y="62"/>
                  </a:moveTo>
                  <a:cubicBezTo>
                    <a:pt x="36" y="57"/>
                    <a:pt x="39" y="53"/>
                    <a:pt x="44" y="50"/>
                  </a:cubicBezTo>
                  <a:cubicBezTo>
                    <a:pt x="48" y="61"/>
                    <a:pt x="53" y="70"/>
                    <a:pt x="60" y="77"/>
                  </a:cubicBezTo>
                  <a:cubicBezTo>
                    <a:pt x="51" y="74"/>
                    <a:pt x="42" y="69"/>
                    <a:pt x="35" y="62"/>
                  </a:cubicBezTo>
                  <a:close/>
                  <a:moveTo>
                    <a:pt x="83" y="79"/>
                  </a:moveTo>
                  <a:cubicBezTo>
                    <a:pt x="67" y="77"/>
                    <a:pt x="57" y="63"/>
                    <a:pt x="51" y="46"/>
                  </a:cubicBezTo>
                  <a:cubicBezTo>
                    <a:pt x="60" y="42"/>
                    <a:pt x="72" y="40"/>
                    <a:pt x="83" y="40"/>
                  </a:cubicBezTo>
                  <a:lnTo>
                    <a:pt x="83" y="79"/>
                  </a:lnTo>
                  <a:close/>
                  <a:moveTo>
                    <a:pt x="83" y="32"/>
                  </a:moveTo>
                  <a:cubicBezTo>
                    <a:pt x="72" y="32"/>
                    <a:pt x="59" y="34"/>
                    <a:pt x="49" y="39"/>
                  </a:cubicBezTo>
                  <a:cubicBezTo>
                    <a:pt x="46" y="28"/>
                    <a:pt x="44" y="17"/>
                    <a:pt x="44" y="8"/>
                  </a:cubicBezTo>
                  <a:cubicBezTo>
                    <a:pt x="83" y="8"/>
                    <a:pt x="83" y="8"/>
                    <a:pt x="83" y="8"/>
                  </a:cubicBezTo>
                  <a:lnTo>
                    <a:pt x="83" y="32"/>
                  </a:lnTo>
                  <a:close/>
                  <a:moveTo>
                    <a:pt x="91" y="81"/>
                  </a:moveTo>
                  <a:cubicBezTo>
                    <a:pt x="91" y="40"/>
                    <a:pt x="91" y="40"/>
                    <a:pt x="91" y="40"/>
                  </a:cubicBezTo>
                  <a:cubicBezTo>
                    <a:pt x="101" y="40"/>
                    <a:pt x="114" y="42"/>
                    <a:pt x="123" y="46"/>
                  </a:cubicBezTo>
                  <a:cubicBezTo>
                    <a:pt x="117" y="64"/>
                    <a:pt x="107" y="79"/>
                    <a:pt x="91" y="81"/>
                  </a:cubicBezTo>
                  <a:close/>
                  <a:moveTo>
                    <a:pt x="115" y="77"/>
                  </a:moveTo>
                  <a:cubicBezTo>
                    <a:pt x="122" y="70"/>
                    <a:pt x="127" y="61"/>
                    <a:pt x="131" y="50"/>
                  </a:cubicBezTo>
                  <a:cubicBezTo>
                    <a:pt x="136" y="54"/>
                    <a:pt x="139" y="58"/>
                    <a:pt x="139" y="63"/>
                  </a:cubicBezTo>
                  <a:cubicBezTo>
                    <a:pt x="132" y="69"/>
                    <a:pt x="124" y="74"/>
                    <a:pt x="115" y="77"/>
                  </a:cubicBezTo>
                  <a:close/>
                  <a:moveTo>
                    <a:pt x="146" y="56"/>
                  </a:moveTo>
                  <a:cubicBezTo>
                    <a:pt x="144" y="51"/>
                    <a:pt x="139" y="46"/>
                    <a:pt x="133" y="42"/>
                  </a:cubicBezTo>
                  <a:cubicBezTo>
                    <a:pt x="136" y="31"/>
                    <a:pt x="138" y="18"/>
                    <a:pt x="138" y="8"/>
                  </a:cubicBezTo>
                  <a:cubicBezTo>
                    <a:pt x="167" y="8"/>
                    <a:pt x="167" y="8"/>
                    <a:pt x="167" y="8"/>
                  </a:cubicBezTo>
                  <a:cubicBezTo>
                    <a:pt x="166" y="26"/>
                    <a:pt x="158" y="43"/>
                    <a:pt x="146" y="56"/>
                  </a:cubicBez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3925888" y="2336800"/>
              <a:ext cx="74613" cy="87313"/>
            </a:xfrm>
            <a:prstGeom prst="ellipse">
              <a:avLst/>
            </a:pr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3890963" y="2432050"/>
              <a:ext cx="146050" cy="104775"/>
            </a:xfrm>
            <a:custGeom>
              <a:avLst/>
              <a:gdLst/>
              <a:ahLst/>
              <a:cxnLst/>
              <a:rect l="l" t="t" r="r" b="b"/>
              <a:pathLst>
                <a:path w="65" h="47" extrusionOk="0">
                  <a:moveTo>
                    <a:pt x="54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7"/>
                    <a:pt x="0" y="15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5" y="7"/>
                    <a:pt x="60" y="0"/>
                    <a:pt x="54" y="0"/>
                  </a:cubicBez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3952875" y="2432050"/>
              <a:ext cx="20638" cy="15875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3" y="3"/>
                  </a:moveTo>
                  <a:lnTo>
                    <a:pt x="1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6" y="1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4044950" y="2355850"/>
              <a:ext cx="68263" cy="77788"/>
            </a:xfrm>
            <a:prstGeom prst="ellipse">
              <a:avLst/>
            </a:pr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4070350" y="2439988"/>
              <a:ext cx="17463" cy="14288"/>
            </a:xfrm>
            <a:custGeom>
              <a:avLst/>
              <a:gdLst/>
              <a:ahLst/>
              <a:cxnLst/>
              <a:rect l="l" t="t" r="r" b="b"/>
              <a:pathLst>
                <a:path w="11" h="9" extrusionOk="0">
                  <a:moveTo>
                    <a:pt x="11" y="3"/>
                  </a:moveTo>
                  <a:lnTo>
                    <a:pt x="1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6" y="9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4037013" y="2439988"/>
              <a:ext cx="109538" cy="96838"/>
            </a:xfrm>
            <a:custGeom>
              <a:avLst/>
              <a:gdLst/>
              <a:ahLst/>
              <a:cxnLst/>
              <a:rect l="l" t="t" r="r" b="b"/>
              <a:pathLst>
                <a:path w="49" h="43" extrusionOk="0">
                  <a:moveTo>
                    <a:pt x="39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3" y="7"/>
                    <a:pt x="3" y="11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6"/>
                    <a:pt x="44" y="0"/>
                    <a:pt x="39" y="0"/>
                  </a:cubicBez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3811588" y="2355850"/>
              <a:ext cx="69850" cy="80963"/>
            </a:xfrm>
            <a:prstGeom prst="ellipse">
              <a:avLst/>
            </a:pr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3836988" y="2439988"/>
              <a:ext cx="17463" cy="15875"/>
            </a:xfrm>
            <a:custGeom>
              <a:avLst/>
              <a:gdLst/>
              <a:ahLst/>
              <a:cxnLst/>
              <a:rect l="l" t="t" r="r" b="b"/>
              <a:pathLst>
                <a:path w="11" h="10" extrusionOk="0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3"/>
                  </a:lnTo>
                  <a:lnTo>
                    <a:pt x="5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3779838" y="2439988"/>
              <a:ext cx="111125" cy="100013"/>
            </a:xfrm>
            <a:custGeom>
              <a:avLst/>
              <a:gdLst/>
              <a:ahLst/>
              <a:cxnLst/>
              <a:rect l="l" t="t" r="r" b="b"/>
              <a:pathLst>
                <a:path w="49" h="44" extrusionOk="0">
                  <a:moveTo>
                    <a:pt x="1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7" y="3"/>
                    <a:pt x="46" y="7"/>
                    <a:pt x="46" y="12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4" y="0"/>
                    <a:pt x="10" y="0"/>
                  </a:cubicBezTo>
                  <a:close/>
                </a:path>
              </a:pathLst>
            </a:custGeom>
            <a:solidFill>
              <a:srgbClr val="EF9D27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1D1B1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6995646" y="1229009"/>
            <a:ext cx="393700" cy="637117"/>
            <a:chOff x="3768725" y="938213"/>
            <a:chExt cx="393700" cy="477838"/>
          </a:xfrm>
        </p:grpSpPr>
        <p:sp>
          <p:nvSpPr>
            <p:cNvPr id="176" name="Google Shape;176;p17"/>
            <p:cNvSpPr/>
            <p:nvPr/>
          </p:nvSpPr>
          <p:spPr>
            <a:xfrm>
              <a:off x="3941763" y="1389063"/>
              <a:ext cx="47625" cy="26988"/>
            </a:xfrm>
            <a:custGeom>
              <a:avLst/>
              <a:gdLst/>
              <a:ahLst/>
              <a:cxnLst/>
              <a:rect l="l" t="t" r="r" b="b"/>
              <a:pathLst>
                <a:path w="21" h="12" extrusionOk="0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3924300" y="1360488"/>
              <a:ext cx="82550" cy="26988"/>
            </a:xfrm>
            <a:custGeom>
              <a:avLst/>
              <a:gdLst/>
              <a:ahLst/>
              <a:cxnLst/>
              <a:rect l="l" t="t" r="r" b="b"/>
              <a:pathLst>
                <a:path w="37" h="12" extrusionOk="0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3913188" y="1322388"/>
              <a:ext cx="107950" cy="34925"/>
            </a:xfrm>
            <a:custGeom>
              <a:avLst/>
              <a:gdLst/>
              <a:ahLst/>
              <a:cxnLst/>
              <a:rect l="l" t="t" r="r" b="b"/>
              <a:pathLst>
                <a:path w="48" h="16" extrusionOk="0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3941763" y="1389063"/>
              <a:ext cx="47625" cy="26988"/>
            </a:xfrm>
            <a:custGeom>
              <a:avLst/>
              <a:gdLst/>
              <a:ahLst/>
              <a:cxnLst/>
              <a:rect l="l" t="t" r="r" b="b"/>
              <a:pathLst>
                <a:path w="21" h="12" extrusionOk="0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3924300" y="1360488"/>
              <a:ext cx="82550" cy="26988"/>
            </a:xfrm>
            <a:custGeom>
              <a:avLst/>
              <a:gdLst/>
              <a:ahLst/>
              <a:cxnLst/>
              <a:rect l="l" t="t" r="r" b="b"/>
              <a:pathLst>
                <a:path w="37" h="12" extrusionOk="0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3913188" y="1322388"/>
              <a:ext cx="107950" cy="34925"/>
            </a:xfrm>
            <a:custGeom>
              <a:avLst/>
              <a:gdLst/>
              <a:ahLst/>
              <a:cxnLst/>
              <a:rect l="l" t="t" r="r" b="b"/>
              <a:pathLst>
                <a:path w="48" h="16" extrusionOk="0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3956050" y="938213"/>
              <a:ext cx="19050" cy="46038"/>
            </a:xfrm>
            <a:prstGeom prst="rect">
              <a:avLst/>
            </a:pr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4060825" y="984250"/>
              <a:ext cx="46038" cy="47625"/>
            </a:xfrm>
            <a:custGeom>
              <a:avLst/>
              <a:gdLst/>
              <a:ahLst/>
              <a:cxnLst/>
              <a:rect l="l" t="t" r="r" b="b"/>
              <a:pathLst>
                <a:path w="29" h="30" extrusionOk="0">
                  <a:moveTo>
                    <a:pt x="9" y="30"/>
                  </a:moveTo>
                  <a:lnTo>
                    <a:pt x="0" y="22"/>
                  </a:lnTo>
                  <a:lnTo>
                    <a:pt x="20" y="0"/>
                  </a:lnTo>
                  <a:lnTo>
                    <a:pt x="29" y="9"/>
                  </a:lnTo>
                  <a:lnTo>
                    <a:pt x="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4114800" y="1112838"/>
              <a:ext cx="47625" cy="22225"/>
            </a:xfrm>
            <a:custGeom>
              <a:avLst/>
              <a:gdLst/>
              <a:ahLst/>
              <a:cxnLst/>
              <a:rect l="l" t="t" r="r" b="b"/>
              <a:pathLst>
                <a:path w="30" h="14" extrusionOk="0">
                  <a:moveTo>
                    <a:pt x="0" y="14"/>
                  </a:moveTo>
                  <a:lnTo>
                    <a:pt x="0" y="1"/>
                  </a:lnTo>
                  <a:lnTo>
                    <a:pt x="30" y="0"/>
                  </a:lnTo>
                  <a:lnTo>
                    <a:pt x="30" y="11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4075113" y="1222375"/>
              <a:ext cx="49213" cy="46038"/>
            </a:xfrm>
            <a:custGeom>
              <a:avLst/>
              <a:gdLst/>
              <a:ahLst/>
              <a:cxnLst/>
              <a:rect l="l" t="t" r="r" b="b"/>
              <a:pathLst>
                <a:path w="31" h="29" extrusionOk="0">
                  <a:moveTo>
                    <a:pt x="0" y="10"/>
                  </a:moveTo>
                  <a:lnTo>
                    <a:pt x="8" y="0"/>
                  </a:lnTo>
                  <a:lnTo>
                    <a:pt x="31" y="19"/>
                  </a:lnTo>
                  <a:lnTo>
                    <a:pt x="24" y="2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3825875" y="982663"/>
              <a:ext cx="44450" cy="47625"/>
            </a:xfrm>
            <a:custGeom>
              <a:avLst/>
              <a:gdLst/>
              <a:ahLst/>
              <a:cxnLst/>
              <a:rect l="l" t="t" r="r" b="b"/>
              <a:pathLst>
                <a:path w="28" h="30" extrusionOk="0">
                  <a:moveTo>
                    <a:pt x="19" y="30"/>
                  </a:moveTo>
                  <a:lnTo>
                    <a:pt x="28" y="21"/>
                  </a:lnTo>
                  <a:lnTo>
                    <a:pt x="8" y="0"/>
                  </a:lnTo>
                  <a:lnTo>
                    <a:pt x="0" y="8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3768725" y="1111250"/>
              <a:ext cx="49213" cy="22225"/>
            </a:xfrm>
            <a:custGeom>
              <a:avLst/>
              <a:gdLst/>
              <a:ahLst/>
              <a:cxnLst/>
              <a:rect l="l" t="t" r="r" b="b"/>
              <a:pathLst>
                <a:path w="31" h="14" extrusionOk="0">
                  <a:moveTo>
                    <a:pt x="30" y="14"/>
                  </a:moveTo>
                  <a:lnTo>
                    <a:pt x="31" y="1"/>
                  </a:lnTo>
                  <a:lnTo>
                    <a:pt x="2" y="0"/>
                  </a:lnTo>
                  <a:lnTo>
                    <a:pt x="0" y="11"/>
                  </a:lnTo>
                  <a:lnTo>
                    <a:pt x="3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3806825" y="1220788"/>
              <a:ext cx="49213" cy="44450"/>
            </a:xfrm>
            <a:custGeom>
              <a:avLst/>
              <a:gdLst/>
              <a:ahLst/>
              <a:cxnLst/>
              <a:rect l="l" t="t" r="r" b="b"/>
              <a:pathLst>
                <a:path w="31" h="28" extrusionOk="0">
                  <a:moveTo>
                    <a:pt x="31" y="10"/>
                  </a:moveTo>
                  <a:lnTo>
                    <a:pt x="24" y="0"/>
                  </a:lnTo>
                  <a:lnTo>
                    <a:pt x="0" y="18"/>
                  </a:lnTo>
                  <a:lnTo>
                    <a:pt x="9" y="28"/>
                  </a:lnTo>
                  <a:lnTo>
                    <a:pt x="31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3975100" y="1179513"/>
              <a:ext cx="15875" cy="30163"/>
            </a:xfrm>
            <a:custGeom>
              <a:avLst/>
              <a:gdLst/>
              <a:ahLst/>
              <a:cxnLst/>
              <a:rect l="l" t="t" r="r" b="b"/>
              <a:pathLst>
                <a:path w="7" h="13" extrusionOk="0">
                  <a:moveTo>
                    <a:pt x="3" y="1"/>
                  </a:moveTo>
                  <a:cubicBezTo>
                    <a:pt x="3" y="1"/>
                    <a:pt x="2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13"/>
                    <a:pt x="7" y="10"/>
                    <a:pt x="7" y="6"/>
                  </a:cubicBezTo>
                  <a:cubicBezTo>
                    <a:pt x="7" y="4"/>
                    <a:pt x="6" y="2"/>
                    <a:pt x="3" y="1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3944938" y="1128713"/>
              <a:ext cx="12700" cy="23813"/>
            </a:xfrm>
            <a:custGeom>
              <a:avLst/>
              <a:gdLst/>
              <a:ahLst/>
              <a:cxnLst/>
              <a:rect l="l" t="t" r="r" b="b"/>
              <a:pathLst>
                <a:path w="6" h="11" extrusionOk="0">
                  <a:moveTo>
                    <a:pt x="0" y="5"/>
                  </a:moveTo>
                  <a:cubicBezTo>
                    <a:pt x="0" y="8"/>
                    <a:pt x="2" y="10"/>
                    <a:pt x="6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3843338" y="1006475"/>
              <a:ext cx="244475" cy="290513"/>
            </a:xfrm>
            <a:custGeom>
              <a:avLst/>
              <a:gdLst/>
              <a:ahLst/>
              <a:cxnLst/>
              <a:rect l="l" t="t" r="r" b="b"/>
              <a:pathLst>
                <a:path w="109" h="129" extrusionOk="0">
                  <a:moveTo>
                    <a:pt x="55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67"/>
                    <a:pt x="5" y="78"/>
                    <a:pt x="12" y="87"/>
                  </a:cubicBezTo>
                  <a:cubicBezTo>
                    <a:pt x="16" y="93"/>
                    <a:pt x="30" y="115"/>
                    <a:pt x="32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65" y="129"/>
                    <a:pt x="65" y="129"/>
                    <a:pt x="65" y="129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79" y="115"/>
                    <a:pt x="93" y="93"/>
                    <a:pt x="97" y="87"/>
                  </a:cubicBezTo>
                  <a:cubicBezTo>
                    <a:pt x="105" y="78"/>
                    <a:pt x="109" y="67"/>
                    <a:pt x="109" y="54"/>
                  </a:cubicBezTo>
                  <a:cubicBezTo>
                    <a:pt x="109" y="24"/>
                    <a:pt x="85" y="0"/>
                    <a:pt x="55" y="0"/>
                  </a:cubicBezTo>
                  <a:close/>
                  <a:moveTo>
                    <a:pt x="69" y="95"/>
                  </a:moveTo>
                  <a:cubicBezTo>
                    <a:pt x="66" y="97"/>
                    <a:pt x="63" y="98"/>
                    <a:pt x="59" y="98"/>
                  </a:cubicBezTo>
                  <a:cubicBezTo>
                    <a:pt x="59" y="110"/>
                    <a:pt x="59" y="110"/>
                    <a:pt x="59" y="110"/>
                  </a:cubicBezTo>
                  <a:cubicBezTo>
                    <a:pt x="51" y="110"/>
                    <a:pt x="51" y="110"/>
                    <a:pt x="51" y="110"/>
                  </a:cubicBezTo>
                  <a:cubicBezTo>
                    <a:pt x="51" y="98"/>
                    <a:pt x="51" y="98"/>
                    <a:pt x="51" y="98"/>
                  </a:cubicBezTo>
                  <a:cubicBezTo>
                    <a:pt x="46" y="98"/>
                    <a:pt x="43" y="96"/>
                    <a:pt x="40" y="94"/>
                  </a:cubicBezTo>
                  <a:cubicBezTo>
                    <a:pt x="36" y="91"/>
                    <a:pt x="34" y="86"/>
                    <a:pt x="34" y="80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5"/>
                    <a:pt x="46" y="89"/>
                    <a:pt x="51" y="90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74"/>
                    <a:pt x="48" y="74"/>
                    <a:pt x="47" y="74"/>
                  </a:cubicBezTo>
                  <a:cubicBezTo>
                    <a:pt x="39" y="72"/>
                    <a:pt x="36" y="67"/>
                    <a:pt x="36" y="61"/>
                  </a:cubicBezTo>
                  <a:cubicBezTo>
                    <a:pt x="36" y="56"/>
                    <a:pt x="37" y="52"/>
                    <a:pt x="41" y="49"/>
                  </a:cubicBezTo>
                  <a:cubicBezTo>
                    <a:pt x="44" y="47"/>
                    <a:pt x="47" y="46"/>
                    <a:pt x="51" y="46"/>
                  </a:cubicBezTo>
                  <a:cubicBezTo>
                    <a:pt x="51" y="33"/>
                    <a:pt x="51" y="33"/>
                    <a:pt x="51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2" y="46"/>
                    <a:pt x="66" y="48"/>
                    <a:pt x="68" y="50"/>
                  </a:cubicBezTo>
                  <a:cubicBezTo>
                    <a:pt x="72" y="53"/>
                    <a:pt x="74" y="57"/>
                    <a:pt x="74" y="62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64" y="58"/>
                    <a:pt x="62" y="55"/>
                    <a:pt x="59" y="54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61" y="68"/>
                    <a:pt x="63" y="69"/>
                    <a:pt x="66" y="69"/>
                  </a:cubicBezTo>
                  <a:cubicBezTo>
                    <a:pt x="69" y="70"/>
                    <a:pt x="71" y="72"/>
                    <a:pt x="73" y="75"/>
                  </a:cubicBezTo>
                  <a:cubicBezTo>
                    <a:pt x="75" y="77"/>
                    <a:pt x="76" y="80"/>
                    <a:pt x="76" y="82"/>
                  </a:cubicBezTo>
                  <a:cubicBezTo>
                    <a:pt x="76" y="88"/>
                    <a:pt x="74" y="92"/>
                    <a:pt x="69" y="95"/>
                  </a:cubicBezTo>
                  <a:close/>
                  <a:moveTo>
                    <a:pt x="55" y="19"/>
                  </a:moveTo>
                  <a:cubicBezTo>
                    <a:pt x="41" y="19"/>
                    <a:pt x="27" y="21"/>
                    <a:pt x="17" y="24"/>
                  </a:cubicBezTo>
                  <a:cubicBezTo>
                    <a:pt x="25" y="12"/>
                    <a:pt x="39" y="4"/>
                    <a:pt x="55" y="4"/>
                  </a:cubicBezTo>
                  <a:cubicBezTo>
                    <a:pt x="71" y="4"/>
                    <a:pt x="85" y="12"/>
                    <a:pt x="93" y="24"/>
                  </a:cubicBezTo>
                  <a:cubicBezTo>
                    <a:pt x="82" y="21"/>
                    <a:pt x="69" y="19"/>
                    <a:pt x="55" y="19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3941763" y="1389063"/>
              <a:ext cx="47625" cy="26988"/>
            </a:xfrm>
            <a:custGeom>
              <a:avLst/>
              <a:gdLst/>
              <a:ahLst/>
              <a:cxnLst/>
              <a:rect l="l" t="t" r="r" b="b"/>
              <a:pathLst>
                <a:path w="21" h="12" extrusionOk="0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3924300" y="1360488"/>
              <a:ext cx="82550" cy="26988"/>
            </a:xfrm>
            <a:custGeom>
              <a:avLst/>
              <a:gdLst/>
              <a:ahLst/>
              <a:cxnLst/>
              <a:rect l="l" t="t" r="r" b="b"/>
              <a:pathLst>
                <a:path w="37" h="12" extrusionOk="0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3913188" y="1322388"/>
              <a:ext cx="107950" cy="34925"/>
            </a:xfrm>
            <a:custGeom>
              <a:avLst/>
              <a:gdLst/>
              <a:ahLst/>
              <a:cxnLst/>
              <a:rect l="l" t="t" r="r" b="b"/>
              <a:pathLst>
                <a:path w="48" h="16" extrusionOk="0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3941763" y="1389063"/>
              <a:ext cx="47625" cy="26988"/>
            </a:xfrm>
            <a:custGeom>
              <a:avLst/>
              <a:gdLst/>
              <a:ahLst/>
              <a:cxnLst/>
              <a:rect l="l" t="t" r="r" b="b"/>
              <a:pathLst>
                <a:path w="21" h="12" extrusionOk="0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924300" y="1360488"/>
              <a:ext cx="82550" cy="26988"/>
            </a:xfrm>
            <a:custGeom>
              <a:avLst/>
              <a:gdLst/>
              <a:ahLst/>
              <a:cxnLst/>
              <a:rect l="l" t="t" r="r" b="b"/>
              <a:pathLst>
                <a:path w="37" h="12" extrusionOk="0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3913188" y="1322388"/>
              <a:ext cx="107950" cy="34925"/>
            </a:xfrm>
            <a:custGeom>
              <a:avLst/>
              <a:gdLst/>
              <a:ahLst/>
              <a:cxnLst/>
              <a:rect l="l" t="t" r="r" b="b"/>
              <a:pathLst>
                <a:path w="48" h="16" extrusionOk="0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3941763" y="1389063"/>
              <a:ext cx="47625" cy="26988"/>
            </a:xfrm>
            <a:custGeom>
              <a:avLst/>
              <a:gdLst/>
              <a:ahLst/>
              <a:cxnLst/>
              <a:rect l="l" t="t" r="r" b="b"/>
              <a:pathLst>
                <a:path w="21" h="12" extrusionOk="0">
                  <a:moveTo>
                    <a:pt x="21" y="6"/>
                  </a:moveTo>
                  <a:cubicBezTo>
                    <a:pt x="21" y="9"/>
                    <a:pt x="19" y="12"/>
                    <a:pt x="15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1" y="3"/>
                    <a:pt x="21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3924300" y="1360488"/>
              <a:ext cx="82550" cy="26988"/>
            </a:xfrm>
            <a:custGeom>
              <a:avLst/>
              <a:gdLst/>
              <a:ahLst/>
              <a:cxnLst/>
              <a:rect l="l" t="t" r="r" b="b"/>
              <a:pathLst>
                <a:path w="37" h="12" extrusionOk="0">
                  <a:moveTo>
                    <a:pt x="37" y="6"/>
                  </a:moveTo>
                  <a:cubicBezTo>
                    <a:pt x="37" y="9"/>
                    <a:pt x="35" y="12"/>
                    <a:pt x="3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3"/>
                    <a:pt x="37" y="6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3913188" y="1322388"/>
              <a:ext cx="107950" cy="34925"/>
            </a:xfrm>
            <a:custGeom>
              <a:avLst/>
              <a:gdLst/>
              <a:ahLst/>
              <a:cxnLst/>
              <a:rect l="l" t="t" r="r" b="b"/>
              <a:pathLst>
                <a:path w="48" h="16" extrusionOk="0">
                  <a:moveTo>
                    <a:pt x="48" y="8"/>
                  </a:moveTo>
                  <a:cubicBezTo>
                    <a:pt x="48" y="12"/>
                    <a:pt x="44" y="16"/>
                    <a:pt x="40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3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8" y="4"/>
                    <a:pt x="48" y="8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3956050" y="938213"/>
              <a:ext cx="19050" cy="46038"/>
            </a:xfrm>
            <a:prstGeom prst="rect">
              <a:avLst/>
            </a:pr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4060825" y="984250"/>
              <a:ext cx="46038" cy="47625"/>
            </a:xfrm>
            <a:custGeom>
              <a:avLst/>
              <a:gdLst/>
              <a:ahLst/>
              <a:cxnLst/>
              <a:rect l="l" t="t" r="r" b="b"/>
              <a:pathLst>
                <a:path w="29" h="30" extrusionOk="0">
                  <a:moveTo>
                    <a:pt x="9" y="30"/>
                  </a:moveTo>
                  <a:lnTo>
                    <a:pt x="0" y="22"/>
                  </a:lnTo>
                  <a:lnTo>
                    <a:pt x="20" y="0"/>
                  </a:lnTo>
                  <a:lnTo>
                    <a:pt x="29" y="9"/>
                  </a:lnTo>
                  <a:lnTo>
                    <a:pt x="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4114800" y="1112838"/>
              <a:ext cx="47625" cy="22225"/>
            </a:xfrm>
            <a:custGeom>
              <a:avLst/>
              <a:gdLst/>
              <a:ahLst/>
              <a:cxnLst/>
              <a:rect l="l" t="t" r="r" b="b"/>
              <a:pathLst>
                <a:path w="30" h="14" extrusionOk="0">
                  <a:moveTo>
                    <a:pt x="0" y="14"/>
                  </a:moveTo>
                  <a:lnTo>
                    <a:pt x="0" y="1"/>
                  </a:lnTo>
                  <a:lnTo>
                    <a:pt x="30" y="0"/>
                  </a:lnTo>
                  <a:lnTo>
                    <a:pt x="30" y="11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4075113" y="1222375"/>
              <a:ext cx="49213" cy="46038"/>
            </a:xfrm>
            <a:custGeom>
              <a:avLst/>
              <a:gdLst/>
              <a:ahLst/>
              <a:cxnLst/>
              <a:rect l="l" t="t" r="r" b="b"/>
              <a:pathLst>
                <a:path w="31" h="29" extrusionOk="0">
                  <a:moveTo>
                    <a:pt x="0" y="10"/>
                  </a:moveTo>
                  <a:lnTo>
                    <a:pt x="8" y="0"/>
                  </a:lnTo>
                  <a:lnTo>
                    <a:pt x="31" y="19"/>
                  </a:lnTo>
                  <a:lnTo>
                    <a:pt x="24" y="2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3825875" y="982663"/>
              <a:ext cx="44450" cy="47625"/>
            </a:xfrm>
            <a:custGeom>
              <a:avLst/>
              <a:gdLst/>
              <a:ahLst/>
              <a:cxnLst/>
              <a:rect l="l" t="t" r="r" b="b"/>
              <a:pathLst>
                <a:path w="28" h="30" extrusionOk="0">
                  <a:moveTo>
                    <a:pt x="19" y="30"/>
                  </a:moveTo>
                  <a:lnTo>
                    <a:pt x="28" y="21"/>
                  </a:lnTo>
                  <a:lnTo>
                    <a:pt x="8" y="0"/>
                  </a:lnTo>
                  <a:lnTo>
                    <a:pt x="0" y="8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3768725" y="1111250"/>
              <a:ext cx="49213" cy="22225"/>
            </a:xfrm>
            <a:custGeom>
              <a:avLst/>
              <a:gdLst/>
              <a:ahLst/>
              <a:cxnLst/>
              <a:rect l="l" t="t" r="r" b="b"/>
              <a:pathLst>
                <a:path w="31" h="14" extrusionOk="0">
                  <a:moveTo>
                    <a:pt x="30" y="14"/>
                  </a:moveTo>
                  <a:lnTo>
                    <a:pt x="31" y="1"/>
                  </a:lnTo>
                  <a:lnTo>
                    <a:pt x="2" y="0"/>
                  </a:lnTo>
                  <a:lnTo>
                    <a:pt x="0" y="11"/>
                  </a:lnTo>
                  <a:lnTo>
                    <a:pt x="30" y="14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3806825" y="1220788"/>
              <a:ext cx="49213" cy="44450"/>
            </a:xfrm>
            <a:custGeom>
              <a:avLst/>
              <a:gdLst/>
              <a:ahLst/>
              <a:cxnLst/>
              <a:rect l="l" t="t" r="r" b="b"/>
              <a:pathLst>
                <a:path w="31" h="28" extrusionOk="0">
                  <a:moveTo>
                    <a:pt x="31" y="10"/>
                  </a:moveTo>
                  <a:lnTo>
                    <a:pt x="24" y="0"/>
                  </a:lnTo>
                  <a:lnTo>
                    <a:pt x="0" y="18"/>
                  </a:lnTo>
                  <a:lnTo>
                    <a:pt x="9" y="28"/>
                  </a:lnTo>
                  <a:lnTo>
                    <a:pt x="31" y="10"/>
                  </a:ln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3975100" y="1179513"/>
              <a:ext cx="15875" cy="30163"/>
            </a:xfrm>
            <a:custGeom>
              <a:avLst/>
              <a:gdLst/>
              <a:ahLst/>
              <a:cxnLst/>
              <a:rect l="l" t="t" r="r" b="b"/>
              <a:pathLst>
                <a:path w="7" h="13" extrusionOk="0">
                  <a:moveTo>
                    <a:pt x="3" y="1"/>
                  </a:moveTo>
                  <a:cubicBezTo>
                    <a:pt x="3" y="1"/>
                    <a:pt x="2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5" y="13"/>
                    <a:pt x="7" y="10"/>
                    <a:pt x="7" y="6"/>
                  </a:cubicBezTo>
                  <a:cubicBezTo>
                    <a:pt x="7" y="4"/>
                    <a:pt x="6" y="2"/>
                    <a:pt x="3" y="1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3944938" y="1128713"/>
              <a:ext cx="12700" cy="23813"/>
            </a:xfrm>
            <a:custGeom>
              <a:avLst/>
              <a:gdLst/>
              <a:ahLst/>
              <a:cxnLst/>
              <a:rect l="l" t="t" r="r" b="b"/>
              <a:pathLst>
                <a:path w="6" h="11" extrusionOk="0">
                  <a:moveTo>
                    <a:pt x="0" y="5"/>
                  </a:moveTo>
                  <a:cubicBezTo>
                    <a:pt x="0" y="8"/>
                    <a:pt x="2" y="10"/>
                    <a:pt x="6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3843338" y="1006475"/>
              <a:ext cx="244475" cy="290513"/>
            </a:xfrm>
            <a:custGeom>
              <a:avLst/>
              <a:gdLst/>
              <a:ahLst/>
              <a:cxnLst/>
              <a:rect l="l" t="t" r="r" b="b"/>
              <a:pathLst>
                <a:path w="109" h="129" extrusionOk="0">
                  <a:moveTo>
                    <a:pt x="55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67"/>
                    <a:pt x="5" y="78"/>
                    <a:pt x="12" y="87"/>
                  </a:cubicBezTo>
                  <a:cubicBezTo>
                    <a:pt x="16" y="93"/>
                    <a:pt x="30" y="115"/>
                    <a:pt x="32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65" y="129"/>
                    <a:pt x="65" y="129"/>
                    <a:pt x="65" y="129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77" y="129"/>
                    <a:pt x="77" y="129"/>
                    <a:pt x="77" y="129"/>
                  </a:cubicBezTo>
                  <a:cubicBezTo>
                    <a:pt x="79" y="115"/>
                    <a:pt x="93" y="93"/>
                    <a:pt x="97" y="87"/>
                  </a:cubicBezTo>
                  <a:cubicBezTo>
                    <a:pt x="105" y="78"/>
                    <a:pt x="109" y="67"/>
                    <a:pt x="109" y="54"/>
                  </a:cubicBezTo>
                  <a:cubicBezTo>
                    <a:pt x="109" y="24"/>
                    <a:pt x="85" y="0"/>
                    <a:pt x="55" y="0"/>
                  </a:cubicBezTo>
                  <a:close/>
                  <a:moveTo>
                    <a:pt x="69" y="95"/>
                  </a:moveTo>
                  <a:cubicBezTo>
                    <a:pt x="66" y="97"/>
                    <a:pt x="63" y="98"/>
                    <a:pt x="59" y="98"/>
                  </a:cubicBezTo>
                  <a:cubicBezTo>
                    <a:pt x="59" y="110"/>
                    <a:pt x="59" y="110"/>
                    <a:pt x="59" y="110"/>
                  </a:cubicBezTo>
                  <a:cubicBezTo>
                    <a:pt x="51" y="110"/>
                    <a:pt x="51" y="110"/>
                    <a:pt x="51" y="110"/>
                  </a:cubicBezTo>
                  <a:cubicBezTo>
                    <a:pt x="51" y="98"/>
                    <a:pt x="51" y="98"/>
                    <a:pt x="51" y="98"/>
                  </a:cubicBezTo>
                  <a:cubicBezTo>
                    <a:pt x="46" y="98"/>
                    <a:pt x="43" y="96"/>
                    <a:pt x="40" y="94"/>
                  </a:cubicBezTo>
                  <a:cubicBezTo>
                    <a:pt x="36" y="91"/>
                    <a:pt x="34" y="86"/>
                    <a:pt x="34" y="80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3" y="85"/>
                    <a:pt x="46" y="89"/>
                    <a:pt x="51" y="90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74"/>
                    <a:pt x="48" y="74"/>
                    <a:pt x="47" y="74"/>
                  </a:cubicBezTo>
                  <a:cubicBezTo>
                    <a:pt x="39" y="72"/>
                    <a:pt x="36" y="67"/>
                    <a:pt x="36" y="61"/>
                  </a:cubicBezTo>
                  <a:cubicBezTo>
                    <a:pt x="36" y="56"/>
                    <a:pt x="37" y="52"/>
                    <a:pt x="41" y="49"/>
                  </a:cubicBezTo>
                  <a:cubicBezTo>
                    <a:pt x="44" y="47"/>
                    <a:pt x="47" y="46"/>
                    <a:pt x="51" y="46"/>
                  </a:cubicBezTo>
                  <a:cubicBezTo>
                    <a:pt x="51" y="33"/>
                    <a:pt x="51" y="33"/>
                    <a:pt x="51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2" y="46"/>
                    <a:pt x="66" y="48"/>
                    <a:pt x="68" y="50"/>
                  </a:cubicBezTo>
                  <a:cubicBezTo>
                    <a:pt x="72" y="53"/>
                    <a:pt x="74" y="57"/>
                    <a:pt x="74" y="62"/>
                  </a:cubicBezTo>
                  <a:cubicBezTo>
                    <a:pt x="65" y="62"/>
                    <a:pt x="65" y="62"/>
                    <a:pt x="65" y="62"/>
                  </a:cubicBezTo>
                  <a:cubicBezTo>
                    <a:pt x="64" y="58"/>
                    <a:pt x="62" y="55"/>
                    <a:pt x="59" y="54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61" y="68"/>
                    <a:pt x="63" y="69"/>
                    <a:pt x="66" y="69"/>
                  </a:cubicBezTo>
                  <a:cubicBezTo>
                    <a:pt x="69" y="70"/>
                    <a:pt x="71" y="72"/>
                    <a:pt x="73" y="75"/>
                  </a:cubicBezTo>
                  <a:cubicBezTo>
                    <a:pt x="75" y="77"/>
                    <a:pt x="76" y="80"/>
                    <a:pt x="76" y="82"/>
                  </a:cubicBezTo>
                  <a:cubicBezTo>
                    <a:pt x="76" y="88"/>
                    <a:pt x="74" y="92"/>
                    <a:pt x="69" y="95"/>
                  </a:cubicBezTo>
                  <a:close/>
                  <a:moveTo>
                    <a:pt x="55" y="19"/>
                  </a:moveTo>
                  <a:cubicBezTo>
                    <a:pt x="41" y="19"/>
                    <a:pt x="27" y="21"/>
                    <a:pt x="17" y="24"/>
                  </a:cubicBezTo>
                  <a:cubicBezTo>
                    <a:pt x="25" y="12"/>
                    <a:pt x="39" y="4"/>
                    <a:pt x="55" y="4"/>
                  </a:cubicBezTo>
                  <a:cubicBezTo>
                    <a:pt x="71" y="4"/>
                    <a:pt x="85" y="12"/>
                    <a:pt x="93" y="24"/>
                  </a:cubicBezTo>
                  <a:cubicBezTo>
                    <a:pt x="82" y="21"/>
                    <a:pt x="69" y="19"/>
                    <a:pt x="55" y="19"/>
                  </a:cubicBezTo>
                  <a:close/>
                </a:path>
              </a:pathLst>
            </a:custGeom>
            <a:solidFill>
              <a:srgbClr val="5C9AD3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17"/>
          <p:cNvSpPr txBox="1"/>
          <p:nvPr/>
        </p:nvSpPr>
        <p:spPr>
          <a:xfrm>
            <a:off x="6748463" y="1879600"/>
            <a:ext cx="979487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564313" y="2955925"/>
            <a:ext cx="979487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6338888" y="4049713"/>
            <a:ext cx="981075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6015038" y="5106988"/>
            <a:ext cx="981075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5724525" y="6197600"/>
            <a:ext cx="979488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571500" y="571500"/>
            <a:ext cx="307181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Plan de la séance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7"/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/>
          <p:nvPr/>
        </p:nvSpPr>
        <p:spPr>
          <a:xfrm rot="2695926">
            <a:off x="3336925" y="4092575"/>
            <a:ext cx="1579563" cy="2103438"/>
          </a:xfrm>
          <a:prstGeom prst="roundRect">
            <a:avLst>
              <a:gd name="adj" fmla="val 16667"/>
            </a:avLst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 rot="2695926">
            <a:off x="4957763" y="5340350"/>
            <a:ext cx="1581150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658842"/>
                </a:lnTo>
                <a:lnTo>
                  <a:pt x="659127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2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4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 rot="2695926">
            <a:off x="1716088" y="5340350"/>
            <a:ext cx="1579562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658841"/>
                </a:lnTo>
                <a:lnTo>
                  <a:pt x="659126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1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5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 rot="2695926">
            <a:off x="7083425" y="4829175"/>
            <a:ext cx="1581150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099" y="39234"/>
                  <a:pt x="253731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1380981"/>
                </a:lnTo>
                <a:lnTo>
                  <a:pt x="1382979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2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6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 rot="2695926">
            <a:off x="-401638" y="4838700"/>
            <a:ext cx="1581151" cy="2101850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1375089"/>
                </a:lnTo>
                <a:lnTo>
                  <a:pt x="1377074" y="2103120"/>
                </a:lnTo>
                <a:lnTo>
                  <a:pt x="1369720" y="2103120"/>
                </a:lnTo>
                <a:lnTo>
                  <a:pt x="0" y="730150"/>
                </a:lnTo>
                <a:lnTo>
                  <a:pt x="0" y="350527"/>
                </a:lnTo>
                <a:cubicBezTo>
                  <a:pt x="0" y="253731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7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 rot="2695926">
            <a:off x="8718550" y="4367213"/>
            <a:ext cx="617538" cy="820737"/>
          </a:xfrm>
          <a:custGeom>
            <a:avLst/>
            <a:gdLst/>
            <a:ahLst/>
            <a:cxnLst/>
            <a:rect l="l" t="t" r="r" b="b"/>
            <a:pathLst>
              <a:path w="822960" h="821509" extrusionOk="0">
                <a:moveTo>
                  <a:pt x="40103" y="40103"/>
                </a:moveTo>
                <a:cubicBezTo>
                  <a:pt x="64881" y="15326"/>
                  <a:pt x="99111" y="0"/>
                  <a:pt x="136921" y="0"/>
                </a:cubicBezTo>
                <a:lnTo>
                  <a:pt x="233313" y="0"/>
                </a:lnTo>
                <a:lnTo>
                  <a:pt x="822960" y="591047"/>
                </a:lnTo>
                <a:lnTo>
                  <a:pt x="822960" y="684588"/>
                </a:lnTo>
                <a:cubicBezTo>
                  <a:pt x="822960" y="760207"/>
                  <a:pt x="761658" y="821509"/>
                  <a:pt x="686039" y="821509"/>
                </a:cubicBezTo>
                <a:lnTo>
                  <a:pt x="136921" y="821509"/>
                </a:lnTo>
                <a:cubicBezTo>
                  <a:pt x="61302" y="821509"/>
                  <a:pt x="0" y="760207"/>
                  <a:pt x="0" y="684588"/>
                </a:cubicBezTo>
                <a:lnTo>
                  <a:pt x="0" y="136921"/>
                </a:lnTo>
                <a:cubicBezTo>
                  <a:pt x="0" y="99111"/>
                  <a:pt x="15326" y="64882"/>
                  <a:pt x="40103" y="40103"/>
                </a:cubicBezTo>
                <a:close/>
              </a:path>
            </a:pathLst>
          </a:custGeom>
          <a:solidFill>
            <a:srgbClr val="FF2B2A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1857356" y="185736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500034" y="500042"/>
            <a:ext cx="5643563" cy="862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Finalités  de l’entreprise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31" name="Google Shape;231;p18"/>
          <p:cNvGrpSpPr/>
          <p:nvPr/>
        </p:nvGrpSpPr>
        <p:grpSpPr>
          <a:xfrm>
            <a:off x="1643042" y="1500174"/>
            <a:ext cx="5072066" cy="1387797"/>
            <a:chOff x="6414487" y="1849045"/>
            <a:chExt cx="4988526" cy="925494"/>
          </a:xfrm>
        </p:grpSpPr>
        <p:sp>
          <p:nvSpPr>
            <p:cNvPr id="232" name="Google Shape;232;p18"/>
            <p:cNvSpPr txBox="1"/>
            <p:nvPr/>
          </p:nvSpPr>
          <p:spPr>
            <a:xfrm>
              <a:off x="6414487" y="1849045"/>
              <a:ext cx="2226673" cy="38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17365D"/>
                  </a:solidFill>
                  <a:latin typeface="Candara"/>
                  <a:ea typeface="Candara"/>
                  <a:cs typeface="Candara"/>
                  <a:sym typeface="Candara"/>
                </a:rPr>
                <a:t>Activité :</a:t>
              </a:r>
              <a:endParaRPr sz="32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6414490" y="2343514"/>
              <a:ext cx="4988523" cy="43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17365D"/>
                  </a:solidFill>
                  <a:latin typeface="Candara"/>
                  <a:ea typeface="Candara"/>
                  <a:cs typeface="Candara"/>
                  <a:sym typeface="Candara"/>
                </a:rPr>
                <a:t>Texte à trous   </a:t>
              </a:r>
              <a:endParaRPr/>
            </a:p>
          </p:txBody>
        </p:sp>
      </p:grpSp>
      <p:pic>
        <p:nvPicPr>
          <p:cNvPr id="234" name="Google Shape;234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/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2" b="41"/>
          <a:stretch/>
        </p:blipFill>
        <p:spPr>
          <a:xfrm>
            <a:off x="785786" y="135729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FF2B2A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2" name="Google Shape;242;p19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42" b="41"/>
          <a:stretch/>
        </p:blipFill>
        <p:spPr>
          <a:xfrm>
            <a:off x="2786050" y="278605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85C40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3" name="Google Shape;243;p19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t="42" b="41"/>
          <a:stretch/>
        </p:blipFill>
        <p:spPr>
          <a:xfrm>
            <a:off x="4572000" y="100010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3EB8C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4" name="Google Shape;244;p19"/>
          <p:cNvPicPr preferRelativeResize="0">
            <a:picLocks noGrp="1"/>
          </p:cNvPicPr>
          <p:nvPr>
            <p:ph type="pic" idx="5"/>
          </p:nvPr>
        </p:nvPicPr>
        <p:blipFill rotWithShape="1">
          <a:blip r:embed="rId6">
            <a:alphaModFix/>
          </a:blip>
          <a:srcRect t="42" b="41"/>
          <a:stretch/>
        </p:blipFill>
        <p:spPr>
          <a:xfrm>
            <a:off x="7000892" y="2500306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FFA80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5" name="Google Shape;245;p19"/>
          <p:cNvSpPr txBox="1"/>
          <p:nvPr/>
        </p:nvSpPr>
        <p:spPr>
          <a:xfrm>
            <a:off x="857224" y="3500438"/>
            <a:ext cx="150019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Répartissez vous  en équipes de 5 à 6 étudiants 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1785918" y="1071546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3071802" y="4857760"/>
            <a:ext cx="100944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Vous disposez de 10 minutes 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357554" y="2285992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6324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4500562" y="3143248"/>
            <a:ext cx="228601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Lisez le texte et remplissez les trous blancs 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643570" y="857232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7692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7000892" y="4429132"/>
            <a:ext cx="1773234" cy="36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Nommez un rapporteur par équipe pour  présenter  les définitions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7786710" y="2071678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5F49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500034" y="214290"/>
            <a:ext cx="564357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Les régles du jeu </a:t>
            </a:r>
            <a:endParaRPr sz="3200" b="1">
              <a:solidFill>
                <a:srgbClr val="FF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254" name="Google Shape;254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/>
          <p:nvPr/>
        </p:nvSpPr>
        <p:spPr>
          <a:xfrm rot="5400000">
            <a:off x="-31494" y="31722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642910" y="4429132"/>
            <a:ext cx="7143800" cy="19288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857224" y="4929198"/>
            <a:ext cx="6000792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Quelle est la raison d’être d’une entreprise ?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Qu’est ce qu’une finalité  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Pourquoi la finalité s’impose aux entreprises ?   </a:t>
            </a:r>
            <a:endParaRPr sz="1600" b="1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endParaRPr sz="1600" b="1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64" name="Google Shape;264;p20"/>
          <p:cNvSpPr/>
          <p:nvPr/>
        </p:nvSpPr>
        <p:spPr>
          <a:xfrm rot="5400000">
            <a:off x="5322082" y="3107546"/>
            <a:ext cx="1571637" cy="1357290"/>
          </a:xfrm>
          <a:custGeom>
            <a:avLst/>
            <a:gdLst/>
            <a:ahLst/>
            <a:cxnLst/>
            <a:rect l="l" t="t" r="r" b="b"/>
            <a:pathLst>
              <a:path w="1212842" h="1741343" extrusionOk="0">
                <a:moveTo>
                  <a:pt x="0" y="1306008"/>
                </a:moveTo>
                <a:lnTo>
                  <a:pt x="351992" y="870670"/>
                </a:lnTo>
                <a:lnTo>
                  <a:pt x="3" y="435336"/>
                </a:lnTo>
                <a:lnTo>
                  <a:pt x="508860" y="435336"/>
                </a:lnTo>
                <a:lnTo>
                  <a:pt x="508860" y="0"/>
                </a:lnTo>
                <a:lnTo>
                  <a:pt x="1212842" y="870672"/>
                </a:lnTo>
                <a:lnTo>
                  <a:pt x="508860" y="1741343"/>
                </a:lnTo>
                <a:lnTo>
                  <a:pt x="508860" y="1306008"/>
                </a:lnTo>
                <a:close/>
              </a:path>
            </a:pathLst>
          </a:custGeom>
          <a:solidFill>
            <a:srgbClr val="00B0F0"/>
          </a:solidFill>
          <a:ln w="9525" cap="flat" cmpd="sng">
            <a:solidFill>
              <a:schemeClr val="lt1">
                <a:alpha val="74901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" name="Google Shape;265;p20"/>
          <p:cNvGrpSpPr/>
          <p:nvPr/>
        </p:nvGrpSpPr>
        <p:grpSpPr>
          <a:xfrm>
            <a:off x="857224" y="4643446"/>
            <a:ext cx="274320" cy="305412"/>
            <a:chOff x="5824538" y="3263900"/>
            <a:chExt cx="3636963" cy="3036887"/>
          </a:xfrm>
        </p:grpSpPr>
        <p:sp>
          <p:nvSpPr>
            <p:cNvPr id="266" name="Google Shape;266;p20"/>
            <p:cNvSpPr/>
            <p:nvPr/>
          </p:nvSpPr>
          <p:spPr>
            <a:xfrm>
              <a:off x="7146926" y="3263900"/>
              <a:ext cx="2314575" cy="2311400"/>
            </a:xfrm>
            <a:custGeom>
              <a:avLst/>
              <a:gdLst/>
              <a:ahLst/>
              <a:cxnLst/>
              <a:rect l="l" t="t" r="r" b="b"/>
              <a:pathLst>
                <a:path w="2916" h="2912" extrusionOk="0">
                  <a:moveTo>
                    <a:pt x="244" y="0"/>
                  </a:moveTo>
                  <a:lnTo>
                    <a:pt x="2672" y="0"/>
                  </a:lnTo>
                  <a:lnTo>
                    <a:pt x="2716" y="5"/>
                  </a:lnTo>
                  <a:lnTo>
                    <a:pt x="2757" y="16"/>
                  </a:lnTo>
                  <a:lnTo>
                    <a:pt x="2796" y="33"/>
                  </a:lnTo>
                  <a:lnTo>
                    <a:pt x="2830" y="57"/>
                  </a:lnTo>
                  <a:lnTo>
                    <a:pt x="2858" y="87"/>
                  </a:lnTo>
                  <a:lnTo>
                    <a:pt x="2882" y="121"/>
                  </a:lnTo>
                  <a:lnTo>
                    <a:pt x="2901" y="159"/>
                  </a:lnTo>
                  <a:lnTo>
                    <a:pt x="2912" y="199"/>
                  </a:lnTo>
                  <a:lnTo>
                    <a:pt x="2916" y="243"/>
                  </a:lnTo>
                  <a:lnTo>
                    <a:pt x="2916" y="2184"/>
                  </a:lnTo>
                  <a:lnTo>
                    <a:pt x="2912" y="2220"/>
                  </a:lnTo>
                  <a:lnTo>
                    <a:pt x="2902" y="2254"/>
                  </a:lnTo>
                  <a:lnTo>
                    <a:pt x="2885" y="2286"/>
                  </a:lnTo>
                  <a:lnTo>
                    <a:pt x="2862" y="2312"/>
                  </a:lnTo>
                  <a:lnTo>
                    <a:pt x="2835" y="2335"/>
                  </a:lnTo>
                  <a:lnTo>
                    <a:pt x="2804" y="2352"/>
                  </a:lnTo>
                  <a:lnTo>
                    <a:pt x="2770" y="2362"/>
                  </a:lnTo>
                  <a:lnTo>
                    <a:pt x="2733" y="2366"/>
                  </a:lnTo>
                  <a:lnTo>
                    <a:pt x="1847" y="2366"/>
                  </a:lnTo>
                  <a:lnTo>
                    <a:pt x="2020" y="2800"/>
                  </a:lnTo>
                  <a:lnTo>
                    <a:pt x="2027" y="2825"/>
                  </a:lnTo>
                  <a:lnTo>
                    <a:pt x="2028" y="2849"/>
                  </a:lnTo>
                  <a:lnTo>
                    <a:pt x="2023" y="2869"/>
                  </a:lnTo>
                  <a:lnTo>
                    <a:pt x="2010" y="2888"/>
                  </a:lnTo>
                  <a:lnTo>
                    <a:pt x="1993" y="2900"/>
                  </a:lnTo>
                  <a:lnTo>
                    <a:pt x="1970" y="2909"/>
                  </a:lnTo>
                  <a:lnTo>
                    <a:pt x="1943" y="2912"/>
                  </a:lnTo>
                  <a:lnTo>
                    <a:pt x="1417" y="2912"/>
                  </a:lnTo>
                  <a:lnTo>
                    <a:pt x="1417" y="1113"/>
                  </a:lnTo>
                  <a:lnTo>
                    <a:pt x="1414" y="1062"/>
                  </a:lnTo>
                  <a:lnTo>
                    <a:pt x="1403" y="1012"/>
                  </a:lnTo>
                  <a:lnTo>
                    <a:pt x="1385" y="967"/>
                  </a:lnTo>
                  <a:lnTo>
                    <a:pt x="1362" y="923"/>
                  </a:lnTo>
                  <a:lnTo>
                    <a:pt x="1332" y="884"/>
                  </a:lnTo>
                  <a:lnTo>
                    <a:pt x="1298" y="850"/>
                  </a:lnTo>
                  <a:lnTo>
                    <a:pt x="1258" y="821"/>
                  </a:lnTo>
                  <a:lnTo>
                    <a:pt x="1216" y="797"/>
                  </a:lnTo>
                  <a:lnTo>
                    <a:pt x="1169" y="780"/>
                  </a:lnTo>
                  <a:lnTo>
                    <a:pt x="1121" y="768"/>
                  </a:lnTo>
                  <a:lnTo>
                    <a:pt x="1070" y="764"/>
                  </a:lnTo>
                  <a:lnTo>
                    <a:pt x="0" y="764"/>
                  </a:lnTo>
                  <a:lnTo>
                    <a:pt x="0" y="243"/>
                  </a:lnTo>
                  <a:lnTo>
                    <a:pt x="5" y="199"/>
                  </a:lnTo>
                  <a:lnTo>
                    <a:pt x="16" y="159"/>
                  </a:lnTo>
                  <a:lnTo>
                    <a:pt x="34" y="121"/>
                  </a:lnTo>
                  <a:lnTo>
                    <a:pt x="59" y="87"/>
                  </a:lnTo>
                  <a:lnTo>
                    <a:pt x="87" y="57"/>
                  </a:lnTo>
                  <a:lnTo>
                    <a:pt x="121" y="33"/>
                  </a:lnTo>
                  <a:lnTo>
                    <a:pt x="159" y="16"/>
                  </a:lnTo>
                  <a:lnTo>
                    <a:pt x="200" y="5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5824538" y="3990975"/>
              <a:ext cx="2312988" cy="2309812"/>
            </a:xfrm>
            <a:custGeom>
              <a:avLst/>
              <a:gdLst/>
              <a:ahLst/>
              <a:cxnLst/>
              <a:rect l="l" t="t" r="r" b="b"/>
              <a:pathLst>
                <a:path w="2914" h="2911" extrusionOk="0">
                  <a:moveTo>
                    <a:pt x="1458" y="1952"/>
                  </a:moveTo>
                  <a:lnTo>
                    <a:pt x="1428" y="1955"/>
                  </a:lnTo>
                  <a:lnTo>
                    <a:pt x="1401" y="1965"/>
                  </a:lnTo>
                  <a:lnTo>
                    <a:pt x="1377" y="1980"/>
                  </a:lnTo>
                  <a:lnTo>
                    <a:pt x="1357" y="2000"/>
                  </a:lnTo>
                  <a:lnTo>
                    <a:pt x="1342" y="2024"/>
                  </a:lnTo>
                  <a:lnTo>
                    <a:pt x="1332" y="2051"/>
                  </a:lnTo>
                  <a:lnTo>
                    <a:pt x="1329" y="2081"/>
                  </a:lnTo>
                  <a:lnTo>
                    <a:pt x="1332" y="2110"/>
                  </a:lnTo>
                  <a:lnTo>
                    <a:pt x="1342" y="2137"/>
                  </a:lnTo>
                  <a:lnTo>
                    <a:pt x="1357" y="2161"/>
                  </a:lnTo>
                  <a:lnTo>
                    <a:pt x="1377" y="2181"/>
                  </a:lnTo>
                  <a:lnTo>
                    <a:pt x="1401" y="2195"/>
                  </a:lnTo>
                  <a:lnTo>
                    <a:pt x="1428" y="2205"/>
                  </a:lnTo>
                  <a:lnTo>
                    <a:pt x="1458" y="2210"/>
                  </a:lnTo>
                  <a:lnTo>
                    <a:pt x="1486" y="2205"/>
                  </a:lnTo>
                  <a:lnTo>
                    <a:pt x="1515" y="2195"/>
                  </a:lnTo>
                  <a:lnTo>
                    <a:pt x="1537" y="2181"/>
                  </a:lnTo>
                  <a:lnTo>
                    <a:pt x="1557" y="2161"/>
                  </a:lnTo>
                  <a:lnTo>
                    <a:pt x="1573" y="2137"/>
                  </a:lnTo>
                  <a:lnTo>
                    <a:pt x="1583" y="2110"/>
                  </a:lnTo>
                  <a:lnTo>
                    <a:pt x="1586" y="2081"/>
                  </a:lnTo>
                  <a:lnTo>
                    <a:pt x="1583" y="2051"/>
                  </a:lnTo>
                  <a:lnTo>
                    <a:pt x="1573" y="2024"/>
                  </a:lnTo>
                  <a:lnTo>
                    <a:pt x="1557" y="2000"/>
                  </a:lnTo>
                  <a:lnTo>
                    <a:pt x="1537" y="1980"/>
                  </a:lnTo>
                  <a:lnTo>
                    <a:pt x="1515" y="1965"/>
                  </a:lnTo>
                  <a:lnTo>
                    <a:pt x="1486" y="1955"/>
                  </a:lnTo>
                  <a:lnTo>
                    <a:pt x="1458" y="1952"/>
                  </a:lnTo>
                  <a:close/>
                  <a:moveTo>
                    <a:pt x="349" y="347"/>
                  </a:moveTo>
                  <a:lnTo>
                    <a:pt x="349" y="1758"/>
                  </a:lnTo>
                  <a:lnTo>
                    <a:pt x="2565" y="1758"/>
                  </a:lnTo>
                  <a:lnTo>
                    <a:pt x="2565" y="347"/>
                  </a:lnTo>
                  <a:lnTo>
                    <a:pt x="349" y="347"/>
                  </a:lnTo>
                  <a:close/>
                  <a:moveTo>
                    <a:pt x="243" y="0"/>
                  </a:moveTo>
                  <a:lnTo>
                    <a:pt x="2672" y="0"/>
                  </a:lnTo>
                  <a:lnTo>
                    <a:pt x="2716" y="4"/>
                  </a:lnTo>
                  <a:lnTo>
                    <a:pt x="2757" y="15"/>
                  </a:lnTo>
                  <a:lnTo>
                    <a:pt x="2794" y="32"/>
                  </a:lnTo>
                  <a:lnTo>
                    <a:pt x="2828" y="56"/>
                  </a:lnTo>
                  <a:lnTo>
                    <a:pt x="2858" y="86"/>
                  </a:lnTo>
                  <a:lnTo>
                    <a:pt x="2882" y="120"/>
                  </a:lnTo>
                  <a:lnTo>
                    <a:pt x="2900" y="157"/>
                  </a:lnTo>
                  <a:lnTo>
                    <a:pt x="2912" y="198"/>
                  </a:lnTo>
                  <a:lnTo>
                    <a:pt x="2914" y="242"/>
                  </a:lnTo>
                  <a:lnTo>
                    <a:pt x="2914" y="2183"/>
                  </a:lnTo>
                  <a:lnTo>
                    <a:pt x="2912" y="2220"/>
                  </a:lnTo>
                  <a:lnTo>
                    <a:pt x="2900" y="2254"/>
                  </a:lnTo>
                  <a:lnTo>
                    <a:pt x="2883" y="2285"/>
                  </a:lnTo>
                  <a:lnTo>
                    <a:pt x="2862" y="2312"/>
                  </a:lnTo>
                  <a:lnTo>
                    <a:pt x="2835" y="2334"/>
                  </a:lnTo>
                  <a:lnTo>
                    <a:pt x="2804" y="2350"/>
                  </a:lnTo>
                  <a:lnTo>
                    <a:pt x="2770" y="2361"/>
                  </a:lnTo>
                  <a:lnTo>
                    <a:pt x="2733" y="2365"/>
                  </a:lnTo>
                  <a:lnTo>
                    <a:pt x="1846" y="2365"/>
                  </a:lnTo>
                  <a:lnTo>
                    <a:pt x="2019" y="2799"/>
                  </a:lnTo>
                  <a:lnTo>
                    <a:pt x="2027" y="2824"/>
                  </a:lnTo>
                  <a:lnTo>
                    <a:pt x="2027" y="2849"/>
                  </a:lnTo>
                  <a:lnTo>
                    <a:pt x="2021" y="2868"/>
                  </a:lnTo>
                  <a:lnTo>
                    <a:pt x="2010" y="2887"/>
                  </a:lnTo>
                  <a:lnTo>
                    <a:pt x="1993" y="2900"/>
                  </a:lnTo>
                  <a:lnTo>
                    <a:pt x="1970" y="2908"/>
                  </a:lnTo>
                  <a:lnTo>
                    <a:pt x="1943" y="2911"/>
                  </a:lnTo>
                  <a:lnTo>
                    <a:pt x="971" y="2911"/>
                  </a:lnTo>
                  <a:lnTo>
                    <a:pt x="945" y="2908"/>
                  </a:lnTo>
                  <a:lnTo>
                    <a:pt x="923" y="2900"/>
                  </a:lnTo>
                  <a:lnTo>
                    <a:pt x="905" y="2887"/>
                  </a:lnTo>
                  <a:lnTo>
                    <a:pt x="893" y="2868"/>
                  </a:lnTo>
                  <a:lnTo>
                    <a:pt x="888" y="2849"/>
                  </a:lnTo>
                  <a:lnTo>
                    <a:pt x="888" y="2824"/>
                  </a:lnTo>
                  <a:lnTo>
                    <a:pt x="895" y="2799"/>
                  </a:lnTo>
                  <a:lnTo>
                    <a:pt x="1069" y="2365"/>
                  </a:lnTo>
                  <a:lnTo>
                    <a:pt x="182" y="2365"/>
                  </a:lnTo>
                  <a:lnTo>
                    <a:pt x="145" y="2361"/>
                  </a:lnTo>
                  <a:lnTo>
                    <a:pt x="111" y="2350"/>
                  </a:lnTo>
                  <a:lnTo>
                    <a:pt x="81" y="2334"/>
                  </a:lnTo>
                  <a:lnTo>
                    <a:pt x="54" y="2312"/>
                  </a:lnTo>
                  <a:lnTo>
                    <a:pt x="31" y="2285"/>
                  </a:lnTo>
                  <a:lnTo>
                    <a:pt x="14" y="2254"/>
                  </a:lnTo>
                  <a:lnTo>
                    <a:pt x="4" y="2220"/>
                  </a:lnTo>
                  <a:lnTo>
                    <a:pt x="0" y="2183"/>
                  </a:lnTo>
                  <a:lnTo>
                    <a:pt x="0" y="242"/>
                  </a:lnTo>
                  <a:lnTo>
                    <a:pt x="4" y="198"/>
                  </a:lnTo>
                  <a:lnTo>
                    <a:pt x="16" y="157"/>
                  </a:lnTo>
                  <a:lnTo>
                    <a:pt x="33" y="120"/>
                  </a:lnTo>
                  <a:lnTo>
                    <a:pt x="57" y="86"/>
                  </a:lnTo>
                  <a:lnTo>
                    <a:pt x="87" y="56"/>
                  </a:lnTo>
                  <a:lnTo>
                    <a:pt x="121" y="32"/>
                  </a:lnTo>
                  <a:lnTo>
                    <a:pt x="157" y="15"/>
                  </a:lnTo>
                  <a:lnTo>
                    <a:pt x="199" y="4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20"/>
          <p:cNvGrpSpPr/>
          <p:nvPr/>
        </p:nvGrpSpPr>
        <p:grpSpPr>
          <a:xfrm rot="10800000">
            <a:off x="1357290" y="4714884"/>
            <a:ext cx="4325218" cy="51094"/>
            <a:chOff x="4908400" y="1972933"/>
            <a:chExt cx="6290664" cy="55734"/>
          </a:xfrm>
        </p:grpSpPr>
        <p:cxnSp>
          <p:nvCxnSpPr>
            <p:cNvPr id="269" name="Google Shape;269;p20"/>
            <p:cNvCxnSpPr/>
            <p:nvPr/>
          </p:nvCxnSpPr>
          <p:spPr>
            <a:xfrm>
              <a:off x="4908400" y="1996044"/>
              <a:ext cx="5884885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270" name="Google Shape;270;p20"/>
            <p:cNvSpPr/>
            <p:nvPr/>
          </p:nvSpPr>
          <p:spPr>
            <a:xfrm>
              <a:off x="10833304" y="1972933"/>
              <a:ext cx="365760" cy="55734"/>
            </a:xfrm>
            <a:custGeom>
              <a:avLst/>
              <a:gdLst/>
              <a:ahLst/>
              <a:cxnLst/>
              <a:rect l="l" t="t" r="r" b="b"/>
              <a:pathLst>
                <a:path w="1500187" h="228600" extrusionOk="0">
                  <a:moveTo>
                    <a:pt x="105727" y="0"/>
                  </a:moveTo>
                  <a:lnTo>
                    <a:pt x="114300" y="0"/>
                  </a:lnTo>
                  <a:lnTo>
                    <a:pt x="1385887" y="0"/>
                  </a:lnTo>
                  <a:cubicBezTo>
                    <a:pt x="1449013" y="0"/>
                    <a:pt x="1500187" y="51174"/>
                    <a:pt x="1500187" y="114300"/>
                  </a:cubicBezTo>
                  <a:cubicBezTo>
                    <a:pt x="1500187" y="177426"/>
                    <a:pt x="1449013" y="228600"/>
                    <a:pt x="1385887" y="228600"/>
                  </a:cubicBezTo>
                  <a:lnTo>
                    <a:pt x="114300" y="228600"/>
                  </a:lnTo>
                  <a:lnTo>
                    <a:pt x="105727" y="228600"/>
                  </a:lnTo>
                  <a:lnTo>
                    <a:pt x="105727" y="226869"/>
                  </a:lnTo>
                  <a:lnTo>
                    <a:pt x="69809" y="219618"/>
                  </a:lnTo>
                  <a:cubicBezTo>
                    <a:pt x="28785" y="202266"/>
                    <a:pt x="0" y="161645"/>
                    <a:pt x="0" y="114300"/>
                  </a:cubicBezTo>
                  <a:cubicBezTo>
                    <a:pt x="0" y="66956"/>
                    <a:pt x="28785" y="26334"/>
                    <a:pt x="69809" y="8982"/>
                  </a:cubicBezTo>
                  <a:lnTo>
                    <a:pt x="105727" y="1731"/>
                  </a:lnTo>
                  <a:close/>
                </a:path>
              </a:pathLst>
            </a:custGeom>
            <a:noFill/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1" name="Google Shape;271;p20" descr="Entreprise : Définition simple et facile du dictionnai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8662" y="642918"/>
            <a:ext cx="7286676" cy="2195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/>
          <p:nvPr/>
        </p:nvSpPr>
        <p:spPr>
          <a:xfrm rot="2695926">
            <a:off x="3336925" y="4092575"/>
            <a:ext cx="1579563" cy="2103438"/>
          </a:xfrm>
          <a:prstGeom prst="roundRect">
            <a:avLst>
              <a:gd name="adj" fmla="val 16667"/>
            </a:avLst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 rot="2695926">
            <a:off x="4957763" y="5340350"/>
            <a:ext cx="1581150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658842"/>
                </a:lnTo>
                <a:lnTo>
                  <a:pt x="659127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2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4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 rot="2695926">
            <a:off x="1716088" y="5340350"/>
            <a:ext cx="1579562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658841"/>
                </a:lnTo>
                <a:lnTo>
                  <a:pt x="659126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1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5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 rot="2695926">
            <a:off x="7083425" y="4829175"/>
            <a:ext cx="1581150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099" y="39234"/>
                  <a:pt x="253731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1380981"/>
                </a:lnTo>
                <a:lnTo>
                  <a:pt x="1382979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2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6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 rot="2695926">
            <a:off x="-401638" y="4838700"/>
            <a:ext cx="1581151" cy="2101850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1375089"/>
                </a:lnTo>
                <a:lnTo>
                  <a:pt x="1377074" y="2103120"/>
                </a:lnTo>
                <a:lnTo>
                  <a:pt x="1369720" y="2103120"/>
                </a:lnTo>
                <a:lnTo>
                  <a:pt x="0" y="730150"/>
                </a:lnTo>
                <a:lnTo>
                  <a:pt x="0" y="350527"/>
                </a:lnTo>
                <a:cubicBezTo>
                  <a:pt x="0" y="253731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7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 rot="2695926">
            <a:off x="1093788" y="3732213"/>
            <a:ext cx="822325" cy="1095375"/>
          </a:xfrm>
          <a:prstGeom prst="roundRect">
            <a:avLst>
              <a:gd name="adj" fmla="val 16667"/>
            </a:avLst>
          </a:prstGeom>
          <a:solidFill>
            <a:srgbClr val="FF2B2A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 rot="2695926">
            <a:off x="6773863" y="3629025"/>
            <a:ext cx="822325" cy="1095375"/>
          </a:xfrm>
          <a:prstGeom prst="roundRect">
            <a:avLst>
              <a:gd name="adj" fmla="val 16667"/>
            </a:avLst>
          </a:prstGeom>
          <a:solidFill>
            <a:srgbClr val="85C40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 rot="2695926">
            <a:off x="6196013" y="4562475"/>
            <a:ext cx="617537" cy="822325"/>
          </a:xfrm>
          <a:prstGeom prst="roundRect">
            <a:avLst>
              <a:gd name="adj" fmla="val 16667"/>
            </a:avLst>
          </a:prstGeom>
          <a:solidFill>
            <a:srgbClr val="3EB8CD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 rot="2695926">
            <a:off x="8718550" y="4367213"/>
            <a:ext cx="617538" cy="820737"/>
          </a:xfrm>
          <a:custGeom>
            <a:avLst/>
            <a:gdLst/>
            <a:ahLst/>
            <a:cxnLst/>
            <a:rect l="l" t="t" r="r" b="b"/>
            <a:pathLst>
              <a:path w="822960" h="821509" extrusionOk="0">
                <a:moveTo>
                  <a:pt x="40103" y="40103"/>
                </a:moveTo>
                <a:cubicBezTo>
                  <a:pt x="64881" y="15326"/>
                  <a:pt x="99111" y="0"/>
                  <a:pt x="136921" y="0"/>
                </a:cubicBezTo>
                <a:lnTo>
                  <a:pt x="233313" y="0"/>
                </a:lnTo>
                <a:lnTo>
                  <a:pt x="822960" y="591047"/>
                </a:lnTo>
                <a:lnTo>
                  <a:pt x="822960" y="684588"/>
                </a:lnTo>
                <a:cubicBezTo>
                  <a:pt x="822960" y="760207"/>
                  <a:pt x="761658" y="821509"/>
                  <a:pt x="686039" y="821509"/>
                </a:cubicBezTo>
                <a:lnTo>
                  <a:pt x="136921" y="821509"/>
                </a:lnTo>
                <a:cubicBezTo>
                  <a:pt x="61302" y="821509"/>
                  <a:pt x="0" y="760207"/>
                  <a:pt x="0" y="684588"/>
                </a:cubicBezTo>
                <a:lnTo>
                  <a:pt x="0" y="136921"/>
                </a:lnTo>
                <a:cubicBezTo>
                  <a:pt x="0" y="99111"/>
                  <a:pt x="15326" y="64882"/>
                  <a:pt x="40103" y="40103"/>
                </a:cubicBezTo>
                <a:close/>
              </a:path>
            </a:pathLst>
          </a:custGeom>
          <a:solidFill>
            <a:srgbClr val="FF2B2A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 rot="2695926">
            <a:off x="2747963" y="3835400"/>
            <a:ext cx="617537" cy="822325"/>
          </a:xfrm>
          <a:prstGeom prst="roundRect">
            <a:avLst>
              <a:gd name="adj" fmla="val 16667"/>
            </a:avLst>
          </a:prstGeom>
          <a:solidFill>
            <a:srgbClr val="3EB8CD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 rot="2695926">
            <a:off x="5106988" y="4132263"/>
            <a:ext cx="479425" cy="638175"/>
          </a:xfrm>
          <a:prstGeom prst="roundRect">
            <a:avLst>
              <a:gd name="adj" fmla="val 16667"/>
            </a:avLst>
          </a:prstGeom>
          <a:solidFill>
            <a:srgbClr val="01AA8D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 rot="2695926">
            <a:off x="1528763" y="5226050"/>
            <a:ext cx="342900" cy="455613"/>
          </a:xfrm>
          <a:prstGeom prst="roundRect">
            <a:avLst>
              <a:gd name="adj" fmla="val 16667"/>
            </a:avLst>
          </a:prstGeom>
          <a:solidFill>
            <a:srgbClr val="85C40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0" y="214313"/>
            <a:ext cx="5643563" cy="862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Finalités  de l’entreprise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714375" y="1143000"/>
            <a:ext cx="7500938" cy="267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La </a:t>
            </a:r>
            <a:r>
              <a:rPr lang="en-US" sz="2400" b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raison d’être </a:t>
            </a: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de l’entreprise (</a:t>
            </a:r>
            <a:r>
              <a:rPr lang="en-US" sz="2400" b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LT</a:t>
            </a: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).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7365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les raisons  pour lesquelles elle est acceptée par son  environnement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7365D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Ce sont des buts plus durables  que les objectifs, avec des échéances  imprécises.</a:t>
            </a:r>
            <a:endParaRPr/>
          </a:p>
        </p:txBody>
      </p:sp>
      <p:pic>
        <p:nvPicPr>
          <p:cNvPr id="291" name="Google Shape;291;p2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/>
          <p:nvPr/>
        </p:nvSpPr>
        <p:spPr>
          <a:xfrm rot="2695926">
            <a:off x="512136" y="4036828"/>
            <a:ext cx="1579563" cy="2103438"/>
          </a:xfrm>
          <a:prstGeom prst="roundRect">
            <a:avLst>
              <a:gd name="adj" fmla="val 16667"/>
            </a:avLst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0" y="214313"/>
            <a:ext cx="564356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B0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Finalité économique</a:t>
            </a:r>
            <a:endParaRPr sz="3200" b="1">
              <a:solidFill>
                <a:srgbClr val="00B05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298" name="Google Shape;29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 txBox="1"/>
          <p:nvPr/>
        </p:nvSpPr>
        <p:spPr>
          <a:xfrm>
            <a:off x="571472" y="1571612"/>
            <a:ext cx="828680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La recherche de profit est la finalité fondamentale de l’entreprise car elle constitue le principal moyen de sa pérennité et de sa survie.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Une entreprise qui ne dégage pas de profit est vouée à disparaitre </a:t>
            </a:r>
            <a:endParaRPr sz="2400" b="1">
              <a:solidFill>
                <a:srgbClr val="17365D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2857488" y="4143380"/>
            <a:ext cx="6072230" cy="23574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" name="Google Shape;301;p22"/>
          <p:cNvGrpSpPr/>
          <p:nvPr/>
        </p:nvGrpSpPr>
        <p:grpSpPr>
          <a:xfrm rot="10800000">
            <a:off x="3000364" y="4714884"/>
            <a:ext cx="4325218" cy="51094"/>
            <a:chOff x="4908400" y="1972933"/>
            <a:chExt cx="6290664" cy="55734"/>
          </a:xfrm>
        </p:grpSpPr>
        <p:cxnSp>
          <p:nvCxnSpPr>
            <p:cNvPr id="302" name="Google Shape;302;p22"/>
            <p:cNvCxnSpPr/>
            <p:nvPr/>
          </p:nvCxnSpPr>
          <p:spPr>
            <a:xfrm>
              <a:off x="4908400" y="1996044"/>
              <a:ext cx="5884885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303" name="Google Shape;303;p22"/>
            <p:cNvSpPr/>
            <p:nvPr/>
          </p:nvSpPr>
          <p:spPr>
            <a:xfrm>
              <a:off x="10833304" y="1972933"/>
              <a:ext cx="365760" cy="55734"/>
            </a:xfrm>
            <a:custGeom>
              <a:avLst/>
              <a:gdLst/>
              <a:ahLst/>
              <a:cxnLst/>
              <a:rect l="l" t="t" r="r" b="b"/>
              <a:pathLst>
                <a:path w="1500187" h="228600" extrusionOk="0">
                  <a:moveTo>
                    <a:pt x="105727" y="0"/>
                  </a:moveTo>
                  <a:lnTo>
                    <a:pt x="114300" y="0"/>
                  </a:lnTo>
                  <a:lnTo>
                    <a:pt x="1385887" y="0"/>
                  </a:lnTo>
                  <a:cubicBezTo>
                    <a:pt x="1449013" y="0"/>
                    <a:pt x="1500187" y="51174"/>
                    <a:pt x="1500187" y="114300"/>
                  </a:cubicBezTo>
                  <a:cubicBezTo>
                    <a:pt x="1500187" y="177426"/>
                    <a:pt x="1449013" y="228600"/>
                    <a:pt x="1385887" y="228600"/>
                  </a:cubicBezTo>
                  <a:lnTo>
                    <a:pt x="114300" y="228600"/>
                  </a:lnTo>
                  <a:lnTo>
                    <a:pt x="105727" y="228600"/>
                  </a:lnTo>
                  <a:lnTo>
                    <a:pt x="105727" y="226869"/>
                  </a:lnTo>
                  <a:lnTo>
                    <a:pt x="69809" y="219618"/>
                  </a:lnTo>
                  <a:cubicBezTo>
                    <a:pt x="28785" y="202266"/>
                    <a:pt x="0" y="161645"/>
                    <a:pt x="0" y="114300"/>
                  </a:cubicBezTo>
                  <a:cubicBezTo>
                    <a:pt x="0" y="66956"/>
                    <a:pt x="28785" y="26334"/>
                    <a:pt x="69809" y="8982"/>
                  </a:cubicBezTo>
                  <a:lnTo>
                    <a:pt x="105727" y="1731"/>
                  </a:lnTo>
                  <a:close/>
                </a:path>
              </a:pathLst>
            </a:custGeom>
            <a:noFill/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22"/>
          <p:cNvSpPr txBox="1"/>
          <p:nvPr/>
        </p:nvSpPr>
        <p:spPr>
          <a:xfrm>
            <a:off x="3214678" y="4286256"/>
            <a:ext cx="36433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??????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2857488" y="4929198"/>
            <a:ext cx="6286512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La finalité de l’entreprise se limite t-elle  à la réalisation d’un profit?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Est ce que  l’entreprise  peut poursuivre d’autres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Finalités ?   </a:t>
            </a:r>
            <a:endParaRPr sz="1600" b="1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endParaRPr sz="1600" b="1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/>
          <p:nvPr/>
        </p:nvSpPr>
        <p:spPr>
          <a:xfrm>
            <a:off x="1857356" y="6215082"/>
            <a:ext cx="56435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https://www.youtube.com/watch?v=J1Rfp0K3ncg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23" descr="Jeans 1083 : &amp;quot;On veut se servir de la mode pour promouvoir nos idées&amp;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7356" y="3286124"/>
            <a:ext cx="5214974" cy="2572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3" descr="La marque de jeans made in France 1083 ouvre une première boutique à Pari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910" y="857232"/>
            <a:ext cx="8001056" cy="1909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3"/>
          <p:cNvSpPr txBox="1"/>
          <p:nvPr/>
        </p:nvSpPr>
        <p:spPr>
          <a:xfrm>
            <a:off x="714348" y="2143116"/>
            <a:ext cx="428628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marque 1083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 txBox="1"/>
          <p:nvPr/>
        </p:nvSpPr>
        <p:spPr>
          <a:xfrm>
            <a:off x="329590" y="295147"/>
            <a:ext cx="8369934" cy="349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B0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finalités sociétales </a:t>
            </a:r>
            <a:endParaRPr sz="24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just" rtl="0">
              <a:spcBef>
                <a:spcPts val="670"/>
              </a:spcBef>
              <a:spcAft>
                <a:spcPts val="0"/>
              </a:spcAft>
              <a:buNone/>
            </a:pPr>
            <a:endParaRPr sz="24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just" rtl="0"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La recherche de profit n’est pas la seule finalité des entreprises. </a:t>
            </a:r>
            <a:endParaRPr/>
          </a:p>
          <a:p>
            <a:pPr marL="12700" marR="0" lvl="0" indent="0" algn="just" rtl="0"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Les entreprises prennent conscience des impacts sociaux et environnementaux de leurs activités. Donc, elles mettent en place des actions afin de les réduire. </a:t>
            </a:r>
            <a:endParaRPr sz="3200" b="1">
              <a:solidFill>
                <a:srgbClr val="00B05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9" name="Google Shape;31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 descr="Résultat de recherche d'images pour &quot;malongo café&quot;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158" y="4071942"/>
            <a:ext cx="2428864" cy="242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4" descr="Résultat de recherche d'images pour &quot;malongo café&quot;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5786" y="3929066"/>
            <a:ext cx="2048948" cy="74103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 txBox="1"/>
          <p:nvPr/>
        </p:nvSpPr>
        <p:spPr>
          <a:xfrm>
            <a:off x="0" y="5934670"/>
            <a:ext cx="578647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Les cafés Malongo sont Certifiés  Max Havelaar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Café équitable </a:t>
            </a:r>
            <a:endParaRPr sz="1800" b="1">
              <a:solidFill>
                <a:srgbClr val="00206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endParaRPr/>
          </a:p>
        </p:txBody>
      </p:sp>
      <p:pic>
        <p:nvPicPr>
          <p:cNvPr id="323" name="Google Shape;323;p24" descr="Résultat de recherche d'images pour &quot;rainette marque&quot;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3504" y="3714752"/>
            <a:ext cx="212407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4" descr="Résultat de recherche d'images pour &quot;rainette marque&quot;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29454" y="3214686"/>
            <a:ext cx="1785933" cy="137972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 txBox="1"/>
          <p:nvPr/>
        </p:nvSpPr>
        <p:spPr>
          <a:xfrm>
            <a:off x="5429256" y="5786454"/>
            <a:ext cx="33922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Marque pionnière de l’entretien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Écologique 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/>
          <p:cNvSpPr txBox="1"/>
          <p:nvPr/>
        </p:nvSpPr>
        <p:spPr>
          <a:xfrm>
            <a:off x="0" y="214313"/>
            <a:ext cx="564356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B05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Finalité humaine/Sociale</a:t>
            </a:r>
            <a:endParaRPr sz="3200" b="1">
              <a:solidFill>
                <a:srgbClr val="00B05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331" name="Google Shape;331;p25" descr="Résultat de recherche d'images pour &quot;bureau de google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8728" y="2928934"/>
            <a:ext cx="2606957" cy="173623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332" name="Google Shape;332;p25" descr="Résultat de recherche d'images pour &quot;bureau de google&quot;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76" y="2928934"/>
            <a:ext cx="2571768" cy="164144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333" name="Google Shape;333;p25"/>
          <p:cNvSpPr/>
          <p:nvPr/>
        </p:nvSpPr>
        <p:spPr>
          <a:xfrm>
            <a:off x="500034" y="4000504"/>
            <a:ext cx="8143932" cy="1357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Figure régulièrement au Top 5</a:t>
            </a:r>
            <a:r>
              <a:rPr lang="en-US" sz="180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 </a:t>
            </a:r>
            <a:r>
              <a:rPr lang="en-US" sz="2400" b="1" u="sng">
                <a:solidFill>
                  <a:schemeClr val="hlink"/>
                </a:solidFill>
                <a:latin typeface="Candara"/>
                <a:ea typeface="Candara"/>
                <a:cs typeface="Candara"/>
                <a:sym typeface="Candara"/>
                <a:hlinkClick r:id="rId5"/>
              </a:rPr>
              <a:t>Business Insider</a:t>
            </a:r>
            <a:r>
              <a:rPr lang="en-US" sz="24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 </a:t>
            </a: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des entreprises où il fait bon travailler. Cinquième en 2018..</a:t>
            </a:r>
            <a:endParaRPr sz="2400" b="1">
              <a:solidFill>
                <a:srgbClr val="17365D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334" name="Google Shape;334;p25" descr="Résultat de recherche d'images pour &quot;logo google&quot;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472" y="1214422"/>
            <a:ext cx="1270016" cy="6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5"/>
          <p:cNvSpPr/>
          <p:nvPr/>
        </p:nvSpPr>
        <p:spPr>
          <a:xfrm>
            <a:off x="1357290" y="2214554"/>
            <a:ext cx="64294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https://www.youtube.com/watch?v=D-ixbvL5y8M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 txBox="1"/>
          <p:nvPr/>
        </p:nvSpPr>
        <p:spPr>
          <a:xfrm>
            <a:off x="642910" y="5500702"/>
            <a:ext cx="778674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La finalité sociale </a:t>
            </a: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correspond à l’</a:t>
            </a:r>
            <a:r>
              <a:rPr lang="en-US" sz="2400" b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engagement</a:t>
            </a: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de l’entreprise à prendre en compte les </a:t>
            </a:r>
            <a:r>
              <a:rPr lang="en-US" sz="2400" b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attentes de ses salariés.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342" name="Google Shape;342;p26" descr="La marque de jeans made in France 1083 ouvre une première boutique à Pari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64" y="2000240"/>
            <a:ext cx="2857520" cy="1909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6"/>
          <p:cNvSpPr txBox="1"/>
          <p:nvPr/>
        </p:nvSpPr>
        <p:spPr>
          <a:xfrm>
            <a:off x="0" y="4714884"/>
            <a:ext cx="8653331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L’entreprise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1083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est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une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entreprise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responsable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Elle a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intégré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d’une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manière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volontaire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les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préoccupations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sociales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,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environnementales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, et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économiques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dans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ses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activités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. 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C’est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la </a:t>
            </a:r>
            <a:r>
              <a:rPr lang="en-US" sz="24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responsabilité</a:t>
            </a:r>
            <a:r>
              <a:rPr lang="en-US" sz="24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sociétale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de </a:t>
            </a:r>
            <a:r>
              <a:rPr lang="en-US" sz="2400" b="1" dirty="0" err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l’entreprise</a:t>
            </a:r>
            <a:r>
              <a:rPr lang="en-US" sz="2400" b="1" dirty="0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 : </a:t>
            </a:r>
            <a:r>
              <a:rPr lang="en-US" sz="24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RSE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349" name="Google Shape;349;p27" descr="Afficher l'image d'orig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72" y="2357430"/>
            <a:ext cx="3190875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7"/>
          <p:cNvSpPr/>
          <p:nvPr/>
        </p:nvSpPr>
        <p:spPr>
          <a:xfrm>
            <a:off x="3643306" y="3071810"/>
            <a:ext cx="1571636" cy="64294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2D05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428596" y="5715016"/>
            <a:ext cx="8286808" cy="6462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responsabilité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sociétale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l’entreprise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l’application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principes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 DD aux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entreprises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27" descr="Afficher l'image d'orig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4942" y="2214554"/>
            <a:ext cx="3500430" cy="342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E49697-7CD2-7225-27CE-809A9A49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4A430D-F2F2-4F32-DC49-416E2D6D7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fr-FR" sz="2600" b="1" dirty="0">
                <a:solidFill>
                  <a:srgbClr val="17365D"/>
                </a:solidFill>
                <a:latin typeface="Candara"/>
                <a:sym typeface="Arial"/>
              </a:rPr>
              <a:t>La RSE est  « la responsabilité d’une organisation vis-à-vis des </a:t>
            </a:r>
            <a:r>
              <a:rPr lang="fr-FR" sz="2600" b="1" dirty="0">
                <a:solidFill>
                  <a:srgbClr val="FF0000"/>
                </a:solidFill>
                <a:latin typeface="Candara"/>
                <a:sym typeface="Arial"/>
              </a:rPr>
              <a:t>impacts de ses décisions et activités sur la société et sur l’environnement </a:t>
            </a:r>
            <a:r>
              <a:rPr lang="fr-FR" sz="2600" b="1" dirty="0">
                <a:solidFill>
                  <a:srgbClr val="17365D"/>
                </a:solidFill>
                <a:latin typeface="Candara"/>
                <a:sym typeface="Arial"/>
              </a:rPr>
              <a:t>se traduisant par un comportement éthique et transparent qui 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2600" b="1" dirty="0">
                <a:solidFill>
                  <a:srgbClr val="17365D"/>
                </a:solidFill>
                <a:latin typeface="Candara"/>
                <a:sym typeface="Arial"/>
              </a:rPr>
              <a:t>Contribue au développement durable, y compris à la santé et au bien-être de la société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2600" b="1" dirty="0">
                <a:solidFill>
                  <a:srgbClr val="17365D"/>
                </a:solidFill>
                <a:latin typeface="Candara"/>
                <a:sym typeface="Arial"/>
              </a:rPr>
              <a:t>Prend en compte les attentes des parties prenantes.. »</a:t>
            </a:r>
          </a:p>
          <a:p>
            <a:pPr marL="114300" indent="0" algn="r">
              <a:buNone/>
            </a:pPr>
            <a:r>
              <a:rPr lang="fr-FR" sz="1600" dirty="0">
                <a:solidFill>
                  <a:srgbClr val="FF0000"/>
                </a:solidFill>
              </a:rPr>
              <a:t>Norme ISO 26000</a:t>
            </a:r>
            <a:endParaRPr lang="fr-T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505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/>
          <p:nvPr/>
        </p:nvSpPr>
        <p:spPr>
          <a:xfrm rot="2695926">
            <a:off x="3336925" y="4092575"/>
            <a:ext cx="1579563" cy="2103438"/>
          </a:xfrm>
          <a:prstGeom prst="roundRect">
            <a:avLst>
              <a:gd name="adj" fmla="val 16667"/>
            </a:avLst>
          </a:pr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8"/>
          <p:cNvSpPr/>
          <p:nvPr/>
        </p:nvSpPr>
        <p:spPr>
          <a:xfrm rot="2695926">
            <a:off x="4957763" y="5340350"/>
            <a:ext cx="1581150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658842"/>
                </a:lnTo>
                <a:lnTo>
                  <a:pt x="659127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2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4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8"/>
          <p:cNvSpPr/>
          <p:nvPr/>
        </p:nvSpPr>
        <p:spPr>
          <a:xfrm rot="2695926">
            <a:off x="1716088" y="5340350"/>
            <a:ext cx="1579562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658841"/>
                </a:lnTo>
                <a:lnTo>
                  <a:pt x="659126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1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5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8"/>
          <p:cNvSpPr/>
          <p:nvPr/>
        </p:nvSpPr>
        <p:spPr>
          <a:xfrm rot="2695926">
            <a:off x="7083425" y="4829175"/>
            <a:ext cx="1581150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099" y="39234"/>
                  <a:pt x="253731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1380981"/>
                </a:lnTo>
                <a:lnTo>
                  <a:pt x="1382979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2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6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/>
          <p:nvPr/>
        </p:nvSpPr>
        <p:spPr>
          <a:xfrm rot="2695926">
            <a:off x="-401638" y="4838700"/>
            <a:ext cx="1581151" cy="2101850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1375089"/>
                </a:lnTo>
                <a:lnTo>
                  <a:pt x="1377074" y="2103120"/>
                </a:lnTo>
                <a:lnTo>
                  <a:pt x="1369720" y="2103120"/>
                </a:lnTo>
                <a:lnTo>
                  <a:pt x="0" y="730150"/>
                </a:lnTo>
                <a:lnTo>
                  <a:pt x="0" y="350527"/>
                </a:lnTo>
                <a:cubicBezTo>
                  <a:pt x="0" y="253731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7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8"/>
          <p:cNvSpPr/>
          <p:nvPr/>
        </p:nvSpPr>
        <p:spPr>
          <a:xfrm rot="2695926">
            <a:off x="8718550" y="4367213"/>
            <a:ext cx="617538" cy="820737"/>
          </a:xfrm>
          <a:custGeom>
            <a:avLst/>
            <a:gdLst/>
            <a:ahLst/>
            <a:cxnLst/>
            <a:rect l="l" t="t" r="r" b="b"/>
            <a:pathLst>
              <a:path w="822960" h="821509" extrusionOk="0">
                <a:moveTo>
                  <a:pt x="40103" y="40103"/>
                </a:moveTo>
                <a:cubicBezTo>
                  <a:pt x="64881" y="15326"/>
                  <a:pt x="99111" y="0"/>
                  <a:pt x="136921" y="0"/>
                </a:cubicBezTo>
                <a:lnTo>
                  <a:pt x="233313" y="0"/>
                </a:lnTo>
                <a:lnTo>
                  <a:pt x="822960" y="591047"/>
                </a:lnTo>
                <a:lnTo>
                  <a:pt x="822960" y="684588"/>
                </a:lnTo>
                <a:cubicBezTo>
                  <a:pt x="822960" y="760207"/>
                  <a:pt x="761658" y="821509"/>
                  <a:pt x="686039" y="821509"/>
                </a:cubicBezTo>
                <a:lnTo>
                  <a:pt x="136921" y="821509"/>
                </a:lnTo>
                <a:cubicBezTo>
                  <a:pt x="61302" y="821509"/>
                  <a:pt x="0" y="760207"/>
                  <a:pt x="0" y="684588"/>
                </a:cubicBezTo>
                <a:lnTo>
                  <a:pt x="0" y="136921"/>
                </a:lnTo>
                <a:cubicBezTo>
                  <a:pt x="0" y="99111"/>
                  <a:pt x="15326" y="64882"/>
                  <a:pt x="40103" y="40103"/>
                </a:cubicBezTo>
                <a:close/>
              </a:path>
            </a:pathLst>
          </a:custGeom>
          <a:solidFill>
            <a:srgbClr val="FF2B2A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1857356" y="185736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8"/>
          <p:cNvSpPr txBox="1"/>
          <p:nvPr/>
        </p:nvSpPr>
        <p:spPr>
          <a:xfrm>
            <a:off x="500034" y="571480"/>
            <a:ext cx="5643563" cy="862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Finalités  de l’entreprise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365" name="Google Shape;365;p28"/>
          <p:cNvGrpSpPr/>
          <p:nvPr/>
        </p:nvGrpSpPr>
        <p:grpSpPr>
          <a:xfrm>
            <a:off x="1643042" y="1500174"/>
            <a:ext cx="5072066" cy="1387797"/>
            <a:chOff x="6414487" y="1849045"/>
            <a:chExt cx="4988526" cy="925494"/>
          </a:xfrm>
        </p:grpSpPr>
        <p:sp>
          <p:nvSpPr>
            <p:cNvPr id="366" name="Google Shape;366;p28"/>
            <p:cNvSpPr txBox="1"/>
            <p:nvPr/>
          </p:nvSpPr>
          <p:spPr>
            <a:xfrm>
              <a:off x="6414487" y="1849045"/>
              <a:ext cx="2226673" cy="38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17365D"/>
                  </a:solidFill>
                  <a:latin typeface="Candara"/>
                  <a:ea typeface="Candara"/>
                  <a:cs typeface="Candara"/>
                  <a:sym typeface="Candara"/>
                </a:rPr>
                <a:t>Activité  2 :</a:t>
              </a:r>
              <a:endParaRPr sz="32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6414490" y="2343514"/>
              <a:ext cx="4988523" cy="43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17365D"/>
                  </a:solidFill>
                  <a:latin typeface="Candara"/>
                  <a:ea typeface="Candara"/>
                  <a:cs typeface="Candara"/>
                  <a:sym typeface="Candara"/>
                </a:rPr>
                <a:t>Mirabelle    </a:t>
              </a:r>
              <a:endParaRPr/>
            </a:p>
          </p:txBody>
        </p:sp>
      </p:grpSp>
      <p:pic>
        <p:nvPicPr>
          <p:cNvPr id="368" name="Google Shape;368;p2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8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https://www.youtube.com/watch?v=ntkj6_k6aA8&amp;t=76s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/>
          <p:nvPr/>
        </p:nvSpPr>
        <p:spPr>
          <a:xfrm rot="5400000">
            <a:off x="-31494" y="67441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2" b="41"/>
          <a:stretch/>
        </p:blipFill>
        <p:spPr>
          <a:xfrm>
            <a:off x="785786" y="135729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FF2B2A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7" name="Google Shape;377;p29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42" b="41"/>
          <a:stretch/>
        </p:blipFill>
        <p:spPr>
          <a:xfrm>
            <a:off x="2786050" y="278605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85C40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8" name="Google Shape;378;p29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t="42" b="41"/>
          <a:stretch/>
        </p:blipFill>
        <p:spPr>
          <a:xfrm>
            <a:off x="4572000" y="100010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3EB8C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9" name="Google Shape;379;p29"/>
          <p:cNvPicPr preferRelativeResize="0">
            <a:picLocks noGrp="1"/>
          </p:cNvPicPr>
          <p:nvPr>
            <p:ph type="pic" idx="5"/>
          </p:nvPr>
        </p:nvPicPr>
        <p:blipFill rotWithShape="1">
          <a:blip r:embed="rId6">
            <a:alphaModFix/>
          </a:blip>
          <a:srcRect t="42" b="41"/>
          <a:stretch/>
        </p:blipFill>
        <p:spPr>
          <a:xfrm>
            <a:off x="7000892" y="2500306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FFA80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0" name="Google Shape;380;p29"/>
          <p:cNvSpPr txBox="1"/>
          <p:nvPr/>
        </p:nvSpPr>
        <p:spPr>
          <a:xfrm>
            <a:off x="857224" y="3500438"/>
            <a:ext cx="150019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Répartissez vous  en équipes de 5 à 6 étudiants 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1785918" y="1071546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9"/>
          <p:cNvSpPr txBox="1"/>
          <p:nvPr/>
        </p:nvSpPr>
        <p:spPr>
          <a:xfrm>
            <a:off x="3071802" y="4857760"/>
            <a:ext cx="100944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Vous disposez de 10 minutes 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3357554" y="2285992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6324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9"/>
          <p:cNvSpPr txBox="1"/>
          <p:nvPr/>
        </p:nvSpPr>
        <p:spPr>
          <a:xfrm>
            <a:off x="4500562" y="3143248"/>
            <a:ext cx="228601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Suivez la vidéo et répondez aux questions </a:t>
            </a:r>
            <a:endParaRPr/>
          </a:p>
        </p:txBody>
      </p:sp>
      <p:sp>
        <p:nvSpPr>
          <p:cNvPr id="385" name="Google Shape;385;p29"/>
          <p:cNvSpPr/>
          <p:nvPr/>
        </p:nvSpPr>
        <p:spPr>
          <a:xfrm>
            <a:off x="5643570" y="857232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7692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9"/>
          <p:cNvSpPr txBox="1"/>
          <p:nvPr/>
        </p:nvSpPr>
        <p:spPr>
          <a:xfrm>
            <a:off x="7000892" y="4429132"/>
            <a:ext cx="1773234" cy="36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Nommez un rapporteur par équipe pour  présenter  les définitions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7786710" y="2071678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5F49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9"/>
          <p:cNvSpPr txBox="1"/>
          <p:nvPr/>
        </p:nvSpPr>
        <p:spPr>
          <a:xfrm>
            <a:off x="0" y="214290"/>
            <a:ext cx="564357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Les régles du jeu </a:t>
            </a:r>
            <a:endParaRPr sz="3200" b="1">
              <a:solidFill>
                <a:srgbClr val="FF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389" name="Google Shape;389;p2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"/>
          <p:cNvSpPr/>
          <p:nvPr/>
        </p:nvSpPr>
        <p:spPr>
          <a:xfrm rot="2695926">
            <a:off x="4957763" y="5340350"/>
            <a:ext cx="1581150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658842"/>
                </a:lnTo>
                <a:lnTo>
                  <a:pt x="659127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2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0"/>
          <p:cNvSpPr/>
          <p:nvPr/>
        </p:nvSpPr>
        <p:spPr>
          <a:xfrm rot="2695926">
            <a:off x="1716088" y="5340350"/>
            <a:ext cx="1579562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658841"/>
                </a:lnTo>
                <a:lnTo>
                  <a:pt x="659126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1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4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0"/>
          <p:cNvSpPr/>
          <p:nvPr/>
        </p:nvSpPr>
        <p:spPr>
          <a:xfrm rot="2695926">
            <a:off x="7083425" y="4829175"/>
            <a:ext cx="1581150" cy="2103438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099" y="39234"/>
                  <a:pt x="253731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1380981"/>
                </a:lnTo>
                <a:lnTo>
                  <a:pt x="1382979" y="2103120"/>
                </a:lnTo>
                <a:lnTo>
                  <a:pt x="350527" y="2103120"/>
                </a:lnTo>
                <a:cubicBezTo>
                  <a:pt x="156936" y="2103120"/>
                  <a:pt x="0" y="1946184"/>
                  <a:pt x="0" y="1752593"/>
                </a:cubicBezTo>
                <a:lnTo>
                  <a:pt x="0" y="350527"/>
                </a:lnTo>
                <a:cubicBezTo>
                  <a:pt x="0" y="253732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5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0"/>
          <p:cNvSpPr/>
          <p:nvPr/>
        </p:nvSpPr>
        <p:spPr>
          <a:xfrm rot="2695926">
            <a:off x="-401638" y="4838700"/>
            <a:ext cx="1581151" cy="2101850"/>
          </a:xfrm>
          <a:custGeom>
            <a:avLst/>
            <a:gdLst/>
            <a:ahLst/>
            <a:cxnLst/>
            <a:rect l="l" t="t" r="r" b="b"/>
            <a:pathLst>
              <a:path w="2106832" h="2103120" extrusionOk="0">
                <a:moveTo>
                  <a:pt x="102667" y="102667"/>
                </a:moveTo>
                <a:cubicBezTo>
                  <a:pt x="166100" y="39234"/>
                  <a:pt x="253732" y="0"/>
                  <a:pt x="350527" y="0"/>
                </a:cubicBezTo>
                <a:lnTo>
                  <a:pt x="1756305" y="0"/>
                </a:lnTo>
                <a:cubicBezTo>
                  <a:pt x="1949896" y="0"/>
                  <a:pt x="2106832" y="156936"/>
                  <a:pt x="2106832" y="350527"/>
                </a:cubicBezTo>
                <a:lnTo>
                  <a:pt x="2106832" y="1375089"/>
                </a:lnTo>
                <a:lnTo>
                  <a:pt x="1377074" y="2103120"/>
                </a:lnTo>
                <a:lnTo>
                  <a:pt x="1369720" y="2103120"/>
                </a:lnTo>
                <a:lnTo>
                  <a:pt x="0" y="730150"/>
                </a:lnTo>
                <a:lnTo>
                  <a:pt x="0" y="350527"/>
                </a:lnTo>
                <a:cubicBezTo>
                  <a:pt x="0" y="253731"/>
                  <a:pt x="39234" y="166100"/>
                  <a:pt x="102667" y="102667"/>
                </a:cubicBezTo>
                <a:close/>
              </a:path>
            </a:pathLst>
          </a:custGeom>
          <a:blipFill rotWithShape="0">
            <a:blip r:embed="rId6">
              <a:alphaModFix/>
            </a:blip>
            <a:stretch>
              <a:fillRect/>
            </a:stretch>
          </a:blip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0"/>
          <p:cNvSpPr/>
          <p:nvPr/>
        </p:nvSpPr>
        <p:spPr>
          <a:xfrm rot="2695926">
            <a:off x="8718550" y="4367213"/>
            <a:ext cx="617538" cy="820737"/>
          </a:xfrm>
          <a:custGeom>
            <a:avLst/>
            <a:gdLst/>
            <a:ahLst/>
            <a:cxnLst/>
            <a:rect l="l" t="t" r="r" b="b"/>
            <a:pathLst>
              <a:path w="822960" h="821509" extrusionOk="0">
                <a:moveTo>
                  <a:pt x="40103" y="40103"/>
                </a:moveTo>
                <a:cubicBezTo>
                  <a:pt x="64881" y="15326"/>
                  <a:pt x="99111" y="0"/>
                  <a:pt x="136921" y="0"/>
                </a:cubicBezTo>
                <a:lnTo>
                  <a:pt x="233313" y="0"/>
                </a:lnTo>
                <a:lnTo>
                  <a:pt x="822960" y="591047"/>
                </a:lnTo>
                <a:lnTo>
                  <a:pt x="822960" y="684588"/>
                </a:lnTo>
                <a:cubicBezTo>
                  <a:pt x="822960" y="760207"/>
                  <a:pt x="761658" y="821509"/>
                  <a:pt x="686039" y="821509"/>
                </a:cubicBezTo>
                <a:lnTo>
                  <a:pt x="136921" y="821509"/>
                </a:lnTo>
                <a:cubicBezTo>
                  <a:pt x="61302" y="821509"/>
                  <a:pt x="0" y="760207"/>
                  <a:pt x="0" y="684588"/>
                </a:cubicBezTo>
                <a:lnTo>
                  <a:pt x="0" y="136921"/>
                </a:lnTo>
                <a:cubicBezTo>
                  <a:pt x="0" y="99111"/>
                  <a:pt x="15326" y="64882"/>
                  <a:pt x="40103" y="40103"/>
                </a:cubicBezTo>
                <a:close/>
              </a:path>
            </a:pathLst>
          </a:custGeom>
          <a:solidFill>
            <a:srgbClr val="FF2B2A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0"/>
          <p:cNvSpPr txBox="1"/>
          <p:nvPr/>
        </p:nvSpPr>
        <p:spPr>
          <a:xfrm>
            <a:off x="1857356" y="185736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0"/>
          <p:cNvSpPr txBox="1"/>
          <p:nvPr/>
        </p:nvSpPr>
        <p:spPr>
          <a:xfrm>
            <a:off x="428596" y="285728"/>
            <a:ext cx="771527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Finalités  /Buts / objectifs : Quelle différence ? </a:t>
            </a:r>
            <a:endParaRPr sz="3200" b="1">
              <a:solidFill>
                <a:srgbClr val="FF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401" name="Google Shape;401;p30"/>
          <p:cNvGrpSpPr/>
          <p:nvPr/>
        </p:nvGrpSpPr>
        <p:grpSpPr>
          <a:xfrm>
            <a:off x="1643042" y="1500174"/>
            <a:ext cx="5072066" cy="1387797"/>
            <a:chOff x="6414487" y="1849045"/>
            <a:chExt cx="4988526" cy="925494"/>
          </a:xfrm>
        </p:grpSpPr>
        <p:sp>
          <p:nvSpPr>
            <p:cNvPr id="402" name="Google Shape;402;p30"/>
            <p:cNvSpPr txBox="1"/>
            <p:nvPr/>
          </p:nvSpPr>
          <p:spPr>
            <a:xfrm>
              <a:off x="6414487" y="1849045"/>
              <a:ext cx="2226673" cy="38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17365D"/>
                  </a:solidFill>
                  <a:latin typeface="Candara"/>
                  <a:ea typeface="Candara"/>
                  <a:cs typeface="Candara"/>
                  <a:sym typeface="Candara"/>
                </a:rPr>
                <a:t>Activité  3 :</a:t>
              </a:r>
              <a:endParaRPr sz="32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403" name="Google Shape;403;p30"/>
            <p:cNvSpPr txBox="1"/>
            <p:nvPr/>
          </p:nvSpPr>
          <p:spPr>
            <a:xfrm>
              <a:off x="6414490" y="2343514"/>
              <a:ext cx="4988523" cy="43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17365D"/>
                  </a:solidFill>
                  <a:latin typeface="Candara"/>
                  <a:ea typeface="Candara"/>
                  <a:cs typeface="Candara"/>
                  <a:sym typeface="Candara"/>
                </a:rPr>
                <a:t>    </a:t>
              </a:r>
              <a:endParaRPr/>
            </a:p>
          </p:txBody>
        </p:sp>
      </p:grpSp>
      <p:pic>
        <p:nvPicPr>
          <p:cNvPr id="404" name="Google Shape;404;p3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0" descr="BIC BIZERTE « Produits, Services aux entreprises « Annuaire Professionnel  (دليل الخدمات) « ChercheInfo : Annonces avec vidéo en Tunisi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57290" y="2357430"/>
            <a:ext cx="4572032" cy="2428892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0"/>
          <p:cNvSpPr/>
          <p:nvPr/>
        </p:nvSpPr>
        <p:spPr>
          <a:xfrm rot="5400000">
            <a:off x="-31494" y="388660"/>
            <a:ext cx="510899" cy="447911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2" b="41"/>
          <a:stretch/>
        </p:blipFill>
        <p:spPr>
          <a:xfrm>
            <a:off x="785786" y="135729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FF2B2A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13" name="Google Shape;413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42" b="41"/>
          <a:stretch/>
        </p:blipFill>
        <p:spPr>
          <a:xfrm>
            <a:off x="2786050" y="278605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85C40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14" name="Google Shape;414;p31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t="42" b="41"/>
          <a:stretch/>
        </p:blipFill>
        <p:spPr>
          <a:xfrm>
            <a:off x="4572000" y="100010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3EB8C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15" name="Google Shape;415;p31"/>
          <p:cNvPicPr preferRelativeResize="0">
            <a:picLocks noGrp="1"/>
          </p:cNvPicPr>
          <p:nvPr>
            <p:ph type="pic" idx="5"/>
          </p:nvPr>
        </p:nvPicPr>
        <p:blipFill rotWithShape="1">
          <a:blip r:embed="rId6">
            <a:alphaModFix/>
          </a:blip>
          <a:srcRect t="42" b="41"/>
          <a:stretch/>
        </p:blipFill>
        <p:spPr>
          <a:xfrm>
            <a:off x="7000892" y="2500306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FFA80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6" name="Google Shape;416;p31"/>
          <p:cNvSpPr txBox="1"/>
          <p:nvPr/>
        </p:nvSpPr>
        <p:spPr>
          <a:xfrm>
            <a:off x="857224" y="3500438"/>
            <a:ext cx="150019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Répartissez vous  en équipes de 5 à 6 étudiants 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1785918" y="1071546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1"/>
          <p:cNvSpPr txBox="1"/>
          <p:nvPr/>
        </p:nvSpPr>
        <p:spPr>
          <a:xfrm>
            <a:off x="3071802" y="4857760"/>
            <a:ext cx="100944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Vous disposez de 10 minutes 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3357554" y="2285992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6324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1"/>
          <p:cNvSpPr txBox="1"/>
          <p:nvPr/>
        </p:nvSpPr>
        <p:spPr>
          <a:xfrm>
            <a:off x="4500562" y="3143248"/>
            <a:ext cx="228601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Suivez la vidéo et répondez aux questions </a:t>
            </a:r>
            <a:endParaRPr/>
          </a:p>
        </p:txBody>
      </p:sp>
      <p:sp>
        <p:nvSpPr>
          <p:cNvPr id="421" name="Google Shape;421;p31"/>
          <p:cNvSpPr/>
          <p:nvPr/>
        </p:nvSpPr>
        <p:spPr>
          <a:xfrm>
            <a:off x="5643570" y="857232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7692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1"/>
          <p:cNvSpPr txBox="1"/>
          <p:nvPr/>
        </p:nvSpPr>
        <p:spPr>
          <a:xfrm>
            <a:off x="7000892" y="4429132"/>
            <a:ext cx="1773234" cy="36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Nommez un rapporteur par équipe pour  présenter  les définitions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1"/>
          <p:cNvSpPr/>
          <p:nvPr/>
        </p:nvSpPr>
        <p:spPr>
          <a:xfrm>
            <a:off x="7786710" y="2071678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5F49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1"/>
          <p:cNvSpPr txBox="1"/>
          <p:nvPr/>
        </p:nvSpPr>
        <p:spPr>
          <a:xfrm>
            <a:off x="0" y="214290"/>
            <a:ext cx="564357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Les régles du jeu </a:t>
            </a:r>
            <a:endParaRPr sz="3200" b="1">
              <a:solidFill>
                <a:srgbClr val="FF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25" name="Google Shape;425;p3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2" descr="Résultat de recherche d'images pour &quot;important clipart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034" y="1357298"/>
            <a:ext cx="862038" cy="923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2"/>
          <p:cNvSpPr/>
          <p:nvPr/>
        </p:nvSpPr>
        <p:spPr>
          <a:xfrm>
            <a:off x="1928794" y="1071546"/>
            <a:ext cx="6215106" cy="150019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La finalité correspond à la raison d’être </a:t>
            </a:r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785786" y="2928934"/>
            <a:ext cx="6429420" cy="1676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Le but : Expression concrète de la finalité. Résultat à atteindre. </a:t>
            </a:r>
            <a:endParaRPr/>
          </a:p>
          <a:p>
            <a:pPr marL="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FF000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357158" y="5072074"/>
            <a:ext cx="6000792" cy="1524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rPr>
              <a:t>L’ objectif : Définit dans le temps et quantifie</a:t>
            </a:r>
            <a:r>
              <a:rPr lang="en-US" sz="2400" b="1">
                <a:solidFill>
                  <a:srgbClr val="4472C4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  <a:endParaRPr/>
          </a:p>
        </p:txBody>
      </p:sp>
      <p:pic>
        <p:nvPicPr>
          <p:cNvPr id="434" name="Google Shape;43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441" name="Google Shape;441;p33" descr="RÃ©sultat de recherche d'images pour &quot;objectifs smart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910" y="3000372"/>
            <a:ext cx="8042294" cy="3000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3" descr="RÃ©sultat de recherche d'images pour &quot;objectif&quot;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8860" y="500042"/>
            <a:ext cx="3765539" cy="237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4"/>
          <p:cNvSpPr/>
          <p:nvPr/>
        </p:nvSpPr>
        <p:spPr>
          <a:xfrm rot="5400000">
            <a:off x="-31494" y="960164"/>
            <a:ext cx="510899" cy="447911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34" descr="11,385 IMAGES, PHOTOS ET ILLUSTRATIONS VECTORIELLES STOCK APPROPRIÉES SUR  LE THÈME Smily | Adobe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6644" y="1714488"/>
            <a:ext cx="509567" cy="5081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" name="Google Shape;450;p34"/>
          <p:cNvGrpSpPr/>
          <p:nvPr/>
        </p:nvGrpSpPr>
        <p:grpSpPr>
          <a:xfrm>
            <a:off x="285720" y="857232"/>
            <a:ext cx="6500858" cy="1387797"/>
            <a:chOff x="6414487" y="1849045"/>
            <a:chExt cx="4988526" cy="925494"/>
          </a:xfrm>
        </p:grpSpPr>
        <p:sp>
          <p:nvSpPr>
            <p:cNvPr id="451" name="Google Shape;451;p34"/>
            <p:cNvSpPr txBox="1"/>
            <p:nvPr/>
          </p:nvSpPr>
          <p:spPr>
            <a:xfrm>
              <a:off x="6414487" y="1849045"/>
              <a:ext cx="2226673" cy="38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17365D"/>
                  </a:solidFill>
                  <a:latin typeface="Candara"/>
                  <a:ea typeface="Candara"/>
                  <a:cs typeface="Candara"/>
                  <a:sym typeface="Candara"/>
                </a:rPr>
                <a:t>Activité  4 :</a:t>
              </a:r>
              <a:endParaRPr sz="3200" b="1">
                <a:solidFill>
                  <a:srgbClr val="17365D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452" name="Google Shape;452;p34"/>
            <p:cNvSpPr txBox="1"/>
            <p:nvPr/>
          </p:nvSpPr>
          <p:spPr>
            <a:xfrm>
              <a:off x="6414490" y="2343514"/>
              <a:ext cx="4988523" cy="43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17365D"/>
                  </a:solidFill>
                  <a:latin typeface="Candara"/>
                  <a:ea typeface="Candara"/>
                  <a:cs typeface="Candara"/>
                  <a:sym typeface="Candara"/>
                </a:rPr>
                <a:t>    Le succès de la tête souriante </a:t>
              </a:r>
              <a:endParaRPr/>
            </a:p>
          </p:txBody>
        </p:sp>
      </p:grpSp>
      <p:pic>
        <p:nvPicPr>
          <p:cNvPr id="453" name="Google Shape;453;p34" descr="Stickers déco emoji etoile dans les yeux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4480" y="2428868"/>
            <a:ext cx="5643602" cy="342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4" descr="11,385 IMAGES, PHOTOS ET ILLUSTRATIONS VECTORIELLES STOCK APPROPRIÉES SUR  LE THÈME Smily | Adobe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6710" y="1714488"/>
            <a:ext cx="509567" cy="508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4" descr="11,385 IMAGES, PHOTOS ET ILLUSTRATIONS VECTORIELLES STOCK APPROPRIÉES SUR  LE THÈME Smily | Adobe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6578" y="1714488"/>
            <a:ext cx="509567" cy="508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1460" y="0"/>
            <a:ext cx="3682540" cy="1571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2" b="41"/>
          <a:stretch/>
        </p:blipFill>
        <p:spPr>
          <a:xfrm>
            <a:off x="785786" y="135729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FF2B2A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63" name="Google Shape;463;p35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42" b="41"/>
          <a:stretch/>
        </p:blipFill>
        <p:spPr>
          <a:xfrm>
            <a:off x="2786050" y="278605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85C40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64" name="Google Shape;464;p35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t="42" b="41"/>
          <a:stretch/>
        </p:blipFill>
        <p:spPr>
          <a:xfrm>
            <a:off x="4572000" y="100010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3EB8C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65" name="Google Shape;465;p35"/>
          <p:cNvPicPr preferRelativeResize="0">
            <a:picLocks noGrp="1"/>
          </p:cNvPicPr>
          <p:nvPr>
            <p:ph type="pic" idx="5"/>
          </p:nvPr>
        </p:nvPicPr>
        <p:blipFill rotWithShape="1">
          <a:blip r:embed="rId6">
            <a:alphaModFix/>
          </a:blip>
          <a:srcRect t="42" b="41"/>
          <a:stretch/>
        </p:blipFill>
        <p:spPr>
          <a:xfrm>
            <a:off x="7000892" y="2500306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FFA80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66" name="Google Shape;466;p35"/>
          <p:cNvSpPr txBox="1"/>
          <p:nvPr/>
        </p:nvSpPr>
        <p:spPr>
          <a:xfrm>
            <a:off x="857224" y="3500438"/>
            <a:ext cx="150019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Répartissez vous  en équipes de 5 à 6 étudiants 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5"/>
          <p:cNvSpPr/>
          <p:nvPr/>
        </p:nvSpPr>
        <p:spPr>
          <a:xfrm>
            <a:off x="1785918" y="1071546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5"/>
          <p:cNvSpPr txBox="1"/>
          <p:nvPr/>
        </p:nvSpPr>
        <p:spPr>
          <a:xfrm>
            <a:off x="3071802" y="4857760"/>
            <a:ext cx="100944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Vous disposez de 15 minutes 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5"/>
          <p:cNvSpPr/>
          <p:nvPr/>
        </p:nvSpPr>
        <p:spPr>
          <a:xfrm>
            <a:off x="3357554" y="2285992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6324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5"/>
          <p:cNvSpPr txBox="1"/>
          <p:nvPr/>
        </p:nvSpPr>
        <p:spPr>
          <a:xfrm>
            <a:off x="4500562" y="3143248"/>
            <a:ext cx="228601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Lisez le texte et répondez aux questions </a:t>
            </a:r>
            <a:endParaRPr/>
          </a:p>
        </p:txBody>
      </p:sp>
      <p:sp>
        <p:nvSpPr>
          <p:cNvPr id="471" name="Google Shape;471;p35"/>
          <p:cNvSpPr/>
          <p:nvPr/>
        </p:nvSpPr>
        <p:spPr>
          <a:xfrm>
            <a:off x="5643570" y="857232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3">
              <a:solidFill>
                <a:srgbClr val="7692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5"/>
          <p:cNvSpPr txBox="1"/>
          <p:nvPr/>
        </p:nvSpPr>
        <p:spPr>
          <a:xfrm>
            <a:off x="7000892" y="4429132"/>
            <a:ext cx="1773234" cy="36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Nommez un rapporteur par équipe pour  présenter  les définitions</a:t>
            </a:r>
            <a:endParaRPr sz="1800" b="1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5"/>
          <p:cNvSpPr/>
          <p:nvPr/>
        </p:nvSpPr>
        <p:spPr>
          <a:xfrm>
            <a:off x="7786710" y="2071678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5F49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5"/>
          <p:cNvSpPr txBox="1"/>
          <p:nvPr/>
        </p:nvSpPr>
        <p:spPr>
          <a:xfrm>
            <a:off x="0" y="214290"/>
            <a:ext cx="564357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Les régles du jeu </a:t>
            </a:r>
            <a:endParaRPr sz="3200" b="1">
              <a:solidFill>
                <a:srgbClr val="FF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75" name="Google Shape;475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61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6"/>
          <p:cNvSpPr/>
          <p:nvPr/>
        </p:nvSpPr>
        <p:spPr>
          <a:xfrm rot="5400000">
            <a:off x="-31494" y="960164"/>
            <a:ext cx="510899" cy="447911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6"/>
          <p:cNvSpPr txBox="1"/>
          <p:nvPr/>
        </p:nvSpPr>
        <p:spPr>
          <a:xfrm>
            <a:off x="428596" y="714356"/>
            <a:ext cx="7715272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Management </a:t>
            </a:r>
            <a:r>
              <a:rPr lang="en-US" sz="3200" b="1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stratégique</a:t>
            </a:r>
            <a:r>
              <a:rPr lang="en-US" sz="3200" b="1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/ Management </a:t>
            </a:r>
            <a:r>
              <a:rPr lang="en-US" sz="3200" b="1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opérationnel</a:t>
            </a:r>
            <a:r>
              <a:rPr lang="en-US" sz="3200" b="1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  <a:endParaRPr sz="3200" b="1" dirty="0">
              <a:solidFill>
                <a:srgbClr val="FF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214282" y="1857364"/>
            <a:ext cx="2786082" cy="785818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 management </a:t>
            </a: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stratégique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6"/>
          <p:cNvSpPr/>
          <p:nvPr/>
        </p:nvSpPr>
        <p:spPr>
          <a:xfrm>
            <a:off x="214282" y="3143248"/>
            <a:ext cx="2714644" cy="857256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Définir les grandes orientations de la stratégie de l’entreprise à LT </a:t>
            </a:r>
            <a:endParaRPr/>
          </a:p>
        </p:txBody>
      </p:sp>
      <p:sp>
        <p:nvSpPr>
          <p:cNvPr id="484" name="Google Shape;484;p36"/>
          <p:cNvSpPr/>
          <p:nvPr/>
        </p:nvSpPr>
        <p:spPr>
          <a:xfrm>
            <a:off x="214282" y="4286256"/>
            <a:ext cx="2714644" cy="1000132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Détermination des finalités /Objectifs de l’entreprise </a:t>
            </a:r>
            <a:endParaRPr/>
          </a:p>
        </p:txBody>
      </p:sp>
      <p:sp>
        <p:nvSpPr>
          <p:cNvPr id="485" name="Google Shape;485;p36"/>
          <p:cNvSpPr/>
          <p:nvPr/>
        </p:nvSpPr>
        <p:spPr>
          <a:xfrm>
            <a:off x="2857488" y="4000504"/>
            <a:ext cx="714380" cy="35719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6"/>
          <p:cNvSpPr/>
          <p:nvPr/>
        </p:nvSpPr>
        <p:spPr>
          <a:xfrm>
            <a:off x="3571868" y="3000372"/>
            <a:ext cx="2357454" cy="857256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Traduire les orientations stratégiques </a:t>
            </a:r>
            <a:endParaRPr/>
          </a:p>
        </p:txBody>
      </p:sp>
      <p:sp>
        <p:nvSpPr>
          <p:cNvPr id="487" name="Google Shape;487;p36"/>
          <p:cNvSpPr/>
          <p:nvPr/>
        </p:nvSpPr>
        <p:spPr>
          <a:xfrm>
            <a:off x="3643306" y="4143380"/>
            <a:ext cx="2357454" cy="1214446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Définir les moyens à mettre en œuvre pour réaliser les objectifs </a:t>
            </a:r>
            <a:endParaRPr/>
          </a:p>
        </p:txBody>
      </p:sp>
      <p:sp>
        <p:nvSpPr>
          <p:cNvPr id="488" name="Google Shape;488;p36"/>
          <p:cNvSpPr/>
          <p:nvPr/>
        </p:nvSpPr>
        <p:spPr>
          <a:xfrm>
            <a:off x="6786578" y="2857496"/>
            <a:ext cx="2143140" cy="714380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Mettre en œuvre les actions  définies </a:t>
            </a:r>
            <a:endParaRPr/>
          </a:p>
        </p:txBody>
      </p:sp>
      <p:sp>
        <p:nvSpPr>
          <p:cNvPr id="489" name="Google Shape;489;p36"/>
          <p:cNvSpPr/>
          <p:nvPr/>
        </p:nvSpPr>
        <p:spPr>
          <a:xfrm>
            <a:off x="6786578" y="3786190"/>
            <a:ext cx="2143140" cy="857256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Mobilisation des ressources disponibles</a:t>
            </a:r>
            <a:endParaRPr/>
          </a:p>
        </p:txBody>
      </p:sp>
      <p:sp>
        <p:nvSpPr>
          <p:cNvPr id="490" name="Google Shape;490;p36"/>
          <p:cNvSpPr/>
          <p:nvPr/>
        </p:nvSpPr>
        <p:spPr>
          <a:xfrm>
            <a:off x="6786578" y="4929198"/>
            <a:ext cx="2143140" cy="714380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Coordination des actions </a:t>
            </a:r>
            <a:endParaRPr/>
          </a:p>
        </p:txBody>
      </p:sp>
      <p:sp>
        <p:nvSpPr>
          <p:cNvPr id="491" name="Google Shape;491;p36"/>
          <p:cNvSpPr/>
          <p:nvPr/>
        </p:nvSpPr>
        <p:spPr>
          <a:xfrm>
            <a:off x="6072198" y="3857628"/>
            <a:ext cx="714380" cy="35719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6"/>
          <p:cNvSpPr/>
          <p:nvPr/>
        </p:nvSpPr>
        <p:spPr>
          <a:xfrm>
            <a:off x="285720" y="5643578"/>
            <a:ext cx="2928958" cy="857256"/>
          </a:xfrm>
          <a:prstGeom prst="striped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59336"/>
              </a:gs>
              <a:gs pos="80000">
                <a:srgbClr val="99C247"/>
              </a:gs>
              <a:gs pos="100000">
                <a:srgbClr val="9BC54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Décisions stratégiques 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6"/>
          <p:cNvSpPr/>
          <p:nvPr/>
        </p:nvSpPr>
        <p:spPr>
          <a:xfrm>
            <a:off x="3357554" y="5643578"/>
            <a:ext cx="2714644" cy="857256"/>
          </a:xfrm>
          <a:prstGeom prst="striped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59336"/>
              </a:gs>
              <a:gs pos="80000">
                <a:srgbClr val="99C247"/>
              </a:gs>
              <a:gs pos="100000">
                <a:srgbClr val="9BC54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Décisions Tactiques  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3857620" y="1785926"/>
            <a:ext cx="4572032" cy="785818"/>
          </a:xfrm>
          <a:prstGeom prst="rect">
            <a:avLst/>
          </a:prstGeom>
          <a:gradFill>
            <a:gsLst>
              <a:gs pos="0">
                <a:srgbClr val="29859E"/>
              </a:gs>
              <a:gs pos="80000">
                <a:srgbClr val="36B0D0"/>
              </a:gs>
              <a:gs pos="100000">
                <a:srgbClr val="33B3D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 management </a:t>
            </a: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opérationnel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6"/>
          <p:cNvSpPr/>
          <p:nvPr/>
        </p:nvSpPr>
        <p:spPr>
          <a:xfrm>
            <a:off x="6215074" y="5715016"/>
            <a:ext cx="2714644" cy="857256"/>
          </a:xfrm>
          <a:prstGeom prst="striped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59336"/>
              </a:gs>
              <a:gs pos="80000">
                <a:srgbClr val="99C247"/>
              </a:gs>
              <a:gs pos="100000">
                <a:srgbClr val="9BC54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Décisions opérationnelles   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Freeform 96"/>
          <p:cNvSpPr/>
          <p:nvPr/>
        </p:nvSpPr>
        <p:spPr>
          <a:xfrm>
            <a:off x="1569770" y="1477166"/>
            <a:ext cx="789304" cy="805768"/>
          </a:xfrm>
          <a:custGeom>
            <a:avLst/>
            <a:gdLst>
              <a:gd name="connsiteX0" fmla="*/ 0 w 2032000"/>
              <a:gd name="connsiteY0" fmla="*/ 1354666 h 1354666"/>
              <a:gd name="connsiteX1" fmla="*/ 1016000 w 2032000"/>
              <a:gd name="connsiteY1" fmla="*/ 0 h 1354666"/>
              <a:gd name="connsiteX2" fmla="*/ 1016000 w 2032000"/>
              <a:gd name="connsiteY2" fmla="*/ 0 h 1354666"/>
              <a:gd name="connsiteX3" fmla="*/ 2032000 w 2032000"/>
              <a:gd name="connsiteY3" fmla="*/ 1354666 h 1354666"/>
              <a:gd name="connsiteX4" fmla="*/ 0 w 2032000"/>
              <a:gd name="connsiteY4" fmla="*/ 1354666 h 135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2000" h="1354666">
                <a:moveTo>
                  <a:pt x="0" y="1354666"/>
                </a:moveTo>
                <a:lnTo>
                  <a:pt x="1016000" y="0"/>
                </a:lnTo>
                <a:lnTo>
                  <a:pt x="1016000" y="0"/>
                </a:lnTo>
                <a:lnTo>
                  <a:pt x="2032000" y="1354666"/>
                </a:lnTo>
                <a:lnTo>
                  <a:pt x="0" y="1354666"/>
                </a:lnTo>
                <a:close/>
              </a:path>
            </a:pathLst>
          </a:custGeom>
          <a:solidFill>
            <a:srgbClr val="EF9D27"/>
          </a:solidFill>
          <a:ln>
            <a:solidFill>
              <a:schemeClr val="bg1">
                <a:alpha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7470" tIns="77470" rIns="77470" bIns="77470" numCol="1" spcCol="1270" anchor="ctr" anchorCtr="0">
            <a:noAutofit/>
          </a:bodyPr>
          <a:lstStyle/>
          <a:p>
            <a:pPr algn="ctr" defTabSz="271138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/>
          </a:p>
        </p:txBody>
      </p:sp>
      <p:sp>
        <p:nvSpPr>
          <p:cNvPr id="98" name="Freeform 97"/>
          <p:cNvSpPr/>
          <p:nvPr/>
        </p:nvSpPr>
        <p:spPr>
          <a:xfrm>
            <a:off x="1108936" y="2620115"/>
            <a:ext cx="1710972" cy="805768"/>
          </a:xfrm>
          <a:custGeom>
            <a:avLst/>
            <a:gdLst>
              <a:gd name="connsiteX0" fmla="*/ 0 w 4064000"/>
              <a:gd name="connsiteY0" fmla="*/ 1354666 h 1354666"/>
              <a:gd name="connsiteX1" fmla="*/ 1016000 w 4064000"/>
              <a:gd name="connsiteY1" fmla="*/ 0 h 1354666"/>
              <a:gd name="connsiteX2" fmla="*/ 3048000 w 4064000"/>
              <a:gd name="connsiteY2" fmla="*/ 0 h 1354666"/>
              <a:gd name="connsiteX3" fmla="*/ 4064000 w 4064000"/>
              <a:gd name="connsiteY3" fmla="*/ 1354666 h 1354666"/>
              <a:gd name="connsiteX4" fmla="*/ 0 w 4064000"/>
              <a:gd name="connsiteY4" fmla="*/ 1354666 h 135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64000" h="1354666">
                <a:moveTo>
                  <a:pt x="0" y="1354666"/>
                </a:moveTo>
                <a:lnTo>
                  <a:pt x="1016000" y="0"/>
                </a:lnTo>
                <a:lnTo>
                  <a:pt x="3048000" y="0"/>
                </a:lnTo>
                <a:lnTo>
                  <a:pt x="4064000" y="1354666"/>
                </a:lnTo>
                <a:lnTo>
                  <a:pt x="0" y="1354666"/>
                </a:lnTo>
                <a:close/>
              </a:path>
            </a:pathLst>
          </a:custGeom>
          <a:solidFill>
            <a:srgbClr val="189A80"/>
          </a:solidFill>
          <a:ln>
            <a:solidFill>
              <a:schemeClr val="bg1">
                <a:alpha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93750" tIns="82550" rIns="793750" bIns="82550" numCol="1" spcCol="1270" anchor="ctr" anchorCtr="0">
            <a:noAutofit/>
          </a:bodyPr>
          <a:lstStyle/>
          <a:p>
            <a:pPr algn="ctr" defTabSz="28891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800" dirty="0"/>
          </a:p>
        </p:txBody>
      </p:sp>
      <p:sp>
        <p:nvSpPr>
          <p:cNvPr id="100" name="Freeform 99"/>
          <p:cNvSpPr/>
          <p:nvPr/>
        </p:nvSpPr>
        <p:spPr>
          <a:xfrm>
            <a:off x="608861" y="3636743"/>
            <a:ext cx="2684775" cy="805768"/>
          </a:xfrm>
          <a:custGeom>
            <a:avLst/>
            <a:gdLst>
              <a:gd name="connsiteX0" fmla="*/ 0 w 6096000"/>
              <a:gd name="connsiteY0" fmla="*/ 1354666 h 1354666"/>
              <a:gd name="connsiteX1" fmla="*/ 1016000 w 6096000"/>
              <a:gd name="connsiteY1" fmla="*/ 0 h 1354666"/>
              <a:gd name="connsiteX2" fmla="*/ 5080000 w 6096000"/>
              <a:gd name="connsiteY2" fmla="*/ 0 h 1354666"/>
              <a:gd name="connsiteX3" fmla="*/ 6096000 w 6096000"/>
              <a:gd name="connsiteY3" fmla="*/ 1354666 h 1354666"/>
              <a:gd name="connsiteX4" fmla="*/ 0 w 6096000"/>
              <a:gd name="connsiteY4" fmla="*/ 1354666 h 135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1354666">
                <a:moveTo>
                  <a:pt x="0" y="1354666"/>
                </a:moveTo>
                <a:lnTo>
                  <a:pt x="1016000" y="0"/>
                </a:lnTo>
                <a:lnTo>
                  <a:pt x="5080000" y="0"/>
                </a:lnTo>
                <a:lnTo>
                  <a:pt x="6096000" y="1354666"/>
                </a:lnTo>
                <a:lnTo>
                  <a:pt x="0" y="1354666"/>
                </a:lnTo>
                <a:close/>
              </a:path>
            </a:pathLst>
          </a:custGeom>
          <a:solidFill>
            <a:srgbClr val="34738D"/>
          </a:solidFill>
          <a:ln>
            <a:solidFill>
              <a:schemeClr val="bg1">
                <a:alpha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9349" tIns="82550" rIns="1149351" bIns="82550" numCol="1" spcCol="1270" anchor="ctr" anchorCtr="0">
            <a:noAutofit/>
          </a:bodyPr>
          <a:lstStyle/>
          <a:p>
            <a:pPr algn="ctr" defTabSz="288917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dirty="0"/>
          </a:p>
        </p:txBody>
      </p:sp>
      <p:sp>
        <p:nvSpPr>
          <p:cNvPr id="107" name="Arc 106"/>
          <p:cNvSpPr/>
          <p:nvPr/>
        </p:nvSpPr>
        <p:spPr>
          <a:xfrm rot="1726541">
            <a:off x="2127398" y="3179370"/>
            <a:ext cx="1257316" cy="1257316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8" name="Arc 107"/>
          <p:cNvSpPr/>
          <p:nvPr/>
        </p:nvSpPr>
        <p:spPr>
          <a:xfrm rot="2108339">
            <a:off x="1816426" y="1737442"/>
            <a:ext cx="1257316" cy="1257316"/>
          </a:xfrm>
          <a:prstGeom prst="arc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13" name="Straight Connector 112"/>
          <p:cNvCxnSpPr>
            <a:cxnSpLocks/>
          </p:cNvCxnSpPr>
          <p:nvPr/>
        </p:nvCxnSpPr>
        <p:spPr>
          <a:xfrm>
            <a:off x="3823109" y="1493144"/>
            <a:ext cx="0" cy="3087997"/>
          </a:xfrm>
          <a:prstGeom prst="line">
            <a:avLst/>
          </a:prstGeom>
          <a:ln w="12700">
            <a:solidFill>
              <a:srgbClr val="4C4F54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4735235" y="3833732"/>
            <a:ext cx="4271113" cy="1042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b="1" dirty="0">
                <a:solidFill>
                  <a:srgbClr val="34738D"/>
                </a:solidFill>
                <a:latin typeface="Candara" panose="020E0502030303020204" pitchFamily="34" charset="0"/>
              </a:rPr>
              <a:t>Décisions opérationnelles </a:t>
            </a:r>
            <a:endParaRPr lang="fr-TN" sz="2000" b="1" dirty="0">
              <a:solidFill>
                <a:srgbClr val="34738D"/>
              </a:solidFill>
              <a:latin typeface="Candara" panose="020E0502030303020204" pitchFamily="34" charset="0"/>
            </a:endParaRPr>
          </a:p>
          <a:p>
            <a:pPr algn="just"/>
            <a:r>
              <a:rPr lang="fr-FR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Décisions courantes qui permettent de piloter.   </a:t>
            </a:r>
            <a:endParaRPr lang="fr-TN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just"/>
            <a:endParaRPr lang="en-US" sz="975" dirty="0">
              <a:solidFill>
                <a:schemeClr val="bg2">
                  <a:lumMod val="1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4749367" y="2674935"/>
            <a:ext cx="4408765" cy="1288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>
                <a:solidFill>
                  <a:srgbClr val="189A80"/>
                </a:solidFill>
                <a:latin typeface="Candara" panose="020E0502030303020204" pitchFamily="34" charset="0"/>
              </a:rPr>
              <a:t>Décisions</a:t>
            </a:r>
            <a:r>
              <a:rPr lang="en-US" sz="2000" b="1" dirty="0">
                <a:solidFill>
                  <a:srgbClr val="189A8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189A80"/>
                </a:solidFill>
                <a:latin typeface="Candara" panose="020E0502030303020204" pitchFamily="34" charset="0"/>
              </a:rPr>
              <a:t>tactiques</a:t>
            </a:r>
            <a:r>
              <a:rPr lang="en-US" sz="2000" b="1" dirty="0">
                <a:solidFill>
                  <a:srgbClr val="189A80"/>
                </a:solidFill>
                <a:latin typeface="Candara" panose="020E0502030303020204" pitchFamily="34" charset="0"/>
              </a:rPr>
              <a:t> </a:t>
            </a:r>
          </a:p>
          <a:p>
            <a:pPr algn="just"/>
            <a:r>
              <a:rPr lang="fr-FR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Portent sur le choix et la gestion des moyens permettant l’atteinte des objectifs.   </a:t>
            </a:r>
            <a:endParaRPr lang="fr-TN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just"/>
            <a:endParaRPr lang="en-US" sz="975" dirty="0">
              <a:solidFill>
                <a:schemeClr val="bg2">
                  <a:lumMod val="1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731066" y="1320184"/>
            <a:ext cx="41752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EF9D27"/>
                </a:solidFill>
                <a:latin typeface="Candara" panose="020E0502030303020204" pitchFamily="34" charset="0"/>
              </a:rPr>
              <a:t>Décisions</a:t>
            </a:r>
            <a:r>
              <a:rPr lang="en-US" sz="2000" b="1" dirty="0">
                <a:solidFill>
                  <a:srgbClr val="EF9D27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EF9D27"/>
                </a:solidFill>
                <a:latin typeface="Candara" panose="020E0502030303020204" pitchFamily="34" charset="0"/>
              </a:rPr>
              <a:t>stratégiques</a:t>
            </a:r>
            <a:r>
              <a:rPr lang="en-US" sz="2000" b="1" dirty="0">
                <a:solidFill>
                  <a:srgbClr val="EF9D27"/>
                </a:solidFill>
                <a:latin typeface="Candara" panose="020E0502030303020204" pitchFamily="34" charset="0"/>
              </a:rPr>
              <a:t> </a:t>
            </a:r>
          </a:p>
          <a:p>
            <a:pPr algn="just"/>
            <a:r>
              <a:rPr lang="fr-FR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assurent le développement et la pérennité de l’entreprise. Elles engagent l’entreprise sur le long terme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andara" panose="020E0502030303020204" pitchFamily="34" charset="0"/>
              </a:rPr>
              <a:t>. </a:t>
            </a:r>
          </a:p>
        </p:txBody>
      </p:sp>
      <p:sp>
        <p:nvSpPr>
          <p:cNvPr id="121" name="Footer Text"/>
          <p:cNvSpPr txBox="1"/>
          <p:nvPr/>
        </p:nvSpPr>
        <p:spPr>
          <a:xfrm>
            <a:off x="1964422" y="5579887"/>
            <a:ext cx="36283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Candara" panose="020E0502030303020204" pitchFamily="34" charset="0"/>
              </a:rPr>
              <a:t>Igor Ansoff  </a:t>
            </a:r>
          </a:p>
        </p:txBody>
      </p:sp>
      <p:cxnSp>
        <p:nvCxnSpPr>
          <p:cNvPr id="122" name="Straight Line buttom"/>
          <p:cNvCxnSpPr/>
          <p:nvPr/>
        </p:nvCxnSpPr>
        <p:spPr>
          <a:xfrm>
            <a:off x="685800" y="5182576"/>
            <a:ext cx="7772400" cy="0"/>
          </a:xfrm>
          <a:prstGeom prst="line">
            <a:avLst/>
          </a:prstGeom>
          <a:ln w="19050">
            <a:solidFill>
              <a:srgbClr val="4C4F5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Freeform 46"/>
          <p:cNvSpPr>
            <a:spLocks noChangeAspect="1" noEditPoints="1"/>
          </p:cNvSpPr>
          <p:nvPr/>
        </p:nvSpPr>
        <p:spPr bwMode="auto">
          <a:xfrm>
            <a:off x="4206077" y="3859163"/>
            <a:ext cx="342900" cy="342900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rgbClr val="34738D"/>
          </a:solidFill>
          <a:ln w="9525">
            <a:solidFill>
              <a:schemeClr val="bg1">
                <a:alpha val="25000"/>
              </a:schemeClr>
            </a:solidFill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35" name="Freeform 46"/>
          <p:cNvSpPr>
            <a:spLocks noChangeAspect="1" noEditPoints="1"/>
          </p:cNvSpPr>
          <p:nvPr/>
        </p:nvSpPr>
        <p:spPr bwMode="auto">
          <a:xfrm>
            <a:off x="4210245" y="2782928"/>
            <a:ext cx="342900" cy="342900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rgbClr val="189A80"/>
          </a:solidFill>
          <a:ln w="9525">
            <a:solidFill>
              <a:schemeClr val="bg1">
                <a:alpha val="25000"/>
              </a:schemeClr>
            </a:solidFill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138" name="Freeform 46"/>
          <p:cNvSpPr>
            <a:spLocks noChangeAspect="1" noEditPoints="1"/>
          </p:cNvSpPr>
          <p:nvPr/>
        </p:nvSpPr>
        <p:spPr bwMode="auto">
          <a:xfrm>
            <a:off x="4206077" y="1333982"/>
            <a:ext cx="342900" cy="342900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rgbClr val="EF9D27"/>
          </a:solidFill>
          <a:ln w="9525">
            <a:solidFill>
              <a:schemeClr val="bg1">
                <a:alpha val="25000"/>
              </a:schemeClr>
            </a:solidFill>
            <a:round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7480A3-A174-4765-A4B9-12CEDAF74B94}"/>
              </a:ext>
            </a:extLst>
          </p:cNvPr>
          <p:cNvSpPr txBox="1"/>
          <p:nvPr/>
        </p:nvSpPr>
        <p:spPr>
          <a:xfrm>
            <a:off x="555518" y="438787"/>
            <a:ext cx="7772400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FF0000"/>
                </a:solidFill>
                <a:latin typeface="Libre Baskerville"/>
              </a:rPr>
              <a:t>Les différents types de décision </a:t>
            </a:r>
            <a:endParaRPr lang="en-US" sz="3300" b="1" dirty="0">
              <a:solidFill>
                <a:schemeClr val="bg2">
                  <a:lumMod val="10000"/>
                </a:schemeClr>
              </a:solidFill>
              <a:latin typeface="Candara" panose="020E0502030303020204" pitchFamily="34" charset="0"/>
            </a:endParaRPr>
          </a:p>
          <a:p>
            <a:endParaRPr lang="en-US" sz="1050" dirty="0">
              <a:solidFill>
                <a:schemeClr val="bg2">
                  <a:lumMod val="1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3" name="Google Shape;480;p36">
            <a:extLst>
              <a:ext uri="{FF2B5EF4-FFF2-40B4-BE49-F238E27FC236}">
                <a16:creationId xmlns:a16="http://schemas.microsoft.com/office/drawing/2014/main" id="{F18086EA-9331-93C9-5135-3F0F62AE46E2}"/>
              </a:ext>
            </a:extLst>
          </p:cNvPr>
          <p:cNvSpPr/>
          <p:nvPr/>
        </p:nvSpPr>
        <p:spPr>
          <a:xfrm rot="5400000">
            <a:off x="-31494" y="543524"/>
            <a:ext cx="510899" cy="447911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Growth Strategy 2.0: Ansoff goes Digital - STRAREX">
            <a:extLst>
              <a:ext uri="{FF2B5EF4-FFF2-40B4-BE49-F238E27FC236}">
                <a16:creationId xmlns:a16="http://schemas.microsoft.com/office/drawing/2014/main" id="{4FAD8B9D-DBFF-B916-3E62-991615DBE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61" y="5526091"/>
            <a:ext cx="1238865" cy="48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56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8" grpId="0" animBg="1"/>
      <p:bldP spid="100" grpId="0" animBg="1"/>
      <p:bldP spid="107" grpId="0" animBg="1"/>
      <p:bldP spid="108" grpId="0" animBg="1"/>
      <p:bldP spid="115" grpId="0"/>
      <p:bldP spid="116" grpId="0"/>
      <p:bldP spid="117" grpId="0"/>
      <p:bldP spid="121" grpId="0"/>
      <p:bldP spid="132" grpId="0" animBg="1"/>
      <p:bldP spid="135" grpId="0" animBg="1"/>
      <p:bldP spid="138" grpId="0" animBg="1"/>
      <p:bldP spid="3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47714115-F83C-E909-780B-9BFEE832D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586335"/>
              </p:ext>
            </p:extLst>
          </p:nvPr>
        </p:nvGraphicFramePr>
        <p:xfrm>
          <a:off x="457200" y="1791101"/>
          <a:ext cx="7905137" cy="354944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827723">
                  <a:extLst>
                    <a:ext uri="{9D8B030D-6E8A-4147-A177-3AD203B41FA5}">
                      <a16:colId xmlns:a16="http://schemas.microsoft.com/office/drawing/2014/main" val="1964846310"/>
                    </a:ext>
                  </a:extLst>
                </a:gridCol>
                <a:gridCol w="2538707">
                  <a:extLst>
                    <a:ext uri="{9D8B030D-6E8A-4147-A177-3AD203B41FA5}">
                      <a16:colId xmlns:a16="http://schemas.microsoft.com/office/drawing/2014/main" val="455738425"/>
                    </a:ext>
                  </a:extLst>
                </a:gridCol>
                <a:gridCol w="2538707">
                  <a:extLst>
                    <a:ext uri="{9D8B030D-6E8A-4147-A177-3AD203B41FA5}">
                      <a16:colId xmlns:a16="http://schemas.microsoft.com/office/drawing/2014/main" val="732914524"/>
                    </a:ext>
                  </a:extLst>
                </a:gridCol>
              </a:tblGrid>
              <a:tr h="745285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rgbClr val="002060"/>
                          </a:solidFill>
                        </a:rPr>
                        <a:t>Caractéristiques </a:t>
                      </a:r>
                      <a:endParaRPr lang="fr-TN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2000" b="1" i="0" u="none" strike="noStrike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Décisions opérationnelles </a:t>
                      </a:r>
                      <a:endParaRPr lang="fr-TN" sz="2000" b="1" i="0" u="none" strike="noStrike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2000" b="1" i="0" u="none" strike="noStrike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Décisions stratégiques </a:t>
                      </a:r>
                      <a:endParaRPr lang="fr-TN" sz="2000" b="1" i="0" u="none" strike="noStrike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13389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rgbClr val="4F81BD"/>
                          </a:solidFill>
                        </a:rPr>
                        <a:t>Impact </a:t>
                      </a:r>
                      <a:endParaRPr lang="fr-TN" sz="2000" b="1" dirty="0">
                        <a:solidFill>
                          <a:srgbClr val="4F81BD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Limité (un service)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Global (toute l’entreprise) 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9907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rgbClr val="4F81BD"/>
                          </a:solidFill>
                        </a:rPr>
                        <a:t>Durée de préparation et mise en œuvre </a:t>
                      </a:r>
                      <a:endParaRPr lang="fr-TN" sz="2000" b="1" dirty="0">
                        <a:solidFill>
                          <a:srgbClr val="4F81BD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Courte 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Longue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698150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rgbClr val="4F81BD"/>
                          </a:solidFill>
                        </a:rPr>
                        <a:t>Répétitivité </a:t>
                      </a:r>
                      <a:endParaRPr lang="fr-TN" sz="2000" b="1" dirty="0">
                        <a:solidFill>
                          <a:srgbClr val="4F81BD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Forte 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Nulle 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020276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rgbClr val="4F81BD"/>
                          </a:solidFill>
                        </a:rPr>
                        <a:t>Nature de la décision </a:t>
                      </a:r>
                      <a:endParaRPr lang="fr-TN" sz="2000" b="1" dirty="0">
                        <a:solidFill>
                          <a:srgbClr val="4F81BD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Exploitation de potentiel existant 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Exploration de potentiel nouveau 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2617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rgbClr val="4F81BD"/>
                          </a:solidFill>
                        </a:rPr>
                        <a:t>Réversibilité </a:t>
                      </a:r>
                      <a:endParaRPr lang="fr-TN" sz="2000" b="1" dirty="0">
                        <a:solidFill>
                          <a:srgbClr val="4F81BD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Forte 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Faible 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2682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rgbClr val="4F81BD"/>
                          </a:solidFill>
                        </a:rPr>
                        <a:t>Niveau hiérarchique </a:t>
                      </a:r>
                      <a:endParaRPr lang="fr-TN" sz="2000" b="1" dirty="0">
                        <a:solidFill>
                          <a:srgbClr val="4F81BD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Bas 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002060"/>
                          </a:solidFill>
                        </a:rPr>
                        <a:t>Haut </a:t>
                      </a:r>
                      <a:endParaRPr lang="fr-TN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8760240"/>
                  </a:ext>
                </a:extLst>
              </a:tr>
            </a:tbl>
          </a:graphicData>
        </a:graphic>
      </p:graphicFrame>
      <p:cxnSp>
        <p:nvCxnSpPr>
          <p:cNvPr id="6" name="Straight Line buttom">
            <a:extLst>
              <a:ext uri="{FF2B5EF4-FFF2-40B4-BE49-F238E27FC236}">
                <a16:creationId xmlns:a16="http://schemas.microsoft.com/office/drawing/2014/main" id="{6D6CD06E-1E5F-3B66-1D90-54CBC0FB27B1}"/>
              </a:ext>
            </a:extLst>
          </p:cNvPr>
          <p:cNvCxnSpPr/>
          <p:nvPr/>
        </p:nvCxnSpPr>
        <p:spPr>
          <a:xfrm>
            <a:off x="523568" y="5713517"/>
            <a:ext cx="7772400" cy="0"/>
          </a:xfrm>
          <a:prstGeom prst="line">
            <a:avLst/>
          </a:prstGeom>
          <a:ln w="19050">
            <a:solidFill>
              <a:srgbClr val="4C4F5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480;p36">
            <a:extLst>
              <a:ext uri="{FF2B5EF4-FFF2-40B4-BE49-F238E27FC236}">
                <a16:creationId xmlns:a16="http://schemas.microsoft.com/office/drawing/2014/main" id="{66A8DDC2-0172-56FC-41AA-E63A06774D01}"/>
              </a:ext>
            </a:extLst>
          </p:cNvPr>
          <p:cNvSpPr/>
          <p:nvPr/>
        </p:nvSpPr>
        <p:spPr>
          <a:xfrm rot="5400000">
            <a:off x="-31494" y="543524"/>
            <a:ext cx="510899" cy="447911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156A37DA-8041-1776-8BAA-70B8AC707FEE}"/>
              </a:ext>
            </a:extLst>
          </p:cNvPr>
          <p:cNvSpPr txBox="1"/>
          <p:nvPr/>
        </p:nvSpPr>
        <p:spPr>
          <a:xfrm>
            <a:off x="555518" y="438787"/>
            <a:ext cx="7772400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FF0000"/>
                </a:solidFill>
                <a:latin typeface="Libre Baskerville"/>
              </a:rPr>
              <a:t>Décisions stratégiques/ Décisions opérationnelles  </a:t>
            </a:r>
            <a:endParaRPr lang="en-US" sz="3300" b="1" dirty="0">
              <a:solidFill>
                <a:schemeClr val="bg2">
                  <a:lumMod val="10000"/>
                </a:schemeClr>
              </a:solidFill>
              <a:latin typeface="Candara" panose="020E0502030303020204" pitchFamily="34" charset="0"/>
            </a:endParaRPr>
          </a:p>
          <a:p>
            <a:endParaRPr lang="en-US" sz="1050" dirty="0">
              <a:solidFill>
                <a:schemeClr val="bg2">
                  <a:lumMod val="10000"/>
                </a:schemeClr>
              </a:solidFill>
              <a:latin typeface="Candara" panose="020E0502030303020204" pitchFamily="34" charset="0"/>
            </a:endParaRPr>
          </a:p>
        </p:txBody>
      </p:sp>
      <p:pic>
        <p:nvPicPr>
          <p:cNvPr id="1026" name="Picture 2" descr="Michel Kalika, Business Science Institute - Que vaut la révolution des  réunions à distance ? - Fenêtres ouvertes sur la gestion - xerficanal.com">
            <a:extLst>
              <a:ext uri="{FF2B5EF4-FFF2-40B4-BE49-F238E27FC236}">
                <a16:creationId xmlns:a16="http://schemas.microsoft.com/office/drawing/2014/main" id="{F96FA347-0527-67C6-7A7D-56AEACD66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55518" y="5805413"/>
            <a:ext cx="997820" cy="56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ooter Text">
            <a:extLst>
              <a:ext uri="{FF2B5EF4-FFF2-40B4-BE49-F238E27FC236}">
                <a16:creationId xmlns:a16="http://schemas.microsoft.com/office/drawing/2014/main" id="{64802A4A-1722-5938-5433-3B81C9218915}"/>
              </a:ext>
            </a:extLst>
          </p:cNvPr>
          <p:cNvSpPr txBox="1"/>
          <p:nvPr/>
        </p:nvSpPr>
        <p:spPr>
          <a:xfrm>
            <a:off x="1789312" y="5947989"/>
            <a:ext cx="36283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Candara" panose="020E0502030303020204" pitchFamily="34" charset="0"/>
              </a:rPr>
              <a:t>Adapté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Candara" panose="020E0502030303020204" pitchFamily="34" charset="0"/>
              </a:rPr>
              <a:t> Michel Kalika   </a:t>
            </a:r>
          </a:p>
        </p:txBody>
      </p:sp>
    </p:spTree>
    <p:extLst>
      <p:ext uri="{BB962C8B-B14F-4D97-AF65-F5344CB8AC3E}">
        <p14:creationId xmlns:p14="http://schemas.microsoft.com/office/powerpoint/2010/main" val="20944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Office PowerPoint</Application>
  <PresentationFormat>Affichage à l'écran (4:3)</PresentationFormat>
  <Paragraphs>184</Paragraphs>
  <Slides>24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1" baseType="lpstr">
      <vt:lpstr>Anton</vt:lpstr>
      <vt:lpstr>Candara</vt:lpstr>
      <vt:lpstr>Arial</vt:lpstr>
      <vt:lpstr>Trebuchet MS</vt:lpstr>
      <vt:lpstr>Calibri</vt:lpstr>
      <vt:lpstr>Libre Baskerville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Insaf Riahi Tekaya</dc:creator>
  <cp:lastModifiedBy>insaf tekaya</cp:lastModifiedBy>
  <cp:revision>9</cp:revision>
  <dcterms:modified xsi:type="dcterms:W3CDTF">2023-09-15T17:22:16Z</dcterms:modified>
</cp:coreProperties>
</file>