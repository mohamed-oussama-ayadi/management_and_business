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60" r:id="rId4"/>
    <p:sldId id="262" r:id="rId5"/>
    <p:sldId id="259" r:id="rId6"/>
    <p:sldId id="280" r:id="rId7"/>
    <p:sldId id="281" r:id="rId8"/>
    <p:sldId id="282" r:id="rId9"/>
    <p:sldId id="283" r:id="rId10"/>
    <p:sldId id="301" r:id="rId11"/>
    <p:sldId id="284" r:id="rId12"/>
    <p:sldId id="285" r:id="rId13"/>
    <p:sldId id="302" r:id="rId14"/>
    <p:sldId id="286" r:id="rId15"/>
    <p:sldId id="287" r:id="rId16"/>
    <p:sldId id="289" r:id="rId17"/>
    <p:sldId id="288" r:id="rId18"/>
    <p:sldId id="290" r:id="rId19"/>
    <p:sldId id="291" r:id="rId20"/>
    <p:sldId id="292" r:id="rId21"/>
    <p:sldId id="295" r:id="rId22"/>
    <p:sldId id="293" r:id="rId23"/>
    <p:sldId id="294" r:id="rId24"/>
    <p:sldId id="296" r:id="rId25"/>
    <p:sldId id="297" r:id="rId26"/>
    <p:sldId id="298" r:id="rId27"/>
    <p:sldId id="300" r:id="rId28"/>
    <p:sldId id="303" r:id="rId29"/>
    <p:sldId id="304" r:id="rId3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6AA8E5-07CD-4594-BC28-246D154569BD}" type="doc">
      <dgm:prSet loTypeId="urn:microsoft.com/office/officeart/2005/8/layout/arrow2" loCatId="process" qsTypeId="urn:microsoft.com/office/officeart/2005/8/quickstyle/3d6" qsCatId="3D" csTypeId="urn:microsoft.com/office/officeart/2005/8/colors/colorful5" csCatId="colorful" phldr="1"/>
      <dgm:spPr/>
    </dgm:pt>
    <dgm:pt modelId="{6C506110-2914-4ECF-8648-B5C4F419EC23}">
      <dgm:prSet phldrT="[Texte]"/>
      <dgm:spPr/>
      <dgm:t>
        <a:bodyPr/>
        <a:lstStyle/>
        <a:p>
          <a:r>
            <a:rPr lang="fr-FR" b="1" dirty="0" smtClean="0"/>
            <a:t>Doter l’entreprise en personnel </a:t>
          </a:r>
          <a:endParaRPr lang="fr-FR" b="1" dirty="0"/>
        </a:p>
      </dgm:t>
    </dgm:pt>
    <dgm:pt modelId="{36951C35-0EF7-47B9-8B7A-C5CFBBEE9603}" type="parTrans" cxnId="{6DC74839-1127-42DB-8487-4C601F647084}">
      <dgm:prSet/>
      <dgm:spPr/>
      <dgm:t>
        <a:bodyPr/>
        <a:lstStyle/>
        <a:p>
          <a:endParaRPr lang="fr-FR"/>
        </a:p>
      </dgm:t>
    </dgm:pt>
    <dgm:pt modelId="{64E879F4-DF3F-46CC-9835-A7EB56487010}" type="sibTrans" cxnId="{6DC74839-1127-42DB-8487-4C601F647084}">
      <dgm:prSet/>
      <dgm:spPr/>
      <dgm:t>
        <a:bodyPr/>
        <a:lstStyle/>
        <a:p>
          <a:endParaRPr lang="fr-FR"/>
        </a:p>
      </dgm:t>
    </dgm:pt>
    <dgm:pt modelId="{DCB7999D-2660-4FA0-AB6E-4D337D33C2CB}" type="pres">
      <dgm:prSet presAssocID="{406AA8E5-07CD-4594-BC28-246D154569BD}" presName="arrowDiagram" presStyleCnt="0">
        <dgm:presLayoutVars>
          <dgm:chMax val="5"/>
          <dgm:dir/>
          <dgm:resizeHandles val="exact"/>
        </dgm:presLayoutVars>
      </dgm:prSet>
      <dgm:spPr/>
    </dgm:pt>
    <dgm:pt modelId="{71FE43F6-5A77-4D4A-9D8C-EE76A33A10FE}" type="pres">
      <dgm:prSet presAssocID="{406AA8E5-07CD-4594-BC28-246D154569BD}" presName="arrow" presStyleLbl="bgShp" presStyleIdx="0" presStyleCnt="1" custLinFactNeighborX="-23750" custLinFactNeighborY="29000"/>
      <dgm:spPr/>
    </dgm:pt>
    <dgm:pt modelId="{6545711C-E216-4C31-82E5-FDEC5B14C283}" type="pres">
      <dgm:prSet presAssocID="{406AA8E5-07CD-4594-BC28-246D154569BD}" presName="arrowDiagram1" presStyleCnt="0">
        <dgm:presLayoutVars>
          <dgm:bulletEnabled val="1"/>
        </dgm:presLayoutVars>
      </dgm:prSet>
      <dgm:spPr/>
    </dgm:pt>
    <dgm:pt modelId="{EA8A4A99-75D3-468B-BF30-685CE72C8F7F}" type="pres">
      <dgm:prSet presAssocID="{6C506110-2914-4ECF-8648-B5C4F419EC23}" presName="bullet1" presStyleLbl="node1" presStyleIdx="0" presStyleCnt="1"/>
      <dgm:spPr/>
    </dgm:pt>
    <dgm:pt modelId="{7A3B4D12-9A29-44CE-BED2-7C38FD229750}" type="pres">
      <dgm:prSet presAssocID="{6C506110-2914-4ECF-8648-B5C4F419EC23}" presName="textBox1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9291DF4-2F49-46EB-8F19-34B0B6B9D1AC}" type="presOf" srcId="{406AA8E5-07CD-4594-BC28-246D154569BD}" destId="{DCB7999D-2660-4FA0-AB6E-4D337D33C2CB}" srcOrd="0" destOrd="0" presId="urn:microsoft.com/office/officeart/2005/8/layout/arrow2"/>
    <dgm:cxn modelId="{FAEEAD36-DAA2-4263-9283-F3D36960C50E}" type="presOf" srcId="{6C506110-2914-4ECF-8648-B5C4F419EC23}" destId="{7A3B4D12-9A29-44CE-BED2-7C38FD229750}" srcOrd="0" destOrd="0" presId="urn:microsoft.com/office/officeart/2005/8/layout/arrow2"/>
    <dgm:cxn modelId="{6DC74839-1127-42DB-8487-4C601F647084}" srcId="{406AA8E5-07CD-4594-BC28-246D154569BD}" destId="{6C506110-2914-4ECF-8648-B5C4F419EC23}" srcOrd="0" destOrd="0" parTransId="{36951C35-0EF7-47B9-8B7A-C5CFBBEE9603}" sibTransId="{64E879F4-DF3F-46CC-9835-A7EB56487010}"/>
    <dgm:cxn modelId="{9285A096-9595-4414-9F6A-A5BEF97C454C}" type="presParOf" srcId="{DCB7999D-2660-4FA0-AB6E-4D337D33C2CB}" destId="{71FE43F6-5A77-4D4A-9D8C-EE76A33A10FE}" srcOrd="0" destOrd="0" presId="urn:microsoft.com/office/officeart/2005/8/layout/arrow2"/>
    <dgm:cxn modelId="{B410CC19-6D79-4962-A3F6-468634D10C7C}" type="presParOf" srcId="{DCB7999D-2660-4FA0-AB6E-4D337D33C2CB}" destId="{6545711C-E216-4C31-82E5-FDEC5B14C283}" srcOrd="1" destOrd="0" presId="urn:microsoft.com/office/officeart/2005/8/layout/arrow2"/>
    <dgm:cxn modelId="{E6DE83BB-021F-4F66-8B08-D1AFABF51ECE}" type="presParOf" srcId="{6545711C-E216-4C31-82E5-FDEC5B14C283}" destId="{EA8A4A99-75D3-468B-BF30-685CE72C8F7F}" srcOrd="0" destOrd="0" presId="urn:microsoft.com/office/officeart/2005/8/layout/arrow2"/>
    <dgm:cxn modelId="{BAF95BD2-66E3-436B-855C-CA2A5FBC6B00}" type="presParOf" srcId="{6545711C-E216-4C31-82E5-FDEC5B14C283}" destId="{7A3B4D12-9A29-44CE-BED2-7C38FD229750}" srcOrd="1" destOrd="0" presId="urn:microsoft.com/office/officeart/2005/8/layout/arrow2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C86B89-ECBF-405D-9F41-6B46E1908BEB}" type="doc">
      <dgm:prSet loTypeId="urn:microsoft.com/office/officeart/2005/8/layout/balance1" loCatId="relationship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FA650CB1-A261-40FB-9347-0A4F6DD371BE}">
      <dgm:prSet phldrT="[Texte]"/>
      <dgm:spPr/>
      <dgm:t>
        <a:bodyPr/>
        <a:lstStyle/>
        <a:p>
          <a:r>
            <a:rPr lang="fr-FR" dirty="0" smtClean="0"/>
            <a:t>Qualitatif  </a:t>
          </a:r>
          <a:endParaRPr lang="fr-FR" dirty="0"/>
        </a:p>
      </dgm:t>
    </dgm:pt>
    <dgm:pt modelId="{735D2796-93BF-4CD9-A5CD-DC3FEC301D8D}" type="parTrans" cxnId="{226F2932-FD85-4234-BC11-DC12A21CF7DF}">
      <dgm:prSet/>
      <dgm:spPr/>
      <dgm:t>
        <a:bodyPr/>
        <a:lstStyle/>
        <a:p>
          <a:endParaRPr lang="fr-FR"/>
        </a:p>
      </dgm:t>
    </dgm:pt>
    <dgm:pt modelId="{C7653ACC-1850-4E6C-9F43-05DEA084F945}" type="sibTrans" cxnId="{226F2932-FD85-4234-BC11-DC12A21CF7DF}">
      <dgm:prSet/>
      <dgm:spPr/>
      <dgm:t>
        <a:bodyPr/>
        <a:lstStyle/>
        <a:p>
          <a:endParaRPr lang="fr-FR"/>
        </a:p>
      </dgm:t>
    </dgm:pt>
    <dgm:pt modelId="{62975300-C0E1-4FCC-BB86-FB2F4AF3D33A}">
      <dgm:prSet phldrT="[Texte]"/>
      <dgm:spPr/>
      <dgm:t>
        <a:bodyPr/>
        <a:lstStyle/>
        <a:p>
          <a:r>
            <a:rPr lang="fr-FR" dirty="0" smtClean="0"/>
            <a:t>Besoin</a:t>
          </a:r>
          <a:endParaRPr lang="fr-FR" dirty="0"/>
        </a:p>
      </dgm:t>
    </dgm:pt>
    <dgm:pt modelId="{C826B8D2-36D3-4D19-8B48-FB0EEA7165C4}" type="parTrans" cxnId="{20155C13-5564-4CF4-A897-BA5DA6B595A4}">
      <dgm:prSet/>
      <dgm:spPr/>
      <dgm:t>
        <a:bodyPr/>
        <a:lstStyle/>
        <a:p>
          <a:endParaRPr lang="fr-FR"/>
        </a:p>
      </dgm:t>
    </dgm:pt>
    <dgm:pt modelId="{D084FB27-A252-4939-AA4F-573B67792AE9}" type="sibTrans" cxnId="{20155C13-5564-4CF4-A897-BA5DA6B595A4}">
      <dgm:prSet/>
      <dgm:spPr/>
      <dgm:t>
        <a:bodyPr/>
        <a:lstStyle/>
        <a:p>
          <a:endParaRPr lang="fr-FR"/>
        </a:p>
      </dgm:t>
    </dgm:pt>
    <dgm:pt modelId="{1EF2942B-2603-4B1A-A991-C0CEE368BAA5}">
      <dgm:prSet phldrT="[Texte]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fr-FR" dirty="0" smtClean="0"/>
            <a:t>Candidat </a:t>
          </a:r>
          <a:endParaRPr lang="fr-FR" dirty="0"/>
        </a:p>
      </dgm:t>
    </dgm:pt>
    <dgm:pt modelId="{CD0FD6CE-F62A-454A-B722-666D7A42DF14}" type="parTrans" cxnId="{4F6A914A-3623-4C69-91F7-DF716468058D}">
      <dgm:prSet/>
      <dgm:spPr/>
      <dgm:t>
        <a:bodyPr/>
        <a:lstStyle/>
        <a:p>
          <a:endParaRPr lang="fr-FR"/>
        </a:p>
      </dgm:t>
    </dgm:pt>
    <dgm:pt modelId="{4F7C2722-A289-4C0D-88A4-53942B1717B0}" type="sibTrans" cxnId="{4F6A914A-3623-4C69-91F7-DF716468058D}">
      <dgm:prSet/>
      <dgm:spPr/>
      <dgm:t>
        <a:bodyPr/>
        <a:lstStyle/>
        <a:p>
          <a:endParaRPr lang="fr-FR"/>
        </a:p>
      </dgm:t>
    </dgm:pt>
    <dgm:pt modelId="{A6372FAC-4739-4A61-B2FF-79BF2C3F81DA}">
      <dgm:prSet phldrT="[Texte]"/>
      <dgm:spPr/>
      <dgm:t>
        <a:bodyPr/>
        <a:lstStyle/>
        <a:p>
          <a:r>
            <a:rPr lang="fr-FR" dirty="0" smtClean="0"/>
            <a:t>Compétence</a:t>
          </a:r>
        </a:p>
      </dgm:t>
    </dgm:pt>
    <dgm:pt modelId="{C919D6E4-138F-47BC-9D52-7377EA68A70B}" type="parTrans" cxnId="{15B75132-EBE5-480B-B755-9BDA1C51A95A}">
      <dgm:prSet/>
      <dgm:spPr/>
      <dgm:t>
        <a:bodyPr/>
        <a:lstStyle/>
        <a:p>
          <a:endParaRPr lang="fr-FR"/>
        </a:p>
      </dgm:t>
    </dgm:pt>
    <dgm:pt modelId="{879AE7F6-F13F-4EDD-B2C9-B75FB75A20F3}" type="sibTrans" cxnId="{15B75132-EBE5-480B-B755-9BDA1C51A95A}">
      <dgm:prSet/>
      <dgm:spPr/>
      <dgm:t>
        <a:bodyPr/>
        <a:lstStyle/>
        <a:p>
          <a:endParaRPr lang="fr-FR"/>
        </a:p>
      </dgm:t>
    </dgm:pt>
    <dgm:pt modelId="{898F3D07-08FB-4311-8148-14E36746BC6F}">
      <dgm:prSet phldrT="[Texte]"/>
      <dgm:spPr/>
      <dgm:t>
        <a:bodyPr/>
        <a:lstStyle/>
        <a:p>
          <a:r>
            <a:rPr lang="fr-FR" dirty="0" smtClean="0"/>
            <a:t>Profil </a:t>
          </a:r>
          <a:endParaRPr lang="fr-FR" dirty="0"/>
        </a:p>
      </dgm:t>
    </dgm:pt>
    <dgm:pt modelId="{AB681D12-30DC-43E8-8B64-DBDCDDE76E80}" type="parTrans" cxnId="{CF9139EA-9C08-415C-A03F-F6A738FDB711}">
      <dgm:prSet/>
      <dgm:spPr/>
      <dgm:t>
        <a:bodyPr/>
        <a:lstStyle/>
        <a:p>
          <a:endParaRPr lang="fr-FR"/>
        </a:p>
      </dgm:t>
    </dgm:pt>
    <dgm:pt modelId="{DD955AD1-0936-44EE-9281-5E29EE471569}" type="sibTrans" cxnId="{CF9139EA-9C08-415C-A03F-F6A738FDB711}">
      <dgm:prSet/>
      <dgm:spPr/>
      <dgm:t>
        <a:bodyPr/>
        <a:lstStyle/>
        <a:p>
          <a:endParaRPr lang="fr-FR"/>
        </a:p>
      </dgm:t>
    </dgm:pt>
    <dgm:pt modelId="{0078065C-F05A-4ABA-AE9C-E650C80F8935}">
      <dgm:prSet phldrT="[Texte]" phldr="1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fr-FR" dirty="0"/>
        </a:p>
      </dgm:t>
    </dgm:pt>
    <dgm:pt modelId="{E39FECF0-0EAD-4295-993B-29218B87F5C0}" type="sibTrans" cxnId="{BCB5C4A1-92B2-476C-9E3F-59F1B510542D}">
      <dgm:prSet/>
      <dgm:spPr/>
      <dgm:t>
        <a:bodyPr/>
        <a:lstStyle/>
        <a:p>
          <a:endParaRPr lang="fr-FR"/>
        </a:p>
      </dgm:t>
    </dgm:pt>
    <dgm:pt modelId="{8DBD94E2-A0FB-4813-90EC-B78B1FCB1BD9}" type="parTrans" cxnId="{BCB5C4A1-92B2-476C-9E3F-59F1B510542D}">
      <dgm:prSet/>
      <dgm:spPr/>
      <dgm:t>
        <a:bodyPr/>
        <a:lstStyle/>
        <a:p>
          <a:endParaRPr lang="fr-FR"/>
        </a:p>
      </dgm:t>
    </dgm:pt>
    <dgm:pt modelId="{020557E2-0FD2-4A89-B516-98A0AA13DC3B}" type="pres">
      <dgm:prSet presAssocID="{46C86B89-ECBF-405D-9F41-6B46E1908BEB}" presName="outerComposite" presStyleCnt="0">
        <dgm:presLayoutVars>
          <dgm:chMax val="2"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AB36ADC-03AD-4DD6-A6C6-7358194732F4}" type="pres">
      <dgm:prSet presAssocID="{46C86B89-ECBF-405D-9F41-6B46E1908BEB}" presName="dummyMaxCanvas" presStyleCnt="0"/>
      <dgm:spPr/>
    </dgm:pt>
    <dgm:pt modelId="{8166B881-B580-4F9D-993A-BFDF1E441686}" type="pres">
      <dgm:prSet presAssocID="{46C86B89-ECBF-405D-9F41-6B46E1908BEB}" presName="parentComposite" presStyleCnt="0"/>
      <dgm:spPr/>
    </dgm:pt>
    <dgm:pt modelId="{D696D49B-27CD-4DDF-89B3-4418A9D986ED}" type="pres">
      <dgm:prSet presAssocID="{46C86B89-ECBF-405D-9F41-6B46E1908BEB}" presName="parent1" presStyleLbl="alignAccFollowNode1" presStyleIdx="0" presStyleCnt="4">
        <dgm:presLayoutVars>
          <dgm:chMax val="4"/>
        </dgm:presLayoutVars>
      </dgm:prSet>
      <dgm:spPr/>
      <dgm:t>
        <a:bodyPr/>
        <a:lstStyle/>
        <a:p>
          <a:endParaRPr lang="fr-FR"/>
        </a:p>
      </dgm:t>
    </dgm:pt>
    <dgm:pt modelId="{27A190AC-4BA7-4F72-82B0-194D6F5753E3}" type="pres">
      <dgm:prSet presAssocID="{46C86B89-ECBF-405D-9F41-6B46E1908BEB}" presName="parent2" presStyleLbl="alignAccFollowNode1" presStyleIdx="1" presStyleCnt="4">
        <dgm:presLayoutVars>
          <dgm:chMax val="4"/>
        </dgm:presLayoutVars>
      </dgm:prSet>
      <dgm:spPr/>
      <dgm:t>
        <a:bodyPr/>
        <a:lstStyle/>
        <a:p>
          <a:endParaRPr lang="fr-FR"/>
        </a:p>
      </dgm:t>
    </dgm:pt>
    <dgm:pt modelId="{DEE7D415-6D6B-49A3-9F92-210C9864E612}" type="pres">
      <dgm:prSet presAssocID="{46C86B89-ECBF-405D-9F41-6B46E1908BEB}" presName="childrenComposite" presStyleCnt="0"/>
      <dgm:spPr/>
    </dgm:pt>
    <dgm:pt modelId="{594614A8-9EC5-4AF3-8BB9-5E2EC143AA1E}" type="pres">
      <dgm:prSet presAssocID="{46C86B89-ECBF-405D-9F41-6B46E1908BEB}" presName="dummyMaxCanvas_ChildArea" presStyleCnt="0"/>
      <dgm:spPr/>
    </dgm:pt>
    <dgm:pt modelId="{9329A77A-FA18-4BAB-80BC-F161000743EB}" type="pres">
      <dgm:prSet presAssocID="{46C86B89-ECBF-405D-9F41-6B46E1908BEB}" presName="fulcrum" presStyleLbl="alignAccFollowNode1" presStyleIdx="2" presStyleCnt="4"/>
      <dgm:spPr/>
    </dgm:pt>
    <dgm:pt modelId="{B882DD47-DD1C-410B-B07C-17399DB0D90F}" type="pres">
      <dgm:prSet presAssocID="{46C86B89-ECBF-405D-9F41-6B46E1908BEB}" presName="balance_22" presStyleLbl="alignAccFollowNode1" presStyleIdx="3" presStyleCnt="4">
        <dgm:presLayoutVars>
          <dgm:bulletEnabled val="1"/>
        </dgm:presLayoutVars>
      </dgm:prSet>
      <dgm:spPr/>
    </dgm:pt>
    <dgm:pt modelId="{8113C0A9-1FA8-4CB2-A287-56DC1AA6D312}" type="pres">
      <dgm:prSet presAssocID="{46C86B89-ECBF-405D-9F41-6B46E1908BEB}" presName="right_22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E142F69-C81D-4A3F-A5BD-000AEB2E6A9A}" type="pres">
      <dgm:prSet presAssocID="{46C86B89-ECBF-405D-9F41-6B46E1908BEB}" presName="right_22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5A0AC22-3857-4DFA-B3EF-C931BB52FFA3}" type="pres">
      <dgm:prSet presAssocID="{46C86B89-ECBF-405D-9F41-6B46E1908BEB}" presName="left_22_1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C93361A-2445-46D0-93EB-E8B764552ED7}" type="pres">
      <dgm:prSet presAssocID="{46C86B89-ECBF-405D-9F41-6B46E1908BEB}" presName="left_22_2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15B75132-EBE5-480B-B755-9BDA1C51A95A}" srcId="{1EF2942B-2603-4B1A-A991-C0CEE368BAA5}" destId="{A6372FAC-4739-4A61-B2FF-79BF2C3F81DA}" srcOrd="0" destOrd="0" parTransId="{C919D6E4-138F-47BC-9D52-7377EA68A70B}" sibTransId="{879AE7F6-F13F-4EDD-B2C9-B75FB75A20F3}"/>
    <dgm:cxn modelId="{BCB5C4A1-92B2-476C-9E3F-59F1B510542D}" srcId="{46C86B89-ECBF-405D-9F41-6B46E1908BEB}" destId="{0078065C-F05A-4ABA-AE9C-E650C80F8935}" srcOrd="0" destOrd="0" parTransId="{8DBD94E2-A0FB-4813-90EC-B78B1FCB1BD9}" sibTransId="{E39FECF0-0EAD-4295-993B-29218B87F5C0}"/>
    <dgm:cxn modelId="{5749B3E9-4E8A-49C0-8167-0D14889987A9}" type="presOf" srcId="{FA650CB1-A261-40FB-9347-0A4F6DD371BE}" destId="{D5A0AC22-3857-4DFA-B3EF-C931BB52FFA3}" srcOrd="0" destOrd="0" presId="urn:microsoft.com/office/officeart/2005/8/layout/balance1"/>
    <dgm:cxn modelId="{CF9139EA-9C08-415C-A03F-F6A738FDB711}" srcId="{1EF2942B-2603-4B1A-A991-C0CEE368BAA5}" destId="{898F3D07-08FB-4311-8148-14E36746BC6F}" srcOrd="1" destOrd="0" parTransId="{AB681D12-30DC-43E8-8B64-DBDCDDE76E80}" sibTransId="{DD955AD1-0936-44EE-9281-5E29EE471569}"/>
    <dgm:cxn modelId="{4F6A914A-3623-4C69-91F7-DF716468058D}" srcId="{46C86B89-ECBF-405D-9F41-6B46E1908BEB}" destId="{1EF2942B-2603-4B1A-A991-C0CEE368BAA5}" srcOrd="1" destOrd="0" parTransId="{CD0FD6CE-F62A-454A-B722-666D7A42DF14}" sibTransId="{4F7C2722-A289-4C0D-88A4-53942B1717B0}"/>
    <dgm:cxn modelId="{F9FDE29A-70CE-45C5-8CC6-86637AB13488}" type="presOf" srcId="{898F3D07-08FB-4311-8148-14E36746BC6F}" destId="{8E142F69-C81D-4A3F-A5BD-000AEB2E6A9A}" srcOrd="0" destOrd="0" presId="urn:microsoft.com/office/officeart/2005/8/layout/balance1"/>
    <dgm:cxn modelId="{CF09B12B-05F1-436E-8EA9-757496819900}" type="presOf" srcId="{1EF2942B-2603-4B1A-A991-C0CEE368BAA5}" destId="{27A190AC-4BA7-4F72-82B0-194D6F5753E3}" srcOrd="0" destOrd="0" presId="urn:microsoft.com/office/officeart/2005/8/layout/balance1"/>
    <dgm:cxn modelId="{C093C27A-CA52-40B7-83A8-DF4A3A6E93CA}" type="presOf" srcId="{A6372FAC-4739-4A61-B2FF-79BF2C3F81DA}" destId="{8113C0A9-1FA8-4CB2-A287-56DC1AA6D312}" srcOrd="0" destOrd="0" presId="urn:microsoft.com/office/officeart/2005/8/layout/balance1"/>
    <dgm:cxn modelId="{20155C13-5564-4CF4-A897-BA5DA6B595A4}" srcId="{0078065C-F05A-4ABA-AE9C-E650C80F8935}" destId="{62975300-C0E1-4FCC-BB86-FB2F4AF3D33A}" srcOrd="1" destOrd="0" parTransId="{C826B8D2-36D3-4D19-8B48-FB0EEA7165C4}" sibTransId="{D084FB27-A252-4939-AA4F-573B67792AE9}"/>
    <dgm:cxn modelId="{12928A94-0E21-479B-9E56-8D817C1FAAED}" type="presOf" srcId="{0078065C-F05A-4ABA-AE9C-E650C80F8935}" destId="{D696D49B-27CD-4DDF-89B3-4418A9D986ED}" srcOrd="0" destOrd="0" presId="urn:microsoft.com/office/officeart/2005/8/layout/balance1"/>
    <dgm:cxn modelId="{B7CC02F9-FBF9-42EA-8ECB-8C1C5BA846DC}" type="presOf" srcId="{62975300-C0E1-4FCC-BB86-FB2F4AF3D33A}" destId="{FC93361A-2445-46D0-93EB-E8B764552ED7}" srcOrd="0" destOrd="0" presId="urn:microsoft.com/office/officeart/2005/8/layout/balance1"/>
    <dgm:cxn modelId="{DEE54410-4B9D-4411-8891-090917ABD0EF}" type="presOf" srcId="{46C86B89-ECBF-405D-9F41-6B46E1908BEB}" destId="{020557E2-0FD2-4A89-B516-98A0AA13DC3B}" srcOrd="0" destOrd="0" presId="urn:microsoft.com/office/officeart/2005/8/layout/balance1"/>
    <dgm:cxn modelId="{226F2932-FD85-4234-BC11-DC12A21CF7DF}" srcId="{0078065C-F05A-4ABA-AE9C-E650C80F8935}" destId="{FA650CB1-A261-40FB-9347-0A4F6DD371BE}" srcOrd="0" destOrd="0" parTransId="{735D2796-93BF-4CD9-A5CD-DC3FEC301D8D}" sibTransId="{C7653ACC-1850-4E6C-9F43-05DEA084F945}"/>
    <dgm:cxn modelId="{037DDD11-E7FD-4213-B1FE-F50FAB0B28AC}" type="presParOf" srcId="{020557E2-0FD2-4A89-B516-98A0AA13DC3B}" destId="{3AB36ADC-03AD-4DD6-A6C6-7358194732F4}" srcOrd="0" destOrd="0" presId="urn:microsoft.com/office/officeart/2005/8/layout/balance1"/>
    <dgm:cxn modelId="{620AA812-64E7-4BBE-BDD9-73BA7C79E2A9}" type="presParOf" srcId="{020557E2-0FD2-4A89-B516-98A0AA13DC3B}" destId="{8166B881-B580-4F9D-993A-BFDF1E441686}" srcOrd="1" destOrd="0" presId="urn:microsoft.com/office/officeart/2005/8/layout/balance1"/>
    <dgm:cxn modelId="{A5104B9A-19E3-4772-9E45-B80CF9823ECA}" type="presParOf" srcId="{8166B881-B580-4F9D-993A-BFDF1E441686}" destId="{D696D49B-27CD-4DDF-89B3-4418A9D986ED}" srcOrd="0" destOrd="0" presId="urn:microsoft.com/office/officeart/2005/8/layout/balance1"/>
    <dgm:cxn modelId="{89A598BA-57DC-442E-867B-5DA2EC05A324}" type="presParOf" srcId="{8166B881-B580-4F9D-993A-BFDF1E441686}" destId="{27A190AC-4BA7-4F72-82B0-194D6F5753E3}" srcOrd="1" destOrd="0" presId="urn:microsoft.com/office/officeart/2005/8/layout/balance1"/>
    <dgm:cxn modelId="{1038785E-8280-4F39-8673-3715321423E1}" type="presParOf" srcId="{020557E2-0FD2-4A89-B516-98A0AA13DC3B}" destId="{DEE7D415-6D6B-49A3-9F92-210C9864E612}" srcOrd="2" destOrd="0" presId="urn:microsoft.com/office/officeart/2005/8/layout/balance1"/>
    <dgm:cxn modelId="{2C4C4C01-5E5C-443E-A167-1DC53F05D202}" type="presParOf" srcId="{DEE7D415-6D6B-49A3-9F92-210C9864E612}" destId="{594614A8-9EC5-4AF3-8BB9-5E2EC143AA1E}" srcOrd="0" destOrd="0" presId="urn:microsoft.com/office/officeart/2005/8/layout/balance1"/>
    <dgm:cxn modelId="{D7100A59-01C2-4634-906E-2439F24AA7ED}" type="presParOf" srcId="{DEE7D415-6D6B-49A3-9F92-210C9864E612}" destId="{9329A77A-FA18-4BAB-80BC-F161000743EB}" srcOrd="1" destOrd="0" presId="urn:microsoft.com/office/officeart/2005/8/layout/balance1"/>
    <dgm:cxn modelId="{6CFA513B-92EE-41ED-9FE1-81EE0C9E46B9}" type="presParOf" srcId="{DEE7D415-6D6B-49A3-9F92-210C9864E612}" destId="{B882DD47-DD1C-410B-B07C-17399DB0D90F}" srcOrd="2" destOrd="0" presId="urn:microsoft.com/office/officeart/2005/8/layout/balance1"/>
    <dgm:cxn modelId="{CCE85967-0C40-4F1A-9F27-143A7992D016}" type="presParOf" srcId="{DEE7D415-6D6B-49A3-9F92-210C9864E612}" destId="{8113C0A9-1FA8-4CB2-A287-56DC1AA6D312}" srcOrd="3" destOrd="0" presId="urn:microsoft.com/office/officeart/2005/8/layout/balance1"/>
    <dgm:cxn modelId="{0220C765-6102-471A-BB65-EE732347AAF9}" type="presParOf" srcId="{DEE7D415-6D6B-49A3-9F92-210C9864E612}" destId="{8E142F69-C81D-4A3F-A5BD-000AEB2E6A9A}" srcOrd="4" destOrd="0" presId="urn:microsoft.com/office/officeart/2005/8/layout/balance1"/>
    <dgm:cxn modelId="{ED4B52C1-2BD7-431A-B4F6-19E5B4481A71}" type="presParOf" srcId="{DEE7D415-6D6B-49A3-9F92-210C9864E612}" destId="{D5A0AC22-3857-4DFA-B3EF-C931BB52FFA3}" srcOrd="5" destOrd="0" presId="urn:microsoft.com/office/officeart/2005/8/layout/balance1"/>
    <dgm:cxn modelId="{B75B8553-5356-4272-B2CA-ED484BB14A90}" type="presParOf" srcId="{DEE7D415-6D6B-49A3-9F92-210C9864E612}" destId="{FC93361A-2445-46D0-93EB-E8B764552ED7}" srcOrd="6" destOrd="0" presId="urn:microsoft.com/office/officeart/2005/8/layout/balance1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8AA9F76-783D-4483-96CF-F649F3B8B24B}" type="doc">
      <dgm:prSet loTypeId="urn:microsoft.com/office/officeart/2005/8/layout/arrow6" loCatId="process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EEAE084-F9CF-4040-BD2F-A96A59294B3E}">
      <dgm:prSet phldrT="[Texte]"/>
      <dgm:spPr/>
      <dgm:t>
        <a:bodyPr/>
        <a:lstStyle/>
        <a:p>
          <a:r>
            <a:rPr lang="fr-FR" dirty="0" smtClean="0"/>
            <a:t>Coût </a:t>
          </a:r>
          <a:endParaRPr lang="fr-FR" dirty="0"/>
        </a:p>
      </dgm:t>
    </dgm:pt>
    <dgm:pt modelId="{0806DDCE-1C5F-41EA-9DF7-C3C7072EACBC}" type="parTrans" cxnId="{CDD822F3-6759-4C84-8C93-98520787AD09}">
      <dgm:prSet/>
      <dgm:spPr/>
      <dgm:t>
        <a:bodyPr/>
        <a:lstStyle/>
        <a:p>
          <a:endParaRPr lang="fr-FR"/>
        </a:p>
      </dgm:t>
    </dgm:pt>
    <dgm:pt modelId="{D81AEC0D-836A-48E8-AE94-BFCC62AF0AF2}" type="sibTrans" cxnId="{CDD822F3-6759-4C84-8C93-98520787AD09}">
      <dgm:prSet/>
      <dgm:spPr/>
      <dgm:t>
        <a:bodyPr/>
        <a:lstStyle/>
        <a:p>
          <a:endParaRPr lang="fr-FR"/>
        </a:p>
      </dgm:t>
    </dgm:pt>
    <dgm:pt modelId="{34382ABB-C7BC-4EA4-8F8D-2F842BDED0EB}">
      <dgm:prSet phldrT="[Texte]"/>
      <dgm:spPr/>
      <dgm:t>
        <a:bodyPr/>
        <a:lstStyle/>
        <a:p>
          <a:r>
            <a:rPr lang="fr-FR" dirty="0" smtClean="0"/>
            <a:t>Facteur de motivation </a:t>
          </a:r>
          <a:endParaRPr lang="fr-FR" dirty="0"/>
        </a:p>
      </dgm:t>
    </dgm:pt>
    <dgm:pt modelId="{3AC749D4-159F-4AA0-9119-768E234235F3}" type="parTrans" cxnId="{6F6B1F41-435E-4E04-AF44-D326D6DB3152}">
      <dgm:prSet/>
      <dgm:spPr/>
      <dgm:t>
        <a:bodyPr/>
        <a:lstStyle/>
        <a:p>
          <a:endParaRPr lang="fr-FR"/>
        </a:p>
      </dgm:t>
    </dgm:pt>
    <dgm:pt modelId="{29633C30-3E76-4DCF-94AF-E5F2DB6418EB}" type="sibTrans" cxnId="{6F6B1F41-435E-4E04-AF44-D326D6DB3152}">
      <dgm:prSet/>
      <dgm:spPr/>
      <dgm:t>
        <a:bodyPr/>
        <a:lstStyle/>
        <a:p>
          <a:endParaRPr lang="fr-FR"/>
        </a:p>
      </dgm:t>
    </dgm:pt>
    <dgm:pt modelId="{FCF2D481-B86E-4BF0-BD34-465D0C9F221E}" type="pres">
      <dgm:prSet presAssocID="{08AA9F76-783D-4483-96CF-F649F3B8B24B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8D8FA832-910E-4A6E-B331-9C60E15C6AE4}" type="pres">
      <dgm:prSet presAssocID="{08AA9F76-783D-4483-96CF-F649F3B8B24B}" presName="ribbon" presStyleLbl="node1" presStyleIdx="0" presStyleCnt="1"/>
      <dgm:spPr/>
    </dgm:pt>
    <dgm:pt modelId="{2A5EDF05-D02C-4552-AE14-69E82ACCE919}" type="pres">
      <dgm:prSet presAssocID="{08AA9F76-783D-4483-96CF-F649F3B8B24B}" presName="lef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CC94629-FA9B-4F57-A1B5-18C56D25F865}" type="pres">
      <dgm:prSet presAssocID="{08AA9F76-783D-4483-96CF-F649F3B8B24B}" presName="righ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6F6B1F41-435E-4E04-AF44-D326D6DB3152}" srcId="{08AA9F76-783D-4483-96CF-F649F3B8B24B}" destId="{34382ABB-C7BC-4EA4-8F8D-2F842BDED0EB}" srcOrd="1" destOrd="0" parTransId="{3AC749D4-159F-4AA0-9119-768E234235F3}" sibTransId="{29633C30-3E76-4DCF-94AF-E5F2DB6418EB}"/>
    <dgm:cxn modelId="{30C9E744-CFF5-4A00-9356-1700140A74A4}" type="presOf" srcId="{BEEAE084-F9CF-4040-BD2F-A96A59294B3E}" destId="{2A5EDF05-D02C-4552-AE14-69E82ACCE919}" srcOrd="0" destOrd="0" presId="urn:microsoft.com/office/officeart/2005/8/layout/arrow6"/>
    <dgm:cxn modelId="{ED71391E-0981-4CC4-AAE2-17C72478A39C}" type="presOf" srcId="{34382ABB-C7BC-4EA4-8F8D-2F842BDED0EB}" destId="{ACC94629-FA9B-4F57-A1B5-18C56D25F865}" srcOrd="0" destOrd="0" presId="urn:microsoft.com/office/officeart/2005/8/layout/arrow6"/>
    <dgm:cxn modelId="{CDD822F3-6759-4C84-8C93-98520787AD09}" srcId="{08AA9F76-783D-4483-96CF-F649F3B8B24B}" destId="{BEEAE084-F9CF-4040-BD2F-A96A59294B3E}" srcOrd="0" destOrd="0" parTransId="{0806DDCE-1C5F-41EA-9DF7-C3C7072EACBC}" sibTransId="{D81AEC0D-836A-48E8-AE94-BFCC62AF0AF2}"/>
    <dgm:cxn modelId="{1534EC2D-D77D-4F58-9C2D-994AF0E2FFB1}" type="presOf" srcId="{08AA9F76-783D-4483-96CF-F649F3B8B24B}" destId="{FCF2D481-B86E-4BF0-BD34-465D0C9F221E}" srcOrd="0" destOrd="0" presId="urn:microsoft.com/office/officeart/2005/8/layout/arrow6"/>
    <dgm:cxn modelId="{17B849B0-C6CC-4261-B290-28E55CD4CD87}" type="presParOf" srcId="{FCF2D481-B86E-4BF0-BD34-465D0C9F221E}" destId="{8D8FA832-910E-4A6E-B331-9C60E15C6AE4}" srcOrd="0" destOrd="0" presId="urn:microsoft.com/office/officeart/2005/8/layout/arrow6"/>
    <dgm:cxn modelId="{2D5E2D03-CEF9-4772-9D88-DA7FA1FDC973}" type="presParOf" srcId="{FCF2D481-B86E-4BF0-BD34-465D0C9F221E}" destId="{2A5EDF05-D02C-4552-AE14-69E82ACCE919}" srcOrd="1" destOrd="0" presId="urn:microsoft.com/office/officeart/2005/8/layout/arrow6"/>
    <dgm:cxn modelId="{B9AF9E3E-BFF5-4ACA-816B-5CA7FC4E264F}" type="presParOf" srcId="{FCF2D481-B86E-4BF0-BD34-465D0C9F221E}" destId="{ACC94629-FA9B-4F57-A1B5-18C56D25F865}" srcOrd="2" destOrd="0" presId="urn:microsoft.com/office/officeart/2005/8/layout/arrow6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505B0-7A29-4886-B6B2-63DE097AC905}" type="datetimeFigureOut">
              <a:rPr lang="fr-FR" smtClean="0"/>
              <a:pPr/>
              <a:t>28/09/2021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78B22-243D-4408-8D3A-E4D6429A4E1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="" xmlns:p14="http://schemas.microsoft.com/office/powerpoint/2010/main" val="1430324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28/09/2021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28/09/2021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28/09/2021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28/09/2021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28/09/2021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28/09/2021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28/09/2021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28/09/2021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28/09/2021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28/09/2021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28/09/2021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8"/>
          <p:cNvSpPr>
            <a:spLocks noGrp="1"/>
          </p:cNvSpPr>
          <p:nvPr>
            <p:ph type="pic" sz="quarter" idx="13"/>
          </p:nvPr>
        </p:nvSpPr>
        <p:spPr>
          <a:xfrm>
            <a:off x="771525" y="1485900"/>
            <a:ext cx="1866900" cy="2576848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8"/>
          <p:cNvSpPr>
            <a:spLocks noGrp="1"/>
          </p:cNvSpPr>
          <p:nvPr>
            <p:ph type="pic" sz="quarter" idx="14"/>
          </p:nvPr>
        </p:nvSpPr>
        <p:spPr>
          <a:xfrm>
            <a:off x="2705100" y="1485900"/>
            <a:ext cx="1866900" cy="2576848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5"/>
          </p:nvPr>
        </p:nvSpPr>
        <p:spPr>
          <a:xfrm>
            <a:off x="4638675" y="1485900"/>
            <a:ext cx="1866900" cy="2576848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/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16"/>
          </p:nvPr>
        </p:nvSpPr>
        <p:spPr>
          <a:xfrm>
            <a:off x="6572250" y="1485900"/>
            <a:ext cx="1866900" cy="2576848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867991" y="1963503"/>
            <a:ext cx="1421516" cy="1894789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bIns="182880" rtlCol="0" anchor="b">
            <a:normAutofit/>
          </a:bodyPr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fr-FR" noProof="0" dirty="0" smtClean="0"/>
              <a:t>Cliquez sur l'icône pour ajouter une image</a:t>
            </a:r>
            <a:endParaRPr lang="en-US" noProof="0" dirty="0"/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2822644" y="1963503"/>
            <a:ext cx="1421516" cy="1894789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bIns="182880" rtlCol="0" anchor="b">
            <a:normAutofit/>
          </a:bodyPr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fr-FR" noProof="0" dirty="0" smtClean="0"/>
              <a:t>Cliquez sur l'icône pour ajouter une image</a:t>
            </a:r>
            <a:endParaRPr lang="en-US" noProof="0" dirty="0"/>
          </a:p>
        </p:txBody>
      </p:sp>
      <p:sp>
        <p:nvSpPr>
          <p:cNvPr id="37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4829092" y="1963503"/>
            <a:ext cx="1421516" cy="1894789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bIns="182880" rtlCol="0" anchor="b">
            <a:normAutofit/>
          </a:bodyPr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fr-FR" noProof="0" dirty="0" smtClean="0"/>
              <a:t>Cliquez sur l'icône pour ajouter une image</a:t>
            </a:r>
            <a:endParaRPr lang="en-US" noProof="0" dirty="0"/>
          </a:p>
        </p:txBody>
      </p:sp>
      <p:sp>
        <p:nvSpPr>
          <p:cNvPr id="40" name="Picture Placeholder 7"/>
          <p:cNvSpPr>
            <a:spLocks noGrp="1"/>
          </p:cNvSpPr>
          <p:nvPr>
            <p:ph type="pic" sz="quarter" idx="24"/>
          </p:nvPr>
        </p:nvSpPr>
        <p:spPr>
          <a:xfrm>
            <a:off x="6835351" y="1963503"/>
            <a:ext cx="1421516" cy="1894789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bIns="182880" rtlCol="0" anchor="b">
            <a:normAutofit/>
          </a:bodyPr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fr-FR" noProof="0" dirty="0" smtClean="0"/>
              <a:t>Cliquez sur l'icône pour ajouter une image</a:t>
            </a:r>
            <a:endParaRPr lang="en-US" noProof="0" dirty="0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250257" y="356629"/>
            <a:ext cx="8643486" cy="471365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47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258" y="825951"/>
            <a:ext cx="8643485" cy="26766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260"/>
              </a:lnSpc>
            </a:pPr>
            <a:endParaRPr dirty="0">
              <a:latin typeface="Garamond"/>
              <a:cs typeface="Garamond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30F49-72B2-4D42-9AB6-CE59DE3D3727}" type="datetime1">
              <a:rPr lang="fr-FR" smtClean="0"/>
              <a:pPr/>
              <a:t>28/09/2021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empty_p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1"/>
          </p:cNvSpPr>
          <p:nvPr>
            <p:ph type="title" hasCustomPrompt="1"/>
          </p:nvPr>
        </p:nvSpPr>
        <p:spPr>
          <a:xfrm>
            <a:off x="2190750" y="266701"/>
            <a:ext cx="4762500" cy="558843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733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271838" y="837240"/>
            <a:ext cx="2600325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2133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xmlns="" val="3279907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28/09/2021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hyperlink" Target="http://powerpoint.sage-fox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diagramData" Target="../diagrams/data1.xml"/><Relationship Id="rId7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diagramData" Target="../diagrams/data3.xml"/><Relationship Id="rId7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/>
            </a:extLst>
          </p:cNvPr>
          <p:cNvGrpSpPr>
            <a:grpSpLocks noChangeAspect="1"/>
          </p:cNvGrpSpPr>
          <p:nvPr/>
        </p:nvGrpSpPr>
        <p:grpSpPr>
          <a:xfrm>
            <a:off x="2400300" y="3339971"/>
            <a:ext cx="822957" cy="1097280"/>
            <a:chOff x="3241866" y="1103796"/>
            <a:chExt cx="4627785" cy="462778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Oval 10">
              <a:extLst>
                <a:ext uri="{FF2B5EF4-FFF2-40B4-BE49-F238E27FC236}"/>
              </a:extLst>
            </p:cNvPr>
            <p:cNvSpPr>
              <a:spLocks noChangeAspect="1"/>
            </p:cNvSpPr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/>
              </a:extLst>
            </p:cNvPr>
            <p:cNvSpPr>
              <a:spLocks noChangeAspect="1"/>
            </p:cNvSpPr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89000"/>
                  </a:schemeClr>
                </a:gs>
                <a:gs pos="23000">
                  <a:schemeClr val="accent3">
                    <a:lumMod val="89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3" name="Group 13">
            <a:extLst>
              <a:ext uri="{FF2B5EF4-FFF2-40B4-BE49-F238E27FC236}"/>
            </a:extLst>
          </p:cNvPr>
          <p:cNvGrpSpPr>
            <a:grpSpLocks noChangeAspect="1"/>
          </p:cNvGrpSpPr>
          <p:nvPr/>
        </p:nvGrpSpPr>
        <p:grpSpPr>
          <a:xfrm>
            <a:off x="4223097" y="3339971"/>
            <a:ext cx="822957" cy="1097280"/>
            <a:chOff x="3241866" y="1103796"/>
            <a:chExt cx="4627785" cy="462778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Oval 15">
              <a:extLst>
                <a:ext uri="{FF2B5EF4-FFF2-40B4-BE49-F238E27FC236}"/>
              </a:extLst>
            </p:cNvPr>
            <p:cNvSpPr>
              <a:spLocks noChangeAspect="1"/>
            </p:cNvSpPr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/>
              </a:extLst>
            </p:cNvPr>
            <p:cNvSpPr>
              <a:spLocks noChangeAspect="1"/>
            </p:cNvSpPr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89000"/>
                  </a:schemeClr>
                </a:gs>
                <a:gs pos="23000">
                  <a:schemeClr val="accent3">
                    <a:lumMod val="89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4" name="Group 18">
            <a:extLst>
              <a:ext uri="{FF2B5EF4-FFF2-40B4-BE49-F238E27FC236}"/>
            </a:extLst>
          </p:cNvPr>
          <p:cNvGrpSpPr>
            <a:grpSpLocks noChangeAspect="1"/>
          </p:cNvGrpSpPr>
          <p:nvPr/>
        </p:nvGrpSpPr>
        <p:grpSpPr>
          <a:xfrm>
            <a:off x="6060614" y="3339971"/>
            <a:ext cx="822957" cy="1097280"/>
            <a:chOff x="3241866" y="1103796"/>
            <a:chExt cx="4627785" cy="462778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Oval 20">
              <a:extLst>
                <a:ext uri="{FF2B5EF4-FFF2-40B4-BE49-F238E27FC236}"/>
              </a:extLst>
            </p:cNvPr>
            <p:cNvSpPr>
              <a:spLocks noChangeAspect="1"/>
            </p:cNvSpPr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/>
              </a:extLst>
            </p:cNvPr>
            <p:cNvSpPr>
              <a:spLocks noChangeAspect="1"/>
            </p:cNvSpPr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89000"/>
                  </a:schemeClr>
                </a:gs>
                <a:gs pos="23000">
                  <a:schemeClr val="accent3">
                    <a:lumMod val="89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30" name="Freeform: Shape 29">
            <a:extLst>
              <a:ext uri="{FF2B5EF4-FFF2-40B4-BE49-F238E27FC236}"/>
            </a:extLst>
          </p:cNvPr>
          <p:cNvSpPr/>
          <p:nvPr/>
        </p:nvSpPr>
        <p:spPr>
          <a:xfrm>
            <a:off x="1044575" y="3962400"/>
            <a:ext cx="7192963" cy="2438400"/>
          </a:xfrm>
          <a:custGeom>
            <a:avLst/>
            <a:gdLst>
              <a:gd name="connsiteX0" fmla="*/ 0 w 9590205"/>
              <a:gd name="connsiteY0" fmla="*/ 0 h 2438400"/>
              <a:gd name="connsiteX1" fmla="*/ 1722746 w 9590205"/>
              <a:gd name="connsiteY1" fmla="*/ 0 h 2438400"/>
              <a:gd name="connsiteX2" fmla="*/ 1728376 w 9590205"/>
              <a:gd name="connsiteY2" fmla="*/ 55846 h 2438400"/>
              <a:gd name="connsiteX3" fmla="*/ 2355450 w 9590205"/>
              <a:gd name="connsiteY3" fmla="*/ 566928 h 2438400"/>
              <a:gd name="connsiteX4" fmla="*/ 2982523 w 9590205"/>
              <a:gd name="connsiteY4" fmla="*/ 55846 h 2438400"/>
              <a:gd name="connsiteX5" fmla="*/ 2988153 w 9590205"/>
              <a:gd name="connsiteY5" fmla="*/ 0 h 2438400"/>
              <a:gd name="connsiteX6" fmla="*/ 4166358 w 9590205"/>
              <a:gd name="connsiteY6" fmla="*/ 0 h 2438400"/>
              <a:gd name="connsiteX7" fmla="*/ 4171987 w 9590205"/>
              <a:gd name="connsiteY7" fmla="*/ 55846 h 2438400"/>
              <a:gd name="connsiteX8" fmla="*/ 4799061 w 9590205"/>
              <a:gd name="connsiteY8" fmla="*/ 566928 h 2438400"/>
              <a:gd name="connsiteX9" fmla="*/ 5426135 w 9590205"/>
              <a:gd name="connsiteY9" fmla="*/ 55846 h 2438400"/>
              <a:gd name="connsiteX10" fmla="*/ 5431765 w 9590205"/>
              <a:gd name="connsiteY10" fmla="*/ 0 h 2438400"/>
              <a:gd name="connsiteX11" fmla="*/ 6586138 w 9590205"/>
              <a:gd name="connsiteY11" fmla="*/ 0 h 2438400"/>
              <a:gd name="connsiteX12" fmla="*/ 6591767 w 9590205"/>
              <a:gd name="connsiteY12" fmla="*/ 55846 h 2438400"/>
              <a:gd name="connsiteX13" fmla="*/ 7218841 w 9590205"/>
              <a:gd name="connsiteY13" fmla="*/ 566928 h 2438400"/>
              <a:gd name="connsiteX14" fmla="*/ 7845915 w 9590205"/>
              <a:gd name="connsiteY14" fmla="*/ 55846 h 2438400"/>
              <a:gd name="connsiteX15" fmla="*/ 7851545 w 9590205"/>
              <a:gd name="connsiteY15" fmla="*/ 0 h 2438400"/>
              <a:gd name="connsiteX16" fmla="*/ 9590205 w 9590205"/>
              <a:gd name="connsiteY16" fmla="*/ 0 h 2438400"/>
              <a:gd name="connsiteX17" fmla="*/ 9590205 w 9590205"/>
              <a:gd name="connsiteY17" fmla="*/ 2438400 h 2438400"/>
              <a:gd name="connsiteX18" fmla="*/ 0 w 9590205"/>
              <a:gd name="connsiteY18" fmla="*/ 2438400 h 243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590205" h="2438400">
                <a:moveTo>
                  <a:pt x="0" y="0"/>
                </a:moveTo>
                <a:lnTo>
                  <a:pt x="1722746" y="0"/>
                </a:lnTo>
                <a:lnTo>
                  <a:pt x="1728376" y="55846"/>
                </a:lnTo>
                <a:cubicBezTo>
                  <a:pt x="1788061" y="347520"/>
                  <a:pt x="2046133" y="566928"/>
                  <a:pt x="2355450" y="566928"/>
                </a:cubicBezTo>
                <a:cubicBezTo>
                  <a:pt x="2664767" y="566928"/>
                  <a:pt x="2922838" y="347520"/>
                  <a:pt x="2982523" y="55846"/>
                </a:cubicBezTo>
                <a:lnTo>
                  <a:pt x="2988153" y="0"/>
                </a:lnTo>
                <a:lnTo>
                  <a:pt x="4166358" y="0"/>
                </a:lnTo>
                <a:lnTo>
                  <a:pt x="4171987" y="55846"/>
                </a:lnTo>
                <a:cubicBezTo>
                  <a:pt x="4231672" y="347520"/>
                  <a:pt x="4489745" y="566928"/>
                  <a:pt x="4799061" y="566928"/>
                </a:cubicBezTo>
                <a:cubicBezTo>
                  <a:pt x="5108378" y="566928"/>
                  <a:pt x="5366450" y="347520"/>
                  <a:pt x="5426135" y="55846"/>
                </a:cubicBezTo>
                <a:lnTo>
                  <a:pt x="5431765" y="0"/>
                </a:lnTo>
                <a:lnTo>
                  <a:pt x="6586138" y="0"/>
                </a:lnTo>
                <a:lnTo>
                  <a:pt x="6591767" y="55846"/>
                </a:lnTo>
                <a:cubicBezTo>
                  <a:pt x="6651452" y="347520"/>
                  <a:pt x="6909524" y="566928"/>
                  <a:pt x="7218841" y="566928"/>
                </a:cubicBezTo>
                <a:cubicBezTo>
                  <a:pt x="7528158" y="566928"/>
                  <a:pt x="7786230" y="347520"/>
                  <a:pt x="7845915" y="55846"/>
                </a:cubicBezTo>
                <a:lnTo>
                  <a:pt x="7851545" y="0"/>
                </a:lnTo>
                <a:lnTo>
                  <a:pt x="9590205" y="0"/>
                </a:lnTo>
                <a:lnTo>
                  <a:pt x="9590205" y="2438400"/>
                </a:lnTo>
                <a:lnTo>
                  <a:pt x="0" y="2438400"/>
                </a:lnTo>
                <a:close/>
              </a:path>
            </a:pathLst>
          </a:custGeom>
          <a:blipFill>
            <a:blip r:embed="rId2" cstate="print"/>
            <a:stretch>
              <a:fillRect/>
            </a:stretch>
          </a:blipFill>
          <a:ln w="6350">
            <a:solidFill>
              <a:schemeClr val="bg1">
                <a:alpha val="2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1" name="TextBox 40">
            <a:extLst>
              <a:ext uri="{FF2B5EF4-FFF2-40B4-BE49-F238E27FC236}"/>
            </a:extLst>
          </p:cNvPr>
          <p:cNvSpPr txBox="1"/>
          <p:nvPr/>
        </p:nvSpPr>
        <p:spPr>
          <a:xfrm>
            <a:off x="1143000" y="258763"/>
            <a:ext cx="6858000" cy="172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400" b="1" dirty="0">
                <a:solidFill>
                  <a:srgbClr val="FF0000"/>
                </a:solidFill>
                <a:latin typeface="Baskerville Old Face"/>
                <a:cs typeface="Baskerville Old Face"/>
              </a:rPr>
              <a:t>Environnement de</a:t>
            </a:r>
            <a:r>
              <a:rPr lang="fr-FR" sz="4400" b="1" spc="-130" dirty="0">
                <a:solidFill>
                  <a:srgbClr val="FF0000"/>
                </a:solidFill>
                <a:latin typeface="Baskerville Old Face"/>
                <a:cs typeface="Baskerville Old Face"/>
              </a:rPr>
              <a:t> </a:t>
            </a:r>
            <a:r>
              <a:rPr lang="fr-FR" sz="4400" b="1" dirty="0">
                <a:solidFill>
                  <a:srgbClr val="FF0000"/>
                </a:solidFill>
                <a:latin typeface="Baskerville Old Face"/>
                <a:cs typeface="Baskerville Old Face"/>
              </a:rPr>
              <a:t>l’Entreprise</a:t>
            </a:r>
            <a:endParaRPr lang="en-US" sz="4400" dirty="0">
              <a:solidFill>
                <a:srgbClr val="4C4F54"/>
              </a:solidFill>
              <a:latin typeface="Bernard MT Condensed" panose="02050806060905020404" pitchFamily="18" charset="0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4C4F54"/>
              </a:solidFill>
              <a:latin typeface="Candara" panose="020E0502030303020204" pitchFamily="34" charset="0"/>
              <a:cs typeface="+mn-cs"/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468313" y="2143125"/>
            <a:ext cx="820737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Classe 3</a:t>
            </a:r>
            <a:r>
              <a:rPr lang="fr-FR" b="1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ème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  année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Responsables du module: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Dhouha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 </a:t>
            </a:r>
            <a:r>
              <a:rPr lang="fr-F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Melliti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 Ben </a:t>
            </a:r>
            <a:r>
              <a:rPr lang="fr-F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Khedher</a:t>
            </a:r>
            <a:r>
              <a:rPr lang="fr-FR" b="1" dirty="0">
                <a:solidFill>
                  <a:srgbClr val="00B0F0"/>
                </a:solidFill>
                <a:latin typeface="Baskerville Old Face"/>
                <a:cs typeface="Baskerville Old Face"/>
              </a:rPr>
              <a:t> </a:t>
            </a:r>
            <a:r>
              <a:rPr lang="fr-FR" sz="1600" b="1" dirty="0">
                <a:solidFill>
                  <a:srgbClr val="00B0F0"/>
                </a:solidFill>
                <a:latin typeface="Baskerville Old Face"/>
                <a:cs typeface="Baskerville Old Face"/>
              </a:rPr>
              <a:t>dhouha.melliti@esprit.tn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 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Insaf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 </a:t>
            </a:r>
            <a:r>
              <a:rPr lang="fr-F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Riahi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 </a:t>
            </a:r>
            <a:r>
              <a:rPr lang="fr-F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Tekaya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 </a:t>
            </a:r>
            <a:r>
              <a:rPr lang="fr-FR" sz="1600" b="1" dirty="0" smtClean="0">
                <a:solidFill>
                  <a:srgbClr val="00B0F0"/>
                </a:solidFill>
                <a:latin typeface="Baskerville Old Face"/>
                <a:cs typeface="Baskerville Old Face"/>
              </a:rPr>
              <a:t>insaf.tekaya@esprit.tn</a:t>
            </a:r>
            <a:r>
              <a:rPr lang="fr-FR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  </a:t>
            </a:r>
            <a:endParaRPr lang="fr-FR" b="1" dirty="0">
              <a:solidFill>
                <a:schemeClr val="tx1">
                  <a:lumMod val="65000"/>
                  <a:lumOff val="35000"/>
                </a:schemeClr>
              </a:solidFill>
              <a:latin typeface="Baskerville Old Face"/>
              <a:cs typeface="Baskerville Old Face"/>
            </a:endParaRPr>
          </a:p>
        </p:txBody>
      </p:sp>
      <p:pic>
        <p:nvPicPr>
          <p:cNvPr id="14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pic>
        <p:nvPicPr>
          <p:cNvPr id="15" name="Picture 11">
            <a:extLst>
              <a:ext uri="{FF2B5EF4-FFF2-40B4-BE49-F238E27FC236}">
                <a16:creationId xmlns:a16="http://schemas.microsoft.com/office/drawing/2014/main" xmlns="" id="{F5BFB8C6-23B4-4C8A-9746-FBA51EDAA5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893155" cy="714356"/>
          </a:xfrm>
          <a:prstGeom prst="rect">
            <a:avLst/>
          </a:prstGeom>
        </p:spPr>
      </p:pic>
      <p:pic>
        <p:nvPicPr>
          <p:cNvPr id="18" name="Picture 13">
            <a:extLst>
              <a:ext uri="{FF2B5EF4-FFF2-40B4-BE49-F238E27FC236}">
                <a16:creationId xmlns:a16="http://schemas.microsoft.com/office/drawing/2014/main" xmlns="" id="{E2B6FA2E-2DE8-4A09-BC1E-2F476CC51F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711968"/>
            <a:ext cx="5396825" cy="2146032"/>
          </a:xfrm>
          <a:prstGeom prst="rect">
            <a:avLst/>
          </a:prstGeom>
        </p:spPr>
      </p:pic>
    </p:spTree>
  </p:cSld>
  <p:clrMapOvr>
    <a:masterClrMapping/>
  </p:clrMapOvr>
  <p:transition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Freeform: Shape 32"/>
          <p:cNvSpPr/>
          <p:nvPr/>
        </p:nvSpPr>
        <p:spPr>
          <a:xfrm>
            <a:off x="4365625" y="0"/>
            <a:ext cx="4778375" cy="6858000"/>
          </a:xfrm>
          <a:custGeom>
            <a:avLst/>
            <a:gdLst>
              <a:gd name="connsiteX0" fmla="*/ 2270862 w 6370160"/>
              <a:gd name="connsiteY0" fmla="*/ 0 h 6858000"/>
              <a:gd name="connsiteX1" fmla="*/ 2273877 w 6370160"/>
              <a:gd name="connsiteY1" fmla="*/ 0 h 6858000"/>
              <a:gd name="connsiteX2" fmla="*/ 3738721 w 6370160"/>
              <a:gd name="connsiteY2" fmla="*/ 0 h 6858000"/>
              <a:gd name="connsiteX3" fmla="*/ 3740681 w 6370160"/>
              <a:gd name="connsiteY3" fmla="*/ 0 h 6858000"/>
              <a:gd name="connsiteX4" fmla="*/ 6318205 w 6370160"/>
              <a:gd name="connsiteY4" fmla="*/ 0 h 6858000"/>
              <a:gd name="connsiteX5" fmla="*/ 6370160 w 6370160"/>
              <a:gd name="connsiteY5" fmla="*/ 0 h 6858000"/>
              <a:gd name="connsiteX6" fmla="*/ 6370160 w 6370160"/>
              <a:gd name="connsiteY6" fmla="*/ 6858000 h 6858000"/>
              <a:gd name="connsiteX7" fmla="*/ 6318205 w 6370160"/>
              <a:gd name="connsiteY7" fmla="*/ 6858000 h 6858000"/>
              <a:gd name="connsiteX8" fmla="*/ 5219076 w 6370160"/>
              <a:gd name="connsiteY8" fmla="*/ 6858000 h 6858000"/>
              <a:gd name="connsiteX9" fmla="*/ 4547754 w 6370160"/>
              <a:gd name="connsiteY9" fmla="*/ 6858000 h 6858000"/>
              <a:gd name="connsiteX10" fmla="*/ 3738721 w 6370160"/>
              <a:gd name="connsiteY10" fmla="*/ 6858000 h 6858000"/>
              <a:gd name="connsiteX11" fmla="*/ 2270862 w 6370160"/>
              <a:gd name="connsiteY11" fmla="*/ 6858000 h 6858000"/>
              <a:gd name="connsiteX12" fmla="*/ 2262287 w 6370160"/>
              <a:gd name="connsiteY12" fmla="*/ 6858000 h 6858000"/>
              <a:gd name="connsiteX13" fmla="*/ 0 w 6370160"/>
              <a:gd name="connsiteY13" fmla="*/ 6858000 h 6858000"/>
              <a:gd name="connsiteX14" fmla="*/ 2270862 w 6370160"/>
              <a:gd name="connsiteY14" fmla="*/ 90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70160" h="6858000">
                <a:moveTo>
                  <a:pt x="2270862" y="0"/>
                </a:moveTo>
                <a:lnTo>
                  <a:pt x="2273877" y="0"/>
                </a:lnTo>
                <a:lnTo>
                  <a:pt x="3738721" y="0"/>
                </a:lnTo>
                <a:lnTo>
                  <a:pt x="3740681" y="0"/>
                </a:lnTo>
                <a:lnTo>
                  <a:pt x="6318205" y="0"/>
                </a:lnTo>
                <a:lnTo>
                  <a:pt x="6370160" y="0"/>
                </a:lnTo>
                <a:lnTo>
                  <a:pt x="6370160" y="6858000"/>
                </a:lnTo>
                <a:lnTo>
                  <a:pt x="6318205" y="6858000"/>
                </a:lnTo>
                <a:lnTo>
                  <a:pt x="5219076" y="6858000"/>
                </a:lnTo>
                <a:lnTo>
                  <a:pt x="4547754" y="6858000"/>
                </a:lnTo>
                <a:lnTo>
                  <a:pt x="3738721" y="6858000"/>
                </a:lnTo>
                <a:lnTo>
                  <a:pt x="2270862" y="6858000"/>
                </a:lnTo>
                <a:lnTo>
                  <a:pt x="2262287" y="6858000"/>
                </a:lnTo>
                <a:lnTo>
                  <a:pt x="0" y="6858000"/>
                </a:lnTo>
                <a:lnTo>
                  <a:pt x="2270862" y="9093"/>
                </a:lnTo>
                <a:close/>
              </a:path>
            </a:pathLst>
          </a:cu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Freeform: Shape 14"/>
          <p:cNvSpPr/>
          <p:nvPr/>
        </p:nvSpPr>
        <p:spPr>
          <a:xfrm>
            <a:off x="0" y="2468563"/>
            <a:ext cx="5497513" cy="1096962"/>
          </a:xfrm>
          <a:custGeom>
            <a:avLst/>
            <a:gdLst>
              <a:gd name="connsiteX0" fmla="*/ 0 w 7329076"/>
              <a:gd name="connsiteY0" fmla="*/ 0 h 1097280"/>
              <a:gd name="connsiteX1" fmla="*/ 7329076 w 7329076"/>
              <a:gd name="connsiteY1" fmla="*/ 0 h 1097280"/>
              <a:gd name="connsiteX2" fmla="*/ 6965256 w 7329076"/>
              <a:gd name="connsiteY2" fmla="*/ 1097280 h 1097280"/>
              <a:gd name="connsiteX3" fmla="*/ 0 w 7329076"/>
              <a:gd name="connsiteY3" fmla="*/ 109728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9076" h="1097280">
                <a:moveTo>
                  <a:pt x="0" y="0"/>
                </a:moveTo>
                <a:lnTo>
                  <a:pt x="7329076" y="0"/>
                </a:lnTo>
                <a:lnTo>
                  <a:pt x="6965256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189A8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fr-FR" sz="2000" b="1" dirty="0">
                <a:solidFill>
                  <a:schemeClr val="bg1"/>
                </a:solidFill>
              </a:rPr>
              <a:t>                                </a:t>
            </a:r>
            <a:r>
              <a:rPr lang="en-US" altLang="fr-FR" sz="2000" b="1" dirty="0" smtClean="0">
                <a:solidFill>
                  <a:schemeClr val="bg1"/>
                </a:solidFill>
              </a:rPr>
              <a:t> </a:t>
            </a:r>
            <a:r>
              <a:rPr lang="en-US" altLang="fr-FR" sz="2000" b="1" dirty="0" err="1" smtClean="0">
                <a:solidFill>
                  <a:schemeClr val="bg1"/>
                </a:solidFill>
              </a:rPr>
              <a:t>L’articulation</a:t>
            </a:r>
            <a:r>
              <a:rPr lang="en-US" altLang="fr-FR" sz="2000" b="1" dirty="0" smtClean="0">
                <a:solidFill>
                  <a:schemeClr val="bg1"/>
                </a:solidFill>
              </a:rPr>
              <a:t> entre les </a:t>
            </a:r>
            <a:r>
              <a:rPr lang="en-US" altLang="fr-FR" sz="2000" b="1" dirty="0" err="1" smtClean="0">
                <a:solidFill>
                  <a:schemeClr val="bg1"/>
                </a:solidFill>
              </a:rPr>
              <a:t>différentes</a:t>
            </a:r>
            <a:r>
              <a:rPr lang="en-US" altLang="fr-FR" sz="2000" b="1" dirty="0" smtClean="0">
                <a:solidFill>
                  <a:schemeClr val="bg1"/>
                </a:solidFill>
              </a:rPr>
              <a:t> </a:t>
            </a:r>
            <a:r>
              <a:rPr lang="en-US" altLang="fr-FR" sz="2000" b="1" dirty="0" err="1" smtClean="0">
                <a:solidFill>
                  <a:schemeClr val="bg1"/>
                </a:solidFill>
              </a:rPr>
              <a:t>fonctions</a:t>
            </a:r>
            <a:r>
              <a:rPr lang="en-US" altLang="fr-FR" sz="2000" b="1" dirty="0" smtClean="0">
                <a:solidFill>
                  <a:schemeClr val="bg1"/>
                </a:solidFill>
              </a:rPr>
              <a:t>           </a:t>
            </a:r>
          </a:p>
          <a:p>
            <a:pPr>
              <a:defRPr/>
            </a:pPr>
            <a:endParaRPr lang="en-US" altLang="fr-FR" sz="2000" b="1" dirty="0">
              <a:solidFill>
                <a:schemeClr val="bg1"/>
              </a:solidFill>
            </a:endParaRPr>
          </a:p>
        </p:txBody>
      </p:sp>
      <p:sp>
        <p:nvSpPr>
          <p:cNvPr id="9" name="Freeform: Shape 8"/>
          <p:cNvSpPr/>
          <p:nvPr/>
        </p:nvSpPr>
        <p:spPr>
          <a:xfrm>
            <a:off x="0" y="1450141"/>
            <a:ext cx="5786316" cy="1097280"/>
          </a:xfrm>
          <a:custGeom>
            <a:avLst/>
            <a:gdLst>
              <a:gd name="connsiteX0" fmla="*/ 0 w 7715088"/>
              <a:gd name="connsiteY0" fmla="*/ 0 h 1234346"/>
              <a:gd name="connsiteX1" fmla="*/ 7715088 w 7715088"/>
              <a:gd name="connsiteY1" fmla="*/ 0 h 1234346"/>
              <a:gd name="connsiteX2" fmla="*/ 7305822 w 7715088"/>
              <a:gd name="connsiteY2" fmla="*/ 1234346 h 1234346"/>
              <a:gd name="connsiteX3" fmla="*/ 0 w 7715088"/>
              <a:gd name="connsiteY3" fmla="*/ 1234346 h 1234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15088" h="1234346">
                <a:moveTo>
                  <a:pt x="0" y="0"/>
                </a:moveTo>
                <a:lnTo>
                  <a:pt x="7715088" y="0"/>
                </a:lnTo>
                <a:lnTo>
                  <a:pt x="7305822" y="1234346"/>
                </a:lnTo>
                <a:lnTo>
                  <a:pt x="0" y="1234346"/>
                </a:lnTo>
                <a:close/>
              </a:path>
            </a:pathLst>
          </a:custGeom>
          <a:solidFill>
            <a:srgbClr val="5C9AD3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36" name="Freeform: Shape 35"/>
          <p:cNvSpPr/>
          <p:nvPr/>
        </p:nvSpPr>
        <p:spPr>
          <a:xfrm>
            <a:off x="5278438" y="2093913"/>
            <a:ext cx="1285875" cy="1096962"/>
          </a:xfrm>
          <a:custGeom>
            <a:avLst/>
            <a:gdLst>
              <a:gd name="connsiteX0" fmla="*/ 363294 w 1714500"/>
              <a:gd name="connsiteY0" fmla="*/ 0 h 1097280"/>
              <a:gd name="connsiteX1" fmla="*/ 1165860 w 1714500"/>
              <a:gd name="connsiteY1" fmla="*/ 0 h 1097280"/>
              <a:gd name="connsiteX2" fmla="*/ 1714500 w 1714500"/>
              <a:gd name="connsiteY2" fmla="*/ 548640 h 1097280"/>
              <a:gd name="connsiteX3" fmla="*/ 1165860 w 1714500"/>
              <a:gd name="connsiteY3" fmla="*/ 1097280 h 1097280"/>
              <a:gd name="connsiteX4" fmla="*/ 0 w 1714500"/>
              <a:gd name="connsiteY4" fmla="*/ 1097280 h 1097280"/>
              <a:gd name="connsiteX5" fmla="*/ 0 w 1714500"/>
              <a:gd name="connsiteY5" fmla="*/ 1095691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4500" h="1097280">
                <a:moveTo>
                  <a:pt x="363294" y="0"/>
                </a:moveTo>
                <a:lnTo>
                  <a:pt x="1165860" y="0"/>
                </a:lnTo>
                <a:lnTo>
                  <a:pt x="1714500" y="548640"/>
                </a:lnTo>
                <a:lnTo>
                  <a:pt x="1165860" y="1097280"/>
                </a:lnTo>
                <a:lnTo>
                  <a:pt x="0" y="1097280"/>
                </a:lnTo>
                <a:lnTo>
                  <a:pt x="0" y="1095691"/>
                </a:lnTo>
                <a:close/>
              </a:path>
            </a:pathLst>
          </a:custGeom>
          <a:solidFill>
            <a:srgbClr val="189A8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4" name="Freeform: Shape 33"/>
          <p:cNvSpPr/>
          <p:nvPr/>
        </p:nvSpPr>
        <p:spPr>
          <a:xfrm>
            <a:off x="5548280" y="1007918"/>
            <a:ext cx="1281162" cy="1097280"/>
          </a:xfrm>
          <a:custGeom>
            <a:avLst/>
            <a:gdLst>
              <a:gd name="connsiteX0" fmla="*/ 363820 w 1708216"/>
              <a:gd name="connsiteY0" fmla="*/ 0 h 1097280"/>
              <a:gd name="connsiteX1" fmla="*/ 1159576 w 1708216"/>
              <a:gd name="connsiteY1" fmla="*/ 0 h 1097280"/>
              <a:gd name="connsiteX2" fmla="*/ 1708216 w 1708216"/>
              <a:gd name="connsiteY2" fmla="*/ 548640 h 1097280"/>
              <a:gd name="connsiteX3" fmla="*/ 1159576 w 1708216"/>
              <a:gd name="connsiteY3" fmla="*/ 1097280 h 1097280"/>
              <a:gd name="connsiteX4" fmla="*/ 0 w 1708216"/>
              <a:gd name="connsiteY4" fmla="*/ 109728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08216" h="1097280">
                <a:moveTo>
                  <a:pt x="363820" y="0"/>
                </a:moveTo>
                <a:lnTo>
                  <a:pt x="1159576" y="0"/>
                </a:lnTo>
                <a:lnTo>
                  <a:pt x="1708216" y="548640"/>
                </a:lnTo>
                <a:lnTo>
                  <a:pt x="1159576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5C9AD3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77813" y="304800"/>
            <a:ext cx="4457700" cy="104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fr-FR" sz="4400" b="1" dirty="0">
                <a:solidFill>
                  <a:schemeClr val="bg1"/>
                </a:solidFill>
                <a:latin typeface="Candara" pitchFamily="34" charset="0"/>
              </a:rPr>
              <a:t>TITLE GOES HERE</a:t>
            </a:r>
          </a:p>
          <a:p>
            <a:r>
              <a:rPr lang="en-US" altLang="fr-FR" dirty="0">
                <a:solidFill>
                  <a:schemeClr val="bg1"/>
                </a:solidFill>
                <a:latin typeface="Candara" pitchFamily="34" charset="0"/>
              </a:rPr>
              <a:t>Your Subtitle</a:t>
            </a:r>
          </a:p>
        </p:txBody>
      </p:sp>
      <p:sp>
        <p:nvSpPr>
          <p:cNvPr id="43" name="Text Placeholder 3"/>
          <p:cNvSpPr txBox="1">
            <a:spLocks/>
          </p:cNvSpPr>
          <p:nvPr/>
        </p:nvSpPr>
        <p:spPr>
          <a:xfrm>
            <a:off x="5786438" y="1285875"/>
            <a:ext cx="714375" cy="571500"/>
          </a:xfrm>
          <a:prstGeom prst="rect">
            <a:avLst/>
          </a:prstGeom>
          <a:solidFill>
            <a:srgbClr val="5C9A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44" name="Text Placeholder 3"/>
          <p:cNvSpPr txBox="1">
            <a:spLocks/>
          </p:cNvSpPr>
          <p:nvPr/>
        </p:nvSpPr>
        <p:spPr bwMode="auto">
          <a:xfrm>
            <a:off x="5656263" y="2274888"/>
            <a:ext cx="625475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algn="ctr" defTabSz="1217613">
              <a:spcBef>
                <a:spcPct val="20000"/>
              </a:spcBef>
            </a:pPr>
            <a:r>
              <a:rPr lang="en-US" altLang="fr-FR" sz="4800" b="1">
                <a:solidFill>
                  <a:schemeClr val="bg1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45" name="Text Placeholder 3"/>
          <p:cNvSpPr txBox="1">
            <a:spLocks/>
          </p:cNvSpPr>
          <p:nvPr/>
        </p:nvSpPr>
        <p:spPr bwMode="auto">
          <a:xfrm>
            <a:off x="5422900" y="3325813"/>
            <a:ext cx="623888" cy="73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algn="ctr" defTabSz="1217613">
              <a:spcBef>
                <a:spcPct val="20000"/>
              </a:spcBef>
            </a:pPr>
            <a:r>
              <a:rPr lang="en-US" altLang="fr-FR" sz="4800" b="1">
                <a:solidFill>
                  <a:schemeClr val="bg1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47" name="Text Placeholder 3"/>
          <p:cNvSpPr txBox="1">
            <a:spLocks/>
          </p:cNvSpPr>
          <p:nvPr/>
        </p:nvSpPr>
        <p:spPr bwMode="auto">
          <a:xfrm>
            <a:off x="4826000" y="5540375"/>
            <a:ext cx="625475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algn="ctr" defTabSz="1217613">
              <a:spcBef>
                <a:spcPct val="20000"/>
              </a:spcBef>
            </a:pPr>
            <a:r>
              <a:rPr lang="en-US" altLang="fr-FR" sz="4800" b="1">
                <a:solidFill>
                  <a:schemeClr val="bg1"/>
                </a:solidFill>
                <a:latin typeface="Calibri" pitchFamily="34" charset="0"/>
              </a:rPr>
              <a:t>05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2139950" y="1589087"/>
            <a:ext cx="3503613" cy="892552"/>
            <a:chOff x="4597685" y="3155869"/>
            <a:chExt cx="2380089" cy="669696"/>
          </a:xfrm>
        </p:grpSpPr>
        <p:sp>
          <p:nvSpPr>
            <p:cNvPr id="8230" name="TextBox 48"/>
            <p:cNvSpPr txBox="1">
              <a:spLocks noChangeArrowheads="1"/>
            </p:cNvSpPr>
            <p:nvPr/>
          </p:nvSpPr>
          <p:spPr bwMode="auto">
            <a:xfrm>
              <a:off x="4597686" y="3155869"/>
              <a:ext cx="2380088" cy="6696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fr-FR" sz="2000" b="1" dirty="0" smtClean="0">
                  <a:solidFill>
                    <a:schemeClr val="bg1"/>
                  </a:solidFill>
                  <a:latin typeface="Calibri" pitchFamily="34" charset="0"/>
                </a:rPr>
                <a:t>Les </a:t>
              </a:r>
              <a:r>
                <a:rPr lang="en-US" altLang="fr-FR" sz="2000" b="1" dirty="0" err="1" smtClean="0">
                  <a:solidFill>
                    <a:schemeClr val="bg1"/>
                  </a:solidFill>
                  <a:latin typeface="Calibri" pitchFamily="34" charset="0"/>
                </a:rPr>
                <a:t>différentes</a:t>
              </a:r>
              <a:r>
                <a:rPr lang="en-US" altLang="fr-FR" sz="2000" b="1" dirty="0" smtClean="0">
                  <a:solidFill>
                    <a:schemeClr val="bg1"/>
                  </a:solidFill>
                  <a:latin typeface="Calibri" pitchFamily="34" charset="0"/>
                </a:rPr>
                <a:t> </a:t>
              </a:r>
              <a:r>
                <a:rPr lang="en-US" altLang="fr-FR" sz="2000" b="1" dirty="0" err="1" smtClean="0">
                  <a:solidFill>
                    <a:schemeClr val="bg1"/>
                  </a:solidFill>
                  <a:latin typeface="Calibri" pitchFamily="34" charset="0"/>
                </a:rPr>
                <a:t>fonctions</a:t>
              </a:r>
              <a:r>
                <a:rPr lang="en-US" altLang="fr-FR" sz="2000" b="1" dirty="0" smtClean="0">
                  <a:solidFill>
                    <a:schemeClr val="bg1"/>
                  </a:solidFill>
                  <a:latin typeface="Calibri" pitchFamily="34" charset="0"/>
                </a:rPr>
                <a:t> au </a:t>
              </a:r>
              <a:r>
                <a:rPr lang="en-US" altLang="fr-FR" sz="2000" b="1" dirty="0" err="1" smtClean="0">
                  <a:solidFill>
                    <a:schemeClr val="bg1"/>
                  </a:solidFill>
                  <a:latin typeface="Calibri" pitchFamily="34" charset="0"/>
                </a:rPr>
                <a:t>sein</a:t>
              </a:r>
              <a:r>
                <a:rPr lang="en-US" altLang="fr-FR" sz="2000" b="1" dirty="0" smtClean="0">
                  <a:solidFill>
                    <a:schemeClr val="bg1"/>
                  </a:solidFill>
                  <a:latin typeface="Calibri" pitchFamily="34" charset="0"/>
                </a:rPr>
                <a:t> de </a:t>
              </a:r>
              <a:r>
                <a:rPr lang="en-US" altLang="fr-FR" sz="2000" b="1" dirty="0" err="1" smtClean="0">
                  <a:solidFill>
                    <a:schemeClr val="bg1"/>
                  </a:solidFill>
                  <a:latin typeface="Calibri" pitchFamily="34" charset="0"/>
                </a:rPr>
                <a:t>l’entreprise</a:t>
              </a:r>
              <a:r>
                <a:rPr lang="en-US" altLang="fr-FR" sz="2000" b="1" dirty="0" smtClean="0">
                  <a:solidFill>
                    <a:schemeClr val="bg1"/>
                  </a:solidFill>
                  <a:latin typeface="Calibri" pitchFamily="34" charset="0"/>
                </a:rPr>
                <a:t>      </a:t>
              </a:r>
              <a:endParaRPr lang="en-US" altLang="fr-FR" sz="2000" b="1" dirty="0">
                <a:solidFill>
                  <a:schemeClr val="bg1"/>
                </a:solidFill>
                <a:latin typeface="Calibri" pitchFamily="34" charset="0"/>
              </a:endParaRPr>
            </a:p>
            <a:p>
              <a:endParaRPr lang="en-US" altLang="fr-FR" b="1" dirty="0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597685" y="3348831"/>
              <a:ext cx="1699601" cy="138171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  <a:cs typeface="+mn-cs"/>
              </a:endParaRPr>
            </a:p>
          </p:txBody>
        </p: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2000232" y="2571744"/>
            <a:ext cx="2740025" cy="615950"/>
            <a:chOff x="4597685" y="3155866"/>
            <a:chExt cx="1861611" cy="461664"/>
          </a:xfrm>
        </p:grpSpPr>
        <p:sp>
          <p:nvSpPr>
            <p:cNvPr id="8228" name="TextBox 51"/>
            <p:cNvSpPr txBox="1">
              <a:spLocks noChangeArrowheads="1"/>
            </p:cNvSpPr>
            <p:nvPr/>
          </p:nvSpPr>
          <p:spPr bwMode="auto">
            <a:xfrm>
              <a:off x="4597685" y="3155866"/>
              <a:ext cx="1861611" cy="461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fr-FR" sz="2000" b="1">
                  <a:solidFill>
                    <a:schemeClr val="bg1"/>
                  </a:solidFill>
                  <a:latin typeface="Calibri" pitchFamily="34" charset="0"/>
                </a:rPr>
                <a:t>  </a:t>
              </a:r>
            </a:p>
            <a:p>
              <a:endParaRPr lang="en-US" altLang="fr-FR" sz="2000" b="1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597685" y="3348623"/>
              <a:ext cx="1698747" cy="139213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  <a:cs typeface="+mn-cs"/>
              </a:endParaRPr>
            </a:p>
          </p:txBody>
        </p:sp>
      </p:grpSp>
      <p:grpSp>
        <p:nvGrpSpPr>
          <p:cNvPr id="4" name="Group 56"/>
          <p:cNvGrpSpPr>
            <a:grpSpLocks/>
          </p:cNvGrpSpPr>
          <p:nvPr/>
        </p:nvGrpSpPr>
        <p:grpSpPr bwMode="auto">
          <a:xfrm>
            <a:off x="1508125" y="4881563"/>
            <a:ext cx="3135313" cy="441325"/>
            <a:chOff x="4597684" y="3155882"/>
            <a:chExt cx="2130484" cy="331555"/>
          </a:xfrm>
        </p:grpSpPr>
        <p:sp>
          <p:nvSpPr>
            <p:cNvPr id="8226" name="TextBox 57"/>
            <p:cNvSpPr txBox="1">
              <a:spLocks noChangeArrowheads="1"/>
            </p:cNvSpPr>
            <p:nvPr/>
          </p:nvSpPr>
          <p:spPr bwMode="auto">
            <a:xfrm>
              <a:off x="4597684" y="3155882"/>
              <a:ext cx="2130484" cy="2308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 altLang="fr-FR" sz="2000" b="1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597684" y="3349090"/>
              <a:ext cx="1698994" cy="138347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  <a:cs typeface="+mn-cs"/>
              </a:endParaRPr>
            </a:p>
          </p:txBody>
        </p:sp>
      </p:grpSp>
      <p:grpSp>
        <p:nvGrpSpPr>
          <p:cNvPr id="5" name="Group 59"/>
          <p:cNvGrpSpPr>
            <a:grpSpLocks/>
          </p:cNvGrpSpPr>
          <p:nvPr/>
        </p:nvGrpSpPr>
        <p:grpSpPr bwMode="auto">
          <a:xfrm>
            <a:off x="1255713" y="6002338"/>
            <a:ext cx="2500312" cy="811212"/>
            <a:chOff x="4597685" y="3155872"/>
            <a:chExt cx="1699181" cy="608564"/>
          </a:xfrm>
        </p:grpSpPr>
        <p:sp>
          <p:nvSpPr>
            <p:cNvPr id="8224" name="TextBox 60"/>
            <p:cNvSpPr txBox="1">
              <a:spLocks noChangeArrowheads="1"/>
            </p:cNvSpPr>
            <p:nvPr/>
          </p:nvSpPr>
          <p:spPr bwMode="auto">
            <a:xfrm>
              <a:off x="4597686" y="3155872"/>
              <a:ext cx="1542506" cy="2077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fr-FR" b="1">
                  <a:solidFill>
                    <a:schemeClr val="bg1"/>
                  </a:solidFill>
                  <a:latin typeface="Calibri" pitchFamily="34" charset="0"/>
                </a:rPr>
                <a:t>Lorem Ipsum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597685" y="3348802"/>
              <a:ext cx="1699181" cy="415634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+mn-cs"/>
                </a:rPr>
                <a:t>Lorem ipsum dolor sit amet, consectetur adipiscing elit, sed do eiusmod tempor incididunt.</a:t>
              </a:r>
              <a:endParaRPr lang="en-US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  <a:cs typeface="+mn-cs"/>
              </a:endParaRPr>
            </a:p>
          </p:txBody>
        </p:sp>
      </p:grpSp>
      <p:grpSp>
        <p:nvGrpSpPr>
          <p:cNvPr id="6" name="Group 62"/>
          <p:cNvGrpSpPr/>
          <p:nvPr/>
        </p:nvGrpSpPr>
        <p:grpSpPr>
          <a:xfrm>
            <a:off x="6830333" y="2423721"/>
            <a:ext cx="382588" cy="527051"/>
            <a:chOff x="3775075" y="1663700"/>
            <a:chExt cx="382588" cy="395288"/>
          </a:xfrm>
          <a:solidFill>
            <a:srgbClr val="189A8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4" name="Freeform 46"/>
            <p:cNvSpPr>
              <a:spLocks/>
            </p:cNvSpPr>
            <p:nvPr/>
          </p:nvSpPr>
          <p:spPr bwMode="auto">
            <a:xfrm>
              <a:off x="4064000" y="1952625"/>
              <a:ext cx="6350" cy="19050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" y="8"/>
                </a:cxn>
                <a:cxn ang="0">
                  <a:pos x="3" y="0"/>
                </a:cxn>
                <a:cxn ang="0">
                  <a:pos x="0" y="4"/>
                </a:cxn>
              </a:cxnLst>
              <a:rect l="0" t="0" r="r" b="b"/>
              <a:pathLst>
                <a:path w="3" h="8">
                  <a:moveTo>
                    <a:pt x="0" y="4"/>
                  </a:moveTo>
                  <a:cubicBezTo>
                    <a:pt x="0" y="6"/>
                    <a:pt x="1" y="7"/>
                    <a:pt x="3" y="8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2"/>
                    <a:pt x="0" y="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65" name="Freeform 47"/>
            <p:cNvSpPr>
              <a:spLocks/>
            </p:cNvSpPr>
            <p:nvPr/>
          </p:nvSpPr>
          <p:spPr bwMode="auto">
            <a:xfrm>
              <a:off x="4081463" y="1987550"/>
              <a:ext cx="11113" cy="1746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8"/>
                </a:cxn>
                <a:cxn ang="0">
                  <a:pos x="5" y="4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" y="8"/>
                    <a:pt x="5" y="6"/>
                    <a:pt x="5" y="4"/>
                  </a:cubicBezTo>
                  <a:cubicBezTo>
                    <a:pt x="5" y="2"/>
                    <a:pt x="4" y="1"/>
                    <a:pt x="2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66" name="Freeform 48"/>
            <p:cNvSpPr>
              <a:spLocks noEditPoints="1"/>
            </p:cNvSpPr>
            <p:nvPr/>
          </p:nvSpPr>
          <p:spPr bwMode="auto">
            <a:xfrm>
              <a:off x="3995738" y="1898650"/>
              <a:ext cx="161925" cy="160338"/>
            </a:xfrm>
            <a:custGeom>
              <a:avLst/>
              <a:gdLst/>
              <a:ahLst/>
              <a:cxnLst>
                <a:cxn ang="0">
                  <a:pos x="36" y="0"/>
                </a:cxn>
                <a:cxn ang="0">
                  <a:pos x="0" y="36"/>
                </a:cxn>
                <a:cxn ang="0">
                  <a:pos x="36" y="71"/>
                </a:cxn>
                <a:cxn ang="0">
                  <a:pos x="72" y="36"/>
                </a:cxn>
                <a:cxn ang="0">
                  <a:pos x="36" y="0"/>
                </a:cxn>
                <a:cxn ang="0">
                  <a:pos x="45" y="50"/>
                </a:cxn>
                <a:cxn ang="0">
                  <a:pos x="38" y="52"/>
                </a:cxn>
                <a:cxn ang="0">
                  <a:pos x="38" y="60"/>
                </a:cxn>
                <a:cxn ang="0">
                  <a:pos x="33" y="60"/>
                </a:cxn>
                <a:cxn ang="0">
                  <a:pos x="33" y="52"/>
                </a:cxn>
                <a:cxn ang="0">
                  <a:pos x="27" y="49"/>
                </a:cxn>
                <a:cxn ang="0">
                  <a:pos x="23" y="41"/>
                </a:cxn>
                <a:cxn ang="0">
                  <a:pos x="29" y="41"/>
                </a:cxn>
                <a:cxn ang="0">
                  <a:pos x="33" y="47"/>
                </a:cxn>
                <a:cxn ang="0">
                  <a:pos x="33" y="37"/>
                </a:cxn>
                <a:cxn ang="0">
                  <a:pos x="31" y="37"/>
                </a:cxn>
                <a:cxn ang="0">
                  <a:pos x="24" y="29"/>
                </a:cxn>
                <a:cxn ang="0">
                  <a:pos x="28" y="21"/>
                </a:cxn>
                <a:cxn ang="0">
                  <a:pos x="33" y="19"/>
                </a:cxn>
                <a:cxn ang="0">
                  <a:pos x="33" y="12"/>
                </a:cxn>
                <a:cxn ang="0">
                  <a:pos x="38" y="12"/>
                </a:cxn>
                <a:cxn ang="0">
                  <a:pos x="38" y="19"/>
                </a:cxn>
                <a:cxn ang="0">
                  <a:pos x="44" y="22"/>
                </a:cxn>
                <a:cxn ang="0">
                  <a:pos x="48" y="29"/>
                </a:cxn>
                <a:cxn ang="0">
                  <a:pos x="42" y="29"/>
                </a:cxn>
                <a:cxn ang="0">
                  <a:pos x="38" y="24"/>
                </a:cxn>
                <a:cxn ang="0">
                  <a:pos x="38" y="33"/>
                </a:cxn>
                <a:cxn ang="0">
                  <a:pos x="42" y="34"/>
                </a:cxn>
                <a:cxn ang="0">
                  <a:pos x="47" y="37"/>
                </a:cxn>
                <a:cxn ang="0">
                  <a:pos x="49" y="42"/>
                </a:cxn>
                <a:cxn ang="0">
                  <a:pos x="45" y="50"/>
                </a:cxn>
              </a:cxnLst>
              <a:rect l="0" t="0" r="r" b="b"/>
              <a:pathLst>
                <a:path w="72" h="71">
                  <a:moveTo>
                    <a:pt x="36" y="0"/>
                  </a:moveTo>
                  <a:cubicBezTo>
                    <a:pt x="16" y="0"/>
                    <a:pt x="0" y="16"/>
                    <a:pt x="0" y="36"/>
                  </a:cubicBezTo>
                  <a:cubicBezTo>
                    <a:pt x="0" y="55"/>
                    <a:pt x="16" y="71"/>
                    <a:pt x="36" y="71"/>
                  </a:cubicBezTo>
                  <a:cubicBezTo>
                    <a:pt x="56" y="71"/>
                    <a:pt x="72" y="55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lose/>
                  <a:moveTo>
                    <a:pt x="45" y="50"/>
                  </a:moveTo>
                  <a:cubicBezTo>
                    <a:pt x="43" y="51"/>
                    <a:pt x="41" y="52"/>
                    <a:pt x="38" y="52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3" y="60"/>
                    <a:pt x="33" y="60"/>
                    <a:pt x="33" y="60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1" y="51"/>
                    <a:pt x="28" y="51"/>
                    <a:pt x="27" y="49"/>
                  </a:cubicBezTo>
                  <a:cubicBezTo>
                    <a:pt x="24" y="47"/>
                    <a:pt x="23" y="44"/>
                    <a:pt x="23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4"/>
                    <a:pt x="30" y="46"/>
                    <a:pt x="33" y="4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7"/>
                    <a:pt x="32" y="37"/>
                    <a:pt x="31" y="37"/>
                  </a:cubicBezTo>
                  <a:cubicBezTo>
                    <a:pt x="26" y="35"/>
                    <a:pt x="24" y="33"/>
                    <a:pt x="24" y="29"/>
                  </a:cubicBezTo>
                  <a:cubicBezTo>
                    <a:pt x="24" y="26"/>
                    <a:pt x="25" y="23"/>
                    <a:pt x="28" y="21"/>
                  </a:cubicBezTo>
                  <a:cubicBezTo>
                    <a:pt x="29" y="20"/>
                    <a:pt x="31" y="20"/>
                    <a:pt x="33" y="19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41" y="20"/>
                    <a:pt x="43" y="20"/>
                    <a:pt x="44" y="22"/>
                  </a:cubicBezTo>
                  <a:cubicBezTo>
                    <a:pt x="47" y="24"/>
                    <a:pt x="48" y="26"/>
                    <a:pt x="48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7"/>
                    <a:pt x="40" y="25"/>
                    <a:pt x="38" y="24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9" y="33"/>
                    <a:pt x="41" y="33"/>
                    <a:pt x="42" y="34"/>
                  </a:cubicBezTo>
                  <a:cubicBezTo>
                    <a:pt x="45" y="34"/>
                    <a:pt x="46" y="36"/>
                    <a:pt x="47" y="37"/>
                  </a:cubicBezTo>
                  <a:cubicBezTo>
                    <a:pt x="48" y="39"/>
                    <a:pt x="49" y="40"/>
                    <a:pt x="49" y="42"/>
                  </a:cubicBezTo>
                  <a:cubicBezTo>
                    <a:pt x="49" y="45"/>
                    <a:pt x="48" y="48"/>
                    <a:pt x="45" y="5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67" name="Freeform 49"/>
            <p:cNvSpPr>
              <a:spLocks noEditPoints="1"/>
            </p:cNvSpPr>
            <p:nvPr/>
          </p:nvSpPr>
          <p:spPr bwMode="auto">
            <a:xfrm>
              <a:off x="3775075" y="1663700"/>
              <a:ext cx="361950" cy="361950"/>
            </a:xfrm>
            <a:custGeom>
              <a:avLst/>
              <a:gdLst/>
              <a:ahLst/>
              <a:cxnLst>
                <a:cxn ang="0">
                  <a:pos x="84" y="153"/>
                </a:cxn>
                <a:cxn ang="0">
                  <a:pos x="103" y="118"/>
                </a:cxn>
                <a:cxn ang="0">
                  <a:pos x="84" y="108"/>
                </a:cxn>
                <a:cxn ang="0">
                  <a:pos x="120" y="85"/>
                </a:cxn>
                <a:cxn ang="0">
                  <a:pos x="126" y="103"/>
                </a:cxn>
                <a:cxn ang="0">
                  <a:pos x="154" y="85"/>
                </a:cxn>
                <a:cxn ang="0">
                  <a:pos x="156" y="109"/>
                </a:cxn>
                <a:cxn ang="0">
                  <a:pos x="84" y="0"/>
                </a:cxn>
                <a:cxn ang="0">
                  <a:pos x="76" y="0"/>
                </a:cxn>
                <a:cxn ang="0">
                  <a:pos x="0" y="81"/>
                </a:cxn>
                <a:cxn ang="0">
                  <a:pos x="100" y="159"/>
                </a:cxn>
                <a:cxn ang="0">
                  <a:pos x="135" y="32"/>
                </a:cxn>
                <a:cxn ang="0">
                  <a:pos x="127" y="78"/>
                </a:cxn>
                <a:cxn ang="0">
                  <a:pos x="135" y="32"/>
                </a:cxn>
                <a:cxn ang="0">
                  <a:pos x="120" y="38"/>
                </a:cxn>
                <a:cxn ang="0">
                  <a:pos x="129" y="26"/>
                </a:cxn>
                <a:cxn ang="0">
                  <a:pos x="113" y="42"/>
                </a:cxn>
                <a:cxn ang="0">
                  <a:pos x="84" y="11"/>
                </a:cxn>
                <a:cxn ang="0">
                  <a:pos x="115" y="49"/>
                </a:cxn>
                <a:cxn ang="0">
                  <a:pos x="84" y="78"/>
                </a:cxn>
                <a:cxn ang="0">
                  <a:pos x="54" y="12"/>
                </a:cxn>
                <a:cxn ang="0">
                  <a:pos x="33" y="26"/>
                </a:cxn>
                <a:cxn ang="0">
                  <a:pos x="26" y="32"/>
                </a:cxn>
                <a:cxn ang="0">
                  <a:pos x="33" y="78"/>
                </a:cxn>
                <a:cxn ang="0">
                  <a:pos x="26" y="32"/>
                </a:cxn>
                <a:cxn ang="0">
                  <a:pos x="8" y="85"/>
                </a:cxn>
                <a:cxn ang="0">
                  <a:pos x="38" y="117"/>
                </a:cxn>
                <a:cxn ang="0">
                  <a:pos x="32" y="135"/>
                </a:cxn>
                <a:cxn ang="0">
                  <a:pos x="55" y="149"/>
                </a:cxn>
                <a:cxn ang="0">
                  <a:pos x="76" y="152"/>
                </a:cxn>
                <a:cxn ang="0">
                  <a:pos x="76" y="115"/>
                </a:cxn>
                <a:cxn ang="0">
                  <a:pos x="76" y="108"/>
                </a:cxn>
                <a:cxn ang="0">
                  <a:pos x="40" y="85"/>
                </a:cxn>
                <a:cxn ang="0">
                  <a:pos x="76" y="108"/>
                </a:cxn>
                <a:cxn ang="0">
                  <a:pos x="40" y="78"/>
                </a:cxn>
                <a:cxn ang="0">
                  <a:pos x="76" y="55"/>
                </a:cxn>
                <a:cxn ang="0">
                  <a:pos x="76" y="47"/>
                </a:cxn>
                <a:cxn ang="0">
                  <a:pos x="76" y="10"/>
                </a:cxn>
              </a:cxnLst>
              <a:rect l="0" t="0" r="r" b="b"/>
              <a:pathLst>
                <a:path w="161" h="161">
                  <a:moveTo>
                    <a:pt x="96" y="148"/>
                  </a:moveTo>
                  <a:cubicBezTo>
                    <a:pt x="92" y="151"/>
                    <a:pt x="88" y="153"/>
                    <a:pt x="84" y="153"/>
                  </a:cubicBezTo>
                  <a:cubicBezTo>
                    <a:pt x="84" y="115"/>
                    <a:pt x="84" y="115"/>
                    <a:pt x="84" y="115"/>
                  </a:cubicBezTo>
                  <a:cubicBezTo>
                    <a:pt x="90" y="115"/>
                    <a:pt x="97" y="116"/>
                    <a:pt x="103" y="118"/>
                  </a:cubicBezTo>
                  <a:cubicBezTo>
                    <a:pt x="105" y="115"/>
                    <a:pt x="107" y="113"/>
                    <a:pt x="109" y="111"/>
                  </a:cubicBezTo>
                  <a:cubicBezTo>
                    <a:pt x="101" y="109"/>
                    <a:pt x="92" y="108"/>
                    <a:pt x="84" y="108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120" y="85"/>
                    <a:pt x="120" y="85"/>
                    <a:pt x="120" y="85"/>
                  </a:cubicBezTo>
                  <a:cubicBezTo>
                    <a:pt x="119" y="92"/>
                    <a:pt x="119" y="99"/>
                    <a:pt x="117" y="106"/>
                  </a:cubicBezTo>
                  <a:cubicBezTo>
                    <a:pt x="120" y="105"/>
                    <a:pt x="123" y="104"/>
                    <a:pt x="126" y="103"/>
                  </a:cubicBezTo>
                  <a:cubicBezTo>
                    <a:pt x="126" y="97"/>
                    <a:pt x="127" y="91"/>
                    <a:pt x="127" y="85"/>
                  </a:cubicBezTo>
                  <a:cubicBezTo>
                    <a:pt x="154" y="85"/>
                    <a:pt x="154" y="85"/>
                    <a:pt x="154" y="85"/>
                  </a:cubicBezTo>
                  <a:cubicBezTo>
                    <a:pt x="153" y="92"/>
                    <a:pt x="152" y="99"/>
                    <a:pt x="149" y="106"/>
                  </a:cubicBezTo>
                  <a:cubicBezTo>
                    <a:pt x="152" y="107"/>
                    <a:pt x="154" y="108"/>
                    <a:pt x="156" y="109"/>
                  </a:cubicBezTo>
                  <a:cubicBezTo>
                    <a:pt x="159" y="101"/>
                    <a:pt x="161" y="91"/>
                    <a:pt x="161" y="81"/>
                  </a:cubicBezTo>
                  <a:cubicBezTo>
                    <a:pt x="161" y="37"/>
                    <a:pt x="127" y="2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34" y="3"/>
                    <a:pt x="0" y="38"/>
                    <a:pt x="0" y="81"/>
                  </a:cubicBezTo>
                  <a:cubicBezTo>
                    <a:pt x="0" y="125"/>
                    <a:pt x="36" y="161"/>
                    <a:pt x="81" y="161"/>
                  </a:cubicBezTo>
                  <a:cubicBezTo>
                    <a:pt x="87" y="161"/>
                    <a:pt x="94" y="161"/>
                    <a:pt x="100" y="159"/>
                  </a:cubicBezTo>
                  <a:cubicBezTo>
                    <a:pt x="98" y="156"/>
                    <a:pt x="97" y="152"/>
                    <a:pt x="96" y="148"/>
                  </a:cubicBezTo>
                  <a:close/>
                  <a:moveTo>
                    <a:pt x="135" y="32"/>
                  </a:moveTo>
                  <a:cubicBezTo>
                    <a:pt x="146" y="44"/>
                    <a:pt x="153" y="60"/>
                    <a:pt x="154" y="78"/>
                  </a:cubicBezTo>
                  <a:cubicBezTo>
                    <a:pt x="127" y="78"/>
                    <a:pt x="127" y="78"/>
                    <a:pt x="127" y="78"/>
                  </a:cubicBezTo>
                  <a:cubicBezTo>
                    <a:pt x="127" y="67"/>
                    <a:pt x="125" y="56"/>
                    <a:pt x="122" y="46"/>
                  </a:cubicBezTo>
                  <a:cubicBezTo>
                    <a:pt x="129" y="42"/>
                    <a:pt x="133" y="38"/>
                    <a:pt x="135" y="32"/>
                  </a:cubicBezTo>
                  <a:close/>
                  <a:moveTo>
                    <a:pt x="129" y="26"/>
                  </a:moveTo>
                  <a:cubicBezTo>
                    <a:pt x="129" y="31"/>
                    <a:pt x="125" y="35"/>
                    <a:pt x="120" y="38"/>
                  </a:cubicBezTo>
                  <a:cubicBezTo>
                    <a:pt x="116" y="27"/>
                    <a:pt x="110" y="17"/>
                    <a:pt x="101" y="10"/>
                  </a:cubicBezTo>
                  <a:cubicBezTo>
                    <a:pt x="111" y="13"/>
                    <a:pt x="121" y="19"/>
                    <a:pt x="129" y="26"/>
                  </a:cubicBezTo>
                  <a:close/>
                  <a:moveTo>
                    <a:pt x="84" y="11"/>
                  </a:moveTo>
                  <a:cubicBezTo>
                    <a:pt x="98" y="13"/>
                    <a:pt x="108" y="26"/>
                    <a:pt x="113" y="42"/>
                  </a:cubicBezTo>
                  <a:cubicBezTo>
                    <a:pt x="104" y="45"/>
                    <a:pt x="93" y="47"/>
                    <a:pt x="84" y="47"/>
                  </a:cubicBezTo>
                  <a:lnTo>
                    <a:pt x="84" y="11"/>
                  </a:lnTo>
                  <a:close/>
                  <a:moveTo>
                    <a:pt x="84" y="55"/>
                  </a:moveTo>
                  <a:cubicBezTo>
                    <a:pt x="95" y="54"/>
                    <a:pt x="106" y="53"/>
                    <a:pt x="115" y="49"/>
                  </a:cubicBezTo>
                  <a:cubicBezTo>
                    <a:pt x="118" y="59"/>
                    <a:pt x="119" y="69"/>
                    <a:pt x="120" y="78"/>
                  </a:cubicBezTo>
                  <a:cubicBezTo>
                    <a:pt x="84" y="78"/>
                    <a:pt x="84" y="78"/>
                    <a:pt x="84" y="78"/>
                  </a:cubicBezTo>
                  <a:lnTo>
                    <a:pt x="84" y="55"/>
                  </a:lnTo>
                  <a:close/>
                  <a:moveTo>
                    <a:pt x="54" y="12"/>
                  </a:moveTo>
                  <a:cubicBezTo>
                    <a:pt x="48" y="19"/>
                    <a:pt x="43" y="27"/>
                    <a:pt x="40" y="37"/>
                  </a:cubicBezTo>
                  <a:cubicBezTo>
                    <a:pt x="35" y="34"/>
                    <a:pt x="33" y="30"/>
                    <a:pt x="33" y="26"/>
                  </a:cubicBezTo>
                  <a:cubicBezTo>
                    <a:pt x="39" y="20"/>
                    <a:pt x="46" y="15"/>
                    <a:pt x="54" y="12"/>
                  </a:cubicBezTo>
                  <a:close/>
                  <a:moveTo>
                    <a:pt x="26" y="32"/>
                  </a:moveTo>
                  <a:cubicBezTo>
                    <a:pt x="28" y="37"/>
                    <a:pt x="32" y="41"/>
                    <a:pt x="37" y="44"/>
                  </a:cubicBezTo>
                  <a:cubicBezTo>
                    <a:pt x="34" y="55"/>
                    <a:pt x="33" y="66"/>
                    <a:pt x="33" y="78"/>
                  </a:cubicBezTo>
                  <a:cubicBezTo>
                    <a:pt x="7" y="78"/>
                    <a:pt x="7" y="78"/>
                    <a:pt x="7" y="78"/>
                  </a:cubicBezTo>
                  <a:cubicBezTo>
                    <a:pt x="8" y="60"/>
                    <a:pt x="15" y="44"/>
                    <a:pt x="26" y="32"/>
                  </a:cubicBezTo>
                  <a:close/>
                  <a:moveTo>
                    <a:pt x="26" y="129"/>
                  </a:moveTo>
                  <a:cubicBezTo>
                    <a:pt x="15" y="118"/>
                    <a:pt x="9" y="102"/>
                    <a:pt x="8" y="85"/>
                  </a:cubicBezTo>
                  <a:cubicBezTo>
                    <a:pt x="33" y="85"/>
                    <a:pt x="33" y="85"/>
                    <a:pt x="33" y="85"/>
                  </a:cubicBezTo>
                  <a:cubicBezTo>
                    <a:pt x="33" y="95"/>
                    <a:pt x="35" y="107"/>
                    <a:pt x="38" y="117"/>
                  </a:cubicBezTo>
                  <a:cubicBezTo>
                    <a:pt x="32" y="120"/>
                    <a:pt x="28" y="124"/>
                    <a:pt x="26" y="129"/>
                  </a:cubicBezTo>
                  <a:close/>
                  <a:moveTo>
                    <a:pt x="32" y="135"/>
                  </a:moveTo>
                  <a:cubicBezTo>
                    <a:pt x="33" y="131"/>
                    <a:pt x="36" y="127"/>
                    <a:pt x="40" y="125"/>
                  </a:cubicBezTo>
                  <a:cubicBezTo>
                    <a:pt x="44" y="134"/>
                    <a:pt x="49" y="143"/>
                    <a:pt x="55" y="149"/>
                  </a:cubicBezTo>
                  <a:cubicBezTo>
                    <a:pt x="47" y="146"/>
                    <a:pt x="39" y="141"/>
                    <a:pt x="32" y="135"/>
                  </a:cubicBezTo>
                  <a:close/>
                  <a:moveTo>
                    <a:pt x="76" y="152"/>
                  </a:moveTo>
                  <a:cubicBezTo>
                    <a:pt x="62" y="149"/>
                    <a:pt x="52" y="137"/>
                    <a:pt x="47" y="121"/>
                  </a:cubicBezTo>
                  <a:cubicBezTo>
                    <a:pt x="55" y="117"/>
                    <a:pt x="66" y="115"/>
                    <a:pt x="76" y="115"/>
                  </a:cubicBezTo>
                  <a:lnTo>
                    <a:pt x="76" y="152"/>
                  </a:lnTo>
                  <a:close/>
                  <a:moveTo>
                    <a:pt x="76" y="108"/>
                  </a:moveTo>
                  <a:cubicBezTo>
                    <a:pt x="66" y="108"/>
                    <a:pt x="54" y="110"/>
                    <a:pt x="45" y="114"/>
                  </a:cubicBezTo>
                  <a:cubicBezTo>
                    <a:pt x="42" y="104"/>
                    <a:pt x="40" y="94"/>
                    <a:pt x="40" y="85"/>
                  </a:cubicBezTo>
                  <a:cubicBezTo>
                    <a:pt x="76" y="85"/>
                    <a:pt x="76" y="85"/>
                    <a:pt x="76" y="85"/>
                  </a:cubicBezTo>
                  <a:lnTo>
                    <a:pt x="76" y="108"/>
                  </a:lnTo>
                  <a:close/>
                  <a:moveTo>
                    <a:pt x="76" y="78"/>
                  </a:moveTo>
                  <a:cubicBezTo>
                    <a:pt x="40" y="78"/>
                    <a:pt x="40" y="78"/>
                    <a:pt x="40" y="78"/>
                  </a:cubicBezTo>
                  <a:cubicBezTo>
                    <a:pt x="40" y="69"/>
                    <a:pt x="42" y="58"/>
                    <a:pt x="44" y="48"/>
                  </a:cubicBezTo>
                  <a:cubicBezTo>
                    <a:pt x="54" y="52"/>
                    <a:pt x="66" y="54"/>
                    <a:pt x="76" y="55"/>
                  </a:cubicBezTo>
                  <a:lnTo>
                    <a:pt x="76" y="78"/>
                  </a:lnTo>
                  <a:close/>
                  <a:moveTo>
                    <a:pt x="76" y="47"/>
                  </a:moveTo>
                  <a:cubicBezTo>
                    <a:pt x="66" y="47"/>
                    <a:pt x="55" y="45"/>
                    <a:pt x="46" y="41"/>
                  </a:cubicBezTo>
                  <a:cubicBezTo>
                    <a:pt x="52" y="25"/>
                    <a:pt x="61" y="11"/>
                    <a:pt x="76" y="10"/>
                  </a:cubicBezTo>
                  <a:lnTo>
                    <a:pt x="76" y="4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68" name="Freeform 50"/>
            <p:cNvSpPr>
              <a:spLocks/>
            </p:cNvSpPr>
            <p:nvPr/>
          </p:nvSpPr>
          <p:spPr bwMode="auto">
            <a:xfrm>
              <a:off x="4064000" y="1952625"/>
              <a:ext cx="6350" cy="19050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" y="8"/>
                </a:cxn>
                <a:cxn ang="0">
                  <a:pos x="3" y="0"/>
                </a:cxn>
                <a:cxn ang="0">
                  <a:pos x="0" y="4"/>
                </a:cxn>
              </a:cxnLst>
              <a:rect l="0" t="0" r="r" b="b"/>
              <a:pathLst>
                <a:path w="3" h="8">
                  <a:moveTo>
                    <a:pt x="0" y="4"/>
                  </a:moveTo>
                  <a:cubicBezTo>
                    <a:pt x="0" y="6"/>
                    <a:pt x="1" y="7"/>
                    <a:pt x="3" y="8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2"/>
                    <a:pt x="0" y="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71" name="Freeform 53"/>
            <p:cNvSpPr>
              <a:spLocks noEditPoints="1"/>
            </p:cNvSpPr>
            <p:nvPr/>
          </p:nvSpPr>
          <p:spPr bwMode="auto">
            <a:xfrm>
              <a:off x="3775075" y="1663700"/>
              <a:ext cx="361950" cy="361950"/>
            </a:xfrm>
            <a:custGeom>
              <a:avLst/>
              <a:gdLst/>
              <a:ahLst/>
              <a:cxnLst>
                <a:cxn ang="0">
                  <a:pos x="84" y="153"/>
                </a:cxn>
                <a:cxn ang="0">
                  <a:pos x="103" y="118"/>
                </a:cxn>
                <a:cxn ang="0">
                  <a:pos x="84" y="108"/>
                </a:cxn>
                <a:cxn ang="0">
                  <a:pos x="120" y="85"/>
                </a:cxn>
                <a:cxn ang="0">
                  <a:pos x="126" y="103"/>
                </a:cxn>
                <a:cxn ang="0">
                  <a:pos x="154" y="85"/>
                </a:cxn>
                <a:cxn ang="0">
                  <a:pos x="156" y="109"/>
                </a:cxn>
                <a:cxn ang="0">
                  <a:pos x="84" y="0"/>
                </a:cxn>
                <a:cxn ang="0">
                  <a:pos x="76" y="0"/>
                </a:cxn>
                <a:cxn ang="0">
                  <a:pos x="0" y="81"/>
                </a:cxn>
                <a:cxn ang="0">
                  <a:pos x="100" y="159"/>
                </a:cxn>
                <a:cxn ang="0">
                  <a:pos x="135" y="32"/>
                </a:cxn>
                <a:cxn ang="0">
                  <a:pos x="127" y="78"/>
                </a:cxn>
                <a:cxn ang="0">
                  <a:pos x="135" y="32"/>
                </a:cxn>
                <a:cxn ang="0">
                  <a:pos x="120" y="38"/>
                </a:cxn>
                <a:cxn ang="0">
                  <a:pos x="129" y="26"/>
                </a:cxn>
                <a:cxn ang="0">
                  <a:pos x="113" y="42"/>
                </a:cxn>
                <a:cxn ang="0">
                  <a:pos x="84" y="11"/>
                </a:cxn>
                <a:cxn ang="0">
                  <a:pos x="115" y="49"/>
                </a:cxn>
                <a:cxn ang="0">
                  <a:pos x="84" y="78"/>
                </a:cxn>
                <a:cxn ang="0">
                  <a:pos x="54" y="12"/>
                </a:cxn>
                <a:cxn ang="0">
                  <a:pos x="33" y="26"/>
                </a:cxn>
                <a:cxn ang="0">
                  <a:pos x="26" y="32"/>
                </a:cxn>
                <a:cxn ang="0">
                  <a:pos x="33" y="78"/>
                </a:cxn>
                <a:cxn ang="0">
                  <a:pos x="26" y="32"/>
                </a:cxn>
                <a:cxn ang="0">
                  <a:pos x="8" y="85"/>
                </a:cxn>
                <a:cxn ang="0">
                  <a:pos x="38" y="117"/>
                </a:cxn>
                <a:cxn ang="0">
                  <a:pos x="32" y="135"/>
                </a:cxn>
                <a:cxn ang="0">
                  <a:pos x="55" y="149"/>
                </a:cxn>
                <a:cxn ang="0">
                  <a:pos x="76" y="152"/>
                </a:cxn>
                <a:cxn ang="0">
                  <a:pos x="76" y="115"/>
                </a:cxn>
                <a:cxn ang="0">
                  <a:pos x="76" y="108"/>
                </a:cxn>
                <a:cxn ang="0">
                  <a:pos x="40" y="85"/>
                </a:cxn>
                <a:cxn ang="0">
                  <a:pos x="76" y="108"/>
                </a:cxn>
                <a:cxn ang="0">
                  <a:pos x="40" y="78"/>
                </a:cxn>
                <a:cxn ang="0">
                  <a:pos x="76" y="55"/>
                </a:cxn>
                <a:cxn ang="0">
                  <a:pos x="76" y="47"/>
                </a:cxn>
                <a:cxn ang="0">
                  <a:pos x="76" y="10"/>
                </a:cxn>
              </a:cxnLst>
              <a:rect l="0" t="0" r="r" b="b"/>
              <a:pathLst>
                <a:path w="161" h="161">
                  <a:moveTo>
                    <a:pt x="96" y="148"/>
                  </a:moveTo>
                  <a:cubicBezTo>
                    <a:pt x="92" y="151"/>
                    <a:pt x="88" y="153"/>
                    <a:pt x="84" y="153"/>
                  </a:cubicBezTo>
                  <a:cubicBezTo>
                    <a:pt x="84" y="115"/>
                    <a:pt x="84" y="115"/>
                    <a:pt x="84" y="115"/>
                  </a:cubicBezTo>
                  <a:cubicBezTo>
                    <a:pt x="90" y="115"/>
                    <a:pt x="97" y="116"/>
                    <a:pt x="103" y="118"/>
                  </a:cubicBezTo>
                  <a:cubicBezTo>
                    <a:pt x="105" y="115"/>
                    <a:pt x="107" y="113"/>
                    <a:pt x="109" y="111"/>
                  </a:cubicBezTo>
                  <a:cubicBezTo>
                    <a:pt x="101" y="109"/>
                    <a:pt x="92" y="108"/>
                    <a:pt x="84" y="108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120" y="85"/>
                    <a:pt x="120" y="85"/>
                    <a:pt x="120" y="85"/>
                  </a:cubicBezTo>
                  <a:cubicBezTo>
                    <a:pt x="119" y="92"/>
                    <a:pt x="119" y="99"/>
                    <a:pt x="117" y="106"/>
                  </a:cubicBezTo>
                  <a:cubicBezTo>
                    <a:pt x="120" y="105"/>
                    <a:pt x="123" y="104"/>
                    <a:pt x="126" y="103"/>
                  </a:cubicBezTo>
                  <a:cubicBezTo>
                    <a:pt x="126" y="97"/>
                    <a:pt x="127" y="91"/>
                    <a:pt x="127" y="85"/>
                  </a:cubicBezTo>
                  <a:cubicBezTo>
                    <a:pt x="154" y="85"/>
                    <a:pt x="154" y="85"/>
                    <a:pt x="154" y="85"/>
                  </a:cubicBezTo>
                  <a:cubicBezTo>
                    <a:pt x="153" y="92"/>
                    <a:pt x="152" y="99"/>
                    <a:pt x="149" y="106"/>
                  </a:cubicBezTo>
                  <a:cubicBezTo>
                    <a:pt x="152" y="107"/>
                    <a:pt x="154" y="108"/>
                    <a:pt x="156" y="109"/>
                  </a:cubicBezTo>
                  <a:cubicBezTo>
                    <a:pt x="159" y="101"/>
                    <a:pt x="161" y="91"/>
                    <a:pt x="161" y="81"/>
                  </a:cubicBezTo>
                  <a:cubicBezTo>
                    <a:pt x="161" y="37"/>
                    <a:pt x="127" y="2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34" y="3"/>
                    <a:pt x="0" y="38"/>
                    <a:pt x="0" y="81"/>
                  </a:cubicBezTo>
                  <a:cubicBezTo>
                    <a:pt x="0" y="125"/>
                    <a:pt x="36" y="161"/>
                    <a:pt x="81" y="161"/>
                  </a:cubicBezTo>
                  <a:cubicBezTo>
                    <a:pt x="87" y="161"/>
                    <a:pt x="94" y="161"/>
                    <a:pt x="100" y="159"/>
                  </a:cubicBezTo>
                  <a:cubicBezTo>
                    <a:pt x="98" y="156"/>
                    <a:pt x="97" y="152"/>
                    <a:pt x="96" y="148"/>
                  </a:cubicBezTo>
                  <a:close/>
                  <a:moveTo>
                    <a:pt x="135" y="32"/>
                  </a:moveTo>
                  <a:cubicBezTo>
                    <a:pt x="146" y="44"/>
                    <a:pt x="153" y="60"/>
                    <a:pt x="154" y="78"/>
                  </a:cubicBezTo>
                  <a:cubicBezTo>
                    <a:pt x="127" y="78"/>
                    <a:pt x="127" y="78"/>
                    <a:pt x="127" y="78"/>
                  </a:cubicBezTo>
                  <a:cubicBezTo>
                    <a:pt x="127" y="67"/>
                    <a:pt x="125" y="56"/>
                    <a:pt x="122" y="46"/>
                  </a:cubicBezTo>
                  <a:cubicBezTo>
                    <a:pt x="129" y="42"/>
                    <a:pt x="133" y="38"/>
                    <a:pt x="135" y="32"/>
                  </a:cubicBezTo>
                  <a:close/>
                  <a:moveTo>
                    <a:pt x="129" y="26"/>
                  </a:moveTo>
                  <a:cubicBezTo>
                    <a:pt x="129" y="31"/>
                    <a:pt x="125" y="35"/>
                    <a:pt x="120" y="38"/>
                  </a:cubicBezTo>
                  <a:cubicBezTo>
                    <a:pt x="116" y="27"/>
                    <a:pt x="110" y="17"/>
                    <a:pt x="101" y="10"/>
                  </a:cubicBezTo>
                  <a:cubicBezTo>
                    <a:pt x="111" y="13"/>
                    <a:pt x="121" y="19"/>
                    <a:pt x="129" y="26"/>
                  </a:cubicBezTo>
                  <a:close/>
                  <a:moveTo>
                    <a:pt x="84" y="11"/>
                  </a:moveTo>
                  <a:cubicBezTo>
                    <a:pt x="98" y="13"/>
                    <a:pt x="108" y="26"/>
                    <a:pt x="113" y="42"/>
                  </a:cubicBezTo>
                  <a:cubicBezTo>
                    <a:pt x="104" y="45"/>
                    <a:pt x="93" y="47"/>
                    <a:pt x="84" y="47"/>
                  </a:cubicBezTo>
                  <a:lnTo>
                    <a:pt x="84" y="11"/>
                  </a:lnTo>
                  <a:close/>
                  <a:moveTo>
                    <a:pt x="84" y="55"/>
                  </a:moveTo>
                  <a:cubicBezTo>
                    <a:pt x="95" y="54"/>
                    <a:pt x="106" y="53"/>
                    <a:pt x="115" y="49"/>
                  </a:cubicBezTo>
                  <a:cubicBezTo>
                    <a:pt x="118" y="59"/>
                    <a:pt x="119" y="69"/>
                    <a:pt x="120" y="78"/>
                  </a:cubicBezTo>
                  <a:cubicBezTo>
                    <a:pt x="84" y="78"/>
                    <a:pt x="84" y="78"/>
                    <a:pt x="84" y="78"/>
                  </a:cubicBezTo>
                  <a:lnTo>
                    <a:pt x="84" y="55"/>
                  </a:lnTo>
                  <a:close/>
                  <a:moveTo>
                    <a:pt x="54" y="12"/>
                  </a:moveTo>
                  <a:cubicBezTo>
                    <a:pt x="48" y="19"/>
                    <a:pt x="43" y="27"/>
                    <a:pt x="40" y="37"/>
                  </a:cubicBezTo>
                  <a:cubicBezTo>
                    <a:pt x="35" y="34"/>
                    <a:pt x="33" y="30"/>
                    <a:pt x="33" y="26"/>
                  </a:cubicBezTo>
                  <a:cubicBezTo>
                    <a:pt x="39" y="20"/>
                    <a:pt x="46" y="15"/>
                    <a:pt x="54" y="12"/>
                  </a:cubicBezTo>
                  <a:close/>
                  <a:moveTo>
                    <a:pt x="26" y="32"/>
                  </a:moveTo>
                  <a:cubicBezTo>
                    <a:pt x="28" y="37"/>
                    <a:pt x="32" y="41"/>
                    <a:pt x="37" y="44"/>
                  </a:cubicBezTo>
                  <a:cubicBezTo>
                    <a:pt x="34" y="55"/>
                    <a:pt x="33" y="66"/>
                    <a:pt x="33" y="78"/>
                  </a:cubicBezTo>
                  <a:cubicBezTo>
                    <a:pt x="7" y="78"/>
                    <a:pt x="7" y="78"/>
                    <a:pt x="7" y="78"/>
                  </a:cubicBezTo>
                  <a:cubicBezTo>
                    <a:pt x="8" y="60"/>
                    <a:pt x="15" y="44"/>
                    <a:pt x="26" y="32"/>
                  </a:cubicBezTo>
                  <a:close/>
                  <a:moveTo>
                    <a:pt x="26" y="129"/>
                  </a:moveTo>
                  <a:cubicBezTo>
                    <a:pt x="15" y="118"/>
                    <a:pt x="9" y="102"/>
                    <a:pt x="8" y="85"/>
                  </a:cubicBezTo>
                  <a:cubicBezTo>
                    <a:pt x="33" y="85"/>
                    <a:pt x="33" y="85"/>
                    <a:pt x="33" y="85"/>
                  </a:cubicBezTo>
                  <a:cubicBezTo>
                    <a:pt x="33" y="95"/>
                    <a:pt x="35" y="107"/>
                    <a:pt x="38" y="117"/>
                  </a:cubicBezTo>
                  <a:cubicBezTo>
                    <a:pt x="32" y="120"/>
                    <a:pt x="28" y="124"/>
                    <a:pt x="26" y="129"/>
                  </a:cubicBezTo>
                  <a:close/>
                  <a:moveTo>
                    <a:pt x="32" y="135"/>
                  </a:moveTo>
                  <a:cubicBezTo>
                    <a:pt x="33" y="131"/>
                    <a:pt x="36" y="127"/>
                    <a:pt x="40" y="125"/>
                  </a:cubicBezTo>
                  <a:cubicBezTo>
                    <a:pt x="44" y="134"/>
                    <a:pt x="49" y="143"/>
                    <a:pt x="55" y="149"/>
                  </a:cubicBezTo>
                  <a:cubicBezTo>
                    <a:pt x="47" y="146"/>
                    <a:pt x="39" y="141"/>
                    <a:pt x="32" y="135"/>
                  </a:cubicBezTo>
                  <a:close/>
                  <a:moveTo>
                    <a:pt x="76" y="152"/>
                  </a:moveTo>
                  <a:cubicBezTo>
                    <a:pt x="62" y="149"/>
                    <a:pt x="52" y="137"/>
                    <a:pt x="47" y="121"/>
                  </a:cubicBezTo>
                  <a:cubicBezTo>
                    <a:pt x="55" y="117"/>
                    <a:pt x="66" y="115"/>
                    <a:pt x="76" y="115"/>
                  </a:cubicBezTo>
                  <a:lnTo>
                    <a:pt x="76" y="152"/>
                  </a:lnTo>
                  <a:close/>
                  <a:moveTo>
                    <a:pt x="76" y="108"/>
                  </a:moveTo>
                  <a:cubicBezTo>
                    <a:pt x="66" y="108"/>
                    <a:pt x="54" y="110"/>
                    <a:pt x="45" y="114"/>
                  </a:cubicBezTo>
                  <a:cubicBezTo>
                    <a:pt x="42" y="104"/>
                    <a:pt x="40" y="94"/>
                    <a:pt x="40" y="85"/>
                  </a:cubicBezTo>
                  <a:cubicBezTo>
                    <a:pt x="76" y="85"/>
                    <a:pt x="76" y="85"/>
                    <a:pt x="76" y="85"/>
                  </a:cubicBezTo>
                  <a:lnTo>
                    <a:pt x="76" y="108"/>
                  </a:lnTo>
                  <a:close/>
                  <a:moveTo>
                    <a:pt x="76" y="78"/>
                  </a:moveTo>
                  <a:cubicBezTo>
                    <a:pt x="40" y="78"/>
                    <a:pt x="40" y="78"/>
                    <a:pt x="40" y="78"/>
                  </a:cubicBezTo>
                  <a:cubicBezTo>
                    <a:pt x="40" y="69"/>
                    <a:pt x="42" y="58"/>
                    <a:pt x="44" y="48"/>
                  </a:cubicBezTo>
                  <a:cubicBezTo>
                    <a:pt x="54" y="52"/>
                    <a:pt x="66" y="54"/>
                    <a:pt x="76" y="55"/>
                  </a:cubicBezTo>
                  <a:lnTo>
                    <a:pt x="76" y="78"/>
                  </a:lnTo>
                  <a:close/>
                  <a:moveTo>
                    <a:pt x="76" y="47"/>
                  </a:moveTo>
                  <a:cubicBezTo>
                    <a:pt x="66" y="47"/>
                    <a:pt x="55" y="45"/>
                    <a:pt x="46" y="41"/>
                  </a:cubicBezTo>
                  <a:cubicBezTo>
                    <a:pt x="52" y="25"/>
                    <a:pt x="61" y="11"/>
                    <a:pt x="76" y="10"/>
                  </a:cubicBezTo>
                  <a:lnTo>
                    <a:pt x="76" y="4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</p:grpSp>
      <p:grpSp>
        <p:nvGrpSpPr>
          <p:cNvPr id="8" name="Group 103"/>
          <p:cNvGrpSpPr/>
          <p:nvPr/>
        </p:nvGrpSpPr>
        <p:grpSpPr>
          <a:xfrm>
            <a:off x="6995646" y="1229009"/>
            <a:ext cx="393700" cy="637117"/>
            <a:chOff x="3768725" y="938213"/>
            <a:chExt cx="393700" cy="477838"/>
          </a:xfrm>
          <a:solidFill>
            <a:srgbClr val="34738D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5" name="Freeform 11"/>
            <p:cNvSpPr>
              <a:spLocks/>
            </p:cNvSpPr>
            <p:nvPr/>
          </p:nvSpPr>
          <p:spPr bwMode="auto">
            <a:xfrm>
              <a:off x="3941763" y="1389063"/>
              <a:ext cx="47625" cy="26988"/>
            </a:xfrm>
            <a:custGeom>
              <a:avLst/>
              <a:gdLst/>
              <a:ahLst/>
              <a:cxnLst>
                <a:cxn ang="0">
                  <a:pos x="21" y="6"/>
                </a:cxn>
                <a:cxn ang="0">
                  <a:pos x="15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5" y="0"/>
                </a:cxn>
                <a:cxn ang="0">
                  <a:pos x="21" y="6"/>
                </a:cxn>
              </a:cxnLst>
              <a:rect l="0" t="0" r="r" b="b"/>
              <a:pathLst>
                <a:path w="21" h="12">
                  <a:moveTo>
                    <a:pt x="21" y="6"/>
                  </a:moveTo>
                  <a:cubicBezTo>
                    <a:pt x="21" y="9"/>
                    <a:pt x="19" y="12"/>
                    <a:pt x="15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1" y="3"/>
                    <a:pt x="21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06" name="Freeform 12"/>
            <p:cNvSpPr>
              <a:spLocks/>
            </p:cNvSpPr>
            <p:nvPr/>
          </p:nvSpPr>
          <p:spPr bwMode="auto">
            <a:xfrm>
              <a:off x="3924300" y="1360488"/>
              <a:ext cx="82550" cy="26988"/>
            </a:xfrm>
            <a:custGeom>
              <a:avLst/>
              <a:gdLst/>
              <a:ahLst/>
              <a:cxnLst>
                <a:cxn ang="0">
                  <a:pos x="37" y="6"/>
                </a:cxn>
                <a:cxn ang="0">
                  <a:pos x="32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32" y="0"/>
                </a:cxn>
                <a:cxn ang="0">
                  <a:pos x="37" y="6"/>
                </a:cxn>
              </a:cxnLst>
              <a:rect l="0" t="0" r="r" b="b"/>
              <a:pathLst>
                <a:path w="37" h="12">
                  <a:moveTo>
                    <a:pt x="37" y="6"/>
                  </a:moveTo>
                  <a:cubicBezTo>
                    <a:pt x="37" y="9"/>
                    <a:pt x="35" y="12"/>
                    <a:pt x="3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3"/>
                    <a:pt x="37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07" name="Freeform 13"/>
            <p:cNvSpPr>
              <a:spLocks/>
            </p:cNvSpPr>
            <p:nvPr/>
          </p:nvSpPr>
          <p:spPr bwMode="auto">
            <a:xfrm>
              <a:off x="3913188" y="1322388"/>
              <a:ext cx="107950" cy="34925"/>
            </a:xfrm>
            <a:custGeom>
              <a:avLst/>
              <a:gdLst/>
              <a:ahLst/>
              <a:cxnLst>
                <a:cxn ang="0">
                  <a:pos x="48" y="8"/>
                </a:cxn>
                <a:cxn ang="0">
                  <a:pos x="40" y="16"/>
                </a:cxn>
                <a:cxn ang="0">
                  <a:pos x="7" y="1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40" y="0"/>
                </a:cxn>
                <a:cxn ang="0">
                  <a:pos x="48" y="8"/>
                </a:cxn>
              </a:cxnLst>
              <a:rect l="0" t="0" r="r" b="b"/>
              <a:pathLst>
                <a:path w="48" h="16">
                  <a:moveTo>
                    <a:pt x="48" y="8"/>
                  </a:moveTo>
                  <a:cubicBezTo>
                    <a:pt x="48" y="12"/>
                    <a:pt x="44" y="16"/>
                    <a:pt x="40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8" y="4"/>
                    <a:pt x="48" y="8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08" name="Freeform 14"/>
            <p:cNvSpPr>
              <a:spLocks/>
            </p:cNvSpPr>
            <p:nvPr/>
          </p:nvSpPr>
          <p:spPr bwMode="auto">
            <a:xfrm>
              <a:off x="3941763" y="1389063"/>
              <a:ext cx="47625" cy="26988"/>
            </a:xfrm>
            <a:custGeom>
              <a:avLst/>
              <a:gdLst/>
              <a:ahLst/>
              <a:cxnLst>
                <a:cxn ang="0">
                  <a:pos x="21" y="6"/>
                </a:cxn>
                <a:cxn ang="0">
                  <a:pos x="15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5" y="0"/>
                </a:cxn>
                <a:cxn ang="0">
                  <a:pos x="21" y="6"/>
                </a:cxn>
              </a:cxnLst>
              <a:rect l="0" t="0" r="r" b="b"/>
              <a:pathLst>
                <a:path w="21" h="12">
                  <a:moveTo>
                    <a:pt x="21" y="6"/>
                  </a:moveTo>
                  <a:cubicBezTo>
                    <a:pt x="21" y="9"/>
                    <a:pt x="19" y="12"/>
                    <a:pt x="15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1" y="3"/>
                    <a:pt x="21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09" name="Freeform 15"/>
            <p:cNvSpPr>
              <a:spLocks/>
            </p:cNvSpPr>
            <p:nvPr/>
          </p:nvSpPr>
          <p:spPr bwMode="auto">
            <a:xfrm>
              <a:off x="3924300" y="1360488"/>
              <a:ext cx="82550" cy="26988"/>
            </a:xfrm>
            <a:custGeom>
              <a:avLst/>
              <a:gdLst/>
              <a:ahLst/>
              <a:cxnLst>
                <a:cxn ang="0">
                  <a:pos x="37" y="6"/>
                </a:cxn>
                <a:cxn ang="0">
                  <a:pos x="32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32" y="0"/>
                </a:cxn>
                <a:cxn ang="0">
                  <a:pos x="37" y="6"/>
                </a:cxn>
              </a:cxnLst>
              <a:rect l="0" t="0" r="r" b="b"/>
              <a:pathLst>
                <a:path w="37" h="12">
                  <a:moveTo>
                    <a:pt x="37" y="6"/>
                  </a:moveTo>
                  <a:cubicBezTo>
                    <a:pt x="37" y="9"/>
                    <a:pt x="35" y="12"/>
                    <a:pt x="3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3"/>
                    <a:pt x="37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0" name="Freeform 16"/>
            <p:cNvSpPr>
              <a:spLocks/>
            </p:cNvSpPr>
            <p:nvPr/>
          </p:nvSpPr>
          <p:spPr bwMode="auto">
            <a:xfrm>
              <a:off x="3913188" y="1322388"/>
              <a:ext cx="107950" cy="34925"/>
            </a:xfrm>
            <a:custGeom>
              <a:avLst/>
              <a:gdLst/>
              <a:ahLst/>
              <a:cxnLst>
                <a:cxn ang="0">
                  <a:pos x="48" y="8"/>
                </a:cxn>
                <a:cxn ang="0">
                  <a:pos x="40" y="16"/>
                </a:cxn>
                <a:cxn ang="0">
                  <a:pos x="7" y="1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40" y="0"/>
                </a:cxn>
                <a:cxn ang="0">
                  <a:pos x="48" y="8"/>
                </a:cxn>
              </a:cxnLst>
              <a:rect l="0" t="0" r="r" b="b"/>
              <a:pathLst>
                <a:path w="48" h="16">
                  <a:moveTo>
                    <a:pt x="48" y="8"/>
                  </a:moveTo>
                  <a:cubicBezTo>
                    <a:pt x="48" y="12"/>
                    <a:pt x="44" y="16"/>
                    <a:pt x="40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8" y="4"/>
                    <a:pt x="48" y="8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1" name="Rectangle 17"/>
            <p:cNvSpPr>
              <a:spLocks noChangeArrowheads="1"/>
            </p:cNvSpPr>
            <p:nvPr/>
          </p:nvSpPr>
          <p:spPr bwMode="auto">
            <a:xfrm>
              <a:off x="3956050" y="938213"/>
              <a:ext cx="19050" cy="46038"/>
            </a:xfrm>
            <a:prstGeom prst="rect">
              <a:avLst/>
            </a:pr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2" name="Freeform 18"/>
            <p:cNvSpPr>
              <a:spLocks/>
            </p:cNvSpPr>
            <p:nvPr/>
          </p:nvSpPr>
          <p:spPr bwMode="auto">
            <a:xfrm>
              <a:off x="4060825" y="984250"/>
              <a:ext cx="46038" cy="47625"/>
            </a:xfrm>
            <a:custGeom>
              <a:avLst/>
              <a:gdLst/>
              <a:ahLst/>
              <a:cxnLst>
                <a:cxn ang="0">
                  <a:pos x="9" y="30"/>
                </a:cxn>
                <a:cxn ang="0">
                  <a:pos x="0" y="22"/>
                </a:cxn>
                <a:cxn ang="0">
                  <a:pos x="20" y="0"/>
                </a:cxn>
                <a:cxn ang="0">
                  <a:pos x="29" y="9"/>
                </a:cxn>
                <a:cxn ang="0">
                  <a:pos x="9" y="30"/>
                </a:cxn>
              </a:cxnLst>
              <a:rect l="0" t="0" r="r" b="b"/>
              <a:pathLst>
                <a:path w="29" h="30">
                  <a:moveTo>
                    <a:pt x="9" y="30"/>
                  </a:moveTo>
                  <a:lnTo>
                    <a:pt x="0" y="22"/>
                  </a:lnTo>
                  <a:lnTo>
                    <a:pt x="20" y="0"/>
                  </a:lnTo>
                  <a:lnTo>
                    <a:pt x="29" y="9"/>
                  </a:lnTo>
                  <a:lnTo>
                    <a:pt x="9" y="3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3" name="Freeform 19"/>
            <p:cNvSpPr>
              <a:spLocks/>
            </p:cNvSpPr>
            <p:nvPr/>
          </p:nvSpPr>
          <p:spPr bwMode="auto">
            <a:xfrm>
              <a:off x="4114800" y="1112838"/>
              <a:ext cx="47625" cy="22225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0" y="1"/>
                </a:cxn>
                <a:cxn ang="0">
                  <a:pos x="30" y="0"/>
                </a:cxn>
                <a:cxn ang="0">
                  <a:pos x="30" y="11"/>
                </a:cxn>
                <a:cxn ang="0">
                  <a:pos x="0" y="14"/>
                </a:cxn>
              </a:cxnLst>
              <a:rect l="0" t="0" r="r" b="b"/>
              <a:pathLst>
                <a:path w="30" h="14">
                  <a:moveTo>
                    <a:pt x="0" y="14"/>
                  </a:moveTo>
                  <a:lnTo>
                    <a:pt x="0" y="1"/>
                  </a:lnTo>
                  <a:lnTo>
                    <a:pt x="30" y="0"/>
                  </a:lnTo>
                  <a:lnTo>
                    <a:pt x="30" y="11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4" name="Freeform 20"/>
            <p:cNvSpPr>
              <a:spLocks/>
            </p:cNvSpPr>
            <p:nvPr/>
          </p:nvSpPr>
          <p:spPr bwMode="auto">
            <a:xfrm>
              <a:off x="4075113" y="1222375"/>
              <a:ext cx="49213" cy="46038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8" y="0"/>
                </a:cxn>
                <a:cxn ang="0">
                  <a:pos x="31" y="19"/>
                </a:cxn>
                <a:cxn ang="0">
                  <a:pos x="24" y="29"/>
                </a:cxn>
                <a:cxn ang="0">
                  <a:pos x="0" y="10"/>
                </a:cxn>
              </a:cxnLst>
              <a:rect l="0" t="0" r="r" b="b"/>
              <a:pathLst>
                <a:path w="31" h="29">
                  <a:moveTo>
                    <a:pt x="0" y="10"/>
                  </a:moveTo>
                  <a:lnTo>
                    <a:pt x="8" y="0"/>
                  </a:lnTo>
                  <a:lnTo>
                    <a:pt x="31" y="19"/>
                  </a:lnTo>
                  <a:lnTo>
                    <a:pt x="24" y="29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5" name="Freeform 21"/>
            <p:cNvSpPr>
              <a:spLocks/>
            </p:cNvSpPr>
            <p:nvPr/>
          </p:nvSpPr>
          <p:spPr bwMode="auto">
            <a:xfrm>
              <a:off x="3825875" y="982663"/>
              <a:ext cx="44450" cy="47625"/>
            </a:xfrm>
            <a:custGeom>
              <a:avLst/>
              <a:gdLst/>
              <a:ahLst/>
              <a:cxnLst>
                <a:cxn ang="0">
                  <a:pos x="19" y="30"/>
                </a:cxn>
                <a:cxn ang="0">
                  <a:pos x="28" y="21"/>
                </a:cxn>
                <a:cxn ang="0">
                  <a:pos x="8" y="0"/>
                </a:cxn>
                <a:cxn ang="0">
                  <a:pos x="0" y="8"/>
                </a:cxn>
                <a:cxn ang="0">
                  <a:pos x="19" y="30"/>
                </a:cxn>
              </a:cxnLst>
              <a:rect l="0" t="0" r="r" b="b"/>
              <a:pathLst>
                <a:path w="28" h="30">
                  <a:moveTo>
                    <a:pt x="19" y="30"/>
                  </a:moveTo>
                  <a:lnTo>
                    <a:pt x="28" y="21"/>
                  </a:lnTo>
                  <a:lnTo>
                    <a:pt x="8" y="0"/>
                  </a:lnTo>
                  <a:lnTo>
                    <a:pt x="0" y="8"/>
                  </a:lnTo>
                  <a:lnTo>
                    <a:pt x="19" y="3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6" name="Freeform 22"/>
            <p:cNvSpPr>
              <a:spLocks/>
            </p:cNvSpPr>
            <p:nvPr/>
          </p:nvSpPr>
          <p:spPr bwMode="auto">
            <a:xfrm>
              <a:off x="3768725" y="1111250"/>
              <a:ext cx="49213" cy="22225"/>
            </a:xfrm>
            <a:custGeom>
              <a:avLst/>
              <a:gdLst/>
              <a:ahLst/>
              <a:cxnLst>
                <a:cxn ang="0">
                  <a:pos x="30" y="14"/>
                </a:cxn>
                <a:cxn ang="0">
                  <a:pos x="31" y="1"/>
                </a:cxn>
                <a:cxn ang="0">
                  <a:pos x="2" y="0"/>
                </a:cxn>
                <a:cxn ang="0">
                  <a:pos x="0" y="11"/>
                </a:cxn>
                <a:cxn ang="0">
                  <a:pos x="30" y="14"/>
                </a:cxn>
              </a:cxnLst>
              <a:rect l="0" t="0" r="r" b="b"/>
              <a:pathLst>
                <a:path w="31" h="14">
                  <a:moveTo>
                    <a:pt x="30" y="14"/>
                  </a:moveTo>
                  <a:lnTo>
                    <a:pt x="31" y="1"/>
                  </a:lnTo>
                  <a:lnTo>
                    <a:pt x="2" y="0"/>
                  </a:lnTo>
                  <a:lnTo>
                    <a:pt x="0" y="11"/>
                  </a:lnTo>
                  <a:lnTo>
                    <a:pt x="30" y="14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7" name="Freeform 23"/>
            <p:cNvSpPr>
              <a:spLocks/>
            </p:cNvSpPr>
            <p:nvPr/>
          </p:nvSpPr>
          <p:spPr bwMode="auto">
            <a:xfrm>
              <a:off x="3806825" y="1220788"/>
              <a:ext cx="49213" cy="44450"/>
            </a:xfrm>
            <a:custGeom>
              <a:avLst/>
              <a:gdLst/>
              <a:ahLst/>
              <a:cxnLst>
                <a:cxn ang="0">
                  <a:pos x="31" y="10"/>
                </a:cxn>
                <a:cxn ang="0">
                  <a:pos x="24" y="0"/>
                </a:cxn>
                <a:cxn ang="0">
                  <a:pos x="0" y="18"/>
                </a:cxn>
                <a:cxn ang="0">
                  <a:pos x="9" y="28"/>
                </a:cxn>
                <a:cxn ang="0">
                  <a:pos x="31" y="10"/>
                </a:cxn>
              </a:cxnLst>
              <a:rect l="0" t="0" r="r" b="b"/>
              <a:pathLst>
                <a:path w="31" h="28">
                  <a:moveTo>
                    <a:pt x="31" y="10"/>
                  </a:moveTo>
                  <a:lnTo>
                    <a:pt x="24" y="0"/>
                  </a:lnTo>
                  <a:lnTo>
                    <a:pt x="0" y="18"/>
                  </a:lnTo>
                  <a:lnTo>
                    <a:pt x="9" y="28"/>
                  </a:lnTo>
                  <a:lnTo>
                    <a:pt x="31" y="1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8" name="Freeform 24"/>
            <p:cNvSpPr>
              <a:spLocks/>
            </p:cNvSpPr>
            <p:nvPr/>
          </p:nvSpPr>
          <p:spPr bwMode="auto">
            <a:xfrm>
              <a:off x="3975100" y="1179513"/>
              <a:ext cx="15875" cy="30163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0" y="0"/>
                </a:cxn>
                <a:cxn ang="0">
                  <a:pos x="0" y="13"/>
                </a:cxn>
                <a:cxn ang="0">
                  <a:pos x="7" y="6"/>
                </a:cxn>
                <a:cxn ang="0">
                  <a:pos x="3" y="1"/>
                </a:cxn>
              </a:cxnLst>
              <a:rect l="0" t="0" r="r" b="b"/>
              <a:pathLst>
                <a:path w="7" h="13">
                  <a:moveTo>
                    <a:pt x="3" y="1"/>
                  </a:moveTo>
                  <a:cubicBezTo>
                    <a:pt x="3" y="1"/>
                    <a:pt x="2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5" y="13"/>
                    <a:pt x="7" y="10"/>
                    <a:pt x="7" y="6"/>
                  </a:cubicBezTo>
                  <a:cubicBezTo>
                    <a:pt x="7" y="4"/>
                    <a:pt x="6" y="2"/>
                    <a:pt x="3" y="1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9" name="Freeform 25"/>
            <p:cNvSpPr>
              <a:spLocks/>
            </p:cNvSpPr>
            <p:nvPr/>
          </p:nvSpPr>
          <p:spPr bwMode="auto">
            <a:xfrm>
              <a:off x="3944938" y="1128713"/>
              <a:ext cx="12700" cy="238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6" y="11"/>
                </a:cxn>
                <a:cxn ang="0">
                  <a:pos x="6" y="0"/>
                </a:cxn>
                <a:cxn ang="0">
                  <a:pos x="0" y="5"/>
                </a:cxn>
              </a:cxnLst>
              <a:rect l="0" t="0" r="r" b="b"/>
              <a:pathLst>
                <a:path w="6" h="11">
                  <a:moveTo>
                    <a:pt x="0" y="5"/>
                  </a:moveTo>
                  <a:cubicBezTo>
                    <a:pt x="0" y="8"/>
                    <a:pt x="2" y="10"/>
                    <a:pt x="6" y="1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5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0" name="Freeform 26"/>
            <p:cNvSpPr>
              <a:spLocks noEditPoints="1"/>
            </p:cNvSpPr>
            <p:nvPr/>
          </p:nvSpPr>
          <p:spPr bwMode="auto">
            <a:xfrm>
              <a:off x="3843338" y="1006475"/>
              <a:ext cx="244475" cy="290513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0" y="54"/>
                </a:cxn>
                <a:cxn ang="0">
                  <a:pos x="12" y="87"/>
                </a:cxn>
                <a:cxn ang="0">
                  <a:pos x="32" y="129"/>
                </a:cxn>
                <a:cxn ang="0">
                  <a:pos x="34" y="129"/>
                </a:cxn>
                <a:cxn ang="0">
                  <a:pos x="42" y="129"/>
                </a:cxn>
                <a:cxn ang="0">
                  <a:pos x="65" y="129"/>
                </a:cxn>
                <a:cxn ang="0">
                  <a:pos x="75" y="129"/>
                </a:cxn>
                <a:cxn ang="0">
                  <a:pos x="77" y="129"/>
                </a:cxn>
                <a:cxn ang="0">
                  <a:pos x="97" y="87"/>
                </a:cxn>
                <a:cxn ang="0">
                  <a:pos x="109" y="54"/>
                </a:cxn>
                <a:cxn ang="0">
                  <a:pos x="55" y="0"/>
                </a:cxn>
                <a:cxn ang="0">
                  <a:pos x="69" y="95"/>
                </a:cxn>
                <a:cxn ang="0">
                  <a:pos x="59" y="98"/>
                </a:cxn>
                <a:cxn ang="0">
                  <a:pos x="59" y="110"/>
                </a:cxn>
                <a:cxn ang="0">
                  <a:pos x="51" y="110"/>
                </a:cxn>
                <a:cxn ang="0">
                  <a:pos x="51" y="98"/>
                </a:cxn>
                <a:cxn ang="0">
                  <a:pos x="40" y="94"/>
                </a:cxn>
                <a:cxn ang="0">
                  <a:pos x="34" y="80"/>
                </a:cxn>
                <a:cxn ang="0">
                  <a:pos x="43" y="80"/>
                </a:cxn>
                <a:cxn ang="0">
                  <a:pos x="51" y="90"/>
                </a:cxn>
                <a:cxn ang="0">
                  <a:pos x="51" y="75"/>
                </a:cxn>
                <a:cxn ang="0">
                  <a:pos x="47" y="74"/>
                </a:cxn>
                <a:cxn ang="0">
                  <a:pos x="36" y="61"/>
                </a:cxn>
                <a:cxn ang="0">
                  <a:pos x="41" y="49"/>
                </a:cxn>
                <a:cxn ang="0">
                  <a:pos x="51" y="46"/>
                </a:cxn>
                <a:cxn ang="0">
                  <a:pos x="51" y="33"/>
                </a:cxn>
                <a:cxn ang="0">
                  <a:pos x="59" y="33"/>
                </a:cxn>
                <a:cxn ang="0">
                  <a:pos x="59" y="46"/>
                </a:cxn>
                <a:cxn ang="0">
                  <a:pos x="68" y="50"/>
                </a:cxn>
                <a:cxn ang="0">
                  <a:pos x="74" y="62"/>
                </a:cxn>
                <a:cxn ang="0">
                  <a:pos x="65" y="62"/>
                </a:cxn>
                <a:cxn ang="0">
                  <a:pos x="59" y="54"/>
                </a:cxn>
                <a:cxn ang="0">
                  <a:pos x="59" y="67"/>
                </a:cxn>
                <a:cxn ang="0">
                  <a:pos x="66" y="69"/>
                </a:cxn>
                <a:cxn ang="0">
                  <a:pos x="73" y="75"/>
                </a:cxn>
                <a:cxn ang="0">
                  <a:pos x="76" y="82"/>
                </a:cxn>
                <a:cxn ang="0">
                  <a:pos x="69" y="95"/>
                </a:cxn>
                <a:cxn ang="0">
                  <a:pos x="55" y="19"/>
                </a:cxn>
                <a:cxn ang="0">
                  <a:pos x="17" y="24"/>
                </a:cxn>
                <a:cxn ang="0">
                  <a:pos x="55" y="4"/>
                </a:cxn>
                <a:cxn ang="0">
                  <a:pos x="93" y="24"/>
                </a:cxn>
                <a:cxn ang="0">
                  <a:pos x="55" y="19"/>
                </a:cxn>
              </a:cxnLst>
              <a:rect l="0" t="0" r="r" b="b"/>
              <a:pathLst>
                <a:path w="109" h="129">
                  <a:moveTo>
                    <a:pt x="55" y="0"/>
                  </a:moveTo>
                  <a:cubicBezTo>
                    <a:pt x="25" y="0"/>
                    <a:pt x="0" y="24"/>
                    <a:pt x="0" y="54"/>
                  </a:cubicBezTo>
                  <a:cubicBezTo>
                    <a:pt x="0" y="67"/>
                    <a:pt x="5" y="78"/>
                    <a:pt x="12" y="87"/>
                  </a:cubicBezTo>
                  <a:cubicBezTo>
                    <a:pt x="16" y="93"/>
                    <a:pt x="30" y="115"/>
                    <a:pt x="32" y="129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65" y="129"/>
                    <a:pt x="65" y="129"/>
                    <a:pt x="65" y="129"/>
                  </a:cubicBezTo>
                  <a:cubicBezTo>
                    <a:pt x="75" y="129"/>
                    <a:pt x="75" y="129"/>
                    <a:pt x="75" y="129"/>
                  </a:cubicBezTo>
                  <a:cubicBezTo>
                    <a:pt x="77" y="129"/>
                    <a:pt x="77" y="129"/>
                    <a:pt x="77" y="129"/>
                  </a:cubicBezTo>
                  <a:cubicBezTo>
                    <a:pt x="79" y="115"/>
                    <a:pt x="93" y="93"/>
                    <a:pt x="97" y="87"/>
                  </a:cubicBezTo>
                  <a:cubicBezTo>
                    <a:pt x="105" y="78"/>
                    <a:pt x="109" y="67"/>
                    <a:pt x="109" y="54"/>
                  </a:cubicBezTo>
                  <a:cubicBezTo>
                    <a:pt x="109" y="24"/>
                    <a:pt x="85" y="0"/>
                    <a:pt x="55" y="0"/>
                  </a:cubicBezTo>
                  <a:close/>
                  <a:moveTo>
                    <a:pt x="69" y="95"/>
                  </a:moveTo>
                  <a:cubicBezTo>
                    <a:pt x="66" y="97"/>
                    <a:pt x="63" y="98"/>
                    <a:pt x="59" y="98"/>
                  </a:cubicBezTo>
                  <a:cubicBezTo>
                    <a:pt x="59" y="110"/>
                    <a:pt x="59" y="110"/>
                    <a:pt x="59" y="110"/>
                  </a:cubicBezTo>
                  <a:cubicBezTo>
                    <a:pt x="51" y="110"/>
                    <a:pt x="51" y="110"/>
                    <a:pt x="51" y="110"/>
                  </a:cubicBezTo>
                  <a:cubicBezTo>
                    <a:pt x="51" y="98"/>
                    <a:pt x="51" y="98"/>
                    <a:pt x="51" y="98"/>
                  </a:cubicBezTo>
                  <a:cubicBezTo>
                    <a:pt x="46" y="98"/>
                    <a:pt x="43" y="96"/>
                    <a:pt x="40" y="94"/>
                  </a:cubicBezTo>
                  <a:cubicBezTo>
                    <a:pt x="36" y="91"/>
                    <a:pt x="34" y="86"/>
                    <a:pt x="34" y="80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3" y="85"/>
                    <a:pt x="46" y="89"/>
                    <a:pt x="51" y="90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0" y="74"/>
                    <a:pt x="48" y="74"/>
                    <a:pt x="47" y="74"/>
                  </a:cubicBezTo>
                  <a:cubicBezTo>
                    <a:pt x="39" y="72"/>
                    <a:pt x="36" y="67"/>
                    <a:pt x="36" y="61"/>
                  </a:cubicBezTo>
                  <a:cubicBezTo>
                    <a:pt x="36" y="56"/>
                    <a:pt x="37" y="52"/>
                    <a:pt x="41" y="49"/>
                  </a:cubicBezTo>
                  <a:cubicBezTo>
                    <a:pt x="44" y="47"/>
                    <a:pt x="47" y="46"/>
                    <a:pt x="51" y="46"/>
                  </a:cubicBezTo>
                  <a:cubicBezTo>
                    <a:pt x="51" y="33"/>
                    <a:pt x="51" y="33"/>
                    <a:pt x="51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62" y="46"/>
                    <a:pt x="66" y="48"/>
                    <a:pt x="68" y="50"/>
                  </a:cubicBezTo>
                  <a:cubicBezTo>
                    <a:pt x="72" y="53"/>
                    <a:pt x="74" y="57"/>
                    <a:pt x="74" y="62"/>
                  </a:cubicBezTo>
                  <a:cubicBezTo>
                    <a:pt x="65" y="62"/>
                    <a:pt x="65" y="62"/>
                    <a:pt x="65" y="62"/>
                  </a:cubicBezTo>
                  <a:cubicBezTo>
                    <a:pt x="64" y="58"/>
                    <a:pt x="62" y="55"/>
                    <a:pt x="59" y="54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61" y="68"/>
                    <a:pt x="63" y="69"/>
                    <a:pt x="66" y="69"/>
                  </a:cubicBezTo>
                  <a:cubicBezTo>
                    <a:pt x="69" y="70"/>
                    <a:pt x="71" y="72"/>
                    <a:pt x="73" y="75"/>
                  </a:cubicBezTo>
                  <a:cubicBezTo>
                    <a:pt x="75" y="77"/>
                    <a:pt x="76" y="80"/>
                    <a:pt x="76" y="82"/>
                  </a:cubicBezTo>
                  <a:cubicBezTo>
                    <a:pt x="76" y="88"/>
                    <a:pt x="74" y="92"/>
                    <a:pt x="69" y="95"/>
                  </a:cubicBezTo>
                  <a:close/>
                  <a:moveTo>
                    <a:pt x="55" y="19"/>
                  </a:moveTo>
                  <a:cubicBezTo>
                    <a:pt x="41" y="19"/>
                    <a:pt x="27" y="21"/>
                    <a:pt x="17" y="24"/>
                  </a:cubicBezTo>
                  <a:cubicBezTo>
                    <a:pt x="25" y="12"/>
                    <a:pt x="39" y="4"/>
                    <a:pt x="55" y="4"/>
                  </a:cubicBezTo>
                  <a:cubicBezTo>
                    <a:pt x="71" y="4"/>
                    <a:pt x="85" y="12"/>
                    <a:pt x="93" y="24"/>
                  </a:cubicBezTo>
                  <a:cubicBezTo>
                    <a:pt x="82" y="21"/>
                    <a:pt x="69" y="19"/>
                    <a:pt x="55" y="19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1" name="Freeform 27"/>
            <p:cNvSpPr>
              <a:spLocks/>
            </p:cNvSpPr>
            <p:nvPr/>
          </p:nvSpPr>
          <p:spPr bwMode="auto">
            <a:xfrm>
              <a:off x="3941763" y="1389063"/>
              <a:ext cx="47625" cy="26988"/>
            </a:xfrm>
            <a:custGeom>
              <a:avLst/>
              <a:gdLst/>
              <a:ahLst/>
              <a:cxnLst>
                <a:cxn ang="0">
                  <a:pos x="21" y="6"/>
                </a:cxn>
                <a:cxn ang="0">
                  <a:pos x="15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5" y="0"/>
                </a:cxn>
                <a:cxn ang="0">
                  <a:pos x="21" y="6"/>
                </a:cxn>
              </a:cxnLst>
              <a:rect l="0" t="0" r="r" b="b"/>
              <a:pathLst>
                <a:path w="21" h="12">
                  <a:moveTo>
                    <a:pt x="21" y="6"/>
                  </a:moveTo>
                  <a:cubicBezTo>
                    <a:pt x="21" y="9"/>
                    <a:pt x="19" y="12"/>
                    <a:pt x="15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1" y="3"/>
                    <a:pt x="21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2" name="Freeform 28"/>
            <p:cNvSpPr>
              <a:spLocks/>
            </p:cNvSpPr>
            <p:nvPr/>
          </p:nvSpPr>
          <p:spPr bwMode="auto">
            <a:xfrm>
              <a:off x="3924300" y="1360488"/>
              <a:ext cx="82550" cy="26988"/>
            </a:xfrm>
            <a:custGeom>
              <a:avLst/>
              <a:gdLst/>
              <a:ahLst/>
              <a:cxnLst>
                <a:cxn ang="0">
                  <a:pos x="37" y="6"/>
                </a:cxn>
                <a:cxn ang="0">
                  <a:pos x="32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32" y="0"/>
                </a:cxn>
                <a:cxn ang="0">
                  <a:pos x="37" y="6"/>
                </a:cxn>
              </a:cxnLst>
              <a:rect l="0" t="0" r="r" b="b"/>
              <a:pathLst>
                <a:path w="37" h="12">
                  <a:moveTo>
                    <a:pt x="37" y="6"/>
                  </a:moveTo>
                  <a:cubicBezTo>
                    <a:pt x="37" y="9"/>
                    <a:pt x="35" y="12"/>
                    <a:pt x="3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3"/>
                    <a:pt x="37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3" name="Freeform 29"/>
            <p:cNvSpPr>
              <a:spLocks/>
            </p:cNvSpPr>
            <p:nvPr/>
          </p:nvSpPr>
          <p:spPr bwMode="auto">
            <a:xfrm>
              <a:off x="3913188" y="1322388"/>
              <a:ext cx="107950" cy="34925"/>
            </a:xfrm>
            <a:custGeom>
              <a:avLst/>
              <a:gdLst/>
              <a:ahLst/>
              <a:cxnLst>
                <a:cxn ang="0">
                  <a:pos x="48" y="8"/>
                </a:cxn>
                <a:cxn ang="0">
                  <a:pos x="40" y="16"/>
                </a:cxn>
                <a:cxn ang="0">
                  <a:pos x="7" y="1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40" y="0"/>
                </a:cxn>
                <a:cxn ang="0">
                  <a:pos x="48" y="8"/>
                </a:cxn>
              </a:cxnLst>
              <a:rect l="0" t="0" r="r" b="b"/>
              <a:pathLst>
                <a:path w="48" h="16">
                  <a:moveTo>
                    <a:pt x="48" y="8"/>
                  </a:moveTo>
                  <a:cubicBezTo>
                    <a:pt x="48" y="12"/>
                    <a:pt x="44" y="16"/>
                    <a:pt x="40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8" y="4"/>
                    <a:pt x="48" y="8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4" name="Freeform 30"/>
            <p:cNvSpPr>
              <a:spLocks/>
            </p:cNvSpPr>
            <p:nvPr/>
          </p:nvSpPr>
          <p:spPr bwMode="auto">
            <a:xfrm>
              <a:off x="3941763" y="1389063"/>
              <a:ext cx="47625" cy="26988"/>
            </a:xfrm>
            <a:custGeom>
              <a:avLst/>
              <a:gdLst/>
              <a:ahLst/>
              <a:cxnLst>
                <a:cxn ang="0">
                  <a:pos x="21" y="6"/>
                </a:cxn>
                <a:cxn ang="0">
                  <a:pos x="15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5" y="0"/>
                </a:cxn>
                <a:cxn ang="0">
                  <a:pos x="21" y="6"/>
                </a:cxn>
              </a:cxnLst>
              <a:rect l="0" t="0" r="r" b="b"/>
              <a:pathLst>
                <a:path w="21" h="12">
                  <a:moveTo>
                    <a:pt x="21" y="6"/>
                  </a:moveTo>
                  <a:cubicBezTo>
                    <a:pt x="21" y="9"/>
                    <a:pt x="19" y="12"/>
                    <a:pt x="15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1" y="3"/>
                    <a:pt x="21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5" name="Freeform 31"/>
            <p:cNvSpPr>
              <a:spLocks/>
            </p:cNvSpPr>
            <p:nvPr/>
          </p:nvSpPr>
          <p:spPr bwMode="auto">
            <a:xfrm>
              <a:off x="3924300" y="1360488"/>
              <a:ext cx="82550" cy="26988"/>
            </a:xfrm>
            <a:custGeom>
              <a:avLst/>
              <a:gdLst/>
              <a:ahLst/>
              <a:cxnLst>
                <a:cxn ang="0">
                  <a:pos x="37" y="6"/>
                </a:cxn>
                <a:cxn ang="0">
                  <a:pos x="32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32" y="0"/>
                </a:cxn>
                <a:cxn ang="0">
                  <a:pos x="37" y="6"/>
                </a:cxn>
              </a:cxnLst>
              <a:rect l="0" t="0" r="r" b="b"/>
              <a:pathLst>
                <a:path w="37" h="12">
                  <a:moveTo>
                    <a:pt x="37" y="6"/>
                  </a:moveTo>
                  <a:cubicBezTo>
                    <a:pt x="37" y="9"/>
                    <a:pt x="35" y="12"/>
                    <a:pt x="3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3"/>
                    <a:pt x="37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6" name="Freeform 32"/>
            <p:cNvSpPr>
              <a:spLocks/>
            </p:cNvSpPr>
            <p:nvPr/>
          </p:nvSpPr>
          <p:spPr bwMode="auto">
            <a:xfrm>
              <a:off x="3913188" y="1322388"/>
              <a:ext cx="107950" cy="34925"/>
            </a:xfrm>
            <a:custGeom>
              <a:avLst/>
              <a:gdLst/>
              <a:ahLst/>
              <a:cxnLst>
                <a:cxn ang="0">
                  <a:pos x="48" y="8"/>
                </a:cxn>
                <a:cxn ang="0">
                  <a:pos x="40" y="16"/>
                </a:cxn>
                <a:cxn ang="0">
                  <a:pos x="7" y="1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40" y="0"/>
                </a:cxn>
                <a:cxn ang="0">
                  <a:pos x="48" y="8"/>
                </a:cxn>
              </a:cxnLst>
              <a:rect l="0" t="0" r="r" b="b"/>
              <a:pathLst>
                <a:path w="48" h="16">
                  <a:moveTo>
                    <a:pt x="48" y="8"/>
                  </a:moveTo>
                  <a:cubicBezTo>
                    <a:pt x="48" y="12"/>
                    <a:pt x="44" y="16"/>
                    <a:pt x="40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8" y="4"/>
                    <a:pt x="48" y="8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7" name="Freeform 33"/>
            <p:cNvSpPr>
              <a:spLocks/>
            </p:cNvSpPr>
            <p:nvPr/>
          </p:nvSpPr>
          <p:spPr bwMode="auto">
            <a:xfrm>
              <a:off x="3941763" y="1389063"/>
              <a:ext cx="47625" cy="26988"/>
            </a:xfrm>
            <a:custGeom>
              <a:avLst/>
              <a:gdLst/>
              <a:ahLst/>
              <a:cxnLst>
                <a:cxn ang="0">
                  <a:pos x="21" y="6"/>
                </a:cxn>
                <a:cxn ang="0">
                  <a:pos x="15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5" y="0"/>
                </a:cxn>
                <a:cxn ang="0">
                  <a:pos x="21" y="6"/>
                </a:cxn>
              </a:cxnLst>
              <a:rect l="0" t="0" r="r" b="b"/>
              <a:pathLst>
                <a:path w="21" h="12">
                  <a:moveTo>
                    <a:pt x="21" y="6"/>
                  </a:moveTo>
                  <a:cubicBezTo>
                    <a:pt x="21" y="9"/>
                    <a:pt x="19" y="12"/>
                    <a:pt x="15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1" y="3"/>
                    <a:pt x="21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8" name="Freeform 34"/>
            <p:cNvSpPr>
              <a:spLocks/>
            </p:cNvSpPr>
            <p:nvPr/>
          </p:nvSpPr>
          <p:spPr bwMode="auto">
            <a:xfrm>
              <a:off x="3924300" y="1360488"/>
              <a:ext cx="82550" cy="26988"/>
            </a:xfrm>
            <a:custGeom>
              <a:avLst/>
              <a:gdLst/>
              <a:ahLst/>
              <a:cxnLst>
                <a:cxn ang="0">
                  <a:pos x="37" y="6"/>
                </a:cxn>
                <a:cxn ang="0">
                  <a:pos x="32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32" y="0"/>
                </a:cxn>
                <a:cxn ang="0">
                  <a:pos x="37" y="6"/>
                </a:cxn>
              </a:cxnLst>
              <a:rect l="0" t="0" r="r" b="b"/>
              <a:pathLst>
                <a:path w="37" h="12">
                  <a:moveTo>
                    <a:pt x="37" y="6"/>
                  </a:moveTo>
                  <a:cubicBezTo>
                    <a:pt x="37" y="9"/>
                    <a:pt x="35" y="12"/>
                    <a:pt x="3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3"/>
                    <a:pt x="37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9" name="Freeform 35"/>
            <p:cNvSpPr>
              <a:spLocks/>
            </p:cNvSpPr>
            <p:nvPr/>
          </p:nvSpPr>
          <p:spPr bwMode="auto">
            <a:xfrm>
              <a:off x="3913188" y="1322388"/>
              <a:ext cx="107950" cy="34925"/>
            </a:xfrm>
            <a:custGeom>
              <a:avLst/>
              <a:gdLst/>
              <a:ahLst/>
              <a:cxnLst>
                <a:cxn ang="0">
                  <a:pos x="48" y="8"/>
                </a:cxn>
                <a:cxn ang="0">
                  <a:pos x="40" y="16"/>
                </a:cxn>
                <a:cxn ang="0">
                  <a:pos x="7" y="1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40" y="0"/>
                </a:cxn>
                <a:cxn ang="0">
                  <a:pos x="48" y="8"/>
                </a:cxn>
              </a:cxnLst>
              <a:rect l="0" t="0" r="r" b="b"/>
              <a:pathLst>
                <a:path w="48" h="16">
                  <a:moveTo>
                    <a:pt x="48" y="8"/>
                  </a:moveTo>
                  <a:cubicBezTo>
                    <a:pt x="48" y="12"/>
                    <a:pt x="44" y="16"/>
                    <a:pt x="40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8" y="4"/>
                    <a:pt x="48" y="8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0" name="Rectangle 36"/>
            <p:cNvSpPr>
              <a:spLocks noChangeArrowheads="1"/>
            </p:cNvSpPr>
            <p:nvPr/>
          </p:nvSpPr>
          <p:spPr bwMode="auto">
            <a:xfrm>
              <a:off x="3956050" y="938213"/>
              <a:ext cx="19050" cy="46038"/>
            </a:xfrm>
            <a:prstGeom prst="rect">
              <a:avLst/>
            </a:pr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1" name="Freeform 37"/>
            <p:cNvSpPr>
              <a:spLocks/>
            </p:cNvSpPr>
            <p:nvPr/>
          </p:nvSpPr>
          <p:spPr bwMode="auto">
            <a:xfrm>
              <a:off x="4060825" y="984250"/>
              <a:ext cx="46038" cy="47625"/>
            </a:xfrm>
            <a:custGeom>
              <a:avLst/>
              <a:gdLst/>
              <a:ahLst/>
              <a:cxnLst>
                <a:cxn ang="0">
                  <a:pos x="9" y="30"/>
                </a:cxn>
                <a:cxn ang="0">
                  <a:pos x="0" y="22"/>
                </a:cxn>
                <a:cxn ang="0">
                  <a:pos x="20" y="0"/>
                </a:cxn>
                <a:cxn ang="0">
                  <a:pos x="29" y="9"/>
                </a:cxn>
                <a:cxn ang="0">
                  <a:pos x="9" y="30"/>
                </a:cxn>
              </a:cxnLst>
              <a:rect l="0" t="0" r="r" b="b"/>
              <a:pathLst>
                <a:path w="29" h="30">
                  <a:moveTo>
                    <a:pt x="9" y="30"/>
                  </a:moveTo>
                  <a:lnTo>
                    <a:pt x="0" y="22"/>
                  </a:lnTo>
                  <a:lnTo>
                    <a:pt x="20" y="0"/>
                  </a:lnTo>
                  <a:lnTo>
                    <a:pt x="29" y="9"/>
                  </a:lnTo>
                  <a:lnTo>
                    <a:pt x="9" y="3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2" name="Freeform 38"/>
            <p:cNvSpPr>
              <a:spLocks/>
            </p:cNvSpPr>
            <p:nvPr/>
          </p:nvSpPr>
          <p:spPr bwMode="auto">
            <a:xfrm>
              <a:off x="4114800" y="1112838"/>
              <a:ext cx="47625" cy="22225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0" y="1"/>
                </a:cxn>
                <a:cxn ang="0">
                  <a:pos x="30" y="0"/>
                </a:cxn>
                <a:cxn ang="0">
                  <a:pos x="30" y="11"/>
                </a:cxn>
                <a:cxn ang="0">
                  <a:pos x="0" y="14"/>
                </a:cxn>
              </a:cxnLst>
              <a:rect l="0" t="0" r="r" b="b"/>
              <a:pathLst>
                <a:path w="30" h="14">
                  <a:moveTo>
                    <a:pt x="0" y="14"/>
                  </a:moveTo>
                  <a:lnTo>
                    <a:pt x="0" y="1"/>
                  </a:lnTo>
                  <a:lnTo>
                    <a:pt x="30" y="0"/>
                  </a:lnTo>
                  <a:lnTo>
                    <a:pt x="30" y="11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3" name="Freeform 39"/>
            <p:cNvSpPr>
              <a:spLocks/>
            </p:cNvSpPr>
            <p:nvPr/>
          </p:nvSpPr>
          <p:spPr bwMode="auto">
            <a:xfrm>
              <a:off x="4075113" y="1222375"/>
              <a:ext cx="49213" cy="46038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8" y="0"/>
                </a:cxn>
                <a:cxn ang="0">
                  <a:pos x="31" y="19"/>
                </a:cxn>
                <a:cxn ang="0">
                  <a:pos x="24" y="29"/>
                </a:cxn>
                <a:cxn ang="0">
                  <a:pos x="0" y="10"/>
                </a:cxn>
              </a:cxnLst>
              <a:rect l="0" t="0" r="r" b="b"/>
              <a:pathLst>
                <a:path w="31" h="29">
                  <a:moveTo>
                    <a:pt x="0" y="10"/>
                  </a:moveTo>
                  <a:lnTo>
                    <a:pt x="8" y="0"/>
                  </a:lnTo>
                  <a:lnTo>
                    <a:pt x="31" y="19"/>
                  </a:lnTo>
                  <a:lnTo>
                    <a:pt x="24" y="29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4" name="Freeform 40"/>
            <p:cNvSpPr>
              <a:spLocks/>
            </p:cNvSpPr>
            <p:nvPr/>
          </p:nvSpPr>
          <p:spPr bwMode="auto">
            <a:xfrm>
              <a:off x="3825875" y="982663"/>
              <a:ext cx="44450" cy="47625"/>
            </a:xfrm>
            <a:custGeom>
              <a:avLst/>
              <a:gdLst/>
              <a:ahLst/>
              <a:cxnLst>
                <a:cxn ang="0">
                  <a:pos x="19" y="30"/>
                </a:cxn>
                <a:cxn ang="0">
                  <a:pos x="28" y="21"/>
                </a:cxn>
                <a:cxn ang="0">
                  <a:pos x="8" y="0"/>
                </a:cxn>
                <a:cxn ang="0">
                  <a:pos x="0" y="8"/>
                </a:cxn>
                <a:cxn ang="0">
                  <a:pos x="19" y="30"/>
                </a:cxn>
              </a:cxnLst>
              <a:rect l="0" t="0" r="r" b="b"/>
              <a:pathLst>
                <a:path w="28" h="30">
                  <a:moveTo>
                    <a:pt x="19" y="30"/>
                  </a:moveTo>
                  <a:lnTo>
                    <a:pt x="28" y="21"/>
                  </a:lnTo>
                  <a:lnTo>
                    <a:pt x="8" y="0"/>
                  </a:lnTo>
                  <a:lnTo>
                    <a:pt x="0" y="8"/>
                  </a:lnTo>
                  <a:lnTo>
                    <a:pt x="19" y="3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5" name="Freeform 41"/>
            <p:cNvSpPr>
              <a:spLocks/>
            </p:cNvSpPr>
            <p:nvPr/>
          </p:nvSpPr>
          <p:spPr bwMode="auto">
            <a:xfrm>
              <a:off x="3768725" y="1111250"/>
              <a:ext cx="49213" cy="22225"/>
            </a:xfrm>
            <a:custGeom>
              <a:avLst/>
              <a:gdLst/>
              <a:ahLst/>
              <a:cxnLst>
                <a:cxn ang="0">
                  <a:pos x="30" y="14"/>
                </a:cxn>
                <a:cxn ang="0">
                  <a:pos x="31" y="1"/>
                </a:cxn>
                <a:cxn ang="0">
                  <a:pos x="2" y="0"/>
                </a:cxn>
                <a:cxn ang="0">
                  <a:pos x="0" y="11"/>
                </a:cxn>
                <a:cxn ang="0">
                  <a:pos x="30" y="14"/>
                </a:cxn>
              </a:cxnLst>
              <a:rect l="0" t="0" r="r" b="b"/>
              <a:pathLst>
                <a:path w="31" h="14">
                  <a:moveTo>
                    <a:pt x="30" y="14"/>
                  </a:moveTo>
                  <a:lnTo>
                    <a:pt x="31" y="1"/>
                  </a:lnTo>
                  <a:lnTo>
                    <a:pt x="2" y="0"/>
                  </a:lnTo>
                  <a:lnTo>
                    <a:pt x="0" y="11"/>
                  </a:lnTo>
                  <a:lnTo>
                    <a:pt x="30" y="14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6" name="Freeform 42"/>
            <p:cNvSpPr>
              <a:spLocks/>
            </p:cNvSpPr>
            <p:nvPr/>
          </p:nvSpPr>
          <p:spPr bwMode="auto">
            <a:xfrm>
              <a:off x="3806825" y="1220788"/>
              <a:ext cx="49213" cy="44450"/>
            </a:xfrm>
            <a:custGeom>
              <a:avLst/>
              <a:gdLst/>
              <a:ahLst/>
              <a:cxnLst>
                <a:cxn ang="0">
                  <a:pos x="31" y="10"/>
                </a:cxn>
                <a:cxn ang="0">
                  <a:pos x="24" y="0"/>
                </a:cxn>
                <a:cxn ang="0">
                  <a:pos x="0" y="18"/>
                </a:cxn>
                <a:cxn ang="0">
                  <a:pos x="9" y="28"/>
                </a:cxn>
                <a:cxn ang="0">
                  <a:pos x="31" y="10"/>
                </a:cxn>
              </a:cxnLst>
              <a:rect l="0" t="0" r="r" b="b"/>
              <a:pathLst>
                <a:path w="31" h="28">
                  <a:moveTo>
                    <a:pt x="31" y="10"/>
                  </a:moveTo>
                  <a:lnTo>
                    <a:pt x="24" y="0"/>
                  </a:lnTo>
                  <a:lnTo>
                    <a:pt x="0" y="18"/>
                  </a:lnTo>
                  <a:lnTo>
                    <a:pt x="9" y="28"/>
                  </a:lnTo>
                  <a:lnTo>
                    <a:pt x="31" y="1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7" name="Freeform 43"/>
            <p:cNvSpPr>
              <a:spLocks/>
            </p:cNvSpPr>
            <p:nvPr/>
          </p:nvSpPr>
          <p:spPr bwMode="auto">
            <a:xfrm>
              <a:off x="3975100" y="1179513"/>
              <a:ext cx="15875" cy="30163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0" y="0"/>
                </a:cxn>
                <a:cxn ang="0">
                  <a:pos x="0" y="13"/>
                </a:cxn>
                <a:cxn ang="0">
                  <a:pos x="7" y="6"/>
                </a:cxn>
                <a:cxn ang="0">
                  <a:pos x="3" y="1"/>
                </a:cxn>
              </a:cxnLst>
              <a:rect l="0" t="0" r="r" b="b"/>
              <a:pathLst>
                <a:path w="7" h="13">
                  <a:moveTo>
                    <a:pt x="3" y="1"/>
                  </a:moveTo>
                  <a:cubicBezTo>
                    <a:pt x="3" y="1"/>
                    <a:pt x="2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5" y="13"/>
                    <a:pt x="7" y="10"/>
                    <a:pt x="7" y="6"/>
                  </a:cubicBezTo>
                  <a:cubicBezTo>
                    <a:pt x="7" y="4"/>
                    <a:pt x="6" y="2"/>
                    <a:pt x="3" y="1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8" name="Freeform 44"/>
            <p:cNvSpPr>
              <a:spLocks/>
            </p:cNvSpPr>
            <p:nvPr/>
          </p:nvSpPr>
          <p:spPr bwMode="auto">
            <a:xfrm>
              <a:off x="3944938" y="1128713"/>
              <a:ext cx="12700" cy="238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6" y="11"/>
                </a:cxn>
                <a:cxn ang="0">
                  <a:pos x="6" y="0"/>
                </a:cxn>
                <a:cxn ang="0">
                  <a:pos x="0" y="5"/>
                </a:cxn>
              </a:cxnLst>
              <a:rect l="0" t="0" r="r" b="b"/>
              <a:pathLst>
                <a:path w="6" h="11">
                  <a:moveTo>
                    <a:pt x="0" y="5"/>
                  </a:moveTo>
                  <a:cubicBezTo>
                    <a:pt x="0" y="8"/>
                    <a:pt x="2" y="10"/>
                    <a:pt x="6" y="1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5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9" name="Freeform 45"/>
            <p:cNvSpPr>
              <a:spLocks noEditPoints="1"/>
            </p:cNvSpPr>
            <p:nvPr/>
          </p:nvSpPr>
          <p:spPr bwMode="auto">
            <a:xfrm>
              <a:off x="3843338" y="1006475"/>
              <a:ext cx="244475" cy="290513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0" y="54"/>
                </a:cxn>
                <a:cxn ang="0">
                  <a:pos x="12" y="87"/>
                </a:cxn>
                <a:cxn ang="0">
                  <a:pos x="32" y="129"/>
                </a:cxn>
                <a:cxn ang="0">
                  <a:pos x="34" y="129"/>
                </a:cxn>
                <a:cxn ang="0">
                  <a:pos x="42" y="129"/>
                </a:cxn>
                <a:cxn ang="0">
                  <a:pos x="65" y="129"/>
                </a:cxn>
                <a:cxn ang="0">
                  <a:pos x="75" y="129"/>
                </a:cxn>
                <a:cxn ang="0">
                  <a:pos x="77" y="129"/>
                </a:cxn>
                <a:cxn ang="0">
                  <a:pos x="97" y="87"/>
                </a:cxn>
                <a:cxn ang="0">
                  <a:pos x="109" y="54"/>
                </a:cxn>
                <a:cxn ang="0">
                  <a:pos x="55" y="0"/>
                </a:cxn>
                <a:cxn ang="0">
                  <a:pos x="69" y="95"/>
                </a:cxn>
                <a:cxn ang="0">
                  <a:pos x="59" y="98"/>
                </a:cxn>
                <a:cxn ang="0">
                  <a:pos x="59" y="110"/>
                </a:cxn>
                <a:cxn ang="0">
                  <a:pos x="51" y="110"/>
                </a:cxn>
                <a:cxn ang="0">
                  <a:pos x="51" y="98"/>
                </a:cxn>
                <a:cxn ang="0">
                  <a:pos x="40" y="94"/>
                </a:cxn>
                <a:cxn ang="0">
                  <a:pos x="34" y="80"/>
                </a:cxn>
                <a:cxn ang="0">
                  <a:pos x="43" y="80"/>
                </a:cxn>
                <a:cxn ang="0">
                  <a:pos x="51" y="90"/>
                </a:cxn>
                <a:cxn ang="0">
                  <a:pos x="51" y="75"/>
                </a:cxn>
                <a:cxn ang="0">
                  <a:pos x="47" y="74"/>
                </a:cxn>
                <a:cxn ang="0">
                  <a:pos x="36" y="61"/>
                </a:cxn>
                <a:cxn ang="0">
                  <a:pos x="41" y="49"/>
                </a:cxn>
                <a:cxn ang="0">
                  <a:pos x="51" y="46"/>
                </a:cxn>
                <a:cxn ang="0">
                  <a:pos x="51" y="33"/>
                </a:cxn>
                <a:cxn ang="0">
                  <a:pos x="59" y="33"/>
                </a:cxn>
                <a:cxn ang="0">
                  <a:pos x="59" y="46"/>
                </a:cxn>
                <a:cxn ang="0">
                  <a:pos x="68" y="50"/>
                </a:cxn>
                <a:cxn ang="0">
                  <a:pos x="74" y="62"/>
                </a:cxn>
                <a:cxn ang="0">
                  <a:pos x="65" y="62"/>
                </a:cxn>
                <a:cxn ang="0">
                  <a:pos x="59" y="54"/>
                </a:cxn>
                <a:cxn ang="0">
                  <a:pos x="59" y="67"/>
                </a:cxn>
                <a:cxn ang="0">
                  <a:pos x="66" y="69"/>
                </a:cxn>
                <a:cxn ang="0">
                  <a:pos x="73" y="75"/>
                </a:cxn>
                <a:cxn ang="0">
                  <a:pos x="76" y="82"/>
                </a:cxn>
                <a:cxn ang="0">
                  <a:pos x="69" y="95"/>
                </a:cxn>
                <a:cxn ang="0">
                  <a:pos x="55" y="19"/>
                </a:cxn>
                <a:cxn ang="0">
                  <a:pos x="17" y="24"/>
                </a:cxn>
                <a:cxn ang="0">
                  <a:pos x="55" y="4"/>
                </a:cxn>
                <a:cxn ang="0">
                  <a:pos x="93" y="24"/>
                </a:cxn>
                <a:cxn ang="0">
                  <a:pos x="55" y="19"/>
                </a:cxn>
              </a:cxnLst>
              <a:rect l="0" t="0" r="r" b="b"/>
              <a:pathLst>
                <a:path w="109" h="129">
                  <a:moveTo>
                    <a:pt x="55" y="0"/>
                  </a:moveTo>
                  <a:cubicBezTo>
                    <a:pt x="25" y="0"/>
                    <a:pt x="0" y="24"/>
                    <a:pt x="0" y="54"/>
                  </a:cubicBezTo>
                  <a:cubicBezTo>
                    <a:pt x="0" y="67"/>
                    <a:pt x="5" y="78"/>
                    <a:pt x="12" y="87"/>
                  </a:cubicBezTo>
                  <a:cubicBezTo>
                    <a:pt x="16" y="93"/>
                    <a:pt x="30" y="115"/>
                    <a:pt x="32" y="129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65" y="129"/>
                    <a:pt x="65" y="129"/>
                    <a:pt x="65" y="129"/>
                  </a:cubicBezTo>
                  <a:cubicBezTo>
                    <a:pt x="75" y="129"/>
                    <a:pt x="75" y="129"/>
                    <a:pt x="75" y="129"/>
                  </a:cubicBezTo>
                  <a:cubicBezTo>
                    <a:pt x="77" y="129"/>
                    <a:pt x="77" y="129"/>
                    <a:pt x="77" y="129"/>
                  </a:cubicBezTo>
                  <a:cubicBezTo>
                    <a:pt x="79" y="115"/>
                    <a:pt x="93" y="93"/>
                    <a:pt x="97" y="87"/>
                  </a:cubicBezTo>
                  <a:cubicBezTo>
                    <a:pt x="105" y="78"/>
                    <a:pt x="109" y="67"/>
                    <a:pt x="109" y="54"/>
                  </a:cubicBezTo>
                  <a:cubicBezTo>
                    <a:pt x="109" y="24"/>
                    <a:pt x="85" y="0"/>
                    <a:pt x="55" y="0"/>
                  </a:cubicBezTo>
                  <a:close/>
                  <a:moveTo>
                    <a:pt x="69" y="95"/>
                  </a:moveTo>
                  <a:cubicBezTo>
                    <a:pt x="66" y="97"/>
                    <a:pt x="63" y="98"/>
                    <a:pt x="59" y="98"/>
                  </a:cubicBezTo>
                  <a:cubicBezTo>
                    <a:pt x="59" y="110"/>
                    <a:pt x="59" y="110"/>
                    <a:pt x="59" y="110"/>
                  </a:cubicBezTo>
                  <a:cubicBezTo>
                    <a:pt x="51" y="110"/>
                    <a:pt x="51" y="110"/>
                    <a:pt x="51" y="110"/>
                  </a:cubicBezTo>
                  <a:cubicBezTo>
                    <a:pt x="51" y="98"/>
                    <a:pt x="51" y="98"/>
                    <a:pt x="51" y="98"/>
                  </a:cubicBezTo>
                  <a:cubicBezTo>
                    <a:pt x="46" y="98"/>
                    <a:pt x="43" y="96"/>
                    <a:pt x="40" y="94"/>
                  </a:cubicBezTo>
                  <a:cubicBezTo>
                    <a:pt x="36" y="91"/>
                    <a:pt x="34" y="86"/>
                    <a:pt x="34" y="80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3" y="85"/>
                    <a:pt x="46" y="89"/>
                    <a:pt x="51" y="90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0" y="74"/>
                    <a:pt x="48" y="74"/>
                    <a:pt x="47" y="74"/>
                  </a:cubicBezTo>
                  <a:cubicBezTo>
                    <a:pt x="39" y="72"/>
                    <a:pt x="36" y="67"/>
                    <a:pt x="36" y="61"/>
                  </a:cubicBezTo>
                  <a:cubicBezTo>
                    <a:pt x="36" y="56"/>
                    <a:pt x="37" y="52"/>
                    <a:pt x="41" y="49"/>
                  </a:cubicBezTo>
                  <a:cubicBezTo>
                    <a:pt x="44" y="47"/>
                    <a:pt x="47" y="46"/>
                    <a:pt x="51" y="46"/>
                  </a:cubicBezTo>
                  <a:cubicBezTo>
                    <a:pt x="51" y="33"/>
                    <a:pt x="51" y="33"/>
                    <a:pt x="51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62" y="46"/>
                    <a:pt x="66" y="48"/>
                    <a:pt x="68" y="50"/>
                  </a:cubicBezTo>
                  <a:cubicBezTo>
                    <a:pt x="72" y="53"/>
                    <a:pt x="74" y="57"/>
                    <a:pt x="74" y="62"/>
                  </a:cubicBezTo>
                  <a:cubicBezTo>
                    <a:pt x="65" y="62"/>
                    <a:pt x="65" y="62"/>
                    <a:pt x="65" y="62"/>
                  </a:cubicBezTo>
                  <a:cubicBezTo>
                    <a:pt x="64" y="58"/>
                    <a:pt x="62" y="55"/>
                    <a:pt x="59" y="54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61" y="68"/>
                    <a:pt x="63" y="69"/>
                    <a:pt x="66" y="69"/>
                  </a:cubicBezTo>
                  <a:cubicBezTo>
                    <a:pt x="69" y="70"/>
                    <a:pt x="71" y="72"/>
                    <a:pt x="73" y="75"/>
                  </a:cubicBezTo>
                  <a:cubicBezTo>
                    <a:pt x="75" y="77"/>
                    <a:pt x="76" y="80"/>
                    <a:pt x="76" y="82"/>
                  </a:cubicBezTo>
                  <a:cubicBezTo>
                    <a:pt x="76" y="88"/>
                    <a:pt x="74" y="92"/>
                    <a:pt x="69" y="95"/>
                  </a:cubicBezTo>
                  <a:close/>
                  <a:moveTo>
                    <a:pt x="55" y="19"/>
                  </a:moveTo>
                  <a:cubicBezTo>
                    <a:pt x="41" y="19"/>
                    <a:pt x="27" y="21"/>
                    <a:pt x="17" y="24"/>
                  </a:cubicBezTo>
                  <a:cubicBezTo>
                    <a:pt x="25" y="12"/>
                    <a:pt x="39" y="4"/>
                    <a:pt x="55" y="4"/>
                  </a:cubicBezTo>
                  <a:cubicBezTo>
                    <a:pt x="71" y="4"/>
                    <a:pt x="85" y="12"/>
                    <a:pt x="93" y="24"/>
                  </a:cubicBezTo>
                  <a:cubicBezTo>
                    <a:pt x="82" y="21"/>
                    <a:pt x="69" y="19"/>
                    <a:pt x="55" y="19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141" name="TextBox 140"/>
          <p:cNvSpPr txBox="1">
            <a:spLocks noChangeArrowheads="1"/>
          </p:cNvSpPr>
          <p:nvPr/>
        </p:nvSpPr>
        <p:spPr bwMode="auto">
          <a:xfrm>
            <a:off x="6748463" y="1879600"/>
            <a:ext cx="979487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fr-FR" sz="1600" b="1">
                <a:solidFill>
                  <a:schemeClr val="bg1"/>
                </a:solidFill>
                <a:latin typeface="Calibri Light" pitchFamily="34" charset="0"/>
              </a:rPr>
              <a:t>Lorem Ipsum</a:t>
            </a:r>
          </a:p>
        </p:txBody>
      </p:sp>
      <p:sp>
        <p:nvSpPr>
          <p:cNvPr id="142" name="TextBox 141"/>
          <p:cNvSpPr txBox="1">
            <a:spLocks noChangeArrowheads="1"/>
          </p:cNvSpPr>
          <p:nvPr/>
        </p:nvSpPr>
        <p:spPr bwMode="auto">
          <a:xfrm>
            <a:off x="6564313" y="2955925"/>
            <a:ext cx="979487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fr-FR" sz="1600" b="1">
                <a:solidFill>
                  <a:schemeClr val="bg1"/>
                </a:solidFill>
                <a:latin typeface="Calibri Light" pitchFamily="34" charset="0"/>
              </a:rPr>
              <a:t>Lorem Ipsum</a:t>
            </a:r>
          </a:p>
        </p:txBody>
      </p:sp>
      <p:sp>
        <p:nvSpPr>
          <p:cNvPr id="143" name="TextBox 142"/>
          <p:cNvSpPr txBox="1">
            <a:spLocks noChangeArrowheads="1"/>
          </p:cNvSpPr>
          <p:nvPr/>
        </p:nvSpPr>
        <p:spPr bwMode="auto">
          <a:xfrm>
            <a:off x="6338888" y="4049713"/>
            <a:ext cx="98107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fr-FR" sz="1600" b="1" dirty="0" err="1">
                <a:solidFill>
                  <a:schemeClr val="bg1"/>
                </a:solidFill>
                <a:latin typeface="Calibri Light" pitchFamily="34" charset="0"/>
              </a:rPr>
              <a:t>Lorem</a:t>
            </a:r>
            <a:r>
              <a:rPr lang="en-US" altLang="fr-FR" sz="1600" b="1" dirty="0">
                <a:solidFill>
                  <a:schemeClr val="bg1"/>
                </a:solidFill>
                <a:latin typeface="Calibri Light" pitchFamily="34" charset="0"/>
              </a:rPr>
              <a:t> </a:t>
            </a:r>
            <a:r>
              <a:rPr lang="en-US" altLang="fr-FR" sz="1600" b="1" dirty="0" err="1">
                <a:solidFill>
                  <a:schemeClr val="bg1"/>
                </a:solidFill>
                <a:latin typeface="Calibri Light" pitchFamily="34" charset="0"/>
              </a:rPr>
              <a:t>Ipsum</a:t>
            </a:r>
            <a:endParaRPr lang="en-US" altLang="fr-FR" sz="1600" b="1" dirty="0">
              <a:solidFill>
                <a:schemeClr val="bg1"/>
              </a:solidFill>
              <a:latin typeface="Calibri Light" pitchFamily="34" charset="0"/>
            </a:endParaRPr>
          </a:p>
        </p:txBody>
      </p:sp>
      <p:sp>
        <p:nvSpPr>
          <p:cNvPr id="144" name="TextBox 143"/>
          <p:cNvSpPr txBox="1">
            <a:spLocks noChangeArrowheads="1"/>
          </p:cNvSpPr>
          <p:nvPr/>
        </p:nvSpPr>
        <p:spPr bwMode="auto">
          <a:xfrm>
            <a:off x="6015038" y="5106988"/>
            <a:ext cx="981075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fr-FR" sz="1600" b="1">
                <a:solidFill>
                  <a:schemeClr val="bg1"/>
                </a:solidFill>
                <a:latin typeface="Calibri Light" pitchFamily="34" charset="0"/>
              </a:rPr>
              <a:t>Lorem Ipsum</a:t>
            </a:r>
          </a:p>
        </p:txBody>
      </p:sp>
      <p:sp>
        <p:nvSpPr>
          <p:cNvPr id="145" name="TextBox 144"/>
          <p:cNvSpPr txBox="1">
            <a:spLocks noChangeArrowheads="1"/>
          </p:cNvSpPr>
          <p:nvPr/>
        </p:nvSpPr>
        <p:spPr bwMode="auto">
          <a:xfrm>
            <a:off x="5724525" y="6197600"/>
            <a:ext cx="97948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fr-FR" sz="1600" b="1">
                <a:solidFill>
                  <a:schemeClr val="bg1"/>
                </a:solidFill>
                <a:latin typeface="Calibri Light" pitchFamily="34" charset="0"/>
              </a:rPr>
              <a:t>Lorem Ipsum</a:t>
            </a:r>
          </a:p>
        </p:txBody>
      </p:sp>
      <p:sp>
        <p:nvSpPr>
          <p:cNvPr id="8222" name="Rectangle 146"/>
          <p:cNvSpPr>
            <a:spLocks noChangeArrowheads="1"/>
          </p:cNvSpPr>
          <p:nvPr/>
        </p:nvSpPr>
        <p:spPr bwMode="auto">
          <a:xfrm>
            <a:off x="571500" y="571500"/>
            <a:ext cx="30718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altLang="fr-FR" sz="3200" b="1">
                <a:solidFill>
                  <a:srgbClr val="FF0000"/>
                </a:solidFill>
                <a:latin typeface="Baskerville Old Face" pitchFamily="18" charset="0"/>
              </a:rPr>
              <a:t>Plan de la séance </a:t>
            </a:r>
            <a:endParaRPr lang="fr-FR" altLang="fr-FR" sz="3200">
              <a:latin typeface="Calibri" pitchFamily="34" charset="0"/>
            </a:endParaRPr>
          </a:p>
        </p:txBody>
      </p:sp>
      <p:pic>
        <p:nvPicPr>
          <p:cNvPr id="96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97" name="Isosceles Triangle 46">
            <a:extLst>
              <a:ext uri="{FF2B5EF4-FFF2-40B4-BE49-F238E27FC236}">
                <a16:creationId xmlns:a16="http://schemas.microsoft.com/office/drawing/2014/main" xmlns="" id="{295CE181-88D7-4815-BC0F-BC87C9322824}"/>
              </a:ext>
            </a:extLst>
          </p:cNvPr>
          <p:cNvSpPr/>
          <p:nvPr/>
        </p:nvSpPr>
        <p:spPr>
          <a:xfrm rot="5400000">
            <a:off x="-31494" y="674412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3" grpId="0" animBg="1"/>
      <p:bldP spid="44" grpId="0"/>
      <p:bldP spid="45" grpId="0"/>
      <p:bldP spid="47" grpId="0"/>
      <p:bldP spid="143" grpId="0"/>
      <p:bldP spid="144" grpId="0"/>
      <p:bldP spid="145" grpId="0"/>
      <p:bldP spid="9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3336925" y="4092575"/>
            <a:ext cx="1579563" cy="2103438"/>
          </a:xfrm>
          <a:prstGeom prst="round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Freeform: Shape 23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4957763" y="5340350"/>
            <a:ext cx="1581150" cy="2103438"/>
          </a:xfrm>
          <a:custGeom>
            <a:avLst/>
            <a:gdLst>
              <a:gd name="connsiteX0" fmla="*/ 102667 w 2106832"/>
              <a:gd name="connsiteY0" fmla="*/ 102667 h 2103120"/>
              <a:gd name="connsiteX1" fmla="*/ 350527 w 2106832"/>
              <a:gd name="connsiteY1" fmla="*/ 0 h 2103120"/>
              <a:gd name="connsiteX2" fmla="*/ 1756305 w 2106832"/>
              <a:gd name="connsiteY2" fmla="*/ 0 h 2103120"/>
              <a:gd name="connsiteX3" fmla="*/ 2106832 w 2106832"/>
              <a:gd name="connsiteY3" fmla="*/ 350527 h 2103120"/>
              <a:gd name="connsiteX4" fmla="*/ 2106832 w 2106832"/>
              <a:gd name="connsiteY4" fmla="*/ 658842 h 2103120"/>
              <a:gd name="connsiteX5" fmla="*/ 659127 w 2106832"/>
              <a:gd name="connsiteY5" fmla="*/ 2103120 h 2103120"/>
              <a:gd name="connsiteX6" fmla="*/ 350527 w 2106832"/>
              <a:gd name="connsiteY6" fmla="*/ 2103120 h 2103120"/>
              <a:gd name="connsiteX7" fmla="*/ 0 w 2106832"/>
              <a:gd name="connsiteY7" fmla="*/ 1752593 h 2103120"/>
              <a:gd name="connsiteX8" fmla="*/ 0 w 2106832"/>
              <a:gd name="connsiteY8" fmla="*/ 350527 h 2103120"/>
              <a:gd name="connsiteX9" fmla="*/ 102667 w 2106832"/>
              <a:gd name="connsiteY9" fmla="*/ 102667 h 210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06832" h="2103120">
                <a:moveTo>
                  <a:pt x="102667" y="102667"/>
                </a:moveTo>
                <a:cubicBezTo>
                  <a:pt x="166100" y="39234"/>
                  <a:pt x="253732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658842"/>
                </a:lnTo>
                <a:lnTo>
                  <a:pt x="659127" y="2103120"/>
                </a:lnTo>
                <a:lnTo>
                  <a:pt x="350527" y="2103120"/>
                </a:lnTo>
                <a:cubicBezTo>
                  <a:pt x="156936" y="2103120"/>
                  <a:pt x="0" y="1946184"/>
                  <a:pt x="0" y="1752593"/>
                </a:cubicBezTo>
                <a:lnTo>
                  <a:pt x="0" y="350527"/>
                </a:lnTo>
                <a:cubicBezTo>
                  <a:pt x="0" y="253732"/>
                  <a:pt x="39234" y="166100"/>
                  <a:pt x="102667" y="102667"/>
                </a:cubicBezTo>
                <a:close/>
              </a:path>
            </a:pathLst>
          </a:custGeom>
          <a:blipFill dpi="0" rotWithShape="0">
            <a:blip r:embed="rId3" cstate="print"/>
            <a:srcRect/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Freeform: Shape 21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1716088" y="5340350"/>
            <a:ext cx="1579562" cy="2103438"/>
          </a:xfrm>
          <a:custGeom>
            <a:avLst/>
            <a:gdLst>
              <a:gd name="connsiteX0" fmla="*/ 102667 w 2106832"/>
              <a:gd name="connsiteY0" fmla="*/ 102667 h 2103120"/>
              <a:gd name="connsiteX1" fmla="*/ 350527 w 2106832"/>
              <a:gd name="connsiteY1" fmla="*/ 0 h 2103120"/>
              <a:gd name="connsiteX2" fmla="*/ 1756305 w 2106832"/>
              <a:gd name="connsiteY2" fmla="*/ 0 h 2103120"/>
              <a:gd name="connsiteX3" fmla="*/ 2106832 w 2106832"/>
              <a:gd name="connsiteY3" fmla="*/ 350527 h 2103120"/>
              <a:gd name="connsiteX4" fmla="*/ 2106832 w 2106832"/>
              <a:gd name="connsiteY4" fmla="*/ 658841 h 2103120"/>
              <a:gd name="connsiteX5" fmla="*/ 659126 w 2106832"/>
              <a:gd name="connsiteY5" fmla="*/ 2103120 h 2103120"/>
              <a:gd name="connsiteX6" fmla="*/ 350527 w 2106832"/>
              <a:gd name="connsiteY6" fmla="*/ 2103120 h 2103120"/>
              <a:gd name="connsiteX7" fmla="*/ 0 w 2106832"/>
              <a:gd name="connsiteY7" fmla="*/ 1752593 h 2103120"/>
              <a:gd name="connsiteX8" fmla="*/ 0 w 2106832"/>
              <a:gd name="connsiteY8" fmla="*/ 350527 h 2103120"/>
              <a:gd name="connsiteX9" fmla="*/ 102667 w 2106832"/>
              <a:gd name="connsiteY9" fmla="*/ 102667 h 210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06832" h="2103120">
                <a:moveTo>
                  <a:pt x="102667" y="102667"/>
                </a:moveTo>
                <a:cubicBezTo>
                  <a:pt x="166100" y="39234"/>
                  <a:pt x="253732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658841"/>
                </a:lnTo>
                <a:lnTo>
                  <a:pt x="659126" y="2103120"/>
                </a:lnTo>
                <a:lnTo>
                  <a:pt x="350527" y="2103120"/>
                </a:lnTo>
                <a:cubicBezTo>
                  <a:pt x="156936" y="2103120"/>
                  <a:pt x="0" y="1946184"/>
                  <a:pt x="0" y="1752593"/>
                </a:cubicBezTo>
                <a:lnTo>
                  <a:pt x="0" y="350527"/>
                </a:lnTo>
                <a:cubicBezTo>
                  <a:pt x="0" y="253731"/>
                  <a:pt x="39234" y="166100"/>
                  <a:pt x="102667" y="102667"/>
                </a:cubicBezTo>
                <a:close/>
              </a:path>
            </a:pathLst>
          </a:custGeom>
          <a:blipFill dpi="0" rotWithShape="0">
            <a:blip r:embed="rId4" cstate="print"/>
            <a:srcRect/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6" name="Freeform: Shape 25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7083425" y="4829175"/>
            <a:ext cx="1581150" cy="2103438"/>
          </a:xfrm>
          <a:custGeom>
            <a:avLst/>
            <a:gdLst>
              <a:gd name="connsiteX0" fmla="*/ 102667 w 2106832"/>
              <a:gd name="connsiteY0" fmla="*/ 102667 h 2103120"/>
              <a:gd name="connsiteX1" fmla="*/ 350527 w 2106832"/>
              <a:gd name="connsiteY1" fmla="*/ 0 h 2103120"/>
              <a:gd name="connsiteX2" fmla="*/ 1756305 w 2106832"/>
              <a:gd name="connsiteY2" fmla="*/ 0 h 2103120"/>
              <a:gd name="connsiteX3" fmla="*/ 2106832 w 2106832"/>
              <a:gd name="connsiteY3" fmla="*/ 350527 h 2103120"/>
              <a:gd name="connsiteX4" fmla="*/ 2106832 w 2106832"/>
              <a:gd name="connsiteY4" fmla="*/ 1380981 h 2103120"/>
              <a:gd name="connsiteX5" fmla="*/ 1382979 w 2106832"/>
              <a:gd name="connsiteY5" fmla="*/ 2103120 h 2103120"/>
              <a:gd name="connsiteX6" fmla="*/ 350527 w 2106832"/>
              <a:gd name="connsiteY6" fmla="*/ 2103120 h 2103120"/>
              <a:gd name="connsiteX7" fmla="*/ 0 w 2106832"/>
              <a:gd name="connsiteY7" fmla="*/ 1752593 h 2103120"/>
              <a:gd name="connsiteX8" fmla="*/ 0 w 2106832"/>
              <a:gd name="connsiteY8" fmla="*/ 350527 h 2103120"/>
              <a:gd name="connsiteX9" fmla="*/ 102667 w 2106832"/>
              <a:gd name="connsiteY9" fmla="*/ 102667 h 210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06832" h="2103120">
                <a:moveTo>
                  <a:pt x="102667" y="102667"/>
                </a:moveTo>
                <a:cubicBezTo>
                  <a:pt x="166099" y="39234"/>
                  <a:pt x="253731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1380981"/>
                </a:lnTo>
                <a:lnTo>
                  <a:pt x="1382979" y="2103120"/>
                </a:lnTo>
                <a:lnTo>
                  <a:pt x="350527" y="2103120"/>
                </a:lnTo>
                <a:cubicBezTo>
                  <a:pt x="156936" y="2103120"/>
                  <a:pt x="0" y="1946184"/>
                  <a:pt x="0" y="1752593"/>
                </a:cubicBezTo>
                <a:lnTo>
                  <a:pt x="0" y="350527"/>
                </a:lnTo>
                <a:cubicBezTo>
                  <a:pt x="0" y="253732"/>
                  <a:pt x="39234" y="166100"/>
                  <a:pt x="102667" y="102667"/>
                </a:cubicBezTo>
                <a:close/>
              </a:path>
            </a:pathLst>
          </a:custGeom>
          <a:blipFill dpi="0" rotWithShape="0">
            <a:blip r:embed="rId5" cstate="print"/>
            <a:srcRect/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Freeform: Shape 19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-401638" y="4838700"/>
            <a:ext cx="1581151" cy="2101850"/>
          </a:xfrm>
          <a:custGeom>
            <a:avLst/>
            <a:gdLst>
              <a:gd name="connsiteX0" fmla="*/ 102667 w 2106832"/>
              <a:gd name="connsiteY0" fmla="*/ 102667 h 2103120"/>
              <a:gd name="connsiteX1" fmla="*/ 350527 w 2106832"/>
              <a:gd name="connsiteY1" fmla="*/ 0 h 2103120"/>
              <a:gd name="connsiteX2" fmla="*/ 1756305 w 2106832"/>
              <a:gd name="connsiteY2" fmla="*/ 0 h 2103120"/>
              <a:gd name="connsiteX3" fmla="*/ 2106832 w 2106832"/>
              <a:gd name="connsiteY3" fmla="*/ 350527 h 2103120"/>
              <a:gd name="connsiteX4" fmla="*/ 2106832 w 2106832"/>
              <a:gd name="connsiteY4" fmla="*/ 1375089 h 2103120"/>
              <a:gd name="connsiteX5" fmla="*/ 1377074 w 2106832"/>
              <a:gd name="connsiteY5" fmla="*/ 2103120 h 2103120"/>
              <a:gd name="connsiteX6" fmla="*/ 1369720 w 2106832"/>
              <a:gd name="connsiteY6" fmla="*/ 2103120 h 2103120"/>
              <a:gd name="connsiteX7" fmla="*/ 0 w 2106832"/>
              <a:gd name="connsiteY7" fmla="*/ 730150 h 2103120"/>
              <a:gd name="connsiteX8" fmla="*/ 0 w 2106832"/>
              <a:gd name="connsiteY8" fmla="*/ 350527 h 2103120"/>
              <a:gd name="connsiteX9" fmla="*/ 102667 w 2106832"/>
              <a:gd name="connsiteY9" fmla="*/ 102667 h 210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06832" h="2103120">
                <a:moveTo>
                  <a:pt x="102667" y="102667"/>
                </a:moveTo>
                <a:cubicBezTo>
                  <a:pt x="166100" y="39234"/>
                  <a:pt x="253732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1375089"/>
                </a:lnTo>
                <a:lnTo>
                  <a:pt x="1377074" y="2103120"/>
                </a:lnTo>
                <a:lnTo>
                  <a:pt x="1369720" y="2103120"/>
                </a:lnTo>
                <a:lnTo>
                  <a:pt x="0" y="730150"/>
                </a:lnTo>
                <a:lnTo>
                  <a:pt x="0" y="350527"/>
                </a:lnTo>
                <a:cubicBezTo>
                  <a:pt x="0" y="253731"/>
                  <a:pt x="39234" y="166100"/>
                  <a:pt x="102667" y="102667"/>
                </a:cubicBezTo>
                <a:close/>
              </a:path>
            </a:pathLst>
          </a:custGeom>
          <a:blipFill dpi="0" rotWithShape="0">
            <a:blip r:embed="rId6" cstate="print"/>
            <a:srcRect/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8" name="Freeform: Shape 27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8718550" y="4367213"/>
            <a:ext cx="617538" cy="820737"/>
          </a:xfrm>
          <a:custGeom>
            <a:avLst/>
            <a:gdLst>
              <a:gd name="connsiteX0" fmla="*/ 40103 w 822960"/>
              <a:gd name="connsiteY0" fmla="*/ 40103 h 821509"/>
              <a:gd name="connsiteX1" fmla="*/ 136921 w 822960"/>
              <a:gd name="connsiteY1" fmla="*/ 0 h 821509"/>
              <a:gd name="connsiteX2" fmla="*/ 233313 w 822960"/>
              <a:gd name="connsiteY2" fmla="*/ 0 h 821509"/>
              <a:gd name="connsiteX3" fmla="*/ 822960 w 822960"/>
              <a:gd name="connsiteY3" fmla="*/ 591047 h 821509"/>
              <a:gd name="connsiteX4" fmla="*/ 822960 w 822960"/>
              <a:gd name="connsiteY4" fmla="*/ 684588 h 821509"/>
              <a:gd name="connsiteX5" fmla="*/ 686039 w 822960"/>
              <a:gd name="connsiteY5" fmla="*/ 821509 h 821509"/>
              <a:gd name="connsiteX6" fmla="*/ 136921 w 822960"/>
              <a:gd name="connsiteY6" fmla="*/ 821509 h 821509"/>
              <a:gd name="connsiteX7" fmla="*/ 0 w 822960"/>
              <a:gd name="connsiteY7" fmla="*/ 684588 h 821509"/>
              <a:gd name="connsiteX8" fmla="*/ 0 w 822960"/>
              <a:gd name="connsiteY8" fmla="*/ 136921 h 821509"/>
              <a:gd name="connsiteX9" fmla="*/ 40103 w 822960"/>
              <a:gd name="connsiteY9" fmla="*/ 40103 h 82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2960" h="821509">
                <a:moveTo>
                  <a:pt x="40103" y="40103"/>
                </a:moveTo>
                <a:cubicBezTo>
                  <a:pt x="64881" y="15326"/>
                  <a:pt x="99111" y="0"/>
                  <a:pt x="136921" y="0"/>
                </a:cubicBezTo>
                <a:lnTo>
                  <a:pt x="233313" y="0"/>
                </a:lnTo>
                <a:lnTo>
                  <a:pt x="822960" y="591047"/>
                </a:lnTo>
                <a:lnTo>
                  <a:pt x="822960" y="684588"/>
                </a:lnTo>
                <a:cubicBezTo>
                  <a:pt x="822960" y="760207"/>
                  <a:pt x="761658" y="821509"/>
                  <a:pt x="686039" y="821509"/>
                </a:cubicBezTo>
                <a:lnTo>
                  <a:pt x="136921" y="821509"/>
                </a:lnTo>
                <a:cubicBezTo>
                  <a:pt x="61302" y="821509"/>
                  <a:pt x="0" y="760207"/>
                  <a:pt x="0" y="684588"/>
                </a:cubicBezTo>
                <a:lnTo>
                  <a:pt x="0" y="136921"/>
                </a:lnTo>
                <a:cubicBezTo>
                  <a:pt x="0" y="99111"/>
                  <a:pt x="15326" y="64882"/>
                  <a:pt x="40103" y="40103"/>
                </a:cubicBezTo>
                <a:close/>
              </a:path>
            </a:pathLst>
          </a:custGeom>
          <a:solidFill>
            <a:srgbClr val="FF2B2A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ZoneTexte 20"/>
          <p:cNvSpPr txBox="1"/>
          <p:nvPr/>
        </p:nvSpPr>
        <p:spPr>
          <a:xfrm>
            <a:off x="1857356" y="18573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23" name="TextBox 66"/>
          <p:cNvSpPr txBox="1">
            <a:spLocks noChangeArrowheads="1"/>
          </p:cNvSpPr>
          <p:nvPr/>
        </p:nvSpPr>
        <p:spPr bwMode="auto">
          <a:xfrm>
            <a:off x="500034" y="500042"/>
            <a:ext cx="5643563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Finalités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 de </a:t>
            </a:r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l’entreprise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</a:p>
          <a:p>
            <a:pPr algn="r"/>
            <a:endParaRPr lang="en-US" altLang="fr-FR" dirty="0">
              <a:solidFill>
                <a:srgbClr val="56595E"/>
              </a:solidFill>
              <a:latin typeface="Candara" pitchFamily="34" charset="0"/>
            </a:endParaRPr>
          </a:p>
        </p:txBody>
      </p:sp>
      <p:grpSp>
        <p:nvGrpSpPr>
          <p:cNvPr id="25" name="Group 2"/>
          <p:cNvGrpSpPr/>
          <p:nvPr/>
        </p:nvGrpSpPr>
        <p:grpSpPr>
          <a:xfrm>
            <a:off x="1643042" y="1500174"/>
            <a:ext cx="5072066" cy="1387797"/>
            <a:chOff x="6414487" y="1849045"/>
            <a:chExt cx="4988526" cy="925494"/>
          </a:xfrm>
        </p:grpSpPr>
        <p:sp>
          <p:nvSpPr>
            <p:cNvPr id="27" name="TextBox 30"/>
            <p:cNvSpPr txBox="1"/>
            <p:nvPr/>
          </p:nvSpPr>
          <p:spPr>
            <a:xfrm>
              <a:off x="6414487" y="1849045"/>
              <a:ext cx="2226673" cy="389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 err="1" smtClean="0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Activité</a:t>
              </a:r>
              <a:r>
                <a:rPr lang="en-US" sz="3200" b="1" dirty="0" smtClean="0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 :</a:t>
              </a:r>
              <a:endParaRPr lang="ru-RU" sz="32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ea typeface="Roboto Light" panose="02000000000000000000" pitchFamily="2" charset="0"/>
              </a:endParaRPr>
            </a:p>
          </p:txBody>
        </p:sp>
        <p:sp>
          <p:nvSpPr>
            <p:cNvPr id="29" name="TextBox 31"/>
            <p:cNvSpPr txBox="1"/>
            <p:nvPr/>
          </p:nvSpPr>
          <p:spPr>
            <a:xfrm>
              <a:off x="6414490" y="2343514"/>
              <a:ext cx="4988523" cy="4310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ct val="20000"/>
                </a:spcBef>
                <a:defRPr/>
              </a:pPr>
              <a:r>
                <a:rPr lang="en-US" sz="3600" b="1" dirty="0" smtClean="0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Let’s BIO    </a:t>
              </a:r>
            </a:p>
          </p:txBody>
        </p:sp>
      </p:grpSp>
      <p:pic>
        <p:nvPicPr>
          <p:cNvPr id="30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14" name="Isosceles Triangle 46">
            <a:extLst>
              <a:ext uri="{FF2B5EF4-FFF2-40B4-BE49-F238E27FC236}">
                <a16:creationId xmlns:a16="http://schemas.microsoft.com/office/drawing/2014/main" xmlns="" id="{295CE181-88D7-4815-BC0F-BC87C9322824}"/>
              </a:ext>
            </a:extLst>
          </p:cNvPr>
          <p:cNvSpPr/>
          <p:nvPr/>
        </p:nvSpPr>
        <p:spPr>
          <a:xfrm rot="5400000">
            <a:off x="-31494" y="674412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3" grpId="0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785786" y="1357298"/>
            <a:ext cx="1421516" cy="1894789"/>
          </a:xfrm>
          <a:ln>
            <a:solidFill>
              <a:srgbClr val="FF2B2A"/>
            </a:solidFill>
          </a:ln>
        </p:spPr>
      </p:pic>
      <p:pic>
        <p:nvPicPr>
          <p:cNvPr id="9" name="Picture Placeholder 8"/>
          <p:cNvPicPr>
            <a:picLocks noGrp="1" noChangeAspect="1"/>
          </p:cNvPicPr>
          <p:nvPr>
            <p:ph type="pic" sz="quarter" idx="18"/>
          </p:nvPr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2786050" y="2786058"/>
            <a:ext cx="1421516" cy="1894789"/>
          </a:xfrm>
          <a:ln>
            <a:solidFill>
              <a:srgbClr val="85C401"/>
            </a:solidFill>
          </a:ln>
        </p:spPr>
      </p:pic>
      <p:pic>
        <p:nvPicPr>
          <p:cNvPr id="10" name="Picture Placeholder 9"/>
          <p:cNvPicPr>
            <a:picLocks noGrp="1" noChangeAspect="1"/>
          </p:cNvPicPr>
          <p:nvPr>
            <p:ph type="pic" sz="quarter" idx="21"/>
          </p:nvPr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4572000" y="1000108"/>
            <a:ext cx="1421516" cy="1894789"/>
          </a:xfrm>
          <a:ln>
            <a:solidFill>
              <a:srgbClr val="3EB8CD"/>
            </a:solidFill>
          </a:ln>
        </p:spPr>
      </p:pic>
      <p:pic>
        <p:nvPicPr>
          <p:cNvPr id="11" name="Picture Placeholder 10"/>
          <p:cNvPicPr>
            <a:picLocks noGrp="1" noChangeAspect="1"/>
          </p:cNvPicPr>
          <p:nvPr>
            <p:ph type="pic" sz="quarter" idx="24"/>
          </p:nvPr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7000892" y="2500306"/>
            <a:ext cx="1421516" cy="1894789"/>
          </a:xfrm>
          <a:ln>
            <a:solidFill>
              <a:srgbClr val="FFA80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57224" y="3500438"/>
            <a:ext cx="1500198" cy="11079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</a:rPr>
              <a:t>Répartissez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</a:rPr>
              <a:t>vous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 en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</a:rPr>
              <a:t>équipes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de 5 à 6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</a:rPr>
              <a:t>étudiants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1785918" y="1071546"/>
            <a:ext cx="686790" cy="915720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33" dirty="0">
              <a:solidFill>
                <a:schemeClr val="accent1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071802" y="4857760"/>
            <a:ext cx="1009445" cy="11079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</a:rPr>
              <a:t>Vous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</a:rPr>
              <a:t>disposez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de 15 minutes 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3" name="Oval 62"/>
          <p:cNvSpPr/>
          <p:nvPr/>
        </p:nvSpPr>
        <p:spPr>
          <a:xfrm>
            <a:off x="3357554" y="2285992"/>
            <a:ext cx="686790" cy="915720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33" dirty="0">
              <a:solidFill>
                <a:schemeClr val="accent2">
                  <a:lumMod val="50000"/>
                </a:schemeClr>
              </a:solidFill>
              <a:latin typeface="FontAwesome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500562" y="3143248"/>
            <a:ext cx="2286016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</a:rPr>
              <a:t>Lisez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le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</a:rPr>
              <a:t>texte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et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</a:rPr>
              <a:t>remplissez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la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</a:rPr>
              <a:t>trame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68" name="Oval 67"/>
          <p:cNvSpPr/>
          <p:nvPr/>
        </p:nvSpPr>
        <p:spPr>
          <a:xfrm>
            <a:off x="5643570" y="857232"/>
            <a:ext cx="686790" cy="915720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33" dirty="0">
              <a:solidFill>
                <a:schemeClr val="accent3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000892" y="4429132"/>
            <a:ext cx="1773234" cy="360098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</a:rPr>
              <a:t>Nommez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un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</a:rPr>
              <a:t>rapporteur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par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</a:rPr>
              <a:t>équipe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pour 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</a:rPr>
              <a:t>présenter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 les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</a:rPr>
              <a:t>définitions</a:t>
            </a:r>
            <a:endParaRPr lang="en-US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endParaRPr lang="en-US" sz="1600" b="1" dirty="0" smtClean="0">
              <a:solidFill>
                <a:srgbClr val="FFA803"/>
              </a:solidFill>
            </a:endParaRPr>
          </a:p>
          <a:p>
            <a:pPr algn="ctr"/>
            <a:endParaRPr lang="en-US" sz="1600" b="1" dirty="0" smtClean="0">
              <a:solidFill>
                <a:srgbClr val="FFA803"/>
              </a:solidFill>
            </a:endParaRPr>
          </a:p>
          <a:p>
            <a:pPr algn="ctr"/>
            <a:endParaRPr lang="en-US" sz="1600" b="1" dirty="0" smtClean="0">
              <a:solidFill>
                <a:srgbClr val="FFA803"/>
              </a:solidFill>
            </a:endParaRPr>
          </a:p>
          <a:p>
            <a:pPr algn="ctr"/>
            <a:endParaRPr lang="en-US" sz="1600" b="1" dirty="0" smtClean="0">
              <a:solidFill>
                <a:srgbClr val="FFA803"/>
              </a:solidFill>
            </a:endParaRPr>
          </a:p>
          <a:p>
            <a:pPr algn="ctr"/>
            <a:endParaRPr lang="en-US" sz="1600" b="1" dirty="0" smtClean="0">
              <a:solidFill>
                <a:srgbClr val="FFA803"/>
              </a:solidFill>
            </a:endParaRPr>
          </a:p>
          <a:p>
            <a:pPr algn="ctr"/>
            <a:endParaRPr lang="en-US" sz="1600" b="1" dirty="0" smtClean="0">
              <a:solidFill>
                <a:srgbClr val="FFA803"/>
              </a:solidFill>
            </a:endParaRPr>
          </a:p>
          <a:p>
            <a:pPr algn="ctr"/>
            <a:endParaRPr lang="en-US" sz="1600" b="1" dirty="0" smtClean="0">
              <a:solidFill>
                <a:srgbClr val="FFA803"/>
              </a:solidFill>
            </a:endParaRPr>
          </a:p>
          <a:p>
            <a:pPr algn="ctr"/>
            <a:endParaRPr lang="en-US" sz="1600" b="1" dirty="0" smtClean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>
            <a:off x="7786710" y="2071678"/>
            <a:ext cx="686790" cy="915720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0" rIns="0" rtlCol="0" anchor="ctr"/>
          <a:lstStyle/>
          <a:p>
            <a:pPr algn="ctr"/>
            <a:endParaRPr lang="en-US" sz="3200" dirty="0">
              <a:solidFill>
                <a:schemeClr val="accent4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28" name="TextBox 66"/>
          <p:cNvSpPr txBox="1"/>
          <p:nvPr/>
        </p:nvSpPr>
        <p:spPr>
          <a:xfrm>
            <a:off x="500034" y="214290"/>
            <a:ext cx="56435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Baskerville Old Face"/>
              </a:rPr>
              <a:t>Les </a:t>
            </a:r>
            <a:r>
              <a:rPr lang="en-US" sz="3200" b="1" dirty="0" err="1" smtClean="0">
                <a:solidFill>
                  <a:srgbClr val="FF0000"/>
                </a:solidFill>
                <a:latin typeface="Baskerville Old Face"/>
              </a:rPr>
              <a:t>régles</a:t>
            </a:r>
            <a:r>
              <a:rPr lang="en-US" sz="3200" b="1" dirty="0" smtClean="0">
                <a:solidFill>
                  <a:srgbClr val="FF0000"/>
                </a:solidFill>
                <a:latin typeface="Baskerville Old Face"/>
              </a:rPr>
              <a:t> du </a:t>
            </a:r>
            <a:r>
              <a:rPr lang="en-US" sz="3200" b="1" dirty="0" err="1" smtClean="0">
                <a:solidFill>
                  <a:srgbClr val="FF0000"/>
                </a:solidFill>
                <a:latin typeface="Baskerville Old Face"/>
              </a:rPr>
              <a:t>jeu</a:t>
            </a:r>
            <a:r>
              <a:rPr lang="en-US" sz="3200" b="1" dirty="0" smtClean="0">
                <a:solidFill>
                  <a:srgbClr val="FF0000"/>
                </a:solidFill>
                <a:latin typeface="Baskerville Old Face"/>
              </a:rPr>
              <a:t> </a:t>
            </a:r>
            <a:endParaRPr lang="en-US" sz="3200" b="1" dirty="0">
              <a:solidFill>
                <a:srgbClr val="FF0000"/>
              </a:solidFill>
              <a:latin typeface="Baskerville Old Face"/>
            </a:endParaRPr>
          </a:p>
          <a:p>
            <a:pPr algn="r"/>
            <a:endParaRPr lang="en-US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17" name="Isosceles Triangle 46">
            <a:extLst>
              <a:ext uri="{FF2B5EF4-FFF2-40B4-BE49-F238E27FC236}">
                <a16:creationId xmlns:a16="http://schemas.microsoft.com/office/drawing/2014/main" xmlns="" id="{295CE181-88D7-4815-BC0F-BC87C9322824}"/>
              </a:ext>
            </a:extLst>
          </p:cNvPr>
          <p:cNvSpPr/>
          <p:nvPr/>
        </p:nvSpPr>
        <p:spPr>
          <a:xfrm rot="5400000">
            <a:off x="-31494" y="317222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22180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60" grpId="0"/>
      <p:bldP spid="63" grpId="0" animBg="1"/>
      <p:bldP spid="65" grpId="0"/>
      <p:bldP spid="68" grpId="0" animBg="1"/>
      <p:bldP spid="70" grpId="0"/>
      <p:bldP spid="73" grpId="0" animBg="1"/>
      <p:bldP spid="28" grpId="0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512136" y="4503925"/>
            <a:ext cx="1579563" cy="2103438"/>
          </a:xfrm>
          <a:prstGeom prst="round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: Rounded Corners 17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1325233" y="4055063"/>
            <a:ext cx="342900" cy="455613"/>
          </a:xfrm>
          <a:prstGeom prst="roundRect">
            <a:avLst/>
          </a:prstGeom>
          <a:solidFill>
            <a:srgbClr val="85C40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TextBox 66"/>
          <p:cNvSpPr txBox="1">
            <a:spLocks noChangeArrowheads="1"/>
          </p:cNvSpPr>
          <p:nvPr/>
        </p:nvSpPr>
        <p:spPr bwMode="auto">
          <a:xfrm>
            <a:off x="0" y="214313"/>
            <a:ext cx="5643563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fr-FR" sz="3200" b="1" dirty="0" smtClean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endParaRPr lang="en-US" altLang="fr-FR" sz="3200" b="1" dirty="0">
              <a:solidFill>
                <a:srgbClr val="FF0000"/>
              </a:solidFill>
              <a:latin typeface="Baskerville Old Face" pitchFamily="18" charset="0"/>
            </a:endParaRPr>
          </a:p>
          <a:p>
            <a:pPr algn="r"/>
            <a:endParaRPr lang="en-US" altLang="fr-FR" dirty="0">
              <a:solidFill>
                <a:srgbClr val="56595E"/>
              </a:solidFill>
              <a:latin typeface="Candara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14375" y="1143000"/>
            <a:ext cx="7500938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fr-FR" altLang="fr-FR" sz="2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Times New Roman" pitchFamily="18" charset="0"/>
              </a:rPr>
              <a:t>Toute organisation doit se doter d’un organe  de direction. C’est la fonction  prédominante d’une entreprise.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2400" b="1" dirty="0">
              <a:solidFill>
                <a:schemeClr val="tx2">
                  <a:lumMod val="75000"/>
                </a:schemeClr>
              </a:solidFill>
              <a:latin typeface="Candara" pitchFamily="34" charset="0"/>
              <a:cs typeface="+mn-cs"/>
            </a:endParaRPr>
          </a:p>
        </p:txBody>
      </p:sp>
      <p:pic>
        <p:nvPicPr>
          <p:cNvPr id="19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23" name="ZoneTexte 15"/>
          <p:cNvSpPr txBox="1">
            <a:spLocks noChangeArrowheads="1"/>
          </p:cNvSpPr>
          <p:nvPr/>
        </p:nvSpPr>
        <p:spPr bwMode="auto">
          <a:xfrm>
            <a:off x="357158" y="428604"/>
            <a:ext cx="71437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 </a:t>
            </a:r>
            <a:r>
              <a:rPr lang="fr-FR" sz="3200" b="1" dirty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La fonction de Direction</a:t>
            </a:r>
          </a:p>
        </p:txBody>
      </p:sp>
      <p:sp>
        <p:nvSpPr>
          <p:cNvPr id="25" name="Isosceles Triangle 46">
            <a:extLst>
              <a:ext uri="{FF2B5EF4-FFF2-40B4-BE49-F238E27FC236}">
                <a16:creationId xmlns:a16="http://schemas.microsoft.com/office/drawing/2014/main" xmlns="" id="{295CE181-88D7-4815-BC0F-BC87C9322824}"/>
              </a:ext>
            </a:extLst>
          </p:cNvPr>
          <p:cNvSpPr/>
          <p:nvPr/>
        </p:nvSpPr>
        <p:spPr>
          <a:xfrm rot="5400000">
            <a:off x="-31494" y="460098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34532B92-D7C0-4F87-9B7D-BC224D4E91F4}"/>
              </a:ext>
            </a:extLst>
          </p:cNvPr>
          <p:cNvSpPr/>
          <p:nvPr/>
        </p:nvSpPr>
        <p:spPr>
          <a:xfrm>
            <a:off x="2285984" y="3000372"/>
            <a:ext cx="6429420" cy="23574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12">
            <a:extLst>
              <a:ext uri="{FF2B5EF4-FFF2-40B4-BE49-F238E27FC236}">
                <a16:creationId xmlns="" xmlns:a16="http://schemas.microsoft.com/office/drawing/2014/main" id="{4040B62E-ECDA-4DD9-A6E6-142DF26E5F8A}"/>
              </a:ext>
            </a:extLst>
          </p:cNvPr>
          <p:cNvGrpSpPr/>
          <p:nvPr/>
        </p:nvGrpSpPr>
        <p:grpSpPr>
          <a:xfrm rot="10800000">
            <a:off x="2786050" y="3571876"/>
            <a:ext cx="4325218" cy="51094"/>
            <a:chOff x="4908400" y="1972933"/>
            <a:chExt cx="6290664" cy="55734"/>
          </a:xfrm>
          <a:solidFill>
            <a:srgbClr val="A5A5A5"/>
          </a:solidFill>
        </p:grpSpPr>
        <p:cxnSp>
          <p:nvCxnSpPr>
            <p:cNvPr id="33" name="Straight Connector 13">
              <a:extLst>
                <a:ext uri="{FF2B5EF4-FFF2-40B4-BE49-F238E27FC236}">
                  <a16:creationId xmlns="" xmlns:a16="http://schemas.microsoft.com/office/drawing/2014/main" id="{FFE5C481-8A4A-461C-A776-7213F8C3AB0D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4908400" y="1996044"/>
              <a:ext cx="5884885" cy="0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 59">
              <a:extLst>
                <a:ext uri="{FF2B5EF4-FFF2-40B4-BE49-F238E27FC236}">
                  <a16:creationId xmlns="" xmlns:a16="http://schemas.microsoft.com/office/drawing/2014/main" id="{2345658E-D69D-4AFB-B26F-8E8303BF50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33304" y="1972933"/>
              <a:ext cx="365760" cy="55734"/>
            </a:xfrm>
            <a:custGeom>
              <a:avLst/>
              <a:gdLst>
                <a:gd name="connsiteX0" fmla="*/ 105727 w 1500187"/>
                <a:gd name="connsiteY0" fmla="*/ 0 h 228600"/>
                <a:gd name="connsiteX1" fmla="*/ 114300 w 1500187"/>
                <a:gd name="connsiteY1" fmla="*/ 0 h 228600"/>
                <a:gd name="connsiteX2" fmla="*/ 1385887 w 1500187"/>
                <a:gd name="connsiteY2" fmla="*/ 0 h 228600"/>
                <a:gd name="connsiteX3" fmla="*/ 1500187 w 1500187"/>
                <a:gd name="connsiteY3" fmla="*/ 114300 h 228600"/>
                <a:gd name="connsiteX4" fmla="*/ 1385887 w 1500187"/>
                <a:gd name="connsiteY4" fmla="*/ 228600 h 228600"/>
                <a:gd name="connsiteX5" fmla="*/ 114300 w 1500187"/>
                <a:gd name="connsiteY5" fmla="*/ 228600 h 228600"/>
                <a:gd name="connsiteX6" fmla="*/ 105727 w 1500187"/>
                <a:gd name="connsiteY6" fmla="*/ 228600 h 228600"/>
                <a:gd name="connsiteX7" fmla="*/ 105727 w 1500187"/>
                <a:gd name="connsiteY7" fmla="*/ 226869 h 228600"/>
                <a:gd name="connsiteX8" fmla="*/ 69809 w 1500187"/>
                <a:gd name="connsiteY8" fmla="*/ 219618 h 228600"/>
                <a:gd name="connsiteX9" fmla="*/ 0 w 1500187"/>
                <a:gd name="connsiteY9" fmla="*/ 114300 h 228600"/>
                <a:gd name="connsiteX10" fmla="*/ 69809 w 1500187"/>
                <a:gd name="connsiteY10" fmla="*/ 8982 h 228600"/>
                <a:gd name="connsiteX11" fmla="*/ 105727 w 1500187"/>
                <a:gd name="connsiteY11" fmla="*/ 1731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0187" h="228600">
                  <a:moveTo>
                    <a:pt x="105727" y="0"/>
                  </a:moveTo>
                  <a:lnTo>
                    <a:pt x="114300" y="0"/>
                  </a:lnTo>
                  <a:lnTo>
                    <a:pt x="1385887" y="0"/>
                  </a:lnTo>
                  <a:cubicBezTo>
                    <a:pt x="1449013" y="0"/>
                    <a:pt x="1500187" y="51174"/>
                    <a:pt x="1500187" y="114300"/>
                  </a:cubicBezTo>
                  <a:cubicBezTo>
                    <a:pt x="1500187" y="177426"/>
                    <a:pt x="1449013" y="228600"/>
                    <a:pt x="1385887" y="228600"/>
                  </a:cubicBezTo>
                  <a:lnTo>
                    <a:pt x="114300" y="228600"/>
                  </a:lnTo>
                  <a:lnTo>
                    <a:pt x="105727" y="228600"/>
                  </a:lnTo>
                  <a:lnTo>
                    <a:pt x="105727" y="226869"/>
                  </a:lnTo>
                  <a:lnTo>
                    <a:pt x="69809" y="219618"/>
                  </a:lnTo>
                  <a:cubicBezTo>
                    <a:pt x="28785" y="202266"/>
                    <a:pt x="0" y="161645"/>
                    <a:pt x="0" y="114300"/>
                  </a:cubicBezTo>
                  <a:cubicBezTo>
                    <a:pt x="0" y="66956"/>
                    <a:pt x="28785" y="26334"/>
                    <a:pt x="69809" y="8982"/>
                  </a:cubicBezTo>
                  <a:lnTo>
                    <a:pt x="105727" y="173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35" name="Text Box 10">
            <a:extLst>
              <a:ext uri="{FF2B5EF4-FFF2-40B4-BE49-F238E27FC236}">
                <a16:creationId xmlns="" xmlns:a16="http://schemas.microsoft.com/office/drawing/2014/main" id="{521EF548-6C24-45D5-87CC-CD0C61059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36" y="3857628"/>
            <a:ext cx="6286512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/>
          <a:p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Quel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est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le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rôle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de la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fonction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Direction ?   </a:t>
            </a:r>
            <a:endParaRPr lang="en-US" sz="1600" b="1" dirty="0" smtClean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r>
              <a:rPr lang="en-US" sz="16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endParaRPr lang="en-US" sz="1600" b="1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21" grpId="0"/>
      <p:bldP spid="25" grpId="0" animBg="1"/>
      <p:bldP spid="31" grpId="0" animBg="1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Résultat de recherche d'images pour &quot;important clipart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357298"/>
            <a:ext cx="862038" cy="923920"/>
          </a:xfrm>
          <a:prstGeom prst="rect">
            <a:avLst/>
          </a:prstGeom>
          <a:noFill/>
        </p:spPr>
      </p:pic>
      <p:sp>
        <p:nvSpPr>
          <p:cNvPr id="3" name="Rectangle à coins arrondis 2"/>
          <p:cNvSpPr/>
          <p:nvPr/>
        </p:nvSpPr>
        <p:spPr>
          <a:xfrm>
            <a:off x="857224" y="4357694"/>
            <a:ext cx="6215106" cy="1500198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2400" dirty="0" smtClean="0"/>
              <a:t> </a:t>
            </a:r>
            <a:r>
              <a:rPr lang="fr-FR" sz="2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Elle définit les choix stratégiques de l’entreprise : Les grandes orientations  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1500166" y="2000240"/>
            <a:ext cx="6429420" cy="16764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2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Le pouvoir des décisions est centré au niveau du top management : Décisions stratégiques  : Finalité –But – Objectifs </a:t>
            </a:r>
          </a:p>
          <a:p>
            <a:pPr marL="0" lvl="1" algn="ctr"/>
            <a:endParaRPr lang="fr-FR" sz="2400" b="1" dirty="0" smtClean="0">
              <a:solidFill>
                <a:srgbClr val="FF0000"/>
              </a:solidFill>
              <a:latin typeface="Candara" pitchFamily="34" charset="0"/>
            </a:endParaRPr>
          </a:p>
        </p:txBody>
      </p:sp>
      <p:pic>
        <p:nvPicPr>
          <p:cNvPr id="7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8" name="ZoneTexte 15"/>
          <p:cNvSpPr txBox="1">
            <a:spLocks noChangeArrowheads="1"/>
          </p:cNvSpPr>
          <p:nvPr/>
        </p:nvSpPr>
        <p:spPr bwMode="auto">
          <a:xfrm>
            <a:off x="357158" y="428604"/>
            <a:ext cx="71437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 Rôle de la </a:t>
            </a:r>
            <a:r>
              <a:rPr lang="fr-FR" sz="3200" b="1" dirty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fonction de Direction</a:t>
            </a:r>
          </a:p>
        </p:txBody>
      </p:sp>
      <p:sp>
        <p:nvSpPr>
          <p:cNvPr id="10" name="Isosceles Triangle 46">
            <a:extLst>
              <a:ext uri="{FF2B5EF4-FFF2-40B4-BE49-F238E27FC236}">
                <a16:creationId xmlns:a16="http://schemas.microsoft.com/office/drawing/2014/main" xmlns="" id="{295CE181-88D7-4815-BC0F-BC87C9322824}"/>
              </a:ext>
            </a:extLst>
          </p:cNvPr>
          <p:cNvSpPr/>
          <p:nvPr/>
        </p:nvSpPr>
        <p:spPr>
          <a:xfrm rot="5400000">
            <a:off x="-31494" y="460098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685800" y="457200"/>
            <a:ext cx="7848600" cy="5334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  <a:scene3d>
            <a:camera prst="perspectiveRelaxedModerately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3600" dirty="0"/>
              <a:t>Les </a:t>
            </a:r>
            <a:r>
              <a:rPr lang="fr-FR" sz="3600" dirty="0" smtClean="0"/>
              <a:t>tâches </a:t>
            </a:r>
            <a:r>
              <a:rPr lang="fr-FR" sz="3600" dirty="0"/>
              <a:t>de la fonction direction </a:t>
            </a:r>
          </a:p>
        </p:txBody>
      </p:sp>
      <p:grpSp>
        <p:nvGrpSpPr>
          <p:cNvPr id="2" name="Diagram group"/>
          <p:cNvGrpSpPr/>
          <p:nvPr/>
        </p:nvGrpSpPr>
        <p:grpSpPr>
          <a:xfrm>
            <a:off x="2895600" y="2743200"/>
            <a:ext cx="3429000" cy="2027783"/>
            <a:chOff x="301097" y="301097"/>
            <a:chExt cx="1767840" cy="2408783"/>
          </a:xfrm>
          <a:scene3d>
            <a:camera prst="perspectiveRelaxedModerately" zoom="82000"/>
            <a:lightRig rig="morning" dir="t">
              <a:rot lat="0" lon="0" rev="20400000"/>
            </a:lightRig>
          </a:scene3d>
        </p:grpSpPr>
        <p:sp>
          <p:nvSpPr>
            <p:cNvPr id="6" name="Rectangle à coins arrondis 5"/>
            <p:cNvSpPr/>
            <p:nvPr/>
          </p:nvSpPr>
          <p:spPr>
            <a:xfrm>
              <a:off x="301097" y="301097"/>
              <a:ext cx="1767840" cy="2408783"/>
            </a:xfrm>
            <a:prstGeom prst="roundRect">
              <a:avLst>
                <a:gd name="adj" fmla="val 10000"/>
              </a:avLst>
            </a:prstGeom>
            <a:blipFill rotWithShape="0">
              <a:blip r:embed="rId2" cstate="print"/>
              <a:stretch>
                <a:fillRect/>
              </a:stretch>
            </a:blipFill>
            <a:sp3d z="152400" extrusionH="63500" prstMaterial="matte">
              <a:bevelT w="50800" h="19050" prst="softRound"/>
              <a:contourClr>
                <a:schemeClr val="bg1"/>
              </a:contourClr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9" name="Ellipse 8"/>
          <p:cNvSpPr/>
          <p:nvPr/>
        </p:nvSpPr>
        <p:spPr>
          <a:xfrm>
            <a:off x="5638800" y="4572000"/>
            <a:ext cx="1981200" cy="1371600"/>
          </a:xfrm>
          <a:prstGeom prst="ellipse">
            <a:avLst/>
          </a:prstGeom>
          <a:scene3d>
            <a:camera prst="perspectiveRelaxedModerately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/>
              <a:t>Commander  </a:t>
            </a:r>
          </a:p>
        </p:txBody>
      </p:sp>
      <p:sp>
        <p:nvSpPr>
          <p:cNvPr id="10" name="Ellipse 9"/>
          <p:cNvSpPr/>
          <p:nvPr/>
        </p:nvSpPr>
        <p:spPr>
          <a:xfrm>
            <a:off x="2209800" y="4648200"/>
            <a:ext cx="1981200" cy="1371600"/>
          </a:xfrm>
          <a:prstGeom prst="ellipse">
            <a:avLst/>
          </a:prstGeom>
          <a:scene3d>
            <a:camera prst="perspectiveRelaxedModerately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/>
              <a:t>Coordonner   </a:t>
            </a:r>
          </a:p>
        </p:txBody>
      </p:sp>
      <p:sp>
        <p:nvSpPr>
          <p:cNvPr id="11" name="Ellipse 10"/>
          <p:cNvSpPr/>
          <p:nvPr/>
        </p:nvSpPr>
        <p:spPr>
          <a:xfrm>
            <a:off x="457200" y="2438400"/>
            <a:ext cx="1981200" cy="1371600"/>
          </a:xfrm>
          <a:prstGeom prst="ellipse">
            <a:avLst/>
          </a:prstGeom>
          <a:scene3d>
            <a:camera prst="perspectiveRelaxedModerately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b="1" dirty="0"/>
              <a:t>Contrôler   </a:t>
            </a:r>
          </a:p>
        </p:txBody>
      </p:sp>
      <p:sp>
        <p:nvSpPr>
          <p:cNvPr id="12" name="Ellipse 11"/>
          <p:cNvSpPr/>
          <p:nvPr/>
        </p:nvSpPr>
        <p:spPr>
          <a:xfrm>
            <a:off x="3657600" y="1143000"/>
            <a:ext cx="1981200" cy="1371600"/>
          </a:xfrm>
          <a:prstGeom prst="ellipse">
            <a:avLst/>
          </a:prstGeom>
          <a:scene3d>
            <a:camera prst="perspectiveRelaxedModerately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Prévoir   </a:t>
            </a:r>
          </a:p>
        </p:txBody>
      </p:sp>
      <p:sp>
        <p:nvSpPr>
          <p:cNvPr id="13" name="Ellipse 12"/>
          <p:cNvSpPr/>
          <p:nvPr/>
        </p:nvSpPr>
        <p:spPr>
          <a:xfrm>
            <a:off x="6781800" y="2057400"/>
            <a:ext cx="1981200" cy="1371600"/>
          </a:xfrm>
          <a:prstGeom prst="ellipse">
            <a:avLst/>
          </a:prstGeom>
          <a:scene3d>
            <a:camera prst="perspectiveRelaxedModerately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Organiser    </a:t>
            </a:r>
          </a:p>
        </p:txBody>
      </p:sp>
      <p:sp>
        <p:nvSpPr>
          <p:cNvPr id="14" name="ZoneTexte 13"/>
          <p:cNvSpPr txBox="1">
            <a:spLocks noChangeArrowheads="1"/>
          </p:cNvSpPr>
          <p:nvPr/>
        </p:nvSpPr>
        <p:spPr bwMode="auto">
          <a:xfrm>
            <a:off x="5715000" y="1524000"/>
            <a:ext cx="34290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dirty="0">
                <a:latin typeface="Calibri" pitchFamily="34" charset="0"/>
              </a:rPr>
              <a:t>Essayer de planifier l’avenir </a:t>
            </a:r>
            <a:r>
              <a:rPr lang="fr-FR" altLang="fr-FR" dirty="0" smtClean="0">
                <a:latin typeface="Calibri" pitchFamily="34" charset="0"/>
              </a:rPr>
              <a:t>: Prendre en compte les évolutions probables de l’environnement  </a:t>
            </a:r>
            <a:endParaRPr lang="fr-FR" altLang="fr-FR" dirty="0">
              <a:latin typeface="Calibri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6000760" y="3357562"/>
            <a:ext cx="5867400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pc="-10" dirty="0" smtClean="0">
                <a:latin typeface="Trebuchet MS"/>
                <a:cs typeface="Trebuchet MS"/>
              </a:rPr>
              <a:t>Mettre en place les moyens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pc="-10" dirty="0" smtClean="0">
                <a:latin typeface="Trebuchet MS"/>
                <a:cs typeface="Trebuchet MS"/>
              </a:rPr>
              <a:t>(Ressources )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pc="-10" dirty="0" smtClean="0">
                <a:latin typeface="Trebuchet MS"/>
                <a:cs typeface="Trebuchet MS"/>
              </a:rPr>
              <a:t>Afin d’atteindre les objectifs </a:t>
            </a:r>
            <a:endParaRPr lang="fr-FR" spc="-5" dirty="0">
              <a:latin typeface="Trebuchet MS"/>
              <a:cs typeface="Trebuchet MS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334000" y="5867400"/>
            <a:ext cx="3810000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pc="-10" dirty="0">
                <a:latin typeface="Trebuchet MS"/>
                <a:cs typeface="Trebuchet MS"/>
              </a:rPr>
              <a:t>Indiquer </a:t>
            </a:r>
            <a:r>
              <a:rPr lang="fr-FR" spc="-5" dirty="0">
                <a:latin typeface="Trebuchet MS"/>
                <a:cs typeface="Trebuchet MS"/>
              </a:rPr>
              <a:t>à ces différentes fonctions  les </a:t>
            </a:r>
            <a:r>
              <a:rPr lang="fr-FR" spc="-10" dirty="0">
                <a:latin typeface="Trebuchet MS"/>
                <a:cs typeface="Trebuchet MS"/>
              </a:rPr>
              <a:t>tâches </a:t>
            </a:r>
            <a:r>
              <a:rPr lang="fr-FR" spc="-5" dirty="0">
                <a:latin typeface="Trebuchet MS"/>
                <a:cs typeface="Trebuchet MS"/>
              </a:rPr>
              <a:t>à</a:t>
            </a:r>
            <a:r>
              <a:rPr lang="fr-FR" spc="30" dirty="0">
                <a:latin typeface="Trebuchet MS"/>
                <a:cs typeface="Trebuchet MS"/>
              </a:rPr>
              <a:t> </a:t>
            </a:r>
            <a:r>
              <a:rPr lang="fr-FR" spc="-5" dirty="0" smtClean="0">
                <a:latin typeface="Trebuchet MS"/>
                <a:cs typeface="Trebuchet MS"/>
              </a:rPr>
              <a:t>accomplir en vue de la réalisation des objectifs</a:t>
            </a:r>
            <a:endParaRPr lang="fr-FR" dirty="0">
              <a:latin typeface="+mn-lt"/>
              <a:cs typeface="+mn-cs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285720" y="5934670"/>
            <a:ext cx="4038600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pc="-5" dirty="0" smtClean="0">
                <a:latin typeface="Trebuchet MS"/>
              </a:rPr>
              <a:t>Harmoniser les actions des divers fonctions /employés pour les faire converger vers le même but </a:t>
            </a:r>
            <a:endParaRPr lang="fr-FR" dirty="0">
              <a:latin typeface="+mn-lt"/>
              <a:cs typeface="+mn-cs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0" y="3733800"/>
            <a:ext cx="28194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5600" indent="-342900">
              <a:buClr>
                <a:srgbClr val="CC9900"/>
              </a:buClr>
              <a:buSzPct val="64000"/>
              <a:tabLst>
                <a:tab pos="355600" algn="l"/>
              </a:tabLst>
            </a:pPr>
            <a:r>
              <a:rPr lang="fr-FR" altLang="fr-FR" dirty="0" smtClean="0">
                <a:latin typeface="Trebuchet MS" pitchFamily="34" charset="0"/>
              </a:rPr>
              <a:t>S’assurer que le travail effectué permet d’atteindre les objectifs –Prendre les actions correctives  </a:t>
            </a:r>
            <a:endParaRPr lang="fr-FR" altLang="fr-FR" dirty="0">
              <a:latin typeface="Trebuchet MS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512136" y="4179703"/>
            <a:ext cx="1579563" cy="2103438"/>
          </a:xfrm>
          <a:prstGeom prst="round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: Rounded Corners 17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1325234" y="3769310"/>
            <a:ext cx="342900" cy="455613"/>
          </a:xfrm>
          <a:prstGeom prst="roundRect">
            <a:avLst/>
          </a:prstGeom>
          <a:solidFill>
            <a:srgbClr val="85C40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TextBox 66"/>
          <p:cNvSpPr txBox="1">
            <a:spLocks noChangeArrowheads="1"/>
          </p:cNvSpPr>
          <p:nvPr/>
        </p:nvSpPr>
        <p:spPr bwMode="auto">
          <a:xfrm>
            <a:off x="0" y="214313"/>
            <a:ext cx="5643563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fr-FR" sz="3200" b="1" dirty="0" smtClean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endParaRPr lang="en-US" altLang="fr-FR" sz="3200" b="1" dirty="0">
              <a:solidFill>
                <a:srgbClr val="FF0000"/>
              </a:solidFill>
              <a:latin typeface="Baskerville Old Face" pitchFamily="18" charset="0"/>
            </a:endParaRPr>
          </a:p>
          <a:p>
            <a:pPr algn="r"/>
            <a:endParaRPr lang="en-US" altLang="fr-FR" dirty="0">
              <a:solidFill>
                <a:srgbClr val="56595E"/>
              </a:solidFill>
              <a:latin typeface="Candara" pitchFamily="34" charset="0"/>
            </a:endParaRPr>
          </a:p>
        </p:txBody>
      </p:sp>
      <p:pic>
        <p:nvPicPr>
          <p:cNvPr id="19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23" name="ZoneTexte 15"/>
          <p:cNvSpPr txBox="1">
            <a:spLocks noChangeArrowheads="1"/>
          </p:cNvSpPr>
          <p:nvPr/>
        </p:nvSpPr>
        <p:spPr bwMode="auto">
          <a:xfrm>
            <a:off x="357158" y="428604"/>
            <a:ext cx="71437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 </a:t>
            </a:r>
            <a:r>
              <a:rPr lang="fr-FR" sz="3200" b="1" dirty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La fonction </a:t>
            </a:r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financière </a:t>
            </a:r>
            <a:endParaRPr lang="fr-FR" sz="3200" b="1" dirty="0">
              <a:solidFill>
                <a:srgbClr val="FF0000"/>
              </a:solidFill>
              <a:latin typeface="Trebuchet MS" pitchFamily="34" charset="0"/>
              <a:cs typeface="Times New Roman" pitchFamily="18" charset="0"/>
            </a:endParaRPr>
          </a:p>
        </p:txBody>
      </p:sp>
      <p:sp>
        <p:nvSpPr>
          <p:cNvPr id="25" name="Isosceles Triangle 46">
            <a:extLst>
              <a:ext uri="{FF2B5EF4-FFF2-40B4-BE49-F238E27FC236}">
                <a16:creationId xmlns:a16="http://schemas.microsoft.com/office/drawing/2014/main" xmlns="" id="{295CE181-88D7-4815-BC0F-BC87C9322824}"/>
              </a:ext>
            </a:extLst>
          </p:cNvPr>
          <p:cNvSpPr/>
          <p:nvPr/>
        </p:nvSpPr>
        <p:spPr>
          <a:xfrm rot="5400000">
            <a:off x="-31494" y="460098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34532B92-D7C0-4F87-9B7D-BC224D4E91F4}"/>
              </a:ext>
            </a:extLst>
          </p:cNvPr>
          <p:cNvSpPr/>
          <p:nvPr/>
        </p:nvSpPr>
        <p:spPr>
          <a:xfrm>
            <a:off x="2214546" y="2285992"/>
            <a:ext cx="6429420" cy="23574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12">
            <a:extLst>
              <a:ext uri="{FF2B5EF4-FFF2-40B4-BE49-F238E27FC236}">
                <a16:creationId xmlns="" xmlns:a16="http://schemas.microsoft.com/office/drawing/2014/main" id="{4040B62E-ECDA-4DD9-A6E6-142DF26E5F8A}"/>
              </a:ext>
            </a:extLst>
          </p:cNvPr>
          <p:cNvGrpSpPr/>
          <p:nvPr/>
        </p:nvGrpSpPr>
        <p:grpSpPr>
          <a:xfrm rot="10800000">
            <a:off x="2643174" y="2714620"/>
            <a:ext cx="4325218" cy="51094"/>
            <a:chOff x="4908400" y="1972933"/>
            <a:chExt cx="6290664" cy="55734"/>
          </a:xfrm>
          <a:solidFill>
            <a:srgbClr val="A5A5A5"/>
          </a:solidFill>
        </p:grpSpPr>
        <p:cxnSp>
          <p:nvCxnSpPr>
            <p:cNvPr id="33" name="Straight Connector 13">
              <a:extLst>
                <a:ext uri="{FF2B5EF4-FFF2-40B4-BE49-F238E27FC236}">
                  <a16:creationId xmlns="" xmlns:a16="http://schemas.microsoft.com/office/drawing/2014/main" id="{FFE5C481-8A4A-461C-A776-7213F8C3AB0D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4908400" y="1996044"/>
              <a:ext cx="5884885" cy="0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 59">
              <a:extLst>
                <a:ext uri="{FF2B5EF4-FFF2-40B4-BE49-F238E27FC236}">
                  <a16:creationId xmlns="" xmlns:a16="http://schemas.microsoft.com/office/drawing/2014/main" id="{2345658E-D69D-4AFB-B26F-8E8303BF50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33304" y="1972933"/>
              <a:ext cx="365760" cy="55734"/>
            </a:xfrm>
            <a:custGeom>
              <a:avLst/>
              <a:gdLst>
                <a:gd name="connsiteX0" fmla="*/ 105727 w 1500187"/>
                <a:gd name="connsiteY0" fmla="*/ 0 h 228600"/>
                <a:gd name="connsiteX1" fmla="*/ 114300 w 1500187"/>
                <a:gd name="connsiteY1" fmla="*/ 0 h 228600"/>
                <a:gd name="connsiteX2" fmla="*/ 1385887 w 1500187"/>
                <a:gd name="connsiteY2" fmla="*/ 0 h 228600"/>
                <a:gd name="connsiteX3" fmla="*/ 1500187 w 1500187"/>
                <a:gd name="connsiteY3" fmla="*/ 114300 h 228600"/>
                <a:gd name="connsiteX4" fmla="*/ 1385887 w 1500187"/>
                <a:gd name="connsiteY4" fmla="*/ 228600 h 228600"/>
                <a:gd name="connsiteX5" fmla="*/ 114300 w 1500187"/>
                <a:gd name="connsiteY5" fmla="*/ 228600 h 228600"/>
                <a:gd name="connsiteX6" fmla="*/ 105727 w 1500187"/>
                <a:gd name="connsiteY6" fmla="*/ 228600 h 228600"/>
                <a:gd name="connsiteX7" fmla="*/ 105727 w 1500187"/>
                <a:gd name="connsiteY7" fmla="*/ 226869 h 228600"/>
                <a:gd name="connsiteX8" fmla="*/ 69809 w 1500187"/>
                <a:gd name="connsiteY8" fmla="*/ 219618 h 228600"/>
                <a:gd name="connsiteX9" fmla="*/ 0 w 1500187"/>
                <a:gd name="connsiteY9" fmla="*/ 114300 h 228600"/>
                <a:gd name="connsiteX10" fmla="*/ 69809 w 1500187"/>
                <a:gd name="connsiteY10" fmla="*/ 8982 h 228600"/>
                <a:gd name="connsiteX11" fmla="*/ 105727 w 1500187"/>
                <a:gd name="connsiteY11" fmla="*/ 1731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0187" h="228600">
                  <a:moveTo>
                    <a:pt x="105727" y="0"/>
                  </a:moveTo>
                  <a:lnTo>
                    <a:pt x="114300" y="0"/>
                  </a:lnTo>
                  <a:lnTo>
                    <a:pt x="1385887" y="0"/>
                  </a:lnTo>
                  <a:cubicBezTo>
                    <a:pt x="1449013" y="0"/>
                    <a:pt x="1500187" y="51174"/>
                    <a:pt x="1500187" y="114300"/>
                  </a:cubicBezTo>
                  <a:cubicBezTo>
                    <a:pt x="1500187" y="177426"/>
                    <a:pt x="1449013" y="228600"/>
                    <a:pt x="1385887" y="228600"/>
                  </a:cubicBezTo>
                  <a:lnTo>
                    <a:pt x="114300" y="228600"/>
                  </a:lnTo>
                  <a:lnTo>
                    <a:pt x="105727" y="228600"/>
                  </a:lnTo>
                  <a:lnTo>
                    <a:pt x="105727" y="226869"/>
                  </a:lnTo>
                  <a:lnTo>
                    <a:pt x="69809" y="219618"/>
                  </a:lnTo>
                  <a:cubicBezTo>
                    <a:pt x="28785" y="202266"/>
                    <a:pt x="0" y="161645"/>
                    <a:pt x="0" y="114300"/>
                  </a:cubicBezTo>
                  <a:cubicBezTo>
                    <a:pt x="0" y="66956"/>
                    <a:pt x="28785" y="26334"/>
                    <a:pt x="69809" y="8982"/>
                  </a:cubicBezTo>
                  <a:lnTo>
                    <a:pt x="105727" y="173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35" name="Text Box 10">
            <a:extLst>
              <a:ext uri="{FF2B5EF4-FFF2-40B4-BE49-F238E27FC236}">
                <a16:creationId xmlns="" xmlns:a16="http://schemas.microsoft.com/office/drawing/2014/main" id="{521EF548-6C24-45D5-87CC-CD0C61059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7422" y="3071810"/>
            <a:ext cx="6286512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/>
          <a:p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Quel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est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le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rôle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de la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fonction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Financière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?   </a:t>
            </a:r>
            <a:endParaRPr lang="en-US" sz="1600" b="1" dirty="0" smtClean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r>
              <a:rPr lang="en-US" sz="16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endParaRPr lang="en-US" sz="1600" b="1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21" grpId="0"/>
      <p:bldP spid="25" grpId="0" animBg="1"/>
      <p:bldP spid="31" grpId="0" animBg="1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Résultat de recherche d'images pour &quot;important clipart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357298"/>
            <a:ext cx="862038" cy="923920"/>
          </a:xfrm>
          <a:prstGeom prst="rect">
            <a:avLst/>
          </a:prstGeom>
          <a:noFill/>
        </p:spPr>
      </p:pic>
      <p:sp>
        <p:nvSpPr>
          <p:cNvPr id="3" name="Rectangle à coins arrondis 2"/>
          <p:cNvSpPr/>
          <p:nvPr/>
        </p:nvSpPr>
        <p:spPr>
          <a:xfrm>
            <a:off x="857224" y="4357694"/>
            <a:ext cx="6858048" cy="1500198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2400" dirty="0" smtClean="0"/>
              <a:t> </a:t>
            </a:r>
            <a:r>
              <a:rPr lang="fr-FR" sz="2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Elle permet d’ assurer le financement des activités  et donne à l’entreprise les moyens de se développer.</a:t>
            </a:r>
          </a:p>
          <a:p>
            <a:pPr algn="just"/>
            <a:endParaRPr lang="fr-FR" sz="2400" b="1" dirty="0" smtClean="0">
              <a:solidFill>
                <a:schemeClr val="tx2">
                  <a:lumMod val="75000"/>
                </a:schemeClr>
              </a:solidFill>
              <a:latin typeface="Candara" pitchFamily="34" charset="0"/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1500166" y="1643050"/>
            <a:ext cx="7000924" cy="1928826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fr-FR" sz="2400" b="1" dirty="0" smtClean="0">
              <a:solidFill>
                <a:schemeClr val="tx2">
                  <a:lumMod val="75000"/>
                </a:schemeClr>
              </a:solidFill>
              <a:latin typeface="Candara" pitchFamily="34" charset="0"/>
            </a:endParaRPr>
          </a:p>
          <a:p>
            <a:pPr algn="just"/>
            <a:r>
              <a:rPr lang="fr-FR" sz="2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Elle informe les décideurs de la situation financière de l’entreprise (rentabilité, solvabilité , liquidité).  </a:t>
            </a:r>
          </a:p>
          <a:p>
            <a:pPr algn="just"/>
            <a:endParaRPr lang="fr-FR" sz="2400" b="1" dirty="0" smtClean="0">
              <a:solidFill>
                <a:schemeClr val="tx2">
                  <a:lumMod val="75000"/>
                </a:schemeClr>
              </a:solidFill>
              <a:latin typeface="Candara" pitchFamily="34" charset="0"/>
            </a:endParaRPr>
          </a:p>
          <a:p>
            <a:pPr marL="0" lvl="1" algn="ctr"/>
            <a:endParaRPr lang="fr-FR" sz="2400" b="1" dirty="0" smtClean="0">
              <a:solidFill>
                <a:srgbClr val="FF0000"/>
              </a:solidFill>
              <a:latin typeface="Candara" pitchFamily="34" charset="0"/>
            </a:endParaRPr>
          </a:p>
        </p:txBody>
      </p:sp>
      <p:pic>
        <p:nvPicPr>
          <p:cNvPr id="7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8" name="ZoneTexte 15"/>
          <p:cNvSpPr txBox="1">
            <a:spLocks noChangeArrowheads="1"/>
          </p:cNvSpPr>
          <p:nvPr/>
        </p:nvSpPr>
        <p:spPr bwMode="auto">
          <a:xfrm>
            <a:off x="357158" y="428604"/>
            <a:ext cx="71437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 Rôle de la </a:t>
            </a:r>
            <a:r>
              <a:rPr lang="fr-FR" sz="3200" b="1" dirty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fonction </a:t>
            </a:r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financière </a:t>
            </a:r>
            <a:endParaRPr lang="fr-FR" sz="3200" b="1" dirty="0">
              <a:solidFill>
                <a:srgbClr val="FF0000"/>
              </a:solidFill>
              <a:latin typeface="Trebuchet MS" pitchFamily="34" charset="0"/>
              <a:cs typeface="Times New Roman" pitchFamily="18" charset="0"/>
            </a:endParaRPr>
          </a:p>
        </p:txBody>
      </p:sp>
      <p:sp>
        <p:nvSpPr>
          <p:cNvPr id="10" name="Isosceles Triangle 46">
            <a:extLst>
              <a:ext uri="{FF2B5EF4-FFF2-40B4-BE49-F238E27FC236}">
                <a16:creationId xmlns:a16="http://schemas.microsoft.com/office/drawing/2014/main" xmlns="" id="{295CE181-88D7-4815-BC0F-BC87C9322824}"/>
              </a:ext>
            </a:extLst>
          </p:cNvPr>
          <p:cNvSpPr/>
          <p:nvPr/>
        </p:nvSpPr>
        <p:spPr>
          <a:xfrm rot="5400000">
            <a:off x="-31494" y="460098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512136" y="4179703"/>
            <a:ext cx="1579563" cy="2103438"/>
          </a:xfrm>
          <a:prstGeom prst="round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: Rounded Corners 17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1325234" y="3769310"/>
            <a:ext cx="342900" cy="455613"/>
          </a:xfrm>
          <a:prstGeom prst="roundRect">
            <a:avLst/>
          </a:prstGeom>
          <a:solidFill>
            <a:srgbClr val="85C40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TextBox 66"/>
          <p:cNvSpPr txBox="1">
            <a:spLocks noChangeArrowheads="1"/>
          </p:cNvSpPr>
          <p:nvPr/>
        </p:nvSpPr>
        <p:spPr bwMode="auto">
          <a:xfrm>
            <a:off x="0" y="214313"/>
            <a:ext cx="5643563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fr-FR" sz="3200" b="1" dirty="0" smtClean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endParaRPr lang="en-US" altLang="fr-FR" sz="3200" b="1" dirty="0">
              <a:solidFill>
                <a:srgbClr val="FF0000"/>
              </a:solidFill>
              <a:latin typeface="Baskerville Old Face" pitchFamily="18" charset="0"/>
            </a:endParaRPr>
          </a:p>
          <a:p>
            <a:pPr algn="r"/>
            <a:endParaRPr lang="en-US" altLang="fr-FR" dirty="0">
              <a:solidFill>
                <a:srgbClr val="56595E"/>
              </a:solidFill>
              <a:latin typeface="Candara" pitchFamily="34" charset="0"/>
            </a:endParaRPr>
          </a:p>
        </p:txBody>
      </p:sp>
      <p:pic>
        <p:nvPicPr>
          <p:cNvPr id="19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23" name="ZoneTexte 15"/>
          <p:cNvSpPr txBox="1">
            <a:spLocks noChangeArrowheads="1"/>
          </p:cNvSpPr>
          <p:nvPr/>
        </p:nvSpPr>
        <p:spPr bwMode="auto">
          <a:xfrm>
            <a:off x="357158" y="428604"/>
            <a:ext cx="71437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 </a:t>
            </a:r>
            <a:r>
              <a:rPr lang="fr-FR" sz="3200" b="1" dirty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La fonction </a:t>
            </a:r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Production </a:t>
            </a:r>
            <a:endParaRPr lang="fr-FR" sz="3200" b="1" dirty="0">
              <a:solidFill>
                <a:srgbClr val="FF0000"/>
              </a:solidFill>
              <a:latin typeface="Trebuchet MS" pitchFamily="34" charset="0"/>
              <a:cs typeface="Times New Roman" pitchFamily="18" charset="0"/>
            </a:endParaRPr>
          </a:p>
        </p:txBody>
      </p:sp>
      <p:sp>
        <p:nvSpPr>
          <p:cNvPr id="25" name="Isosceles Triangle 46">
            <a:extLst>
              <a:ext uri="{FF2B5EF4-FFF2-40B4-BE49-F238E27FC236}">
                <a16:creationId xmlns:a16="http://schemas.microsoft.com/office/drawing/2014/main" xmlns="" id="{295CE181-88D7-4815-BC0F-BC87C9322824}"/>
              </a:ext>
            </a:extLst>
          </p:cNvPr>
          <p:cNvSpPr/>
          <p:nvPr/>
        </p:nvSpPr>
        <p:spPr>
          <a:xfrm rot="5400000">
            <a:off x="-31494" y="460098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34532B92-D7C0-4F87-9B7D-BC224D4E91F4}"/>
              </a:ext>
            </a:extLst>
          </p:cNvPr>
          <p:cNvSpPr/>
          <p:nvPr/>
        </p:nvSpPr>
        <p:spPr>
          <a:xfrm>
            <a:off x="2214546" y="2285992"/>
            <a:ext cx="6429420" cy="23574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12">
            <a:extLst>
              <a:ext uri="{FF2B5EF4-FFF2-40B4-BE49-F238E27FC236}">
                <a16:creationId xmlns="" xmlns:a16="http://schemas.microsoft.com/office/drawing/2014/main" id="{4040B62E-ECDA-4DD9-A6E6-142DF26E5F8A}"/>
              </a:ext>
            </a:extLst>
          </p:cNvPr>
          <p:cNvGrpSpPr/>
          <p:nvPr/>
        </p:nvGrpSpPr>
        <p:grpSpPr>
          <a:xfrm rot="10800000">
            <a:off x="2643174" y="2714620"/>
            <a:ext cx="4325218" cy="51094"/>
            <a:chOff x="4908400" y="1972933"/>
            <a:chExt cx="6290664" cy="55734"/>
          </a:xfrm>
          <a:solidFill>
            <a:srgbClr val="A5A5A5"/>
          </a:solidFill>
        </p:grpSpPr>
        <p:cxnSp>
          <p:nvCxnSpPr>
            <p:cNvPr id="33" name="Straight Connector 13">
              <a:extLst>
                <a:ext uri="{FF2B5EF4-FFF2-40B4-BE49-F238E27FC236}">
                  <a16:creationId xmlns="" xmlns:a16="http://schemas.microsoft.com/office/drawing/2014/main" id="{FFE5C481-8A4A-461C-A776-7213F8C3AB0D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4908400" y="1996044"/>
              <a:ext cx="5884885" cy="0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 59">
              <a:extLst>
                <a:ext uri="{FF2B5EF4-FFF2-40B4-BE49-F238E27FC236}">
                  <a16:creationId xmlns="" xmlns:a16="http://schemas.microsoft.com/office/drawing/2014/main" id="{2345658E-D69D-4AFB-B26F-8E8303BF50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33304" y="1972933"/>
              <a:ext cx="365760" cy="55734"/>
            </a:xfrm>
            <a:custGeom>
              <a:avLst/>
              <a:gdLst>
                <a:gd name="connsiteX0" fmla="*/ 105727 w 1500187"/>
                <a:gd name="connsiteY0" fmla="*/ 0 h 228600"/>
                <a:gd name="connsiteX1" fmla="*/ 114300 w 1500187"/>
                <a:gd name="connsiteY1" fmla="*/ 0 h 228600"/>
                <a:gd name="connsiteX2" fmla="*/ 1385887 w 1500187"/>
                <a:gd name="connsiteY2" fmla="*/ 0 h 228600"/>
                <a:gd name="connsiteX3" fmla="*/ 1500187 w 1500187"/>
                <a:gd name="connsiteY3" fmla="*/ 114300 h 228600"/>
                <a:gd name="connsiteX4" fmla="*/ 1385887 w 1500187"/>
                <a:gd name="connsiteY4" fmla="*/ 228600 h 228600"/>
                <a:gd name="connsiteX5" fmla="*/ 114300 w 1500187"/>
                <a:gd name="connsiteY5" fmla="*/ 228600 h 228600"/>
                <a:gd name="connsiteX6" fmla="*/ 105727 w 1500187"/>
                <a:gd name="connsiteY6" fmla="*/ 228600 h 228600"/>
                <a:gd name="connsiteX7" fmla="*/ 105727 w 1500187"/>
                <a:gd name="connsiteY7" fmla="*/ 226869 h 228600"/>
                <a:gd name="connsiteX8" fmla="*/ 69809 w 1500187"/>
                <a:gd name="connsiteY8" fmla="*/ 219618 h 228600"/>
                <a:gd name="connsiteX9" fmla="*/ 0 w 1500187"/>
                <a:gd name="connsiteY9" fmla="*/ 114300 h 228600"/>
                <a:gd name="connsiteX10" fmla="*/ 69809 w 1500187"/>
                <a:gd name="connsiteY10" fmla="*/ 8982 h 228600"/>
                <a:gd name="connsiteX11" fmla="*/ 105727 w 1500187"/>
                <a:gd name="connsiteY11" fmla="*/ 1731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0187" h="228600">
                  <a:moveTo>
                    <a:pt x="105727" y="0"/>
                  </a:moveTo>
                  <a:lnTo>
                    <a:pt x="114300" y="0"/>
                  </a:lnTo>
                  <a:lnTo>
                    <a:pt x="1385887" y="0"/>
                  </a:lnTo>
                  <a:cubicBezTo>
                    <a:pt x="1449013" y="0"/>
                    <a:pt x="1500187" y="51174"/>
                    <a:pt x="1500187" y="114300"/>
                  </a:cubicBezTo>
                  <a:cubicBezTo>
                    <a:pt x="1500187" y="177426"/>
                    <a:pt x="1449013" y="228600"/>
                    <a:pt x="1385887" y="228600"/>
                  </a:cubicBezTo>
                  <a:lnTo>
                    <a:pt x="114300" y="228600"/>
                  </a:lnTo>
                  <a:lnTo>
                    <a:pt x="105727" y="228600"/>
                  </a:lnTo>
                  <a:lnTo>
                    <a:pt x="105727" y="226869"/>
                  </a:lnTo>
                  <a:lnTo>
                    <a:pt x="69809" y="219618"/>
                  </a:lnTo>
                  <a:cubicBezTo>
                    <a:pt x="28785" y="202266"/>
                    <a:pt x="0" y="161645"/>
                    <a:pt x="0" y="114300"/>
                  </a:cubicBezTo>
                  <a:cubicBezTo>
                    <a:pt x="0" y="66956"/>
                    <a:pt x="28785" y="26334"/>
                    <a:pt x="69809" y="8982"/>
                  </a:cubicBezTo>
                  <a:lnTo>
                    <a:pt x="105727" y="173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35" name="Text Box 10">
            <a:extLst>
              <a:ext uri="{FF2B5EF4-FFF2-40B4-BE49-F238E27FC236}">
                <a16:creationId xmlns="" xmlns:a16="http://schemas.microsoft.com/office/drawing/2014/main" id="{521EF548-6C24-45D5-87CC-CD0C61059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7422" y="3071810"/>
            <a:ext cx="6286512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/>
          <a:p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Quel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est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le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rôle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de la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fonction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Production ?   </a:t>
            </a:r>
            <a:endParaRPr lang="en-US" sz="1600" b="1" dirty="0" smtClean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r>
              <a:rPr lang="en-US" sz="16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endParaRPr lang="en-US" sz="1600" b="1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21" grpId="0"/>
      <p:bldP spid="25" grpId="0" animBg="1"/>
      <p:bldP spid="31" grpId="0" animBg="1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3"/>
          <p:cNvSpPr/>
          <p:nvPr/>
        </p:nvSpPr>
        <p:spPr>
          <a:xfrm>
            <a:off x="1399939" y="3016881"/>
            <a:ext cx="1879109" cy="2505479"/>
          </a:xfrm>
          <a:prstGeom prst="leftCircularArrow">
            <a:avLst>
              <a:gd name="adj1" fmla="val 3852"/>
              <a:gd name="adj2" fmla="val 482024"/>
              <a:gd name="adj3" fmla="val 2257535"/>
              <a:gd name="adj4" fmla="val 9024489"/>
              <a:gd name="adj5" fmla="val 4494"/>
            </a:avLst>
          </a:prstGeom>
          <a:solidFill>
            <a:srgbClr val="405B74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7" name="Circular Arrow 26"/>
          <p:cNvSpPr/>
          <p:nvPr/>
        </p:nvSpPr>
        <p:spPr>
          <a:xfrm>
            <a:off x="3491630" y="1663224"/>
            <a:ext cx="2081531" cy="2775375"/>
          </a:xfrm>
          <a:prstGeom prst="circularArrow">
            <a:avLst>
              <a:gd name="adj1" fmla="val 3478"/>
              <a:gd name="adj2" fmla="val 431259"/>
              <a:gd name="adj3" fmla="val 19393231"/>
              <a:gd name="adj4" fmla="val 12575511"/>
              <a:gd name="adj5" fmla="val 4057"/>
            </a:avLst>
          </a:prstGeom>
          <a:solidFill>
            <a:srgbClr val="405B74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0" name="Shape 29"/>
          <p:cNvSpPr/>
          <p:nvPr/>
        </p:nvSpPr>
        <p:spPr>
          <a:xfrm>
            <a:off x="5609725" y="3016881"/>
            <a:ext cx="1879109" cy="2505479"/>
          </a:xfrm>
          <a:prstGeom prst="leftCircularArrow">
            <a:avLst>
              <a:gd name="adj1" fmla="val 3852"/>
              <a:gd name="adj2" fmla="val 482024"/>
              <a:gd name="adj3" fmla="val 2257535"/>
              <a:gd name="adj4" fmla="val 9024489"/>
              <a:gd name="adj5" fmla="val 4494"/>
            </a:avLst>
          </a:prstGeom>
          <a:solidFill>
            <a:srgbClr val="405B74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848475" y="2382838"/>
            <a:ext cx="1760538" cy="2114550"/>
            <a:chOff x="9132324" y="2382554"/>
            <a:chExt cx="2346922" cy="2115465"/>
          </a:xfrm>
        </p:grpSpPr>
        <p:sp>
          <p:nvSpPr>
            <p:cNvPr id="32" name="Rounded Rectangle 31"/>
            <p:cNvSpPr/>
            <p:nvPr/>
          </p:nvSpPr>
          <p:spPr>
            <a:xfrm>
              <a:off x="9132324" y="2755777"/>
              <a:ext cx="2112018" cy="1742242"/>
            </a:xfrm>
            <a:prstGeom prst="roundRect">
              <a:avLst>
                <a:gd name="adj" fmla="val 10000"/>
              </a:avLst>
            </a:prstGeom>
            <a:blipFill>
              <a:blip r:embed="rId2" cstate="print"/>
              <a:stretch>
                <a:fillRect/>
              </a:stretch>
            </a:blipFill>
            <a:ln>
              <a:solidFill>
                <a:srgbClr val="FFC000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9602132" y="2382554"/>
              <a:ext cx="1877114" cy="746448"/>
            </a:xfrm>
            <a:custGeom>
              <a:avLst/>
              <a:gdLst>
                <a:gd name="connsiteX0" fmla="*/ 0 w 1877538"/>
                <a:gd name="connsiteY0" fmla="*/ 74663 h 746634"/>
                <a:gd name="connsiteX1" fmla="*/ 74663 w 1877538"/>
                <a:gd name="connsiteY1" fmla="*/ 0 h 746634"/>
                <a:gd name="connsiteX2" fmla="*/ 1802875 w 1877538"/>
                <a:gd name="connsiteY2" fmla="*/ 0 h 746634"/>
                <a:gd name="connsiteX3" fmla="*/ 1877538 w 1877538"/>
                <a:gd name="connsiteY3" fmla="*/ 74663 h 746634"/>
                <a:gd name="connsiteX4" fmla="*/ 1877538 w 1877538"/>
                <a:gd name="connsiteY4" fmla="*/ 671971 h 746634"/>
                <a:gd name="connsiteX5" fmla="*/ 1802875 w 1877538"/>
                <a:gd name="connsiteY5" fmla="*/ 746634 h 746634"/>
                <a:gd name="connsiteX6" fmla="*/ 74663 w 1877538"/>
                <a:gd name="connsiteY6" fmla="*/ 746634 h 746634"/>
                <a:gd name="connsiteX7" fmla="*/ 0 w 1877538"/>
                <a:gd name="connsiteY7" fmla="*/ 671971 h 746634"/>
                <a:gd name="connsiteX8" fmla="*/ 0 w 1877538"/>
                <a:gd name="connsiteY8" fmla="*/ 74663 h 74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77538" h="746634">
                  <a:moveTo>
                    <a:pt x="0" y="74663"/>
                  </a:moveTo>
                  <a:cubicBezTo>
                    <a:pt x="0" y="33428"/>
                    <a:pt x="33428" y="0"/>
                    <a:pt x="74663" y="0"/>
                  </a:cubicBezTo>
                  <a:lnTo>
                    <a:pt x="1802875" y="0"/>
                  </a:lnTo>
                  <a:cubicBezTo>
                    <a:pt x="1844110" y="0"/>
                    <a:pt x="1877538" y="33428"/>
                    <a:pt x="1877538" y="74663"/>
                  </a:cubicBezTo>
                  <a:lnTo>
                    <a:pt x="1877538" y="671971"/>
                  </a:lnTo>
                  <a:cubicBezTo>
                    <a:pt x="1877538" y="713206"/>
                    <a:pt x="1844110" y="746634"/>
                    <a:pt x="1802875" y="746634"/>
                  </a:cubicBezTo>
                  <a:lnTo>
                    <a:pt x="74663" y="746634"/>
                  </a:lnTo>
                  <a:cubicBezTo>
                    <a:pt x="33428" y="746634"/>
                    <a:pt x="0" y="713206"/>
                    <a:pt x="0" y="671971"/>
                  </a:cubicBezTo>
                  <a:lnTo>
                    <a:pt x="0" y="74663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52348" tIns="42188" rIns="52348" bIns="42188" spcCol="1270" anchor="ctr"/>
            <a:lstStyle/>
            <a:p>
              <a:pPr algn="ctr" defTabSz="711200" fontAlgn="auto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b="1" dirty="0">
                  <a:solidFill>
                    <a:schemeClr val="bg1"/>
                  </a:solidFill>
                  <a:ea typeface="Open Sans" pitchFamily="34" charset="0"/>
                  <a:cs typeface="Open Sans" pitchFamily="34" charset="0"/>
                </a:rPr>
                <a:t>Clients </a:t>
              </a:r>
            </a:p>
          </p:txBody>
        </p:sp>
      </p:grp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4745038" y="2755900"/>
            <a:ext cx="1758950" cy="2116138"/>
            <a:chOff x="6325800" y="2755871"/>
            <a:chExt cx="2346923" cy="2115465"/>
          </a:xfrm>
        </p:grpSpPr>
        <p:sp>
          <p:nvSpPr>
            <p:cNvPr id="29" name="Freeform 28"/>
            <p:cNvSpPr/>
            <p:nvPr/>
          </p:nvSpPr>
          <p:spPr>
            <a:xfrm>
              <a:off x="6325800" y="2755871"/>
              <a:ext cx="2111806" cy="1742521"/>
            </a:xfrm>
            <a:custGeom>
              <a:avLst/>
              <a:gdLst>
                <a:gd name="connsiteX0" fmla="*/ 0 w 2112230"/>
                <a:gd name="connsiteY0" fmla="*/ 174215 h 1742148"/>
                <a:gd name="connsiteX1" fmla="*/ 174215 w 2112230"/>
                <a:gd name="connsiteY1" fmla="*/ 0 h 1742148"/>
                <a:gd name="connsiteX2" fmla="*/ 1938015 w 2112230"/>
                <a:gd name="connsiteY2" fmla="*/ 0 h 1742148"/>
                <a:gd name="connsiteX3" fmla="*/ 2112230 w 2112230"/>
                <a:gd name="connsiteY3" fmla="*/ 174215 h 1742148"/>
                <a:gd name="connsiteX4" fmla="*/ 2112230 w 2112230"/>
                <a:gd name="connsiteY4" fmla="*/ 1567933 h 1742148"/>
                <a:gd name="connsiteX5" fmla="*/ 1938015 w 2112230"/>
                <a:gd name="connsiteY5" fmla="*/ 1742148 h 1742148"/>
                <a:gd name="connsiteX6" fmla="*/ 174215 w 2112230"/>
                <a:gd name="connsiteY6" fmla="*/ 1742148 h 1742148"/>
                <a:gd name="connsiteX7" fmla="*/ 0 w 2112230"/>
                <a:gd name="connsiteY7" fmla="*/ 1567933 h 1742148"/>
                <a:gd name="connsiteX8" fmla="*/ 0 w 2112230"/>
                <a:gd name="connsiteY8" fmla="*/ 174215 h 17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2230" h="1742148">
                  <a:moveTo>
                    <a:pt x="0" y="174215"/>
                  </a:moveTo>
                  <a:cubicBezTo>
                    <a:pt x="0" y="77999"/>
                    <a:pt x="77999" y="0"/>
                    <a:pt x="174215" y="0"/>
                  </a:cubicBezTo>
                  <a:lnTo>
                    <a:pt x="1938015" y="0"/>
                  </a:lnTo>
                  <a:cubicBezTo>
                    <a:pt x="2034231" y="0"/>
                    <a:pt x="2112230" y="77999"/>
                    <a:pt x="2112230" y="174215"/>
                  </a:cubicBezTo>
                  <a:lnTo>
                    <a:pt x="2112230" y="1567933"/>
                  </a:lnTo>
                  <a:cubicBezTo>
                    <a:pt x="2112230" y="1664149"/>
                    <a:pt x="2034231" y="1742148"/>
                    <a:pt x="1938015" y="1742148"/>
                  </a:cubicBezTo>
                  <a:lnTo>
                    <a:pt x="174215" y="1742148"/>
                  </a:lnTo>
                  <a:cubicBezTo>
                    <a:pt x="77999" y="1742148"/>
                    <a:pt x="0" y="1664149"/>
                    <a:pt x="0" y="1567933"/>
                  </a:cubicBezTo>
                  <a:lnTo>
                    <a:pt x="0" y="174215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  <a:ln>
              <a:solidFill>
                <a:srgbClr val="15A185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63917" tIns="163917" rIns="163917" bIns="537235" spcCol="1270"/>
            <a:lstStyle/>
            <a:p>
              <a:pPr marL="228600" lvl="1" indent="-228600" defTabSz="889000" fontAlgn="auto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en-US" sz="2000" b="1">
                <a:solidFill>
                  <a:schemeClr val="bg1"/>
                </a:solidFill>
                <a:latin typeface="Lato" panose="020F0502020204030203" pitchFamily="34" charset="0"/>
                <a:ea typeface="Open Sans" pitchFamily="34" charset="0"/>
                <a:cs typeface="Open Sans" pitchFamily="34" charset="0"/>
              </a:endParaRPr>
            </a:p>
            <a:p>
              <a:pPr marL="228600" lvl="1" indent="-228600" defTabSz="889000" fontAlgn="auto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en-US" sz="2000" b="1">
                <a:solidFill>
                  <a:schemeClr val="bg1"/>
                </a:solidFill>
                <a:latin typeface="Lato" panose="020F0502020204030203" pitchFamily="34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6796032" y="4125448"/>
              <a:ext cx="1876691" cy="745888"/>
            </a:xfrm>
            <a:custGeom>
              <a:avLst/>
              <a:gdLst>
                <a:gd name="connsiteX0" fmla="*/ 0 w 1877538"/>
                <a:gd name="connsiteY0" fmla="*/ 74663 h 746634"/>
                <a:gd name="connsiteX1" fmla="*/ 74663 w 1877538"/>
                <a:gd name="connsiteY1" fmla="*/ 0 h 746634"/>
                <a:gd name="connsiteX2" fmla="*/ 1802875 w 1877538"/>
                <a:gd name="connsiteY2" fmla="*/ 0 h 746634"/>
                <a:gd name="connsiteX3" fmla="*/ 1877538 w 1877538"/>
                <a:gd name="connsiteY3" fmla="*/ 74663 h 746634"/>
                <a:gd name="connsiteX4" fmla="*/ 1877538 w 1877538"/>
                <a:gd name="connsiteY4" fmla="*/ 671971 h 746634"/>
                <a:gd name="connsiteX5" fmla="*/ 1802875 w 1877538"/>
                <a:gd name="connsiteY5" fmla="*/ 746634 h 746634"/>
                <a:gd name="connsiteX6" fmla="*/ 74663 w 1877538"/>
                <a:gd name="connsiteY6" fmla="*/ 746634 h 746634"/>
                <a:gd name="connsiteX7" fmla="*/ 0 w 1877538"/>
                <a:gd name="connsiteY7" fmla="*/ 671971 h 746634"/>
                <a:gd name="connsiteX8" fmla="*/ 0 w 1877538"/>
                <a:gd name="connsiteY8" fmla="*/ 74663 h 74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77538" h="746634">
                  <a:moveTo>
                    <a:pt x="0" y="74663"/>
                  </a:moveTo>
                  <a:cubicBezTo>
                    <a:pt x="0" y="33428"/>
                    <a:pt x="33428" y="0"/>
                    <a:pt x="74663" y="0"/>
                  </a:cubicBezTo>
                  <a:lnTo>
                    <a:pt x="1802875" y="0"/>
                  </a:lnTo>
                  <a:cubicBezTo>
                    <a:pt x="1844110" y="0"/>
                    <a:pt x="1877538" y="33428"/>
                    <a:pt x="1877538" y="74663"/>
                  </a:cubicBezTo>
                  <a:lnTo>
                    <a:pt x="1877538" y="671971"/>
                  </a:lnTo>
                  <a:cubicBezTo>
                    <a:pt x="1877538" y="713206"/>
                    <a:pt x="1844110" y="746634"/>
                    <a:pt x="1802875" y="746634"/>
                  </a:cubicBezTo>
                  <a:lnTo>
                    <a:pt x="74663" y="746634"/>
                  </a:lnTo>
                  <a:cubicBezTo>
                    <a:pt x="33428" y="746634"/>
                    <a:pt x="0" y="713206"/>
                    <a:pt x="0" y="671971"/>
                  </a:cubicBezTo>
                  <a:lnTo>
                    <a:pt x="0" y="74663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52348" tIns="42188" rIns="52348" bIns="42188" spcCol="1270" anchor="ctr"/>
            <a:lstStyle/>
            <a:p>
              <a:pPr algn="ctr" defTabSz="711200" fontAlgn="auto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b="1" dirty="0" err="1">
                  <a:solidFill>
                    <a:schemeClr val="bg1"/>
                  </a:solidFill>
                  <a:ea typeface="Open Sans" pitchFamily="34" charset="0"/>
                  <a:cs typeface="Open Sans" pitchFamily="34" charset="0"/>
                </a:rPr>
                <a:t>Produits</a:t>
              </a:r>
              <a:r>
                <a:rPr lang="en-US" b="1" dirty="0">
                  <a:solidFill>
                    <a:schemeClr val="bg1"/>
                  </a:solidFill>
                  <a:ea typeface="Open Sans" pitchFamily="34" charset="0"/>
                  <a:cs typeface="Open Sans" pitchFamily="34" charset="0"/>
                </a:rPr>
                <a:t> Finis</a:t>
              </a:r>
            </a:p>
            <a:p>
              <a:pPr algn="ctr" defTabSz="711200" fontAlgn="auto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b="1" dirty="0">
                  <a:solidFill>
                    <a:schemeClr val="bg1"/>
                  </a:solidFill>
                  <a:ea typeface="Open Sans" pitchFamily="34" charset="0"/>
                  <a:cs typeface="Open Sans" pitchFamily="34" charset="0"/>
                </a:rPr>
                <a:t>Services  </a:t>
              </a:r>
            </a:p>
          </p:txBody>
        </p:sp>
      </p:grpSp>
      <p:grpSp>
        <p:nvGrpSpPr>
          <p:cNvPr id="4" name="Group 1"/>
          <p:cNvGrpSpPr>
            <a:grpSpLocks/>
          </p:cNvGrpSpPr>
          <p:nvPr/>
        </p:nvGrpSpPr>
        <p:grpSpPr bwMode="auto">
          <a:xfrm>
            <a:off x="534988" y="2755900"/>
            <a:ext cx="1760537" cy="2116138"/>
            <a:chOff x="712753" y="2755871"/>
            <a:chExt cx="2346922" cy="2115465"/>
          </a:xfrm>
        </p:grpSpPr>
        <p:sp>
          <p:nvSpPr>
            <p:cNvPr id="23" name="Freeform 22"/>
            <p:cNvSpPr/>
            <p:nvPr/>
          </p:nvSpPr>
          <p:spPr>
            <a:xfrm>
              <a:off x="712753" y="2755871"/>
              <a:ext cx="2112019" cy="1742521"/>
            </a:xfrm>
            <a:custGeom>
              <a:avLst/>
              <a:gdLst>
                <a:gd name="connsiteX0" fmla="*/ 0 w 2112230"/>
                <a:gd name="connsiteY0" fmla="*/ 174215 h 1742148"/>
                <a:gd name="connsiteX1" fmla="*/ 174215 w 2112230"/>
                <a:gd name="connsiteY1" fmla="*/ 0 h 1742148"/>
                <a:gd name="connsiteX2" fmla="*/ 1938015 w 2112230"/>
                <a:gd name="connsiteY2" fmla="*/ 0 h 1742148"/>
                <a:gd name="connsiteX3" fmla="*/ 2112230 w 2112230"/>
                <a:gd name="connsiteY3" fmla="*/ 174215 h 1742148"/>
                <a:gd name="connsiteX4" fmla="*/ 2112230 w 2112230"/>
                <a:gd name="connsiteY4" fmla="*/ 1567933 h 1742148"/>
                <a:gd name="connsiteX5" fmla="*/ 1938015 w 2112230"/>
                <a:gd name="connsiteY5" fmla="*/ 1742148 h 1742148"/>
                <a:gd name="connsiteX6" fmla="*/ 174215 w 2112230"/>
                <a:gd name="connsiteY6" fmla="*/ 1742148 h 1742148"/>
                <a:gd name="connsiteX7" fmla="*/ 0 w 2112230"/>
                <a:gd name="connsiteY7" fmla="*/ 1567933 h 1742148"/>
                <a:gd name="connsiteX8" fmla="*/ 0 w 2112230"/>
                <a:gd name="connsiteY8" fmla="*/ 174215 h 17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2230" h="1742148">
                  <a:moveTo>
                    <a:pt x="0" y="174215"/>
                  </a:moveTo>
                  <a:cubicBezTo>
                    <a:pt x="0" y="77999"/>
                    <a:pt x="77999" y="0"/>
                    <a:pt x="174215" y="0"/>
                  </a:cubicBezTo>
                  <a:lnTo>
                    <a:pt x="1938015" y="0"/>
                  </a:lnTo>
                  <a:cubicBezTo>
                    <a:pt x="2034231" y="0"/>
                    <a:pt x="2112230" y="77999"/>
                    <a:pt x="2112230" y="174215"/>
                  </a:cubicBezTo>
                  <a:lnTo>
                    <a:pt x="2112230" y="1567933"/>
                  </a:lnTo>
                  <a:cubicBezTo>
                    <a:pt x="2112230" y="1664149"/>
                    <a:pt x="2034231" y="1742148"/>
                    <a:pt x="1938015" y="1742148"/>
                  </a:cubicBezTo>
                  <a:lnTo>
                    <a:pt x="174215" y="1742148"/>
                  </a:lnTo>
                  <a:cubicBezTo>
                    <a:pt x="77999" y="1742148"/>
                    <a:pt x="0" y="1664149"/>
                    <a:pt x="0" y="1567933"/>
                  </a:cubicBezTo>
                  <a:lnTo>
                    <a:pt x="0" y="174215"/>
                  </a:lnTo>
                  <a:close/>
                </a:path>
              </a:pathLst>
            </a:custGeom>
            <a:blipFill>
              <a:blip r:embed="rId4" cstate="print"/>
              <a:stretch>
                <a:fillRect/>
              </a:stretch>
            </a:blipFill>
            <a:ln>
              <a:solidFill>
                <a:srgbClr val="00B0F0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63917" tIns="163917" rIns="163917" bIns="537235" spcCol="1270"/>
            <a:lstStyle/>
            <a:p>
              <a:pPr marL="228600" lvl="1" indent="-228600" defTabSz="889000" fontAlgn="auto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en-US" sz="2000" b="1">
                <a:solidFill>
                  <a:schemeClr val="bg1"/>
                </a:solidFill>
                <a:latin typeface="Lato" panose="020F0502020204030203" pitchFamily="34" charset="0"/>
                <a:ea typeface="Open Sans" pitchFamily="34" charset="0"/>
                <a:cs typeface="Open Sans" pitchFamily="34" charset="0"/>
              </a:endParaRPr>
            </a:p>
            <a:p>
              <a:pPr marL="228600" lvl="1" indent="-228600" defTabSz="889000" fontAlgn="auto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en-US" sz="2000" b="1">
                <a:solidFill>
                  <a:schemeClr val="bg1"/>
                </a:solidFill>
                <a:latin typeface="Lato" panose="020F0502020204030203" pitchFamily="34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1182561" y="4125448"/>
              <a:ext cx="1877114" cy="745888"/>
            </a:xfrm>
            <a:custGeom>
              <a:avLst/>
              <a:gdLst>
                <a:gd name="connsiteX0" fmla="*/ 0 w 1877538"/>
                <a:gd name="connsiteY0" fmla="*/ 74663 h 746634"/>
                <a:gd name="connsiteX1" fmla="*/ 74663 w 1877538"/>
                <a:gd name="connsiteY1" fmla="*/ 0 h 746634"/>
                <a:gd name="connsiteX2" fmla="*/ 1802875 w 1877538"/>
                <a:gd name="connsiteY2" fmla="*/ 0 h 746634"/>
                <a:gd name="connsiteX3" fmla="*/ 1877538 w 1877538"/>
                <a:gd name="connsiteY3" fmla="*/ 74663 h 746634"/>
                <a:gd name="connsiteX4" fmla="*/ 1877538 w 1877538"/>
                <a:gd name="connsiteY4" fmla="*/ 671971 h 746634"/>
                <a:gd name="connsiteX5" fmla="*/ 1802875 w 1877538"/>
                <a:gd name="connsiteY5" fmla="*/ 746634 h 746634"/>
                <a:gd name="connsiteX6" fmla="*/ 74663 w 1877538"/>
                <a:gd name="connsiteY6" fmla="*/ 746634 h 746634"/>
                <a:gd name="connsiteX7" fmla="*/ 0 w 1877538"/>
                <a:gd name="connsiteY7" fmla="*/ 671971 h 746634"/>
                <a:gd name="connsiteX8" fmla="*/ 0 w 1877538"/>
                <a:gd name="connsiteY8" fmla="*/ 74663 h 74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77538" h="746634">
                  <a:moveTo>
                    <a:pt x="0" y="74663"/>
                  </a:moveTo>
                  <a:cubicBezTo>
                    <a:pt x="0" y="33428"/>
                    <a:pt x="33428" y="0"/>
                    <a:pt x="74663" y="0"/>
                  </a:cubicBezTo>
                  <a:lnTo>
                    <a:pt x="1802875" y="0"/>
                  </a:lnTo>
                  <a:cubicBezTo>
                    <a:pt x="1844110" y="0"/>
                    <a:pt x="1877538" y="33428"/>
                    <a:pt x="1877538" y="74663"/>
                  </a:cubicBezTo>
                  <a:lnTo>
                    <a:pt x="1877538" y="671971"/>
                  </a:lnTo>
                  <a:cubicBezTo>
                    <a:pt x="1877538" y="713206"/>
                    <a:pt x="1844110" y="746634"/>
                    <a:pt x="1802875" y="746634"/>
                  </a:cubicBezTo>
                  <a:lnTo>
                    <a:pt x="74663" y="746634"/>
                  </a:lnTo>
                  <a:cubicBezTo>
                    <a:pt x="33428" y="746634"/>
                    <a:pt x="0" y="713206"/>
                    <a:pt x="0" y="671971"/>
                  </a:cubicBezTo>
                  <a:lnTo>
                    <a:pt x="0" y="7466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52348" tIns="42188" rIns="52348" bIns="42188" spcCol="1270" anchor="ctr"/>
            <a:lstStyle/>
            <a:p>
              <a:pPr algn="ctr" defTabSz="711200" fontAlgn="auto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b="1" dirty="0" err="1">
                  <a:solidFill>
                    <a:schemeClr val="bg1"/>
                  </a:solidFill>
                  <a:ea typeface="Open Sans" pitchFamily="34" charset="0"/>
                  <a:cs typeface="Open Sans" pitchFamily="34" charset="0"/>
                </a:rPr>
                <a:t>Matières</a:t>
              </a:r>
              <a:r>
                <a:rPr lang="en-US" b="1" dirty="0">
                  <a:solidFill>
                    <a:schemeClr val="bg1"/>
                  </a:solidFill>
                  <a:ea typeface="Open Sans" pitchFamily="34" charset="0"/>
                  <a:cs typeface="Open Sans" pitchFamily="34" charset="0"/>
                </a:rPr>
                <a:t> premières</a:t>
              </a:r>
            </a:p>
          </p:txBody>
        </p:sp>
      </p:grp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2640013" y="2382838"/>
            <a:ext cx="1758950" cy="2114550"/>
            <a:chOff x="3519276" y="2382554"/>
            <a:chExt cx="2346923" cy="2115465"/>
          </a:xfrm>
        </p:grpSpPr>
        <p:sp>
          <p:nvSpPr>
            <p:cNvPr id="26" name="Freeform 25"/>
            <p:cNvSpPr/>
            <p:nvPr/>
          </p:nvSpPr>
          <p:spPr>
            <a:xfrm>
              <a:off x="3519276" y="2755777"/>
              <a:ext cx="2111806" cy="1742242"/>
            </a:xfrm>
            <a:custGeom>
              <a:avLst/>
              <a:gdLst>
                <a:gd name="connsiteX0" fmla="*/ 0 w 2112230"/>
                <a:gd name="connsiteY0" fmla="*/ 174215 h 1742148"/>
                <a:gd name="connsiteX1" fmla="*/ 174215 w 2112230"/>
                <a:gd name="connsiteY1" fmla="*/ 0 h 1742148"/>
                <a:gd name="connsiteX2" fmla="*/ 1938015 w 2112230"/>
                <a:gd name="connsiteY2" fmla="*/ 0 h 1742148"/>
                <a:gd name="connsiteX3" fmla="*/ 2112230 w 2112230"/>
                <a:gd name="connsiteY3" fmla="*/ 174215 h 1742148"/>
                <a:gd name="connsiteX4" fmla="*/ 2112230 w 2112230"/>
                <a:gd name="connsiteY4" fmla="*/ 1567933 h 1742148"/>
                <a:gd name="connsiteX5" fmla="*/ 1938015 w 2112230"/>
                <a:gd name="connsiteY5" fmla="*/ 1742148 h 1742148"/>
                <a:gd name="connsiteX6" fmla="*/ 174215 w 2112230"/>
                <a:gd name="connsiteY6" fmla="*/ 1742148 h 1742148"/>
                <a:gd name="connsiteX7" fmla="*/ 0 w 2112230"/>
                <a:gd name="connsiteY7" fmla="*/ 1567933 h 1742148"/>
                <a:gd name="connsiteX8" fmla="*/ 0 w 2112230"/>
                <a:gd name="connsiteY8" fmla="*/ 174215 h 17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2230" h="1742148">
                  <a:moveTo>
                    <a:pt x="0" y="174215"/>
                  </a:moveTo>
                  <a:cubicBezTo>
                    <a:pt x="0" y="77999"/>
                    <a:pt x="77999" y="0"/>
                    <a:pt x="174215" y="0"/>
                  </a:cubicBezTo>
                  <a:lnTo>
                    <a:pt x="1938015" y="0"/>
                  </a:lnTo>
                  <a:cubicBezTo>
                    <a:pt x="2034231" y="0"/>
                    <a:pt x="2112230" y="77999"/>
                    <a:pt x="2112230" y="174215"/>
                  </a:cubicBezTo>
                  <a:lnTo>
                    <a:pt x="2112230" y="1567933"/>
                  </a:lnTo>
                  <a:cubicBezTo>
                    <a:pt x="2112230" y="1664149"/>
                    <a:pt x="2034231" y="1742148"/>
                    <a:pt x="1938015" y="1742148"/>
                  </a:cubicBezTo>
                  <a:lnTo>
                    <a:pt x="174215" y="1742148"/>
                  </a:lnTo>
                  <a:cubicBezTo>
                    <a:pt x="77999" y="1742148"/>
                    <a:pt x="0" y="1664149"/>
                    <a:pt x="0" y="1567933"/>
                  </a:cubicBezTo>
                  <a:lnTo>
                    <a:pt x="0" y="174215"/>
                  </a:lnTo>
                  <a:close/>
                </a:path>
              </a:pathLst>
            </a:custGeom>
            <a:blipFill>
              <a:blip r:embed="rId5" cstate="print"/>
              <a:stretch>
                <a:fillRect/>
              </a:stretch>
            </a:blipFill>
            <a:ln>
              <a:solidFill>
                <a:srgbClr val="ED7D31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63917" tIns="537235" rIns="163917" bIns="163917" spcCol="1270"/>
            <a:lstStyle/>
            <a:p>
              <a:pPr marL="228600" lvl="1" indent="-228600" defTabSz="889000" fontAlgn="auto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en-US" sz="2000" b="1" dirty="0">
                <a:solidFill>
                  <a:schemeClr val="bg1"/>
                </a:solidFill>
                <a:latin typeface="Lato" panose="020F0502020204030203" pitchFamily="34" charset="0"/>
                <a:ea typeface="Open Sans" pitchFamily="34" charset="0"/>
                <a:cs typeface="Open Sans" pitchFamily="34" charset="0"/>
              </a:endParaRPr>
            </a:p>
            <a:p>
              <a:pPr marL="228600" lvl="1" indent="-228600" defTabSz="889000" fontAlgn="auto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en-US" sz="2000" b="1" dirty="0">
                <a:solidFill>
                  <a:schemeClr val="bg1"/>
                </a:solidFill>
                <a:latin typeface="Lato" panose="020F0502020204030203" pitchFamily="34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28" name="Freeform 27"/>
            <p:cNvSpPr/>
            <p:nvPr/>
          </p:nvSpPr>
          <p:spPr>
            <a:xfrm>
              <a:off x="3989508" y="2382554"/>
              <a:ext cx="1876691" cy="746448"/>
            </a:xfrm>
            <a:custGeom>
              <a:avLst/>
              <a:gdLst>
                <a:gd name="connsiteX0" fmla="*/ 0 w 1877538"/>
                <a:gd name="connsiteY0" fmla="*/ 74663 h 746634"/>
                <a:gd name="connsiteX1" fmla="*/ 74663 w 1877538"/>
                <a:gd name="connsiteY1" fmla="*/ 0 h 746634"/>
                <a:gd name="connsiteX2" fmla="*/ 1802875 w 1877538"/>
                <a:gd name="connsiteY2" fmla="*/ 0 h 746634"/>
                <a:gd name="connsiteX3" fmla="*/ 1877538 w 1877538"/>
                <a:gd name="connsiteY3" fmla="*/ 74663 h 746634"/>
                <a:gd name="connsiteX4" fmla="*/ 1877538 w 1877538"/>
                <a:gd name="connsiteY4" fmla="*/ 671971 h 746634"/>
                <a:gd name="connsiteX5" fmla="*/ 1802875 w 1877538"/>
                <a:gd name="connsiteY5" fmla="*/ 746634 h 746634"/>
                <a:gd name="connsiteX6" fmla="*/ 74663 w 1877538"/>
                <a:gd name="connsiteY6" fmla="*/ 746634 h 746634"/>
                <a:gd name="connsiteX7" fmla="*/ 0 w 1877538"/>
                <a:gd name="connsiteY7" fmla="*/ 671971 h 746634"/>
                <a:gd name="connsiteX8" fmla="*/ 0 w 1877538"/>
                <a:gd name="connsiteY8" fmla="*/ 74663 h 74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77538" h="746634">
                  <a:moveTo>
                    <a:pt x="0" y="74663"/>
                  </a:moveTo>
                  <a:cubicBezTo>
                    <a:pt x="0" y="33428"/>
                    <a:pt x="33428" y="0"/>
                    <a:pt x="74663" y="0"/>
                  </a:cubicBezTo>
                  <a:lnTo>
                    <a:pt x="1802875" y="0"/>
                  </a:lnTo>
                  <a:cubicBezTo>
                    <a:pt x="1844110" y="0"/>
                    <a:pt x="1877538" y="33428"/>
                    <a:pt x="1877538" y="74663"/>
                  </a:cubicBezTo>
                  <a:lnTo>
                    <a:pt x="1877538" y="671971"/>
                  </a:lnTo>
                  <a:cubicBezTo>
                    <a:pt x="1877538" y="713206"/>
                    <a:pt x="1844110" y="746634"/>
                    <a:pt x="1802875" y="746634"/>
                  </a:cubicBezTo>
                  <a:lnTo>
                    <a:pt x="74663" y="746634"/>
                  </a:lnTo>
                  <a:cubicBezTo>
                    <a:pt x="33428" y="746634"/>
                    <a:pt x="0" y="713206"/>
                    <a:pt x="0" y="671971"/>
                  </a:cubicBezTo>
                  <a:lnTo>
                    <a:pt x="0" y="74663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52348" tIns="42188" rIns="52348" bIns="42188" spcCol="1270" anchor="ctr"/>
            <a:lstStyle/>
            <a:p>
              <a:pPr algn="ctr" defTabSz="711200" fontAlgn="auto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b="1" dirty="0" err="1">
                  <a:solidFill>
                    <a:schemeClr val="bg1"/>
                  </a:solidFill>
                  <a:ea typeface="Open Sans" pitchFamily="34" charset="0"/>
                  <a:cs typeface="Open Sans" pitchFamily="34" charset="0"/>
                </a:rPr>
                <a:t>Fonction</a:t>
              </a:r>
              <a:r>
                <a:rPr lang="en-US" b="1" dirty="0">
                  <a:solidFill>
                    <a:schemeClr val="bg1"/>
                  </a:solidFill>
                  <a:ea typeface="Open Sans" pitchFamily="34" charset="0"/>
                  <a:cs typeface="Open Sans" pitchFamily="34" charset="0"/>
                </a:rPr>
                <a:t> </a:t>
              </a:r>
            </a:p>
            <a:p>
              <a:pPr algn="ctr" defTabSz="711200" fontAlgn="auto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b="1" dirty="0">
                  <a:solidFill>
                    <a:schemeClr val="bg1"/>
                  </a:solidFill>
                  <a:ea typeface="Open Sans" pitchFamily="34" charset="0"/>
                  <a:cs typeface="Open Sans" pitchFamily="34" charset="0"/>
                </a:rPr>
                <a:t>production</a:t>
              </a:r>
            </a:p>
          </p:txBody>
        </p:sp>
      </p:grp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714348" y="5286388"/>
            <a:ext cx="786765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altLang="fr-FR" sz="2000" b="1" dirty="0">
                <a:solidFill>
                  <a:srgbClr val="0070C0"/>
                </a:solidFill>
                <a:latin typeface="Calibri" pitchFamily="34" charset="0"/>
              </a:rPr>
              <a:t>La fonction production assure la production de biens  et/ou de services en transformant des matières  premières en produits vendus aux clients, tout en  respectant les contraintes de </a:t>
            </a:r>
            <a:r>
              <a:rPr lang="fr-FR" altLang="fr-FR" sz="2000" b="1" dirty="0" smtClean="0">
                <a:solidFill>
                  <a:srgbClr val="0070C0"/>
                </a:solidFill>
                <a:latin typeface="Calibri" pitchFamily="34" charset="0"/>
              </a:rPr>
              <a:t>production.</a:t>
            </a:r>
          </a:p>
          <a:p>
            <a:pPr algn="ctr"/>
            <a:endParaRPr lang="en-US" altLang="fr-FR" sz="2000" b="1" dirty="0">
              <a:solidFill>
                <a:srgbClr val="0070C0"/>
              </a:solidFill>
              <a:latin typeface="Calibri" pitchFamily="34" charset="0"/>
            </a:endParaRPr>
          </a:p>
        </p:txBody>
      </p:sp>
      <p:pic>
        <p:nvPicPr>
          <p:cNvPr id="21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Résultat de recherche d'images pour &quot;flexibilité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4724400"/>
            <a:ext cx="1492724" cy="1000125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2286000" y="1600200"/>
            <a:ext cx="426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 smtClean="0">
                <a:solidFill>
                  <a:srgbClr val="0070C0"/>
                </a:solidFill>
                <a:latin typeface="Candara" pitchFamily="34" charset="0"/>
              </a:rPr>
              <a:t>Les contraintes de la production</a:t>
            </a:r>
            <a:r>
              <a:rPr lang="fr-FR" b="1" dirty="0" smtClean="0">
                <a:solidFill>
                  <a:srgbClr val="92D050"/>
                </a:solidFill>
                <a:latin typeface="Candara" pitchFamily="34" charset="0"/>
              </a:rPr>
              <a:t> </a:t>
            </a:r>
            <a:endParaRPr lang="fr-FR" b="1" dirty="0">
              <a:solidFill>
                <a:srgbClr val="92D050"/>
              </a:solidFill>
              <a:latin typeface="Candara" pitchFamily="34" charset="0"/>
            </a:endParaRPr>
          </a:p>
        </p:txBody>
      </p:sp>
      <p:pic>
        <p:nvPicPr>
          <p:cNvPr id="30724" name="Picture 4" descr="Résultat de recherche d'images pour &quot;qualité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057400"/>
            <a:ext cx="1702673" cy="1552575"/>
          </a:xfrm>
          <a:prstGeom prst="rect">
            <a:avLst/>
          </a:prstGeom>
          <a:noFill/>
        </p:spPr>
      </p:pic>
      <p:sp>
        <p:nvSpPr>
          <p:cNvPr id="30726" name="AutoShape 6" descr="Résultat de recherche d'images pour &quot;cout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0728" name="AutoShape 8" descr="Résultat de recherche d'images pour &quot;cout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30732" name="Picture 12" descr="Image associé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95400" y="4572000"/>
            <a:ext cx="1447800" cy="1447800"/>
          </a:xfrm>
          <a:prstGeom prst="rect">
            <a:avLst/>
          </a:prstGeom>
          <a:noFill/>
        </p:spPr>
      </p:pic>
      <p:pic>
        <p:nvPicPr>
          <p:cNvPr id="30734" name="Picture 14" descr="Résultat de recherche d'images pour &quot;delai&quot;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72200" y="2286000"/>
            <a:ext cx="1600200" cy="1279301"/>
          </a:xfrm>
          <a:prstGeom prst="rect">
            <a:avLst/>
          </a:prstGeom>
          <a:noFill/>
        </p:spPr>
      </p:pic>
      <p:sp>
        <p:nvSpPr>
          <p:cNvPr id="30736" name="AutoShape 16" descr="Résultat de recherche d'images pour &quot;production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30738" name="Picture 18" descr="Résultat de recherche d'images pour &quot;production&quot;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62200" y="2590800"/>
            <a:ext cx="3962400" cy="2145109"/>
          </a:xfrm>
          <a:prstGeom prst="ellipse">
            <a:avLst/>
          </a:prstGeom>
          <a:ln w="63500" cap="rnd">
            <a:solidFill>
              <a:srgbClr val="FFC00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4" name="ZoneTexte 13"/>
          <p:cNvSpPr txBox="1"/>
          <p:nvPr/>
        </p:nvSpPr>
        <p:spPr>
          <a:xfrm>
            <a:off x="990600" y="16764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Qualité 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1295400" y="39624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Coût 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6477000" y="19050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Délai 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6248400" y="41148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Fléxibilité</a:t>
            </a:r>
            <a:r>
              <a:rPr lang="fr-FR" dirty="0" smtClean="0"/>
              <a:t> </a:t>
            </a:r>
            <a:endParaRPr lang="fr-FR" dirty="0"/>
          </a:p>
        </p:txBody>
      </p:sp>
      <p:pic>
        <p:nvPicPr>
          <p:cNvPr id="19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5" grpId="0"/>
      <p:bldP spid="16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Résultat de recherche d'images pour &quot;important clipart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357298"/>
            <a:ext cx="862038" cy="923920"/>
          </a:xfrm>
          <a:prstGeom prst="rect">
            <a:avLst/>
          </a:prstGeom>
          <a:noFill/>
        </p:spPr>
      </p:pic>
      <p:sp>
        <p:nvSpPr>
          <p:cNvPr id="9" name="Rectangle à coins arrondis 8"/>
          <p:cNvSpPr/>
          <p:nvPr/>
        </p:nvSpPr>
        <p:spPr>
          <a:xfrm>
            <a:off x="1285852" y="2714620"/>
            <a:ext cx="7000924" cy="1928826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fr-FR" sz="2400" b="1" dirty="0" smtClean="0">
              <a:solidFill>
                <a:schemeClr val="tx2">
                  <a:lumMod val="75000"/>
                </a:schemeClr>
              </a:solidFill>
              <a:latin typeface="Candara" pitchFamily="34" charset="0"/>
            </a:endParaRPr>
          </a:p>
          <a:p>
            <a:pPr algn="just"/>
            <a:r>
              <a:rPr lang="fr-FR" sz="2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Elle détermine la meilleure combinaison possible  (entre les facteurs de production) qui lui permet de maximiser les gains tout en minimisant les coûts (Efficience) </a:t>
            </a:r>
          </a:p>
          <a:p>
            <a:pPr algn="just"/>
            <a:endParaRPr lang="fr-FR" sz="2400" b="1" dirty="0" smtClean="0">
              <a:solidFill>
                <a:schemeClr val="tx2">
                  <a:lumMod val="75000"/>
                </a:schemeClr>
              </a:solidFill>
              <a:latin typeface="Candara" pitchFamily="34" charset="0"/>
            </a:endParaRPr>
          </a:p>
          <a:p>
            <a:pPr marL="0" lvl="1" algn="ctr"/>
            <a:endParaRPr lang="fr-FR" sz="2400" b="1" dirty="0" smtClean="0">
              <a:solidFill>
                <a:srgbClr val="FF0000"/>
              </a:solidFill>
              <a:latin typeface="Candara" pitchFamily="34" charset="0"/>
            </a:endParaRPr>
          </a:p>
        </p:txBody>
      </p:sp>
      <p:pic>
        <p:nvPicPr>
          <p:cNvPr id="7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6" name="Isosceles Triangle 46">
            <a:extLst>
              <a:ext uri="{FF2B5EF4-FFF2-40B4-BE49-F238E27FC236}">
                <a16:creationId xmlns:a16="http://schemas.microsoft.com/office/drawing/2014/main" xmlns="" id="{295CE181-88D7-4815-BC0F-BC87C9322824}"/>
              </a:ext>
            </a:extLst>
          </p:cNvPr>
          <p:cNvSpPr/>
          <p:nvPr/>
        </p:nvSpPr>
        <p:spPr>
          <a:xfrm rot="5400000">
            <a:off x="-31494" y="460098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object 6"/>
          <p:cNvSpPr txBox="1">
            <a:spLocks/>
          </p:cNvSpPr>
          <p:nvPr/>
        </p:nvSpPr>
        <p:spPr>
          <a:xfrm>
            <a:off x="457200" y="381000"/>
            <a:ext cx="8229600" cy="504625"/>
          </a:xfrm>
          <a:prstGeom prst="rect">
            <a:avLst/>
          </a:prstGeom>
        </p:spPr>
        <p:txBody>
          <a:bodyPr lIns="0" tIns="12065" rIns="0" bIns="0" anchor="b">
            <a:spAutoFit/>
          </a:bodyPr>
          <a:lstStyle/>
          <a:p>
            <a:pPr marL="12700" fontAlgn="auto">
              <a:spcBef>
                <a:spcPts val="95"/>
              </a:spcBef>
              <a:spcAft>
                <a:spcPts val="0"/>
              </a:spcAft>
              <a:defRPr/>
            </a:pPr>
            <a:r>
              <a:rPr lang="fr-FR" sz="3200" b="1" kern="0" spc="-5" dirty="0" smtClean="0">
                <a:solidFill>
                  <a:srgbClr val="FF0000"/>
                </a:solidFill>
                <a:latin typeface="Trebuchet MS"/>
                <a:ea typeface="+mj-ea"/>
                <a:cs typeface="Trebuchet MS"/>
              </a:rPr>
              <a:t>Rôle de la </a:t>
            </a:r>
            <a:r>
              <a:rPr lang="fr-FR" sz="3200" b="1" kern="0" spc="-5" dirty="0">
                <a:solidFill>
                  <a:srgbClr val="FF0000"/>
                </a:solidFill>
                <a:latin typeface="Trebuchet MS"/>
                <a:ea typeface="+mj-ea"/>
                <a:cs typeface="Trebuchet MS"/>
              </a:rPr>
              <a:t>fonction de Production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téléchargement (2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2209800"/>
            <a:ext cx="3026966" cy="22098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Placeholder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05200" y="2209800"/>
            <a:ext cx="1494741" cy="13716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Block Arc 2"/>
          <p:cNvSpPr/>
          <p:nvPr/>
        </p:nvSpPr>
        <p:spPr>
          <a:xfrm>
            <a:off x="2133600" y="1219200"/>
            <a:ext cx="2062411" cy="2062411"/>
          </a:xfrm>
          <a:prstGeom prst="blockArc">
            <a:avLst>
              <a:gd name="adj1" fmla="val 10833788"/>
              <a:gd name="adj2" fmla="val 26752"/>
              <a:gd name="adj3" fmla="val 5686"/>
            </a:avLst>
          </a:prstGeom>
          <a:solidFill>
            <a:srgbClr val="ED7D31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Block Arc 73"/>
          <p:cNvSpPr/>
          <p:nvPr/>
        </p:nvSpPr>
        <p:spPr>
          <a:xfrm rot="10800000">
            <a:off x="4343400" y="2514600"/>
            <a:ext cx="2062411" cy="2062411"/>
          </a:xfrm>
          <a:prstGeom prst="blockArc">
            <a:avLst>
              <a:gd name="adj1" fmla="val 10800000"/>
              <a:gd name="adj2" fmla="val 26752"/>
              <a:gd name="adj3" fmla="val 5686"/>
            </a:avLst>
          </a:prstGeom>
          <a:solidFill>
            <a:srgbClr val="5B9BD5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8" name="Image 17" descr="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91200" y="2286000"/>
            <a:ext cx="1142924" cy="11429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7660" name="ZoneTexte 18"/>
          <p:cNvSpPr txBox="1">
            <a:spLocks noChangeArrowheads="1"/>
          </p:cNvSpPr>
          <p:nvPr/>
        </p:nvSpPr>
        <p:spPr bwMode="auto">
          <a:xfrm>
            <a:off x="152400" y="1447800"/>
            <a:ext cx="46339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altLang="fr-FR" sz="2000" b="1" dirty="0">
                <a:solidFill>
                  <a:srgbClr val="FF0000"/>
                </a:solidFill>
                <a:latin typeface="Calibri" pitchFamily="34" charset="0"/>
              </a:rPr>
              <a:t>Objectif du </a:t>
            </a:r>
            <a:r>
              <a:rPr lang="fr-FR" altLang="fr-FR" sz="2000" b="1" dirty="0" smtClean="0">
                <a:solidFill>
                  <a:srgbClr val="FF0000"/>
                </a:solidFill>
                <a:latin typeface="Calibri" pitchFamily="34" charset="0"/>
              </a:rPr>
              <a:t>responsable de production </a:t>
            </a:r>
            <a:endParaRPr lang="fr-FR" altLang="fr-FR" sz="20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7661" name="ZoneTexte 19"/>
          <p:cNvSpPr txBox="1">
            <a:spLocks noChangeArrowheads="1"/>
          </p:cNvSpPr>
          <p:nvPr/>
        </p:nvSpPr>
        <p:spPr bwMode="auto">
          <a:xfrm>
            <a:off x="533400" y="4724400"/>
            <a:ext cx="25908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sz="2000" b="1">
                <a:solidFill>
                  <a:srgbClr val="0070C0"/>
                </a:solidFill>
                <a:latin typeface="Calibri" pitchFamily="34" charset="0"/>
              </a:rPr>
              <a:t>Combiner  et optimiser l’emploi des facteurs de production </a:t>
            </a:r>
          </a:p>
        </p:txBody>
      </p:sp>
      <p:sp>
        <p:nvSpPr>
          <p:cNvPr id="27662" name="ZoneTexte 20"/>
          <p:cNvSpPr txBox="1">
            <a:spLocks noChangeArrowheads="1"/>
          </p:cNvSpPr>
          <p:nvPr/>
        </p:nvSpPr>
        <p:spPr bwMode="auto">
          <a:xfrm>
            <a:off x="3429000" y="4572000"/>
            <a:ext cx="32004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sz="2000" b="1">
                <a:solidFill>
                  <a:srgbClr val="0070C0"/>
                </a:solidFill>
                <a:latin typeface="Calibri" pitchFamily="34" charset="0"/>
              </a:rPr>
              <a:t>Par le choix d’une stratégie de production spécifique </a:t>
            </a:r>
          </a:p>
        </p:txBody>
      </p:sp>
      <p:sp>
        <p:nvSpPr>
          <p:cNvPr id="27663" name="ZoneTexte 21"/>
          <p:cNvSpPr txBox="1">
            <a:spLocks noChangeArrowheads="1"/>
          </p:cNvSpPr>
          <p:nvPr/>
        </p:nvSpPr>
        <p:spPr bwMode="auto">
          <a:xfrm>
            <a:off x="6858000" y="3505200"/>
            <a:ext cx="19812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sz="2000" b="1">
                <a:solidFill>
                  <a:srgbClr val="0070C0"/>
                </a:solidFill>
                <a:latin typeface="Calibri" pitchFamily="34" charset="0"/>
              </a:rPr>
              <a:t>Pour optimiser les profits </a:t>
            </a:r>
          </a:p>
        </p:txBody>
      </p:sp>
      <p:pic>
        <p:nvPicPr>
          <p:cNvPr id="12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798548" y="6704111"/>
            <a:ext cx="247208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" dirty="0" smtClean="0">
                <a:solidFill>
                  <a:schemeClr val="bg1">
                    <a:lumMod val="75000"/>
                  </a:schemeClr>
                </a:solidFill>
                <a:hlinkClick r:id="rId2"/>
              </a:rPr>
              <a:t>Free PowerPoint Templates</a:t>
            </a:r>
            <a:endParaRPr lang="en-US" sz="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06147" y="4048063"/>
            <a:ext cx="57317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Topic and Topic Comparison</a:t>
            </a:r>
            <a:endParaRPr lang="en-US" sz="4400" dirty="0">
              <a:solidFill>
                <a:schemeClr val="bg1"/>
              </a:solidFill>
              <a:latin typeface="+mj-lt"/>
              <a:cs typeface="Estrangelo Edessa" panose="03080600000000000000" pitchFamily="66" charset="0"/>
            </a:endParaRPr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685800" y="304800"/>
            <a:ext cx="7855254" cy="14157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itchFamily="34" charset="0"/>
                <a:ea typeface="+mj-ea"/>
                <a:cs typeface="Times New Roman" pitchFamily="18" charset="0"/>
              </a:rPr>
              <a:t>La fonction commerciale: vente et marketing</a:t>
            </a:r>
            <a:r>
              <a:rPr kumimoji="0" lang="fr-FR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j-ea"/>
                <a:cs typeface="Trebuchet MS"/>
              </a:rPr>
              <a:t/>
            </a:r>
            <a:br>
              <a:rPr kumimoji="0" lang="fr-FR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j-ea"/>
                <a:cs typeface="Trebuchet MS"/>
              </a:rPr>
            </a:br>
            <a:r>
              <a:rPr kumimoji="0" lang="fr-FR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rebuchet MS"/>
                <a:ea typeface="+mj-ea"/>
                <a:cs typeface="Trebuchet MS"/>
              </a:rPr>
              <a:t>   </a:t>
            </a:r>
            <a:endParaRPr kumimoji="0" lang="fr-FR" sz="28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rebuchet MS"/>
              <a:ea typeface="+mj-ea"/>
              <a:cs typeface="Trebuchet MS"/>
            </a:endParaRPr>
          </a:p>
        </p:txBody>
      </p:sp>
      <p:pic>
        <p:nvPicPr>
          <p:cNvPr id="33794" name="Picture 2" descr="RÃ©sultat de recherche d'images pour &quot;vente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4419600"/>
            <a:ext cx="2152650" cy="215265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3796" name="Picture 4" descr="RÃ©sultat de recherche d'images pour &quot;vente&quot;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2971800"/>
            <a:ext cx="2057400" cy="2057400"/>
          </a:xfrm>
          <a:prstGeom prst="rect">
            <a:avLst/>
          </a:prstGeom>
          <a:noFill/>
        </p:spPr>
      </p:pic>
      <p:pic>
        <p:nvPicPr>
          <p:cNvPr id="33798" name="Picture 6" descr="Image associÃ©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89002" y="3962400"/>
            <a:ext cx="5507398" cy="25908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3800" name="AutoShape 8" descr="RÃ©sultat de recherche d'images pour &quot;fonction commercial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1" name="Oval 1"/>
          <p:cNvSpPr/>
          <p:nvPr/>
        </p:nvSpPr>
        <p:spPr>
          <a:xfrm>
            <a:off x="3810000" y="1524000"/>
            <a:ext cx="2438400" cy="220980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/>
              <a:t>Fonction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commerciale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cxnSp>
        <p:nvCxnSpPr>
          <p:cNvPr id="24" name="Connecteur droit 23"/>
          <p:cNvCxnSpPr/>
          <p:nvPr/>
        </p:nvCxnSpPr>
        <p:spPr>
          <a:xfrm flipH="1">
            <a:off x="2438400" y="2628899"/>
            <a:ext cx="1219197" cy="800101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 flipH="1" flipV="1">
            <a:off x="6553200" y="2628900"/>
            <a:ext cx="1295400" cy="95250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Isosceles Triangle 46">
            <a:extLst>
              <a:ext uri="{FF2B5EF4-FFF2-40B4-BE49-F238E27FC236}">
                <a16:creationId xmlns:a16="http://schemas.microsoft.com/office/drawing/2014/main" xmlns="" id="{295CE181-88D7-4815-BC0F-BC87C9322824}"/>
              </a:ext>
            </a:extLst>
          </p:cNvPr>
          <p:cNvSpPr/>
          <p:nvPr/>
        </p:nvSpPr>
        <p:spPr>
          <a:xfrm rot="5400000">
            <a:off x="-31494" y="460098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87437119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512136" y="4179703"/>
            <a:ext cx="1579563" cy="2103438"/>
          </a:xfrm>
          <a:prstGeom prst="round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: Rounded Corners 17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1325234" y="3769310"/>
            <a:ext cx="342900" cy="455613"/>
          </a:xfrm>
          <a:prstGeom prst="roundRect">
            <a:avLst/>
          </a:prstGeom>
          <a:solidFill>
            <a:srgbClr val="85C40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TextBox 66"/>
          <p:cNvSpPr txBox="1">
            <a:spLocks noChangeArrowheads="1"/>
          </p:cNvSpPr>
          <p:nvPr/>
        </p:nvSpPr>
        <p:spPr bwMode="auto">
          <a:xfrm>
            <a:off x="0" y="214313"/>
            <a:ext cx="5643563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fr-FR" sz="3200" b="1" dirty="0" smtClean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endParaRPr lang="en-US" altLang="fr-FR" sz="3200" b="1" dirty="0">
              <a:solidFill>
                <a:srgbClr val="FF0000"/>
              </a:solidFill>
              <a:latin typeface="Baskerville Old Face" pitchFamily="18" charset="0"/>
            </a:endParaRPr>
          </a:p>
          <a:p>
            <a:pPr algn="r"/>
            <a:endParaRPr lang="en-US" altLang="fr-FR" dirty="0">
              <a:solidFill>
                <a:srgbClr val="56595E"/>
              </a:solidFill>
              <a:latin typeface="Candara" pitchFamily="34" charset="0"/>
            </a:endParaRPr>
          </a:p>
        </p:txBody>
      </p:sp>
      <p:pic>
        <p:nvPicPr>
          <p:cNvPr id="19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34532B92-D7C0-4F87-9B7D-BC224D4E91F4}"/>
              </a:ext>
            </a:extLst>
          </p:cNvPr>
          <p:cNvSpPr/>
          <p:nvPr/>
        </p:nvSpPr>
        <p:spPr>
          <a:xfrm>
            <a:off x="2214546" y="2285992"/>
            <a:ext cx="6429420" cy="23574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12">
            <a:extLst>
              <a:ext uri="{FF2B5EF4-FFF2-40B4-BE49-F238E27FC236}">
                <a16:creationId xmlns="" xmlns:a16="http://schemas.microsoft.com/office/drawing/2014/main" id="{4040B62E-ECDA-4DD9-A6E6-142DF26E5F8A}"/>
              </a:ext>
            </a:extLst>
          </p:cNvPr>
          <p:cNvGrpSpPr/>
          <p:nvPr/>
        </p:nvGrpSpPr>
        <p:grpSpPr>
          <a:xfrm rot="10800000">
            <a:off x="2643174" y="2714620"/>
            <a:ext cx="4325218" cy="51094"/>
            <a:chOff x="4908400" y="1972933"/>
            <a:chExt cx="6290664" cy="55734"/>
          </a:xfrm>
          <a:solidFill>
            <a:srgbClr val="A5A5A5"/>
          </a:solidFill>
        </p:grpSpPr>
        <p:cxnSp>
          <p:nvCxnSpPr>
            <p:cNvPr id="33" name="Straight Connector 13">
              <a:extLst>
                <a:ext uri="{FF2B5EF4-FFF2-40B4-BE49-F238E27FC236}">
                  <a16:creationId xmlns="" xmlns:a16="http://schemas.microsoft.com/office/drawing/2014/main" id="{FFE5C481-8A4A-461C-A776-7213F8C3AB0D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4908400" y="1996044"/>
              <a:ext cx="5884885" cy="0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 59">
              <a:extLst>
                <a:ext uri="{FF2B5EF4-FFF2-40B4-BE49-F238E27FC236}">
                  <a16:creationId xmlns="" xmlns:a16="http://schemas.microsoft.com/office/drawing/2014/main" id="{2345658E-D69D-4AFB-B26F-8E8303BF50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33304" y="1972933"/>
              <a:ext cx="365760" cy="55734"/>
            </a:xfrm>
            <a:custGeom>
              <a:avLst/>
              <a:gdLst>
                <a:gd name="connsiteX0" fmla="*/ 105727 w 1500187"/>
                <a:gd name="connsiteY0" fmla="*/ 0 h 228600"/>
                <a:gd name="connsiteX1" fmla="*/ 114300 w 1500187"/>
                <a:gd name="connsiteY1" fmla="*/ 0 h 228600"/>
                <a:gd name="connsiteX2" fmla="*/ 1385887 w 1500187"/>
                <a:gd name="connsiteY2" fmla="*/ 0 h 228600"/>
                <a:gd name="connsiteX3" fmla="*/ 1500187 w 1500187"/>
                <a:gd name="connsiteY3" fmla="*/ 114300 h 228600"/>
                <a:gd name="connsiteX4" fmla="*/ 1385887 w 1500187"/>
                <a:gd name="connsiteY4" fmla="*/ 228600 h 228600"/>
                <a:gd name="connsiteX5" fmla="*/ 114300 w 1500187"/>
                <a:gd name="connsiteY5" fmla="*/ 228600 h 228600"/>
                <a:gd name="connsiteX6" fmla="*/ 105727 w 1500187"/>
                <a:gd name="connsiteY6" fmla="*/ 228600 h 228600"/>
                <a:gd name="connsiteX7" fmla="*/ 105727 w 1500187"/>
                <a:gd name="connsiteY7" fmla="*/ 226869 h 228600"/>
                <a:gd name="connsiteX8" fmla="*/ 69809 w 1500187"/>
                <a:gd name="connsiteY8" fmla="*/ 219618 h 228600"/>
                <a:gd name="connsiteX9" fmla="*/ 0 w 1500187"/>
                <a:gd name="connsiteY9" fmla="*/ 114300 h 228600"/>
                <a:gd name="connsiteX10" fmla="*/ 69809 w 1500187"/>
                <a:gd name="connsiteY10" fmla="*/ 8982 h 228600"/>
                <a:gd name="connsiteX11" fmla="*/ 105727 w 1500187"/>
                <a:gd name="connsiteY11" fmla="*/ 1731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0187" h="228600">
                  <a:moveTo>
                    <a:pt x="105727" y="0"/>
                  </a:moveTo>
                  <a:lnTo>
                    <a:pt x="114300" y="0"/>
                  </a:lnTo>
                  <a:lnTo>
                    <a:pt x="1385887" y="0"/>
                  </a:lnTo>
                  <a:cubicBezTo>
                    <a:pt x="1449013" y="0"/>
                    <a:pt x="1500187" y="51174"/>
                    <a:pt x="1500187" y="114300"/>
                  </a:cubicBezTo>
                  <a:cubicBezTo>
                    <a:pt x="1500187" y="177426"/>
                    <a:pt x="1449013" y="228600"/>
                    <a:pt x="1385887" y="228600"/>
                  </a:cubicBezTo>
                  <a:lnTo>
                    <a:pt x="114300" y="228600"/>
                  </a:lnTo>
                  <a:lnTo>
                    <a:pt x="105727" y="228600"/>
                  </a:lnTo>
                  <a:lnTo>
                    <a:pt x="105727" y="226869"/>
                  </a:lnTo>
                  <a:lnTo>
                    <a:pt x="69809" y="219618"/>
                  </a:lnTo>
                  <a:cubicBezTo>
                    <a:pt x="28785" y="202266"/>
                    <a:pt x="0" y="161645"/>
                    <a:pt x="0" y="114300"/>
                  </a:cubicBezTo>
                  <a:cubicBezTo>
                    <a:pt x="0" y="66956"/>
                    <a:pt x="28785" y="26334"/>
                    <a:pt x="69809" y="8982"/>
                  </a:cubicBezTo>
                  <a:lnTo>
                    <a:pt x="105727" y="173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35" name="Text Box 10">
            <a:extLst>
              <a:ext uri="{FF2B5EF4-FFF2-40B4-BE49-F238E27FC236}">
                <a16:creationId xmlns="" xmlns:a16="http://schemas.microsoft.com/office/drawing/2014/main" id="{521EF548-6C24-45D5-87CC-CD0C61059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7422" y="3071810"/>
            <a:ext cx="6286512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/>
          <a:p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Quel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est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le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rôle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de la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fonction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Marketing ?   </a:t>
            </a:r>
            <a:endParaRPr lang="en-US" sz="1600" b="1" dirty="0" smtClean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r>
              <a:rPr lang="en-US" sz="16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endParaRPr lang="en-US" sz="1600" b="1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21" grpId="0"/>
      <p:bldP spid="31" grpId="0" animBg="1"/>
      <p:bldP spid="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4" name="Picture 4" descr="Image associÃ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4572000"/>
            <a:ext cx="2133600" cy="18310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Pentagon 1"/>
          <p:cNvSpPr/>
          <p:nvPr/>
        </p:nvSpPr>
        <p:spPr>
          <a:xfrm>
            <a:off x="0" y="2057400"/>
            <a:ext cx="3657601" cy="1109116"/>
          </a:xfrm>
          <a:prstGeom prst="homePlate">
            <a:avLst/>
          </a:prstGeom>
          <a:solidFill>
            <a:srgbClr val="0000FF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/>
              <a:t>Comprendre</a:t>
            </a:r>
            <a:r>
              <a:rPr lang="en-US" sz="2000" b="1" dirty="0" smtClean="0"/>
              <a:t> les </a:t>
            </a:r>
            <a:r>
              <a:rPr lang="en-US" sz="2000" b="1" dirty="0" err="1" smtClean="0"/>
              <a:t>attentes</a:t>
            </a:r>
            <a:r>
              <a:rPr lang="en-US" sz="2000" b="1" dirty="0" smtClean="0"/>
              <a:t> des </a:t>
            </a:r>
            <a:r>
              <a:rPr lang="en-US" sz="2000" b="1" dirty="0" err="1" smtClean="0"/>
              <a:t>consommateurs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8" name="Pentagon 19"/>
          <p:cNvSpPr/>
          <p:nvPr/>
        </p:nvSpPr>
        <p:spPr>
          <a:xfrm>
            <a:off x="0" y="3276600"/>
            <a:ext cx="4800600" cy="1109116"/>
          </a:xfrm>
          <a:prstGeom prst="homePlate">
            <a:avLst/>
          </a:prstGeom>
          <a:solidFill>
            <a:srgbClr val="0000FF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609600" algn="ctr">
              <a:lnSpc>
                <a:spcPts val="3025"/>
              </a:lnSpc>
              <a:buClr>
                <a:srgbClr val="CC9900"/>
              </a:buClr>
              <a:buSzPct val="64285"/>
              <a:tabLst>
                <a:tab pos="622300" algn="l"/>
                <a:tab pos="622935" algn="l"/>
                <a:tab pos="1991995" algn="l"/>
                <a:tab pos="3782060" algn="l"/>
              </a:tabLst>
            </a:pPr>
            <a:r>
              <a:rPr lang="fr-FR" sz="2000" b="1" dirty="0" smtClean="0"/>
              <a:t>Étudier et prévoir l’évolution de la demande</a:t>
            </a:r>
          </a:p>
        </p:txBody>
      </p:sp>
      <p:sp>
        <p:nvSpPr>
          <p:cNvPr id="9" name="Pentagon 20"/>
          <p:cNvSpPr/>
          <p:nvPr/>
        </p:nvSpPr>
        <p:spPr>
          <a:xfrm>
            <a:off x="0" y="4495800"/>
            <a:ext cx="5791200" cy="1109116"/>
          </a:xfrm>
          <a:prstGeom prst="homePlate">
            <a:avLst/>
          </a:prstGeom>
          <a:solidFill>
            <a:srgbClr val="0000FF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5080" indent="-609600" algn="ctr">
              <a:lnSpc>
                <a:spcPts val="3025"/>
              </a:lnSpc>
              <a:spcBef>
                <a:spcPts val="215"/>
              </a:spcBef>
              <a:buClr>
                <a:srgbClr val="CC9900"/>
              </a:buClr>
              <a:buSzPct val="64285"/>
              <a:tabLst>
                <a:tab pos="622300" algn="l"/>
                <a:tab pos="622935" algn="l"/>
                <a:tab pos="1991995" algn="l"/>
                <a:tab pos="3782060" algn="l"/>
              </a:tabLst>
            </a:pPr>
            <a:r>
              <a:rPr lang="fr-FR" sz="2000" b="1" dirty="0" smtClean="0"/>
              <a:t>Réaliser l'adaptation continue de la  production aux besoins</a:t>
            </a:r>
          </a:p>
        </p:txBody>
      </p:sp>
      <p:sp>
        <p:nvSpPr>
          <p:cNvPr id="10" name="Pentagon 21"/>
          <p:cNvSpPr/>
          <p:nvPr/>
        </p:nvSpPr>
        <p:spPr>
          <a:xfrm>
            <a:off x="0" y="5748884"/>
            <a:ext cx="6629400" cy="1109116"/>
          </a:xfrm>
          <a:prstGeom prst="homePlate">
            <a:avLst/>
          </a:prstGeom>
          <a:solidFill>
            <a:srgbClr val="0000FF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5080" indent="-609600" algn="ctr">
              <a:lnSpc>
                <a:spcPts val="3025"/>
              </a:lnSpc>
              <a:spcBef>
                <a:spcPts val="215"/>
              </a:spcBef>
              <a:buClr>
                <a:srgbClr val="CC9900"/>
              </a:buClr>
              <a:buSzPct val="64285"/>
              <a:tabLst>
                <a:tab pos="622300" algn="l"/>
                <a:tab pos="622935" algn="l"/>
                <a:tab pos="1991995" algn="l"/>
                <a:tab pos="3782060" algn="l"/>
              </a:tabLst>
            </a:pPr>
            <a:r>
              <a:rPr lang="fr-FR" sz="2000" b="1" dirty="0" smtClean="0"/>
              <a:t>Mettre en œuvre la stratégie commerciale de  l’entreprise.</a:t>
            </a:r>
          </a:p>
        </p:txBody>
      </p:sp>
      <p:pic>
        <p:nvPicPr>
          <p:cNvPr id="71686" name="Picture 6" descr="RÃ©sultat de recherche d'images pour &quot;client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2133600"/>
            <a:ext cx="3661833" cy="2354036"/>
          </a:xfrm>
          <a:prstGeom prst="rect">
            <a:avLst/>
          </a:prstGeom>
          <a:noFill/>
        </p:spPr>
      </p:pic>
      <p:sp>
        <p:nvSpPr>
          <p:cNvPr id="11" name="ZoneTexte 10"/>
          <p:cNvSpPr txBox="1"/>
          <p:nvPr/>
        </p:nvSpPr>
        <p:spPr>
          <a:xfrm>
            <a:off x="0" y="381000"/>
            <a:ext cx="45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u="sng" dirty="0" smtClean="0">
                <a:solidFill>
                  <a:srgbClr val="00B050"/>
                </a:solidFill>
              </a:rPr>
              <a:t> </a:t>
            </a:r>
            <a:endParaRPr lang="fr-FR" sz="2800" b="1" u="sng" dirty="0">
              <a:solidFill>
                <a:srgbClr val="00B050"/>
              </a:solidFill>
            </a:endParaRPr>
          </a:p>
        </p:txBody>
      </p:sp>
      <p:sp>
        <p:nvSpPr>
          <p:cNvPr id="12" name="Isosceles Triangle 46">
            <a:extLst>
              <a:ext uri="{FF2B5EF4-FFF2-40B4-BE49-F238E27FC236}">
                <a16:creationId xmlns:a16="http://schemas.microsoft.com/office/drawing/2014/main" xmlns="" id="{295CE181-88D7-4815-BC0F-BC87C9322824}"/>
              </a:ext>
            </a:extLst>
          </p:cNvPr>
          <p:cNvSpPr/>
          <p:nvPr/>
        </p:nvSpPr>
        <p:spPr>
          <a:xfrm rot="5400000">
            <a:off x="-31494" y="460098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5"/>
          <p:cNvSpPr txBox="1">
            <a:spLocks noChangeArrowheads="1"/>
          </p:cNvSpPr>
          <p:nvPr/>
        </p:nvSpPr>
        <p:spPr bwMode="auto">
          <a:xfrm>
            <a:off x="357158" y="428604"/>
            <a:ext cx="71437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 Rôle de la fonction marketing  </a:t>
            </a:r>
            <a:endParaRPr lang="fr-FR" sz="3200" b="1" dirty="0">
              <a:solidFill>
                <a:srgbClr val="FF0000"/>
              </a:solidFill>
              <a:latin typeface="Trebuchet MS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00" y="300354"/>
            <a:ext cx="6403847" cy="430887"/>
          </a:xfrm>
        </p:spPr>
        <p:txBody>
          <a:bodyPr>
            <a:no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On </a:t>
            </a:r>
            <a:r>
              <a:rPr lang="fr-FR" sz="3200" b="1" spc="-10" dirty="0" smtClean="0">
                <a:solidFill>
                  <a:srgbClr val="FF0000"/>
                </a:solidFill>
              </a:rPr>
              <a:t>distingue </a:t>
            </a:r>
            <a:r>
              <a:rPr lang="fr-FR" sz="3200" b="1" dirty="0" smtClean="0">
                <a:solidFill>
                  <a:srgbClr val="FF0000"/>
                </a:solidFill>
              </a:rPr>
              <a:t>2 </a:t>
            </a:r>
            <a:r>
              <a:rPr lang="fr-FR" sz="3200" b="1" spc="-5" dirty="0" smtClean="0">
                <a:solidFill>
                  <a:srgbClr val="FF0000"/>
                </a:solidFill>
              </a:rPr>
              <a:t>niveaux du</a:t>
            </a:r>
            <a:r>
              <a:rPr lang="fr-FR" sz="3200" b="1" spc="50" dirty="0" smtClean="0">
                <a:solidFill>
                  <a:srgbClr val="FF0000"/>
                </a:solidFill>
              </a:rPr>
              <a:t> </a:t>
            </a:r>
            <a:r>
              <a:rPr lang="fr-FR" sz="3200" b="1" spc="-5" dirty="0" smtClean="0">
                <a:solidFill>
                  <a:srgbClr val="FF0000"/>
                </a:solidFill>
              </a:rPr>
              <a:t>marketing</a:t>
            </a:r>
            <a:endParaRPr lang="fr-FR" sz="3200" b="1" dirty="0">
              <a:solidFill>
                <a:srgbClr val="FF0000"/>
              </a:solidFill>
            </a:endParaRPr>
          </a:p>
        </p:txBody>
      </p:sp>
      <p:pic>
        <p:nvPicPr>
          <p:cNvPr id="4" name="Picture 18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lum bright="-60000" contrast="86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429000"/>
            <a:ext cx="1130951" cy="96179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</p:pic>
      <p:sp>
        <p:nvSpPr>
          <p:cNvPr id="5" name="Chevron 4"/>
          <p:cNvSpPr/>
          <p:nvPr/>
        </p:nvSpPr>
        <p:spPr>
          <a:xfrm>
            <a:off x="-152400" y="1676400"/>
            <a:ext cx="3200400" cy="1740876"/>
          </a:xfrm>
          <a:prstGeom prst="chevron">
            <a:avLst/>
          </a:prstGeom>
          <a:solidFill>
            <a:srgbClr val="00B0F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Marketing </a:t>
            </a:r>
            <a:r>
              <a:rPr lang="en-US" sz="2000" b="1" dirty="0" err="1" smtClean="0">
                <a:solidFill>
                  <a:schemeClr val="tx1"/>
                </a:solidFill>
              </a:rPr>
              <a:t>stratégique</a:t>
            </a:r>
            <a:r>
              <a:rPr lang="en-US" sz="2000" b="1" dirty="0" smtClean="0">
                <a:solidFill>
                  <a:schemeClr val="tx1"/>
                </a:solidFill>
              </a:rPr>
              <a:t> 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Chevron 5"/>
          <p:cNvSpPr/>
          <p:nvPr/>
        </p:nvSpPr>
        <p:spPr>
          <a:xfrm>
            <a:off x="0" y="4419600"/>
            <a:ext cx="3048000" cy="1664676"/>
          </a:xfrm>
          <a:prstGeom prst="chevron">
            <a:avLst/>
          </a:prstGeom>
          <a:solidFill>
            <a:srgbClr val="00B0F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Marketing </a:t>
            </a:r>
            <a:r>
              <a:rPr lang="en-US" sz="2000" b="1" dirty="0" err="1" smtClean="0">
                <a:solidFill>
                  <a:schemeClr val="tx1"/>
                </a:solidFill>
              </a:rPr>
              <a:t>opérationnel</a:t>
            </a:r>
            <a:r>
              <a:rPr lang="en-US" sz="2000" b="1" dirty="0" smtClean="0">
                <a:solidFill>
                  <a:schemeClr val="tx1"/>
                </a:solidFill>
              </a:rPr>
              <a:t> 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TextBox 56"/>
          <p:cNvSpPr txBox="1"/>
          <p:nvPr/>
        </p:nvSpPr>
        <p:spPr>
          <a:xfrm>
            <a:off x="3124200" y="990600"/>
            <a:ext cx="6019800" cy="27202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8900000" scaled="1"/>
            <a:tileRect/>
          </a:gra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marL="196850">
              <a:lnSpc>
                <a:spcPts val="2590"/>
              </a:lnSpc>
              <a:spcBef>
                <a:spcPts val="1735"/>
              </a:spcBef>
              <a:buFont typeface="Wingdings" pitchFamily="2" charset="2"/>
              <a:buChar char="§"/>
            </a:pPr>
            <a:r>
              <a:rPr lang="fr-FR" sz="2400" spc="-5" dirty="0" smtClean="0">
                <a:latin typeface="Trebuchet MS"/>
                <a:cs typeface="Trebuchet MS"/>
              </a:rPr>
              <a:t>Une démarche </a:t>
            </a:r>
            <a:r>
              <a:rPr lang="fr-FR" sz="2400" u="sng" spc="-5" dirty="0" smtClean="0">
                <a:latin typeface="Trebuchet MS"/>
                <a:cs typeface="Trebuchet MS"/>
              </a:rPr>
              <a:t>d’analyse et de </a:t>
            </a:r>
            <a:r>
              <a:rPr lang="fr-FR" sz="2400" u="sng" dirty="0" smtClean="0">
                <a:latin typeface="Trebuchet MS"/>
                <a:cs typeface="Trebuchet MS"/>
              </a:rPr>
              <a:t>réflexion </a:t>
            </a:r>
            <a:r>
              <a:rPr lang="fr-FR" sz="2400" spc="-5" dirty="0" smtClean="0">
                <a:latin typeface="Trebuchet MS"/>
                <a:cs typeface="Trebuchet MS"/>
              </a:rPr>
              <a:t>pour</a:t>
            </a:r>
            <a:r>
              <a:rPr lang="fr-FR" sz="2400" spc="90" dirty="0" smtClean="0">
                <a:latin typeface="Trebuchet MS"/>
                <a:cs typeface="Trebuchet MS"/>
              </a:rPr>
              <a:t> </a:t>
            </a:r>
            <a:r>
              <a:rPr lang="fr-FR" sz="2400" dirty="0" smtClean="0">
                <a:latin typeface="Trebuchet MS"/>
                <a:cs typeface="Trebuchet MS"/>
              </a:rPr>
              <a:t>réaliser </a:t>
            </a:r>
            <a:r>
              <a:rPr lang="fr-FR" sz="2400" spc="-5" dirty="0" smtClean="0">
                <a:latin typeface="Trebuchet MS"/>
                <a:cs typeface="Trebuchet MS"/>
              </a:rPr>
              <a:t>l’adéquation	entre </a:t>
            </a:r>
            <a:r>
              <a:rPr lang="fr-FR" sz="2400" spc="-5" dirty="0" smtClean="0">
                <a:solidFill>
                  <a:srgbClr val="FF0000"/>
                </a:solidFill>
                <a:latin typeface="Trebuchet MS"/>
                <a:cs typeface="Trebuchet MS"/>
              </a:rPr>
              <a:t>l’offre de l’entreprise et </a:t>
            </a:r>
            <a:r>
              <a:rPr lang="fr-FR" sz="2400" dirty="0" smtClean="0">
                <a:solidFill>
                  <a:srgbClr val="FF0000"/>
                </a:solidFill>
                <a:latin typeface="Trebuchet MS"/>
                <a:cs typeface="Trebuchet MS"/>
              </a:rPr>
              <a:t>la </a:t>
            </a:r>
            <a:r>
              <a:rPr lang="fr-FR" sz="2400" spc="-10" dirty="0" smtClean="0">
                <a:solidFill>
                  <a:srgbClr val="FF0000"/>
                </a:solidFill>
                <a:latin typeface="Trebuchet MS"/>
                <a:cs typeface="Trebuchet MS"/>
              </a:rPr>
              <a:t>demande  </a:t>
            </a:r>
            <a:r>
              <a:rPr lang="fr-FR" sz="2400" spc="-5" dirty="0" smtClean="0">
                <a:latin typeface="Trebuchet MS"/>
                <a:cs typeface="Trebuchet MS"/>
              </a:rPr>
              <a:t>présente et future du marché. </a:t>
            </a:r>
          </a:p>
          <a:p>
            <a:pPr marL="103505" marR="269240">
              <a:lnSpc>
                <a:spcPct val="80000"/>
              </a:lnSpc>
              <a:spcBef>
                <a:spcPts val="285"/>
              </a:spcBef>
              <a:buFont typeface="Wingdings" pitchFamily="2" charset="2"/>
              <a:buChar char="§"/>
              <a:tabLst>
                <a:tab pos="2024380" algn="l"/>
              </a:tabLst>
            </a:pPr>
            <a:r>
              <a:rPr lang="fr-FR" sz="2400" spc="-5" dirty="0" smtClean="0">
                <a:latin typeface="Trebuchet MS"/>
                <a:cs typeface="Trebuchet MS"/>
              </a:rPr>
              <a:t>Cette démarche s’inscrit  dans </a:t>
            </a:r>
            <a:r>
              <a:rPr lang="fr-FR" sz="2400" dirty="0" smtClean="0">
                <a:latin typeface="Trebuchet MS"/>
                <a:cs typeface="Trebuchet MS"/>
              </a:rPr>
              <a:t>le </a:t>
            </a:r>
            <a:r>
              <a:rPr lang="fr-FR" sz="2400" spc="-5" dirty="0" smtClean="0">
                <a:latin typeface="Trebuchet MS"/>
                <a:cs typeface="Trebuchet MS"/>
              </a:rPr>
              <a:t>cadre de </a:t>
            </a:r>
            <a:r>
              <a:rPr lang="fr-FR" sz="2400" dirty="0" smtClean="0">
                <a:latin typeface="Trebuchet MS"/>
                <a:cs typeface="Trebuchet MS"/>
              </a:rPr>
              <a:t>la </a:t>
            </a:r>
            <a:r>
              <a:rPr lang="fr-FR" sz="2400" spc="-5" dirty="0" smtClean="0">
                <a:latin typeface="Trebuchet MS"/>
                <a:cs typeface="Trebuchet MS"/>
              </a:rPr>
              <a:t>stratégie globale de</a:t>
            </a:r>
            <a:r>
              <a:rPr lang="fr-FR" sz="2400" spc="110" dirty="0" smtClean="0">
                <a:latin typeface="Trebuchet MS"/>
                <a:cs typeface="Trebuchet MS"/>
              </a:rPr>
              <a:t> </a:t>
            </a:r>
            <a:r>
              <a:rPr lang="fr-FR" sz="2400" spc="-5" dirty="0" smtClean="0">
                <a:latin typeface="Trebuchet MS"/>
                <a:cs typeface="Trebuchet MS"/>
              </a:rPr>
              <a:t>l'entreprise.</a:t>
            </a:r>
            <a:endParaRPr lang="fr-FR" sz="2400" dirty="0" smtClean="0">
              <a:latin typeface="Trebuchet MS"/>
              <a:cs typeface="Trebuchet MS"/>
            </a:endParaRPr>
          </a:p>
          <a:p>
            <a:pPr algn="just"/>
            <a:endParaRPr lang="en-US" sz="2400" dirty="0">
              <a:solidFill>
                <a:schemeClr val="bg1"/>
              </a:solidFill>
              <a:latin typeface="+mj-lt"/>
              <a:cs typeface="Browallia New" panose="020B0604020202020204" pitchFamily="34" charset="-34"/>
            </a:endParaRPr>
          </a:p>
        </p:txBody>
      </p:sp>
      <p:sp>
        <p:nvSpPr>
          <p:cNvPr id="8" name="TextBox 56"/>
          <p:cNvSpPr txBox="1"/>
          <p:nvPr/>
        </p:nvSpPr>
        <p:spPr>
          <a:xfrm>
            <a:off x="3124200" y="4114800"/>
            <a:ext cx="6019800" cy="201593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8900000" scaled="1"/>
            <a:tileRect/>
          </a:gra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marL="355600" marR="5080" indent="24130" algn="just">
              <a:lnSpc>
                <a:spcPct val="100000"/>
              </a:lnSpc>
              <a:spcBef>
                <a:spcPts val="580"/>
              </a:spcBef>
              <a:buFont typeface="Wingdings" pitchFamily="2" charset="2"/>
              <a:buChar char="§"/>
            </a:pPr>
            <a:r>
              <a:rPr lang="fr-FR" sz="2400" spc="-5" dirty="0" smtClean="0">
                <a:latin typeface="Trebuchet MS"/>
                <a:cs typeface="Trebuchet MS"/>
              </a:rPr>
              <a:t>C’est </a:t>
            </a:r>
            <a:r>
              <a:rPr lang="fr-FR" sz="2400" u="sng" spc="-5" dirty="0" smtClean="0">
                <a:latin typeface="Trebuchet MS"/>
                <a:cs typeface="Trebuchet MS"/>
              </a:rPr>
              <a:t>la mise en œuvre des décisions prises </a:t>
            </a:r>
            <a:r>
              <a:rPr lang="fr-FR" sz="2400" u="sng" dirty="0" smtClean="0">
                <a:latin typeface="Trebuchet MS"/>
                <a:cs typeface="Trebuchet MS"/>
              </a:rPr>
              <a:t>au </a:t>
            </a:r>
            <a:r>
              <a:rPr lang="fr-FR" sz="2400" u="sng" spc="-5" dirty="0" smtClean="0">
                <a:latin typeface="Trebuchet MS"/>
                <a:cs typeface="Trebuchet MS"/>
              </a:rPr>
              <a:t>niveau  </a:t>
            </a:r>
            <a:r>
              <a:rPr lang="fr-FR" sz="2400" u="sng" dirty="0" smtClean="0">
                <a:latin typeface="Trebuchet MS"/>
                <a:cs typeface="Trebuchet MS"/>
              </a:rPr>
              <a:t>stratégique</a:t>
            </a:r>
            <a:r>
              <a:rPr lang="fr-FR" sz="2400" dirty="0" smtClean="0">
                <a:latin typeface="Trebuchet MS"/>
                <a:cs typeface="Trebuchet MS"/>
              </a:rPr>
              <a:t>. Ce </a:t>
            </a:r>
            <a:r>
              <a:rPr lang="fr-FR" sz="2400" spc="-5" dirty="0" smtClean="0">
                <a:latin typeface="Trebuchet MS"/>
                <a:cs typeface="Trebuchet MS"/>
              </a:rPr>
              <a:t>niveau comprend quatre grandes actions  ou</a:t>
            </a:r>
            <a:r>
              <a:rPr lang="fr-FR" sz="2400" spc="235" dirty="0" smtClean="0">
                <a:latin typeface="Trebuchet MS"/>
                <a:cs typeface="Trebuchet MS"/>
              </a:rPr>
              <a:t> </a:t>
            </a:r>
            <a:r>
              <a:rPr lang="fr-FR" sz="2400" spc="-5" dirty="0" smtClean="0">
                <a:latin typeface="Trebuchet MS"/>
                <a:cs typeface="Trebuchet MS"/>
              </a:rPr>
              <a:t>politiques</a:t>
            </a:r>
            <a:r>
              <a:rPr lang="fr-FR" sz="2400" spc="250" dirty="0" smtClean="0">
                <a:latin typeface="Trebuchet MS"/>
                <a:cs typeface="Trebuchet MS"/>
              </a:rPr>
              <a:t> </a:t>
            </a:r>
            <a:r>
              <a:rPr lang="fr-FR" sz="2400" spc="-5" dirty="0" smtClean="0">
                <a:latin typeface="Trebuchet MS"/>
                <a:cs typeface="Trebuchet MS"/>
              </a:rPr>
              <a:t>désignées</a:t>
            </a:r>
            <a:r>
              <a:rPr lang="fr-FR" sz="2400" spc="250" dirty="0" smtClean="0">
                <a:latin typeface="Trebuchet MS"/>
                <a:cs typeface="Trebuchet MS"/>
              </a:rPr>
              <a:t> </a:t>
            </a:r>
            <a:r>
              <a:rPr lang="fr-FR" sz="2400" spc="-5" dirty="0" smtClean="0">
                <a:latin typeface="Trebuchet MS"/>
                <a:cs typeface="Trebuchet MS"/>
              </a:rPr>
              <a:t>par</a:t>
            </a:r>
            <a:r>
              <a:rPr lang="fr-FR" sz="2400" spc="235" dirty="0" smtClean="0">
                <a:latin typeface="Trebuchet MS"/>
                <a:cs typeface="Trebuchet MS"/>
              </a:rPr>
              <a:t> </a:t>
            </a:r>
            <a:r>
              <a:rPr lang="fr-FR" sz="2400" dirty="0" smtClean="0">
                <a:latin typeface="Trebuchet MS"/>
                <a:cs typeface="Trebuchet MS"/>
              </a:rPr>
              <a:t>le</a:t>
            </a:r>
            <a:r>
              <a:rPr lang="fr-FR" sz="2400" spc="235" dirty="0" smtClean="0">
                <a:latin typeface="Trebuchet MS"/>
                <a:cs typeface="Trebuchet MS"/>
              </a:rPr>
              <a:t> </a:t>
            </a:r>
          </a:p>
          <a:p>
            <a:pPr marL="355600" marR="5080" indent="24130" algn="just">
              <a:lnSpc>
                <a:spcPct val="100000"/>
              </a:lnSpc>
              <a:spcBef>
                <a:spcPts val="580"/>
              </a:spcBef>
            </a:pPr>
            <a:r>
              <a:rPr lang="fr-FR" sz="2400" dirty="0" smtClean="0">
                <a:latin typeface="Trebuchet MS"/>
                <a:cs typeface="Trebuchet MS"/>
              </a:rPr>
              <a:t>«</a:t>
            </a:r>
            <a:r>
              <a:rPr lang="fr-FR" sz="2400" spc="240" dirty="0" smtClean="0">
                <a:latin typeface="Trebuchet MS"/>
                <a:cs typeface="Trebuchet MS"/>
              </a:rPr>
              <a:t> </a:t>
            </a:r>
            <a:r>
              <a:rPr lang="fr-FR" sz="2400" spc="-5" dirty="0" smtClean="0">
                <a:solidFill>
                  <a:srgbClr val="FF0000"/>
                </a:solidFill>
                <a:latin typeface="Trebuchet MS"/>
                <a:cs typeface="Trebuchet MS"/>
              </a:rPr>
              <a:t>marketing</a:t>
            </a:r>
            <a:r>
              <a:rPr lang="fr-FR" sz="2400" spc="229" dirty="0" smtClean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fr-FR" sz="2400" spc="-5" dirty="0" smtClean="0">
                <a:solidFill>
                  <a:srgbClr val="FF0000"/>
                </a:solidFill>
                <a:latin typeface="Trebuchet MS"/>
                <a:cs typeface="Trebuchet MS"/>
              </a:rPr>
              <a:t>mix</a:t>
            </a:r>
            <a:r>
              <a:rPr lang="fr-FR" sz="2400" spc="225" dirty="0" smtClean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fr-FR" sz="2400" dirty="0" smtClean="0">
                <a:latin typeface="Trebuchet MS"/>
                <a:cs typeface="Trebuchet MS"/>
              </a:rPr>
              <a:t>»</a:t>
            </a:r>
            <a:r>
              <a:rPr lang="fr-FR" sz="2400" spc="240" dirty="0" smtClean="0">
                <a:latin typeface="Trebuchet MS"/>
                <a:cs typeface="Trebuchet MS"/>
              </a:rPr>
              <a:t> </a:t>
            </a:r>
            <a:r>
              <a:rPr lang="fr-FR" sz="2400" spc="-5" dirty="0" smtClean="0">
                <a:latin typeface="Trebuchet MS"/>
                <a:cs typeface="Trebuchet MS"/>
              </a:rPr>
              <a:t>ou</a:t>
            </a:r>
            <a:r>
              <a:rPr lang="fr-FR" sz="2400" spc="250" dirty="0" smtClean="0">
                <a:latin typeface="Trebuchet MS"/>
                <a:cs typeface="Trebuchet MS"/>
              </a:rPr>
              <a:t> </a:t>
            </a:r>
            <a:r>
              <a:rPr lang="fr-FR" sz="2400" dirty="0" smtClean="0">
                <a:latin typeface="Trebuchet MS"/>
                <a:cs typeface="Trebuchet MS"/>
              </a:rPr>
              <a:t>les«</a:t>
            </a:r>
            <a:r>
              <a:rPr lang="fr-FR" sz="2400" dirty="0" smtClean="0">
                <a:solidFill>
                  <a:srgbClr val="FF0000"/>
                </a:solidFill>
                <a:latin typeface="Trebuchet MS"/>
                <a:cs typeface="Trebuchet MS"/>
              </a:rPr>
              <a:t>4P </a:t>
            </a:r>
            <a:r>
              <a:rPr lang="fr-FR" sz="2400" dirty="0" smtClean="0">
                <a:latin typeface="Trebuchet MS"/>
                <a:cs typeface="Trebuchet MS"/>
              </a:rPr>
              <a:t>» </a:t>
            </a:r>
            <a:endParaRPr lang="fr-FR"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1066800" y="1143000"/>
            <a:ext cx="2314600" cy="3413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Analyse du marché</a:t>
            </a:r>
            <a:endParaRPr lang="fr-FR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5486400" y="1143000"/>
            <a:ext cx="2664296" cy="3413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Analyse de l’entreprise</a:t>
            </a:r>
          </a:p>
        </p:txBody>
      </p:sp>
      <p:sp>
        <p:nvSpPr>
          <p:cNvPr id="8" name="Rectangle à coins arrondis 7"/>
          <p:cNvSpPr/>
          <p:nvPr/>
        </p:nvSpPr>
        <p:spPr>
          <a:xfrm>
            <a:off x="685800" y="1752600"/>
            <a:ext cx="864096" cy="3413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Offre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2438400" y="1752600"/>
            <a:ext cx="1188132" cy="3413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Demande</a:t>
            </a:r>
          </a:p>
        </p:txBody>
      </p:sp>
      <p:sp>
        <p:nvSpPr>
          <p:cNvPr id="14" name="Rectangle à coins arrondis 13"/>
          <p:cNvSpPr/>
          <p:nvPr/>
        </p:nvSpPr>
        <p:spPr>
          <a:xfrm>
            <a:off x="5257800" y="1752600"/>
            <a:ext cx="1219161" cy="3413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Forces</a:t>
            </a:r>
          </a:p>
        </p:txBody>
      </p:sp>
      <p:sp>
        <p:nvSpPr>
          <p:cNvPr id="15" name="Rectangle à coins arrondis 14"/>
          <p:cNvSpPr/>
          <p:nvPr/>
        </p:nvSpPr>
        <p:spPr>
          <a:xfrm>
            <a:off x="7086600" y="1752600"/>
            <a:ext cx="1219161" cy="3413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Faiblesses</a:t>
            </a:r>
          </a:p>
        </p:txBody>
      </p:sp>
      <p:sp>
        <p:nvSpPr>
          <p:cNvPr id="17" name="Rectangle à coins arrondis 16"/>
          <p:cNvSpPr/>
          <p:nvPr/>
        </p:nvSpPr>
        <p:spPr>
          <a:xfrm>
            <a:off x="1763688" y="3124200"/>
            <a:ext cx="5760640" cy="3413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Choix de la stratégie Marketing</a:t>
            </a:r>
            <a:endParaRPr lang="fr-FR" dirty="0"/>
          </a:p>
        </p:txBody>
      </p:sp>
      <p:sp>
        <p:nvSpPr>
          <p:cNvPr id="20" name="Rectangle à coins arrondis 19"/>
          <p:cNvSpPr/>
          <p:nvPr/>
        </p:nvSpPr>
        <p:spPr>
          <a:xfrm>
            <a:off x="1828800" y="3810000"/>
            <a:ext cx="1836204" cy="3413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Segmentation</a:t>
            </a:r>
            <a:endParaRPr lang="fr-FR" dirty="0"/>
          </a:p>
        </p:txBody>
      </p:sp>
      <p:sp>
        <p:nvSpPr>
          <p:cNvPr id="21" name="Rectangle à coins arrondis 20"/>
          <p:cNvSpPr/>
          <p:nvPr/>
        </p:nvSpPr>
        <p:spPr>
          <a:xfrm>
            <a:off x="3810000" y="3886200"/>
            <a:ext cx="1836204" cy="3413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Ciblage</a:t>
            </a:r>
            <a:endParaRPr lang="fr-FR" dirty="0"/>
          </a:p>
        </p:txBody>
      </p:sp>
      <p:sp>
        <p:nvSpPr>
          <p:cNvPr id="22" name="Rectangle à coins arrondis 21"/>
          <p:cNvSpPr/>
          <p:nvPr/>
        </p:nvSpPr>
        <p:spPr>
          <a:xfrm>
            <a:off x="5943600" y="3886200"/>
            <a:ext cx="1836204" cy="3413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Positionnement</a:t>
            </a:r>
            <a:endParaRPr lang="fr-FR" dirty="0"/>
          </a:p>
        </p:txBody>
      </p:sp>
      <p:sp>
        <p:nvSpPr>
          <p:cNvPr id="24" name="Rectangle à coins arrondis 23"/>
          <p:cNvSpPr/>
          <p:nvPr/>
        </p:nvSpPr>
        <p:spPr>
          <a:xfrm>
            <a:off x="1828800" y="5029200"/>
            <a:ext cx="5760640" cy="3413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Mise en œuvre du plan Marketing</a:t>
            </a:r>
            <a:endParaRPr lang="fr-FR" dirty="0"/>
          </a:p>
        </p:txBody>
      </p:sp>
      <p:sp>
        <p:nvSpPr>
          <p:cNvPr id="26" name="Rectangle à coins arrondis 25"/>
          <p:cNvSpPr/>
          <p:nvPr/>
        </p:nvSpPr>
        <p:spPr>
          <a:xfrm>
            <a:off x="1752600" y="5638800"/>
            <a:ext cx="1188132" cy="3413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Produit</a:t>
            </a:r>
            <a:endParaRPr lang="fr-FR" dirty="0"/>
          </a:p>
        </p:txBody>
      </p:sp>
      <p:sp>
        <p:nvSpPr>
          <p:cNvPr id="27" name="Rectangle à coins arrondis 26"/>
          <p:cNvSpPr/>
          <p:nvPr/>
        </p:nvSpPr>
        <p:spPr>
          <a:xfrm>
            <a:off x="3200400" y="5715000"/>
            <a:ext cx="1188132" cy="3413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Prix</a:t>
            </a:r>
            <a:endParaRPr lang="fr-FR" dirty="0"/>
          </a:p>
        </p:txBody>
      </p:sp>
      <p:sp>
        <p:nvSpPr>
          <p:cNvPr id="28" name="Rectangle à coins arrondis 27"/>
          <p:cNvSpPr/>
          <p:nvPr/>
        </p:nvSpPr>
        <p:spPr>
          <a:xfrm>
            <a:off x="4648200" y="5715000"/>
            <a:ext cx="1552192" cy="3413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Distribution</a:t>
            </a:r>
            <a:endParaRPr lang="fr-FR" dirty="0"/>
          </a:p>
        </p:txBody>
      </p:sp>
      <p:sp>
        <p:nvSpPr>
          <p:cNvPr id="29" name="Rectangle à coins arrondis 28"/>
          <p:cNvSpPr/>
          <p:nvPr/>
        </p:nvSpPr>
        <p:spPr>
          <a:xfrm>
            <a:off x="6400800" y="5715000"/>
            <a:ext cx="1935215" cy="3413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Communication</a:t>
            </a:r>
            <a:endParaRPr lang="fr-FR" dirty="0"/>
          </a:p>
        </p:txBody>
      </p:sp>
      <p:sp>
        <p:nvSpPr>
          <p:cNvPr id="30" name="ZoneTexte 29"/>
          <p:cNvSpPr txBox="1"/>
          <p:nvPr/>
        </p:nvSpPr>
        <p:spPr>
          <a:xfrm rot="16200000">
            <a:off x="-936532" y="1612278"/>
            <a:ext cx="2465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smtClean="0">
                <a:solidFill>
                  <a:srgbClr val="FF0000"/>
                </a:solidFill>
              </a:rPr>
              <a:t>Etude de marché</a:t>
            </a:r>
            <a:endParaRPr lang="fr-FR" sz="1400" b="1" dirty="0">
              <a:solidFill>
                <a:srgbClr val="FF0000"/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 rot="16200000">
            <a:off x="151415" y="3325503"/>
            <a:ext cx="1992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smtClean="0">
                <a:solidFill>
                  <a:srgbClr val="FF0000"/>
                </a:solidFill>
              </a:rPr>
              <a:t>Marketing stratégique</a:t>
            </a:r>
            <a:endParaRPr lang="fr-FR" sz="1400" b="1" dirty="0">
              <a:solidFill>
                <a:srgbClr val="FF0000"/>
              </a:solidFill>
            </a:endParaRPr>
          </a:p>
        </p:txBody>
      </p:sp>
      <p:sp>
        <p:nvSpPr>
          <p:cNvPr id="32" name="ZoneTexte 31"/>
          <p:cNvSpPr txBox="1"/>
          <p:nvPr/>
        </p:nvSpPr>
        <p:spPr>
          <a:xfrm rot="16200000">
            <a:off x="145955" y="5306703"/>
            <a:ext cx="1992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smtClean="0">
                <a:solidFill>
                  <a:srgbClr val="FF0000"/>
                </a:solidFill>
              </a:rPr>
              <a:t>Marketing  opérationnel</a:t>
            </a:r>
            <a:endParaRPr lang="fr-FR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57916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3"/>
          <p:cNvGrpSpPr/>
          <p:nvPr/>
        </p:nvGrpSpPr>
        <p:grpSpPr>
          <a:xfrm>
            <a:off x="4646769" y="4000924"/>
            <a:ext cx="2673376" cy="2212985"/>
            <a:chOff x="4643943" y="3055571"/>
            <a:chExt cx="2673376" cy="1659739"/>
          </a:xfrm>
          <a:solidFill>
            <a:srgbClr val="D78003"/>
          </a:solidFill>
        </p:grpSpPr>
        <p:sp>
          <p:nvSpPr>
            <p:cNvPr id="69" name="Freeform 12"/>
            <p:cNvSpPr>
              <a:spLocks/>
            </p:cNvSpPr>
            <p:nvPr/>
          </p:nvSpPr>
          <p:spPr bwMode="auto">
            <a:xfrm rot="16200000" flipV="1">
              <a:off x="5349842" y="2747834"/>
              <a:ext cx="1659739" cy="2275214"/>
            </a:xfrm>
            <a:custGeom>
              <a:avLst/>
              <a:gdLst/>
              <a:ahLst/>
              <a:cxnLst>
                <a:cxn ang="0">
                  <a:pos x="262" y="859"/>
                </a:cxn>
                <a:cxn ang="0">
                  <a:pos x="437" y="684"/>
                </a:cxn>
                <a:cxn ang="0">
                  <a:pos x="437" y="641"/>
                </a:cxn>
                <a:cxn ang="0">
                  <a:pos x="437" y="635"/>
                </a:cxn>
                <a:cxn ang="0">
                  <a:pos x="437" y="372"/>
                </a:cxn>
                <a:cxn ang="0">
                  <a:pos x="437" y="297"/>
                </a:cxn>
                <a:cxn ang="0">
                  <a:pos x="437" y="34"/>
                </a:cxn>
                <a:cxn ang="0">
                  <a:pos x="437" y="28"/>
                </a:cxn>
                <a:cxn ang="0">
                  <a:pos x="437" y="0"/>
                </a:cxn>
                <a:cxn ang="0">
                  <a:pos x="306" y="135"/>
                </a:cxn>
                <a:cxn ang="0">
                  <a:pos x="175" y="0"/>
                </a:cxn>
                <a:cxn ang="0">
                  <a:pos x="175" y="122"/>
                </a:cxn>
                <a:cxn ang="0">
                  <a:pos x="175" y="547"/>
                </a:cxn>
                <a:cxn ang="0">
                  <a:pos x="175" y="684"/>
                </a:cxn>
                <a:cxn ang="0">
                  <a:pos x="0" y="859"/>
                </a:cxn>
                <a:cxn ang="0">
                  <a:pos x="262" y="859"/>
                </a:cxn>
              </a:cxnLst>
              <a:rect l="0" t="0" r="r" b="b"/>
              <a:pathLst>
                <a:path w="437" h="859">
                  <a:moveTo>
                    <a:pt x="262" y="859"/>
                  </a:moveTo>
                  <a:cubicBezTo>
                    <a:pt x="358" y="859"/>
                    <a:pt x="437" y="780"/>
                    <a:pt x="437" y="684"/>
                  </a:cubicBezTo>
                  <a:cubicBezTo>
                    <a:pt x="437" y="641"/>
                    <a:pt x="437" y="641"/>
                    <a:pt x="437" y="641"/>
                  </a:cubicBezTo>
                  <a:cubicBezTo>
                    <a:pt x="437" y="635"/>
                    <a:pt x="437" y="635"/>
                    <a:pt x="437" y="635"/>
                  </a:cubicBezTo>
                  <a:cubicBezTo>
                    <a:pt x="437" y="372"/>
                    <a:pt x="437" y="372"/>
                    <a:pt x="437" y="372"/>
                  </a:cubicBezTo>
                  <a:cubicBezTo>
                    <a:pt x="437" y="297"/>
                    <a:pt x="437" y="297"/>
                    <a:pt x="437" y="297"/>
                  </a:cubicBezTo>
                  <a:cubicBezTo>
                    <a:pt x="437" y="34"/>
                    <a:pt x="437" y="34"/>
                    <a:pt x="437" y="34"/>
                  </a:cubicBezTo>
                  <a:cubicBezTo>
                    <a:pt x="437" y="28"/>
                    <a:pt x="437" y="28"/>
                    <a:pt x="437" y="28"/>
                  </a:cubicBezTo>
                  <a:cubicBezTo>
                    <a:pt x="437" y="0"/>
                    <a:pt x="437" y="0"/>
                    <a:pt x="437" y="0"/>
                  </a:cubicBezTo>
                  <a:cubicBezTo>
                    <a:pt x="437" y="75"/>
                    <a:pt x="378" y="135"/>
                    <a:pt x="306" y="135"/>
                  </a:cubicBezTo>
                  <a:cubicBezTo>
                    <a:pt x="233" y="135"/>
                    <a:pt x="175" y="75"/>
                    <a:pt x="175" y="0"/>
                  </a:cubicBezTo>
                  <a:cubicBezTo>
                    <a:pt x="175" y="122"/>
                    <a:pt x="175" y="122"/>
                    <a:pt x="175" y="122"/>
                  </a:cubicBezTo>
                  <a:cubicBezTo>
                    <a:pt x="175" y="547"/>
                    <a:pt x="175" y="547"/>
                    <a:pt x="175" y="547"/>
                  </a:cubicBezTo>
                  <a:cubicBezTo>
                    <a:pt x="175" y="684"/>
                    <a:pt x="175" y="684"/>
                    <a:pt x="175" y="684"/>
                  </a:cubicBezTo>
                  <a:cubicBezTo>
                    <a:pt x="175" y="780"/>
                    <a:pt x="96" y="859"/>
                    <a:pt x="0" y="859"/>
                  </a:cubicBezTo>
                  <a:lnTo>
                    <a:pt x="262" y="85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Rectangle 17"/>
            <p:cNvSpPr>
              <a:spLocks noChangeArrowheads="1"/>
            </p:cNvSpPr>
            <p:nvPr/>
          </p:nvSpPr>
          <p:spPr bwMode="auto">
            <a:xfrm rot="16200000" flipV="1">
              <a:off x="4332335" y="4005540"/>
              <a:ext cx="1021378" cy="39816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" name="Group 112"/>
          <p:cNvGrpSpPr/>
          <p:nvPr/>
        </p:nvGrpSpPr>
        <p:grpSpPr>
          <a:xfrm>
            <a:off x="4646769" y="1480403"/>
            <a:ext cx="2673376" cy="2212985"/>
            <a:chOff x="4643943" y="1235400"/>
            <a:chExt cx="2673376" cy="1659739"/>
          </a:xfrm>
          <a:solidFill>
            <a:srgbClr val="5D9C01"/>
          </a:solidFill>
          <a:effectLst/>
        </p:grpSpPr>
        <p:sp>
          <p:nvSpPr>
            <p:cNvPr id="66" name="Freeform 12"/>
            <p:cNvSpPr>
              <a:spLocks/>
            </p:cNvSpPr>
            <p:nvPr/>
          </p:nvSpPr>
          <p:spPr bwMode="auto">
            <a:xfrm rot="5400000">
              <a:off x="5349842" y="927663"/>
              <a:ext cx="1659739" cy="2275214"/>
            </a:xfrm>
            <a:custGeom>
              <a:avLst/>
              <a:gdLst/>
              <a:ahLst/>
              <a:cxnLst>
                <a:cxn ang="0">
                  <a:pos x="262" y="859"/>
                </a:cxn>
                <a:cxn ang="0">
                  <a:pos x="437" y="684"/>
                </a:cxn>
                <a:cxn ang="0">
                  <a:pos x="437" y="641"/>
                </a:cxn>
                <a:cxn ang="0">
                  <a:pos x="437" y="635"/>
                </a:cxn>
                <a:cxn ang="0">
                  <a:pos x="437" y="372"/>
                </a:cxn>
                <a:cxn ang="0">
                  <a:pos x="437" y="297"/>
                </a:cxn>
                <a:cxn ang="0">
                  <a:pos x="437" y="34"/>
                </a:cxn>
                <a:cxn ang="0">
                  <a:pos x="437" y="28"/>
                </a:cxn>
                <a:cxn ang="0">
                  <a:pos x="437" y="0"/>
                </a:cxn>
                <a:cxn ang="0">
                  <a:pos x="306" y="135"/>
                </a:cxn>
                <a:cxn ang="0">
                  <a:pos x="175" y="0"/>
                </a:cxn>
                <a:cxn ang="0">
                  <a:pos x="175" y="122"/>
                </a:cxn>
                <a:cxn ang="0">
                  <a:pos x="175" y="547"/>
                </a:cxn>
                <a:cxn ang="0">
                  <a:pos x="175" y="684"/>
                </a:cxn>
                <a:cxn ang="0">
                  <a:pos x="0" y="859"/>
                </a:cxn>
                <a:cxn ang="0">
                  <a:pos x="262" y="859"/>
                </a:cxn>
              </a:cxnLst>
              <a:rect l="0" t="0" r="r" b="b"/>
              <a:pathLst>
                <a:path w="437" h="859">
                  <a:moveTo>
                    <a:pt x="262" y="859"/>
                  </a:moveTo>
                  <a:cubicBezTo>
                    <a:pt x="358" y="859"/>
                    <a:pt x="437" y="780"/>
                    <a:pt x="437" y="684"/>
                  </a:cubicBezTo>
                  <a:cubicBezTo>
                    <a:pt x="437" y="641"/>
                    <a:pt x="437" y="641"/>
                    <a:pt x="437" y="641"/>
                  </a:cubicBezTo>
                  <a:cubicBezTo>
                    <a:pt x="437" y="635"/>
                    <a:pt x="437" y="635"/>
                    <a:pt x="437" y="635"/>
                  </a:cubicBezTo>
                  <a:cubicBezTo>
                    <a:pt x="437" y="372"/>
                    <a:pt x="437" y="372"/>
                    <a:pt x="437" y="372"/>
                  </a:cubicBezTo>
                  <a:cubicBezTo>
                    <a:pt x="437" y="297"/>
                    <a:pt x="437" y="297"/>
                    <a:pt x="437" y="297"/>
                  </a:cubicBezTo>
                  <a:cubicBezTo>
                    <a:pt x="437" y="34"/>
                    <a:pt x="437" y="34"/>
                    <a:pt x="437" y="34"/>
                  </a:cubicBezTo>
                  <a:cubicBezTo>
                    <a:pt x="437" y="28"/>
                    <a:pt x="437" y="28"/>
                    <a:pt x="437" y="28"/>
                  </a:cubicBezTo>
                  <a:cubicBezTo>
                    <a:pt x="437" y="0"/>
                    <a:pt x="437" y="0"/>
                    <a:pt x="437" y="0"/>
                  </a:cubicBezTo>
                  <a:cubicBezTo>
                    <a:pt x="437" y="75"/>
                    <a:pt x="378" y="135"/>
                    <a:pt x="306" y="135"/>
                  </a:cubicBezTo>
                  <a:cubicBezTo>
                    <a:pt x="233" y="135"/>
                    <a:pt x="175" y="75"/>
                    <a:pt x="175" y="0"/>
                  </a:cubicBezTo>
                  <a:cubicBezTo>
                    <a:pt x="175" y="122"/>
                    <a:pt x="175" y="122"/>
                    <a:pt x="175" y="122"/>
                  </a:cubicBezTo>
                  <a:cubicBezTo>
                    <a:pt x="175" y="547"/>
                    <a:pt x="175" y="547"/>
                    <a:pt x="175" y="547"/>
                  </a:cubicBezTo>
                  <a:cubicBezTo>
                    <a:pt x="175" y="684"/>
                    <a:pt x="175" y="684"/>
                    <a:pt x="175" y="684"/>
                  </a:cubicBezTo>
                  <a:cubicBezTo>
                    <a:pt x="175" y="780"/>
                    <a:pt x="96" y="859"/>
                    <a:pt x="0" y="859"/>
                  </a:cubicBezTo>
                  <a:lnTo>
                    <a:pt x="262" y="85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67" name="Rectangle 17"/>
            <p:cNvSpPr>
              <a:spLocks noChangeArrowheads="1"/>
            </p:cNvSpPr>
            <p:nvPr/>
          </p:nvSpPr>
          <p:spPr bwMode="auto">
            <a:xfrm rot="5400000">
              <a:off x="4332335" y="1547009"/>
              <a:ext cx="1021378" cy="39816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4" name="Group 114"/>
          <p:cNvGrpSpPr/>
          <p:nvPr/>
        </p:nvGrpSpPr>
        <p:grpSpPr>
          <a:xfrm>
            <a:off x="1804138" y="1486568"/>
            <a:ext cx="2673376" cy="2212985"/>
            <a:chOff x="1874309" y="1235400"/>
            <a:chExt cx="2673376" cy="1659739"/>
          </a:xfrm>
          <a:solidFill>
            <a:srgbClr val="E10D0C"/>
          </a:solidFill>
          <a:effectLst/>
        </p:grpSpPr>
        <p:sp>
          <p:nvSpPr>
            <p:cNvPr id="63" name="Freeform 12"/>
            <p:cNvSpPr>
              <a:spLocks/>
            </p:cNvSpPr>
            <p:nvPr/>
          </p:nvSpPr>
          <p:spPr bwMode="auto">
            <a:xfrm rot="16200000" flipH="1">
              <a:off x="2182046" y="927663"/>
              <a:ext cx="1659739" cy="2275214"/>
            </a:xfrm>
            <a:custGeom>
              <a:avLst/>
              <a:gdLst/>
              <a:ahLst/>
              <a:cxnLst>
                <a:cxn ang="0">
                  <a:pos x="262" y="859"/>
                </a:cxn>
                <a:cxn ang="0">
                  <a:pos x="437" y="684"/>
                </a:cxn>
                <a:cxn ang="0">
                  <a:pos x="437" y="641"/>
                </a:cxn>
                <a:cxn ang="0">
                  <a:pos x="437" y="635"/>
                </a:cxn>
                <a:cxn ang="0">
                  <a:pos x="437" y="372"/>
                </a:cxn>
                <a:cxn ang="0">
                  <a:pos x="437" y="297"/>
                </a:cxn>
                <a:cxn ang="0">
                  <a:pos x="437" y="34"/>
                </a:cxn>
                <a:cxn ang="0">
                  <a:pos x="437" y="28"/>
                </a:cxn>
                <a:cxn ang="0">
                  <a:pos x="437" y="0"/>
                </a:cxn>
                <a:cxn ang="0">
                  <a:pos x="306" y="135"/>
                </a:cxn>
                <a:cxn ang="0">
                  <a:pos x="175" y="0"/>
                </a:cxn>
                <a:cxn ang="0">
                  <a:pos x="175" y="122"/>
                </a:cxn>
                <a:cxn ang="0">
                  <a:pos x="175" y="547"/>
                </a:cxn>
                <a:cxn ang="0">
                  <a:pos x="175" y="684"/>
                </a:cxn>
                <a:cxn ang="0">
                  <a:pos x="0" y="859"/>
                </a:cxn>
                <a:cxn ang="0">
                  <a:pos x="262" y="859"/>
                </a:cxn>
              </a:cxnLst>
              <a:rect l="0" t="0" r="r" b="b"/>
              <a:pathLst>
                <a:path w="437" h="859">
                  <a:moveTo>
                    <a:pt x="262" y="859"/>
                  </a:moveTo>
                  <a:cubicBezTo>
                    <a:pt x="358" y="859"/>
                    <a:pt x="437" y="780"/>
                    <a:pt x="437" y="684"/>
                  </a:cubicBezTo>
                  <a:cubicBezTo>
                    <a:pt x="437" y="641"/>
                    <a:pt x="437" y="641"/>
                    <a:pt x="437" y="641"/>
                  </a:cubicBezTo>
                  <a:cubicBezTo>
                    <a:pt x="437" y="635"/>
                    <a:pt x="437" y="635"/>
                    <a:pt x="437" y="635"/>
                  </a:cubicBezTo>
                  <a:cubicBezTo>
                    <a:pt x="437" y="372"/>
                    <a:pt x="437" y="372"/>
                    <a:pt x="437" y="372"/>
                  </a:cubicBezTo>
                  <a:cubicBezTo>
                    <a:pt x="437" y="297"/>
                    <a:pt x="437" y="297"/>
                    <a:pt x="437" y="297"/>
                  </a:cubicBezTo>
                  <a:cubicBezTo>
                    <a:pt x="437" y="34"/>
                    <a:pt x="437" y="34"/>
                    <a:pt x="437" y="34"/>
                  </a:cubicBezTo>
                  <a:cubicBezTo>
                    <a:pt x="437" y="28"/>
                    <a:pt x="437" y="28"/>
                    <a:pt x="437" y="28"/>
                  </a:cubicBezTo>
                  <a:cubicBezTo>
                    <a:pt x="437" y="0"/>
                    <a:pt x="437" y="0"/>
                    <a:pt x="437" y="0"/>
                  </a:cubicBezTo>
                  <a:cubicBezTo>
                    <a:pt x="437" y="75"/>
                    <a:pt x="378" y="135"/>
                    <a:pt x="306" y="135"/>
                  </a:cubicBezTo>
                  <a:cubicBezTo>
                    <a:pt x="233" y="135"/>
                    <a:pt x="175" y="75"/>
                    <a:pt x="175" y="0"/>
                  </a:cubicBezTo>
                  <a:cubicBezTo>
                    <a:pt x="175" y="122"/>
                    <a:pt x="175" y="122"/>
                    <a:pt x="175" y="122"/>
                  </a:cubicBezTo>
                  <a:cubicBezTo>
                    <a:pt x="175" y="547"/>
                    <a:pt x="175" y="547"/>
                    <a:pt x="175" y="547"/>
                  </a:cubicBezTo>
                  <a:cubicBezTo>
                    <a:pt x="175" y="684"/>
                    <a:pt x="175" y="684"/>
                    <a:pt x="175" y="684"/>
                  </a:cubicBezTo>
                  <a:cubicBezTo>
                    <a:pt x="175" y="780"/>
                    <a:pt x="96" y="859"/>
                    <a:pt x="0" y="859"/>
                  </a:cubicBezTo>
                  <a:lnTo>
                    <a:pt x="262" y="85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64" name="Rectangle 17"/>
            <p:cNvSpPr>
              <a:spLocks noChangeArrowheads="1"/>
            </p:cNvSpPr>
            <p:nvPr/>
          </p:nvSpPr>
          <p:spPr bwMode="auto">
            <a:xfrm rot="16200000" flipH="1">
              <a:off x="3837915" y="1547008"/>
              <a:ext cx="1021378" cy="39816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5" name="Group 115"/>
          <p:cNvGrpSpPr/>
          <p:nvPr/>
        </p:nvGrpSpPr>
        <p:grpSpPr>
          <a:xfrm>
            <a:off x="1812604" y="4000924"/>
            <a:ext cx="2673376" cy="2212985"/>
            <a:chOff x="1874309" y="3055571"/>
            <a:chExt cx="2673376" cy="1659739"/>
          </a:xfrm>
          <a:solidFill>
            <a:srgbClr val="209AAF"/>
          </a:solidFill>
          <a:effectLst/>
        </p:grpSpPr>
        <p:sp>
          <p:nvSpPr>
            <p:cNvPr id="60" name="Freeform 12"/>
            <p:cNvSpPr>
              <a:spLocks/>
            </p:cNvSpPr>
            <p:nvPr/>
          </p:nvSpPr>
          <p:spPr bwMode="auto">
            <a:xfrm rot="5400000" flipH="1" flipV="1">
              <a:off x="2182046" y="2747834"/>
              <a:ext cx="1659739" cy="2275214"/>
            </a:xfrm>
            <a:custGeom>
              <a:avLst/>
              <a:gdLst/>
              <a:ahLst/>
              <a:cxnLst>
                <a:cxn ang="0">
                  <a:pos x="262" y="859"/>
                </a:cxn>
                <a:cxn ang="0">
                  <a:pos x="437" y="684"/>
                </a:cxn>
                <a:cxn ang="0">
                  <a:pos x="437" y="641"/>
                </a:cxn>
                <a:cxn ang="0">
                  <a:pos x="437" y="635"/>
                </a:cxn>
                <a:cxn ang="0">
                  <a:pos x="437" y="372"/>
                </a:cxn>
                <a:cxn ang="0">
                  <a:pos x="437" y="297"/>
                </a:cxn>
                <a:cxn ang="0">
                  <a:pos x="437" y="34"/>
                </a:cxn>
                <a:cxn ang="0">
                  <a:pos x="437" y="28"/>
                </a:cxn>
                <a:cxn ang="0">
                  <a:pos x="437" y="0"/>
                </a:cxn>
                <a:cxn ang="0">
                  <a:pos x="306" y="135"/>
                </a:cxn>
                <a:cxn ang="0">
                  <a:pos x="175" y="0"/>
                </a:cxn>
                <a:cxn ang="0">
                  <a:pos x="175" y="122"/>
                </a:cxn>
                <a:cxn ang="0">
                  <a:pos x="175" y="547"/>
                </a:cxn>
                <a:cxn ang="0">
                  <a:pos x="175" y="684"/>
                </a:cxn>
                <a:cxn ang="0">
                  <a:pos x="0" y="859"/>
                </a:cxn>
                <a:cxn ang="0">
                  <a:pos x="262" y="859"/>
                </a:cxn>
              </a:cxnLst>
              <a:rect l="0" t="0" r="r" b="b"/>
              <a:pathLst>
                <a:path w="437" h="859">
                  <a:moveTo>
                    <a:pt x="262" y="859"/>
                  </a:moveTo>
                  <a:cubicBezTo>
                    <a:pt x="358" y="859"/>
                    <a:pt x="437" y="780"/>
                    <a:pt x="437" y="684"/>
                  </a:cubicBezTo>
                  <a:cubicBezTo>
                    <a:pt x="437" y="641"/>
                    <a:pt x="437" y="641"/>
                    <a:pt x="437" y="641"/>
                  </a:cubicBezTo>
                  <a:cubicBezTo>
                    <a:pt x="437" y="635"/>
                    <a:pt x="437" y="635"/>
                    <a:pt x="437" y="635"/>
                  </a:cubicBezTo>
                  <a:cubicBezTo>
                    <a:pt x="437" y="372"/>
                    <a:pt x="437" y="372"/>
                    <a:pt x="437" y="372"/>
                  </a:cubicBezTo>
                  <a:cubicBezTo>
                    <a:pt x="437" y="297"/>
                    <a:pt x="437" y="297"/>
                    <a:pt x="437" y="297"/>
                  </a:cubicBezTo>
                  <a:cubicBezTo>
                    <a:pt x="437" y="34"/>
                    <a:pt x="437" y="34"/>
                    <a:pt x="437" y="34"/>
                  </a:cubicBezTo>
                  <a:cubicBezTo>
                    <a:pt x="437" y="28"/>
                    <a:pt x="437" y="28"/>
                    <a:pt x="437" y="28"/>
                  </a:cubicBezTo>
                  <a:cubicBezTo>
                    <a:pt x="437" y="0"/>
                    <a:pt x="437" y="0"/>
                    <a:pt x="437" y="0"/>
                  </a:cubicBezTo>
                  <a:cubicBezTo>
                    <a:pt x="437" y="75"/>
                    <a:pt x="378" y="135"/>
                    <a:pt x="306" y="135"/>
                  </a:cubicBezTo>
                  <a:cubicBezTo>
                    <a:pt x="233" y="135"/>
                    <a:pt x="175" y="75"/>
                    <a:pt x="175" y="0"/>
                  </a:cubicBezTo>
                  <a:cubicBezTo>
                    <a:pt x="175" y="122"/>
                    <a:pt x="175" y="122"/>
                    <a:pt x="175" y="122"/>
                  </a:cubicBezTo>
                  <a:cubicBezTo>
                    <a:pt x="175" y="547"/>
                    <a:pt x="175" y="547"/>
                    <a:pt x="175" y="547"/>
                  </a:cubicBezTo>
                  <a:cubicBezTo>
                    <a:pt x="175" y="684"/>
                    <a:pt x="175" y="684"/>
                    <a:pt x="175" y="684"/>
                  </a:cubicBezTo>
                  <a:cubicBezTo>
                    <a:pt x="175" y="780"/>
                    <a:pt x="96" y="859"/>
                    <a:pt x="0" y="859"/>
                  </a:cubicBezTo>
                  <a:lnTo>
                    <a:pt x="262" y="85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61" name="Rectangle 17"/>
            <p:cNvSpPr>
              <a:spLocks noChangeArrowheads="1"/>
            </p:cNvSpPr>
            <p:nvPr/>
          </p:nvSpPr>
          <p:spPr bwMode="auto">
            <a:xfrm rot="5400000" flipH="1" flipV="1">
              <a:off x="3837915" y="4005540"/>
              <a:ext cx="1021378" cy="39816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8" name="Oval 10"/>
          <p:cNvSpPr>
            <a:spLocks noChangeArrowheads="1"/>
          </p:cNvSpPr>
          <p:nvPr/>
        </p:nvSpPr>
        <p:spPr bwMode="auto">
          <a:xfrm rot="16200000" flipH="1">
            <a:off x="914836" y="2537242"/>
            <a:ext cx="1190112" cy="918353"/>
          </a:xfrm>
          <a:prstGeom prst="ellipse">
            <a:avLst/>
          </a:prstGeom>
          <a:solidFill>
            <a:srgbClr val="FF2B2A"/>
          </a:solidFill>
          <a:ln w="57150">
            <a:solidFill>
              <a:schemeClr val="bg1"/>
            </a:solidFill>
            <a:round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12298" name="Oval 10"/>
          <p:cNvSpPr>
            <a:spLocks noChangeArrowheads="1"/>
          </p:cNvSpPr>
          <p:nvPr/>
        </p:nvSpPr>
        <p:spPr bwMode="auto">
          <a:xfrm rot="5400000">
            <a:off x="7008833" y="2507272"/>
            <a:ext cx="1190112" cy="918353"/>
          </a:xfrm>
          <a:prstGeom prst="ellipse">
            <a:avLst/>
          </a:prstGeom>
          <a:solidFill>
            <a:srgbClr val="85C401"/>
          </a:solidFill>
          <a:ln w="57150">
            <a:solidFill>
              <a:schemeClr val="bg1"/>
            </a:solidFill>
            <a:round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6" name="Oval 10"/>
          <p:cNvSpPr>
            <a:spLocks noChangeArrowheads="1"/>
          </p:cNvSpPr>
          <p:nvPr/>
        </p:nvSpPr>
        <p:spPr bwMode="auto">
          <a:xfrm rot="5400000" flipH="1" flipV="1">
            <a:off x="897746" y="4266170"/>
            <a:ext cx="1190112" cy="918353"/>
          </a:xfrm>
          <a:prstGeom prst="ellipse">
            <a:avLst/>
          </a:prstGeom>
          <a:solidFill>
            <a:srgbClr val="3EB8CD"/>
          </a:solidFill>
          <a:ln w="57150">
            <a:solidFill>
              <a:schemeClr val="bg1"/>
            </a:solidFill>
            <a:round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Oval 10"/>
          <p:cNvSpPr>
            <a:spLocks noChangeArrowheads="1"/>
          </p:cNvSpPr>
          <p:nvPr/>
        </p:nvSpPr>
        <p:spPr bwMode="auto">
          <a:xfrm rot="16200000" flipV="1">
            <a:off x="7153847" y="4323482"/>
            <a:ext cx="1190112" cy="918353"/>
          </a:xfrm>
          <a:prstGeom prst="ellipse">
            <a:avLst/>
          </a:prstGeom>
          <a:solidFill>
            <a:srgbClr val="FFA803"/>
          </a:solidFill>
          <a:ln w="57150">
            <a:solidFill>
              <a:schemeClr val="bg1"/>
            </a:solidFill>
            <a:round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grpSp>
        <p:nvGrpSpPr>
          <p:cNvPr id="6" name="Group 20"/>
          <p:cNvGrpSpPr/>
          <p:nvPr/>
        </p:nvGrpSpPr>
        <p:grpSpPr>
          <a:xfrm>
            <a:off x="1764665" y="1426158"/>
            <a:ext cx="2673376" cy="2212985"/>
            <a:chOff x="2352886" y="1426157"/>
            <a:chExt cx="3564501" cy="2212985"/>
          </a:xfrm>
          <a:solidFill>
            <a:srgbClr val="FF2B2A"/>
          </a:solidFill>
        </p:grpSpPr>
        <p:grpSp>
          <p:nvGrpSpPr>
            <p:cNvPr id="7" name="Group 114"/>
            <p:cNvGrpSpPr/>
            <p:nvPr/>
          </p:nvGrpSpPr>
          <p:grpSpPr>
            <a:xfrm>
              <a:off x="2352886" y="1426157"/>
              <a:ext cx="3564501" cy="2212985"/>
              <a:chOff x="1874309" y="1235400"/>
              <a:chExt cx="2673376" cy="1659739"/>
            </a:xfrm>
            <a:grpFill/>
            <a:effectLst/>
          </p:grpSpPr>
          <p:sp>
            <p:nvSpPr>
              <p:cNvPr id="79" name="Freeform 12"/>
              <p:cNvSpPr>
                <a:spLocks/>
              </p:cNvSpPr>
              <p:nvPr/>
            </p:nvSpPr>
            <p:spPr bwMode="auto">
              <a:xfrm rot="16200000" flipH="1">
                <a:off x="2182046" y="927663"/>
                <a:ext cx="1659739" cy="2275214"/>
              </a:xfrm>
              <a:custGeom>
                <a:avLst/>
                <a:gdLst/>
                <a:ahLst/>
                <a:cxnLst>
                  <a:cxn ang="0">
                    <a:pos x="262" y="859"/>
                  </a:cxn>
                  <a:cxn ang="0">
                    <a:pos x="437" y="684"/>
                  </a:cxn>
                  <a:cxn ang="0">
                    <a:pos x="437" y="641"/>
                  </a:cxn>
                  <a:cxn ang="0">
                    <a:pos x="437" y="635"/>
                  </a:cxn>
                  <a:cxn ang="0">
                    <a:pos x="437" y="372"/>
                  </a:cxn>
                  <a:cxn ang="0">
                    <a:pos x="437" y="297"/>
                  </a:cxn>
                  <a:cxn ang="0">
                    <a:pos x="437" y="34"/>
                  </a:cxn>
                  <a:cxn ang="0">
                    <a:pos x="437" y="28"/>
                  </a:cxn>
                  <a:cxn ang="0">
                    <a:pos x="437" y="0"/>
                  </a:cxn>
                  <a:cxn ang="0">
                    <a:pos x="306" y="135"/>
                  </a:cxn>
                  <a:cxn ang="0">
                    <a:pos x="175" y="0"/>
                  </a:cxn>
                  <a:cxn ang="0">
                    <a:pos x="175" y="122"/>
                  </a:cxn>
                  <a:cxn ang="0">
                    <a:pos x="175" y="547"/>
                  </a:cxn>
                  <a:cxn ang="0">
                    <a:pos x="175" y="684"/>
                  </a:cxn>
                  <a:cxn ang="0">
                    <a:pos x="0" y="859"/>
                  </a:cxn>
                  <a:cxn ang="0">
                    <a:pos x="262" y="859"/>
                  </a:cxn>
                </a:cxnLst>
                <a:rect l="0" t="0" r="r" b="b"/>
                <a:pathLst>
                  <a:path w="437" h="859">
                    <a:moveTo>
                      <a:pt x="262" y="859"/>
                    </a:moveTo>
                    <a:cubicBezTo>
                      <a:pt x="358" y="859"/>
                      <a:pt x="437" y="780"/>
                      <a:pt x="437" y="684"/>
                    </a:cubicBezTo>
                    <a:cubicBezTo>
                      <a:pt x="437" y="641"/>
                      <a:pt x="437" y="641"/>
                      <a:pt x="437" y="641"/>
                    </a:cubicBezTo>
                    <a:cubicBezTo>
                      <a:pt x="437" y="635"/>
                      <a:pt x="437" y="635"/>
                      <a:pt x="437" y="635"/>
                    </a:cubicBezTo>
                    <a:cubicBezTo>
                      <a:pt x="437" y="372"/>
                      <a:pt x="437" y="372"/>
                      <a:pt x="437" y="372"/>
                    </a:cubicBezTo>
                    <a:cubicBezTo>
                      <a:pt x="437" y="297"/>
                      <a:pt x="437" y="297"/>
                      <a:pt x="437" y="297"/>
                    </a:cubicBezTo>
                    <a:cubicBezTo>
                      <a:pt x="437" y="34"/>
                      <a:pt x="437" y="34"/>
                      <a:pt x="437" y="34"/>
                    </a:cubicBezTo>
                    <a:cubicBezTo>
                      <a:pt x="437" y="28"/>
                      <a:pt x="437" y="28"/>
                      <a:pt x="437" y="28"/>
                    </a:cubicBezTo>
                    <a:cubicBezTo>
                      <a:pt x="437" y="0"/>
                      <a:pt x="437" y="0"/>
                      <a:pt x="437" y="0"/>
                    </a:cubicBezTo>
                    <a:cubicBezTo>
                      <a:pt x="437" y="75"/>
                      <a:pt x="378" y="135"/>
                      <a:pt x="306" y="135"/>
                    </a:cubicBezTo>
                    <a:cubicBezTo>
                      <a:pt x="233" y="135"/>
                      <a:pt x="175" y="75"/>
                      <a:pt x="175" y="0"/>
                    </a:cubicBezTo>
                    <a:cubicBezTo>
                      <a:pt x="175" y="122"/>
                      <a:pt x="175" y="122"/>
                      <a:pt x="175" y="122"/>
                    </a:cubicBezTo>
                    <a:cubicBezTo>
                      <a:pt x="175" y="547"/>
                      <a:pt x="175" y="547"/>
                      <a:pt x="175" y="547"/>
                    </a:cubicBezTo>
                    <a:cubicBezTo>
                      <a:pt x="175" y="684"/>
                      <a:pt x="175" y="684"/>
                      <a:pt x="175" y="684"/>
                    </a:cubicBezTo>
                    <a:cubicBezTo>
                      <a:pt x="175" y="780"/>
                      <a:pt x="96" y="859"/>
                      <a:pt x="0" y="859"/>
                    </a:cubicBezTo>
                    <a:lnTo>
                      <a:pt x="262" y="85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Rectangle 17"/>
              <p:cNvSpPr>
                <a:spLocks noChangeArrowheads="1"/>
              </p:cNvSpPr>
              <p:nvPr/>
            </p:nvSpPr>
            <p:spPr bwMode="auto">
              <a:xfrm rot="16200000" flipH="1">
                <a:off x="3837915" y="1547008"/>
                <a:ext cx="1021378" cy="39816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96" name="TextBox 95"/>
            <p:cNvSpPr txBox="1"/>
            <p:nvPr/>
          </p:nvSpPr>
          <p:spPr>
            <a:xfrm>
              <a:off x="2743199" y="2285999"/>
              <a:ext cx="2320136" cy="1280351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en-US" sz="1600" b="1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PRODUCT</a:t>
              </a:r>
            </a:p>
            <a:p>
              <a:pPr defTabSz="1219170">
                <a:spcBef>
                  <a:spcPct val="20000"/>
                </a:spcBef>
                <a:defRPr/>
              </a:pPr>
              <a:r>
                <a:rPr lang="en-US" sz="1600" b="1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(</a:t>
              </a:r>
              <a:r>
                <a:rPr lang="en-US" sz="1600" b="1" dirty="0" err="1" smtClean="0">
                  <a:solidFill>
                    <a:schemeClr val="bg1"/>
                  </a:solidFill>
                  <a:latin typeface="Candara" panose="020E0502030303020204" pitchFamily="34" charset="0"/>
                </a:rPr>
                <a:t>Produit</a:t>
              </a:r>
              <a:r>
                <a:rPr lang="en-US" sz="1600" b="1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) </a:t>
              </a:r>
              <a:endParaRPr lang="en-US" sz="800" b="1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  <a:p>
              <a:r>
                <a:rPr lang="en-US" sz="1200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Nature du </a:t>
              </a:r>
              <a:r>
                <a:rPr lang="en-US" sz="1200" dirty="0" err="1" smtClean="0">
                  <a:solidFill>
                    <a:schemeClr val="bg1"/>
                  </a:solidFill>
                  <a:latin typeface="Candara" panose="020E0502030303020204" pitchFamily="34" charset="0"/>
                </a:rPr>
                <a:t>produit,Caractéristiques</a:t>
              </a:r>
              <a:r>
                <a:rPr lang="en-US" sz="1200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,, Design, </a:t>
              </a:r>
              <a:r>
                <a:rPr lang="en-US" sz="1200" dirty="0" err="1" smtClean="0">
                  <a:solidFill>
                    <a:schemeClr val="bg1"/>
                  </a:solidFill>
                  <a:latin typeface="Candara" panose="020E0502030303020204" pitchFamily="34" charset="0"/>
                </a:rPr>
                <a:t>Conditionnement</a:t>
              </a:r>
              <a:r>
                <a:rPr lang="en-US" sz="1200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, Service Après de </a:t>
              </a:r>
              <a:r>
                <a:rPr lang="en-US" sz="1200" dirty="0" err="1" smtClean="0">
                  <a:solidFill>
                    <a:schemeClr val="bg1"/>
                  </a:solidFill>
                  <a:latin typeface="Candara" panose="020E0502030303020204" pitchFamily="34" charset="0"/>
                </a:rPr>
                <a:t>vente</a:t>
              </a:r>
              <a:r>
                <a:rPr lang="en-US" sz="1200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 </a:t>
              </a:r>
              <a:endParaRPr lang="en-US" sz="1200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</p:txBody>
        </p:sp>
      </p:grpSp>
      <p:grpSp>
        <p:nvGrpSpPr>
          <p:cNvPr id="8" name="Group 22"/>
          <p:cNvGrpSpPr/>
          <p:nvPr/>
        </p:nvGrpSpPr>
        <p:grpSpPr>
          <a:xfrm>
            <a:off x="1764519" y="4038600"/>
            <a:ext cx="2275214" cy="2237467"/>
            <a:chOff x="2352691" y="4038599"/>
            <a:chExt cx="3033618" cy="2237467"/>
          </a:xfrm>
          <a:solidFill>
            <a:srgbClr val="3EB8CD"/>
          </a:solidFill>
        </p:grpSpPr>
        <p:sp>
          <p:nvSpPr>
            <p:cNvPr id="87" name="Freeform 12"/>
            <p:cNvSpPr>
              <a:spLocks/>
            </p:cNvSpPr>
            <p:nvPr/>
          </p:nvSpPr>
          <p:spPr bwMode="auto">
            <a:xfrm rot="5400000" flipH="1" flipV="1">
              <a:off x="2763007" y="3652765"/>
              <a:ext cx="2212985" cy="3033618"/>
            </a:xfrm>
            <a:custGeom>
              <a:avLst/>
              <a:gdLst/>
              <a:ahLst/>
              <a:cxnLst>
                <a:cxn ang="0">
                  <a:pos x="262" y="859"/>
                </a:cxn>
                <a:cxn ang="0">
                  <a:pos x="437" y="684"/>
                </a:cxn>
                <a:cxn ang="0">
                  <a:pos x="437" y="641"/>
                </a:cxn>
                <a:cxn ang="0">
                  <a:pos x="437" y="635"/>
                </a:cxn>
                <a:cxn ang="0">
                  <a:pos x="437" y="372"/>
                </a:cxn>
                <a:cxn ang="0">
                  <a:pos x="437" y="297"/>
                </a:cxn>
                <a:cxn ang="0">
                  <a:pos x="437" y="34"/>
                </a:cxn>
                <a:cxn ang="0">
                  <a:pos x="437" y="28"/>
                </a:cxn>
                <a:cxn ang="0">
                  <a:pos x="437" y="0"/>
                </a:cxn>
                <a:cxn ang="0">
                  <a:pos x="306" y="135"/>
                </a:cxn>
                <a:cxn ang="0">
                  <a:pos x="175" y="0"/>
                </a:cxn>
                <a:cxn ang="0">
                  <a:pos x="175" y="122"/>
                </a:cxn>
                <a:cxn ang="0">
                  <a:pos x="175" y="547"/>
                </a:cxn>
                <a:cxn ang="0">
                  <a:pos x="175" y="684"/>
                </a:cxn>
                <a:cxn ang="0">
                  <a:pos x="0" y="859"/>
                </a:cxn>
                <a:cxn ang="0">
                  <a:pos x="262" y="859"/>
                </a:cxn>
              </a:cxnLst>
              <a:rect l="0" t="0" r="r" b="b"/>
              <a:pathLst>
                <a:path w="437" h="859">
                  <a:moveTo>
                    <a:pt x="262" y="859"/>
                  </a:moveTo>
                  <a:cubicBezTo>
                    <a:pt x="358" y="859"/>
                    <a:pt x="437" y="780"/>
                    <a:pt x="437" y="684"/>
                  </a:cubicBezTo>
                  <a:cubicBezTo>
                    <a:pt x="437" y="641"/>
                    <a:pt x="437" y="641"/>
                    <a:pt x="437" y="641"/>
                  </a:cubicBezTo>
                  <a:cubicBezTo>
                    <a:pt x="437" y="635"/>
                    <a:pt x="437" y="635"/>
                    <a:pt x="437" y="635"/>
                  </a:cubicBezTo>
                  <a:cubicBezTo>
                    <a:pt x="437" y="372"/>
                    <a:pt x="437" y="372"/>
                    <a:pt x="437" y="372"/>
                  </a:cubicBezTo>
                  <a:cubicBezTo>
                    <a:pt x="437" y="297"/>
                    <a:pt x="437" y="297"/>
                    <a:pt x="437" y="297"/>
                  </a:cubicBezTo>
                  <a:cubicBezTo>
                    <a:pt x="437" y="34"/>
                    <a:pt x="437" y="34"/>
                    <a:pt x="437" y="34"/>
                  </a:cubicBezTo>
                  <a:cubicBezTo>
                    <a:pt x="437" y="28"/>
                    <a:pt x="437" y="28"/>
                    <a:pt x="437" y="28"/>
                  </a:cubicBezTo>
                  <a:cubicBezTo>
                    <a:pt x="437" y="0"/>
                    <a:pt x="437" y="0"/>
                    <a:pt x="437" y="0"/>
                  </a:cubicBezTo>
                  <a:cubicBezTo>
                    <a:pt x="437" y="75"/>
                    <a:pt x="378" y="135"/>
                    <a:pt x="306" y="135"/>
                  </a:cubicBezTo>
                  <a:cubicBezTo>
                    <a:pt x="233" y="135"/>
                    <a:pt x="175" y="75"/>
                    <a:pt x="175" y="0"/>
                  </a:cubicBezTo>
                  <a:cubicBezTo>
                    <a:pt x="175" y="122"/>
                    <a:pt x="175" y="122"/>
                    <a:pt x="175" y="122"/>
                  </a:cubicBezTo>
                  <a:cubicBezTo>
                    <a:pt x="175" y="547"/>
                    <a:pt x="175" y="547"/>
                    <a:pt x="175" y="547"/>
                  </a:cubicBezTo>
                  <a:cubicBezTo>
                    <a:pt x="175" y="684"/>
                    <a:pt x="175" y="684"/>
                    <a:pt x="175" y="684"/>
                  </a:cubicBezTo>
                  <a:cubicBezTo>
                    <a:pt x="175" y="780"/>
                    <a:pt x="96" y="859"/>
                    <a:pt x="0" y="859"/>
                  </a:cubicBezTo>
                  <a:lnTo>
                    <a:pt x="262" y="85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946399" y="4038599"/>
              <a:ext cx="2015336" cy="100950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en-US" sz="1600" b="1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PLACE (DISTRIBUTION)</a:t>
              </a:r>
              <a:endParaRPr lang="en-US" sz="1600" b="1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  <a:p>
              <a:pPr defTabSz="1219170">
                <a:spcBef>
                  <a:spcPct val="20000"/>
                </a:spcBef>
                <a:defRPr/>
              </a:pPr>
              <a:endParaRPr lang="en-US" sz="800" b="1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  <a:p>
              <a:r>
                <a:rPr lang="en-US" sz="1200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Mode de distribution </a:t>
              </a:r>
            </a:p>
            <a:p>
              <a:r>
                <a:rPr lang="en-US" sz="1200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Circuit de distribution </a:t>
              </a:r>
              <a:endParaRPr lang="en-US" sz="1200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</p:txBody>
        </p:sp>
      </p:grpSp>
      <p:grpSp>
        <p:nvGrpSpPr>
          <p:cNvPr id="9" name="Group 21"/>
          <p:cNvGrpSpPr/>
          <p:nvPr/>
        </p:nvGrpSpPr>
        <p:grpSpPr>
          <a:xfrm>
            <a:off x="4707122" y="1414380"/>
            <a:ext cx="2673376" cy="2212985"/>
            <a:chOff x="6276163" y="1414379"/>
            <a:chExt cx="3564501" cy="2212985"/>
          </a:xfrm>
          <a:solidFill>
            <a:srgbClr val="85C401"/>
          </a:solidFill>
        </p:grpSpPr>
        <p:grpSp>
          <p:nvGrpSpPr>
            <p:cNvPr id="10" name="Group 112"/>
            <p:cNvGrpSpPr/>
            <p:nvPr/>
          </p:nvGrpSpPr>
          <p:grpSpPr>
            <a:xfrm>
              <a:off x="6276163" y="1414379"/>
              <a:ext cx="3564501" cy="2212985"/>
              <a:chOff x="4643943" y="1235400"/>
              <a:chExt cx="2673376" cy="1659739"/>
            </a:xfrm>
            <a:grpFill/>
            <a:effectLst/>
          </p:grpSpPr>
          <p:sp>
            <p:nvSpPr>
              <p:cNvPr id="73" name="Freeform 12"/>
              <p:cNvSpPr>
                <a:spLocks/>
              </p:cNvSpPr>
              <p:nvPr/>
            </p:nvSpPr>
            <p:spPr bwMode="auto">
              <a:xfrm rot="5400000">
                <a:off x="5349842" y="927663"/>
                <a:ext cx="1659739" cy="2275214"/>
              </a:xfrm>
              <a:custGeom>
                <a:avLst/>
                <a:gdLst/>
                <a:ahLst/>
                <a:cxnLst>
                  <a:cxn ang="0">
                    <a:pos x="262" y="859"/>
                  </a:cxn>
                  <a:cxn ang="0">
                    <a:pos x="437" y="684"/>
                  </a:cxn>
                  <a:cxn ang="0">
                    <a:pos x="437" y="641"/>
                  </a:cxn>
                  <a:cxn ang="0">
                    <a:pos x="437" y="635"/>
                  </a:cxn>
                  <a:cxn ang="0">
                    <a:pos x="437" y="372"/>
                  </a:cxn>
                  <a:cxn ang="0">
                    <a:pos x="437" y="297"/>
                  </a:cxn>
                  <a:cxn ang="0">
                    <a:pos x="437" y="34"/>
                  </a:cxn>
                  <a:cxn ang="0">
                    <a:pos x="437" y="28"/>
                  </a:cxn>
                  <a:cxn ang="0">
                    <a:pos x="437" y="0"/>
                  </a:cxn>
                  <a:cxn ang="0">
                    <a:pos x="306" y="135"/>
                  </a:cxn>
                  <a:cxn ang="0">
                    <a:pos x="175" y="0"/>
                  </a:cxn>
                  <a:cxn ang="0">
                    <a:pos x="175" y="122"/>
                  </a:cxn>
                  <a:cxn ang="0">
                    <a:pos x="175" y="547"/>
                  </a:cxn>
                  <a:cxn ang="0">
                    <a:pos x="175" y="684"/>
                  </a:cxn>
                  <a:cxn ang="0">
                    <a:pos x="0" y="859"/>
                  </a:cxn>
                  <a:cxn ang="0">
                    <a:pos x="262" y="859"/>
                  </a:cxn>
                </a:cxnLst>
                <a:rect l="0" t="0" r="r" b="b"/>
                <a:pathLst>
                  <a:path w="437" h="859">
                    <a:moveTo>
                      <a:pt x="262" y="859"/>
                    </a:moveTo>
                    <a:cubicBezTo>
                      <a:pt x="358" y="859"/>
                      <a:pt x="437" y="780"/>
                      <a:pt x="437" y="684"/>
                    </a:cubicBezTo>
                    <a:cubicBezTo>
                      <a:pt x="437" y="641"/>
                      <a:pt x="437" y="641"/>
                      <a:pt x="437" y="641"/>
                    </a:cubicBezTo>
                    <a:cubicBezTo>
                      <a:pt x="437" y="635"/>
                      <a:pt x="437" y="635"/>
                      <a:pt x="437" y="635"/>
                    </a:cubicBezTo>
                    <a:cubicBezTo>
                      <a:pt x="437" y="372"/>
                      <a:pt x="437" y="372"/>
                      <a:pt x="437" y="372"/>
                    </a:cubicBezTo>
                    <a:cubicBezTo>
                      <a:pt x="437" y="297"/>
                      <a:pt x="437" y="297"/>
                      <a:pt x="437" y="297"/>
                    </a:cubicBezTo>
                    <a:cubicBezTo>
                      <a:pt x="437" y="34"/>
                      <a:pt x="437" y="34"/>
                      <a:pt x="437" y="34"/>
                    </a:cubicBezTo>
                    <a:cubicBezTo>
                      <a:pt x="437" y="28"/>
                      <a:pt x="437" y="28"/>
                      <a:pt x="437" y="28"/>
                    </a:cubicBezTo>
                    <a:cubicBezTo>
                      <a:pt x="437" y="0"/>
                      <a:pt x="437" y="0"/>
                      <a:pt x="437" y="0"/>
                    </a:cubicBezTo>
                    <a:cubicBezTo>
                      <a:pt x="437" y="75"/>
                      <a:pt x="378" y="135"/>
                      <a:pt x="306" y="135"/>
                    </a:cubicBezTo>
                    <a:cubicBezTo>
                      <a:pt x="233" y="135"/>
                      <a:pt x="175" y="75"/>
                      <a:pt x="175" y="0"/>
                    </a:cubicBezTo>
                    <a:cubicBezTo>
                      <a:pt x="175" y="122"/>
                      <a:pt x="175" y="122"/>
                      <a:pt x="175" y="122"/>
                    </a:cubicBezTo>
                    <a:cubicBezTo>
                      <a:pt x="175" y="547"/>
                      <a:pt x="175" y="547"/>
                      <a:pt x="175" y="547"/>
                    </a:cubicBezTo>
                    <a:cubicBezTo>
                      <a:pt x="175" y="684"/>
                      <a:pt x="175" y="684"/>
                      <a:pt x="175" y="684"/>
                    </a:cubicBezTo>
                    <a:cubicBezTo>
                      <a:pt x="175" y="780"/>
                      <a:pt x="96" y="859"/>
                      <a:pt x="0" y="859"/>
                    </a:cubicBezTo>
                    <a:lnTo>
                      <a:pt x="262" y="85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Rectangle 17"/>
              <p:cNvSpPr>
                <a:spLocks noChangeArrowheads="1"/>
              </p:cNvSpPr>
              <p:nvPr/>
            </p:nvSpPr>
            <p:spPr bwMode="auto">
              <a:xfrm rot="5400000">
                <a:off x="4332335" y="1547009"/>
                <a:ext cx="1021378" cy="39816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56" name="TextBox 55"/>
            <p:cNvSpPr txBox="1"/>
            <p:nvPr/>
          </p:nvSpPr>
          <p:spPr>
            <a:xfrm>
              <a:off x="7112000" y="2438399"/>
              <a:ext cx="2176041" cy="947952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en-US" sz="1600" b="1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PRICE (PRIX)</a:t>
              </a:r>
              <a:endParaRPr lang="en-US" sz="1600" b="1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  <a:p>
              <a:pPr defTabSz="1219170">
                <a:spcBef>
                  <a:spcPct val="20000"/>
                </a:spcBef>
                <a:defRPr/>
              </a:pPr>
              <a:endParaRPr lang="en-US" sz="800" b="1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  <a:p>
              <a:r>
                <a:rPr lang="en-US" sz="1200" dirty="0" err="1" smtClean="0">
                  <a:solidFill>
                    <a:schemeClr val="bg1"/>
                  </a:solidFill>
                  <a:latin typeface="Candara" panose="020E0502030303020204" pitchFamily="34" charset="0"/>
                </a:rPr>
                <a:t>Méthode</a:t>
              </a:r>
              <a:r>
                <a:rPr lang="en-US" sz="1200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 de fixation de prix </a:t>
              </a:r>
            </a:p>
            <a:p>
              <a:r>
                <a:rPr lang="en-US" sz="1200" dirty="0" err="1" smtClean="0">
                  <a:solidFill>
                    <a:schemeClr val="bg1"/>
                  </a:solidFill>
                  <a:latin typeface="Candara" panose="020E0502030303020204" pitchFamily="34" charset="0"/>
                </a:rPr>
                <a:t>Stratégie</a:t>
              </a:r>
              <a:r>
                <a:rPr lang="en-US" sz="1200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 de prix </a:t>
              </a:r>
              <a:endParaRPr lang="en-US" sz="1200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</p:txBody>
        </p:sp>
      </p:grpSp>
      <p:grpSp>
        <p:nvGrpSpPr>
          <p:cNvPr id="11" name="Group 23"/>
          <p:cNvGrpSpPr/>
          <p:nvPr/>
        </p:nvGrpSpPr>
        <p:grpSpPr>
          <a:xfrm>
            <a:off x="4724400" y="4038600"/>
            <a:ext cx="2673376" cy="2212985"/>
            <a:chOff x="6276163" y="4063081"/>
            <a:chExt cx="3564501" cy="2212985"/>
          </a:xfrm>
          <a:solidFill>
            <a:srgbClr val="FFA803"/>
          </a:solidFill>
        </p:grpSpPr>
        <p:grpSp>
          <p:nvGrpSpPr>
            <p:cNvPr id="12" name="Group 113"/>
            <p:cNvGrpSpPr/>
            <p:nvPr/>
          </p:nvGrpSpPr>
          <p:grpSpPr>
            <a:xfrm>
              <a:off x="6276163" y="4063081"/>
              <a:ext cx="3564501" cy="2212985"/>
              <a:chOff x="4643943" y="3055571"/>
              <a:chExt cx="2673376" cy="1659739"/>
            </a:xfrm>
            <a:grpFill/>
            <a:effectLst/>
          </p:grpSpPr>
          <p:sp>
            <p:nvSpPr>
              <p:cNvPr id="83" name="Freeform 12"/>
              <p:cNvSpPr>
                <a:spLocks/>
              </p:cNvSpPr>
              <p:nvPr/>
            </p:nvSpPr>
            <p:spPr bwMode="auto">
              <a:xfrm rot="16200000" flipV="1">
                <a:off x="5349842" y="2747834"/>
                <a:ext cx="1659739" cy="2275214"/>
              </a:xfrm>
              <a:custGeom>
                <a:avLst/>
                <a:gdLst/>
                <a:ahLst/>
                <a:cxnLst>
                  <a:cxn ang="0">
                    <a:pos x="262" y="859"/>
                  </a:cxn>
                  <a:cxn ang="0">
                    <a:pos x="437" y="684"/>
                  </a:cxn>
                  <a:cxn ang="0">
                    <a:pos x="437" y="641"/>
                  </a:cxn>
                  <a:cxn ang="0">
                    <a:pos x="437" y="635"/>
                  </a:cxn>
                  <a:cxn ang="0">
                    <a:pos x="437" y="372"/>
                  </a:cxn>
                  <a:cxn ang="0">
                    <a:pos x="437" y="297"/>
                  </a:cxn>
                  <a:cxn ang="0">
                    <a:pos x="437" y="34"/>
                  </a:cxn>
                  <a:cxn ang="0">
                    <a:pos x="437" y="28"/>
                  </a:cxn>
                  <a:cxn ang="0">
                    <a:pos x="437" y="0"/>
                  </a:cxn>
                  <a:cxn ang="0">
                    <a:pos x="306" y="135"/>
                  </a:cxn>
                  <a:cxn ang="0">
                    <a:pos x="175" y="0"/>
                  </a:cxn>
                  <a:cxn ang="0">
                    <a:pos x="175" y="122"/>
                  </a:cxn>
                  <a:cxn ang="0">
                    <a:pos x="175" y="547"/>
                  </a:cxn>
                  <a:cxn ang="0">
                    <a:pos x="175" y="684"/>
                  </a:cxn>
                  <a:cxn ang="0">
                    <a:pos x="0" y="859"/>
                  </a:cxn>
                  <a:cxn ang="0">
                    <a:pos x="262" y="859"/>
                  </a:cxn>
                </a:cxnLst>
                <a:rect l="0" t="0" r="r" b="b"/>
                <a:pathLst>
                  <a:path w="437" h="859">
                    <a:moveTo>
                      <a:pt x="262" y="859"/>
                    </a:moveTo>
                    <a:cubicBezTo>
                      <a:pt x="358" y="859"/>
                      <a:pt x="437" y="780"/>
                      <a:pt x="437" y="684"/>
                    </a:cubicBezTo>
                    <a:cubicBezTo>
                      <a:pt x="437" y="641"/>
                      <a:pt x="437" y="641"/>
                      <a:pt x="437" y="641"/>
                    </a:cubicBezTo>
                    <a:cubicBezTo>
                      <a:pt x="437" y="635"/>
                      <a:pt x="437" y="635"/>
                      <a:pt x="437" y="635"/>
                    </a:cubicBezTo>
                    <a:cubicBezTo>
                      <a:pt x="437" y="372"/>
                      <a:pt x="437" y="372"/>
                      <a:pt x="437" y="372"/>
                    </a:cubicBezTo>
                    <a:cubicBezTo>
                      <a:pt x="437" y="297"/>
                      <a:pt x="437" y="297"/>
                      <a:pt x="437" y="297"/>
                    </a:cubicBezTo>
                    <a:cubicBezTo>
                      <a:pt x="437" y="34"/>
                      <a:pt x="437" y="34"/>
                      <a:pt x="437" y="34"/>
                    </a:cubicBezTo>
                    <a:cubicBezTo>
                      <a:pt x="437" y="28"/>
                      <a:pt x="437" y="28"/>
                      <a:pt x="437" y="28"/>
                    </a:cubicBezTo>
                    <a:cubicBezTo>
                      <a:pt x="437" y="0"/>
                      <a:pt x="437" y="0"/>
                      <a:pt x="437" y="0"/>
                    </a:cubicBezTo>
                    <a:cubicBezTo>
                      <a:pt x="437" y="75"/>
                      <a:pt x="378" y="135"/>
                      <a:pt x="306" y="135"/>
                    </a:cubicBezTo>
                    <a:cubicBezTo>
                      <a:pt x="233" y="135"/>
                      <a:pt x="175" y="75"/>
                      <a:pt x="175" y="0"/>
                    </a:cubicBezTo>
                    <a:cubicBezTo>
                      <a:pt x="175" y="122"/>
                      <a:pt x="175" y="122"/>
                      <a:pt x="175" y="122"/>
                    </a:cubicBezTo>
                    <a:cubicBezTo>
                      <a:pt x="175" y="547"/>
                      <a:pt x="175" y="547"/>
                      <a:pt x="175" y="547"/>
                    </a:cubicBezTo>
                    <a:cubicBezTo>
                      <a:pt x="175" y="684"/>
                      <a:pt x="175" y="684"/>
                      <a:pt x="175" y="684"/>
                    </a:cubicBezTo>
                    <a:cubicBezTo>
                      <a:pt x="175" y="780"/>
                      <a:pt x="96" y="859"/>
                      <a:pt x="0" y="859"/>
                    </a:cubicBezTo>
                    <a:lnTo>
                      <a:pt x="262" y="85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Rectangle 17"/>
              <p:cNvSpPr>
                <a:spLocks noChangeArrowheads="1"/>
              </p:cNvSpPr>
              <p:nvPr/>
            </p:nvSpPr>
            <p:spPr bwMode="auto">
              <a:xfrm rot="16200000" flipV="1">
                <a:off x="4332335" y="4005540"/>
                <a:ext cx="1021378" cy="39816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7088963" y="4139281"/>
              <a:ext cx="2540000" cy="100950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en-US" sz="1600" b="1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PROMOTION(COMMUNICATION)</a:t>
              </a:r>
              <a:endParaRPr lang="en-US" sz="1600" b="1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  <a:p>
              <a:pPr defTabSz="1219170">
                <a:spcBef>
                  <a:spcPct val="20000"/>
                </a:spcBef>
                <a:defRPr/>
              </a:pPr>
              <a:endParaRPr lang="en-US" sz="800" b="1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  <a:p>
              <a:r>
                <a:rPr lang="en-US" sz="1200" dirty="0" err="1" smtClean="0">
                  <a:solidFill>
                    <a:schemeClr val="bg1"/>
                  </a:solidFill>
                  <a:latin typeface="Candara" panose="020E0502030303020204" pitchFamily="34" charset="0"/>
                </a:rPr>
                <a:t>Publicité</a:t>
              </a:r>
              <a:r>
                <a:rPr lang="en-US" sz="1200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, </a:t>
              </a:r>
              <a:r>
                <a:rPr lang="en-US" sz="1200" dirty="0" err="1" smtClean="0">
                  <a:solidFill>
                    <a:schemeClr val="bg1"/>
                  </a:solidFill>
                  <a:latin typeface="Candara" panose="020E0502030303020204" pitchFamily="34" charset="0"/>
                </a:rPr>
                <a:t>offres</a:t>
              </a:r>
              <a:r>
                <a:rPr lang="en-US" sz="1200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 </a:t>
              </a:r>
              <a:r>
                <a:rPr lang="en-US" sz="1200" dirty="0" err="1" smtClean="0">
                  <a:solidFill>
                    <a:schemeClr val="bg1"/>
                  </a:solidFill>
                  <a:latin typeface="Candara" panose="020E0502030303020204" pitchFamily="34" charset="0"/>
                </a:rPr>
                <a:t>promotionnelles</a:t>
              </a:r>
              <a:r>
                <a:rPr lang="en-US" sz="1200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  </a:t>
              </a:r>
              <a:endParaRPr lang="en-US" sz="1200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98" name="Freeform 37"/>
          <p:cNvSpPr>
            <a:spLocks noChangeAspect="1" noEditPoints="1"/>
          </p:cNvSpPr>
          <p:nvPr/>
        </p:nvSpPr>
        <p:spPr bwMode="auto">
          <a:xfrm>
            <a:off x="1295400" y="2667000"/>
            <a:ext cx="374073" cy="548640"/>
          </a:xfrm>
          <a:custGeom>
            <a:avLst/>
            <a:gdLst>
              <a:gd name="T0" fmla="*/ 90 w 110"/>
              <a:gd name="T1" fmla="*/ 25 h 121"/>
              <a:gd name="T2" fmla="*/ 78 w 110"/>
              <a:gd name="T3" fmla="*/ 37 h 121"/>
              <a:gd name="T4" fmla="*/ 90 w 110"/>
              <a:gd name="T5" fmla="*/ 50 h 121"/>
              <a:gd name="T6" fmla="*/ 102 w 110"/>
              <a:gd name="T7" fmla="*/ 37 h 121"/>
              <a:gd name="T8" fmla="*/ 90 w 110"/>
              <a:gd name="T9" fmla="*/ 25 h 121"/>
              <a:gd name="T10" fmla="*/ 26 w 110"/>
              <a:gd name="T11" fmla="*/ 121 h 121"/>
              <a:gd name="T12" fmla="*/ 84 w 110"/>
              <a:gd name="T13" fmla="*/ 121 h 121"/>
              <a:gd name="T14" fmla="*/ 84 w 110"/>
              <a:gd name="T15" fmla="*/ 70 h 121"/>
              <a:gd name="T16" fmla="*/ 55 w 110"/>
              <a:gd name="T17" fmla="*/ 41 h 121"/>
              <a:gd name="T18" fmla="*/ 26 w 110"/>
              <a:gd name="T19" fmla="*/ 70 h 121"/>
              <a:gd name="T20" fmla="*/ 26 w 110"/>
              <a:gd name="T21" fmla="*/ 121 h 121"/>
              <a:gd name="T22" fmla="*/ 21 w 110"/>
              <a:gd name="T23" fmla="*/ 70 h 121"/>
              <a:gd name="T24" fmla="*/ 21 w 110"/>
              <a:gd name="T25" fmla="*/ 110 h 121"/>
              <a:gd name="T26" fmla="*/ 0 w 110"/>
              <a:gd name="T27" fmla="*/ 110 h 121"/>
              <a:gd name="T28" fmla="*/ 0 w 110"/>
              <a:gd name="T29" fmla="*/ 74 h 121"/>
              <a:gd name="T30" fmla="*/ 20 w 110"/>
              <a:gd name="T31" fmla="*/ 54 h 121"/>
              <a:gd name="T32" fmla="*/ 25 w 110"/>
              <a:gd name="T33" fmla="*/ 55 h 121"/>
              <a:gd name="T34" fmla="*/ 21 w 110"/>
              <a:gd name="T35" fmla="*/ 70 h 121"/>
              <a:gd name="T36" fmla="*/ 110 w 110"/>
              <a:gd name="T37" fmla="*/ 110 h 121"/>
              <a:gd name="T38" fmla="*/ 88 w 110"/>
              <a:gd name="T39" fmla="*/ 110 h 121"/>
              <a:gd name="T40" fmla="*/ 88 w 110"/>
              <a:gd name="T41" fmla="*/ 70 h 121"/>
              <a:gd name="T42" fmla="*/ 84 w 110"/>
              <a:gd name="T43" fmla="*/ 55 h 121"/>
              <a:gd name="T44" fmla="*/ 90 w 110"/>
              <a:gd name="T45" fmla="*/ 54 h 121"/>
              <a:gd name="T46" fmla="*/ 110 w 110"/>
              <a:gd name="T47" fmla="*/ 74 h 121"/>
              <a:gd name="T48" fmla="*/ 110 w 110"/>
              <a:gd name="T49" fmla="*/ 110 h 121"/>
              <a:gd name="T50" fmla="*/ 55 w 110"/>
              <a:gd name="T51" fmla="*/ 0 h 121"/>
              <a:gd name="T52" fmla="*/ 36 w 110"/>
              <a:gd name="T53" fmla="*/ 18 h 121"/>
              <a:gd name="T54" fmla="*/ 55 w 110"/>
              <a:gd name="T55" fmla="*/ 37 h 121"/>
              <a:gd name="T56" fmla="*/ 73 w 110"/>
              <a:gd name="T57" fmla="*/ 18 h 121"/>
              <a:gd name="T58" fmla="*/ 55 w 110"/>
              <a:gd name="T59" fmla="*/ 0 h 121"/>
              <a:gd name="T60" fmla="*/ 20 w 110"/>
              <a:gd name="T61" fmla="*/ 25 h 121"/>
              <a:gd name="T62" fmla="*/ 7 w 110"/>
              <a:gd name="T63" fmla="*/ 37 h 121"/>
              <a:gd name="T64" fmla="*/ 20 w 110"/>
              <a:gd name="T65" fmla="*/ 50 h 121"/>
              <a:gd name="T66" fmla="*/ 32 w 110"/>
              <a:gd name="T67" fmla="*/ 37 h 121"/>
              <a:gd name="T68" fmla="*/ 20 w 110"/>
              <a:gd name="T69" fmla="*/ 25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0" h="121">
                <a:moveTo>
                  <a:pt x="90" y="25"/>
                </a:moveTo>
                <a:cubicBezTo>
                  <a:pt x="83" y="25"/>
                  <a:pt x="78" y="30"/>
                  <a:pt x="78" y="37"/>
                </a:cubicBezTo>
                <a:cubicBezTo>
                  <a:pt x="78" y="44"/>
                  <a:pt x="83" y="50"/>
                  <a:pt x="90" y="50"/>
                </a:cubicBezTo>
                <a:cubicBezTo>
                  <a:pt x="97" y="50"/>
                  <a:pt x="102" y="44"/>
                  <a:pt x="102" y="37"/>
                </a:cubicBezTo>
                <a:cubicBezTo>
                  <a:pt x="102" y="30"/>
                  <a:pt x="97" y="25"/>
                  <a:pt x="90" y="25"/>
                </a:cubicBezTo>
                <a:close/>
                <a:moveTo>
                  <a:pt x="26" y="121"/>
                </a:moveTo>
                <a:cubicBezTo>
                  <a:pt x="84" y="121"/>
                  <a:pt x="84" y="121"/>
                  <a:pt x="84" y="121"/>
                </a:cubicBezTo>
                <a:cubicBezTo>
                  <a:pt x="84" y="70"/>
                  <a:pt x="84" y="70"/>
                  <a:pt x="84" y="70"/>
                </a:cubicBezTo>
                <a:cubicBezTo>
                  <a:pt x="84" y="54"/>
                  <a:pt x="71" y="41"/>
                  <a:pt x="55" y="41"/>
                </a:cubicBezTo>
                <a:cubicBezTo>
                  <a:pt x="39" y="41"/>
                  <a:pt x="26" y="54"/>
                  <a:pt x="26" y="70"/>
                </a:cubicBezTo>
                <a:cubicBezTo>
                  <a:pt x="26" y="121"/>
                  <a:pt x="26" y="121"/>
                  <a:pt x="26" y="121"/>
                </a:cubicBezTo>
                <a:close/>
                <a:moveTo>
                  <a:pt x="21" y="70"/>
                </a:moveTo>
                <a:cubicBezTo>
                  <a:pt x="21" y="110"/>
                  <a:pt x="21" y="110"/>
                  <a:pt x="21" y="110"/>
                </a:cubicBezTo>
                <a:cubicBezTo>
                  <a:pt x="0" y="110"/>
                  <a:pt x="0" y="110"/>
                  <a:pt x="0" y="110"/>
                </a:cubicBezTo>
                <a:cubicBezTo>
                  <a:pt x="0" y="74"/>
                  <a:pt x="0" y="74"/>
                  <a:pt x="0" y="74"/>
                </a:cubicBezTo>
                <a:cubicBezTo>
                  <a:pt x="0" y="63"/>
                  <a:pt x="9" y="54"/>
                  <a:pt x="20" y="54"/>
                </a:cubicBezTo>
                <a:cubicBezTo>
                  <a:pt x="22" y="54"/>
                  <a:pt x="23" y="55"/>
                  <a:pt x="25" y="55"/>
                </a:cubicBezTo>
                <a:cubicBezTo>
                  <a:pt x="23" y="60"/>
                  <a:pt x="21" y="65"/>
                  <a:pt x="21" y="70"/>
                </a:cubicBezTo>
                <a:close/>
                <a:moveTo>
                  <a:pt x="110" y="110"/>
                </a:moveTo>
                <a:cubicBezTo>
                  <a:pt x="88" y="110"/>
                  <a:pt x="88" y="110"/>
                  <a:pt x="88" y="110"/>
                </a:cubicBezTo>
                <a:cubicBezTo>
                  <a:pt x="88" y="70"/>
                  <a:pt x="88" y="70"/>
                  <a:pt x="88" y="70"/>
                </a:cubicBezTo>
                <a:cubicBezTo>
                  <a:pt x="88" y="65"/>
                  <a:pt x="87" y="60"/>
                  <a:pt x="84" y="55"/>
                </a:cubicBezTo>
                <a:cubicBezTo>
                  <a:pt x="86" y="55"/>
                  <a:pt x="88" y="54"/>
                  <a:pt x="90" y="54"/>
                </a:cubicBezTo>
                <a:cubicBezTo>
                  <a:pt x="101" y="54"/>
                  <a:pt x="110" y="63"/>
                  <a:pt x="110" y="74"/>
                </a:cubicBezTo>
                <a:cubicBezTo>
                  <a:pt x="110" y="110"/>
                  <a:pt x="110" y="110"/>
                  <a:pt x="110" y="110"/>
                </a:cubicBezTo>
                <a:close/>
                <a:moveTo>
                  <a:pt x="55" y="0"/>
                </a:moveTo>
                <a:cubicBezTo>
                  <a:pt x="45" y="0"/>
                  <a:pt x="36" y="8"/>
                  <a:pt x="36" y="18"/>
                </a:cubicBezTo>
                <a:cubicBezTo>
                  <a:pt x="36" y="28"/>
                  <a:pt x="45" y="37"/>
                  <a:pt x="55" y="37"/>
                </a:cubicBezTo>
                <a:cubicBezTo>
                  <a:pt x="65" y="37"/>
                  <a:pt x="73" y="28"/>
                  <a:pt x="73" y="18"/>
                </a:cubicBezTo>
                <a:cubicBezTo>
                  <a:pt x="73" y="8"/>
                  <a:pt x="65" y="0"/>
                  <a:pt x="55" y="0"/>
                </a:cubicBezTo>
                <a:close/>
                <a:moveTo>
                  <a:pt x="20" y="25"/>
                </a:moveTo>
                <a:cubicBezTo>
                  <a:pt x="13" y="25"/>
                  <a:pt x="7" y="30"/>
                  <a:pt x="7" y="37"/>
                </a:cubicBezTo>
                <a:cubicBezTo>
                  <a:pt x="7" y="44"/>
                  <a:pt x="13" y="50"/>
                  <a:pt x="20" y="50"/>
                </a:cubicBezTo>
                <a:cubicBezTo>
                  <a:pt x="26" y="50"/>
                  <a:pt x="32" y="44"/>
                  <a:pt x="32" y="37"/>
                </a:cubicBezTo>
                <a:cubicBezTo>
                  <a:pt x="32" y="30"/>
                  <a:pt x="26" y="25"/>
                  <a:pt x="20" y="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" name="Freeform 172"/>
          <p:cNvSpPr>
            <a:spLocks noChangeAspect="1" noEditPoints="1"/>
          </p:cNvSpPr>
          <p:nvPr/>
        </p:nvSpPr>
        <p:spPr bwMode="auto">
          <a:xfrm>
            <a:off x="1327156" y="4445977"/>
            <a:ext cx="299258" cy="548640"/>
          </a:xfrm>
          <a:custGeom>
            <a:avLst/>
            <a:gdLst>
              <a:gd name="T0" fmla="*/ 67 w 88"/>
              <a:gd name="T1" fmla="*/ 53 h 121"/>
              <a:gd name="T2" fmla="*/ 21 w 88"/>
              <a:gd name="T3" fmla="*/ 53 h 121"/>
              <a:gd name="T4" fmla="*/ 21 w 88"/>
              <a:gd name="T5" fmla="*/ 37 h 121"/>
              <a:gd name="T6" fmla="*/ 44 w 88"/>
              <a:gd name="T7" fmla="*/ 14 h 121"/>
              <a:gd name="T8" fmla="*/ 67 w 88"/>
              <a:gd name="T9" fmla="*/ 37 h 121"/>
              <a:gd name="T10" fmla="*/ 67 w 88"/>
              <a:gd name="T11" fmla="*/ 53 h 121"/>
              <a:gd name="T12" fmla="*/ 52 w 88"/>
              <a:gd name="T13" fmla="*/ 89 h 121"/>
              <a:gd name="T14" fmla="*/ 52 w 88"/>
              <a:gd name="T15" fmla="*/ 103 h 121"/>
              <a:gd name="T16" fmla="*/ 46 w 88"/>
              <a:gd name="T17" fmla="*/ 110 h 121"/>
              <a:gd name="T18" fmla="*/ 39 w 88"/>
              <a:gd name="T19" fmla="*/ 103 h 121"/>
              <a:gd name="T20" fmla="*/ 39 w 88"/>
              <a:gd name="T21" fmla="*/ 89 h 121"/>
              <a:gd name="T22" fmla="*/ 35 w 88"/>
              <a:gd name="T23" fmla="*/ 80 h 121"/>
              <a:gd name="T24" fmla="*/ 46 w 88"/>
              <a:gd name="T25" fmla="*/ 70 h 121"/>
              <a:gd name="T26" fmla="*/ 56 w 88"/>
              <a:gd name="T27" fmla="*/ 80 h 121"/>
              <a:gd name="T28" fmla="*/ 52 w 88"/>
              <a:gd name="T29" fmla="*/ 89 h 121"/>
              <a:gd name="T30" fmla="*/ 81 w 88"/>
              <a:gd name="T31" fmla="*/ 53 h 121"/>
              <a:gd name="T32" fmla="*/ 81 w 88"/>
              <a:gd name="T33" fmla="*/ 37 h 121"/>
              <a:gd name="T34" fmla="*/ 44 w 88"/>
              <a:gd name="T35" fmla="*/ 0 h 121"/>
              <a:gd name="T36" fmla="*/ 7 w 88"/>
              <a:gd name="T37" fmla="*/ 37 h 121"/>
              <a:gd name="T38" fmla="*/ 7 w 88"/>
              <a:gd name="T39" fmla="*/ 53 h 121"/>
              <a:gd name="T40" fmla="*/ 0 w 88"/>
              <a:gd name="T41" fmla="*/ 53 h 121"/>
              <a:gd name="T42" fmla="*/ 0 w 88"/>
              <a:gd name="T43" fmla="*/ 121 h 121"/>
              <a:gd name="T44" fmla="*/ 88 w 88"/>
              <a:gd name="T45" fmla="*/ 121 h 121"/>
              <a:gd name="T46" fmla="*/ 88 w 88"/>
              <a:gd name="T47" fmla="*/ 53 h 121"/>
              <a:gd name="T48" fmla="*/ 81 w 88"/>
              <a:gd name="T49" fmla="*/ 53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88" h="121">
                <a:moveTo>
                  <a:pt x="67" y="53"/>
                </a:moveTo>
                <a:cubicBezTo>
                  <a:pt x="21" y="53"/>
                  <a:pt x="21" y="53"/>
                  <a:pt x="21" y="53"/>
                </a:cubicBezTo>
                <a:cubicBezTo>
                  <a:pt x="21" y="37"/>
                  <a:pt x="21" y="37"/>
                  <a:pt x="21" y="37"/>
                </a:cubicBezTo>
                <a:cubicBezTo>
                  <a:pt x="21" y="24"/>
                  <a:pt x="31" y="14"/>
                  <a:pt x="44" y="14"/>
                </a:cubicBezTo>
                <a:cubicBezTo>
                  <a:pt x="57" y="14"/>
                  <a:pt x="67" y="24"/>
                  <a:pt x="67" y="37"/>
                </a:cubicBezTo>
                <a:cubicBezTo>
                  <a:pt x="67" y="53"/>
                  <a:pt x="67" y="53"/>
                  <a:pt x="67" y="53"/>
                </a:cubicBezTo>
                <a:close/>
                <a:moveTo>
                  <a:pt x="52" y="89"/>
                </a:moveTo>
                <a:cubicBezTo>
                  <a:pt x="52" y="103"/>
                  <a:pt x="52" y="103"/>
                  <a:pt x="52" y="103"/>
                </a:cubicBezTo>
                <a:cubicBezTo>
                  <a:pt x="52" y="107"/>
                  <a:pt x="49" y="110"/>
                  <a:pt x="46" y="110"/>
                </a:cubicBezTo>
                <a:cubicBezTo>
                  <a:pt x="42" y="110"/>
                  <a:pt x="39" y="107"/>
                  <a:pt x="39" y="103"/>
                </a:cubicBezTo>
                <a:cubicBezTo>
                  <a:pt x="39" y="89"/>
                  <a:pt x="39" y="89"/>
                  <a:pt x="39" y="89"/>
                </a:cubicBezTo>
                <a:cubicBezTo>
                  <a:pt x="37" y="87"/>
                  <a:pt x="35" y="84"/>
                  <a:pt x="35" y="80"/>
                </a:cubicBezTo>
                <a:cubicBezTo>
                  <a:pt x="35" y="74"/>
                  <a:pt x="40" y="70"/>
                  <a:pt x="46" y="70"/>
                </a:cubicBezTo>
                <a:cubicBezTo>
                  <a:pt x="52" y="70"/>
                  <a:pt x="56" y="74"/>
                  <a:pt x="56" y="80"/>
                </a:cubicBezTo>
                <a:cubicBezTo>
                  <a:pt x="56" y="84"/>
                  <a:pt x="55" y="87"/>
                  <a:pt x="52" y="89"/>
                </a:cubicBezTo>
                <a:close/>
                <a:moveTo>
                  <a:pt x="81" y="53"/>
                </a:moveTo>
                <a:cubicBezTo>
                  <a:pt x="81" y="37"/>
                  <a:pt x="81" y="37"/>
                  <a:pt x="81" y="37"/>
                </a:cubicBezTo>
                <a:cubicBezTo>
                  <a:pt x="81" y="17"/>
                  <a:pt x="64" y="0"/>
                  <a:pt x="44" y="0"/>
                </a:cubicBezTo>
                <a:cubicBezTo>
                  <a:pt x="24" y="0"/>
                  <a:pt x="7" y="17"/>
                  <a:pt x="7" y="37"/>
                </a:cubicBezTo>
                <a:cubicBezTo>
                  <a:pt x="7" y="53"/>
                  <a:pt x="7" y="53"/>
                  <a:pt x="7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121"/>
                  <a:pt x="0" y="121"/>
                  <a:pt x="0" y="121"/>
                </a:cubicBezTo>
                <a:cubicBezTo>
                  <a:pt x="88" y="121"/>
                  <a:pt x="88" y="121"/>
                  <a:pt x="88" y="121"/>
                </a:cubicBezTo>
                <a:cubicBezTo>
                  <a:pt x="88" y="53"/>
                  <a:pt x="88" y="53"/>
                  <a:pt x="88" y="53"/>
                </a:cubicBezTo>
                <a:cubicBezTo>
                  <a:pt x="81" y="53"/>
                  <a:pt x="81" y="53"/>
                  <a:pt x="81" y="5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3" name="Group 99"/>
          <p:cNvGrpSpPr>
            <a:grpSpLocks noChangeAspect="1"/>
          </p:cNvGrpSpPr>
          <p:nvPr/>
        </p:nvGrpSpPr>
        <p:grpSpPr>
          <a:xfrm>
            <a:off x="7398149" y="2692127"/>
            <a:ext cx="411480" cy="548640"/>
            <a:chOff x="3878263" y="2220913"/>
            <a:chExt cx="547687" cy="547687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1" name="Freeform 14"/>
            <p:cNvSpPr>
              <a:spLocks/>
            </p:cNvSpPr>
            <p:nvPr/>
          </p:nvSpPr>
          <p:spPr bwMode="auto">
            <a:xfrm>
              <a:off x="4035425" y="2376488"/>
              <a:ext cx="115887" cy="130175"/>
            </a:xfrm>
            <a:custGeom>
              <a:avLst/>
              <a:gdLst/>
              <a:ahLst/>
              <a:cxnLst>
                <a:cxn ang="0">
                  <a:pos x="73" y="63"/>
                </a:cxn>
                <a:cxn ang="0">
                  <a:pos x="53" y="82"/>
                </a:cxn>
                <a:cxn ang="0">
                  <a:pos x="0" y="18"/>
                </a:cxn>
                <a:cxn ang="0">
                  <a:pos x="1" y="0"/>
                </a:cxn>
                <a:cxn ang="0">
                  <a:pos x="21" y="0"/>
                </a:cxn>
                <a:cxn ang="0">
                  <a:pos x="73" y="63"/>
                </a:cxn>
              </a:cxnLst>
              <a:rect l="0" t="0" r="r" b="b"/>
              <a:pathLst>
                <a:path w="73" h="82">
                  <a:moveTo>
                    <a:pt x="73" y="63"/>
                  </a:moveTo>
                  <a:lnTo>
                    <a:pt x="53" y="82"/>
                  </a:lnTo>
                  <a:lnTo>
                    <a:pt x="0" y="18"/>
                  </a:lnTo>
                  <a:lnTo>
                    <a:pt x="1" y="0"/>
                  </a:lnTo>
                  <a:lnTo>
                    <a:pt x="21" y="0"/>
                  </a:lnTo>
                  <a:lnTo>
                    <a:pt x="73" y="6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02" name="Freeform 15"/>
            <p:cNvSpPr>
              <a:spLocks/>
            </p:cNvSpPr>
            <p:nvPr/>
          </p:nvSpPr>
          <p:spPr bwMode="auto">
            <a:xfrm>
              <a:off x="4165600" y="2424113"/>
              <a:ext cx="149225" cy="87312"/>
            </a:xfrm>
            <a:custGeom>
              <a:avLst/>
              <a:gdLst/>
              <a:ahLst/>
              <a:cxnLst>
                <a:cxn ang="0">
                  <a:pos x="10" y="55"/>
                </a:cxn>
                <a:cxn ang="0">
                  <a:pos x="0" y="30"/>
                </a:cxn>
                <a:cxn ang="0">
                  <a:pos x="77" y="0"/>
                </a:cxn>
                <a:cxn ang="0">
                  <a:pos x="94" y="8"/>
                </a:cxn>
                <a:cxn ang="0">
                  <a:pos x="87" y="27"/>
                </a:cxn>
                <a:cxn ang="0">
                  <a:pos x="10" y="55"/>
                </a:cxn>
              </a:cxnLst>
              <a:rect l="0" t="0" r="r" b="b"/>
              <a:pathLst>
                <a:path w="94" h="55">
                  <a:moveTo>
                    <a:pt x="10" y="55"/>
                  </a:moveTo>
                  <a:lnTo>
                    <a:pt x="0" y="30"/>
                  </a:lnTo>
                  <a:lnTo>
                    <a:pt x="77" y="0"/>
                  </a:lnTo>
                  <a:lnTo>
                    <a:pt x="94" y="8"/>
                  </a:lnTo>
                  <a:lnTo>
                    <a:pt x="87" y="27"/>
                  </a:lnTo>
                  <a:lnTo>
                    <a:pt x="10" y="5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03" name="Freeform 16"/>
            <p:cNvSpPr>
              <a:spLocks noEditPoints="1"/>
            </p:cNvSpPr>
            <p:nvPr/>
          </p:nvSpPr>
          <p:spPr bwMode="auto">
            <a:xfrm>
              <a:off x="3878263" y="2220913"/>
              <a:ext cx="547687" cy="547687"/>
            </a:xfrm>
            <a:custGeom>
              <a:avLst/>
              <a:gdLst/>
              <a:ahLst/>
              <a:cxnLst>
                <a:cxn ang="0">
                  <a:pos x="103" y="206"/>
                </a:cxn>
                <a:cxn ang="0">
                  <a:pos x="0" y="103"/>
                </a:cxn>
                <a:cxn ang="0">
                  <a:pos x="103" y="0"/>
                </a:cxn>
                <a:cxn ang="0">
                  <a:pos x="206" y="103"/>
                </a:cxn>
                <a:cxn ang="0">
                  <a:pos x="103" y="206"/>
                </a:cxn>
                <a:cxn ang="0">
                  <a:pos x="103" y="22"/>
                </a:cxn>
                <a:cxn ang="0">
                  <a:pos x="22" y="103"/>
                </a:cxn>
                <a:cxn ang="0">
                  <a:pos x="103" y="184"/>
                </a:cxn>
                <a:cxn ang="0">
                  <a:pos x="184" y="103"/>
                </a:cxn>
                <a:cxn ang="0">
                  <a:pos x="103" y="22"/>
                </a:cxn>
              </a:cxnLst>
              <a:rect l="0" t="0" r="r" b="b"/>
              <a:pathLst>
                <a:path w="206" h="206">
                  <a:moveTo>
                    <a:pt x="103" y="206"/>
                  </a:move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6" y="46"/>
                    <a:pt x="206" y="103"/>
                  </a:cubicBezTo>
                  <a:cubicBezTo>
                    <a:pt x="206" y="160"/>
                    <a:pt x="160" y="206"/>
                    <a:pt x="103" y="206"/>
                  </a:cubicBezTo>
                  <a:close/>
                  <a:moveTo>
                    <a:pt x="103" y="22"/>
                  </a:moveTo>
                  <a:cubicBezTo>
                    <a:pt x="58" y="22"/>
                    <a:pt x="22" y="58"/>
                    <a:pt x="22" y="103"/>
                  </a:cubicBezTo>
                  <a:cubicBezTo>
                    <a:pt x="22" y="148"/>
                    <a:pt x="58" y="184"/>
                    <a:pt x="103" y="184"/>
                  </a:cubicBezTo>
                  <a:cubicBezTo>
                    <a:pt x="148" y="184"/>
                    <a:pt x="184" y="148"/>
                    <a:pt x="184" y="103"/>
                  </a:cubicBezTo>
                  <a:cubicBezTo>
                    <a:pt x="184" y="58"/>
                    <a:pt x="148" y="22"/>
                    <a:pt x="103" y="2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11" name="Oval 17"/>
            <p:cNvSpPr>
              <a:spLocks noChangeArrowheads="1"/>
            </p:cNvSpPr>
            <p:nvPr/>
          </p:nvSpPr>
          <p:spPr bwMode="auto">
            <a:xfrm>
              <a:off x="4111625" y="2455863"/>
              <a:ext cx="79375" cy="79375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12" name="Freeform 18"/>
            <p:cNvSpPr>
              <a:spLocks/>
            </p:cNvSpPr>
            <p:nvPr/>
          </p:nvSpPr>
          <p:spPr bwMode="auto">
            <a:xfrm>
              <a:off x="4135438" y="2654300"/>
              <a:ext cx="31750" cy="106362"/>
            </a:xfrm>
            <a:custGeom>
              <a:avLst/>
              <a:gdLst/>
              <a:ahLst/>
              <a:cxnLst>
                <a:cxn ang="0">
                  <a:pos x="12" y="34"/>
                </a:cxn>
                <a:cxn ang="0">
                  <a:pos x="6" y="40"/>
                </a:cxn>
                <a:cxn ang="0">
                  <a:pos x="0" y="34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34"/>
                </a:cxn>
              </a:cxnLst>
              <a:rect l="0" t="0" r="r" b="b"/>
              <a:pathLst>
                <a:path w="12" h="40">
                  <a:moveTo>
                    <a:pt x="12" y="34"/>
                  </a:moveTo>
                  <a:cubicBezTo>
                    <a:pt x="12" y="38"/>
                    <a:pt x="9" y="40"/>
                    <a:pt x="6" y="40"/>
                  </a:cubicBezTo>
                  <a:cubicBezTo>
                    <a:pt x="3" y="40"/>
                    <a:pt x="0" y="38"/>
                    <a:pt x="0" y="3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lnTo>
                    <a:pt x="12" y="3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13" name="Freeform 19"/>
            <p:cNvSpPr>
              <a:spLocks/>
            </p:cNvSpPr>
            <p:nvPr/>
          </p:nvSpPr>
          <p:spPr bwMode="auto">
            <a:xfrm>
              <a:off x="4135438" y="2230438"/>
              <a:ext cx="31750" cy="107950"/>
            </a:xfrm>
            <a:custGeom>
              <a:avLst/>
              <a:gdLst/>
              <a:ahLst/>
              <a:cxnLst>
                <a:cxn ang="0">
                  <a:pos x="12" y="34"/>
                </a:cxn>
                <a:cxn ang="0">
                  <a:pos x="6" y="41"/>
                </a:cxn>
                <a:cxn ang="0">
                  <a:pos x="0" y="34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34"/>
                </a:cxn>
              </a:cxnLst>
              <a:rect l="0" t="0" r="r" b="b"/>
              <a:pathLst>
                <a:path w="12" h="41">
                  <a:moveTo>
                    <a:pt x="12" y="34"/>
                  </a:moveTo>
                  <a:cubicBezTo>
                    <a:pt x="12" y="38"/>
                    <a:pt x="9" y="41"/>
                    <a:pt x="6" y="41"/>
                  </a:cubicBezTo>
                  <a:cubicBezTo>
                    <a:pt x="3" y="41"/>
                    <a:pt x="0" y="38"/>
                    <a:pt x="0" y="3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lnTo>
                    <a:pt x="12" y="3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14" name="Freeform 20"/>
            <p:cNvSpPr>
              <a:spLocks/>
            </p:cNvSpPr>
            <p:nvPr/>
          </p:nvSpPr>
          <p:spPr bwMode="auto">
            <a:xfrm>
              <a:off x="4308475" y="2479675"/>
              <a:ext cx="109537" cy="31750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41" y="6"/>
                </a:cxn>
                <a:cxn ang="0">
                  <a:pos x="35" y="12"/>
                </a:cxn>
                <a:cxn ang="0">
                  <a:pos x="7" y="1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35" y="0"/>
                </a:cxn>
              </a:cxnLst>
              <a:rect l="0" t="0" r="r" b="b"/>
              <a:pathLst>
                <a:path w="41" h="12">
                  <a:moveTo>
                    <a:pt x="35" y="0"/>
                  </a:moveTo>
                  <a:cubicBezTo>
                    <a:pt x="39" y="0"/>
                    <a:pt x="41" y="3"/>
                    <a:pt x="41" y="6"/>
                  </a:cubicBezTo>
                  <a:cubicBezTo>
                    <a:pt x="41" y="10"/>
                    <a:pt x="39" y="12"/>
                    <a:pt x="35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lnTo>
                    <a:pt x="35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15" name="Freeform 21"/>
            <p:cNvSpPr>
              <a:spLocks/>
            </p:cNvSpPr>
            <p:nvPr/>
          </p:nvSpPr>
          <p:spPr bwMode="auto">
            <a:xfrm>
              <a:off x="3886200" y="2479675"/>
              <a:ext cx="107950" cy="31750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41" y="6"/>
                </a:cxn>
                <a:cxn ang="0">
                  <a:pos x="34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34" y="0"/>
                </a:cxn>
              </a:cxnLst>
              <a:rect l="0" t="0" r="r" b="b"/>
              <a:pathLst>
                <a:path w="41" h="12">
                  <a:moveTo>
                    <a:pt x="34" y="0"/>
                  </a:moveTo>
                  <a:cubicBezTo>
                    <a:pt x="38" y="0"/>
                    <a:pt x="41" y="3"/>
                    <a:pt x="41" y="6"/>
                  </a:cubicBezTo>
                  <a:cubicBezTo>
                    <a:pt x="41" y="10"/>
                    <a:pt x="38" y="12"/>
                    <a:pt x="34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lnTo>
                    <a:pt x="3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14" name="Group 115"/>
          <p:cNvGrpSpPr>
            <a:grpSpLocks noChangeAspect="1"/>
          </p:cNvGrpSpPr>
          <p:nvPr/>
        </p:nvGrpSpPr>
        <p:grpSpPr>
          <a:xfrm>
            <a:off x="7566911" y="4508337"/>
            <a:ext cx="333956" cy="548640"/>
            <a:chOff x="4598988" y="3263900"/>
            <a:chExt cx="444500" cy="54768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7" name="Freeform 9"/>
            <p:cNvSpPr>
              <a:spLocks/>
            </p:cNvSpPr>
            <p:nvPr/>
          </p:nvSpPr>
          <p:spPr bwMode="auto">
            <a:xfrm>
              <a:off x="4598988" y="3465513"/>
              <a:ext cx="444500" cy="263525"/>
            </a:xfrm>
            <a:custGeom>
              <a:avLst/>
              <a:gdLst/>
              <a:ahLst/>
              <a:cxnLst>
                <a:cxn ang="0">
                  <a:pos x="83" y="99"/>
                </a:cxn>
                <a:cxn ang="0">
                  <a:pos x="0" y="11"/>
                </a:cxn>
                <a:cxn ang="0">
                  <a:pos x="11" y="0"/>
                </a:cxn>
                <a:cxn ang="0">
                  <a:pos x="22" y="11"/>
                </a:cxn>
                <a:cxn ang="0">
                  <a:pos x="83" y="76"/>
                </a:cxn>
                <a:cxn ang="0">
                  <a:pos x="145" y="11"/>
                </a:cxn>
                <a:cxn ang="0">
                  <a:pos x="156" y="0"/>
                </a:cxn>
                <a:cxn ang="0">
                  <a:pos x="167" y="11"/>
                </a:cxn>
                <a:cxn ang="0">
                  <a:pos x="83" y="99"/>
                </a:cxn>
              </a:cxnLst>
              <a:rect l="0" t="0" r="r" b="b"/>
              <a:pathLst>
                <a:path w="167" h="99">
                  <a:moveTo>
                    <a:pt x="83" y="99"/>
                  </a:moveTo>
                  <a:cubicBezTo>
                    <a:pt x="37" y="99"/>
                    <a:pt x="0" y="59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2" y="5"/>
                    <a:pt x="22" y="11"/>
                  </a:cubicBezTo>
                  <a:cubicBezTo>
                    <a:pt x="22" y="47"/>
                    <a:pt x="49" y="76"/>
                    <a:pt x="83" y="76"/>
                  </a:cubicBezTo>
                  <a:cubicBezTo>
                    <a:pt x="117" y="76"/>
                    <a:pt x="145" y="47"/>
                    <a:pt x="145" y="11"/>
                  </a:cubicBezTo>
                  <a:cubicBezTo>
                    <a:pt x="145" y="5"/>
                    <a:pt x="150" y="0"/>
                    <a:pt x="156" y="0"/>
                  </a:cubicBezTo>
                  <a:cubicBezTo>
                    <a:pt x="162" y="0"/>
                    <a:pt x="167" y="5"/>
                    <a:pt x="167" y="11"/>
                  </a:cubicBezTo>
                  <a:cubicBezTo>
                    <a:pt x="167" y="59"/>
                    <a:pt x="130" y="99"/>
                    <a:pt x="83" y="9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18" name="Freeform 10"/>
            <p:cNvSpPr>
              <a:spLocks/>
            </p:cNvSpPr>
            <p:nvPr/>
          </p:nvSpPr>
          <p:spPr bwMode="auto">
            <a:xfrm>
              <a:off x="4724400" y="3263900"/>
              <a:ext cx="193675" cy="374650"/>
            </a:xfrm>
            <a:custGeom>
              <a:avLst/>
              <a:gdLst/>
              <a:ahLst/>
              <a:cxnLst>
                <a:cxn ang="0">
                  <a:pos x="57" y="95"/>
                </a:cxn>
                <a:cxn ang="0">
                  <a:pos x="57" y="75"/>
                </a:cxn>
                <a:cxn ang="0">
                  <a:pos x="73" y="75"/>
                </a:cxn>
                <a:cxn ang="0">
                  <a:pos x="73" y="62"/>
                </a:cxn>
                <a:cxn ang="0">
                  <a:pos x="57" y="62"/>
                </a:cxn>
                <a:cxn ang="0">
                  <a:pos x="57" y="42"/>
                </a:cxn>
                <a:cxn ang="0">
                  <a:pos x="73" y="42"/>
                </a:cxn>
                <a:cxn ang="0">
                  <a:pos x="73" y="36"/>
                </a:cxn>
                <a:cxn ang="0">
                  <a:pos x="36" y="0"/>
                </a:cxn>
                <a:cxn ang="0">
                  <a:pos x="0" y="36"/>
                </a:cxn>
                <a:cxn ang="0">
                  <a:pos x="0" y="42"/>
                </a:cxn>
                <a:cxn ang="0">
                  <a:pos x="15" y="42"/>
                </a:cxn>
                <a:cxn ang="0">
                  <a:pos x="15" y="62"/>
                </a:cxn>
                <a:cxn ang="0">
                  <a:pos x="0" y="62"/>
                </a:cxn>
                <a:cxn ang="0">
                  <a:pos x="0" y="75"/>
                </a:cxn>
                <a:cxn ang="0">
                  <a:pos x="15" y="75"/>
                </a:cxn>
                <a:cxn ang="0">
                  <a:pos x="15" y="95"/>
                </a:cxn>
                <a:cxn ang="0">
                  <a:pos x="0" y="95"/>
                </a:cxn>
                <a:cxn ang="0">
                  <a:pos x="0" y="104"/>
                </a:cxn>
                <a:cxn ang="0">
                  <a:pos x="36" y="141"/>
                </a:cxn>
                <a:cxn ang="0">
                  <a:pos x="73" y="104"/>
                </a:cxn>
                <a:cxn ang="0">
                  <a:pos x="73" y="95"/>
                </a:cxn>
                <a:cxn ang="0">
                  <a:pos x="57" y="95"/>
                </a:cxn>
              </a:cxnLst>
              <a:rect l="0" t="0" r="r" b="b"/>
              <a:pathLst>
                <a:path w="73" h="141">
                  <a:moveTo>
                    <a:pt x="57" y="95"/>
                  </a:moveTo>
                  <a:cubicBezTo>
                    <a:pt x="57" y="75"/>
                    <a:pt x="57" y="75"/>
                    <a:pt x="57" y="75"/>
                  </a:cubicBezTo>
                  <a:cubicBezTo>
                    <a:pt x="73" y="75"/>
                    <a:pt x="73" y="75"/>
                    <a:pt x="73" y="75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73" y="42"/>
                    <a:pt x="73" y="42"/>
                    <a:pt x="73" y="42"/>
                  </a:cubicBezTo>
                  <a:cubicBezTo>
                    <a:pt x="73" y="36"/>
                    <a:pt x="73" y="36"/>
                    <a:pt x="73" y="36"/>
                  </a:cubicBezTo>
                  <a:cubicBezTo>
                    <a:pt x="73" y="16"/>
                    <a:pt x="57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62"/>
                    <a:pt x="15" y="62"/>
                    <a:pt x="15" y="6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15" y="75"/>
                    <a:pt x="15" y="75"/>
                    <a:pt x="15" y="7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25"/>
                    <a:pt x="16" y="141"/>
                    <a:pt x="36" y="141"/>
                  </a:cubicBezTo>
                  <a:cubicBezTo>
                    <a:pt x="57" y="141"/>
                    <a:pt x="73" y="125"/>
                    <a:pt x="73" y="104"/>
                  </a:cubicBezTo>
                  <a:cubicBezTo>
                    <a:pt x="73" y="95"/>
                    <a:pt x="73" y="95"/>
                    <a:pt x="73" y="95"/>
                  </a:cubicBezTo>
                  <a:lnTo>
                    <a:pt x="57" y="9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19" name="Rectangle 11"/>
            <p:cNvSpPr>
              <a:spLocks noChangeArrowheads="1"/>
            </p:cNvSpPr>
            <p:nvPr/>
          </p:nvSpPr>
          <p:spPr bwMode="auto">
            <a:xfrm>
              <a:off x="4783138" y="3705225"/>
              <a:ext cx="76200" cy="7143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20" name="Rectangle 12"/>
            <p:cNvSpPr>
              <a:spLocks noChangeArrowheads="1"/>
            </p:cNvSpPr>
            <p:nvPr/>
          </p:nvSpPr>
          <p:spPr bwMode="auto">
            <a:xfrm>
              <a:off x="4684713" y="3757613"/>
              <a:ext cx="271462" cy="5397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="" xmlns:p14="http://schemas.microsoft.com/office/powerpoint/2010/main" val="114865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500"/>
                            </p:stCondLst>
                            <p:childTnLst>
                              <p:par>
                                <p:cTn id="7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12298" grpId="0" animBg="1"/>
      <p:bldP spid="86" grpId="0" animBg="1"/>
      <p:bldP spid="82" grpId="0" animBg="1"/>
      <p:bldP spid="98" grpId="0" animBg="1"/>
      <p:bldP spid="9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512136" y="4179703"/>
            <a:ext cx="1579563" cy="2103438"/>
          </a:xfrm>
          <a:prstGeom prst="round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: Rounded Corners 17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1325234" y="3769310"/>
            <a:ext cx="342900" cy="455613"/>
          </a:xfrm>
          <a:prstGeom prst="roundRect">
            <a:avLst/>
          </a:prstGeom>
          <a:solidFill>
            <a:srgbClr val="85C40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TextBox 66"/>
          <p:cNvSpPr txBox="1">
            <a:spLocks noChangeArrowheads="1"/>
          </p:cNvSpPr>
          <p:nvPr/>
        </p:nvSpPr>
        <p:spPr bwMode="auto">
          <a:xfrm>
            <a:off x="0" y="214313"/>
            <a:ext cx="5643563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fr-FR" sz="3200" b="1" dirty="0" smtClean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endParaRPr lang="en-US" altLang="fr-FR" sz="3200" b="1" dirty="0">
              <a:solidFill>
                <a:srgbClr val="FF0000"/>
              </a:solidFill>
              <a:latin typeface="Baskerville Old Face" pitchFamily="18" charset="0"/>
            </a:endParaRPr>
          </a:p>
          <a:p>
            <a:pPr algn="r"/>
            <a:endParaRPr lang="en-US" altLang="fr-FR" dirty="0">
              <a:solidFill>
                <a:srgbClr val="56595E"/>
              </a:solidFill>
              <a:latin typeface="Candara" pitchFamily="34" charset="0"/>
            </a:endParaRPr>
          </a:p>
        </p:txBody>
      </p:sp>
      <p:pic>
        <p:nvPicPr>
          <p:cNvPr id="19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23" name="ZoneTexte 15"/>
          <p:cNvSpPr txBox="1">
            <a:spLocks noChangeArrowheads="1"/>
          </p:cNvSpPr>
          <p:nvPr/>
        </p:nvSpPr>
        <p:spPr bwMode="auto">
          <a:xfrm>
            <a:off x="357158" y="428604"/>
            <a:ext cx="71437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  </a:t>
            </a:r>
            <a:endParaRPr lang="fr-FR" sz="3200" b="1" dirty="0">
              <a:solidFill>
                <a:srgbClr val="FF0000"/>
              </a:solidFill>
              <a:latin typeface="Trebuchet MS" pitchFamily="34" charset="0"/>
              <a:cs typeface="Times New Roman" pitchFamily="18" charset="0"/>
            </a:endParaRPr>
          </a:p>
        </p:txBody>
      </p:sp>
      <p:sp>
        <p:nvSpPr>
          <p:cNvPr id="25" name="Isosceles Triangle 46">
            <a:extLst>
              <a:ext uri="{FF2B5EF4-FFF2-40B4-BE49-F238E27FC236}">
                <a16:creationId xmlns:a16="http://schemas.microsoft.com/office/drawing/2014/main" xmlns="" id="{295CE181-88D7-4815-BC0F-BC87C9322824}"/>
              </a:ext>
            </a:extLst>
          </p:cNvPr>
          <p:cNvSpPr/>
          <p:nvPr/>
        </p:nvSpPr>
        <p:spPr>
          <a:xfrm rot="5400000">
            <a:off x="-31494" y="460098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34532B92-D7C0-4F87-9B7D-BC224D4E91F4}"/>
              </a:ext>
            </a:extLst>
          </p:cNvPr>
          <p:cNvSpPr/>
          <p:nvPr/>
        </p:nvSpPr>
        <p:spPr>
          <a:xfrm>
            <a:off x="2214546" y="2285992"/>
            <a:ext cx="6429420" cy="23574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12">
            <a:extLst>
              <a:ext uri="{FF2B5EF4-FFF2-40B4-BE49-F238E27FC236}">
                <a16:creationId xmlns="" xmlns:a16="http://schemas.microsoft.com/office/drawing/2014/main" id="{4040B62E-ECDA-4DD9-A6E6-142DF26E5F8A}"/>
              </a:ext>
            </a:extLst>
          </p:cNvPr>
          <p:cNvGrpSpPr/>
          <p:nvPr/>
        </p:nvGrpSpPr>
        <p:grpSpPr>
          <a:xfrm rot="10800000">
            <a:off x="2643174" y="2714620"/>
            <a:ext cx="4325218" cy="51094"/>
            <a:chOff x="4908400" y="1972933"/>
            <a:chExt cx="6290664" cy="55734"/>
          </a:xfrm>
          <a:solidFill>
            <a:srgbClr val="A5A5A5"/>
          </a:solidFill>
        </p:grpSpPr>
        <p:cxnSp>
          <p:nvCxnSpPr>
            <p:cNvPr id="33" name="Straight Connector 13">
              <a:extLst>
                <a:ext uri="{FF2B5EF4-FFF2-40B4-BE49-F238E27FC236}">
                  <a16:creationId xmlns="" xmlns:a16="http://schemas.microsoft.com/office/drawing/2014/main" id="{FFE5C481-8A4A-461C-A776-7213F8C3AB0D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4908400" y="1996044"/>
              <a:ext cx="5884885" cy="0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 59">
              <a:extLst>
                <a:ext uri="{FF2B5EF4-FFF2-40B4-BE49-F238E27FC236}">
                  <a16:creationId xmlns="" xmlns:a16="http://schemas.microsoft.com/office/drawing/2014/main" id="{2345658E-D69D-4AFB-B26F-8E8303BF50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33304" y="1972933"/>
              <a:ext cx="365760" cy="55734"/>
            </a:xfrm>
            <a:custGeom>
              <a:avLst/>
              <a:gdLst>
                <a:gd name="connsiteX0" fmla="*/ 105727 w 1500187"/>
                <a:gd name="connsiteY0" fmla="*/ 0 h 228600"/>
                <a:gd name="connsiteX1" fmla="*/ 114300 w 1500187"/>
                <a:gd name="connsiteY1" fmla="*/ 0 h 228600"/>
                <a:gd name="connsiteX2" fmla="*/ 1385887 w 1500187"/>
                <a:gd name="connsiteY2" fmla="*/ 0 h 228600"/>
                <a:gd name="connsiteX3" fmla="*/ 1500187 w 1500187"/>
                <a:gd name="connsiteY3" fmla="*/ 114300 h 228600"/>
                <a:gd name="connsiteX4" fmla="*/ 1385887 w 1500187"/>
                <a:gd name="connsiteY4" fmla="*/ 228600 h 228600"/>
                <a:gd name="connsiteX5" fmla="*/ 114300 w 1500187"/>
                <a:gd name="connsiteY5" fmla="*/ 228600 h 228600"/>
                <a:gd name="connsiteX6" fmla="*/ 105727 w 1500187"/>
                <a:gd name="connsiteY6" fmla="*/ 228600 h 228600"/>
                <a:gd name="connsiteX7" fmla="*/ 105727 w 1500187"/>
                <a:gd name="connsiteY7" fmla="*/ 226869 h 228600"/>
                <a:gd name="connsiteX8" fmla="*/ 69809 w 1500187"/>
                <a:gd name="connsiteY8" fmla="*/ 219618 h 228600"/>
                <a:gd name="connsiteX9" fmla="*/ 0 w 1500187"/>
                <a:gd name="connsiteY9" fmla="*/ 114300 h 228600"/>
                <a:gd name="connsiteX10" fmla="*/ 69809 w 1500187"/>
                <a:gd name="connsiteY10" fmla="*/ 8982 h 228600"/>
                <a:gd name="connsiteX11" fmla="*/ 105727 w 1500187"/>
                <a:gd name="connsiteY11" fmla="*/ 1731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0187" h="228600">
                  <a:moveTo>
                    <a:pt x="105727" y="0"/>
                  </a:moveTo>
                  <a:lnTo>
                    <a:pt x="114300" y="0"/>
                  </a:lnTo>
                  <a:lnTo>
                    <a:pt x="1385887" y="0"/>
                  </a:lnTo>
                  <a:cubicBezTo>
                    <a:pt x="1449013" y="0"/>
                    <a:pt x="1500187" y="51174"/>
                    <a:pt x="1500187" y="114300"/>
                  </a:cubicBezTo>
                  <a:cubicBezTo>
                    <a:pt x="1500187" y="177426"/>
                    <a:pt x="1449013" y="228600"/>
                    <a:pt x="1385887" y="228600"/>
                  </a:cubicBezTo>
                  <a:lnTo>
                    <a:pt x="114300" y="228600"/>
                  </a:lnTo>
                  <a:lnTo>
                    <a:pt x="105727" y="228600"/>
                  </a:lnTo>
                  <a:lnTo>
                    <a:pt x="105727" y="226869"/>
                  </a:lnTo>
                  <a:lnTo>
                    <a:pt x="69809" y="219618"/>
                  </a:lnTo>
                  <a:cubicBezTo>
                    <a:pt x="28785" y="202266"/>
                    <a:pt x="0" y="161645"/>
                    <a:pt x="0" y="114300"/>
                  </a:cubicBezTo>
                  <a:cubicBezTo>
                    <a:pt x="0" y="66956"/>
                    <a:pt x="28785" y="26334"/>
                    <a:pt x="69809" y="8982"/>
                  </a:cubicBezTo>
                  <a:lnTo>
                    <a:pt x="105727" y="173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35" name="Text Box 10">
            <a:extLst>
              <a:ext uri="{FF2B5EF4-FFF2-40B4-BE49-F238E27FC236}">
                <a16:creationId xmlns="" xmlns:a16="http://schemas.microsoft.com/office/drawing/2014/main" id="{521EF548-6C24-45D5-87CC-CD0C61059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7422" y="3071810"/>
            <a:ext cx="6286512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/>
          <a:p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Quel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est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le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rôle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de la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fonction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 des RH ?   </a:t>
            </a:r>
            <a:endParaRPr lang="en-US" sz="1600" b="1" dirty="0" smtClean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r>
              <a:rPr lang="en-US" sz="16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endParaRPr lang="en-US" sz="1600" b="1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Titre 1"/>
          <p:cNvSpPr txBox="1">
            <a:spLocks/>
          </p:cNvSpPr>
          <p:nvPr/>
        </p:nvSpPr>
        <p:spPr>
          <a:xfrm>
            <a:off x="644525" y="298450"/>
            <a:ext cx="8499475" cy="49212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itchFamily="34" charset="0"/>
                <a:ea typeface="+mj-ea"/>
                <a:cs typeface="+mj-cs"/>
              </a:rPr>
              <a:t> La fonction </a:t>
            </a:r>
            <a:r>
              <a:rPr kumimoji="0" lang="fr-FR" sz="3200" b="1" i="0" u="none" strike="noStrike" kern="1200" cap="none" spc="-5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itchFamily="34" charset="0"/>
                <a:ea typeface="+mj-ea"/>
                <a:cs typeface="+mj-cs"/>
              </a:rPr>
              <a:t>gestion des</a:t>
            </a:r>
            <a:r>
              <a:rPr kumimoji="0" lang="fr-FR" sz="3200" b="1" i="0" u="none" strike="noStrike" kern="1200" cap="none" spc="-7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itchFamily="34" charset="0"/>
                <a:ea typeface="+mj-ea"/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  <a:ea typeface="+mj-ea"/>
                <a:cs typeface="+mj-cs"/>
              </a:rPr>
              <a:t>ressources humaines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rebuchet MS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21" grpId="0"/>
      <p:bldP spid="25" grpId="0" animBg="1"/>
      <p:bldP spid="31" grpId="0" animBg="1"/>
      <p:bldP spid="35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4525" y="298450"/>
            <a:ext cx="8499475" cy="492125"/>
          </a:xfrm>
        </p:spPr>
        <p:txBody>
          <a:bodyPr>
            <a:no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</a:rPr>
              <a:t> Rôle de la fonction </a:t>
            </a:r>
            <a:r>
              <a:rPr lang="fr-FR" sz="3200" b="1" spc="-5" dirty="0" smtClean="0">
                <a:solidFill>
                  <a:srgbClr val="FF0000"/>
                </a:solidFill>
                <a:latin typeface="Trebuchet MS" pitchFamily="34" charset="0"/>
              </a:rPr>
              <a:t>gestion des</a:t>
            </a:r>
            <a:r>
              <a:rPr lang="fr-FR" sz="3200" b="1" spc="-70" dirty="0" smtClean="0">
                <a:solidFill>
                  <a:srgbClr val="FF0000"/>
                </a:solidFill>
                <a:latin typeface="Trebuchet MS" pitchFamily="34" charset="0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</a:rPr>
              <a:t>RH</a:t>
            </a:r>
            <a:endParaRPr lang="fr-FR" sz="3200" b="1" dirty="0">
              <a:latin typeface="Trebuchet MS" pitchFamily="34" charset="0"/>
            </a:endParaRPr>
          </a:p>
        </p:txBody>
      </p:sp>
      <p:pic>
        <p:nvPicPr>
          <p:cNvPr id="4" name="Picture 2" descr="Résultat de recherche d'images pour &quot;les activités de la fonction rh ppt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4876800"/>
            <a:ext cx="32861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Diagramme 4"/>
          <p:cNvGraphicFramePr/>
          <p:nvPr/>
        </p:nvGraphicFramePr>
        <p:xfrm>
          <a:off x="1676400" y="2133600"/>
          <a:ext cx="5562600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" name="Diagram group"/>
          <p:cNvGrpSpPr/>
          <p:nvPr/>
        </p:nvGrpSpPr>
        <p:grpSpPr>
          <a:xfrm>
            <a:off x="6172200" y="1752600"/>
            <a:ext cx="2209800" cy="1828800"/>
            <a:chOff x="4114805" y="1"/>
            <a:chExt cx="1026914" cy="1026914"/>
          </a:xfrm>
          <a:scene3d>
            <a:camera prst="perspectiveLeft" zoom="91000"/>
            <a:lightRig rig="threePt" dir="t">
              <a:rot lat="0" lon="0" rev="20640000"/>
            </a:lightRig>
          </a:scene3d>
        </p:grpSpPr>
        <p:grpSp>
          <p:nvGrpSpPr>
            <p:cNvPr id="6" name="Groupe 13"/>
            <p:cNvGrpSpPr/>
            <p:nvPr/>
          </p:nvGrpSpPr>
          <p:grpSpPr>
            <a:xfrm>
              <a:off x="4114805" y="1"/>
              <a:ext cx="1026914" cy="1026914"/>
              <a:chOff x="4114805" y="1"/>
              <a:chExt cx="1026914" cy="1026914"/>
            </a:xfrm>
          </p:grpSpPr>
          <p:sp>
            <p:nvSpPr>
              <p:cNvPr id="8" name="Ellipse 7"/>
              <p:cNvSpPr/>
              <p:nvPr/>
            </p:nvSpPr>
            <p:spPr>
              <a:xfrm>
                <a:off x="4114805" y="1"/>
                <a:ext cx="1026914" cy="1026914"/>
              </a:xfrm>
              <a:prstGeom prst="ellipse">
                <a:avLst/>
              </a:prstGeom>
              <a:blipFill rotWithShape="0">
                <a:blip r:embed="rId7" cstate="print"/>
                <a:stretch>
                  <a:fillRect/>
                </a:stretch>
              </a:blipFill>
              <a:sp3d extrusionH="50600" prstMaterial="metal">
                <a:bevelT w="101600" h="80600" prst="relaxedInset"/>
                <a:bevelB w="80600" h="806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</p:sp>
          <p:sp>
            <p:nvSpPr>
              <p:cNvPr id="9" name="Ellipse 4"/>
              <p:cNvSpPr/>
              <p:nvPr/>
            </p:nvSpPr>
            <p:spPr>
              <a:xfrm>
                <a:off x="4265193" y="150389"/>
                <a:ext cx="726138" cy="726138"/>
              </a:xfrm>
              <a:prstGeom prst="rect">
                <a:avLst/>
              </a:prstGeom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lIns="16510" tIns="16510" rIns="16510" bIns="16510" spcCol="1270" anchor="ctr"/>
              <a:lstStyle/>
              <a:p>
                <a:pPr algn="ctr" defTabSz="577850" fontAlgn="auto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fr-FR" b="1" dirty="0">
                    <a:solidFill>
                      <a:srgbClr val="FF0000"/>
                    </a:solidFill>
                  </a:rPr>
                  <a:t>Personnel</a:t>
                </a:r>
              </a:p>
            </p:txBody>
          </p:sp>
        </p:grpSp>
      </p:grpSp>
      <p:sp>
        <p:nvSpPr>
          <p:cNvPr id="11" name="ZoneTexte 10"/>
          <p:cNvSpPr txBox="1"/>
          <p:nvPr/>
        </p:nvSpPr>
        <p:spPr>
          <a:xfrm>
            <a:off x="6553200" y="3657600"/>
            <a:ext cx="2590800" cy="10156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b="1" dirty="0" smtClean="0">
                <a:latin typeface="+mn-lt"/>
                <a:cs typeface="+mn-cs"/>
              </a:rPr>
              <a:t> Nécessaire </a:t>
            </a:r>
            <a:r>
              <a:rPr lang="fr-FR" sz="2000" b="1" dirty="0">
                <a:latin typeface="+mn-lt"/>
                <a:cs typeface="+mn-cs"/>
              </a:rPr>
              <a:t>à son fonctionnement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2000" b="1" dirty="0">
              <a:latin typeface="+mn-lt"/>
              <a:cs typeface="+mn-cs"/>
            </a:endParaRPr>
          </a:p>
        </p:txBody>
      </p:sp>
      <p:sp>
        <p:nvSpPr>
          <p:cNvPr id="14343" name="object 5"/>
          <p:cNvSpPr>
            <a:spLocks noChangeArrowheads="1"/>
          </p:cNvSpPr>
          <p:nvPr/>
        </p:nvSpPr>
        <p:spPr bwMode="auto">
          <a:xfrm>
            <a:off x="8001000" y="0"/>
            <a:ext cx="1143000" cy="857250"/>
          </a:xfrm>
          <a:prstGeom prst="rect">
            <a:avLst/>
          </a:prstGeom>
          <a:blipFill dpi="0" rotWithShape="1">
            <a:blip r:embed="rId8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fr-FR" altLang="fr-FR">
              <a:latin typeface="Calibri" pitchFamily="34" charset="0"/>
            </a:endParaRPr>
          </a:p>
        </p:txBody>
      </p:sp>
      <p:sp>
        <p:nvSpPr>
          <p:cNvPr id="12" name="Flèche droite 11"/>
          <p:cNvSpPr/>
          <p:nvPr/>
        </p:nvSpPr>
        <p:spPr>
          <a:xfrm>
            <a:off x="6629400" y="3810000"/>
            <a:ext cx="304800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Isosceles Triangle 46">
            <a:extLst>
              <a:ext uri="{FF2B5EF4-FFF2-40B4-BE49-F238E27FC236}">
                <a16:creationId xmlns:a16="http://schemas.microsoft.com/office/drawing/2014/main" xmlns="" id="{295CE181-88D7-4815-BC0F-BC87C9322824}"/>
              </a:ext>
            </a:extLst>
          </p:cNvPr>
          <p:cNvSpPr/>
          <p:nvPr/>
        </p:nvSpPr>
        <p:spPr>
          <a:xfrm rot="5400000">
            <a:off x="-31494" y="460098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644372" y="298831"/>
            <a:ext cx="7855254" cy="61293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  <a:scene3d>
            <a:camera prst="perspectiveRelaxedModerately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3600" dirty="0" smtClean="0">
                <a:solidFill>
                  <a:schemeClr val="bg1"/>
                </a:solidFill>
              </a:rPr>
              <a:t>Les tâches de la fonction RH   </a:t>
            </a:r>
            <a:endParaRPr lang="fr-FR" sz="3600" dirty="0">
              <a:solidFill>
                <a:schemeClr val="bg1"/>
              </a:solidFill>
            </a:endParaRPr>
          </a:p>
        </p:txBody>
      </p:sp>
      <p:pic>
        <p:nvPicPr>
          <p:cNvPr id="5" name="Picture 24" descr="Résultat de recherche d'images pour &quot;recruter     icone png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371600"/>
            <a:ext cx="1295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6" descr="Image associé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3276600"/>
            <a:ext cx="1295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2514600" y="3276600"/>
            <a:ext cx="5486400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scene3d>
            <a:camera prst="perspectiveAbove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3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Rémunération  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0800" y="1524000"/>
            <a:ext cx="5486400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scene3d>
            <a:camera prst="perspectiveAbove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3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Recrutement </a:t>
            </a:r>
          </a:p>
        </p:txBody>
      </p:sp>
      <p:sp>
        <p:nvSpPr>
          <p:cNvPr id="11" name="Ellipse 10"/>
          <p:cNvSpPr/>
          <p:nvPr/>
        </p:nvSpPr>
        <p:spPr>
          <a:xfrm>
            <a:off x="838200" y="5257800"/>
            <a:ext cx="1381452" cy="1219200"/>
          </a:xfrm>
          <a:prstGeom prst="ellipse">
            <a:avLst/>
          </a:prstGeom>
          <a:blipFill rotWithShape="0">
            <a:blip r:embed="rId4" cstate="print"/>
            <a:stretch>
              <a:fillRect/>
            </a:stretch>
          </a:blipFill>
          <a:scene3d>
            <a:camera prst="orthographicFront"/>
            <a:lightRig rig="threePt" dir="t">
              <a:rot lat="0" lon="0" rev="7500000"/>
            </a:lightRig>
          </a:scene3d>
          <a:sp3d z="152400" extrusionH="63500" prstMaterial="matte">
            <a:bevelT w="50800" h="19050" prst="relaxedInset"/>
            <a:contourClr>
              <a:schemeClr val="bg1"/>
            </a:contourClr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Rectangle 11"/>
          <p:cNvSpPr/>
          <p:nvPr/>
        </p:nvSpPr>
        <p:spPr>
          <a:xfrm>
            <a:off x="2514600" y="5334000"/>
            <a:ext cx="5486400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scene3d>
            <a:camera prst="perspectiveAbove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3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GPEC (gestion </a:t>
            </a:r>
            <a:r>
              <a:rPr lang="fr-FR" sz="32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prévisionlle</a:t>
            </a:r>
            <a:r>
              <a:rPr lang="fr-FR" sz="3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des emplois </a:t>
            </a:r>
            <a:r>
              <a:rPr lang="fr-FR" sz="3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et compétences</a:t>
            </a:r>
            <a:r>
              <a:rPr lang="fr-FR" sz="3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)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Résultat de recherche d'images pour &quot;recruter     icone png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81000"/>
            <a:ext cx="1295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209800" y="533400"/>
            <a:ext cx="5486400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scene3d>
            <a:camera prst="perspectiveAbove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3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Recrutement </a:t>
            </a:r>
          </a:p>
        </p:txBody>
      </p:sp>
      <p:sp>
        <p:nvSpPr>
          <p:cNvPr id="7" name="Ellipse 6"/>
          <p:cNvSpPr/>
          <p:nvPr/>
        </p:nvSpPr>
        <p:spPr>
          <a:xfrm>
            <a:off x="1371600" y="1905000"/>
            <a:ext cx="2857520" cy="1571636"/>
          </a:xfrm>
          <a:prstGeom prst="ellipse">
            <a:avLst/>
          </a:prstGeom>
          <a:scene3d>
            <a:camera prst="perspectiveRelaxedModerately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dirty="0"/>
              <a:t> Besoin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dirty="0"/>
              <a:t>RH   </a:t>
            </a:r>
          </a:p>
        </p:txBody>
      </p:sp>
      <p:sp>
        <p:nvSpPr>
          <p:cNvPr id="8" name="Ellipse 7"/>
          <p:cNvSpPr/>
          <p:nvPr/>
        </p:nvSpPr>
        <p:spPr>
          <a:xfrm>
            <a:off x="4495800" y="1905000"/>
            <a:ext cx="2857520" cy="1571636"/>
          </a:xfrm>
          <a:prstGeom prst="ellipse">
            <a:avLst/>
          </a:prstGeom>
          <a:scene3d>
            <a:camera prst="perspectiveRelaxedModerately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dirty="0"/>
              <a:t>Ressource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dirty="0"/>
              <a:t>RH   </a:t>
            </a:r>
          </a:p>
        </p:txBody>
      </p:sp>
      <p:sp>
        <p:nvSpPr>
          <p:cNvPr id="9" name="Rectangle 8"/>
          <p:cNvSpPr/>
          <p:nvPr/>
        </p:nvSpPr>
        <p:spPr>
          <a:xfrm>
            <a:off x="7848600" y="1524000"/>
            <a:ext cx="1142976" cy="2071702"/>
          </a:xfrm>
          <a:prstGeom prst="rect">
            <a:avLst/>
          </a:prstGeom>
          <a:scene3d>
            <a:camera prst="perspectiveRelaxedModerately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dirty="0">
                <a:solidFill>
                  <a:schemeClr val="accent6">
                    <a:lumMod val="50000"/>
                  </a:schemeClr>
                </a:solidFill>
              </a:rPr>
              <a:t>S’il n’ya pas d’adéquation entre </a:t>
            </a:r>
          </a:p>
        </p:txBody>
      </p:sp>
      <p:sp>
        <p:nvSpPr>
          <p:cNvPr id="10" name="Rectangle à coins arrondis 9"/>
          <p:cNvSpPr/>
          <p:nvPr/>
        </p:nvSpPr>
        <p:spPr>
          <a:xfrm>
            <a:off x="1828800" y="3733800"/>
            <a:ext cx="5357850" cy="1071570"/>
          </a:xfrm>
          <a:prstGeom prst="roundRect">
            <a:avLst/>
          </a:prstGeom>
          <a:scene3d>
            <a:camera prst="perspectiveRelaxedModerately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dirty="0"/>
              <a:t>Décision de recruter   </a:t>
            </a:r>
          </a:p>
        </p:txBody>
      </p:sp>
      <p:sp>
        <p:nvSpPr>
          <p:cNvPr id="11" name="Flèche droite 10"/>
          <p:cNvSpPr/>
          <p:nvPr/>
        </p:nvSpPr>
        <p:spPr>
          <a:xfrm>
            <a:off x="7391400" y="2514600"/>
            <a:ext cx="457200" cy="381000"/>
          </a:xfrm>
          <a:prstGeom prst="rightArrow">
            <a:avLst/>
          </a:prstGeom>
          <a:scene3d>
            <a:camera prst="perspectiveRelaxedModerately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2000" dirty="0"/>
          </a:p>
        </p:txBody>
      </p:sp>
      <p:sp>
        <p:nvSpPr>
          <p:cNvPr id="20" name="Flèche courbée vers la gauche 19"/>
          <p:cNvSpPr/>
          <p:nvPr/>
        </p:nvSpPr>
        <p:spPr>
          <a:xfrm rot="2802080">
            <a:off x="7764197" y="3366267"/>
            <a:ext cx="548694" cy="1670275"/>
          </a:xfrm>
          <a:prstGeom prst="curvedLef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  <a:scene3d>
            <a:camera prst="perspectiveRelaxedModerately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381000" y="5486400"/>
            <a:ext cx="8362950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pc="-5" dirty="0">
                <a:latin typeface="Trebuchet MS"/>
                <a:cs typeface="Trebuchet MS"/>
              </a:rPr>
              <a:t>Ayant repéré ses </a:t>
            </a:r>
            <a:r>
              <a:rPr lang="fr-FR" spc="-10" dirty="0">
                <a:latin typeface="Trebuchet MS"/>
                <a:cs typeface="Trebuchet MS"/>
              </a:rPr>
              <a:t>besoins </a:t>
            </a:r>
            <a:r>
              <a:rPr lang="fr-FR" spc="-5" dirty="0">
                <a:latin typeface="Trebuchet MS"/>
                <a:cs typeface="Trebuchet MS"/>
              </a:rPr>
              <a:t>en </a:t>
            </a:r>
            <a:r>
              <a:rPr lang="fr-FR" spc="-10" dirty="0">
                <a:latin typeface="Trebuchet MS"/>
                <a:cs typeface="Trebuchet MS"/>
              </a:rPr>
              <a:t>personnel,  </a:t>
            </a:r>
            <a:r>
              <a:rPr lang="fr-FR" spc="-5" dirty="0">
                <a:latin typeface="Trebuchet MS"/>
                <a:cs typeface="Trebuchet MS"/>
              </a:rPr>
              <a:t>l’entreprise doit formuler </a:t>
            </a:r>
            <a:r>
              <a:rPr lang="fr-FR" spc="-10" dirty="0">
                <a:latin typeface="Trebuchet MS"/>
                <a:cs typeface="Trebuchet MS"/>
              </a:rPr>
              <a:t>précisément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pc="-5" dirty="0">
                <a:latin typeface="Trebuchet MS"/>
                <a:cs typeface="Trebuchet MS"/>
              </a:rPr>
              <a:t>ses  </a:t>
            </a:r>
            <a:r>
              <a:rPr lang="fr-FR" spc="-10" dirty="0">
                <a:latin typeface="Trebuchet MS"/>
                <a:cs typeface="Trebuchet MS"/>
              </a:rPr>
              <a:t>attentes </a:t>
            </a:r>
            <a:r>
              <a:rPr lang="fr-FR" spc="-5" dirty="0">
                <a:latin typeface="Trebuchet MS"/>
                <a:cs typeface="Trebuchet MS"/>
              </a:rPr>
              <a:t>en </a:t>
            </a:r>
            <a:r>
              <a:rPr lang="fr-FR" spc="-10" dirty="0">
                <a:latin typeface="Trebuchet MS"/>
                <a:cs typeface="Trebuchet MS"/>
              </a:rPr>
              <a:t>termes </a:t>
            </a:r>
            <a:r>
              <a:rPr lang="fr-FR" spc="-5" dirty="0">
                <a:latin typeface="Trebuchet MS"/>
                <a:cs typeface="Trebuchet MS"/>
              </a:rPr>
              <a:t>de </a:t>
            </a:r>
            <a:r>
              <a:rPr lang="fr-FR" spc="-10" dirty="0">
                <a:latin typeface="Trebuchet MS"/>
                <a:cs typeface="Trebuchet MS"/>
              </a:rPr>
              <a:t>compétences nécessaires  pour </a:t>
            </a:r>
            <a:r>
              <a:rPr lang="fr-FR" spc="-5" dirty="0">
                <a:latin typeface="Trebuchet MS"/>
                <a:cs typeface="Trebuchet MS"/>
              </a:rPr>
              <a:t>y</a:t>
            </a:r>
            <a:r>
              <a:rPr lang="fr-FR" spc="-10" dirty="0">
                <a:latin typeface="Trebuchet MS"/>
                <a:cs typeface="Trebuchet MS"/>
              </a:rPr>
              <a:t> </a:t>
            </a:r>
            <a:r>
              <a:rPr lang="fr-FR" spc="-5" dirty="0">
                <a:latin typeface="Trebuchet MS"/>
                <a:cs typeface="Trebuchet MS"/>
              </a:rPr>
              <a:t>répondre</a:t>
            </a:r>
            <a:endParaRPr lang="fr-FR" dirty="0"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e 3"/>
          <p:cNvGraphicFramePr/>
          <p:nvPr/>
        </p:nvGraphicFramePr>
        <p:xfrm>
          <a:off x="1371600" y="1524000"/>
          <a:ext cx="6324600" cy="497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411" name="object 5"/>
          <p:cNvSpPr>
            <a:spLocks noGrp="1" noChangeArrowheads="1"/>
          </p:cNvSpPr>
          <p:nvPr>
            <p:ph type="title"/>
          </p:nvPr>
        </p:nvSpPr>
        <p:spPr>
          <a:xfrm>
            <a:off x="7500938" y="274638"/>
            <a:ext cx="1185862" cy="1143000"/>
          </a:xfrm>
          <a:blipFill dpi="0" rotWithShape="1">
            <a:blip r:embed="rId6" cstate="print"/>
            <a:srcRect/>
            <a:stretch>
              <a:fillRect/>
            </a:stretch>
          </a:blipFill>
        </p:spPr>
        <p:txBody>
          <a:bodyPr lIns="0" tIns="0" rIns="0" bIns="0"/>
          <a:lstStyle/>
          <a:p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6" descr="Image associ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04800"/>
            <a:ext cx="1295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286000" y="381000"/>
            <a:ext cx="5486400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scene3d>
            <a:camera prst="perspectiveAbove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3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Rémunération  </a:t>
            </a:r>
          </a:p>
        </p:txBody>
      </p:sp>
      <p:graphicFrame>
        <p:nvGraphicFramePr>
          <p:cNvPr id="6" name="Diagramme 5"/>
          <p:cNvGraphicFramePr/>
          <p:nvPr/>
        </p:nvGraphicFramePr>
        <p:xfrm>
          <a:off x="1600200" y="25146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2" descr="Résultat de recherche d'images pour &quot;entreprise icone&quot;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971800" y="2057400"/>
            <a:ext cx="1622425" cy="138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Diagram group"/>
          <p:cNvGrpSpPr/>
          <p:nvPr/>
        </p:nvGrpSpPr>
        <p:grpSpPr>
          <a:xfrm>
            <a:off x="4953000" y="2362200"/>
            <a:ext cx="2209800" cy="1828800"/>
            <a:chOff x="4114805" y="1"/>
            <a:chExt cx="1026914" cy="1026914"/>
          </a:xfrm>
          <a:scene3d>
            <a:camera prst="perspectiveLeft" zoom="91000"/>
            <a:lightRig rig="threePt" dir="t">
              <a:rot lat="0" lon="0" rev="20640000"/>
            </a:lightRig>
          </a:scene3d>
        </p:grpSpPr>
        <p:grpSp>
          <p:nvGrpSpPr>
            <p:cNvPr id="3" name="Groupe 13"/>
            <p:cNvGrpSpPr/>
            <p:nvPr/>
          </p:nvGrpSpPr>
          <p:grpSpPr>
            <a:xfrm>
              <a:off x="4114805" y="1"/>
              <a:ext cx="1026914" cy="1026914"/>
              <a:chOff x="4114805" y="1"/>
              <a:chExt cx="1026914" cy="1026914"/>
            </a:xfrm>
          </p:grpSpPr>
          <p:sp>
            <p:nvSpPr>
              <p:cNvPr id="13" name="Ellipse 12"/>
              <p:cNvSpPr/>
              <p:nvPr/>
            </p:nvSpPr>
            <p:spPr>
              <a:xfrm>
                <a:off x="4114805" y="1"/>
                <a:ext cx="1026914" cy="1026914"/>
              </a:xfrm>
              <a:prstGeom prst="ellipse">
                <a:avLst/>
              </a:prstGeom>
              <a:blipFill rotWithShape="0">
                <a:blip r:embed="rId8" cstate="print"/>
                <a:stretch>
                  <a:fillRect/>
                </a:stretch>
              </a:blipFill>
              <a:sp3d extrusionH="50600" prstMaterial="metal">
                <a:bevelT w="101600" h="80600" prst="relaxedInset"/>
                <a:bevelB w="80600" h="806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</p:sp>
          <p:sp>
            <p:nvSpPr>
              <p:cNvPr id="14" name="Ellipse 4"/>
              <p:cNvSpPr/>
              <p:nvPr/>
            </p:nvSpPr>
            <p:spPr>
              <a:xfrm>
                <a:off x="4265193" y="150389"/>
                <a:ext cx="726138" cy="726138"/>
              </a:xfrm>
              <a:prstGeom prst="rect">
                <a:avLst/>
              </a:prstGeom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lIns="16510" tIns="16510" rIns="16510" bIns="16510" spcCol="1270" anchor="ctr"/>
              <a:lstStyle/>
              <a:p>
                <a:pPr algn="ctr" defTabSz="577850" fontAlgn="auto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fr-FR" b="1" dirty="0">
                    <a:solidFill>
                      <a:srgbClr val="FF0000"/>
                    </a:solidFill>
                  </a:rPr>
                  <a:t>Personnel</a:t>
                </a:r>
              </a:p>
            </p:txBody>
          </p:sp>
        </p:grpSp>
      </p:grpSp>
      <p:sp>
        <p:nvSpPr>
          <p:cNvPr id="18439" name="object 5"/>
          <p:cNvSpPr>
            <a:spLocks noChangeArrowheads="1"/>
          </p:cNvSpPr>
          <p:nvPr/>
        </p:nvSpPr>
        <p:spPr bwMode="auto">
          <a:xfrm>
            <a:off x="8072438" y="0"/>
            <a:ext cx="1071562" cy="1019175"/>
          </a:xfrm>
          <a:prstGeom prst="rect">
            <a:avLst/>
          </a:prstGeom>
          <a:blipFill dpi="0" rotWithShape="1">
            <a:blip r:embed="rId9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fr-FR" altLang="fr-FR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512136" y="4179703"/>
            <a:ext cx="1579563" cy="2103438"/>
          </a:xfrm>
          <a:prstGeom prst="round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: Rounded Corners 17">
            <a:extLst>
              <a:ext uri="{FF2B5EF4-FFF2-40B4-BE49-F238E27FC236}"/>
            </a:extLst>
          </p:cNvPr>
          <p:cNvSpPr>
            <a:spLocks noChangeAspect="1"/>
          </p:cNvSpPr>
          <p:nvPr/>
        </p:nvSpPr>
        <p:spPr>
          <a:xfrm rot="2695926">
            <a:off x="1325234" y="3769310"/>
            <a:ext cx="342900" cy="455613"/>
          </a:xfrm>
          <a:prstGeom prst="roundRect">
            <a:avLst/>
          </a:prstGeom>
          <a:solidFill>
            <a:srgbClr val="85C40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TextBox 66"/>
          <p:cNvSpPr txBox="1">
            <a:spLocks noChangeArrowheads="1"/>
          </p:cNvSpPr>
          <p:nvPr/>
        </p:nvSpPr>
        <p:spPr bwMode="auto">
          <a:xfrm>
            <a:off x="0" y="214313"/>
            <a:ext cx="5643563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fr-FR" sz="3200" b="1" dirty="0" smtClean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endParaRPr lang="en-US" altLang="fr-FR" sz="3200" b="1" dirty="0">
              <a:solidFill>
                <a:srgbClr val="FF0000"/>
              </a:solidFill>
              <a:latin typeface="Baskerville Old Face" pitchFamily="18" charset="0"/>
            </a:endParaRPr>
          </a:p>
          <a:p>
            <a:pPr algn="r"/>
            <a:endParaRPr lang="en-US" altLang="fr-FR" dirty="0">
              <a:solidFill>
                <a:srgbClr val="56595E"/>
              </a:solidFill>
              <a:latin typeface="Candara" pitchFamily="34" charset="0"/>
            </a:endParaRPr>
          </a:p>
        </p:txBody>
      </p:sp>
      <p:pic>
        <p:nvPicPr>
          <p:cNvPr id="19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23" name="ZoneTexte 15"/>
          <p:cNvSpPr txBox="1">
            <a:spLocks noChangeArrowheads="1"/>
          </p:cNvSpPr>
          <p:nvPr/>
        </p:nvSpPr>
        <p:spPr bwMode="auto">
          <a:xfrm>
            <a:off x="357158" y="428604"/>
            <a:ext cx="71437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  </a:t>
            </a:r>
            <a:endParaRPr lang="fr-FR" sz="3200" b="1" dirty="0">
              <a:solidFill>
                <a:srgbClr val="FF0000"/>
              </a:solidFill>
              <a:latin typeface="Trebuchet MS" pitchFamily="34" charset="0"/>
              <a:cs typeface="Times New Roman" pitchFamily="18" charset="0"/>
            </a:endParaRPr>
          </a:p>
        </p:txBody>
      </p:sp>
      <p:sp>
        <p:nvSpPr>
          <p:cNvPr id="25" name="Isosceles Triangle 46">
            <a:extLst>
              <a:ext uri="{FF2B5EF4-FFF2-40B4-BE49-F238E27FC236}">
                <a16:creationId xmlns:a16="http://schemas.microsoft.com/office/drawing/2014/main" xmlns="" id="{295CE181-88D7-4815-BC0F-BC87C9322824}"/>
              </a:ext>
            </a:extLst>
          </p:cNvPr>
          <p:cNvSpPr/>
          <p:nvPr/>
        </p:nvSpPr>
        <p:spPr>
          <a:xfrm rot="5400000">
            <a:off x="-31494" y="460098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34532B92-D7C0-4F87-9B7D-BC224D4E91F4}"/>
              </a:ext>
            </a:extLst>
          </p:cNvPr>
          <p:cNvSpPr/>
          <p:nvPr/>
        </p:nvSpPr>
        <p:spPr>
          <a:xfrm>
            <a:off x="2214546" y="2285992"/>
            <a:ext cx="6429420" cy="23574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12">
            <a:extLst>
              <a:ext uri="{FF2B5EF4-FFF2-40B4-BE49-F238E27FC236}">
                <a16:creationId xmlns="" xmlns:a16="http://schemas.microsoft.com/office/drawing/2014/main" id="{4040B62E-ECDA-4DD9-A6E6-142DF26E5F8A}"/>
              </a:ext>
            </a:extLst>
          </p:cNvPr>
          <p:cNvGrpSpPr/>
          <p:nvPr/>
        </p:nvGrpSpPr>
        <p:grpSpPr>
          <a:xfrm rot="10800000">
            <a:off x="2643174" y="2714620"/>
            <a:ext cx="4325218" cy="51094"/>
            <a:chOff x="4908400" y="1972933"/>
            <a:chExt cx="6290664" cy="55734"/>
          </a:xfrm>
          <a:solidFill>
            <a:srgbClr val="A5A5A5"/>
          </a:solidFill>
        </p:grpSpPr>
        <p:cxnSp>
          <p:nvCxnSpPr>
            <p:cNvPr id="33" name="Straight Connector 13">
              <a:extLst>
                <a:ext uri="{FF2B5EF4-FFF2-40B4-BE49-F238E27FC236}">
                  <a16:creationId xmlns="" xmlns:a16="http://schemas.microsoft.com/office/drawing/2014/main" id="{FFE5C481-8A4A-461C-A776-7213F8C3AB0D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4908400" y="1996044"/>
              <a:ext cx="5884885" cy="0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 59">
              <a:extLst>
                <a:ext uri="{FF2B5EF4-FFF2-40B4-BE49-F238E27FC236}">
                  <a16:creationId xmlns="" xmlns:a16="http://schemas.microsoft.com/office/drawing/2014/main" id="{2345658E-D69D-4AFB-B26F-8E8303BF50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33304" y="1972933"/>
              <a:ext cx="365760" cy="55734"/>
            </a:xfrm>
            <a:custGeom>
              <a:avLst/>
              <a:gdLst>
                <a:gd name="connsiteX0" fmla="*/ 105727 w 1500187"/>
                <a:gd name="connsiteY0" fmla="*/ 0 h 228600"/>
                <a:gd name="connsiteX1" fmla="*/ 114300 w 1500187"/>
                <a:gd name="connsiteY1" fmla="*/ 0 h 228600"/>
                <a:gd name="connsiteX2" fmla="*/ 1385887 w 1500187"/>
                <a:gd name="connsiteY2" fmla="*/ 0 h 228600"/>
                <a:gd name="connsiteX3" fmla="*/ 1500187 w 1500187"/>
                <a:gd name="connsiteY3" fmla="*/ 114300 h 228600"/>
                <a:gd name="connsiteX4" fmla="*/ 1385887 w 1500187"/>
                <a:gd name="connsiteY4" fmla="*/ 228600 h 228600"/>
                <a:gd name="connsiteX5" fmla="*/ 114300 w 1500187"/>
                <a:gd name="connsiteY5" fmla="*/ 228600 h 228600"/>
                <a:gd name="connsiteX6" fmla="*/ 105727 w 1500187"/>
                <a:gd name="connsiteY6" fmla="*/ 228600 h 228600"/>
                <a:gd name="connsiteX7" fmla="*/ 105727 w 1500187"/>
                <a:gd name="connsiteY7" fmla="*/ 226869 h 228600"/>
                <a:gd name="connsiteX8" fmla="*/ 69809 w 1500187"/>
                <a:gd name="connsiteY8" fmla="*/ 219618 h 228600"/>
                <a:gd name="connsiteX9" fmla="*/ 0 w 1500187"/>
                <a:gd name="connsiteY9" fmla="*/ 114300 h 228600"/>
                <a:gd name="connsiteX10" fmla="*/ 69809 w 1500187"/>
                <a:gd name="connsiteY10" fmla="*/ 8982 h 228600"/>
                <a:gd name="connsiteX11" fmla="*/ 105727 w 1500187"/>
                <a:gd name="connsiteY11" fmla="*/ 1731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0187" h="228600">
                  <a:moveTo>
                    <a:pt x="105727" y="0"/>
                  </a:moveTo>
                  <a:lnTo>
                    <a:pt x="114300" y="0"/>
                  </a:lnTo>
                  <a:lnTo>
                    <a:pt x="1385887" y="0"/>
                  </a:lnTo>
                  <a:cubicBezTo>
                    <a:pt x="1449013" y="0"/>
                    <a:pt x="1500187" y="51174"/>
                    <a:pt x="1500187" y="114300"/>
                  </a:cubicBezTo>
                  <a:cubicBezTo>
                    <a:pt x="1500187" y="177426"/>
                    <a:pt x="1449013" y="228600"/>
                    <a:pt x="1385887" y="228600"/>
                  </a:cubicBezTo>
                  <a:lnTo>
                    <a:pt x="114300" y="228600"/>
                  </a:lnTo>
                  <a:lnTo>
                    <a:pt x="105727" y="228600"/>
                  </a:lnTo>
                  <a:lnTo>
                    <a:pt x="105727" y="226869"/>
                  </a:lnTo>
                  <a:lnTo>
                    <a:pt x="69809" y="219618"/>
                  </a:lnTo>
                  <a:cubicBezTo>
                    <a:pt x="28785" y="202266"/>
                    <a:pt x="0" y="161645"/>
                    <a:pt x="0" y="114300"/>
                  </a:cubicBezTo>
                  <a:cubicBezTo>
                    <a:pt x="0" y="66956"/>
                    <a:pt x="28785" y="26334"/>
                    <a:pt x="69809" y="8982"/>
                  </a:cubicBezTo>
                  <a:lnTo>
                    <a:pt x="105727" y="173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35" name="Text Box 10">
            <a:extLst>
              <a:ext uri="{FF2B5EF4-FFF2-40B4-BE49-F238E27FC236}">
                <a16:creationId xmlns="" xmlns:a16="http://schemas.microsoft.com/office/drawing/2014/main" id="{521EF548-6C24-45D5-87CC-CD0C61059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7422" y="3071810"/>
            <a:ext cx="6286512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/>
          <a:p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Quel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est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le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rôle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de la </a:t>
            </a:r>
            <a:r>
              <a:rPr lang="en-US" sz="2000" b="1" dirty="0" err="1" smtClean="0">
                <a:solidFill>
                  <a:srgbClr val="FF0000"/>
                </a:solidFill>
                <a:latin typeface="Candara" panose="020E0502030303020204" pitchFamily="34" charset="0"/>
              </a:rPr>
              <a:t>fonction</a:t>
            </a:r>
            <a:r>
              <a:rPr lang="en-US" sz="2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 R&amp;D?   </a:t>
            </a:r>
            <a:endParaRPr lang="en-US" sz="1600" b="1" dirty="0" smtClean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r>
              <a:rPr lang="en-US" sz="16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endParaRPr lang="en-US" sz="1600" b="1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Titre 1"/>
          <p:cNvSpPr txBox="1">
            <a:spLocks/>
          </p:cNvSpPr>
          <p:nvPr/>
        </p:nvSpPr>
        <p:spPr>
          <a:xfrm>
            <a:off x="644525" y="298450"/>
            <a:ext cx="8499475" cy="49212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itchFamily="34" charset="0"/>
                <a:ea typeface="+mj-ea"/>
                <a:cs typeface="+mj-cs"/>
              </a:rPr>
              <a:t> La fonction </a:t>
            </a:r>
            <a:r>
              <a:rPr lang="fr-FR" sz="3200" b="1" spc="-5" dirty="0" smtClean="0">
                <a:solidFill>
                  <a:srgbClr val="FF0000"/>
                </a:solidFill>
                <a:latin typeface="Trebuchet MS" pitchFamily="34" charset="0"/>
                <a:ea typeface="+mj-ea"/>
                <a:cs typeface="+mj-cs"/>
              </a:rPr>
              <a:t>recherche &amp; développement </a:t>
            </a:r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  <a:ea typeface="+mj-ea"/>
                <a:cs typeface="+mj-cs"/>
              </a:rPr>
              <a:t>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rebuchet MS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21" grpId="0"/>
      <p:bldP spid="25" grpId="0" animBg="1"/>
      <p:bldP spid="31" grpId="0" animBg="1"/>
      <p:bldP spid="35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Résultat de recherche d'images pour &quot;important clipart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57298"/>
            <a:ext cx="862038" cy="923920"/>
          </a:xfrm>
          <a:prstGeom prst="rect">
            <a:avLst/>
          </a:prstGeom>
          <a:noFill/>
        </p:spPr>
      </p:pic>
      <p:sp>
        <p:nvSpPr>
          <p:cNvPr id="3" name="Rectangle à coins arrondis 2"/>
          <p:cNvSpPr/>
          <p:nvPr/>
        </p:nvSpPr>
        <p:spPr>
          <a:xfrm>
            <a:off x="500034" y="4643446"/>
            <a:ext cx="6929486" cy="1500198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342900" algn="just">
              <a:lnSpc>
                <a:spcPct val="80000"/>
              </a:lnSpc>
              <a:spcBef>
                <a:spcPts val="675"/>
              </a:spcBef>
              <a:buClr>
                <a:srgbClr val="CC9900"/>
              </a:buClr>
              <a:buSzPct val="64000"/>
              <a:tabLst>
                <a:tab pos="461963" algn="l"/>
              </a:tabLst>
            </a:pPr>
            <a:r>
              <a:rPr lang="fr-FR" altLang="fr-FR" sz="2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 Elle aide à Créer de nouveaux biens et services, en  accord avec les orientations du marketing des  nouveaux concepts et design, des nouvelles  tendances	et	fonctionnalités.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1000100" y="1214422"/>
            <a:ext cx="7643834" cy="2786082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342900" algn="just">
              <a:lnSpc>
                <a:spcPts val="2688"/>
              </a:lnSpc>
              <a:spcBef>
                <a:spcPts val="663"/>
              </a:spcBef>
              <a:buClr>
                <a:srgbClr val="CC9900"/>
              </a:buClr>
              <a:buSzPct val="64000"/>
              <a:tabLst>
                <a:tab pos="461963" algn="l"/>
              </a:tabLst>
            </a:pPr>
            <a:r>
              <a:rPr lang="fr-FR" altLang="fr-FR" sz="2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Elle aide à améliorer la capacité de production et à développer  des nouvelles technologies</a:t>
            </a:r>
          </a:p>
          <a:p>
            <a:pPr marL="355600" indent="-342900" algn="just">
              <a:lnSpc>
                <a:spcPts val="2688"/>
              </a:lnSpc>
              <a:spcBef>
                <a:spcPts val="663"/>
              </a:spcBef>
              <a:buClr>
                <a:srgbClr val="CC9900"/>
              </a:buClr>
              <a:buSzPct val="64000"/>
              <a:tabLst>
                <a:tab pos="461963" algn="l"/>
              </a:tabLst>
            </a:pPr>
            <a:r>
              <a:rPr lang="fr-FR" altLang="fr-FR" sz="2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Elle aide à améliorer la productivité via la mise en œuvre de  nouveaux	processus,</a:t>
            </a:r>
          </a:p>
          <a:p>
            <a:pPr marL="355600" indent="-342900" algn="just">
              <a:lnSpc>
                <a:spcPts val="2688"/>
              </a:lnSpc>
              <a:spcBef>
                <a:spcPts val="663"/>
              </a:spcBef>
              <a:buClr>
                <a:srgbClr val="CC9900"/>
              </a:buClr>
              <a:buSzPct val="64000"/>
              <a:tabLst>
                <a:tab pos="461963" algn="l"/>
              </a:tabLst>
            </a:pPr>
            <a:r>
              <a:rPr lang="fr-FR" altLang="fr-FR" sz="2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Elle aide à l’amélioration de la qualité; notamment environnementale;  de ses produits, des nouveaux composants et  matériaux.</a:t>
            </a:r>
          </a:p>
        </p:txBody>
      </p:sp>
      <p:pic>
        <p:nvPicPr>
          <p:cNvPr id="7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15206" y="0"/>
            <a:ext cx="1928794" cy="1124021"/>
          </a:xfrm>
          <a:prstGeom prst="rect">
            <a:avLst/>
          </a:prstGeom>
        </p:spPr>
      </p:pic>
      <p:sp>
        <p:nvSpPr>
          <p:cNvPr id="8" name="ZoneTexte 15"/>
          <p:cNvSpPr txBox="1">
            <a:spLocks noChangeArrowheads="1"/>
          </p:cNvSpPr>
          <p:nvPr/>
        </p:nvSpPr>
        <p:spPr bwMode="auto">
          <a:xfrm>
            <a:off x="357158" y="285728"/>
            <a:ext cx="857256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 Rôle de la </a:t>
            </a:r>
            <a:r>
              <a:rPr lang="fr-FR" sz="3200" b="1" dirty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fonction </a:t>
            </a:r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Recherche &amp; développement </a:t>
            </a:r>
            <a:endParaRPr lang="fr-FR" sz="3200" b="1" dirty="0">
              <a:solidFill>
                <a:srgbClr val="FF0000"/>
              </a:solidFill>
              <a:latin typeface="Trebuchet MS" pitchFamily="34" charset="0"/>
              <a:cs typeface="Times New Roman" pitchFamily="18" charset="0"/>
            </a:endParaRPr>
          </a:p>
        </p:txBody>
      </p:sp>
      <p:sp>
        <p:nvSpPr>
          <p:cNvPr id="10" name="Isosceles Triangle 46">
            <a:extLst>
              <a:ext uri="{FF2B5EF4-FFF2-40B4-BE49-F238E27FC236}">
                <a16:creationId xmlns:a16="http://schemas.microsoft.com/office/drawing/2014/main" xmlns="" id="{295CE181-88D7-4815-BC0F-BC87C9322824}"/>
              </a:ext>
            </a:extLst>
          </p:cNvPr>
          <p:cNvSpPr/>
          <p:nvPr/>
        </p:nvSpPr>
        <p:spPr>
          <a:xfrm rot="5400000">
            <a:off x="-31494" y="460098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15"/>
          <p:cNvSpPr txBox="1">
            <a:spLocks noChangeArrowheads="1"/>
          </p:cNvSpPr>
          <p:nvPr/>
        </p:nvSpPr>
        <p:spPr bwMode="auto">
          <a:xfrm>
            <a:off x="357158" y="428604"/>
            <a:ext cx="8001056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Trebuchet MS" pitchFamily="34" charset="0"/>
                <a:cs typeface="Times New Roman" pitchFamily="18" charset="0"/>
              </a:rPr>
              <a:t> Articulation des différentes fonctions entre elles  </a:t>
            </a:r>
            <a:endParaRPr lang="fr-FR" sz="3200" b="1" dirty="0">
              <a:solidFill>
                <a:srgbClr val="FF0000"/>
              </a:solidFill>
              <a:latin typeface="Trebuchet MS" pitchFamily="34" charset="0"/>
              <a:cs typeface="Times New Roman" pitchFamily="18" charset="0"/>
            </a:endParaRPr>
          </a:p>
        </p:txBody>
      </p:sp>
      <p:sp>
        <p:nvSpPr>
          <p:cNvPr id="4" name="Isosceles Triangle 46">
            <a:extLst>
              <a:ext uri="{FF2B5EF4-FFF2-40B4-BE49-F238E27FC236}">
                <a16:creationId xmlns:a16="http://schemas.microsoft.com/office/drawing/2014/main" xmlns="" id="{295CE181-88D7-4815-BC0F-BC87C9322824}"/>
              </a:ext>
            </a:extLst>
          </p:cNvPr>
          <p:cNvSpPr/>
          <p:nvPr/>
        </p:nvSpPr>
        <p:spPr>
          <a:xfrm rot="5400000">
            <a:off x="-31494" y="460098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Picture 15">
            <a:extLst>
              <a:ext uri="{FF2B5EF4-FFF2-40B4-BE49-F238E27FC236}">
                <a16:creationId xmlns:a16="http://schemas.microsoft.com/office/drawing/2014/main" xmlns="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15206" y="0"/>
            <a:ext cx="1928794" cy="1124021"/>
          </a:xfrm>
          <a:prstGeom prst="rect">
            <a:avLst/>
          </a:prstGeom>
        </p:spPr>
      </p:pic>
      <p:sp>
        <p:nvSpPr>
          <p:cNvPr id="6" name="Ellipse 5"/>
          <p:cNvSpPr/>
          <p:nvPr/>
        </p:nvSpPr>
        <p:spPr>
          <a:xfrm>
            <a:off x="2428860" y="1214422"/>
            <a:ext cx="3929090" cy="2286016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3643306" y="2428868"/>
            <a:ext cx="1643074" cy="42862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Direction </a:t>
            </a:r>
            <a:endParaRPr lang="fr-FR" b="1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1142976" y="3643314"/>
            <a:ext cx="6929486" cy="64294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principales fonctions de l’entreprise </a:t>
            </a:r>
            <a:endParaRPr lang="fr-FR" b="1" dirty="0"/>
          </a:p>
        </p:txBody>
      </p:sp>
      <p:sp>
        <p:nvSpPr>
          <p:cNvPr id="11" name="Rectangle avec flèche vers le bas 10"/>
          <p:cNvSpPr/>
          <p:nvPr/>
        </p:nvSpPr>
        <p:spPr>
          <a:xfrm>
            <a:off x="5429256" y="3071810"/>
            <a:ext cx="2714644" cy="785818"/>
          </a:xfrm>
          <a:prstGeom prst="downArrow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Décisions stratégiques: </a:t>
            </a:r>
          </a:p>
          <a:p>
            <a:pPr algn="ctr"/>
            <a:r>
              <a:rPr lang="fr-FR" dirty="0" smtClean="0"/>
              <a:t>Finalités – Buts–  Objectifs  </a:t>
            </a:r>
            <a:endParaRPr lang="fr-FR" dirty="0"/>
          </a:p>
        </p:txBody>
      </p:sp>
      <p:sp>
        <p:nvSpPr>
          <p:cNvPr id="12" name="Organigramme : Terminateur 11"/>
          <p:cNvSpPr/>
          <p:nvPr/>
        </p:nvSpPr>
        <p:spPr>
          <a:xfrm>
            <a:off x="6429388" y="1857364"/>
            <a:ext cx="1857388" cy="1000132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Parties prenantes Externes  </a:t>
            </a:r>
            <a:endParaRPr lang="fr-FR" b="1" dirty="0"/>
          </a:p>
        </p:txBody>
      </p:sp>
      <p:cxnSp>
        <p:nvCxnSpPr>
          <p:cNvPr id="15" name="Connecteur droit 14"/>
          <p:cNvCxnSpPr/>
          <p:nvPr/>
        </p:nvCxnSpPr>
        <p:spPr>
          <a:xfrm>
            <a:off x="1357290" y="5000636"/>
            <a:ext cx="6643734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Connecteur droit 19"/>
          <p:cNvCxnSpPr>
            <a:stCxn id="10" idx="2"/>
          </p:cNvCxnSpPr>
          <p:nvPr/>
        </p:nvCxnSpPr>
        <p:spPr>
          <a:xfrm rot="5400000">
            <a:off x="4268389" y="4589868"/>
            <a:ext cx="642942" cy="35719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1" name="Hexagone 20"/>
          <p:cNvSpPr/>
          <p:nvPr/>
        </p:nvSpPr>
        <p:spPr>
          <a:xfrm>
            <a:off x="857224" y="5072074"/>
            <a:ext cx="1000132" cy="1143008"/>
          </a:xfrm>
          <a:prstGeom prst="hexago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R&amp;D</a:t>
            </a:r>
            <a:endParaRPr lang="fr-FR" dirty="0"/>
          </a:p>
        </p:txBody>
      </p:sp>
      <p:sp>
        <p:nvSpPr>
          <p:cNvPr id="23" name="Hexagone 22"/>
          <p:cNvSpPr/>
          <p:nvPr/>
        </p:nvSpPr>
        <p:spPr>
          <a:xfrm>
            <a:off x="2143108" y="5214950"/>
            <a:ext cx="1000132" cy="1143008"/>
          </a:xfrm>
          <a:prstGeom prst="hexag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RH </a:t>
            </a:r>
            <a:endParaRPr lang="fr-FR" dirty="0"/>
          </a:p>
        </p:txBody>
      </p:sp>
      <p:sp>
        <p:nvSpPr>
          <p:cNvPr id="24" name="Hexagone 23"/>
          <p:cNvSpPr/>
          <p:nvPr/>
        </p:nvSpPr>
        <p:spPr>
          <a:xfrm>
            <a:off x="3286116" y="5072074"/>
            <a:ext cx="1000132" cy="1143008"/>
          </a:xfrm>
          <a:prstGeom prst="hexag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MKG</a:t>
            </a:r>
            <a:endParaRPr lang="fr-FR" dirty="0"/>
          </a:p>
        </p:txBody>
      </p:sp>
      <p:sp>
        <p:nvSpPr>
          <p:cNvPr id="25" name="Hexagone 24"/>
          <p:cNvSpPr/>
          <p:nvPr/>
        </p:nvSpPr>
        <p:spPr>
          <a:xfrm>
            <a:off x="4500562" y="5143512"/>
            <a:ext cx="1000132" cy="1143008"/>
          </a:xfrm>
          <a:prstGeom prst="hexag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Fin</a:t>
            </a:r>
            <a:endParaRPr lang="fr-FR" dirty="0"/>
          </a:p>
        </p:txBody>
      </p:sp>
      <p:sp>
        <p:nvSpPr>
          <p:cNvPr id="26" name="Hexagone 25"/>
          <p:cNvSpPr/>
          <p:nvPr/>
        </p:nvSpPr>
        <p:spPr>
          <a:xfrm>
            <a:off x="5715008" y="5214950"/>
            <a:ext cx="1143008" cy="1143008"/>
          </a:xfrm>
          <a:prstGeom prst="hex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Appro</a:t>
            </a:r>
            <a:endParaRPr lang="fr-FR" dirty="0"/>
          </a:p>
        </p:txBody>
      </p:sp>
      <p:sp>
        <p:nvSpPr>
          <p:cNvPr id="27" name="Hexagone 26"/>
          <p:cNvSpPr/>
          <p:nvPr/>
        </p:nvSpPr>
        <p:spPr>
          <a:xfrm>
            <a:off x="6858016" y="5072074"/>
            <a:ext cx="1214446" cy="1143008"/>
          </a:xfrm>
          <a:prstGeom prst="hexag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Production </a:t>
            </a:r>
            <a:endParaRPr lang="fr-FR" dirty="0"/>
          </a:p>
        </p:txBody>
      </p:sp>
      <p:sp>
        <p:nvSpPr>
          <p:cNvPr id="29" name="Double flèche horizontale 28"/>
          <p:cNvSpPr/>
          <p:nvPr/>
        </p:nvSpPr>
        <p:spPr>
          <a:xfrm>
            <a:off x="1071538" y="6072206"/>
            <a:ext cx="7072362" cy="500066"/>
          </a:xfrm>
          <a:prstGeom prst="left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Circulation d’information </a:t>
            </a:r>
            <a:endParaRPr lang="fr-FR" dirty="0"/>
          </a:p>
        </p:txBody>
      </p:sp>
      <p:sp>
        <p:nvSpPr>
          <p:cNvPr id="30" name="Rectangle avec flèche vers le bas 29"/>
          <p:cNvSpPr/>
          <p:nvPr/>
        </p:nvSpPr>
        <p:spPr>
          <a:xfrm>
            <a:off x="1785918" y="4572008"/>
            <a:ext cx="5143536" cy="785818"/>
          </a:xfrm>
          <a:prstGeom prst="downArrow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Décisions  tactiques / opérationnelles   </a:t>
            </a:r>
            <a:endParaRPr lang="fr-FR" dirty="0"/>
          </a:p>
        </p:txBody>
      </p:sp>
      <p:cxnSp>
        <p:nvCxnSpPr>
          <p:cNvPr id="32" name="Connecteur droit avec flèche 31"/>
          <p:cNvCxnSpPr/>
          <p:nvPr/>
        </p:nvCxnSpPr>
        <p:spPr>
          <a:xfrm rot="5400000">
            <a:off x="1215208" y="5143512"/>
            <a:ext cx="284958" cy="7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/>
          <p:nvPr/>
        </p:nvCxnSpPr>
        <p:spPr>
          <a:xfrm rot="5400000">
            <a:off x="7858942" y="5142718"/>
            <a:ext cx="284958" cy="7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7" name="Double flèche verticale 36"/>
          <p:cNvSpPr/>
          <p:nvPr/>
        </p:nvSpPr>
        <p:spPr>
          <a:xfrm>
            <a:off x="1285852" y="1785926"/>
            <a:ext cx="285752" cy="4214842"/>
          </a:xfrm>
          <a:prstGeom prst="up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/>
          <p:cNvSpPr/>
          <p:nvPr/>
        </p:nvSpPr>
        <p:spPr>
          <a:xfrm>
            <a:off x="428596" y="2143116"/>
            <a:ext cx="2071702" cy="4286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Informations 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2096</TotalTime>
  <Words>861</Words>
  <PresentationFormat>Affichage à l'écran (4:3)</PresentationFormat>
  <Paragraphs>199</Paragraphs>
  <Slides>29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0" baseType="lpstr"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On distingue 2 niveaux du marketing</vt:lpstr>
      <vt:lpstr>Diapositive 19</vt:lpstr>
      <vt:lpstr>Diapositive 20</vt:lpstr>
      <vt:lpstr>Diapositive 21</vt:lpstr>
      <vt:lpstr> Rôle de la fonction gestion des RH</vt:lpstr>
      <vt:lpstr>Les tâches de la fonction RH   </vt:lpstr>
      <vt:lpstr>Diapositive 24</vt:lpstr>
      <vt:lpstr>Diapositive 25</vt:lpstr>
      <vt:lpstr>Diapositive 26</vt:lpstr>
      <vt:lpstr>Diapositive 27</vt:lpstr>
      <vt:lpstr>Diapositive 28</vt:lpstr>
      <vt:lpstr>Diapositive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user</dc:creator>
  <cp:lastModifiedBy>user</cp:lastModifiedBy>
  <cp:revision>43</cp:revision>
  <dcterms:created xsi:type="dcterms:W3CDTF">2021-09-15T09:35:05Z</dcterms:created>
  <dcterms:modified xsi:type="dcterms:W3CDTF">2021-09-28T09:40:38Z</dcterms:modified>
</cp:coreProperties>
</file>