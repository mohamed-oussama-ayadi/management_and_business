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27"/>
  </p:notesMasterIdLst>
  <p:sldIdLst>
    <p:sldId id="283" r:id="rId2"/>
    <p:sldId id="256" r:id="rId3"/>
    <p:sldId id="257" r:id="rId4"/>
    <p:sldId id="262" r:id="rId5"/>
    <p:sldId id="263" r:id="rId6"/>
    <p:sldId id="264" r:id="rId7"/>
    <p:sldId id="265" r:id="rId8"/>
    <p:sldId id="272" r:id="rId9"/>
    <p:sldId id="273" r:id="rId10"/>
    <p:sldId id="284" r:id="rId11"/>
    <p:sldId id="286" r:id="rId12"/>
    <p:sldId id="288" r:id="rId13"/>
    <p:sldId id="463" r:id="rId14"/>
    <p:sldId id="462" r:id="rId15"/>
    <p:sldId id="464" r:id="rId16"/>
    <p:sldId id="274" r:id="rId17"/>
    <p:sldId id="275" r:id="rId18"/>
    <p:sldId id="276" r:id="rId19"/>
    <p:sldId id="277" r:id="rId20"/>
    <p:sldId id="465" r:id="rId21"/>
    <p:sldId id="278" r:id="rId22"/>
    <p:sldId id="279" r:id="rId23"/>
    <p:sldId id="280" r:id="rId24"/>
    <p:sldId id="281" r:id="rId25"/>
    <p:sldId id="282" r:id="rId26"/>
  </p:sldIdLst>
  <p:sldSz cx="9144000" cy="6858000" type="screen4x3"/>
  <p:notesSz cx="6858000" cy="9144000"/>
  <p:embeddedFontLst>
    <p:embeddedFont>
      <p:font typeface="Anton" pitchFamily="2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ndara" panose="020E0502030303020204" pitchFamily="34" charset="0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Libre Baskerville" panose="02000000000000000000" pitchFamily="2" charset="0"/>
      <p:regular r:id="rId41"/>
      <p:bold r:id="rId42"/>
      <p: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A9A9"/>
    <a:srgbClr val="0B81C3"/>
    <a:srgbClr val="D5F1FB"/>
    <a:srgbClr val="8DC0E3"/>
    <a:srgbClr val="7AB8F6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3" name="Google Shape;3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0" name="Google Shape;3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38" name="Google Shape;5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9" name="Google Shape;53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5597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0"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4A6E64-E07F-4E44-B308-084BE19CBD90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8756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794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First Template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771525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23" name="Google Shape;23;p3"/>
          <p:cNvSpPr>
            <a:spLocks noGrp="1"/>
          </p:cNvSpPr>
          <p:nvPr>
            <p:ph type="pic" idx="3"/>
          </p:nvPr>
        </p:nvSpPr>
        <p:spPr>
          <a:xfrm>
            <a:off x="2705100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24" name="Google Shape;24;p3"/>
          <p:cNvSpPr>
            <a:spLocks noGrp="1"/>
          </p:cNvSpPr>
          <p:nvPr>
            <p:ph type="pic" idx="4"/>
          </p:nvPr>
        </p:nvSpPr>
        <p:spPr>
          <a:xfrm>
            <a:off x="4638675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25" name="Google Shape;25;p3"/>
          <p:cNvSpPr>
            <a:spLocks noGrp="1"/>
          </p:cNvSpPr>
          <p:nvPr>
            <p:ph type="pic" idx="5"/>
          </p:nvPr>
        </p:nvSpPr>
        <p:spPr>
          <a:xfrm>
            <a:off x="6572250" y="1485900"/>
            <a:ext cx="1866900" cy="2576848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empty_plank">
  <p:cSld name="7_empty_p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190750" y="266701"/>
            <a:ext cx="4762500" cy="558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734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spcBef>
                <a:spcPts val="427"/>
              </a:spcBef>
              <a:spcAft>
                <a:spcPts val="0"/>
              </a:spcAft>
              <a:buClr>
                <a:srgbClr val="7F7F7F"/>
              </a:buClr>
              <a:buSzPts val="2135"/>
              <a:buNone/>
              <a:defRPr sz="2135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5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ree Blank With Footer">
  <p:cSld name="1_Free Blank With Foo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50257" y="356629"/>
            <a:ext cx="8643486" cy="47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rgbClr val="7F7F7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5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01">
  <p:cSld name="Team0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>
            <a:spLocks noGrp="1"/>
          </p:cNvSpPr>
          <p:nvPr>
            <p:ph type="pic" idx="2"/>
          </p:nvPr>
        </p:nvSpPr>
        <p:spPr>
          <a:xfrm>
            <a:off x="867991" y="1963505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9"/>
          <p:cNvSpPr>
            <a:spLocks noGrp="1"/>
          </p:cNvSpPr>
          <p:nvPr>
            <p:ph type="pic" idx="3"/>
          </p:nvPr>
        </p:nvSpPr>
        <p:spPr>
          <a:xfrm>
            <a:off x="2822644" y="1963505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9"/>
          <p:cNvSpPr>
            <a:spLocks noGrp="1"/>
          </p:cNvSpPr>
          <p:nvPr>
            <p:ph type="pic" idx="4"/>
          </p:nvPr>
        </p:nvSpPr>
        <p:spPr>
          <a:xfrm>
            <a:off x="4829092" y="1963505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9"/>
          <p:cNvSpPr>
            <a:spLocks noGrp="1"/>
          </p:cNvSpPr>
          <p:nvPr>
            <p:ph type="pic" idx="5"/>
          </p:nvPr>
        </p:nvSpPr>
        <p:spPr>
          <a:xfrm>
            <a:off x="6835351" y="1963505"/>
            <a:ext cx="1421516" cy="1894789"/>
          </a:xfrm>
          <a:prstGeom prst="ellipse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250257" y="356631"/>
            <a:ext cx="8643486" cy="47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rgbClr val="7F7F7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250259" y="825953"/>
            <a:ext cx="8643485" cy="26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5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188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1139825"/>
          </a:xfrm>
          <a:prstGeom prst="rect">
            <a:avLst/>
          </a:prstGeom>
        </p:spPr>
        <p:txBody>
          <a:bodyPr lIns="163275" tIns="81638" rIns="163275" bIns="81638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ln/>
        </p:spPr>
        <p:txBody>
          <a:bodyPr lIns="163275" tIns="81638" rIns="163275" bIns="81638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 lIns="163275" tIns="81638" rIns="163275" bIns="81638"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ln/>
        </p:spPr>
        <p:txBody>
          <a:bodyPr lIns="163275" tIns="81638" rIns="163275" bIns="81638"/>
          <a:lstStyle>
            <a:lvl1pPr>
              <a:defRPr/>
            </a:lvl1pPr>
          </a:lstStyle>
          <a:p>
            <a:pPr>
              <a:defRPr/>
            </a:pPr>
            <a:fld id="{5ABAA79B-8700-42ED-8258-0BDA15D9D7A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74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s.sage-fox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s.sage-fox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HSnWBfeuKqg" TargetMode="External"/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jpg"/><Relationship Id="rId11" Type="http://schemas.openxmlformats.org/officeDocument/2006/relationships/image" Target="../media/image4.png"/><Relationship Id="rId5" Type="http://schemas.openxmlformats.org/officeDocument/2006/relationships/image" Target="../media/image45.jpg"/><Relationship Id="rId10" Type="http://schemas.openxmlformats.org/officeDocument/2006/relationships/image" Target="../media/image15.png"/><Relationship Id="rId4" Type="http://schemas.openxmlformats.org/officeDocument/2006/relationships/image" Target="../media/image44.jp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2943226" y="3362228"/>
            <a:ext cx="617218" cy="822960"/>
            <a:chOff x="3241866" y="1103796"/>
            <a:chExt cx="4627785" cy="4627785"/>
          </a:xfrm>
        </p:grpSpPr>
        <p:sp>
          <p:nvSpPr>
            <p:cNvPr id="105" name="Google Shape;105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4310324" y="3362228"/>
            <a:ext cx="617218" cy="822960"/>
            <a:chOff x="3241866" y="1103796"/>
            <a:chExt cx="4627785" cy="4627785"/>
          </a:xfrm>
        </p:grpSpPr>
        <p:sp>
          <p:nvSpPr>
            <p:cNvPr id="108" name="Google Shape;108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5688462" y="3362228"/>
            <a:ext cx="617218" cy="822960"/>
            <a:chOff x="3241866" y="1103796"/>
            <a:chExt cx="4627785" cy="4627785"/>
          </a:xfrm>
        </p:grpSpPr>
        <p:sp>
          <p:nvSpPr>
            <p:cNvPr id="111" name="Google Shape;111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/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1926433" y="3829050"/>
            <a:ext cx="5394722" cy="1828800"/>
          </a:xfrm>
          <a:custGeom>
            <a:avLst/>
            <a:gdLst/>
            <a:ahLst/>
            <a:cxnLst/>
            <a:rect l="l" t="t" r="r" b="b"/>
            <a:pathLst>
              <a:path w="9590205" h="2438400" extrusionOk="0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lt1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703438" y="1191110"/>
            <a:ext cx="5477183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33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Environnement</a:t>
            </a:r>
            <a:r>
              <a:rPr lang="en-US" sz="33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et </a:t>
            </a:r>
            <a:r>
              <a:rPr lang="en-US" sz="33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stratégie</a:t>
            </a:r>
            <a:r>
              <a:rPr lang="en-US" sz="33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de </a:t>
            </a:r>
            <a:r>
              <a:rPr lang="en-US" sz="33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l’Entreprise</a:t>
            </a:r>
            <a:endParaRPr sz="3300" dirty="0">
              <a:solidFill>
                <a:srgbClr val="4C4F54"/>
              </a:solidFill>
              <a:latin typeface="Anton"/>
              <a:ea typeface="Anton"/>
              <a:cs typeface="Anton"/>
              <a:sym typeface="Anton"/>
            </a:endParaRPr>
          </a:p>
          <a:p>
            <a:pPr algn="ctr"/>
            <a:endParaRPr sz="1050" dirty="0">
              <a:solidFill>
                <a:srgbClr val="4C4F54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494236" y="2464594"/>
            <a:ext cx="6155531" cy="7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Classe 3</a:t>
            </a:r>
            <a:r>
              <a:rPr lang="en-US" sz="1050" b="1" baseline="300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ème</a:t>
            </a:r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année</a:t>
            </a:r>
            <a:endParaRPr sz="1050"/>
          </a:p>
          <a:p>
            <a:pPr algn="ctr"/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Responsables du module:</a:t>
            </a:r>
            <a:endParaRPr sz="1050"/>
          </a:p>
          <a:p>
            <a:pPr algn="ctr"/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 Melliti Ben Khedher</a:t>
            </a:r>
            <a:r>
              <a:rPr lang="en-US" sz="1050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dhouha.melliti@esprit.tn</a:t>
            </a:r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sz="1050"/>
          </a:p>
          <a:p>
            <a:pPr algn="ctr"/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 Riahi Tekaya </a:t>
            </a:r>
            <a:r>
              <a:rPr lang="en-US" sz="1200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insaf.tekaya@esprit.tn</a:t>
            </a:r>
            <a:r>
              <a:rPr lang="en-US" sz="1050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sz="1050" b="1">
              <a:solidFill>
                <a:srgbClr val="595959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7070" y="208298"/>
            <a:ext cx="2761905" cy="1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9272" y="324624"/>
            <a:ext cx="1419866" cy="535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1" y="4391226"/>
            <a:ext cx="4047619" cy="160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4390027"/>
            <a:ext cx="4046219" cy="16107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14401" y="2467976"/>
            <a:ext cx="7015733" cy="1104309"/>
          </a:xfrm>
          <a:prstGeom prst="rect">
            <a:avLst/>
          </a:prstGeom>
        </p:spPr>
        <p:txBody>
          <a:bodyPr spcFirstLastPara="1" vert="horz" wrap="square" lIns="0" tIns="92869" rIns="0" bIns="0" rtlCol="0" anchor="t" anchorCtr="0">
            <a:spAutoFit/>
          </a:bodyPr>
          <a:lstStyle/>
          <a:p>
            <a:pPr marL="0" indent="0" algn="ctr">
              <a:spcBef>
                <a:spcPts val="731"/>
              </a:spcBef>
              <a:buNone/>
            </a:pPr>
            <a:r>
              <a:rPr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Chapitre II.</a:t>
            </a:r>
            <a:r>
              <a:rPr lang="fr-FR"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 Stratégie de l’entreprise </a:t>
            </a:r>
            <a:endParaRPr sz="2700" b="1" spc="-161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31946" marR="493395" indent="0" algn="ctr">
              <a:spcBef>
                <a:spcPts val="656"/>
              </a:spcBef>
              <a:buNone/>
            </a:pPr>
            <a:r>
              <a:rPr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Section </a:t>
            </a:r>
            <a:r>
              <a:rPr lang="fr-FR"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. </a:t>
            </a:r>
            <a:r>
              <a:rPr lang="fr-FR" sz="2700" b="1" spc="-161" dirty="0">
                <a:solidFill>
                  <a:srgbClr val="C00000"/>
                </a:solidFill>
                <a:latin typeface="Times New Roman"/>
                <a:cs typeface="Times New Roman"/>
              </a:rPr>
              <a:t> Stratégies de l’entreprise</a:t>
            </a:r>
            <a:endParaRPr sz="2700" b="1" spc="-16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7940" y="857250"/>
            <a:ext cx="2763773" cy="1612011"/>
          </a:xfrm>
          <a:prstGeom prst="rect">
            <a:avLst/>
          </a:prstGeom>
        </p:spPr>
      </p:pic>
      <p:pic>
        <p:nvPicPr>
          <p:cNvPr id="2" name="Google Shape;117;p16">
            <a:extLst>
              <a:ext uri="{FF2B5EF4-FFF2-40B4-BE49-F238E27FC236}">
                <a16:creationId xmlns:a16="http://schemas.microsoft.com/office/drawing/2014/main" id="{70ADC64A-CEB1-408D-7BD5-FEC0637ED0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272" y="324624"/>
            <a:ext cx="1419866" cy="535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" y="4897316"/>
            <a:ext cx="9142095" cy="1590199"/>
            <a:chOff x="0" y="4737804"/>
            <a:chExt cx="12189460" cy="2120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37804"/>
              <a:ext cx="12188951" cy="21201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5216" y="4838407"/>
              <a:ext cx="6172200" cy="1536700"/>
            </a:xfrm>
            <a:custGeom>
              <a:avLst/>
              <a:gdLst/>
              <a:ahLst/>
              <a:cxnLst/>
              <a:rect l="l" t="t" r="r" b="b"/>
              <a:pathLst>
                <a:path w="6172200" h="1536700">
                  <a:moveTo>
                    <a:pt x="1828787" y="484746"/>
                  </a:moveTo>
                  <a:lnTo>
                    <a:pt x="1408163" y="484746"/>
                  </a:lnTo>
                  <a:lnTo>
                    <a:pt x="1408163" y="0"/>
                  </a:lnTo>
                  <a:lnTo>
                    <a:pt x="109728" y="0"/>
                  </a:lnTo>
                  <a:lnTo>
                    <a:pt x="109728" y="484746"/>
                  </a:lnTo>
                  <a:lnTo>
                    <a:pt x="0" y="484746"/>
                  </a:lnTo>
                  <a:lnTo>
                    <a:pt x="0" y="1189012"/>
                  </a:lnTo>
                  <a:lnTo>
                    <a:pt x="1828787" y="1189012"/>
                  </a:lnTo>
                  <a:lnTo>
                    <a:pt x="1828787" y="484746"/>
                  </a:lnTo>
                  <a:close/>
                </a:path>
                <a:path w="6172200" h="1536700">
                  <a:moveTo>
                    <a:pt x="6172200" y="768273"/>
                  </a:moveTo>
                  <a:lnTo>
                    <a:pt x="4123944" y="768273"/>
                  </a:lnTo>
                  <a:lnTo>
                    <a:pt x="4123944" y="1536560"/>
                  </a:lnTo>
                  <a:lnTo>
                    <a:pt x="6172200" y="1536560"/>
                  </a:lnTo>
                  <a:lnTo>
                    <a:pt x="6172200" y="768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983" y="4838446"/>
              <a:ext cx="128015" cy="1280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13831" y="4765167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4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2"/>
                  </a:lnTo>
                  <a:lnTo>
                    <a:pt x="174792" y="258536"/>
                  </a:lnTo>
                  <a:lnTo>
                    <a:pt x="207557" y="241553"/>
                  </a:lnTo>
                  <a:lnTo>
                    <a:pt x="132841" y="241553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4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29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4" y="132714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3"/>
                  </a:lnTo>
                  <a:lnTo>
                    <a:pt x="207557" y="241553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4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135374" y="1632394"/>
            <a:ext cx="199073" cy="199073"/>
            <a:chOff x="5513832" y="1033525"/>
            <a:chExt cx="265430" cy="2654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7840" y="1106677"/>
              <a:ext cx="128015" cy="1280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13832" y="1033525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7"/>
                  </a:lnTo>
                  <a:lnTo>
                    <a:pt x="6780" y="174529"/>
                  </a:lnTo>
                  <a:lnTo>
                    <a:pt x="25656" y="210960"/>
                  </a:lnTo>
                  <a:lnTo>
                    <a:pt x="54425" y="239691"/>
                  </a:lnTo>
                  <a:lnTo>
                    <a:pt x="90887" y="258535"/>
                  </a:lnTo>
                  <a:lnTo>
                    <a:pt x="132841" y="265302"/>
                  </a:lnTo>
                  <a:lnTo>
                    <a:pt x="174792" y="258535"/>
                  </a:lnTo>
                  <a:lnTo>
                    <a:pt x="207788" y="241426"/>
                  </a:lnTo>
                  <a:lnTo>
                    <a:pt x="132841" y="241426"/>
                  </a:lnTo>
                  <a:lnTo>
                    <a:pt x="90473" y="232868"/>
                  </a:lnTo>
                  <a:lnTo>
                    <a:pt x="55832" y="209534"/>
                  </a:lnTo>
                  <a:lnTo>
                    <a:pt x="32454" y="174936"/>
                  </a:lnTo>
                  <a:lnTo>
                    <a:pt x="23875" y="132587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4" y="132587"/>
                  </a:lnTo>
                  <a:lnTo>
                    <a:pt x="233354" y="174936"/>
                  </a:lnTo>
                  <a:lnTo>
                    <a:pt x="209962" y="209534"/>
                  </a:lnTo>
                  <a:lnTo>
                    <a:pt x="175283" y="232868"/>
                  </a:lnTo>
                  <a:lnTo>
                    <a:pt x="132841" y="241426"/>
                  </a:lnTo>
                  <a:lnTo>
                    <a:pt x="207788" y="241426"/>
                  </a:lnTo>
                  <a:lnTo>
                    <a:pt x="211134" y="239691"/>
                  </a:lnTo>
                  <a:lnTo>
                    <a:pt x="239735" y="210960"/>
                  </a:lnTo>
                  <a:lnTo>
                    <a:pt x="258460" y="174529"/>
                  </a:lnTo>
                  <a:lnTo>
                    <a:pt x="265175" y="132587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</p:grpSp>
      <p:sp>
        <p:nvSpPr>
          <p:cNvPr id="10" name="object 10"/>
          <p:cNvSpPr/>
          <p:nvPr/>
        </p:nvSpPr>
        <p:spPr>
          <a:xfrm>
            <a:off x="4449699" y="1686115"/>
            <a:ext cx="1016318" cy="5715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75" y="2857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1355090" h="76200">
                <a:moveTo>
                  <a:pt x="74275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75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75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w="1355090" h="7620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w="1355090" h="7620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w="1355090" h="7620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w="1355090" h="7620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3006"/>
                </a:lnTo>
                <a:lnTo>
                  <a:pt x="1289573" y="11191"/>
                </a:lnTo>
                <a:lnTo>
                  <a:pt x="1281388" y="23306"/>
                </a:lnTo>
                <a:lnTo>
                  <a:pt x="1278382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2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57" y="28575"/>
                </a:lnTo>
                <a:lnTo>
                  <a:pt x="1351593" y="23306"/>
                </a:lnTo>
                <a:lnTo>
                  <a:pt x="1343437" y="11191"/>
                </a:lnTo>
                <a:lnTo>
                  <a:pt x="1331329" y="3006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7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0" y="47625"/>
                </a:lnTo>
                <a:lnTo>
                  <a:pt x="1278382" y="38100"/>
                </a:lnTo>
                <a:lnTo>
                  <a:pt x="1280317" y="28575"/>
                </a:lnTo>
                <a:close/>
              </a:path>
              <a:path w="1355090" h="76200">
                <a:moveTo>
                  <a:pt x="1352657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2" y="38100"/>
                </a:lnTo>
                <a:lnTo>
                  <a:pt x="1352657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1" name="object 11"/>
          <p:cNvSpPr/>
          <p:nvPr/>
        </p:nvSpPr>
        <p:spPr>
          <a:xfrm>
            <a:off x="4387976" y="3003233"/>
            <a:ext cx="1016318" cy="5715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90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w="1355090" h="76200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w="1355090" h="76200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w="1355090" h="76200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w="1355090" h="76200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w="1355090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2" name="object 12"/>
          <p:cNvSpPr txBox="1"/>
          <p:nvPr/>
        </p:nvSpPr>
        <p:spPr>
          <a:xfrm>
            <a:off x="938434" y="2163232"/>
            <a:ext cx="2724626" cy="62180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10">
              <a:lnSpc>
                <a:spcPct val="100699"/>
              </a:lnSpc>
              <a:spcBef>
                <a:spcPts val="79"/>
              </a:spcBef>
            </a:pPr>
            <a:r>
              <a:rPr lang="fr-FR" sz="2000" b="1" spc="-11" dirty="0">
                <a:solidFill>
                  <a:srgbClr val="006FC0"/>
                </a:solidFill>
                <a:latin typeface="Calibri"/>
                <a:cs typeface="Calibri"/>
              </a:rPr>
              <a:t> Démarche stratégique : Rappel        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3550" y="1566148"/>
            <a:ext cx="2322195" cy="319799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lang="fr-FR" sz="2000" b="1" spc="4" dirty="0">
                <a:solidFill>
                  <a:srgbClr val="006FC0"/>
                </a:solidFill>
                <a:latin typeface="Calibri"/>
                <a:cs typeface="Calibri"/>
              </a:rPr>
              <a:t>Définition</a:t>
            </a:r>
            <a:r>
              <a:rPr lang="fr-FR" sz="1800" b="1" spc="4" dirty="0">
                <a:solidFill>
                  <a:srgbClr val="006FC0"/>
                </a:solidFill>
                <a:latin typeface="Calibri"/>
                <a:cs typeface="Calibri"/>
              </a:rPr>
              <a:t>    </a:t>
            </a:r>
            <a:endParaRPr lang="fr-FR" sz="18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28516" y="1838144"/>
            <a:ext cx="199073" cy="2586514"/>
            <a:chOff x="5504688" y="1307858"/>
            <a:chExt cx="265430" cy="344868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8696" y="2835402"/>
              <a:ext cx="128015" cy="12801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4688" y="27621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4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2"/>
                  </a:lnTo>
                  <a:lnTo>
                    <a:pt x="174792" y="258536"/>
                  </a:lnTo>
                  <a:lnTo>
                    <a:pt x="207557" y="241553"/>
                  </a:lnTo>
                  <a:lnTo>
                    <a:pt x="132841" y="241553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4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4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3"/>
                  </a:lnTo>
                  <a:lnTo>
                    <a:pt x="207557" y="241553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4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3560" y="1307858"/>
              <a:ext cx="27940" cy="448309"/>
            </a:xfrm>
            <a:custGeom>
              <a:avLst/>
              <a:gdLst/>
              <a:ahLst/>
              <a:cxnLst/>
              <a:rect l="l" t="t" r="r" b="b"/>
              <a:pathLst>
                <a:path w="27939" h="448310">
                  <a:moveTo>
                    <a:pt x="27432" y="0"/>
                  </a:moveTo>
                  <a:lnTo>
                    <a:pt x="0" y="0"/>
                  </a:lnTo>
                  <a:lnTo>
                    <a:pt x="0" y="448170"/>
                  </a:lnTo>
                  <a:lnTo>
                    <a:pt x="27432" y="44817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7840" y="1820164"/>
              <a:ext cx="128015" cy="12801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04688" y="1756029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5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3"/>
                  </a:lnTo>
                  <a:lnTo>
                    <a:pt x="174792" y="258536"/>
                  </a:lnTo>
                  <a:lnTo>
                    <a:pt x="207557" y="241554"/>
                  </a:lnTo>
                  <a:lnTo>
                    <a:pt x="132841" y="241554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5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5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4"/>
                  </a:lnTo>
                  <a:lnTo>
                    <a:pt x="207557" y="241554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5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3560" y="2030425"/>
              <a:ext cx="45720" cy="713740"/>
            </a:xfrm>
            <a:custGeom>
              <a:avLst/>
              <a:gdLst/>
              <a:ahLst/>
              <a:cxnLst/>
              <a:rect l="l" t="t" r="r" b="b"/>
              <a:pathLst>
                <a:path w="45720" h="713739">
                  <a:moveTo>
                    <a:pt x="45720" y="0"/>
                  </a:moveTo>
                  <a:lnTo>
                    <a:pt x="0" y="0"/>
                  </a:lnTo>
                  <a:lnTo>
                    <a:pt x="0" y="713409"/>
                  </a:lnTo>
                  <a:lnTo>
                    <a:pt x="45720" y="71340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8696" y="4097527"/>
              <a:ext cx="137159" cy="1280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04688" y="3036569"/>
              <a:ext cx="265430" cy="1253490"/>
            </a:xfrm>
            <a:custGeom>
              <a:avLst/>
              <a:gdLst/>
              <a:ahLst/>
              <a:cxnLst/>
              <a:rect l="l" t="t" r="r" b="b"/>
              <a:pathLst>
                <a:path w="265429" h="1253489">
                  <a:moveTo>
                    <a:pt x="265176" y="1120394"/>
                  </a:moveTo>
                  <a:lnTo>
                    <a:pt x="258457" y="1078522"/>
                  </a:lnTo>
                  <a:lnTo>
                    <a:pt x="241935" y="1046429"/>
                  </a:lnTo>
                  <a:lnTo>
                    <a:pt x="241935" y="1120394"/>
                  </a:lnTo>
                  <a:lnTo>
                    <a:pt x="233349" y="1162748"/>
                  </a:lnTo>
                  <a:lnTo>
                    <a:pt x="209956" y="1197343"/>
                  </a:lnTo>
                  <a:lnTo>
                    <a:pt x="175272" y="1220685"/>
                  </a:lnTo>
                  <a:lnTo>
                    <a:pt x="132842" y="1229233"/>
                  </a:lnTo>
                  <a:lnTo>
                    <a:pt x="90462" y="1220685"/>
                  </a:lnTo>
                  <a:lnTo>
                    <a:pt x="55829" y="1197343"/>
                  </a:lnTo>
                  <a:lnTo>
                    <a:pt x="32448" y="1162748"/>
                  </a:lnTo>
                  <a:lnTo>
                    <a:pt x="23876" y="1120394"/>
                  </a:lnTo>
                  <a:lnTo>
                    <a:pt x="32448" y="1078052"/>
                  </a:lnTo>
                  <a:lnTo>
                    <a:pt x="55829" y="1043457"/>
                  </a:lnTo>
                  <a:lnTo>
                    <a:pt x="90462" y="1020114"/>
                  </a:lnTo>
                  <a:lnTo>
                    <a:pt x="132842" y="1011555"/>
                  </a:lnTo>
                  <a:lnTo>
                    <a:pt x="175272" y="1020114"/>
                  </a:lnTo>
                  <a:lnTo>
                    <a:pt x="209956" y="1043457"/>
                  </a:lnTo>
                  <a:lnTo>
                    <a:pt x="233349" y="1078052"/>
                  </a:lnTo>
                  <a:lnTo>
                    <a:pt x="241935" y="1120394"/>
                  </a:lnTo>
                  <a:lnTo>
                    <a:pt x="241935" y="1046429"/>
                  </a:lnTo>
                  <a:lnTo>
                    <a:pt x="211124" y="1013421"/>
                  </a:lnTo>
                  <a:lnTo>
                    <a:pt x="174790" y="994575"/>
                  </a:lnTo>
                  <a:lnTo>
                    <a:pt x="155448" y="991463"/>
                  </a:lnTo>
                  <a:lnTo>
                    <a:pt x="155448" y="0"/>
                  </a:lnTo>
                  <a:lnTo>
                    <a:pt x="109728" y="0"/>
                  </a:lnTo>
                  <a:lnTo>
                    <a:pt x="109728" y="991539"/>
                  </a:lnTo>
                  <a:lnTo>
                    <a:pt x="90881" y="994575"/>
                  </a:lnTo>
                  <a:lnTo>
                    <a:pt x="54419" y="1013421"/>
                  </a:lnTo>
                  <a:lnTo>
                    <a:pt x="25654" y="1042123"/>
                  </a:lnTo>
                  <a:lnTo>
                    <a:pt x="6769" y="1078522"/>
                  </a:lnTo>
                  <a:lnTo>
                    <a:pt x="0" y="1120394"/>
                  </a:lnTo>
                  <a:lnTo>
                    <a:pt x="6769" y="1162278"/>
                  </a:lnTo>
                  <a:lnTo>
                    <a:pt x="25654" y="1198676"/>
                  </a:lnTo>
                  <a:lnTo>
                    <a:pt x="54419" y="1227378"/>
                  </a:lnTo>
                  <a:lnTo>
                    <a:pt x="90881" y="1246225"/>
                  </a:lnTo>
                  <a:lnTo>
                    <a:pt x="132842" y="1252982"/>
                  </a:lnTo>
                  <a:lnTo>
                    <a:pt x="174790" y="1246225"/>
                  </a:lnTo>
                  <a:lnTo>
                    <a:pt x="207556" y="1229233"/>
                  </a:lnTo>
                  <a:lnTo>
                    <a:pt x="211124" y="1227378"/>
                  </a:lnTo>
                  <a:lnTo>
                    <a:pt x="239725" y="1198676"/>
                  </a:lnTo>
                  <a:lnTo>
                    <a:pt x="258457" y="1162278"/>
                  </a:lnTo>
                  <a:lnTo>
                    <a:pt x="265176" y="1120394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632704" y="4298708"/>
              <a:ext cx="27940" cy="457834"/>
            </a:xfrm>
            <a:custGeom>
              <a:avLst/>
              <a:gdLst/>
              <a:ahLst/>
              <a:cxnLst/>
              <a:rect l="l" t="t" r="r" b="b"/>
              <a:pathLst>
                <a:path w="27939" h="457835">
                  <a:moveTo>
                    <a:pt x="27430" y="0"/>
                  </a:moveTo>
                  <a:lnTo>
                    <a:pt x="0" y="0"/>
                  </a:lnTo>
                  <a:lnTo>
                    <a:pt x="0" y="457314"/>
                  </a:lnTo>
                  <a:lnTo>
                    <a:pt x="27430" y="457314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</p:grpSp>
      <p:sp>
        <p:nvSpPr>
          <p:cNvPr id="24" name="object 24"/>
          <p:cNvSpPr/>
          <p:nvPr/>
        </p:nvSpPr>
        <p:spPr>
          <a:xfrm>
            <a:off x="4449699" y="4505515"/>
            <a:ext cx="1016318" cy="5715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90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w="1355090" h="7620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w="1355090" h="7620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w="1355090" h="7620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w="1355090" h="7620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w="1355090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25" name="object 25"/>
          <p:cNvSpPr txBox="1"/>
          <p:nvPr/>
        </p:nvSpPr>
        <p:spPr>
          <a:xfrm>
            <a:off x="5556599" y="2771489"/>
            <a:ext cx="3313271" cy="623343"/>
          </a:xfrm>
          <a:prstGeom prst="rect">
            <a:avLst/>
          </a:prstGeom>
        </p:spPr>
        <p:txBody>
          <a:bodyPr vert="horz" wrap="square" lIns="0" tIns="6191" rIns="0" bIns="0" rtlCol="0">
            <a:spAutoFit/>
          </a:bodyPr>
          <a:lstStyle/>
          <a:p>
            <a:pPr marL="9525" marR="3810" algn="just">
              <a:lnSpc>
                <a:spcPct val="102299"/>
              </a:lnSpc>
              <a:spcBef>
                <a:spcPts val="49"/>
              </a:spcBef>
              <a:tabLst>
                <a:tab pos="853440" algn="l"/>
              </a:tabLst>
            </a:pPr>
            <a:r>
              <a:rPr lang="fr-FR" sz="2000" b="1" spc="8" dirty="0">
                <a:solidFill>
                  <a:srgbClr val="006FC0"/>
                </a:solidFill>
                <a:latin typeface="Calibri"/>
                <a:cs typeface="Calibri"/>
              </a:rPr>
              <a:t>Segmentation stratégique-</a:t>
            </a:r>
          </a:p>
          <a:p>
            <a:pPr marL="9525" marR="3810" algn="just">
              <a:lnSpc>
                <a:spcPct val="102299"/>
              </a:lnSpc>
              <a:spcBef>
                <a:spcPts val="49"/>
              </a:spcBef>
              <a:tabLst>
                <a:tab pos="853440" algn="l"/>
              </a:tabLst>
            </a:pPr>
            <a:r>
              <a:rPr lang="fr-FR" sz="2000" b="1" spc="8" dirty="0">
                <a:solidFill>
                  <a:srgbClr val="006FC0"/>
                </a:solidFill>
                <a:latin typeface="Calibri"/>
                <a:cs typeface="Calibri"/>
              </a:rPr>
              <a:t>Domaine d’activité stratégique     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42692" y="2255520"/>
            <a:ext cx="832961" cy="58103"/>
          </a:xfrm>
          <a:custGeom>
            <a:avLst/>
            <a:gdLst/>
            <a:ahLst/>
            <a:cxnLst/>
            <a:rect l="l" t="t" r="r" b="b"/>
            <a:pathLst>
              <a:path w="1110614" h="77469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271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110614" h="77469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1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110614" h="77469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1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110614" h="77469">
                <a:moveTo>
                  <a:pt x="114300" y="28575"/>
                </a:moveTo>
                <a:lnTo>
                  <a:pt x="114300" y="47625"/>
                </a:lnTo>
                <a:lnTo>
                  <a:pt x="171450" y="47751"/>
                </a:lnTo>
                <a:lnTo>
                  <a:pt x="171450" y="28701"/>
                </a:lnTo>
                <a:lnTo>
                  <a:pt x="114300" y="28575"/>
                </a:lnTo>
                <a:close/>
              </a:path>
              <a:path w="1110614" h="77469">
                <a:moveTo>
                  <a:pt x="247650" y="28701"/>
                </a:moveTo>
                <a:lnTo>
                  <a:pt x="190500" y="28701"/>
                </a:lnTo>
                <a:lnTo>
                  <a:pt x="190500" y="47751"/>
                </a:lnTo>
                <a:lnTo>
                  <a:pt x="247650" y="47751"/>
                </a:lnTo>
                <a:lnTo>
                  <a:pt x="247650" y="28701"/>
                </a:lnTo>
                <a:close/>
              </a:path>
              <a:path w="1110614" h="77469">
                <a:moveTo>
                  <a:pt x="266700" y="28701"/>
                </a:moveTo>
                <a:lnTo>
                  <a:pt x="266573" y="47751"/>
                </a:lnTo>
                <a:lnTo>
                  <a:pt x="323723" y="47878"/>
                </a:lnTo>
                <a:lnTo>
                  <a:pt x="323723" y="28828"/>
                </a:lnTo>
                <a:lnTo>
                  <a:pt x="266700" y="28701"/>
                </a:lnTo>
                <a:close/>
              </a:path>
              <a:path w="1110614" h="77469">
                <a:moveTo>
                  <a:pt x="399923" y="28828"/>
                </a:moveTo>
                <a:lnTo>
                  <a:pt x="342773" y="28828"/>
                </a:lnTo>
                <a:lnTo>
                  <a:pt x="342773" y="47878"/>
                </a:lnTo>
                <a:lnTo>
                  <a:pt x="399923" y="47878"/>
                </a:lnTo>
                <a:lnTo>
                  <a:pt x="399923" y="28828"/>
                </a:lnTo>
                <a:close/>
              </a:path>
              <a:path w="1110614" h="77469">
                <a:moveTo>
                  <a:pt x="418973" y="28828"/>
                </a:moveTo>
                <a:lnTo>
                  <a:pt x="418973" y="47878"/>
                </a:lnTo>
                <a:lnTo>
                  <a:pt x="476123" y="48005"/>
                </a:lnTo>
                <a:lnTo>
                  <a:pt x="476123" y="28955"/>
                </a:lnTo>
                <a:lnTo>
                  <a:pt x="418973" y="28828"/>
                </a:lnTo>
                <a:close/>
              </a:path>
              <a:path w="1110614" h="77469">
                <a:moveTo>
                  <a:pt x="552323" y="28955"/>
                </a:moveTo>
                <a:lnTo>
                  <a:pt x="495173" y="28955"/>
                </a:lnTo>
                <a:lnTo>
                  <a:pt x="495173" y="48005"/>
                </a:lnTo>
                <a:lnTo>
                  <a:pt x="552323" y="48005"/>
                </a:lnTo>
                <a:lnTo>
                  <a:pt x="552323" y="28955"/>
                </a:lnTo>
                <a:close/>
              </a:path>
              <a:path w="1110614" h="77469">
                <a:moveTo>
                  <a:pt x="628523" y="28955"/>
                </a:moveTo>
                <a:lnTo>
                  <a:pt x="571373" y="28955"/>
                </a:lnTo>
                <a:lnTo>
                  <a:pt x="571373" y="48005"/>
                </a:lnTo>
                <a:lnTo>
                  <a:pt x="628523" y="48005"/>
                </a:lnTo>
                <a:lnTo>
                  <a:pt x="628523" y="28955"/>
                </a:lnTo>
                <a:close/>
              </a:path>
              <a:path w="1110614" h="77469">
                <a:moveTo>
                  <a:pt x="704723" y="29082"/>
                </a:moveTo>
                <a:lnTo>
                  <a:pt x="647573" y="29082"/>
                </a:lnTo>
                <a:lnTo>
                  <a:pt x="647573" y="48132"/>
                </a:lnTo>
                <a:lnTo>
                  <a:pt x="704723" y="48132"/>
                </a:lnTo>
                <a:lnTo>
                  <a:pt x="704723" y="29082"/>
                </a:lnTo>
                <a:close/>
              </a:path>
              <a:path w="1110614" h="77469">
                <a:moveTo>
                  <a:pt x="780923" y="29082"/>
                </a:moveTo>
                <a:lnTo>
                  <a:pt x="723773" y="29082"/>
                </a:lnTo>
                <a:lnTo>
                  <a:pt x="723773" y="48132"/>
                </a:lnTo>
                <a:lnTo>
                  <a:pt x="780796" y="48132"/>
                </a:lnTo>
                <a:lnTo>
                  <a:pt x="780923" y="29082"/>
                </a:lnTo>
                <a:close/>
              </a:path>
              <a:path w="1110614" h="77469">
                <a:moveTo>
                  <a:pt x="856996" y="29210"/>
                </a:moveTo>
                <a:lnTo>
                  <a:pt x="799973" y="29210"/>
                </a:lnTo>
                <a:lnTo>
                  <a:pt x="799846" y="48260"/>
                </a:lnTo>
                <a:lnTo>
                  <a:pt x="856996" y="48260"/>
                </a:lnTo>
                <a:lnTo>
                  <a:pt x="856996" y="29210"/>
                </a:lnTo>
                <a:close/>
              </a:path>
              <a:path w="1110614" h="77469">
                <a:moveTo>
                  <a:pt x="933196" y="29210"/>
                </a:moveTo>
                <a:lnTo>
                  <a:pt x="876046" y="29210"/>
                </a:lnTo>
                <a:lnTo>
                  <a:pt x="876046" y="48260"/>
                </a:lnTo>
                <a:lnTo>
                  <a:pt x="933196" y="48260"/>
                </a:lnTo>
                <a:lnTo>
                  <a:pt x="933196" y="29210"/>
                </a:lnTo>
                <a:close/>
              </a:path>
              <a:path w="1110614" h="77469">
                <a:moveTo>
                  <a:pt x="1009396" y="29337"/>
                </a:moveTo>
                <a:lnTo>
                  <a:pt x="952246" y="29337"/>
                </a:lnTo>
                <a:lnTo>
                  <a:pt x="952246" y="48387"/>
                </a:lnTo>
                <a:lnTo>
                  <a:pt x="1009396" y="48387"/>
                </a:lnTo>
                <a:lnTo>
                  <a:pt x="1009396" y="29337"/>
                </a:lnTo>
                <a:close/>
              </a:path>
              <a:path w="1110614" h="77469">
                <a:moveTo>
                  <a:pt x="1072134" y="762"/>
                </a:moveTo>
                <a:lnTo>
                  <a:pt x="1057284" y="3750"/>
                </a:lnTo>
                <a:lnTo>
                  <a:pt x="1045162" y="11906"/>
                </a:lnTo>
                <a:lnTo>
                  <a:pt x="1036968" y="24014"/>
                </a:lnTo>
                <a:lnTo>
                  <a:pt x="1033907" y="38862"/>
                </a:lnTo>
                <a:lnTo>
                  <a:pt x="1036913" y="53709"/>
                </a:lnTo>
                <a:lnTo>
                  <a:pt x="1045122" y="65833"/>
                </a:lnTo>
                <a:lnTo>
                  <a:pt x="1057223" y="73975"/>
                </a:lnTo>
                <a:lnTo>
                  <a:pt x="1072007" y="76962"/>
                </a:lnTo>
                <a:lnTo>
                  <a:pt x="1086857" y="73973"/>
                </a:lnTo>
                <a:lnTo>
                  <a:pt x="1098973" y="65817"/>
                </a:lnTo>
                <a:lnTo>
                  <a:pt x="1107118" y="53762"/>
                </a:lnTo>
                <a:lnTo>
                  <a:pt x="1108205" y="48387"/>
                </a:lnTo>
                <a:lnTo>
                  <a:pt x="1072007" y="48387"/>
                </a:lnTo>
                <a:lnTo>
                  <a:pt x="1072007" y="29337"/>
                </a:lnTo>
                <a:lnTo>
                  <a:pt x="1108168" y="29337"/>
                </a:lnTo>
                <a:lnTo>
                  <a:pt x="1107120" y="24122"/>
                </a:lnTo>
                <a:lnTo>
                  <a:pt x="1098978" y="11969"/>
                </a:lnTo>
                <a:lnTo>
                  <a:pt x="1086907" y="3770"/>
                </a:lnTo>
                <a:lnTo>
                  <a:pt x="1072134" y="762"/>
                </a:lnTo>
                <a:close/>
              </a:path>
              <a:path w="1110614" h="77469">
                <a:moveTo>
                  <a:pt x="1035871" y="29337"/>
                </a:moveTo>
                <a:lnTo>
                  <a:pt x="1028446" y="29337"/>
                </a:lnTo>
                <a:lnTo>
                  <a:pt x="1028446" y="48387"/>
                </a:lnTo>
                <a:lnTo>
                  <a:pt x="1035835" y="48387"/>
                </a:lnTo>
                <a:lnTo>
                  <a:pt x="1033907" y="38862"/>
                </a:lnTo>
                <a:lnTo>
                  <a:pt x="1035871" y="29337"/>
                </a:lnTo>
                <a:close/>
              </a:path>
              <a:path w="1110614" h="77469">
                <a:moveTo>
                  <a:pt x="1108168" y="29337"/>
                </a:moveTo>
                <a:lnTo>
                  <a:pt x="1072007" y="29337"/>
                </a:lnTo>
                <a:lnTo>
                  <a:pt x="1072007" y="48387"/>
                </a:lnTo>
                <a:lnTo>
                  <a:pt x="1108205" y="48387"/>
                </a:lnTo>
                <a:lnTo>
                  <a:pt x="1110107" y="38988"/>
                </a:lnTo>
                <a:lnTo>
                  <a:pt x="1108168" y="29337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27" name="object 27"/>
          <p:cNvSpPr/>
          <p:nvPr/>
        </p:nvSpPr>
        <p:spPr>
          <a:xfrm>
            <a:off x="3002660" y="3936110"/>
            <a:ext cx="1016318" cy="57150"/>
          </a:xfrm>
          <a:custGeom>
            <a:avLst/>
            <a:gdLst/>
            <a:ahLst/>
            <a:cxnLst/>
            <a:rect l="l" t="t" r="r" b="b"/>
            <a:pathLst>
              <a:path w="135508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89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89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89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89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89" h="76200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w="1355089" h="76200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w="1355089" h="76200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w="1355089" h="76200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w="1355089" h="76200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w="1355089" h="76200">
                <a:moveTo>
                  <a:pt x="704723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3" y="47625"/>
                </a:lnTo>
                <a:lnTo>
                  <a:pt x="704723" y="28575"/>
                </a:lnTo>
                <a:close/>
              </a:path>
              <a:path w="1355089" h="76200">
                <a:moveTo>
                  <a:pt x="780923" y="28575"/>
                </a:moveTo>
                <a:lnTo>
                  <a:pt x="723773" y="28575"/>
                </a:lnTo>
                <a:lnTo>
                  <a:pt x="723773" y="47625"/>
                </a:lnTo>
                <a:lnTo>
                  <a:pt x="780923" y="47625"/>
                </a:lnTo>
                <a:lnTo>
                  <a:pt x="780923" y="28575"/>
                </a:lnTo>
                <a:close/>
              </a:path>
              <a:path w="1355089" h="76200">
                <a:moveTo>
                  <a:pt x="856996" y="28575"/>
                </a:moveTo>
                <a:lnTo>
                  <a:pt x="799846" y="28575"/>
                </a:lnTo>
                <a:lnTo>
                  <a:pt x="799846" y="47625"/>
                </a:lnTo>
                <a:lnTo>
                  <a:pt x="856996" y="47625"/>
                </a:lnTo>
                <a:lnTo>
                  <a:pt x="856996" y="28575"/>
                </a:lnTo>
                <a:close/>
              </a:path>
              <a:path w="1355089" h="76200">
                <a:moveTo>
                  <a:pt x="933196" y="28575"/>
                </a:moveTo>
                <a:lnTo>
                  <a:pt x="876046" y="28575"/>
                </a:lnTo>
                <a:lnTo>
                  <a:pt x="876046" y="47625"/>
                </a:lnTo>
                <a:lnTo>
                  <a:pt x="933196" y="47625"/>
                </a:lnTo>
                <a:lnTo>
                  <a:pt x="933196" y="28575"/>
                </a:lnTo>
                <a:close/>
              </a:path>
              <a:path w="1355089" h="76200">
                <a:moveTo>
                  <a:pt x="1009396" y="28575"/>
                </a:moveTo>
                <a:lnTo>
                  <a:pt x="952246" y="28575"/>
                </a:lnTo>
                <a:lnTo>
                  <a:pt x="952246" y="47625"/>
                </a:lnTo>
                <a:lnTo>
                  <a:pt x="1009396" y="47625"/>
                </a:lnTo>
                <a:lnTo>
                  <a:pt x="1009396" y="28575"/>
                </a:lnTo>
                <a:close/>
              </a:path>
              <a:path w="1355089" h="76200">
                <a:moveTo>
                  <a:pt x="1085596" y="28575"/>
                </a:moveTo>
                <a:lnTo>
                  <a:pt x="1028446" y="28575"/>
                </a:lnTo>
                <a:lnTo>
                  <a:pt x="1028446" y="47625"/>
                </a:lnTo>
                <a:lnTo>
                  <a:pt x="1085596" y="47625"/>
                </a:lnTo>
                <a:lnTo>
                  <a:pt x="1085596" y="28575"/>
                </a:lnTo>
                <a:close/>
              </a:path>
              <a:path w="1355089" h="76200">
                <a:moveTo>
                  <a:pt x="1161796" y="28575"/>
                </a:moveTo>
                <a:lnTo>
                  <a:pt x="1104646" y="28575"/>
                </a:lnTo>
                <a:lnTo>
                  <a:pt x="1104646" y="47625"/>
                </a:lnTo>
                <a:lnTo>
                  <a:pt x="1161796" y="47625"/>
                </a:lnTo>
                <a:lnTo>
                  <a:pt x="1161796" y="28575"/>
                </a:lnTo>
                <a:close/>
              </a:path>
              <a:path w="1355089" h="76200">
                <a:moveTo>
                  <a:pt x="1237996" y="28575"/>
                </a:moveTo>
                <a:lnTo>
                  <a:pt x="1180846" y="28575"/>
                </a:lnTo>
                <a:lnTo>
                  <a:pt x="1180846" y="47625"/>
                </a:lnTo>
                <a:lnTo>
                  <a:pt x="1237996" y="47625"/>
                </a:lnTo>
                <a:lnTo>
                  <a:pt x="1237996" y="28575"/>
                </a:lnTo>
                <a:close/>
              </a:path>
              <a:path w="1355089" h="76200">
                <a:moveTo>
                  <a:pt x="1316481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1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1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1" y="0"/>
                </a:lnTo>
                <a:close/>
              </a:path>
              <a:path w="1355089" h="76200">
                <a:moveTo>
                  <a:pt x="1280310" y="28575"/>
                </a:moveTo>
                <a:lnTo>
                  <a:pt x="1257046" y="28575"/>
                </a:lnTo>
                <a:lnTo>
                  <a:pt x="1257046" y="47625"/>
                </a:lnTo>
                <a:lnTo>
                  <a:pt x="1280310" y="47625"/>
                </a:lnTo>
                <a:lnTo>
                  <a:pt x="1278381" y="38100"/>
                </a:lnTo>
                <a:lnTo>
                  <a:pt x="1280310" y="28575"/>
                </a:lnTo>
                <a:close/>
              </a:path>
              <a:path w="1355089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1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grpSp>
        <p:nvGrpSpPr>
          <p:cNvPr id="28" name="object 28"/>
          <p:cNvGrpSpPr/>
          <p:nvPr/>
        </p:nvGrpSpPr>
        <p:grpSpPr>
          <a:xfrm>
            <a:off x="4122230" y="4135582"/>
            <a:ext cx="199073" cy="521494"/>
            <a:chOff x="5522976" y="5048770"/>
            <a:chExt cx="265430" cy="695325"/>
          </a:xfrm>
        </p:grpSpPr>
        <p:sp>
          <p:nvSpPr>
            <p:cNvPr id="29" name="object 29"/>
            <p:cNvSpPr/>
            <p:nvPr/>
          </p:nvSpPr>
          <p:spPr>
            <a:xfrm>
              <a:off x="5632704" y="5048770"/>
              <a:ext cx="27940" cy="439420"/>
            </a:xfrm>
            <a:custGeom>
              <a:avLst/>
              <a:gdLst/>
              <a:ahLst/>
              <a:cxnLst/>
              <a:rect l="l" t="t" r="r" b="b"/>
              <a:pathLst>
                <a:path w="27939" h="439420">
                  <a:moveTo>
                    <a:pt x="27430" y="0"/>
                  </a:moveTo>
                  <a:lnTo>
                    <a:pt x="0" y="0"/>
                  </a:lnTo>
                  <a:lnTo>
                    <a:pt x="0" y="439026"/>
                  </a:lnTo>
                  <a:lnTo>
                    <a:pt x="27430" y="439026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6128" y="5542660"/>
              <a:ext cx="128016" cy="12804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22976" y="5478652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8"/>
                  </a:lnTo>
                  <a:lnTo>
                    <a:pt x="6780" y="174490"/>
                  </a:lnTo>
                  <a:lnTo>
                    <a:pt x="25656" y="210895"/>
                  </a:lnTo>
                  <a:lnTo>
                    <a:pt x="54425" y="239612"/>
                  </a:lnTo>
                  <a:lnTo>
                    <a:pt x="90887" y="258448"/>
                  </a:lnTo>
                  <a:lnTo>
                    <a:pt x="132841" y="265214"/>
                  </a:lnTo>
                  <a:lnTo>
                    <a:pt x="174792" y="258448"/>
                  </a:lnTo>
                  <a:lnTo>
                    <a:pt x="207608" y="241439"/>
                  </a:lnTo>
                  <a:lnTo>
                    <a:pt x="132841" y="241439"/>
                  </a:lnTo>
                  <a:lnTo>
                    <a:pt x="90473" y="232877"/>
                  </a:lnTo>
                  <a:lnTo>
                    <a:pt x="55832" y="209535"/>
                  </a:lnTo>
                  <a:lnTo>
                    <a:pt x="32454" y="174933"/>
                  </a:lnTo>
                  <a:lnTo>
                    <a:pt x="23875" y="132588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w="265429" h="265429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5" y="132588"/>
                  </a:lnTo>
                  <a:lnTo>
                    <a:pt x="233354" y="174933"/>
                  </a:lnTo>
                  <a:lnTo>
                    <a:pt x="209962" y="209535"/>
                  </a:lnTo>
                  <a:lnTo>
                    <a:pt x="175283" y="232877"/>
                  </a:lnTo>
                  <a:lnTo>
                    <a:pt x="132841" y="241439"/>
                  </a:lnTo>
                  <a:lnTo>
                    <a:pt x="207608" y="241439"/>
                  </a:lnTo>
                  <a:lnTo>
                    <a:pt x="211134" y="239612"/>
                  </a:lnTo>
                  <a:lnTo>
                    <a:pt x="239735" y="210895"/>
                  </a:lnTo>
                  <a:lnTo>
                    <a:pt x="258460" y="174490"/>
                  </a:lnTo>
                  <a:lnTo>
                    <a:pt x="265175" y="132588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5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596318" y="4363736"/>
            <a:ext cx="2747582" cy="320761"/>
          </a:xfrm>
          <a:prstGeom prst="rect">
            <a:avLst/>
          </a:prstGeom>
        </p:spPr>
        <p:txBody>
          <a:bodyPr vert="horz" wrap="square" lIns="0" tIns="12859" rIns="0" bIns="0" rtlCol="0">
            <a:spAutoFit/>
          </a:bodyPr>
          <a:lstStyle/>
          <a:p>
            <a:pPr marL="9525">
              <a:spcBef>
                <a:spcPts val="101"/>
              </a:spcBef>
            </a:pPr>
            <a:r>
              <a:rPr lang="fr-FR" sz="2000" b="1" spc="19" dirty="0">
                <a:solidFill>
                  <a:srgbClr val="006FC0"/>
                </a:solidFill>
                <a:latin typeface="Calibri"/>
                <a:cs typeface="Calibri"/>
              </a:rPr>
              <a:t>Stratégie </a:t>
            </a:r>
            <a:r>
              <a:rPr lang="fr-FR" sz="2000" b="1" spc="19" dirty="0" err="1">
                <a:solidFill>
                  <a:srgbClr val="006FC0"/>
                </a:solidFill>
                <a:latin typeface="Calibri"/>
                <a:cs typeface="Calibri"/>
              </a:rPr>
              <a:t>Corporate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48771" y="5752376"/>
            <a:ext cx="78581" cy="150522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900" spc="8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29760" y="974512"/>
            <a:ext cx="874879" cy="340419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438912" y="401499"/>
            <a:ext cx="336232" cy="384334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1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 rot="10800000" flipV="1">
            <a:off x="910297" y="495761"/>
            <a:ext cx="1390450" cy="296621"/>
          </a:xfrm>
          <a:prstGeom prst="rect">
            <a:avLst/>
          </a:prstGeom>
        </p:spPr>
        <p:txBody>
          <a:bodyPr spcFirstLastPara="1" vert="horz" wrap="square" lIns="0" tIns="12383" rIns="0" bIns="0" rtlCol="0" anchor="ctr" anchorCtr="0">
            <a:spAutoFit/>
          </a:bodyPr>
          <a:lstStyle/>
          <a:p>
            <a:pPr marL="9525">
              <a:spcBef>
                <a:spcPts val="98"/>
              </a:spcBef>
            </a:pPr>
            <a:r>
              <a:rPr sz="1763" spc="-4" dirty="0">
                <a:solidFill>
                  <a:srgbClr val="44536A"/>
                </a:solidFill>
                <a:latin typeface="Times New Roman"/>
                <a:cs typeface="Times New Roman"/>
              </a:rPr>
              <a:t>Pl</a:t>
            </a:r>
            <a:r>
              <a:rPr sz="1763" spc="-19" dirty="0">
                <a:solidFill>
                  <a:srgbClr val="44536A"/>
                </a:solidFill>
                <a:latin typeface="Times New Roman"/>
                <a:cs typeface="Times New Roman"/>
              </a:rPr>
              <a:t>a</a:t>
            </a:r>
            <a:r>
              <a:rPr sz="1763" spc="11" dirty="0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endParaRPr sz="1763" dirty="0">
              <a:latin typeface="Times New Roman"/>
              <a:cs typeface="Times New Roman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010DEA1-6A73-ABA9-9FC5-1BCFE730A166}"/>
              </a:ext>
            </a:extLst>
          </p:cNvPr>
          <p:cNvSpPr txBox="1"/>
          <p:nvPr/>
        </p:nvSpPr>
        <p:spPr>
          <a:xfrm>
            <a:off x="910297" y="3736258"/>
            <a:ext cx="2468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spc="-11" dirty="0">
                <a:solidFill>
                  <a:srgbClr val="006FC0"/>
                </a:solidFill>
                <a:latin typeface="Calibri"/>
                <a:cs typeface="Calibri"/>
              </a:rPr>
              <a:t>Stratégie Business </a:t>
            </a:r>
            <a:endParaRPr lang="fr-TN" sz="2000" b="1" spc="-11" dirty="0">
              <a:solidFill>
                <a:srgbClr val="006F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/>
          <p:nvPr/>
        </p:nvSpPr>
        <p:spPr>
          <a:xfrm>
            <a:off x="571472" y="3786190"/>
            <a:ext cx="342900" cy="838200"/>
          </a:xfrm>
          <a:prstGeom prst="chevron">
            <a:avLst>
              <a:gd name="adj" fmla="val 50000"/>
            </a:avLst>
          </a:prstGeom>
          <a:solidFill>
            <a:srgbClr val="7AB8F6"/>
          </a:solidFill>
          <a:ln w="25400" cap="flat" cmpd="sng">
            <a:solidFill>
              <a:schemeClr val="lt1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857224" y="3714752"/>
            <a:ext cx="342900" cy="838200"/>
          </a:xfrm>
          <a:prstGeom prst="chevron">
            <a:avLst>
              <a:gd name="adj" fmla="val 50000"/>
            </a:avLst>
          </a:prstGeom>
          <a:solidFill>
            <a:srgbClr val="3EB8CD"/>
          </a:solidFill>
          <a:ln w="25400" cap="flat" cmpd="sng">
            <a:solidFill>
              <a:schemeClr val="lt1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1357290" y="3857628"/>
            <a:ext cx="708567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Qu’est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qu’une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stratégie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? </a:t>
            </a:r>
            <a:endParaRPr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1428728" y="5000636"/>
            <a:ext cx="701423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Quelles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sont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les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différentes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stratégies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mobilisables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par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entreprise</a:t>
            </a:r>
            <a:r>
              <a:rPr lang="en-US" sz="2400" b="1" dirty="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sz="2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7858148" y="2071678"/>
            <a:ext cx="9286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Menace 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642910" y="4929198"/>
            <a:ext cx="342900" cy="838200"/>
          </a:xfrm>
          <a:prstGeom prst="chevron">
            <a:avLst>
              <a:gd name="adj" fmla="val 50000"/>
            </a:avLst>
          </a:prstGeom>
          <a:solidFill>
            <a:srgbClr val="7AB8F6"/>
          </a:solidFill>
          <a:ln w="25400" cap="flat" cmpd="sng">
            <a:solidFill>
              <a:schemeClr val="lt1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000100" y="4929198"/>
            <a:ext cx="342900" cy="838200"/>
          </a:xfrm>
          <a:prstGeom prst="chevron">
            <a:avLst>
              <a:gd name="adj" fmla="val 50000"/>
            </a:avLst>
          </a:prstGeom>
          <a:solidFill>
            <a:srgbClr val="3EB8CD"/>
          </a:solidFill>
          <a:ln w="25400" cap="flat" cmpd="sng">
            <a:solidFill>
              <a:schemeClr val="lt1">
                <a:alpha val="49803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23" descr="Résultat de recherche d'images pour &quot;stratégie&quot;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8728" y="785794"/>
            <a:ext cx="4086202" cy="2417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9496"/>
            <a:ext cx="1357290" cy="61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2095" y="0"/>
            <a:ext cx="2761905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589240"/>
            <a:ext cx="4047619" cy="126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27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 b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2800" b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Une stratégie, c’est quoi en fait ?..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>
            <a:spLocks noGrp="1"/>
          </p:cNvSpPr>
          <p:nvPr>
            <p:ph type="body" idx="1"/>
          </p:nvPr>
        </p:nvSpPr>
        <p:spPr>
          <a:xfrm>
            <a:off x="428596" y="164305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/>
              <a:t>C’est l’</a:t>
            </a:r>
            <a:r>
              <a:rPr lang="en-US" sz="2400" b="1" i="1">
                <a:solidFill>
                  <a:srgbClr val="FF0000"/>
                </a:solidFill>
              </a:rPr>
              <a:t>ensemble</a:t>
            </a:r>
            <a:r>
              <a:rPr lang="en-US" sz="2400" i="1"/>
              <a:t> des </a:t>
            </a:r>
            <a:r>
              <a:rPr lang="en-US" sz="2400" b="1" i="1">
                <a:solidFill>
                  <a:srgbClr val="FF0000"/>
                </a:solidFill>
              </a:rPr>
              <a:t>choix</a:t>
            </a:r>
            <a:r>
              <a:rPr lang="en-US" sz="2400" i="1"/>
              <a:t> et des </a:t>
            </a:r>
            <a:r>
              <a:rPr lang="en-US" sz="2400" b="1" i="1">
                <a:solidFill>
                  <a:srgbClr val="FF0000"/>
                </a:solidFill>
              </a:rPr>
              <a:t>décisions majeurs </a:t>
            </a:r>
            <a:r>
              <a:rPr lang="en-US" sz="2400" i="1"/>
              <a:t>qui encadrent et orientent le </a:t>
            </a:r>
            <a:r>
              <a:rPr lang="en-US" sz="2400" b="1" i="1">
                <a:solidFill>
                  <a:srgbClr val="FF0000"/>
                </a:solidFill>
              </a:rPr>
              <a:t>développement</a:t>
            </a:r>
            <a:r>
              <a:rPr lang="en-US" sz="2400" i="1"/>
              <a:t> d’une entreprise, ceci dans le but de maximiser sa performance et d’assurer sa croissance et sa pérennité. </a:t>
            </a:r>
            <a:endParaRPr sz="2400" i="1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i="1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i="1"/>
              <a:t>C’est </a:t>
            </a:r>
            <a:r>
              <a:rPr lang="en-US" sz="2400" b="1" i="1">
                <a:solidFill>
                  <a:srgbClr val="FF0000"/>
                </a:solidFill>
              </a:rPr>
              <a:t>l’ensemble de moyens </a:t>
            </a:r>
            <a:r>
              <a:rPr lang="en-US" sz="2400" i="1"/>
              <a:t>mis en place par l’entreprise afin d’atteindre </a:t>
            </a:r>
            <a:r>
              <a:rPr lang="en-US" sz="2400" b="1" i="1">
                <a:solidFill>
                  <a:srgbClr val="FF0000"/>
                </a:solidFill>
              </a:rPr>
              <a:t>les objectifs stratégiques </a:t>
            </a:r>
            <a:r>
              <a:rPr lang="en-US" sz="2400" i="1"/>
              <a:t>fixés par les dirigeants pour se créer un </a:t>
            </a:r>
            <a:r>
              <a:rPr lang="en-US" sz="2400" b="1" i="1">
                <a:solidFill>
                  <a:srgbClr val="FF0000"/>
                </a:solidFill>
              </a:rPr>
              <a:t>positionnement favorable </a:t>
            </a:r>
            <a:r>
              <a:rPr lang="en-US" sz="2400" i="1"/>
              <a:t>par rapport à ses concurrents. </a:t>
            </a:r>
            <a:endParaRPr sz="2400" i="1"/>
          </a:p>
        </p:txBody>
      </p:sp>
      <p:pic>
        <p:nvPicPr>
          <p:cNvPr id="313" name="Google Shape;313;p24" descr="Image associÃ©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282" y="2143116"/>
            <a:ext cx="331788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Image associÃ©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388" y="4435475"/>
            <a:ext cx="3333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17" name="Google Shape;3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589240"/>
            <a:ext cx="4047619" cy="126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29496"/>
            <a:ext cx="1170039" cy="645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2095" y="0"/>
            <a:ext cx="2761905" cy="214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/>
          <p:nvPr/>
        </p:nvSpPr>
        <p:spPr>
          <a:xfrm rot="5400000">
            <a:off x="4002" y="861363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>
            <a:spLocks noGrp="1"/>
          </p:cNvSpPr>
          <p:nvPr>
            <p:ph type="title"/>
          </p:nvPr>
        </p:nvSpPr>
        <p:spPr>
          <a:xfrm>
            <a:off x="457200" y="3413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5"/>
          <p:cNvSpPr txBox="1">
            <a:spLocks noGrp="1"/>
          </p:cNvSpPr>
          <p:nvPr>
            <p:ph type="body" idx="1"/>
          </p:nvPr>
        </p:nvSpPr>
        <p:spPr>
          <a:xfrm>
            <a:off x="457200" y="1782763"/>
            <a:ext cx="8186766" cy="186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34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292934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lang="en-US" sz="2800">
                <a:solidFill>
                  <a:srgbClr val="292934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r>
              <a:rPr lang="en-US" sz="2400">
                <a:solidFill>
                  <a:srgbClr val="FF0000"/>
                </a:solidFill>
              </a:rPr>
              <a:t>L</a:t>
            </a:r>
            <a:r>
              <a:rPr lang="en-US" sz="2400" b="1" i="1">
                <a:solidFill>
                  <a:srgbClr val="FF0000"/>
                </a:solidFill>
              </a:rPr>
              <a:t>a détermination des buts et des objectifs à long terme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rgbClr val="292934"/>
                </a:solidFill>
              </a:rPr>
              <a:t>d’une entreprise et </a:t>
            </a:r>
            <a:r>
              <a:rPr lang="en-US" sz="2400" b="1" i="1">
                <a:solidFill>
                  <a:srgbClr val="FF0000"/>
                </a:solidFill>
              </a:rPr>
              <a:t>l’adoption des actions </a:t>
            </a:r>
            <a:r>
              <a:rPr lang="en-US" sz="2400">
                <a:solidFill>
                  <a:srgbClr val="292934"/>
                </a:solidFill>
              </a:rPr>
              <a:t>et des allocations de ressources nécessaires pour </a:t>
            </a:r>
            <a:r>
              <a:rPr lang="en-US" sz="2400" b="1" i="1">
                <a:solidFill>
                  <a:srgbClr val="FF0000"/>
                </a:solidFill>
              </a:rPr>
              <a:t>atteindre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>
                <a:solidFill>
                  <a:srgbClr val="292934"/>
                </a:solidFill>
              </a:rPr>
              <a:t>ces buts ». </a:t>
            </a:r>
            <a:r>
              <a:rPr lang="en-US" sz="2400" i="1">
                <a:solidFill>
                  <a:srgbClr val="292934"/>
                </a:solidFill>
              </a:rPr>
              <a:t>Alfred Chandler</a:t>
            </a:r>
            <a:r>
              <a:rPr lang="en-US" sz="2400" i="1">
                <a:solidFill>
                  <a:srgbClr val="292934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sz="2400" i="1">
              <a:solidFill>
                <a:srgbClr val="292934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292934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92934"/>
                </a:solidFill>
                <a:latin typeface="Candara"/>
                <a:ea typeface="Candara"/>
                <a:cs typeface="Candara"/>
                <a:sym typeface="Candara"/>
              </a:rPr>
              <a:t> </a:t>
            </a:r>
            <a:endParaRPr sz="2400" i="1">
              <a:solidFill>
                <a:srgbClr val="292934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i="1">
              <a:solidFill>
                <a:srgbClr val="2929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25" descr="Image associÃ©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275" y="1770063"/>
            <a:ext cx="331788" cy="36353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31" name="Google Shape;331;p25" descr="Résultat de recherche d'images pour &quot;stratégi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 descr="Résultat de recherche d'images pour &quot;stratégi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 descr="Résultat de recherche d'images pour &quot;stratégie&quot;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5" descr="Résultat de recherche d'images pour &quot;stratégie&quot;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4414" y="3645024"/>
            <a:ext cx="6572296" cy="208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2095" y="0"/>
            <a:ext cx="2761905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455174" cy="64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5589240"/>
            <a:ext cx="4047619" cy="126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b="1"/>
            </a:b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6"/>
          <p:cNvSpPr txBox="1">
            <a:spLocks noGrp="1"/>
          </p:cNvSpPr>
          <p:nvPr>
            <p:ph type="body" idx="1"/>
          </p:nvPr>
        </p:nvSpPr>
        <p:spPr>
          <a:xfrm>
            <a:off x="357158" y="1285860"/>
            <a:ext cx="8229600" cy="164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/>
              <a:t> </a:t>
            </a:r>
            <a:r>
              <a:rPr lang="en-US" sz="2400" dirty="0">
                <a:solidFill>
                  <a:srgbClr val="002060"/>
                </a:solidFill>
              </a:rPr>
              <a:t>La </a:t>
            </a:r>
            <a:r>
              <a:rPr lang="en-US" sz="2400" dirty="0" err="1">
                <a:solidFill>
                  <a:srgbClr val="002060"/>
                </a:solidFill>
              </a:rPr>
              <a:t>stratégie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est</a:t>
            </a:r>
            <a:r>
              <a:rPr lang="en-US" sz="2400" dirty="0">
                <a:solidFill>
                  <a:srgbClr val="002060"/>
                </a:solidFill>
              </a:rPr>
              <a:t> un </a:t>
            </a:r>
            <a:r>
              <a:rPr lang="en-US" sz="2400" dirty="0" err="1">
                <a:solidFill>
                  <a:srgbClr val="002060"/>
                </a:solidFill>
              </a:rPr>
              <a:t>compromis</a:t>
            </a:r>
            <a:r>
              <a:rPr lang="en-US" sz="2400" dirty="0">
                <a:solidFill>
                  <a:srgbClr val="002060"/>
                </a:solidFill>
              </a:rPr>
              <a:t> entre </a:t>
            </a:r>
            <a:r>
              <a:rPr lang="en-US" sz="2400" dirty="0" err="1">
                <a:solidFill>
                  <a:srgbClr val="FF0000"/>
                </a:solidFill>
              </a:rPr>
              <a:t>ce</a:t>
            </a:r>
            <a:r>
              <a:rPr lang="en-US" sz="2400" dirty="0">
                <a:solidFill>
                  <a:srgbClr val="FF0000"/>
                </a:solidFill>
              </a:rPr>
              <a:t> que </a:t>
            </a:r>
            <a:r>
              <a:rPr lang="en-US" sz="2400" dirty="0" err="1">
                <a:solidFill>
                  <a:srgbClr val="FF0000"/>
                </a:solidFill>
              </a:rPr>
              <a:t>l’entreprise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veut</a:t>
            </a:r>
            <a:r>
              <a:rPr lang="en-US" sz="2400" dirty="0">
                <a:solidFill>
                  <a:srgbClr val="FF0000"/>
                </a:solidFill>
              </a:rPr>
              <a:t> faire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002060"/>
                </a:solidFill>
              </a:rPr>
              <a:t>ce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qu’elle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peut</a:t>
            </a:r>
            <a:r>
              <a:rPr lang="en-US" sz="2400" dirty="0">
                <a:solidFill>
                  <a:srgbClr val="FF0000"/>
                </a:solidFill>
              </a:rPr>
              <a:t> faire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2060"/>
                </a:solidFill>
              </a:rPr>
              <a:t>et </a:t>
            </a:r>
            <a:r>
              <a:rPr lang="en-US" sz="2400" dirty="0" err="1">
                <a:solidFill>
                  <a:srgbClr val="002060"/>
                </a:solidFill>
              </a:rPr>
              <a:t>ce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qu’elle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002060"/>
                </a:solidFill>
              </a:rPr>
              <a:t>est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autorisée</a:t>
            </a:r>
            <a:r>
              <a:rPr lang="en-US" sz="2400" dirty="0">
                <a:solidFill>
                  <a:srgbClr val="FF0000"/>
                </a:solidFill>
              </a:rPr>
              <a:t> à faire</a:t>
            </a:r>
            <a:endParaRPr sz="2400" dirty="0">
              <a:solidFill>
                <a:srgbClr val="FF0000"/>
              </a:solidFill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>
                <a:solidFill>
                  <a:srgbClr val="002060"/>
                </a:solidFill>
              </a:rPr>
              <a:t>elle</a:t>
            </a:r>
            <a:r>
              <a:rPr lang="en-US" sz="2400" dirty="0">
                <a:solidFill>
                  <a:srgbClr val="002060"/>
                </a:solidFill>
              </a:rPr>
              <a:t> doit </a:t>
            </a:r>
            <a:r>
              <a:rPr lang="en-US" sz="2400" dirty="0" err="1">
                <a:solidFill>
                  <a:srgbClr val="002060"/>
                </a:solidFill>
              </a:rPr>
              <a:t>procéder</a:t>
            </a:r>
            <a:r>
              <a:rPr lang="en-US" sz="2400" dirty="0">
                <a:solidFill>
                  <a:srgbClr val="002060"/>
                </a:solidFill>
              </a:rPr>
              <a:t> par un bon </a:t>
            </a:r>
            <a:r>
              <a:rPr lang="en-US" sz="2400" b="1" dirty="0">
                <a:solidFill>
                  <a:srgbClr val="0099FF"/>
                </a:solidFill>
              </a:rPr>
              <a:t>diagnostic </a:t>
            </a:r>
            <a:r>
              <a:rPr lang="en-US" sz="2400" b="1" dirty="0" err="1">
                <a:solidFill>
                  <a:srgbClr val="0099FF"/>
                </a:solidFill>
              </a:rPr>
              <a:t>stratégique</a:t>
            </a:r>
            <a:r>
              <a:rPr lang="en-US" sz="2400" b="1" dirty="0">
                <a:solidFill>
                  <a:srgbClr val="0099FF"/>
                </a:solidFill>
              </a:rPr>
              <a:t>.</a:t>
            </a:r>
            <a:endParaRPr sz="2400" b="1" dirty="0">
              <a:solidFill>
                <a:srgbClr val="0099FF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b="1" dirty="0">
              <a:solidFill>
                <a:srgbClr val="0099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342926" y="4536298"/>
            <a:ext cx="2428875" cy="1357304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chemeClr val="bg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Compétences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forces et faiblesses de  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l’entreprise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3543264" y="4799005"/>
            <a:ext cx="2357453" cy="1071562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STRATEGIE</a:t>
            </a:r>
            <a:endParaRPr sz="28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6729386" y="4536298"/>
            <a:ext cx="2357452" cy="1529222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chemeClr val="bg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b="1">
                <a:solidFill>
                  <a:schemeClr val="lt1"/>
                </a:solidFill>
              </a:rPr>
              <a:t>Opportunités et menaces de l’environnement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2872562" y="5026370"/>
            <a:ext cx="612775" cy="428628"/>
          </a:xfrm>
          <a:prstGeom prst="rightArrow">
            <a:avLst>
              <a:gd name="adj1" fmla="val 50000"/>
              <a:gd name="adj2" fmla="val 50000"/>
            </a:avLst>
          </a:prstGeom>
          <a:noFill/>
          <a:ln w="25400" cap="flat" cmpd="sng">
            <a:solidFill>
              <a:srgbClr val="0099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351" name="Google Shape;351;p26"/>
          <p:cNvSpPr txBox="1">
            <a:spLocks noGrp="1"/>
          </p:cNvSpPr>
          <p:nvPr>
            <p:ph type="sldNum" idx="12"/>
          </p:nvPr>
        </p:nvSpPr>
        <p:spPr>
          <a:xfrm>
            <a:off x="6500826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2928926" y="3214686"/>
            <a:ext cx="335758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None/>
            </a:pPr>
            <a:r>
              <a:rPr lang="en-US" sz="20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Valeurs</a:t>
            </a:r>
            <a:r>
              <a:rPr lang="en-US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buts, </a:t>
            </a:r>
            <a:endParaRPr sz="20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None/>
            </a:pPr>
            <a:r>
              <a:rPr lang="en-US" sz="20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r>
              <a:rPr lang="en-US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20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dirigeants</a:t>
            </a:r>
            <a:endParaRPr sz="20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 rot="10800000">
            <a:off x="5938829" y="5086595"/>
            <a:ext cx="612775" cy="42862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 cap="flat" cmpd="sng">
            <a:solidFill>
              <a:srgbClr val="0099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6"/>
          <p:cNvSpPr/>
          <p:nvPr/>
        </p:nvSpPr>
        <p:spPr>
          <a:xfrm rot="5400000">
            <a:off x="4286248" y="4000506"/>
            <a:ext cx="612775" cy="428628"/>
          </a:xfrm>
          <a:prstGeom prst="rightArrow">
            <a:avLst>
              <a:gd name="adj1" fmla="val 50000"/>
              <a:gd name="adj2" fmla="val 50000"/>
            </a:avLst>
          </a:prstGeom>
          <a:noFill/>
          <a:ln w="25400" cap="flat" cmpd="sng">
            <a:solidFill>
              <a:srgbClr val="0099F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</a:endParaRPr>
          </a:p>
        </p:txBody>
      </p:sp>
      <p:sp>
        <p:nvSpPr>
          <p:cNvPr id="355" name="Google Shape;355;p26"/>
          <p:cNvSpPr txBox="1"/>
          <p:nvPr/>
        </p:nvSpPr>
        <p:spPr>
          <a:xfrm>
            <a:off x="0" y="0"/>
            <a:ext cx="8229600" cy="127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Times New Roman"/>
              <a:buNone/>
            </a:pPr>
            <a:br>
              <a:rPr lang="en-US" sz="28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Démarche </a:t>
            </a:r>
            <a:r>
              <a:rPr lang="en-US" sz="2800" b="1" i="0" u="none" strike="noStrike" cap="none" dirty="0" err="1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stratégique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: </a:t>
            </a:r>
            <a:endParaRPr sz="2800" b="0" i="0" u="none" strike="noStrike" cap="none" dirty="0">
              <a:solidFill>
                <a:srgbClr val="C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356" name="Google Shape;35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29032" cy="614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2095" y="-29497"/>
            <a:ext cx="2204663" cy="198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/>
          <p:nvPr/>
        </p:nvSpPr>
        <p:spPr>
          <a:xfrm rot="5400000">
            <a:off x="4002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11188" y="1628775"/>
            <a:ext cx="7993062" cy="3763963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3"/>
          <p:cNvSpPr/>
          <p:nvPr/>
        </p:nvSpPr>
        <p:spPr>
          <a:xfrm>
            <a:off x="6878638" y="5445125"/>
            <a:ext cx="1296987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LeRoy (2017)</a:t>
            </a: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33" name="Google Shape;533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29497"/>
            <a:ext cx="1160206" cy="560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899592" y="601524"/>
            <a:ext cx="37518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 Formulation stratégique  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567775" y="1895907"/>
            <a:ext cx="2381956" cy="2466898"/>
          </a:xfrm>
          <a:prstGeom prst="teardrop">
            <a:avLst>
              <a:gd name="adj" fmla="val 1000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4"/>
          <p:cNvSpPr/>
          <p:nvPr/>
        </p:nvSpPr>
        <p:spPr>
          <a:xfrm>
            <a:off x="2214546" y="3429000"/>
            <a:ext cx="892448" cy="822960"/>
          </a:xfrm>
          <a:prstGeom prst="ellipse">
            <a:avLst/>
          </a:prstGeom>
          <a:solidFill>
            <a:srgbClr val="00B0F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2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34"/>
          <p:cNvSpPr/>
          <p:nvPr/>
        </p:nvSpPr>
        <p:spPr>
          <a:xfrm>
            <a:off x="4942522" y="1979303"/>
            <a:ext cx="2381956" cy="2466898"/>
          </a:xfrm>
          <a:prstGeom prst="teardrop">
            <a:avLst>
              <a:gd name="adj" fmla="val 1000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4"/>
          <p:cNvSpPr/>
          <p:nvPr/>
        </p:nvSpPr>
        <p:spPr>
          <a:xfrm>
            <a:off x="6697835" y="3513993"/>
            <a:ext cx="873004" cy="82296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28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34"/>
          <p:cNvSpPr txBox="1"/>
          <p:nvPr/>
        </p:nvSpPr>
        <p:spPr>
          <a:xfrm>
            <a:off x="428596" y="4469397"/>
            <a:ext cx="3071834" cy="205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Stratégies</a:t>
            </a:r>
            <a:r>
              <a:rPr lang="en-US" sz="1800" b="1" u="sng" dirty="0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 Business </a:t>
            </a:r>
            <a:r>
              <a:rPr lang="en-US" sz="1800" b="1" u="sng" dirty="0" err="1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ou</a:t>
            </a:r>
            <a:r>
              <a:rPr lang="en-US" sz="1800" b="1" u="sng" dirty="0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u="sng" dirty="0" err="1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positionnement</a:t>
            </a:r>
            <a:r>
              <a:rPr lang="en-US" sz="1800" b="1" u="sng" dirty="0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u="sng" dirty="0" err="1">
                <a:solidFill>
                  <a:srgbClr val="00B0F0"/>
                </a:solidFill>
                <a:latin typeface="Candara"/>
                <a:ea typeface="Candara"/>
                <a:cs typeface="Candara"/>
                <a:sym typeface="Candara"/>
              </a:rPr>
              <a:t>concurrentiel</a:t>
            </a:r>
            <a:endParaRPr sz="1800" b="1" u="sng" dirty="0">
              <a:solidFill>
                <a:srgbClr val="00B0F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Les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décisions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qui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ont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pour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objet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le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dévelopement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d’un </a:t>
            </a:r>
            <a:r>
              <a:rPr lang="en-US" sz="1800" b="1" dirty="0" err="1">
                <a:solidFill>
                  <a:srgbClr val="00B050"/>
                </a:solidFill>
                <a:latin typeface="Candara"/>
                <a:ea typeface="Candara"/>
                <a:cs typeface="Candara"/>
                <a:sym typeface="Candara"/>
              </a:rPr>
              <a:t>avantage</a:t>
            </a:r>
            <a:r>
              <a:rPr lang="en-US" sz="1800" b="1" dirty="0">
                <a:solidFill>
                  <a:srgbClr val="00B05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Candara"/>
                <a:ea typeface="Candara"/>
                <a:cs typeface="Candara"/>
                <a:sym typeface="Candara"/>
              </a:rPr>
              <a:t>concurrentiel</a:t>
            </a:r>
            <a:r>
              <a:rPr lang="en-US" sz="1800" b="1" dirty="0">
                <a:solidFill>
                  <a:srgbClr val="00B05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au sein d’un 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domaine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d’activité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Stratégique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spécifique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(DAS).</a:t>
            </a:r>
            <a:endParaRPr sz="1800" b="1" dirty="0">
              <a:solidFill>
                <a:srgbClr val="0070C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48" name="Google Shape;548;p34"/>
          <p:cNvSpPr txBox="1"/>
          <p:nvPr/>
        </p:nvSpPr>
        <p:spPr>
          <a:xfrm>
            <a:off x="5143504" y="4357694"/>
            <a:ext cx="3357586" cy="23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dirty="0" err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Stratégies</a:t>
            </a:r>
            <a:r>
              <a:rPr lang="en-US" sz="1800" b="1" u="sng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 corporate </a:t>
            </a:r>
            <a:r>
              <a:rPr lang="en-US" sz="1800" b="1" u="sng" dirty="0" err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ou</a:t>
            </a:r>
            <a:r>
              <a:rPr lang="en-US" sz="1800" b="1" u="sng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u="sng" dirty="0" err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croissance</a:t>
            </a:r>
            <a:r>
              <a:rPr lang="en-US" sz="1800" b="1" u="sng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 </a:t>
            </a:r>
            <a:r>
              <a:rPr lang="en-US" sz="1800" b="1" u="sng" dirty="0" err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ou</a:t>
            </a:r>
            <a:r>
              <a:rPr lang="en-US" sz="1800" b="1" u="sng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u="sng" dirty="0" err="1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groupe</a:t>
            </a:r>
            <a:r>
              <a:rPr lang="en-US" sz="1800" b="1" u="sng" dirty="0">
                <a:solidFill>
                  <a:srgbClr val="0070C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800" b="1" u="sng" dirty="0">
              <a:solidFill>
                <a:srgbClr val="0070C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Les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stratégies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visant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à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optimiser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la gestion et le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développement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du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portefeuille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d’activités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l’entreprise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et à fixer les axes de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croissance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pour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l’ensemble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l’entreprise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sz="1800" b="1" dirty="0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49" name="Google Shape;549;p34"/>
          <p:cNvSpPr txBox="1"/>
          <p:nvPr/>
        </p:nvSpPr>
        <p:spPr>
          <a:xfrm>
            <a:off x="428596" y="1142984"/>
            <a:ext cx="76438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Les décisions stratégiques qui sont retenues à la suite du diagnostic stratégique sont prises à deux niveaux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09368" cy="52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/>
          <p:nvPr/>
        </p:nvSpPr>
        <p:spPr>
          <a:xfrm rot="5400000">
            <a:off x="216578" y="645339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34;p33">
            <a:extLst>
              <a:ext uri="{FF2B5EF4-FFF2-40B4-BE49-F238E27FC236}">
                <a16:creationId xmlns:a16="http://schemas.microsoft.com/office/drawing/2014/main" id="{00A89A81-4D26-26AA-98E0-319391E2F9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9;p26">
            <a:extLst>
              <a:ext uri="{FF2B5EF4-FFF2-40B4-BE49-F238E27FC236}">
                <a16:creationId xmlns:a16="http://schemas.microsoft.com/office/drawing/2014/main" id="{F6C42B39-1D9B-92E8-4FCD-96210B619CD8}"/>
              </a:ext>
            </a:extLst>
          </p:cNvPr>
          <p:cNvSpPr/>
          <p:nvPr/>
        </p:nvSpPr>
        <p:spPr>
          <a:xfrm rot="5400000">
            <a:off x="4002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940168C-E6E3-2610-FFB2-3E51C2571855}"/>
              </a:ext>
            </a:extLst>
          </p:cNvPr>
          <p:cNvSpPr txBox="1"/>
          <p:nvPr/>
        </p:nvSpPr>
        <p:spPr>
          <a:xfrm>
            <a:off x="653846" y="69224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Segmentation </a:t>
            </a:r>
            <a:r>
              <a:rPr lang="en-US" sz="2800" b="1" i="0" u="none" strike="noStrike" cap="none" dirty="0" err="1">
                <a:solidFill>
                  <a:srgbClr val="C00000"/>
                </a:solidFill>
                <a:latin typeface="Candara"/>
                <a:ea typeface="Candara"/>
                <a:cs typeface="Candara"/>
                <a:sym typeface="Candara"/>
              </a:rPr>
              <a:t>stratégique</a:t>
            </a:r>
            <a:endParaRPr lang="fr-TN" sz="2800" dirty="0"/>
          </a:p>
        </p:txBody>
      </p:sp>
      <p:pic>
        <p:nvPicPr>
          <p:cNvPr id="1026" name="Picture 2" descr="Contactez nous – Delice Holding">
            <a:extLst>
              <a:ext uri="{FF2B5EF4-FFF2-40B4-BE49-F238E27FC236}">
                <a16:creationId xmlns:a16="http://schemas.microsoft.com/office/drawing/2014/main" id="{9D479308-8EAB-6E18-BD91-D03DF327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850" y="130274"/>
            <a:ext cx="1529267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it demi ecrémé – Delice Holding">
            <a:extLst>
              <a:ext uri="{FF2B5EF4-FFF2-40B4-BE49-F238E27FC236}">
                <a16:creationId xmlns:a16="http://schemas.microsoft.com/office/drawing/2014/main" id="{AFF6FAE0-94B5-CBAF-8846-D9B107141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83" y="1492370"/>
            <a:ext cx="1906240" cy="217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aise – Delice Holding">
            <a:extLst>
              <a:ext uri="{FF2B5EF4-FFF2-40B4-BE49-F238E27FC236}">
                <a16:creationId xmlns:a16="http://schemas.microsoft.com/office/drawing/2014/main" id="{D48A0D62-105C-CD1F-B805-6F8CCDFE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940" y="1583960"/>
            <a:ext cx="2685260" cy="217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ed Saleh Jebli - Responsable contrôle Qualité - Compagnie Fromagère Délice  Milkana | LinkedIn">
            <a:extLst>
              <a:ext uri="{FF2B5EF4-FFF2-40B4-BE49-F238E27FC236}">
                <a16:creationId xmlns:a16="http://schemas.microsoft.com/office/drawing/2014/main" id="{49C3A32E-ADD7-E808-334E-B3B673E61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243" y="1469718"/>
            <a:ext cx="2462874" cy="217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au de source naturelle Délice 1.5L - Otrity">
            <a:extLst>
              <a:ext uri="{FF2B5EF4-FFF2-40B4-BE49-F238E27FC236}">
                <a16:creationId xmlns:a16="http://schemas.microsoft.com/office/drawing/2014/main" id="{E0D87F55-0AEC-E3E0-4F43-7C3F512D6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053" y="3610748"/>
            <a:ext cx="2575560" cy="28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Jus Délice orange – MarchéX3">
            <a:extLst>
              <a:ext uri="{FF2B5EF4-FFF2-40B4-BE49-F238E27FC236}">
                <a16:creationId xmlns:a16="http://schemas.microsoft.com/office/drawing/2014/main" id="{99EE3950-5651-EB29-C34B-BE82BD2B0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48" y="3995915"/>
            <a:ext cx="26479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6778168-B6EB-E152-8F1C-762D1FC984FF}"/>
              </a:ext>
            </a:extLst>
          </p:cNvPr>
          <p:cNvSpPr txBox="1"/>
          <p:nvPr/>
        </p:nvSpPr>
        <p:spPr>
          <a:xfrm>
            <a:off x="914497" y="3610748"/>
            <a:ext cx="128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Lait </a:t>
            </a:r>
            <a:endParaRPr lang="fr-TN" b="1" dirty="0">
              <a:solidFill>
                <a:srgbClr val="00206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E977509-306D-11D4-AE27-5F65DDC0006E}"/>
              </a:ext>
            </a:extLst>
          </p:cNvPr>
          <p:cNvSpPr txBox="1"/>
          <p:nvPr/>
        </p:nvSpPr>
        <p:spPr>
          <a:xfrm>
            <a:off x="3503509" y="3649443"/>
            <a:ext cx="2011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Produits laitiers frais  </a:t>
            </a:r>
            <a:endParaRPr lang="fr-TN" b="1" dirty="0">
              <a:solidFill>
                <a:srgbClr val="00206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4A3C8BC-0DED-3884-3B8E-53B3C0C76EAF}"/>
              </a:ext>
            </a:extLst>
          </p:cNvPr>
          <p:cNvSpPr txBox="1"/>
          <p:nvPr/>
        </p:nvSpPr>
        <p:spPr>
          <a:xfrm>
            <a:off x="6962155" y="3605919"/>
            <a:ext cx="128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Fromage  </a:t>
            </a:r>
            <a:endParaRPr lang="fr-TN" b="1" dirty="0">
              <a:solidFill>
                <a:srgbClr val="00206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3EC2249-6968-21C0-4C08-1732FC08D5A2}"/>
              </a:ext>
            </a:extLst>
          </p:cNvPr>
          <p:cNvSpPr txBox="1"/>
          <p:nvPr/>
        </p:nvSpPr>
        <p:spPr>
          <a:xfrm>
            <a:off x="1672998" y="6280769"/>
            <a:ext cx="128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Boissons  </a:t>
            </a:r>
            <a:endParaRPr lang="fr-TN" b="1" dirty="0">
              <a:solidFill>
                <a:srgbClr val="00206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139AC0D-5323-2BB8-9CA2-6EBC4B8A4B4D}"/>
              </a:ext>
            </a:extLst>
          </p:cNvPr>
          <p:cNvSpPr txBox="1"/>
          <p:nvPr/>
        </p:nvSpPr>
        <p:spPr>
          <a:xfrm>
            <a:off x="5328733" y="6280768"/>
            <a:ext cx="1942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Eau minérale </a:t>
            </a:r>
            <a:endParaRPr lang="fr-TN" b="1" dirty="0">
              <a:solidFill>
                <a:srgbClr val="00206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8721547-EBA5-526A-0DBC-33F262786372}"/>
              </a:ext>
            </a:extLst>
          </p:cNvPr>
          <p:cNvSpPr txBox="1"/>
          <p:nvPr/>
        </p:nvSpPr>
        <p:spPr>
          <a:xfrm>
            <a:off x="5304347" y="876074"/>
            <a:ext cx="1792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002060"/>
                </a:solidFill>
              </a:rPr>
              <a:t>Plusieurs DAS </a:t>
            </a:r>
            <a:endParaRPr lang="fr-TN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75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c - La vie des entreprises - Présentation du groupe BIC">
            <a:extLst>
              <a:ext uri="{FF2B5EF4-FFF2-40B4-BE49-F238E27FC236}">
                <a16:creationId xmlns:a16="http://schemas.microsoft.com/office/drawing/2014/main" id="{AA1176FA-3372-CA13-564C-8A4E48390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712" y="132388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riquet Bic Maxi Pas Cher x50 - Briquet BIC rechargeable - MajorSmoker">
            <a:extLst>
              <a:ext uri="{FF2B5EF4-FFF2-40B4-BE49-F238E27FC236}">
                <a16:creationId xmlns:a16="http://schemas.microsoft.com/office/drawing/2014/main" id="{AB0BC384-15A9-6E03-5D4B-838020AF5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6440"/>
            <a:ext cx="2900363" cy="30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AQUET DE STYLO BLEU CRISTAL BIC AVEC LE PRIX MOINS CHER EN Tunisie">
            <a:extLst>
              <a:ext uri="{FF2B5EF4-FFF2-40B4-BE49-F238E27FC236}">
                <a16:creationId xmlns:a16="http://schemas.microsoft.com/office/drawing/2014/main" id="{6F9AC77E-30ED-4768-7A28-36B2F9A6E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638" y="2209800"/>
            <a:ext cx="2143125" cy="243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0A4290E-91B0-79BB-9862-88ED9A12BAEA}"/>
              </a:ext>
            </a:extLst>
          </p:cNvPr>
          <p:cNvSpPr txBox="1"/>
          <p:nvPr/>
        </p:nvSpPr>
        <p:spPr>
          <a:xfrm>
            <a:off x="298042" y="5105421"/>
            <a:ext cx="1899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Briquets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1698F2-2098-04E1-755D-29F27062D414}"/>
              </a:ext>
            </a:extLst>
          </p:cNvPr>
          <p:cNvSpPr txBox="1"/>
          <p:nvPr/>
        </p:nvSpPr>
        <p:spPr>
          <a:xfrm flipH="1">
            <a:off x="3916679" y="5158006"/>
            <a:ext cx="1657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b="1">
                <a:solidFill>
                  <a:srgbClr val="002060"/>
                </a:solidFill>
              </a:defRPr>
            </a:lvl1pPr>
          </a:lstStyle>
          <a:p>
            <a:r>
              <a:rPr lang="fr-FR" dirty="0"/>
              <a:t>Rasoir </a:t>
            </a:r>
            <a:endParaRPr lang="fr-TN" dirty="0"/>
          </a:p>
        </p:txBody>
      </p:sp>
      <p:pic>
        <p:nvPicPr>
          <p:cNvPr id="2058" name="Picture 10" descr="BIC Flex 3 Hybrid Rasoirs pour homme avec 4 recharges : Amazon.ca: Beauté">
            <a:extLst>
              <a:ext uri="{FF2B5EF4-FFF2-40B4-BE49-F238E27FC236}">
                <a16:creationId xmlns:a16="http://schemas.microsoft.com/office/drawing/2014/main" id="{6D623FDE-B79D-CBFB-441E-4E71BB154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08" y="1996440"/>
            <a:ext cx="2466975" cy="30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A9B40E2-6996-F662-371B-FDDD69642E57}"/>
              </a:ext>
            </a:extLst>
          </p:cNvPr>
          <p:cNvSpPr txBox="1"/>
          <p:nvPr/>
        </p:nvSpPr>
        <p:spPr>
          <a:xfrm>
            <a:off x="6788240" y="5105420"/>
            <a:ext cx="1899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Papeterie</a:t>
            </a:r>
            <a:r>
              <a:rPr lang="fr-FR" dirty="0"/>
              <a:t>  </a:t>
            </a:r>
            <a:endParaRPr lang="fr-TN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13CE81-432B-7EE6-C27E-EA5F054AC102}"/>
              </a:ext>
            </a:extLst>
          </p:cNvPr>
          <p:cNvSpPr txBox="1"/>
          <p:nvPr/>
        </p:nvSpPr>
        <p:spPr>
          <a:xfrm>
            <a:off x="5304347" y="876074"/>
            <a:ext cx="17920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002060"/>
                </a:solidFill>
              </a:rPr>
              <a:t>Plusieurs DAS </a:t>
            </a:r>
            <a:endParaRPr lang="fr-TN" sz="2000" b="1" dirty="0">
              <a:solidFill>
                <a:srgbClr val="002060"/>
              </a:solidFill>
            </a:endParaRPr>
          </a:p>
        </p:txBody>
      </p:sp>
      <p:pic>
        <p:nvPicPr>
          <p:cNvPr id="9" name="Google Shape;534;p33">
            <a:extLst>
              <a:ext uri="{FF2B5EF4-FFF2-40B4-BE49-F238E27FC236}">
                <a16:creationId xmlns:a16="http://schemas.microsoft.com/office/drawing/2014/main" id="{FED8DA05-DB40-BA1F-62FF-97BB2D0A939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45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F58CB-FD6E-81B8-E54D-6955E0C2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AutoShape 2" descr="Prix Wallyscar Iris 1.2 L neuve - 48 200 DT">
            <a:extLst>
              <a:ext uri="{FF2B5EF4-FFF2-40B4-BE49-F238E27FC236}">
                <a16:creationId xmlns:a16="http://schemas.microsoft.com/office/drawing/2014/main" id="{F42A3AA5-B250-85A5-3983-3D7AD73C95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TN"/>
          </a:p>
        </p:txBody>
      </p:sp>
      <p:pic>
        <p:nvPicPr>
          <p:cNvPr id="4102" name="Picture 6" descr="WALLYS Iris (version 5 CV)">
            <a:extLst>
              <a:ext uri="{FF2B5EF4-FFF2-40B4-BE49-F238E27FC236}">
                <a16:creationId xmlns:a16="http://schemas.microsoft.com/office/drawing/2014/main" id="{42C02399-1C61-2F7B-D7E0-2E68FB47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83787"/>
            <a:ext cx="5715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Wallyscar — Wikipédia">
            <a:extLst>
              <a:ext uri="{FF2B5EF4-FFF2-40B4-BE49-F238E27FC236}">
                <a16:creationId xmlns:a16="http://schemas.microsoft.com/office/drawing/2014/main" id="{1ECC46D8-D43A-0400-8346-FCAAC856E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848" y="1417638"/>
            <a:ext cx="3019952" cy="251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52F212E-CD5C-325B-2F70-5F73D05A020E}"/>
              </a:ext>
            </a:extLst>
          </p:cNvPr>
          <p:cNvSpPr txBox="1"/>
          <p:nvPr/>
        </p:nvSpPr>
        <p:spPr>
          <a:xfrm>
            <a:off x="2326640" y="1529495"/>
            <a:ext cx="2579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002060"/>
                </a:solidFill>
              </a:rPr>
              <a:t>Un seul DAS:</a:t>
            </a:r>
          </a:p>
          <a:p>
            <a:pPr algn="ctr"/>
            <a:r>
              <a:rPr lang="fr-FR" sz="2000" b="1" dirty="0">
                <a:solidFill>
                  <a:srgbClr val="002060"/>
                </a:solidFill>
              </a:rPr>
              <a:t> Mono activité  </a:t>
            </a:r>
            <a:endParaRPr lang="fr-TN" sz="2000" b="1" dirty="0">
              <a:solidFill>
                <a:srgbClr val="002060"/>
              </a:solidFill>
            </a:endParaRPr>
          </a:p>
        </p:txBody>
      </p:sp>
      <p:pic>
        <p:nvPicPr>
          <p:cNvPr id="7" name="Google Shape;534;p33">
            <a:extLst>
              <a:ext uri="{FF2B5EF4-FFF2-40B4-BE49-F238E27FC236}">
                <a16:creationId xmlns:a16="http://schemas.microsoft.com/office/drawing/2014/main" id="{17648CF6-3E79-CB55-FC56-5D4DEABC36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2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9;p26">
            <a:extLst>
              <a:ext uri="{FF2B5EF4-FFF2-40B4-BE49-F238E27FC236}">
                <a16:creationId xmlns:a16="http://schemas.microsoft.com/office/drawing/2014/main" id="{2253B394-AD59-2E6C-028F-F5B5684241BE}"/>
              </a:ext>
            </a:extLst>
          </p:cNvPr>
          <p:cNvSpPr/>
          <p:nvPr/>
        </p:nvSpPr>
        <p:spPr>
          <a:xfrm rot="5400000">
            <a:off x="-31494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828379-E46C-8ACE-5A71-F8642DE0AAD4}"/>
              </a:ext>
            </a:extLst>
          </p:cNvPr>
          <p:cNvSpPr txBox="1"/>
          <p:nvPr/>
        </p:nvSpPr>
        <p:spPr>
          <a:xfrm>
            <a:off x="653845" y="692249"/>
            <a:ext cx="5998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Domaine d’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ndara"/>
              </a:rPr>
              <a:t>activité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ndara"/>
              </a:rPr>
              <a:t>stratégique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 (DAS)</a:t>
            </a:r>
            <a:endParaRPr lang="fr-TN" sz="2800" dirty="0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70192701-DC45-8BC4-76F9-7D1640CBA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173640"/>
              </p:ext>
            </p:extLst>
          </p:nvPr>
        </p:nvGraphicFramePr>
        <p:xfrm>
          <a:off x="934720" y="1925320"/>
          <a:ext cx="7467601" cy="409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1351">
                  <a:extLst>
                    <a:ext uri="{9D8B030D-6E8A-4147-A177-3AD203B41FA5}">
                      <a16:colId xmlns:a16="http://schemas.microsoft.com/office/drawing/2014/main" val="3504622569"/>
                    </a:ext>
                  </a:extLst>
                </a:gridCol>
                <a:gridCol w="2453125">
                  <a:extLst>
                    <a:ext uri="{9D8B030D-6E8A-4147-A177-3AD203B41FA5}">
                      <a16:colId xmlns:a16="http://schemas.microsoft.com/office/drawing/2014/main" val="3036828846"/>
                    </a:ext>
                  </a:extLst>
                </a:gridCol>
                <a:gridCol w="2453125">
                  <a:extLst>
                    <a:ext uri="{9D8B030D-6E8A-4147-A177-3AD203B41FA5}">
                      <a16:colId xmlns:a16="http://schemas.microsoft.com/office/drawing/2014/main" val="2597421186"/>
                    </a:ext>
                  </a:extLst>
                </a:gridCol>
              </a:tblGrid>
              <a:tr h="643792">
                <a:tc>
                  <a:txBody>
                    <a:bodyPr/>
                    <a:lstStyle/>
                    <a:p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Même DAS </a:t>
                      </a:r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dirty="0"/>
                        <a:t>Plusieurs DAS </a:t>
                      </a:r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23994"/>
                  </a:ext>
                </a:extLst>
              </a:tr>
              <a:tr h="1727884">
                <a:tc>
                  <a:txBody>
                    <a:bodyPr/>
                    <a:lstStyle/>
                    <a:p>
                      <a:r>
                        <a:rPr lang="fr-FR" b="1" dirty="0"/>
                        <a:t>Critères Externes</a:t>
                      </a:r>
                      <a:r>
                        <a:rPr lang="fr-FR" dirty="0"/>
                        <a:t>: </a:t>
                      </a:r>
                    </a:p>
                    <a:p>
                      <a:r>
                        <a:rPr lang="fr-FR" dirty="0"/>
                        <a:t>Clientèle </a:t>
                      </a:r>
                    </a:p>
                    <a:p>
                      <a:r>
                        <a:rPr lang="fr-FR" dirty="0"/>
                        <a:t>Distribution </a:t>
                      </a:r>
                    </a:p>
                    <a:p>
                      <a:r>
                        <a:rPr lang="fr-FR" dirty="0"/>
                        <a:t>Concurrence </a:t>
                      </a:r>
                    </a:p>
                    <a:p>
                      <a:endParaRPr lang="fr-TN" dirty="0"/>
                    </a:p>
                  </a:txBody>
                  <a:tcPr>
                    <a:solidFill>
                      <a:srgbClr val="D5F1FB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Même marché </a:t>
                      </a:r>
                    </a:p>
                    <a:p>
                      <a:r>
                        <a:rPr lang="fr-FR" dirty="0"/>
                        <a:t>Même clients </a:t>
                      </a:r>
                    </a:p>
                    <a:p>
                      <a:r>
                        <a:rPr lang="fr-FR" dirty="0"/>
                        <a:t>Même réseau</a:t>
                      </a:r>
                    </a:p>
                    <a:p>
                      <a:r>
                        <a:rPr lang="fr-FR" dirty="0"/>
                        <a:t>Même  Concurrents</a:t>
                      </a:r>
                    </a:p>
                    <a:p>
                      <a:endParaRPr lang="fr-TN" dirty="0"/>
                    </a:p>
                  </a:txBody>
                  <a:tcPr>
                    <a:solidFill>
                      <a:srgbClr val="D5F1FB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Marchés différents </a:t>
                      </a:r>
                    </a:p>
                    <a:p>
                      <a:r>
                        <a:rPr lang="fr-FR" dirty="0"/>
                        <a:t>Clients différents </a:t>
                      </a:r>
                    </a:p>
                    <a:p>
                      <a:r>
                        <a:rPr lang="fr-FR" dirty="0"/>
                        <a:t>Réseaux différents</a:t>
                      </a:r>
                    </a:p>
                    <a:p>
                      <a:r>
                        <a:rPr lang="fr-FR" dirty="0"/>
                        <a:t>Concurrents différents </a:t>
                      </a:r>
                    </a:p>
                    <a:p>
                      <a:endParaRPr lang="fr-TN" dirty="0"/>
                    </a:p>
                  </a:txBody>
                  <a:tcPr>
                    <a:solidFill>
                      <a:srgbClr val="D5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724564"/>
                  </a:ext>
                </a:extLst>
              </a:tr>
              <a:tr h="1727884">
                <a:tc>
                  <a:txBody>
                    <a:bodyPr/>
                    <a:lstStyle/>
                    <a:p>
                      <a:r>
                        <a:rPr lang="fr-FR" b="1" dirty="0"/>
                        <a:t>Critères Internes</a:t>
                      </a:r>
                      <a:r>
                        <a:rPr lang="fr-FR" dirty="0"/>
                        <a:t>: </a:t>
                      </a:r>
                    </a:p>
                    <a:p>
                      <a:r>
                        <a:rPr lang="fr-FR" dirty="0"/>
                        <a:t>Technologies </a:t>
                      </a:r>
                    </a:p>
                    <a:p>
                      <a:r>
                        <a:rPr lang="fr-FR" dirty="0"/>
                        <a:t>Compétences </a:t>
                      </a:r>
                    </a:p>
                    <a:p>
                      <a:r>
                        <a:rPr lang="fr-FR" dirty="0"/>
                        <a:t>Structures de couts</a:t>
                      </a:r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Technologies identiques </a:t>
                      </a:r>
                    </a:p>
                    <a:p>
                      <a:r>
                        <a:rPr lang="fr-FR" dirty="0"/>
                        <a:t>Compétences identiques </a:t>
                      </a:r>
                    </a:p>
                    <a:p>
                      <a:r>
                        <a:rPr lang="fr-FR" dirty="0"/>
                        <a:t>Couts partagés </a:t>
                      </a:r>
                    </a:p>
                    <a:p>
                      <a:endParaRPr lang="fr-FR" dirty="0"/>
                    </a:p>
                    <a:p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Technologies différentes </a:t>
                      </a:r>
                    </a:p>
                    <a:p>
                      <a:r>
                        <a:rPr lang="fr-FR" dirty="0"/>
                        <a:t>Compétences différentes </a:t>
                      </a:r>
                    </a:p>
                    <a:p>
                      <a:r>
                        <a:rPr lang="fr-FR" dirty="0"/>
                        <a:t>Couts spécifiques </a:t>
                      </a:r>
                      <a:endParaRPr lang="fr-T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572592"/>
                  </a:ext>
                </a:extLst>
              </a:tr>
            </a:tbl>
          </a:graphicData>
        </a:graphic>
      </p:graphicFrame>
      <p:pic>
        <p:nvPicPr>
          <p:cNvPr id="14" name="Google Shape;534;p33">
            <a:extLst>
              <a:ext uri="{FF2B5EF4-FFF2-40B4-BE49-F238E27FC236}">
                <a16:creationId xmlns:a16="http://schemas.microsoft.com/office/drawing/2014/main" id="{5D5BD60C-67AB-4B74-FDDD-FA89645368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92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5858895" y="2946059"/>
            <a:ext cx="37350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fr-FR" b="1" dirty="0">
                <a:latin typeface="Tahoma" pitchFamily="34" charset="0"/>
                <a:cs typeface="Arial" pitchFamily="34" charset="0"/>
              </a:rPr>
              <a:t>DAS</a:t>
            </a:r>
            <a:endParaRPr lang="fr-FR" sz="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Freeform 25"/>
          <p:cNvSpPr>
            <a:spLocks noEditPoints="1"/>
          </p:cNvSpPr>
          <p:nvPr/>
        </p:nvSpPr>
        <p:spPr bwMode="auto">
          <a:xfrm>
            <a:off x="4194408" y="2821262"/>
            <a:ext cx="1526711" cy="1269567"/>
          </a:xfrm>
          <a:custGeom>
            <a:avLst/>
            <a:gdLst/>
            <a:ahLst/>
            <a:cxnLst>
              <a:cxn ang="0">
                <a:pos x="933" y="0"/>
              </a:cxn>
              <a:cxn ang="0">
                <a:pos x="820" y="0"/>
              </a:cxn>
              <a:cxn ang="0">
                <a:pos x="748" y="6"/>
              </a:cxn>
              <a:cxn ang="0">
                <a:pos x="718" y="6"/>
              </a:cxn>
              <a:cxn ang="0">
                <a:pos x="718" y="6"/>
              </a:cxn>
              <a:cxn ang="0">
                <a:pos x="646" y="0"/>
              </a:cxn>
              <a:cxn ang="0">
                <a:pos x="533" y="0"/>
              </a:cxn>
              <a:cxn ang="0">
                <a:pos x="461" y="6"/>
              </a:cxn>
              <a:cxn ang="0">
                <a:pos x="431" y="6"/>
              </a:cxn>
              <a:cxn ang="0">
                <a:pos x="431" y="6"/>
              </a:cxn>
              <a:cxn ang="0">
                <a:pos x="359" y="0"/>
              </a:cxn>
              <a:cxn ang="0">
                <a:pos x="246" y="0"/>
              </a:cxn>
              <a:cxn ang="0">
                <a:pos x="174" y="6"/>
              </a:cxn>
              <a:cxn ang="0">
                <a:pos x="144" y="6"/>
              </a:cxn>
              <a:cxn ang="0">
                <a:pos x="144" y="6"/>
              </a:cxn>
              <a:cxn ang="0">
                <a:pos x="72" y="0"/>
              </a:cxn>
              <a:cxn ang="0">
                <a:pos x="0" y="31"/>
              </a:cxn>
              <a:cxn ang="0">
                <a:pos x="10" y="75"/>
              </a:cxn>
              <a:cxn ang="0">
                <a:pos x="10" y="94"/>
              </a:cxn>
              <a:cxn ang="0">
                <a:pos x="10" y="94"/>
              </a:cxn>
              <a:cxn ang="0">
                <a:pos x="0" y="138"/>
              </a:cxn>
              <a:cxn ang="0">
                <a:pos x="0" y="208"/>
              </a:cxn>
              <a:cxn ang="0">
                <a:pos x="10" y="252"/>
              </a:cxn>
              <a:cxn ang="0">
                <a:pos x="10" y="270"/>
              </a:cxn>
              <a:cxn ang="0">
                <a:pos x="10" y="270"/>
              </a:cxn>
              <a:cxn ang="0">
                <a:pos x="0" y="315"/>
              </a:cxn>
              <a:cxn ang="0">
                <a:pos x="0" y="384"/>
              </a:cxn>
              <a:cxn ang="0">
                <a:pos x="10" y="428"/>
              </a:cxn>
              <a:cxn ang="0">
                <a:pos x="10" y="447"/>
              </a:cxn>
              <a:cxn ang="0">
                <a:pos x="10" y="447"/>
              </a:cxn>
              <a:cxn ang="0">
                <a:pos x="0" y="491"/>
              </a:cxn>
              <a:cxn ang="0">
                <a:pos x="60" y="529"/>
              </a:cxn>
              <a:cxn ang="0">
                <a:pos x="132" y="523"/>
              </a:cxn>
              <a:cxn ang="0">
                <a:pos x="162" y="523"/>
              </a:cxn>
              <a:cxn ang="0">
                <a:pos x="162" y="523"/>
              </a:cxn>
              <a:cxn ang="0">
                <a:pos x="234" y="529"/>
              </a:cxn>
              <a:cxn ang="0">
                <a:pos x="347" y="529"/>
              </a:cxn>
              <a:cxn ang="0">
                <a:pos x="419" y="523"/>
              </a:cxn>
              <a:cxn ang="0">
                <a:pos x="450" y="523"/>
              </a:cxn>
              <a:cxn ang="0">
                <a:pos x="450" y="523"/>
              </a:cxn>
              <a:cxn ang="0">
                <a:pos x="521" y="529"/>
              </a:cxn>
              <a:cxn ang="0">
                <a:pos x="634" y="529"/>
              </a:cxn>
              <a:cxn ang="0">
                <a:pos x="706" y="523"/>
              </a:cxn>
              <a:cxn ang="0">
                <a:pos x="737" y="523"/>
              </a:cxn>
              <a:cxn ang="0">
                <a:pos x="737" y="523"/>
              </a:cxn>
              <a:cxn ang="0">
                <a:pos x="808" y="529"/>
              </a:cxn>
              <a:cxn ang="0">
                <a:pos x="921" y="529"/>
              </a:cxn>
              <a:cxn ang="0">
                <a:pos x="928" y="490"/>
              </a:cxn>
              <a:cxn ang="0">
                <a:pos x="928" y="471"/>
              </a:cxn>
              <a:cxn ang="0">
                <a:pos x="928" y="471"/>
              </a:cxn>
              <a:cxn ang="0">
                <a:pos x="938" y="427"/>
              </a:cxn>
              <a:cxn ang="0">
                <a:pos x="938" y="358"/>
              </a:cxn>
              <a:cxn ang="0">
                <a:pos x="928" y="314"/>
              </a:cxn>
              <a:cxn ang="0">
                <a:pos x="928" y="295"/>
              </a:cxn>
              <a:cxn ang="0">
                <a:pos x="928" y="295"/>
              </a:cxn>
              <a:cxn ang="0">
                <a:pos x="938" y="251"/>
              </a:cxn>
              <a:cxn ang="0">
                <a:pos x="938" y="181"/>
              </a:cxn>
              <a:cxn ang="0">
                <a:pos x="928" y="137"/>
              </a:cxn>
              <a:cxn ang="0">
                <a:pos x="928" y="118"/>
              </a:cxn>
              <a:cxn ang="0">
                <a:pos x="928" y="118"/>
              </a:cxn>
              <a:cxn ang="0">
                <a:pos x="938" y="74"/>
              </a:cxn>
              <a:cxn ang="0">
                <a:pos x="938" y="5"/>
              </a:cxn>
            </a:cxnLst>
            <a:rect l="0" t="0" r="r" b="b"/>
            <a:pathLst>
              <a:path w="938" h="529">
                <a:moveTo>
                  <a:pt x="933" y="6"/>
                </a:moveTo>
                <a:lnTo>
                  <a:pt x="892" y="6"/>
                </a:lnTo>
                <a:lnTo>
                  <a:pt x="892" y="0"/>
                </a:lnTo>
                <a:lnTo>
                  <a:pt x="933" y="0"/>
                </a:lnTo>
                <a:lnTo>
                  <a:pt x="933" y="6"/>
                </a:lnTo>
                <a:close/>
                <a:moveTo>
                  <a:pt x="861" y="6"/>
                </a:moveTo>
                <a:lnTo>
                  <a:pt x="820" y="6"/>
                </a:lnTo>
                <a:lnTo>
                  <a:pt x="820" y="0"/>
                </a:lnTo>
                <a:lnTo>
                  <a:pt x="861" y="0"/>
                </a:lnTo>
                <a:lnTo>
                  <a:pt x="861" y="6"/>
                </a:lnTo>
                <a:close/>
                <a:moveTo>
                  <a:pt x="789" y="6"/>
                </a:moveTo>
                <a:lnTo>
                  <a:pt x="748" y="6"/>
                </a:lnTo>
                <a:lnTo>
                  <a:pt x="748" y="0"/>
                </a:lnTo>
                <a:lnTo>
                  <a:pt x="789" y="0"/>
                </a:lnTo>
                <a:lnTo>
                  <a:pt x="789" y="6"/>
                </a:lnTo>
                <a:close/>
                <a:moveTo>
                  <a:pt x="718" y="6"/>
                </a:moveTo>
                <a:lnTo>
                  <a:pt x="677" y="6"/>
                </a:lnTo>
                <a:lnTo>
                  <a:pt x="677" y="0"/>
                </a:lnTo>
                <a:lnTo>
                  <a:pt x="718" y="0"/>
                </a:lnTo>
                <a:lnTo>
                  <a:pt x="718" y="6"/>
                </a:lnTo>
                <a:close/>
                <a:moveTo>
                  <a:pt x="646" y="6"/>
                </a:moveTo>
                <a:lnTo>
                  <a:pt x="605" y="6"/>
                </a:lnTo>
                <a:lnTo>
                  <a:pt x="605" y="0"/>
                </a:lnTo>
                <a:lnTo>
                  <a:pt x="646" y="0"/>
                </a:lnTo>
                <a:lnTo>
                  <a:pt x="646" y="6"/>
                </a:lnTo>
                <a:close/>
                <a:moveTo>
                  <a:pt x="574" y="6"/>
                </a:moveTo>
                <a:lnTo>
                  <a:pt x="533" y="6"/>
                </a:lnTo>
                <a:lnTo>
                  <a:pt x="533" y="0"/>
                </a:lnTo>
                <a:lnTo>
                  <a:pt x="574" y="0"/>
                </a:lnTo>
                <a:lnTo>
                  <a:pt x="574" y="6"/>
                </a:lnTo>
                <a:close/>
                <a:moveTo>
                  <a:pt x="502" y="6"/>
                </a:moveTo>
                <a:lnTo>
                  <a:pt x="461" y="6"/>
                </a:lnTo>
                <a:lnTo>
                  <a:pt x="461" y="0"/>
                </a:lnTo>
                <a:lnTo>
                  <a:pt x="502" y="0"/>
                </a:lnTo>
                <a:lnTo>
                  <a:pt x="502" y="6"/>
                </a:lnTo>
                <a:close/>
                <a:moveTo>
                  <a:pt x="431" y="6"/>
                </a:moveTo>
                <a:lnTo>
                  <a:pt x="390" y="6"/>
                </a:lnTo>
                <a:lnTo>
                  <a:pt x="390" y="0"/>
                </a:lnTo>
                <a:lnTo>
                  <a:pt x="431" y="0"/>
                </a:lnTo>
                <a:lnTo>
                  <a:pt x="431" y="6"/>
                </a:lnTo>
                <a:close/>
                <a:moveTo>
                  <a:pt x="359" y="6"/>
                </a:moveTo>
                <a:lnTo>
                  <a:pt x="318" y="6"/>
                </a:lnTo>
                <a:lnTo>
                  <a:pt x="318" y="0"/>
                </a:lnTo>
                <a:lnTo>
                  <a:pt x="359" y="0"/>
                </a:lnTo>
                <a:lnTo>
                  <a:pt x="359" y="6"/>
                </a:lnTo>
                <a:close/>
                <a:moveTo>
                  <a:pt x="287" y="6"/>
                </a:moveTo>
                <a:lnTo>
                  <a:pt x="246" y="6"/>
                </a:lnTo>
                <a:lnTo>
                  <a:pt x="246" y="0"/>
                </a:lnTo>
                <a:lnTo>
                  <a:pt x="287" y="0"/>
                </a:lnTo>
                <a:lnTo>
                  <a:pt x="287" y="6"/>
                </a:lnTo>
                <a:close/>
                <a:moveTo>
                  <a:pt x="215" y="6"/>
                </a:moveTo>
                <a:lnTo>
                  <a:pt x="174" y="6"/>
                </a:lnTo>
                <a:lnTo>
                  <a:pt x="174" y="0"/>
                </a:lnTo>
                <a:lnTo>
                  <a:pt x="215" y="0"/>
                </a:lnTo>
                <a:lnTo>
                  <a:pt x="215" y="6"/>
                </a:lnTo>
                <a:close/>
                <a:moveTo>
                  <a:pt x="144" y="6"/>
                </a:moveTo>
                <a:lnTo>
                  <a:pt x="103" y="6"/>
                </a:lnTo>
                <a:lnTo>
                  <a:pt x="103" y="0"/>
                </a:lnTo>
                <a:lnTo>
                  <a:pt x="144" y="0"/>
                </a:lnTo>
                <a:lnTo>
                  <a:pt x="144" y="6"/>
                </a:lnTo>
                <a:close/>
                <a:moveTo>
                  <a:pt x="72" y="6"/>
                </a:moveTo>
                <a:lnTo>
                  <a:pt x="31" y="6"/>
                </a:lnTo>
                <a:lnTo>
                  <a:pt x="31" y="0"/>
                </a:lnTo>
                <a:lnTo>
                  <a:pt x="72" y="0"/>
                </a:lnTo>
                <a:lnTo>
                  <a:pt x="72" y="6"/>
                </a:lnTo>
                <a:close/>
                <a:moveTo>
                  <a:pt x="10" y="6"/>
                </a:moveTo>
                <a:lnTo>
                  <a:pt x="10" y="31"/>
                </a:lnTo>
                <a:lnTo>
                  <a:pt x="0" y="31"/>
                </a:lnTo>
                <a:lnTo>
                  <a:pt x="0" y="6"/>
                </a:lnTo>
                <a:lnTo>
                  <a:pt x="10" y="6"/>
                </a:lnTo>
                <a:close/>
                <a:moveTo>
                  <a:pt x="10" y="50"/>
                </a:moveTo>
                <a:lnTo>
                  <a:pt x="10" y="75"/>
                </a:lnTo>
                <a:lnTo>
                  <a:pt x="0" y="75"/>
                </a:lnTo>
                <a:lnTo>
                  <a:pt x="0" y="50"/>
                </a:lnTo>
                <a:lnTo>
                  <a:pt x="10" y="50"/>
                </a:lnTo>
                <a:close/>
                <a:moveTo>
                  <a:pt x="10" y="94"/>
                </a:moveTo>
                <a:lnTo>
                  <a:pt x="10" y="119"/>
                </a:lnTo>
                <a:lnTo>
                  <a:pt x="0" y="119"/>
                </a:lnTo>
                <a:lnTo>
                  <a:pt x="0" y="94"/>
                </a:lnTo>
                <a:lnTo>
                  <a:pt x="10" y="94"/>
                </a:lnTo>
                <a:close/>
                <a:moveTo>
                  <a:pt x="10" y="138"/>
                </a:moveTo>
                <a:lnTo>
                  <a:pt x="10" y="164"/>
                </a:lnTo>
                <a:lnTo>
                  <a:pt x="0" y="164"/>
                </a:lnTo>
                <a:lnTo>
                  <a:pt x="0" y="138"/>
                </a:lnTo>
                <a:lnTo>
                  <a:pt x="10" y="138"/>
                </a:lnTo>
                <a:close/>
                <a:moveTo>
                  <a:pt x="10" y="182"/>
                </a:moveTo>
                <a:lnTo>
                  <a:pt x="10" y="208"/>
                </a:lnTo>
                <a:lnTo>
                  <a:pt x="0" y="208"/>
                </a:lnTo>
                <a:lnTo>
                  <a:pt x="0" y="182"/>
                </a:lnTo>
                <a:lnTo>
                  <a:pt x="10" y="182"/>
                </a:lnTo>
                <a:close/>
                <a:moveTo>
                  <a:pt x="10" y="226"/>
                </a:moveTo>
                <a:lnTo>
                  <a:pt x="10" y="252"/>
                </a:lnTo>
                <a:lnTo>
                  <a:pt x="0" y="252"/>
                </a:lnTo>
                <a:lnTo>
                  <a:pt x="0" y="226"/>
                </a:lnTo>
                <a:lnTo>
                  <a:pt x="10" y="226"/>
                </a:lnTo>
                <a:close/>
                <a:moveTo>
                  <a:pt x="10" y="270"/>
                </a:moveTo>
                <a:lnTo>
                  <a:pt x="10" y="296"/>
                </a:lnTo>
                <a:lnTo>
                  <a:pt x="0" y="296"/>
                </a:lnTo>
                <a:lnTo>
                  <a:pt x="0" y="270"/>
                </a:lnTo>
                <a:lnTo>
                  <a:pt x="10" y="270"/>
                </a:lnTo>
                <a:close/>
                <a:moveTo>
                  <a:pt x="10" y="315"/>
                </a:moveTo>
                <a:lnTo>
                  <a:pt x="10" y="340"/>
                </a:lnTo>
                <a:lnTo>
                  <a:pt x="0" y="340"/>
                </a:lnTo>
                <a:lnTo>
                  <a:pt x="0" y="315"/>
                </a:lnTo>
                <a:lnTo>
                  <a:pt x="10" y="315"/>
                </a:lnTo>
                <a:close/>
                <a:moveTo>
                  <a:pt x="10" y="359"/>
                </a:moveTo>
                <a:lnTo>
                  <a:pt x="10" y="384"/>
                </a:lnTo>
                <a:lnTo>
                  <a:pt x="0" y="384"/>
                </a:lnTo>
                <a:lnTo>
                  <a:pt x="0" y="359"/>
                </a:lnTo>
                <a:lnTo>
                  <a:pt x="10" y="359"/>
                </a:lnTo>
                <a:close/>
                <a:moveTo>
                  <a:pt x="10" y="403"/>
                </a:moveTo>
                <a:lnTo>
                  <a:pt x="10" y="428"/>
                </a:lnTo>
                <a:lnTo>
                  <a:pt x="0" y="428"/>
                </a:lnTo>
                <a:lnTo>
                  <a:pt x="0" y="403"/>
                </a:lnTo>
                <a:lnTo>
                  <a:pt x="10" y="403"/>
                </a:lnTo>
                <a:close/>
                <a:moveTo>
                  <a:pt x="10" y="447"/>
                </a:moveTo>
                <a:lnTo>
                  <a:pt x="10" y="472"/>
                </a:lnTo>
                <a:lnTo>
                  <a:pt x="0" y="472"/>
                </a:lnTo>
                <a:lnTo>
                  <a:pt x="0" y="447"/>
                </a:lnTo>
                <a:lnTo>
                  <a:pt x="10" y="447"/>
                </a:lnTo>
                <a:close/>
                <a:moveTo>
                  <a:pt x="10" y="491"/>
                </a:moveTo>
                <a:lnTo>
                  <a:pt x="10" y="516"/>
                </a:lnTo>
                <a:lnTo>
                  <a:pt x="0" y="516"/>
                </a:lnTo>
                <a:lnTo>
                  <a:pt x="0" y="491"/>
                </a:lnTo>
                <a:lnTo>
                  <a:pt x="10" y="491"/>
                </a:lnTo>
                <a:close/>
                <a:moveTo>
                  <a:pt x="19" y="523"/>
                </a:moveTo>
                <a:lnTo>
                  <a:pt x="60" y="523"/>
                </a:lnTo>
                <a:lnTo>
                  <a:pt x="60" y="529"/>
                </a:lnTo>
                <a:lnTo>
                  <a:pt x="19" y="529"/>
                </a:lnTo>
                <a:lnTo>
                  <a:pt x="19" y="523"/>
                </a:lnTo>
                <a:close/>
                <a:moveTo>
                  <a:pt x="91" y="523"/>
                </a:moveTo>
                <a:lnTo>
                  <a:pt x="132" y="523"/>
                </a:lnTo>
                <a:lnTo>
                  <a:pt x="132" y="529"/>
                </a:lnTo>
                <a:lnTo>
                  <a:pt x="91" y="529"/>
                </a:lnTo>
                <a:lnTo>
                  <a:pt x="91" y="523"/>
                </a:lnTo>
                <a:close/>
                <a:moveTo>
                  <a:pt x="162" y="523"/>
                </a:moveTo>
                <a:lnTo>
                  <a:pt x="203" y="523"/>
                </a:lnTo>
                <a:lnTo>
                  <a:pt x="203" y="529"/>
                </a:lnTo>
                <a:lnTo>
                  <a:pt x="162" y="529"/>
                </a:lnTo>
                <a:lnTo>
                  <a:pt x="162" y="523"/>
                </a:lnTo>
                <a:close/>
                <a:moveTo>
                  <a:pt x="234" y="523"/>
                </a:moveTo>
                <a:lnTo>
                  <a:pt x="275" y="523"/>
                </a:lnTo>
                <a:lnTo>
                  <a:pt x="275" y="529"/>
                </a:lnTo>
                <a:lnTo>
                  <a:pt x="234" y="529"/>
                </a:lnTo>
                <a:lnTo>
                  <a:pt x="234" y="523"/>
                </a:lnTo>
                <a:close/>
                <a:moveTo>
                  <a:pt x="306" y="523"/>
                </a:moveTo>
                <a:lnTo>
                  <a:pt x="347" y="523"/>
                </a:lnTo>
                <a:lnTo>
                  <a:pt x="347" y="529"/>
                </a:lnTo>
                <a:lnTo>
                  <a:pt x="306" y="529"/>
                </a:lnTo>
                <a:lnTo>
                  <a:pt x="306" y="523"/>
                </a:lnTo>
                <a:close/>
                <a:moveTo>
                  <a:pt x="378" y="523"/>
                </a:moveTo>
                <a:lnTo>
                  <a:pt x="419" y="523"/>
                </a:lnTo>
                <a:lnTo>
                  <a:pt x="419" y="529"/>
                </a:lnTo>
                <a:lnTo>
                  <a:pt x="378" y="529"/>
                </a:lnTo>
                <a:lnTo>
                  <a:pt x="378" y="523"/>
                </a:lnTo>
                <a:close/>
                <a:moveTo>
                  <a:pt x="450" y="523"/>
                </a:moveTo>
                <a:lnTo>
                  <a:pt x="491" y="523"/>
                </a:lnTo>
                <a:lnTo>
                  <a:pt x="491" y="529"/>
                </a:lnTo>
                <a:lnTo>
                  <a:pt x="450" y="529"/>
                </a:lnTo>
                <a:lnTo>
                  <a:pt x="450" y="523"/>
                </a:lnTo>
                <a:close/>
                <a:moveTo>
                  <a:pt x="521" y="523"/>
                </a:moveTo>
                <a:lnTo>
                  <a:pt x="562" y="523"/>
                </a:lnTo>
                <a:lnTo>
                  <a:pt x="562" y="529"/>
                </a:lnTo>
                <a:lnTo>
                  <a:pt x="521" y="529"/>
                </a:lnTo>
                <a:lnTo>
                  <a:pt x="521" y="523"/>
                </a:lnTo>
                <a:close/>
                <a:moveTo>
                  <a:pt x="593" y="523"/>
                </a:moveTo>
                <a:lnTo>
                  <a:pt x="634" y="523"/>
                </a:lnTo>
                <a:lnTo>
                  <a:pt x="634" y="529"/>
                </a:lnTo>
                <a:lnTo>
                  <a:pt x="593" y="529"/>
                </a:lnTo>
                <a:lnTo>
                  <a:pt x="593" y="523"/>
                </a:lnTo>
                <a:close/>
                <a:moveTo>
                  <a:pt x="665" y="523"/>
                </a:moveTo>
                <a:lnTo>
                  <a:pt x="706" y="523"/>
                </a:lnTo>
                <a:lnTo>
                  <a:pt x="706" y="529"/>
                </a:lnTo>
                <a:lnTo>
                  <a:pt x="665" y="529"/>
                </a:lnTo>
                <a:lnTo>
                  <a:pt x="665" y="523"/>
                </a:lnTo>
                <a:close/>
                <a:moveTo>
                  <a:pt x="737" y="523"/>
                </a:moveTo>
                <a:lnTo>
                  <a:pt x="778" y="523"/>
                </a:lnTo>
                <a:lnTo>
                  <a:pt x="778" y="529"/>
                </a:lnTo>
                <a:lnTo>
                  <a:pt x="737" y="529"/>
                </a:lnTo>
                <a:lnTo>
                  <a:pt x="737" y="523"/>
                </a:lnTo>
                <a:close/>
                <a:moveTo>
                  <a:pt x="808" y="523"/>
                </a:moveTo>
                <a:lnTo>
                  <a:pt x="849" y="523"/>
                </a:lnTo>
                <a:lnTo>
                  <a:pt x="849" y="529"/>
                </a:lnTo>
                <a:lnTo>
                  <a:pt x="808" y="529"/>
                </a:lnTo>
                <a:lnTo>
                  <a:pt x="808" y="523"/>
                </a:lnTo>
                <a:close/>
                <a:moveTo>
                  <a:pt x="880" y="523"/>
                </a:moveTo>
                <a:lnTo>
                  <a:pt x="921" y="523"/>
                </a:lnTo>
                <a:lnTo>
                  <a:pt x="921" y="529"/>
                </a:lnTo>
                <a:lnTo>
                  <a:pt x="880" y="529"/>
                </a:lnTo>
                <a:lnTo>
                  <a:pt x="880" y="523"/>
                </a:lnTo>
                <a:close/>
                <a:moveTo>
                  <a:pt x="928" y="515"/>
                </a:moveTo>
                <a:lnTo>
                  <a:pt x="928" y="490"/>
                </a:lnTo>
                <a:lnTo>
                  <a:pt x="938" y="490"/>
                </a:lnTo>
                <a:lnTo>
                  <a:pt x="938" y="515"/>
                </a:lnTo>
                <a:lnTo>
                  <a:pt x="928" y="515"/>
                </a:lnTo>
                <a:close/>
                <a:moveTo>
                  <a:pt x="928" y="471"/>
                </a:moveTo>
                <a:lnTo>
                  <a:pt x="928" y="446"/>
                </a:lnTo>
                <a:lnTo>
                  <a:pt x="938" y="446"/>
                </a:lnTo>
                <a:lnTo>
                  <a:pt x="938" y="471"/>
                </a:lnTo>
                <a:lnTo>
                  <a:pt x="928" y="471"/>
                </a:lnTo>
                <a:close/>
                <a:moveTo>
                  <a:pt x="928" y="427"/>
                </a:moveTo>
                <a:lnTo>
                  <a:pt x="928" y="402"/>
                </a:lnTo>
                <a:lnTo>
                  <a:pt x="938" y="402"/>
                </a:lnTo>
                <a:lnTo>
                  <a:pt x="938" y="427"/>
                </a:lnTo>
                <a:lnTo>
                  <a:pt x="928" y="427"/>
                </a:lnTo>
                <a:close/>
                <a:moveTo>
                  <a:pt x="928" y="383"/>
                </a:moveTo>
                <a:lnTo>
                  <a:pt x="928" y="358"/>
                </a:lnTo>
                <a:lnTo>
                  <a:pt x="938" y="358"/>
                </a:lnTo>
                <a:lnTo>
                  <a:pt x="938" y="383"/>
                </a:lnTo>
                <a:lnTo>
                  <a:pt x="928" y="383"/>
                </a:lnTo>
                <a:close/>
                <a:moveTo>
                  <a:pt x="928" y="339"/>
                </a:moveTo>
                <a:lnTo>
                  <a:pt x="928" y="314"/>
                </a:lnTo>
                <a:lnTo>
                  <a:pt x="938" y="314"/>
                </a:lnTo>
                <a:lnTo>
                  <a:pt x="938" y="339"/>
                </a:lnTo>
                <a:lnTo>
                  <a:pt x="928" y="339"/>
                </a:lnTo>
                <a:close/>
                <a:moveTo>
                  <a:pt x="928" y="295"/>
                </a:moveTo>
                <a:lnTo>
                  <a:pt x="928" y="269"/>
                </a:lnTo>
                <a:lnTo>
                  <a:pt x="938" y="269"/>
                </a:lnTo>
                <a:lnTo>
                  <a:pt x="938" y="295"/>
                </a:lnTo>
                <a:lnTo>
                  <a:pt x="928" y="295"/>
                </a:lnTo>
                <a:close/>
                <a:moveTo>
                  <a:pt x="928" y="251"/>
                </a:moveTo>
                <a:lnTo>
                  <a:pt x="928" y="225"/>
                </a:lnTo>
                <a:lnTo>
                  <a:pt x="938" y="225"/>
                </a:lnTo>
                <a:lnTo>
                  <a:pt x="938" y="251"/>
                </a:lnTo>
                <a:lnTo>
                  <a:pt x="928" y="251"/>
                </a:lnTo>
                <a:close/>
                <a:moveTo>
                  <a:pt x="928" y="207"/>
                </a:moveTo>
                <a:lnTo>
                  <a:pt x="928" y="181"/>
                </a:lnTo>
                <a:lnTo>
                  <a:pt x="938" y="181"/>
                </a:lnTo>
                <a:lnTo>
                  <a:pt x="938" y="207"/>
                </a:lnTo>
                <a:lnTo>
                  <a:pt x="928" y="207"/>
                </a:lnTo>
                <a:close/>
                <a:moveTo>
                  <a:pt x="928" y="163"/>
                </a:moveTo>
                <a:lnTo>
                  <a:pt x="928" y="137"/>
                </a:lnTo>
                <a:lnTo>
                  <a:pt x="938" y="137"/>
                </a:lnTo>
                <a:lnTo>
                  <a:pt x="938" y="163"/>
                </a:lnTo>
                <a:lnTo>
                  <a:pt x="928" y="163"/>
                </a:lnTo>
                <a:close/>
                <a:moveTo>
                  <a:pt x="928" y="118"/>
                </a:moveTo>
                <a:lnTo>
                  <a:pt x="928" y="93"/>
                </a:lnTo>
                <a:lnTo>
                  <a:pt x="938" y="93"/>
                </a:lnTo>
                <a:lnTo>
                  <a:pt x="938" y="118"/>
                </a:lnTo>
                <a:lnTo>
                  <a:pt x="928" y="118"/>
                </a:lnTo>
                <a:close/>
                <a:moveTo>
                  <a:pt x="928" y="74"/>
                </a:moveTo>
                <a:lnTo>
                  <a:pt x="928" y="49"/>
                </a:lnTo>
                <a:lnTo>
                  <a:pt x="938" y="49"/>
                </a:lnTo>
                <a:lnTo>
                  <a:pt x="938" y="74"/>
                </a:lnTo>
                <a:lnTo>
                  <a:pt x="928" y="74"/>
                </a:lnTo>
                <a:close/>
                <a:moveTo>
                  <a:pt x="928" y="30"/>
                </a:moveTo>
                <a:lnTo>
                  <a:pt x="928" y="5"/>
                </a:lnTo>
                <a:lnTo>
                  <a:pt x="938" y="5"/>
                </a:lnTo>
                <a:lnTo>
                  <a:pt x="938" y="30"/>
                </a:lnTo>
                <a:lnTo>
                  <a:pt x="928" y="30"/>
                </a:lnTo>
                <a:close/>
              </a:path>
            </a:pathLst>
          </a:custGeom>
          <a:solidFill>
            <a:srgbClr val="FF0000"/>
          </a:solidFill>
          <a:ln w="3175" cap="flat">
            <a:solidFill>
              <a:srgbClr val="0099FF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2" name="Freeform 26"/>
          <p:cNvSpPr>
            <a:spLocks noEditPoints="1"/>
          </p:cNvSpPr>
          <p:nvPr/>
        </p:nvSpPr>
        <p:spPr bwMode="auto">
          <a:xfrm>
            <a:off x="4122220" y="2485271"/>
            <a:ext cx="133465" cy="1605558"/>
          </a:xfrm>
          <a:custGeom>
            <a:avLst/>
            <a:gdLst/>
            <a:ahLst/>
            <a:cxnLst>
              <a:cxn ang="0">
                <a:pos x="84" y="2646"/>
              </a:cxn>
              <a:cxn ang="0">
                <a:pos x="84" y="166"/>
              </a:cxn>
              <a:cxn ang="0">
                <a:pos x="100" y="150"/>
              </a:cxn>
              <a:cxn ang="0">
                <a:pos x="117" y="166"/>
              </a:cxn>
              <a:cxn ang="0">
                <a:pos x="117" y="2646"/>
              </a:cxn>
              <a:cxn ang="0">
                <a:pos x="100" y="2662"/>
              </a:cxn>
              <a:cxn ang="0">
                <a:pos x="84" y="2646"/>
              </a:cxn>
              <a:cxn ang="0">
                <a:pos x="0" y="200"/>
              </a:cxn>
              <a:cxn ang="0">
                <a:pos x="100" y="0"/>
              </a:cxn>
              <a:cxn ang="0">
                <a:pos x="200" y="200"/>
              </a:cxn>
              <a:cxn ang="0">
                <a:pos x="0" y="200"/>
              </a:cxn>
            </a:cxnLst>
            <a:rect l="0" t="0" r="r" b="b"/>
            <a:pathLst>
              <a:path w="200" h="2662">
                <a:moveTo>
                  <a:pt x="84" y="2646"/>
                </a:moveTo>
                <a:lnTo>
                  <a:pt x="84" y="166"/>
                </a:lnTo>
                <a:cubicBezTo>
                  <a:pt x="84" y="157"/>
                  <a:pt x="91" y="150"/>
                  <a:pt x="100" y="150"/>
                </a:cubicBezTo>
                <a:cubicBezTo>
                  <a:pt x="110" y="150"/>
                  <a:pt x="117" y="157"/>
                  <a:pt x="117" y="166"/>
                </a:cubicBezTo>
                <a:lnTo>
                  <a:pt x="117" y="2646"/>
                </a:lnTo>
                <a:cubicBezTo>
                  <a:pt x="117" y="2655"/>
                  <a:pt x="110" y="2662"/>
                  <a:pt x="100" y="2662"/>
                </a:cubicBezTo>
                <a:cubicBezTo>
                  <a:pt x="91" y="2662"/>
                  <a:pt x="84" y="2655"/>
                  <a:pt x="84" y="2646"/>
                </a:cubicBezTo>
                <a:close/>
                <a:moveTo>
                  <a:pt x="0" y="200"/>
                </a:moveTo>
                <a:lnTo>
                  <a:pt x="100" y="0"/>
                </a:lnTo>
                <a:lnTo>
                  <a:pt x="200" y="200"/>
                </a:lnTo>
                <a:lnTo>
                  <a:pt x="0" y="200"/>
                </a:ln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accent1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3" name="Freeform 27"/>
          <p:cNvSpPr>
            <a:spLocks noEditPoints="1"/>
          </p:cNvSpPr>
          <p:nvPr/>
        </p:nvSpPr>
        <p:spPr bwMode="auto">
          <a:xfrm>
            <a:off x="2929173" y="4071631"/>
            <a:ext cx="1274429" cy="1151970"/>
          </a:xfrm>
          <a:custGeom>
            <a:avLst/>
            <a:gdLst/>
            <a:ahLst/>
            <a:cxnLst>
              <a:cxn ang="0">
                <a:pos x="1903" y="30"/>
              </a:cxn>
              <a:cxn ang="0">
                <a:pos x="130" y="1804"/>
              </a:cxn>
              <a:cxn ang="0">
                <a:pos x="106" y="1804"/>
              </a:cxn>
              <a:cxn ang="0">
                <a:pos x="106" y="1781"/>
              </a:cxn>
              <a:cxn ang="0">
                <a:pos x="1880" y="7"/>
              </a:cxn>
              <a:cxn ang="0">
                <a:pos x="1903" y="7"/>
              </a:cxn>
              <a:cxn ang="0">
                <a:pos x="1903" y="30"/>
              </a:cxn>
              <a:cxn ang="0">
                <a:pos x="212" y="1840"/>
              </a:cxn>
              <a:cxn ang="0">
                <a:pos x="0" y="1910"/>
              </a:cxn>
              <a:cxn ang="0">
                <a:pos x="71" y="1698"/>
              </a:cxn>
              <a:cxn ang="0">
                <a:pos x="212" y="1840"/>
              </a:cxn>
            </a:cxnLst>
            <a:rect l="0" t="0" r="r" b="b"/>
            <a:pathLst>
              <a:path w="1910" h="1910">
                <a:moveTo>
                  <a:pt x="1903" y="30"/>
                </a:moveTo>
                <a:lnTo>
                  <a:pt x="130" y="1804"/>
                </a:lnTo>
                <a:cubicBezTo>
                  <a:pt x="123" y="1811"/>
                  <a:pt x="113" y="1811"/>
                  <a:pt x="106" y="1804"/>
                </a:cubicBezTo>
                <a:cubicBezTo>
                  <a:pt x="100" y="1798"/>
                  <a:pt x="100" y="1787"/>
                  <a:pt x="106" y="1781"/>
                </a:cubicBezTo>
                <a:lnTo>
                  <a:pt x="1880" y="7"/>
                </a:lnTo>
                <a:cubicBezTo>
                  <a:pt x="1886" y="0"/>
                  <a:pt x="1897" y="0"/>
                  <a:pt x="1903" y="7"/>
                </a:cubicBezTo>
                <a:cubicBezTo>
                  <a:pt x="1910" y="13"/>
                  <a:pt x="1910" y="24"/>
                  <a:pt x="1903" y="30"/>
                </a:cubicBezTo>
                <a:close/>
                <a:moveTo>
                  <a:pt x="212" y="1840"/>
                </a:moveTo>
                <a:lnTo>
                  <a:pt x="0" y="1910"/>
                </a:lnTo>
                <a:lnTo>
                  <a:pt x="71" y="1698"/>
                </a:lnTo>
                <a:lnTo>
                  <a:pt x="212" y="1840"/>
                </a:ln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accent1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4" name="Freeform 28"/>
          <p:cNvSpPr>
            <a:spLocks noEditPoints="1"/>
          </p:cNvSpPr>
          <p:nvPr/>
        </p:nvSpPr>
        <p:spPr bwMode="auto">
          <a:xfrm>
            <a:off x="3554180" y="3390048"/>
            <a:ext cx="1526711" cy="1271967"/>
          </a:xfrm>
          <a:custGeom>
            <a:avLst/>
            <a:gdLst/>
            <a:ahLst/>
            <a:cxnLst>
              <a:cxn ang="0">
                <a:pos x="933" y="0"/>
              </a:cxn>
              <a:cxn ang="0">
                <a:pos x="820" y="0"/>
              </a:cxn>
              <a:cxn ang="0">
                <a:pos x="749" y="6"/>
              </a:cxn>
              <a:cxn ang="0">
                <a:pos x="718" y="6"/>
              </a:cxn>
              <a:cxn ang="0">
                <a:pos x="718" y="6"/>
              </a:cxn>
              <a:cxn ang="0">
                <a:pos x="646" y="0"/>
              </a:cxn>
              <a:cxn ang="0">
                <a:pos x="533" y="0"/>
              </a:cxn>
              <a:cxn ang="0">
                <a:pos x="462" y="6"/>
              </a:cxn>
              <a:cxn ang="0">
                <a:pos x="431" y="6"/>
              </a:cxn>
              <a:cxn ang="0">
                <a:pos x="431" y="6"/>
              </a:cxn>
              <a:cxn ang="0">
                <a:pos x="359" y="0"/>
              </a:cxn>
              <a:cxn ang="0">
                <a:pos x="246" y="0"/>
              </a:cxn>
              <a:cxn ang="0">
                <a:pos x="174" y="6"/>
              </a:cxn>
              <a:cxn ang="0">
                <a:pos x="144" y="6"/>
              </a:cxn>
              <a:cxn ang="0">
                <a:pos x="144" y="6"/>
              </a:cxn>
              <a:cxn ang="0">
                <a:pos x="72" y="0"/>
              </a:cxn>
              <a:cxn ang="0">
                <a:pos x="0" y="31"/>
              </a:cxn>
              <a:cxn ang="0">
                <a:pos x="10" y="76"/>
              </a:cxn>
              <a:cxn ang="0">
                <a:pos x="10" y="94"/>
              </a:cxn>
              <a:cxn ang="0">
                <a:pos x="10" y="94"/>
              </a:cxn>
              <a:cxn ang="0">
                <a:pos x="0" y="138"/>
              </a:cxn>
              <a:cxn ang="0">
                <a:pos x="0" y="208"/>
              </a:cxn>
              <a:cxn ang="0">
                <a:pos x="10" y="252"/>
              </a:cxn>
              <a:cxn ang="0">
                <a:pos x="10" y="271"/>
              </a:cxn>
              <a:cxn ang="0">
                <a:pos x="10" y="271"/>
              </a:cxn>
              <a:cxn ang="0">
                <a:pos x="0" y="315"/>
              </a:cxn>
              <a:cxn ang="0">
                <a:pos x="0" y="384"/>
              </a:cxn>
              <a:cxn ang="0">
                <a:pos x="10" y="428"/>
              </a:cxn>
              <a:cxn ang="0">
                <a:pos x="10" y="447"/>
              </a:cxn>
              <a:cxn ang="0">
                <a:pos x="10" y="447"/>
              </a:cxn>
              <a:cxn ang="0">
                <a:pos x="0" y="491"/>
              </a:cxn>
              <a:cxn ang="0">
                <a:pos x="60" y="530"/>
              </a:cxn>
              <a:cxn ang="0">
                <a:pos x="132" y="523"/>
              </a:cxn>
              <a:cxn ang="0">
                <a:pos x="163" y="523"/>
              </a:cxn>
              <a:cxn ang="0">
                <a:pos x="163" y="523"/>
              </a:cxn>
              <a:cxn ang="0">
                <a:pos x="234" y="530"/>
              </a:cxn>
              <a:cxn ang="0">
                <a:pos x="347" y="530"/>
              </a:cxn>
              <a:cxn ang="0">
                <a:pos x="419" y="523"/>
              </a:cxn>
              <a:cxn ang="0">
                <a:pos x="450" y="523"/>
              </a:cxn>
              <a:cxn ang="0">
                <a:pos x="450" y="523"/>
              </a:cxn>
              <a:cxn ang="0">
                <a:pos x="521" y="530"/>
              </a:cxn>
              <a:cxn ang="0">
                <a:pos x="634" y="530"/>
              </a:cxn>
              <a:cxn ang="0">
                <a:pos x="706" y="523"/>
              </a:cxn>
              <a:cxn ang="0">
                <a:pos x="737" y="523"/>
              </a:cxn>
              <a:cxn ang="0">
                <a:pos x="737" y="523"/>
              </a:cxn>
              <a:cxn ang="0">
                <a:pos x="808" y="530"/>
              </a:cxn>
              <a:cxn ang="0">
                <a:pos x="921" y="530"/>
              </a:cxn>
              <a:cxn ang="0">
                <a:pos x="928" y="490"/>
              </a:cxn>
              <a:cxn ang="0">
                <a:pos x="928" y="471"/>
              </a:cxn>
              <a:cxn ang="0">
                <a:pos x="928" y="471"/>
              </a:cxn>
              <a:cxn ang="0">
                <a:pos x="938" y="427"/>
              </a:cxn>
              <a:cxn ang="0">
                <a:pos x="938" y="358"/>
              </a:cxn>
              <a:cxn ang="0">
                <a:pos x="928" y="314"/>
              </a:cxn>
              <a:cxn ang="0">
                <a:pos x="928" y="295"/>
              </a:cxn>
              <a:cxn ang="0">
                <a:pos x="928" y="295"/>
              </a:cxn>
              <a:cxn ang="0">
                <a:pos x="938" y="251"/>
              </a:cxn>
              <a:cxn ang="0">
                <a:pos x="938" y="181"/>
              </a:cxn>
              <a:cxn ang="0">
                <a:pos x="928" y="137"/>
              </a:cxn>
              <a:cxn ang="0">
                <a:pos x="928" y="119"/>
              </a:cxn>
              <a:cxn ang="0">
                <a:pos x="928" y="119"/>
              </a:cxn>
              <a:cxn ang="0">
                <a:pos x="938" y="75"/>
              </a:cxn>
              <a:cxn ang="0">
                <a:pos x="938" y="5"/>
              </a:cxn>
            </a:cxnLst>
            <a:rect l="0" t="0" r="r" b="b"/>
            <a:pathLst>
              <a:path w="938" h="530">
                <a:moveTo>
                  <a:pt x="933" y="6"/>
                </a:moveTo>
                <a:lnTo>
                  <a:pt x="892" y="6"/>
                </a:lnTo>
                <a:lnTo>
                  <a:pt x="892" y="0"/>
                </a:lnTo>
                <a:lnTo>
                  <a:pt x="933" y="0"/>
                </a:lnTo>
                <a:lnTo>
                  <a:pt x="933" y="6"/>
                </a:lnTo>
                <a:close/>
                <a:moveTo>
                  <a:pt x="861" y="6"/>
                </a:moveTo>
                <a:lnTo>
                  <a:pt x="820" y="6"/>
                </a:lnTo>
                <a:lnTo>
                  <a:pt x="820" y="0"/>
                </a:lnTo>
                <a:lnTo>
                  <a:pt x="861" y="0"/>
                </a:lnTo>
                <a:lnTo>
                  <a:pt x="861" y="6"/>
                </a:lnTo>
                <a:close/>
                <a:moveTo>
                  <a:pt x="790" y="6"/>
                </a:moveTo>
                <a:lnTo>
                  <a:pt x="749" y="6"/>
                </a:lnTo>
                <a:lnTo>
                  <a:pt x="749" y="0"/>
                </a:lnTo>
                <a:lnTo>
                  <a:pt x="790" y="0"/>
                </a:lnTo>
                <a:lnTo>
                  <a:pt x="790" y="6"/>
                </a:lnTo>
                <a:close/>
                <a:moveTo>
                  <a:pt x="718" y="6"/>
                </a:moveTo>
                <a:lnTo>
                  <a:pt x="677" y="6"/>
                </a:lnTo>
                <a:lnTo>
                  <a:pt x="677" y="0"/>
                </a:lnTo>
                <a:lnTo>
                  <a:pt x="718" y="0"/>
                </a:lnTo>
                <a:lnTo>
                  <a:pt x="718" y="6"/>
                </a:lnTo>
                <a:close/>
                <a:moveTo>
                  <a:pt x="646" y="6"/>
                </a:moveTo>
                <a:lnTo>
                  <a:pt x="605" y="6"/>
                </a:lnTo>
                <a:lnTo>
                  <a:pt x="605" y="0"/>
                </a:lnTo>
                <a:lnTo>
                  <a:pt x="646" y="0"/>
                </a:lnTo>
                <a:lnTo>
                  <a:pt x="646" y="6"/>
                </a:lnTo>
                <a:close/>
                <a:moveTo>
                  <a:pt x="574" y="6"/>
                </a:moveTo>
                <a:lnTo>
                  <a:pt x="533" y="6"/>
                </a:lnTo>
                <a:lnTo>
                  <a:pt x="533" y="0"/>
                </a:lnTo>
                <a:lnTo>
                  <a:pt x="574" y="0"/>
                </a:lnTo>
                <a:lnTo>
                  <a:pt x="574" y="6"/>
                </a:lnTo>
                <a:close/>
                <a:moveTo>
                  <a:pt x="503" y="6"/>
                </a:moveTo>
                <a:lnTo>
                  <a:pt x="462" y="6"/>
                </a:lnTo>
                <a:lnTo>
                  <a:pt x="462" y="0"/>
                </a:lnTo>
                <a:lnTo>
                  <a:pt x="503" y="0"/>
                </a:lnTo>
                <a:lnTo>
                  <a:pt x="503" y="6"/>
                </a:lnTo>
                <a:close/>
                <a:moveTo>
                  <a:pt x="431" y="6"/>
                </a:moveTo>
                <a:lnTo>
                  <a:pt x="390" y="6"/>
                </a:lnTo>
                <a:lnTo>
                  <a:pt x="390" y="0"/>
                </a:lnTo>
                <a:lnTo>
                  <a:pt x="431" y="0"/>
                </a:lnTo>
                <a:lnTo>
                  <a:pt x="431" y="6"/>
                </a:lnTo>
                <a:close/>
                <a:moveTo>
                  <a:pt x="359" y="6"/>
                </a:moveTo>
                <a:lnTo>
                  <a:pt x="318" y="6"/>
                </a:lnTo>
                <a:lnTo>
                  <a:pt x="318" y="0"/>
                </a:lnTo>
                <a:lnTo>
                  <a:pt x="359" y="0"/>
                </a:lnTo>
                <a:lnTo>
                  <a:pt x="359" y="6"/>
                </a:lnTo>
                <a:close/>
                <a:moveTo>
                  <a:pt x="287" y="6"/>
                </a:moveTo>
                <a:lnTo>
                  <a:pt x="246" y="6"/>
                </a:lnTo>
                <a:lnTo>
                  <a:pt x="246" y="0"/>
                </a:lnTo>
                <a:lnTo>
                  <a:pt x="287" y="0"/>
                </a:lnTo>
                <a:lnTo>
                  <a:pt x="287" y="6"/>
                </a:lnTo>
                <a:close/>
                <a:moveTo>
                  <a:pt x="215" y="6"/>
                </a:moveTo>
                <a:lnTo>
                  <a:pt x="174" y="6"/>
                </a:lnTo>
                <a:lnTo>
                  <a:pt x="174" y="0"/>
                </a:lnTo>
                <a:lnTo>
                  <a:pt x="215" y="0"/>
                </a:lnTo>
                <a:lnTo>
                  <a:pt x="215" y="6"/>
                </a:lnTo>
                <a:close/>
                <a:moveTo>
                  <a:pt x="144" y="6"/>
                </a:moveTo>
                <a:lnTo>
                  <a:pt x="103" y="6"/>
                </a:lnTo>
                <a:lnTo>
                  <a:pt x="103" y="0"/>
                </a:lnTo>
                <a:lnTo>
                  <a:pt x="144" y="0"/>
                </a:lnTo>
                <a:lnTo>
                  <a:pt x="144" y="6"/>
                </a:lnTo>
                <a:close/>
                <a:moveTo>
                  <a:pt x="72" y="6"/>
                </a:moveTo>
                <a:lnTo>
                  <a:pt x="31" y="6"/>
                </a:lnTo>
                <a:lnTo>
                  <a:pt x="31" y="0"/>
                </a:lnTo>
                <a:lnTo>
                  <a:pt x="72" y="0"/>
                </a:lnTo>
                <a:lnTo>
                  <a:pt x="72" y="6"/>
                </a:lnTo>
                <a:close/>
                <a:moveTo>
                  <a:pt x="10" y="6"/>
                </a:moveTo>
                <a:lnTo>
                  <a:pt x="10" y="31"/>
                </a:lnTo>
                <a:lnTo>
                  <a:pt x="0" y="31"/>
                </a:lnTo>
                <a:lnTo>
                  <a:pt x="0" y="6"/>
                </a:lnTo>
                <a:lnTo>
                  <a:pt x="10" y="6"/>
                </a:lnTo>
                <a:close/>
                <a:moveTo>
                  <a:pt x="10" y="50"/>
                </a:moveTo>
                <a:lnTo>
                  <a:pt x="10" y="76"/>
                </a:lnTo>
                <a:lnTo>
                  <a:pt x="0" y="76"/>
                </a:lnTo>
                <a:lnTo>
                  <a:pt x="0" y="50"/>
                </a:lnTo>
                <a:lnTo>
                  <a:pt x="10" y="50"/>
                </a:lnTo>
                <a:close/>
                <a:moveTo>
                  <a:pt x="10" y="94"/>
                </a:moveTo>
                <a:lnTo>
                  <a:pt x="10" y="120"/>
                </a:lnTo>
                <a:lnTo>
                  <a:pt x="0" y="120"/>
                </a:lnTo>
                <a:lnTo>
                  <a:pt x="0" y="94"/>
                </a:lnTo>
                <a:lnTo>
                  <a:pt x="10" y="94"/>
                </a:lnTo>
                <a:close/>
                <a:moveTo>
                  <a:pt x="10" y="138"/>
                </a:moveTo>
                <a:lnTo>
                  <a:pt x="10" y="164"/>
                </a:lnTo>
                <a:lnTo>
                  <a:pt x="0" y="164"/>
                </a:lnTo>
                <a:lnTo>
                  <a:pt x="0" y="138"/>
                </a:lnTo>
                <a:lnTo>
                  <a:pt x="10" y="138"/>
                </a:lnTo>
                <a:close/>
                <a:moveTo>
                  <a:pt x="10" y="182"/>
                </a:moveTo>
                <a:lnTo>
                  <a:pt x="10" y="208"/>
                </a:lnTo>
                <a:lnTo>
                  <a:pt x="0" y="208"/>
                </a:lnTo>
                <a:lnTo>
                  <a:pt x="0" y="182"/>
                </a:lnTo>
                <a:lnTo>
                  <a:pt x="10" y="182"/>
                </a:lnTo>
                <a:close/>
                <a:moveTo>
                  <a:pt x="10" y="227"/>
                </a:moveTo>
                <a:lnTo>
                  <a:pt x="10" y="252"/>
                </a:lnTo>
                <a:lnTo>
                  <a:pt x="0" y="252"/>
                </a:lnTo>
                <a:lnTo>
                  <a:pt x="0" y="227"/>
                </a:lnTo>
                <a:lnTo>
                  <a:pt x="10" y="227"/>
                </a:lnTo>
                <a:close/>
                <a:moveTo>
                  <a:pt x="10" y="271"/>
                </a:moveTo>
                <a:lnTo>
                  <a:pt x="10" y="296"/>
                </a:lnTo>
                <a:lnTo>
                  <a:pt x="0" y="296"/>
                </a:lnTo>
                <a:lnTo>
                  <a:pt x="0" y="271"/>
                </a:lnTo>
                <a:lnTo>
                  <a:pt x="10" y="271"/>
                </a:lnTo>
                <a:close/>
                <a:moveTo>
                  <a:pt x="10" y="315"/>
                </a:moveTo>
                <a:lnTo>
                  <a:pt x="10" y="340"/>
                </a:lnTo>
                <a:lnTo>
                  <a:pt x="0" y="340"/>
                </a:lnTo>
                <a:lnTo>
                  <a:pt x="0" y="315"/>
                </a:lnTo>
                <a:lnTo>
                  <a:pt x="10" y="315"/>
                </a:lnTo>
                <a:close/>
                <a:moveTo>
                  <a:pt x="10" y="359"/>
                </a:moveTo>
                <a:lnTo>
                  <a:pt x="10" y="384"/>
                </a:lnTo>
                <a:lnTo>
                  <a:pt x="0" y="384"/>
                </a:lnTo>
                <a:lnTo>
                  <a:pt x="0" y="359"/>
                </a:lnTo>
                <a:lnTo>
                  <a:pt x="10" y="359"/>
                </a:lnTo>
                <a:close/>
                <a:moveTo>
                  <a:pt x="10" y="403"/>
                </a:moveTo>
                <a:lnTo>
                  <a:pt x="10" y="428"/>
                </a:lnTo>
                <a:lnTo>
                  <a:pt x="0" y="428"/>
                </a:lnTo>
                <a:lnTo>
                  <a:pt x="0" y="403"/>
                </a:lnTo>
                <a:lnTo>
                  <a:pt x="10" y="403"/>
                </a:lnTo>
                <a:close/>
                <a:moveTo>
                  <a:pt x="10" y="447"/>
                </a:moveTo>
                <a:lnTo>
                  <a:pt x="10" y="472"/>
                </a:lnTo>
                <a:lnTo>
                  <a:pt x="0" y="472"/>
                </a:lnTo>
                <a:lnTo>
                  <a:pt x="0" y="447"/>
                </a:lnTo>
                <a:lnTo>
                  <a:pt x="10" y="447"/>
                </a:lnTo>
                <a:close/>
                <a:moveTo>
                  <a:pt x="10" y="491"/>
                </a:moveTo>
                <a:lnTo>
                  <a:pt x="10" y="516"/>
                </a:lnTo>
                <a:lnTo>
                  <a:pt x="0" y="516"/>
                </a:lnTo>
                <a:lnTo>
                  <a:pt x="0" y="491"/>
                </a:lnTo>
                <a:lnTo>
                  <a:pt x="10" y="491"/>
                </a:lnTo>
                <a:close/>
                <a:moveTo>
                  <a:pt x="19" y="523"/>
                </a:moveTo>
                <a:lnTo>
                  <a:pt x="60" y="523"/>
                </a:lnTo>
                <a:lnTo>
                  <a:pt x="60" y="530"/>
                </a:lnTo>
                <a:lnTo>
                  <a:pt x="19" y="530"/>
                </a:lnTo>
                <a:lnTo>
                  <a:pt x="19" y="523"/>
                </a:lnTo>
                <a:close/>
                <a:moveTo>
                  <a:pt x="91" y="523"/>
                </a:moveTo>
                <a:lnTo>
                  <a:pt x="132" y="523"/>
                </a:lnTo>
                <a:lnTo>
                  <a:pt x="132" y="530"/>
                </a:lnTo>
                <a:lnTo>
                  <a:pt x="91" y="530"/>
                </a:lnTo>
                <a:lnTo>
                  <a:pt x="91" y="523"/>
                </a:lnTo>
                <a:close/>
                <a:moveTo>
                  <a:pt x="163" y="523"/>
                </a:moveTo>
                <a:lnTo>
                  <a:pt x="204" y="523"/>
                </a:lnTo>
                <a:lnTo>
                  <a:pt x="204" y="530"/>
                </a:lnTo>
                <a:lnTo>
                  <a:pt x="163" y="530"/>
                </a:lnTo>
                <a:lnTo>
                  <a:pt x="163" y="523"/>
                </a:lnTo>
                <a:close/>
                <a:moveTo>
                  <a:pt x="234" y="523"/>
                </a:moveTo>
                <a:lnTo>
                  <a:pt x="275" y="523"/>
                </a:lnTo>
                <a:lnTo>
                  <a:pt x="275" y="530"/>
                </a:lnTo>
                <a:lnTo>
                  <a:pt x="234" y="530"/>
                </a:lnTo>
                <a:lnTo>
                  <a:pt x="234" y="523"/>
                </a:lnTo>
                <a:close/>
                <a:moveTo>
                  <a:pt x="306" y="523"/>
                </a:moveTo>
                <a:lnTo>
                  <a:pt x="347" y="523"/>
                </a:lnTo>
                <a:lnTo>
                  <a:pt x="347" y="530"/>
                </a:lnTo>
                <a:lnTo>
                  <a:pt x="306" y="530"/>
                </a:lnTo>
                <a:lnTo>
                  <a:pt x="306" y="523"/>
                </a:lnTo>
                <a:close/>
                <a:moveTo>
                  <a:pt x="378" y="523"/>
                </a:moveTo>
                <a:lnTo>
                  <a:pt x="419" y="523"/>
                </a:lnTo>
                <a:lnTo>
                  <a:pt x="419" y="530"/>
                </a:lnTo>
                <a:lnTo>
                  <a:pt x="378" y="530"/>
                </a:lnTo>
                <a:lnTo>
                  <a:pt x="378" y="523"/>
                </a:lnTo>
                <a:close/>
                <a:moveTo>
                  <a:pt x="450" y="523"/>
                </a:moveTo>
                <a:lnTo>
                  <a:pt x="491" y="523"/>
                </a:lnTo>
                <a:lnTo>
                  <a:pt x="491" y="530"/>
                </a:lnTo>
                <a:lnTo>
                  <a:pt x="450" y="530"/>
                </a:lnTo>
                <a:lnTo>
                  <a:pt x="450" y="523"/>
                </a:lnTo>
                <a:close/>
                <a:moveTo>
                  <a:pt x="521" y="523"/>
                </a:moveTo>
                <a:lnTo>
                  <a:pt x="562" y="523"/>
                </a:lnTo>
                <a:lnTo>
                  <a:pt x="562" y="530"/>
                </a:lnTo>
                <a:lnTo>
                  <a:pt x="521" y="530"/>
                </a:lnTo>
                <a:lnTo>
                  <a:pt x="521" y="523"/>
                </a:lnTo>
                <a:close/>
                <a:moveTo>
                  <a:pt x="593" y="523"/>
                </a:moveTo>
                <a:lnTo>
                  <a:pt x="634" y="523"/>
                </a:lnTo>
                <a:lnTo>
                  <a:pt x="634" y="530"/>
                </a:lnTo>
                <a:lnTo>
                  <a:pt x="593" y="530"/>
                </a:lnTo>
                <a:lnTo>
                  <a:pt x="593" y="523"/>
                </a:lnTo>
                <a:close/>
                <a:moveTo>
                  <a:pt x="665" y="523"/>
                </a:moveTo>
                <a:lnTo>
                  <a:pt x="706" y="523"/>
                </a:lnTo>
                <a:lnTo>
                  <a:pt x="706" y="530"/>
                </a:lnTo>
                <a:lnTo>
                  <a:pt x="665" y="530"/>
                </a:lnTo>
                <a:lnTo>
                  <a:pt x="665" y="523"/>
                </a:lnTo>
                <a:close/>
                <a:moveTo>
                  <a:pt x="737" y="523"/>
                </a:moveTo>
                <a:lnTo>
                  <a:pt x="778" y="523"/>
                </a:lnTo>
                <a:lnTo>
                  <a:pt x="778" y="530"/>
                </a:lnTo>
                <a:lnTo>
                  <a:pt x="737" y="530"/>
                </a:lnTo>
                <a:lnTo>
                  <a:pt x="737" y="523"/>
                </a:lnTo>
                <a:close/>
                <a:moveTo>
                  <a:pt x="808" y="523"/>
                </a:moveTo>
                <a:lnTo>
                  <a:pt x="849" y="523"/>
                </a:lnTo>
                <a:lnTo>
                  <a:pt x="849" y="530"/>
                </a:lnTo>
                <a:lnTo>
                  <a:pt x="808" y="530"/>
                </a:lnTo>
                <a:lnTo>
                  <a:pt x="808" y="523"/>
                </a:lnTo>
                <a:close/>
                <a:moveTo>
                  <a:pt x="880" y="523"/>
                </a:moveTo>
                <a:lnTo>
                  <a:pt x="921" y="523"/>
                </a:lnTo>
                <a:lnTo>
                  <a:pt x="921" y="530"/>
                </a:lnTo>
                <a:lnTo>
                  <a:pt x="880" y="530"/>
                </a:lnTo>
                <a:lnTo>
                  <a:pt x="880" y="523"/>
                </a:lnTo>
                <a:close/>
                <a:moveTo>
                  <a:pt x="928" y="515"/>
                </a:moveTo>
                <a:lnTo>
                  <a:pt x="928" y="490"/>
                </a:lnTo>
                <a:lnTo>
                  <a:pt x="938" y="490"/>
                </a:lnTo>
                <a:lnTo>
                  <a:pt x="938" y="515"/>
                </a:lnTo>
                <a:lnTo>
                  <a:pt x="928" y="515"/>
                </a:lnTo>
                <a:close/>
                <a:moveTo>
                  <a:pt x="928" y="471"/>
                </a:moveTo>
                <a:lnTo>
                  <a:pt x="928" y="446"/>
                </a:lnTo>
                <a:lnTo>
                  <a:pt x="938" y="446"/>
                </a:lnTo>
                <a:lnTo>
                  <a:pt x="938" y="471"/>
                </a:lnTo>
                <a:lnTo>
                  <a:pt x="928" y="471"/>
                </a:lnTo>
                <a:close/>
                <a:moveTo>
                  <a:pt x="928" y="427"/>
                </a:moveTo>
                <a:lnTo>
                  <a:pt x="928" y="402"/>
                </a:lnTo>
                <a:lnTo>
                  <a:pt x="938" y="402"/>
                </a:lnTo>
                <a:lnTo>
                  <a:pt x="938" y="427"/>
                </a:lnTo>
                <a:lnTo>
                  <a:pt x="928" y="427"/>
                </a:lnTo>
                <a:close/>
                <a:moveTo>
                  <a:pt x="928" y="383"/>
                </a:moveTo>
                <a:lnTo>
                  <a:pt x="928" y="358"/>
                </a:lnTo>
                <a:lnTo>
                  <a:pt x="938" y="358"/>
                </a:lnTo>
                <a:lnTo>
                  <a:pt x="938" y="383"/>
                </a:lnTo>
                <a:lnTo>
                  <a:pt x="928" y="383"/>
                </a:lnTo>
                <a:close/>
                <a:moveTo>
                  <a:pt x="928" y="339"/>
                </a:moveTo>
                <a:lnTo>
                  <a:pt x="928" y="314"/>
                </a:lnTo>
                <a:lnTo>
                  <a:pt x="938" y="314"/>
                </a:lnTo>
                <a:lnTo>
                  <a:pt x="938" y="339"/>
                </a:lnTo>
                <a:lnTo>
                  <a:pt x="928" y="339"/>
                </a:lnTo>
                <a:close/>
                <a:moveTo>
                  <a:pt x="928" y="295"/>
                </a:moveTo>
                <a:lnTo>
                  <a:pt x="928" y="270"/>
                </a:lnTo>
                <a:lnTo>
                  <a:pt x="938" y="270"/>
                </a:lnTo>
                <a:lnTo>
                  <a:pt x="938" y="295"/>
                </a:lnTo>
                <a:lnTo>
                  <a:pt x="928" y="295"/>
                </a:lnTo>
                <a:close/>
                <a:moveTo>
                  <a:pt x="928" y="251"/>
                </a:moveTo>
                <a:lnTo>
                  <a:pt x="928" y="226"/>
                </a:lnTo>
                <a:lnTo>
                  <a:pt x="938" y="226"/>
                </a:lnTo>
                <a:lnTo>
                  <a:pt x="938" y="251"/>
                </a:lnTo>
                <a:lnTo>
                  <a:pt x="928" y="251"/>
                </a:lnTo>
                <a:close/>
                <a:moveTo>
                  <a:pt x="928" y="207"/>
                </a:moveTo>
                <a:lnTo>
                  <a:pt x="928" y="181"/>
                </a:lnTo>
                <a:lnTo>
                  <a:pt x="938" y="181"/>
                </a:lnTo>
                <a:lnTo>
                  <a:pt x="938" y="207"/>
                </a:lnTo>
                <a:lnTo>
                  <a:pt x="928" y="207"/>
                </a:lnTo>
                <a:close/>
                <a:moveTo>
                  <a:pt x="928" y="163"/>
                </a:moveTo>
                <a:lnTo>
                  <a:pt x="928" y="137"/>
                </a:lnTo>
                <a:lnTo>
                  <a:pt x="938" y="137"/>
                </a:lnTo>
                <a:lnTo>
                  <a:pt x="938" y="163"/>
                </a:lnTo>
                <a:lnTo>
                  <a:pt x="928" y="163"/>
                </a:lnTo>
                <a:close/>
                <a:moveTo>
                  <a:pt x="928" y="119"/>
                </a:moveTo>
                <a:lnTo>
                  <a:pt x="928" y="93"/>
                </a:lnTo>
                <a:lnTo>
                  <a:pt x="938" y="93"/>
                </a:lnTo>
                <a:lnTo>
                  <a:pt x="938" y="119"/>
                </a:lnTo>
                <a:lnTo>
                  <a:pt x="928" y="119"/>
                </a:lnTo>
                <a:close/>
                <a:moveTo>
                  <a:pt x="928" y="75"/>
                </a:moveTo>
                <a:lnTo>
                  <a:pt x="928" y="49"/>
                </a:lnTo>
                <a:lnTo>
                  <a:pt x="938" y="49"/>
                </a:lnTo>
                <a:lnTo>
                  <a:pt x="938" y="75"/>
                </a:lnTo>
                <a:lnTo>
                  <a:pt x="928" y="75"/>
                </a:lnTo>
                <a:close/>
                <a:moveTo>
                  <a:pt x="928" y="30"/>
                </a:moveTo>
                <a:lnTo>
                  <a:pt x="928" y="5"/>
                </a:lnTo>
                <a:lnTo>
                  <a:pt x="938" y="5"/>
                </a:lnTo>
                <a:lnTo>
                  <a:pt x="938" y="30"/>
                </a:lnTo>
                <a:lnTo>
                  <a:pt x="928" y="30"/>
                </a:lnTo>
                <a:close/>
              </a:path>
            </a:pathLst>
          </a:custGeom>
          <a:solidFill>
            <a:srgbClr val="FF0000"/>
          </a:solidFill>
          <a:ln w="3175" cap="flat">
            <a:solidFill>
              <a:srgbClr val="0099FF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5" name="Freeform 29"/>
          <p:cNvSpPr>
            <a:spLocks noEditPoints="1"/>
          </p:cNvSpPr>
          <p:nvPr/>
        </p:nvSpPr>
        <p:spPr bwMode="auto">
          <a:xfrm>
            <a:off x="3586674" y="2822804"/>
            <a:ext cx="631518" cy="571185"/>
          </a:xfrm>
          <a:custGeom>
            <a:avLst/>
            <a:gdLst/>
            <a:ahLst/>
            <a:cxnLst>
              <a:cxn ang="0">
                <a:pos x="5" y="924"/>
              </a:cxn>
              <a:cxn ang="0">
                <a:pos x="58" y="871"/>
              </a:cxn>
              <a:cxn ang="0">
                <a:pos x="76" y="871"/>
              </a:cxn>
              <a:cxn ang="0">
                <a:pos x="76" y="889"/>
              </a:cxn>
              <a:cxn ang="0">
                <a:pos x="22" y="942"/>
              </a:cxn>
              <a:cxn ang="0">
                <a:pos x="5" y="942"/>
              </a:cxn>
              <a:cxn ang="0">
                <a:pos x="5" y="924"/>
              </a:cxn>
              <a:cxn ang="0">
                <a:pos x="129" y="801"/>
              </a:cxn>
              <a:cxn ang="0">
                <a:pos x="182" y="748"/>
              </a:cxn>
              <a:cxn ang="0">
                <a:pos x="199" y="748"/>
              </a:cxn>
              <a:cxn ang="0">
                <a:pos x="199" y="765"/>
              </a:cxn>
              <a:cxn ang="0">
                <a:pos x="146" y="818"/>
              </a:cxn>
              <a:cxn ang="0">
                <a:pos x="129" y="818"/>
              </a:cxn>
              <a:cxn ang="0">
                <a:pos x="129" y="801"/>
              </a:cxn>
              <a:cxn ang="0">
                <a:pos x="252" y="677"/>
              </a:cxn>
              <a:cxn ang="0">
                <a:pos x="305" y="624"/>
              </a:cxn>
              <a:cxn ang="0">
                <a:pos x="323" y="624"/>
              </a:cxn>
              <a:cxn ang="0">
                <a:pos x="323" y="642"/>
              </a:cxn>
              <a:cxn ang="0">
                <a:pos x="270" y="695"/>
              </a:cxn>
              <a:cxn ang="0">
                <a:pos x="252" y="695"/>
              </a:cxn>
              <a:cxn ang="0">
                <a:pos x="252" y="677"/>
              </a:cxn>
              <a:cxn ang="0">
                <a:pos x="376" y="553"/>
              </a:cxn>
              <a:cxn ang="0">
                <a:pos x="429" y="500"/>
              </a:cxn>
              <a:cxn ang="0">
                <a:pos x="447" y="500"/>
              </a:cxn>
              <a:cxn ang="0">
                <a:pos x="447" y="518"/>
              </a:cxn>
              <a:cxn ang="0">
                <a:pos x="394" y="571"/>
              </a:cxn>
              <a:cxn ang="0">
                <a:pos x="376" y="571"/>
              </a:cxn>
              <a:cxn ang="0">
                <a:pos x="376" y="553"/>
              </a:cxn>
              <a:cxn ang="0">
                <a:pos x="500" y="429"/>
              </a:cxn>
              <a:cxn ang="0">
                <a:pos x="553" y="376"/>
              </a:cxn>
              <a:cxn ang="0">
                <a:pos x="570" y="376"/>
              </a:cxn>
              <a:cxn ang="0">
                <a:pos x="570" y="394"/>
              </a:cxn>
              <a:cxn ang="0">
                <a:pos x="517" y="447"/>
              </a:cxn>
              <a:cxn ang="0">
                <a:pos x="500" y="447"/>
              </a:cxn>
              <a:cxn ang="0">
                <a:pos x="500" y="429"/>
              </a:cxn>
              <a:cxn ang="0">
                <a:pos x="624" y="306"/>
              </a:cxn>
              <a:cxn ang="0">
                <a:pos x="677" y="253"/>
              </a:cxn>
              <a:cxn ang="0">
                <a:pos x="694" y="253"/>
              </a:cxn>
              <a:cxn ang="0">
                <a:pos x="694" y="270"/>
              </a:cxn>
              <a:cxn ang="0">
                <a:pos x="641" y="323"/>
              </a:cxn>
              <a:cxn ang="0">
                <a:pos x="624" y="323"/>
              </a:cxn>
              <a:cxn ang="0">
                <a:pos x="624" y="306"/>
              </a:cxn>
              <a:cxn ang="0">
                <a:pos x="747" y="182"/>
              </a:cxn>
              <a:cxn ang="0">
                <a:pos x="800" y="129"/>
              </a:cxn>
              <a:cxn ang="0">
                <a:pos x="818" y="129"/>
              </a:cxn>
              <a:cxn ang="0">
                <a:pos x="818" y="147"/>
              </a:cxn>
              <a:cxn ang="0">
                <a:pos x="765" y="200"/>
              </a:cxn>
              <a:cxn ang="0">
                <a:pos x="747" y="200"/>
              </a:cxn>
              <a:cxn ang="0">
                <a:pos x="747" y="182"/>
              </a:cxn>
              <a:cxn ang="0">
                <a:pos x="871" y="58"/>
              </a:cxn>
              <a:cxn ang="0">
                <a:pos x="924" y="5"/>
              </a:cxn>
              <a:cxn ang="0">
                <a:pos x="942" y="5"/>
              </a:cxn>
              <a:cxn ang="0">
                <a:pos x="942" y="23"/>
              </a:cxn>
              <a:cxn ang="0">
                <a:pos x="889" y="76"/>
              </a:cxn>
              <a:cxn ang="0">
                <a:pos x="871" y="76"/>
              </a:cxn>
              <a:cxn ang="0">
                <a:pos x="871" y="58"/>
              </a:cxn>
            </a:cxnLst>
            <a:rect l="0" t="0" r="r" b="b"/>
            <a:pathLst>
              <a:path w="947" h="947">
                <a:moveTo>
                  <a:pt x="5" y="924"/>
                </a:moveTo>
                <a:lnTo>
                  <a:pt x="58" y="871"/>
                </a:lnTo>
                <a:cubicBezTo>
                  <a:pt x="63" y="867"/>
                  <a:pt x="71" y="867"/>
                  <a:pt x="76" y="871"/>
                </a:cubicBezTo>
                <a:cubicBezTo>
                  <a:pt x="80" y="876"/>
                  <a:pt x="80" y="884"/>
                  <a:pt x="76" y="889"/>
                </a:cubicBezTo>
                <a:lnTo>
                  <a:pt x="22" y="942"/>
                </a:lnTo>
                <a:cubicBezTo>
                  <a:pt x="18" y="947"/>
                  <a:pt x="10" y="947"/>
                  <a:pt x="5" y="942"/>
                </a:cubicBezTo>
                <a:cubicBezTo>
                  <a:pt x="0" y="937"/>
                  <a:pt x="0" y="929"/>
                  <a:pt x="5" y="924"/>
                </a:cubicBezTo>
                <a:close/>
                <a:moveTo>
                  <a:pt x="129" y="801"/>
                </a:moveTo>
                <a:lnTo>
                  <a:pt x="182" y="748"/>
                </a:lnTo>
                <a:cubicBezTo>
                  <a:pt x="186" y="743"/>
                  <a:pt x="194" y="743"/>
                  <a:pt x="199" y="748"/>
                </a:cubicBezTo>
                <a:cubicBezTo>
                  <a:pt x="204" y="753"/>
                  <a:pt x="204" y="760"/>
                  <a:pt x="199" y="765"/>
                </a:cubicBezTo>
                <a:lnTo>
                  <a:pt x="146" y="818"/>
                </a:lnTo>
                <a:cubicBezTo>
                  <a:pt x="141" y="823"/>
                  <a:pt x="133" y="823"/>
                  <a:pt x="129" y="818"/>
                </a:cubicBezTo>
                <a:cubicBezTo>
                  <a:pt x="124" y="814"/>
                  <a:pt x="124" y="806"/>
                  <a:pt x="129" y="801"/>
                </a:cubicBezTo>
                <a:close/>
                <a:moveTo>
                  <a:pt x="252" y="677"/>
                </a:moveTo>
                <a:lnTo>
                  <a:pt x="305" y="624"/>
                </a:lnTo>
                <a:cubicBezTo>
                  <a:pt x="310" y="619"/>
                  <a:pt x="318" y="619"/>
                  <a:pt x="323" y="624"/>
                </a:cubicBezTo>
                <a:cubicBezTo>
                  <a:pt x="328" y="629"/>
                  <a:pt x="328" y="637"/>
                  <a:pt x="323" y="642"/>
                </a:cubicBezTo>
                <a:lnTo>
                  <a:pt x="270" y="695"/>
                </a:lnTo>
                <a:cubicBezTo>
                  <a:pt x="265" y="700"/>
                  <a:pt x="257" y="700"/>
                  <a:pt x="252" y="695"/>
                </a:cubicBezTo>
                <a:cubicBezTo>
                  <a:pt x="247" y="690"/>
                  <a:pt x="247" y="682"/>
                  <a:pt x="252" y="677"/>
                </a:cubicBezTo>
                <a:close/>
                <a:moveTo>
                  <a:pt x="376" y="553"/>
                </a:moveTo>
                <a:lnTo>
                  <a:pt x="429" y="500"/>
                </a:lnTo>
                <a:cubicBezTo>
                  <a:pt x="434" y="495"/>
                  <a:pt x="442" y="495"/>
                  <a:pt x="447" y="500"/>
                </a:cubicBezTo>
                <a:cubicBezTo>
                  <a:pt x="452" y="505"/>
                  <a:pt x="452" y="513"/>
                  <a:pt x="447" y="518"/>
                </a:cubicBezTo>
                <a:lnTo>
                  <a:pt x="394" y="571"/>
                </a:lnTo>
                <a:cubicBezTo>
                  <a:pt x="389" y="576"/>
                  <a:pt x="381" y="576"/>
                  <a:pt x="376" y="571"/>
                </a:cubicBezTo>
                <a:cubicBezTo>
                  <a:pt x="371" y="566"/>
                  <a:pt x="371" y="558"/>
                  <a:pt x="376" y="553"/>
                </a:cubicBezTo>
                <a:close/>
                <a:moveTo>
                  <a:pt x="500" y="429"/>
                </a:moveTo>
                <a:lnTo>
                  <a:pt x="553" y="376"/>
                </a:lnTo>
                <a:cubicBezTo>
                  <a:pt x="558" y="372"/>
                  <a:pt x="566" y="372"/>
                  <a:pt x="570" y="376"/>
                </a:cubicBezTo>
                <a:cubicBezTo>
                  <a:pt x="575" y="381"/>
                  <a:pt x="575" y="389"/>
                  <a:pt x="570" y="394"/>
                </a:cubicBezTo>
                <a:lnTo>
                  <a:pt x="517" y="447"/>
                </a:lnTo>
                <a:cubicBezTo>
                  <a:pt x="513" y="452"/>
                  <a:pt x="505" y="452"/>
                  <a:pt x="500" y="447"/>
                </a:cubicBezTo>
                <a:cubicBezTo>
                  <a:pt x="495" y="442"/>
                  <a:pt x="495" y="434"/>
                  <a:pt x="500" y="429"/>
                </a:cubicBezTo>
                <a:close/>
                <a:moveTo>
                  <a:pt x="624" y="306"/>
                </a:moveTo>
                <a:lnTo>
                  <a:pt x="677" y="253"/>
                </a:lnTo>
                <a:cubicBezTo>
                  <a:pt x="681" y="248"/>
                  <a:pt x="689" y="248"/>
                  <a:pt x="694" y="253"/>
                </a:cubicBezTo>
                <a:cubicBezTo>
                  <a:pt x="699" y="258"/>
                  <a:pt x="699" y="266"/>
                  <a:pt x="694" y="270"/>
                </a:cubicBezTo>
                <a:lnTo>
                  <a:pt x="641" y="323"/>
                </a:lnTo>
                <a:cubicBezTo>
                  <a:pt x="636" y="328"/>
                  <a:pt x="628" y="328"/>
                  <a:pt x="624" y="323"/>
                </a:cubicBezTo>
                <a:cubicBezTo>
                  <a:pt x="619" y="319"/>
                  <a:pt x="619" y="311"/>
                  <a:pt x="624" y="306"/>
                </a:cubicBezTo>
                <a:close/>
                <a:moveTo>
                  <a:pt x="747" y="182"/>
                </a:moveTo>
                <a:lnTo>
                  <a:pt x="800" y="129"/>
                </a:lnTo>
                <a:cubicBezTo>
                  <a:pt x="805" y="124"/>
                  <a:pt x="813" y="124"/>
                  <a:pt x="818" y="129"/>
                </a:cubicBezTo>
                <a:cubicBezTo>
                  <a:pt x="823" y="134"/>
                  <a:pt x="823" y="142"/>
                  <a:pt x="818" y="147"/>
                </a:cubicBezTo>
                <a:lnTo>
                  <a:pt x="765" y="200"/>
                </a:lnTo>
                <a:cubicBezTo>
                  <a:pt x="760" y="205"/>
                  <a:pt x="752" y="205"/>
                  <a:pt x="747" y="200"/>
                </a:cubicBezTo>
                <a:cubicBezTo>
                  <a:pt x="742" y="195"/>
                  <a:pt x="742" y="187"/>
                  <a:pt x="747" y="182"/>
                </a:cubicBezTo>
                <a:close/>
                <a:moveTo>
                  <a:pt x="871" y="58"/>
                </a:moveTo>
                <a:lnTo>
                  <a:pt x="924" y="5"/>
                </a:lnTo>
                <a:cubicBezTo>
                  <a:pt x="929" y="0"/>
                  <a:pt x="937" y="0"/>
                  <a:pt x="942" y="5"/>
                </a:cubicBezTo>
                <a:cubicBezTo>
                  <a:pt x="947" y="10"/>
                  <a:pt x="947" y="18"/>
                  <a:pt x="942" y="23"/>
                </a:cubicBezTo>
                <a:lnTo>
                  <a:pt x="889" y="76"/>
                </a:lnTo>
                <a:cubicBezTo>
                  <a:pt x="884" y="81"/>
                  <a:pt x="876" y="81"/>
                  <a:pt x="871" y="76"/>
                </a:cubicBezTo>
                <a:cubicBezTo>
                  <a:pt x="866" y="71"/>
                  <a:pt x="866" y="63"/>
                  <a:pt x="871" y="58"/>
                </a:cubicBezTo>
                <a:close/>
              </a:path>
            </a:pathLst>
          </a:custGeom>
          <a:solidFill>
            <a:srgbClr val="FF0000"/>
          </a:solidFill>
          <a:ln w="3175" cap="flat">
            <a:solidFill>
              <a:srgbClr val="0099FF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6304844" y="3946601"/>
            <a:ext cx="44403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fr-FR" dirty="0">
                <a:latin typeface="Tahoma" pitchFamily="34" charset="0"/>
                <a:cs typeface="Arial" pitchFamily="34" charset="0"/>
              </a:rPr>
              <a:t>Client</a:t>
            </a:r>
            <a:endParaRPr lang="fr-FR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Freeform 31"/>
          <p:cNvSpPr>
            <a:spLocks noEditPoints="1"/>
          </p:cNvSpPr>
          <p:nvPr/>
        </p:nvSpPr>
        <p:spPr bwMode="auto">
          <a:xfrm>
            <a:off x="5129462" y="3188511"/>
            <a:ext cx="768238" cy="259193"/>
          </a:xfrm>
          <a:custGeom>
            <a:avLst/>
            <a:gdLst/>
            <a:ahLst/>
            <a:cxnLst>
              <a:cxn ang="0">
                <a:pos x="1139" y="34"/>
              </a:cxn>
              <a:cxn ang="0">
                <a:pos x="163" y="361"/>
              </a:cxn>
              <a:cxn ang="0">
                <a:pos x="142" y="350"/>
              </a:cxn>
              <a:cxn ang="0">
                <a:pos x="153" y="329"/>
              </a:cxn>
              <a:cxn ang="0">
                <a:pos x="1128" y="3"/>
              </a:cxn>
              <a:cxn ang="0">
                <a:pos x="1149" y="13"/>
              </a:cxn>
              <a:cxn ang="0">
                <a:pos x="1139" y="34"/>
              </a:cxn>
              <a:cxn ang="0">
                <a:pos x="222" y="429"/>
              </a:cxn>
              <a:cxn ang="0">
                <a:pos x="0" y="398"/>
              </a:cxn>
              <a:cxn ang="0">
                <a:pos x="158" y="239"/>
              </a:cxn>
              <a:cxn ang="0">
                <a:pos x="222" y="429"/>
              </a:cxn>
            </a:cxnLst>
            <a:rect l="0" t="0" r="r" b="b"/>
            <a:pathLst>
              <a:path w="1152" h="429">
                <a:moveTo>
                  <a:pt x="1139" y="34"/>
                </a:moveTo>
                <a:lnTo>
                  <a:pt x="163" y="361"/>
                </a:lnTo>
                <a:cubicBezTo>
                  <a:pt x="155" y="363"/>
                  <a:pt x="145" y="359"/>
                  <a:pt x="142" y="350"/>
                </a:cubicBezTo>
                <a:cubicBezTo>
                  <a:pt x="139" y="341"/>
                  <a:pt x="144" y="332"/>
                  <a:pt x="153" y="329"/>
                </a:cubicBezTo>
                <a:lnTo>
                  <a:pt x="1128" y="3"/>
                </a:lnTo>
                <a:cubicBezTo>
                  <a:pt x="1137" y="0"/>
                  <a:pt x="1146" y="4"/>
                  <a:pt x="1149" y="13"/>
                </a:cubicBezTo>
                <a:cubicBezTo>
                  <a:pt x="1152" y="22"/>
                  <a:pt x="1147" y="31"/>
                  <a:pt x="1139" y="34"/>
                </a:cubicBezTo>
                <a:close/>
                <a:moveTo>
                  <a:pt x="222" y="429"/>
                </a:moveTo>
                <a:lnTo>
                  <a:pt x="0" y="398"/>
                </a:lnTo>
                <a:lnTo>
                  <a:pt x="158" y="239"/>
                </a:lnTo>
                <a:lnTo>
                  <a:pt x="222" y="429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8" name="Freeform 32"/>
          <p:cNvSpPr>
            <a:spLocks noEditPoints="1"/>
          </p:cNvSpPr>
          <p:nvPr/>
        </p:nvSpPr>
        <p:spPr bwMode="auto">
          <a:xfrm>
            <a:off x="5089601" y="4036620"/>
            <a:ext cx="631518" cy="571185"/>
          </a:xfrm>
          <a:custGeom>
            <a:avLst/>
            <a:gdLst/>
            <a:ahLst/>
            <a:cxnLst>
              <a:cxn ang="0">
                <a:pos x="5" y="924"/>
              </a:cxn>
              <a:cxn ang="0">
                <a:pos x="58" y="871"/>
              </a:cxn>
              <a:cxn ang="0">
                <a:pos x="76" y="871"/>
              </a:cxn>
              <a:cxn ang="0">
                <a:pos x="76" y="888"/>
              </a:cxn>
              <a:cxn ang="0">
                <a:pos x="23" y="941"/>
              </a:cxn>
              <a:cxn ang="0">
                <a:pos x="5" y="941"/>
              </a:cxn>
              <a:cxn ang="0">
                <a:pos x="5" y="924"/>
              </a:cxn>
              <a:cxn ang="0">
                <a:pos x="129" y="800"/>
              </a:cxn>
              <a:cxn ang="0">
                <a:pos x="182" y="747"/>
              </a:cxn>
              <a:cxn ang="0">
                <a:pos x="200" y="747"/>
              </a:cxn>
              <a:cxn ang="0">
                <a:pos x="200" y="765"/>
              </a:cxn>
              <a:cxn ang="0">
                <a:pos x="147" y="818"/>
              </a:cxn>
              <a:cxn ang="0">
                <a:pos x="129" y="818"/>
              </a:cxn>
              <a:cxn ang="0">
                <a:pos x="129" y="800"/>
              </a:cxn>
              <a:cxn ang="0">
                <a:pos x="253" y="676"/>
              </a:cxn>
              <a:cxn ang="0">
                <a:pos x="306" y="623"/>
              </a:cxn>
              <a:cxn ang="0">
                <a:pos x="323" y="623"/>
              </a:cxn>
              <a:cxn ang="0">
                <a:pos x="323" y="641"/>
              </a:cxn>
              <a:cxn ang="0">
                <a:pos x="270" y="694"/>
              </a:cxn>
              <a:cxn ang="0">
                <a:pos x="253" y="694"/>
              </a:cxn>
              <a:cxn ang="0">
                <a:pos x="253" y="676"/>
              </a:cxn>
              <a:cxn ang="0">
                <a:pos x="377" y="552"/>
              </a:cxn>
              <a:cxn ang="0">
                <a:pos x="430" y="499"/>
              </a:cxn>
              <a:cxn ang="0">
                <a:pos x="447" y="499"/>
              </a:cxn>
              <a:cxn ang="0">
                <a:pos x="447" y="517"/>
              </a:cxn>
              <a:cxn ang="0">
                <a:pos x="394" y="570"/>
              </a:cxn>
              <a:cxn ang="0">
                <a:pos x="377" y="570"/>
              </a:cxn>
              <a:cxn ang="0">
                <a:pos x="377" y="552"/>
              </a:cxn>
              <a:cxn ang="0">
                <a:pos x="500" y="429"/>
              </a:cxn>
              <a:cxn ang="0">
                <a:pos x="553" y="376"/>
              </a:cxn>
              <a:cxn ang="0">
                <a:pos x="571" y="376"/>
              </a:cxn>
              <a:cxn ang="0">
                <a:pos x="571" y="393"/>
              </a:cxn>
              <a:cxn ang="0">
                <a:pos x="518" y="446"/>
              </a:cxn>
              <a:cxn ang="0">
                <a:pos x="500" y="446"/>
              </a:cxn>
              <a:cxn ang="0">
                <a:pos x="500" y="429"/>
              </a:cxn>
              <a:cxn ang="0">
                <a:pos x="624" y="305"/>
              </a:cxn>
              <a:cxn ang="0">
                <a:pos x="677" y="252"/>
              </a:cxn>
              <a:cxn ang="0">
                <a:pos x="695" y="252"/>
              </a:cxn>
              <a:cxn ang="0">
                <a:pos x="695" y="270"/>
              </a:cxn>
              <a:cxn ang="0">
                <a:pos x="642" y="323"/>
              </a:cxn>
              <a:cxn ang="0">
                <a:pos x="624" y="323"/>
              </a:cxn>
              <a:cxn ang="0">
                <a:pos x="624" y="305"/>
              </a:cxn>
              <a:cxn ang="0">
                <a:pos x="748" y="181"/>
              </a:cxn>
              <a:cxn ang="0">
                <a:pos x="801" y="128"/>
              </a:cxn>
              <a:cxn ang="0">
                <a:pos x="818" y="128"/>
              </a:cxn>
              <a:cxn ang="0">
                <a:pos x="818" y="146"/>
              </a:cxn>
              <a:cxn ang="0">
                <a:pos x="765" y="199"/>
              </a:cxn>
              <a:cxn ang="0">
                <a:pos x="748" y="199"/>
              </a:cxn>
              <a:cxn ang="0">
                <a:pos x="748" y="181"/>
              </a:cxn>
              <a:cxn ang="0">
                <a:pos x="872" y="57"/>
              </a:cxn>
              <a:cxn ang="0">
                <a:pos x="925" y="4"/>
              </a:cxn>
              <a:cxn ang="0">
                <a:pos x="942" y="4"/>
              </a:cxn>
              <a:cxn ang="0">
                <a:pos x="942" y="22"/>
              </a:cxn>
              <a:cxn ang="0">
                <a:pos x="889" y="75"/>
              </a:cxn>
              <a:cxn ang="0">
                <a:pos x="872" y="75"/>
              </a:cxn>
              <a:cxn ang="0">
                <a:pos x="872" y="57"/>
              </a:cxn>
            </a:cxnLst>
            <a:rect l="0" t="0" r="r" b="b"/>
            <a:pathLst>
              <a:path w="947" h="946">
                <a:moveTo>
                  <a:pt x="5" y="924"/>
                </a:moveTo>
                <a:lnTo>
                  <a:pt x="58" y="871"/>
                </a:lnTo>
                <a:cubicBezTo>
                  <a:pt x="63" y="866"/>
                  <a:pt x="71" y="866"/>
                  <a:pt x="76" y="871"/>
                </a:cubicBezTo>
                <a:cubicBezTo>
                  <a:pt x="81" y="875"/>
                  <a:pt x="81" y="883"/>
                  <a:pt x="76" y="888"/>
                </a:cubicBezTo>
                <a:lnTo>
                  <a:pt x="23" y="941"/>
                </a:lnTo>
                <a:cubicBezTo>
                  <a:pt x="18" y="946"/>
                  <a:pt x="10" y="946"/>
                  <a:pt x="5" y="941"/>
                </a:cubicBezTo>
                <a:cubicBezTo>
                  <a:pt x="0" y="936"/>
                  <a:pt x="0" y="929"/>
                  <a:pt x="5" y="924"/>
                </a:cubicBezTo>
                <a:close/>
                <a:moveTo>
                  <a:pt x="129" y="800"/>
                </a:moveTo>
                <a:lnTo>
                  <a:pt x="182" y="747"/>
                </a:lnTo>
                <a:cubicBezTo>
                  <a:pt x="187" y="742"/>
                  <a:pt x="195" y="742"/>
                  <a:pt x="200" y="747"/>
                </a:cubicBezTo>
                <a:cubicBezTo>
                  <a:pt x="205" y="752"/>
                  <a:pt x="205" y="760"/>
                  <a:pt x="200" y="765"/>
                </a:cubicBezTo>
                <a:lnTo>
                  <a:pt x="147" y="818"/>
                </a:lnTo>
                <a:cubicBezTo>
                  <a:pt x="142" y="822"/>
                  <a:pt x="134" y="822"/>
                  <a:pt x="129" y="818"/>
                </a:cubicBezTo>
                <a:cubicBezTo>
                  <a:pt x="124" y="813"/>
                  <a:pt x="124" y="805"/>
                  <a:pt x="129" y="800"/>
                </a:cubicBezTo>
                <a:close/>
                <a:moveTo>
                  <a:pt x="253" y="676"/>
                </a:moveTo>
                <a:lnTo>
                  <a:pt x="306" y="623"/>
                </a:lnTo>
                <a:cubicBezTo>
                  <a:pt x="311" y="618"/>
                  <a:pt x="319" y="618"/>
                  <a:pt x="323" y="623"/>
                </a:cubicBezTo>
                <a:cubicBezTo>
                  <a:pt x="328" y="628"/>
                  <a:pt x="328" y="636"/>
                  <a:pt x="323" y="641"/>
                </a:cubicBezTo>
                <a:lnTo>
                  <a:pt x="270" y="694"/>
                </a:lnTo>
                <a:cubicBezTo>
                  <a:pt x="266" y="699"/>
                  <a:pt x="258" y="699"/>
                  <a:pt x="253" y="694"/>
                </a:cubicBezTo>
                <a:cubicBezTo>
                  <a:pt x="248" y="689"/>
                  <a:pt x="248" y="681"/>
                  <a:pt x="253" y="676"/>
                </a:cubicBezTo>
                <a:close/>
                <a:moveTo>
                  <a:pt x="377" y="552"/>
                </a:moveTo>
                <a:lnTo>
                  <a:pt x="430" y="499"/>
                </a:lnTo>
                <a:cubicBezTo>
                  <a:pt x="434" y="494"/>
                  <a:pt x="442" y="494"/>
                  <a:pt x="447" y="499"/>
                </a:cubicBezTo>
                <a:cubicBezTo>
                  <a:pt x="452" y="504"/>
                  <a:pt x="452" y="512"/>
                  <a:pt x="447" y="517"/>
                </a:cubicBezTo>
                <a:lnTo>
                  <a:pt x="394" y="570"/>
                </a:lnTo>
                <a:cubicBezTo>
                  <a:pt x="389" y="575"/>
                  <a:pt x="381" y="575"/>
                  <a:pt x="377" y="570"/>
                </a:cubicBezTo>
                <a:cubicBezTo>
                  <a:pt x="372" y="565"/>
                  <a:pt x="372" y="557"/>
                  <a:pt x="377" y="552"/>
                </a:cubicBezTo>
                <a:close/>
                <a:moveTo>
                  <a:pt x="500" y="429"/>
                </a:moveTo>
                <a:lnTo>
                  <a:pt x="553" y="376"/>
                </a:lnTo>
                <a:cubicBezTo>
                  <a:pt x="558" y="371"/>
                  <a:pt x="566" y="371"/>
                  <a:pt x="571" y="376"/>
                </a:cubicBezTo>
                <a:cubicBezTo>
                  <a:pt x="576" y="381"/>
                  <a:pt x="576" y="388"/>
                  <a:pt x="571" y="393"/>
                </a:cubicBezTo>
                <a:lnTo>
                  <a:pt x="518" y="446"/>
                </a:lnTo>
                <a:cubicBezTo>
                  <a:pt x="513" y="451"/>
                  <a:pt x="505" y="451"/>
                  <a:pt x="500" y="446"/>
                </a:cubicBezTo>
                <a:cubicBezTo>
                  <a:pt x="495" y="441"/>
                  <a:pt x="495" y="434"/>
                  <a:pt x="500" y="429"/>
                </a:cubicBezTo>
                <a:close/>
                <a:moveTo>
                  <a:pt x="624" y="305"/>
                </a:moveTo>
                <a:lnTo>
                  <a:pt x="677" y="252"/>
                </a:lnTo>
                <a:cubicBezTo>
                  <a:pt x="682" y="247"/>
                  <a:pt x="690" y="247"/>
                  <a:pt x="695" y="252"/>
                </a:cubicBezTo>
                <a:cubicBezTo>
                  <a:pt x="700" y="257"/>
                  <a:pt x="700" y="265"/>
                  <a:pt x="695" y="270"/>
                </a:cubicBezTo>
                <a:lnTo>
                  <a:pt x="642" y="323"/>
                </a:lnTo>
                <a:cubicBezTo>
                  <a:pt x="637" y="327"/>
                  <a:pt x="629" y="327"/>
                  <a:pt x="624" y="323"/>
                </a:cubicBezTo>
                <a:cubicBezTo>
                  <a:pt x="619" y="318"/>
                  <a:pt x="619" y="310"/>
                  <a:pt x="624" y="305"/>
                </a:cubicBezTo>
                <a:close/>
                <a:moveTo>
                  <a:pt x="748" y="181"/>
                </a:moveTo>
                <a:lnTo>
                  <a:pt x="801" y="128"/>
                </a:lnTo>
                <a:cubicBezTo>
                  <a:pt x="806" y="123"/>
                  <a:pt x="814" y="123"/>
                  <a:pt x="818" y="128"/>
                </a:cubicBezTo>
                <a:cubicBezTo>
                  <a:pt x="823" y="133"/>
                  <a:pt x="823" y="141"/>
                  <a:pt x="818" y="146"/>
                </a:cubicBezTo>
                <a:lnTo>
                  <a:pt x="765" y="199"/>
                </a:lnTo>
                <a:cubicBezTo>
                  <a:pt x="761" y="204"/>
                  <a:pt x="753" y="204"/>
                  <a:pt x="748" y="199"/>
                </a:cubicBezTo>
                <a:cubicBezTo>
                  <a:pt x="743" y="194"/>
                  <a:pt x="743" y="186"/>
                  <a:pt x="748" y="181"/>
                </a:cubicBezTo>
                <a:close/>
                <a:moveTo>
                  <a:pt x="872" y="57"/>
                </a:moveTo>
                <a:lnTo>
                  <a:pt x="925" y="4"/>
                </a:lnTo>
                <a:cubicBezTo>
                  <a:pt x="929" y="0"/>
                  <a:pt x="937" y="0"/>
                  <a:pt x="942" y="4"/>
                </a:cubicBezTo>
                <a:cubicBezTo>
                  <a:pt x="947" y="9"/>
                  <a:pt x="947" y="17"/>
                  <a:pt x="942" y="22"/>
                </a:cubicBezTo>
                <a:lnTo>
                  <a:pt x="889" y="75"/>
                </a:lnTo>
                <a:cubicBezTo>
                  <a:pt x="884" y="80"/>
                  <a:pt x="876" y="80"/>
                  <a:pt x="872" y="75"/>
                </a:cubicBezTo>
                <a:cubicBezTo>
                  <a:pt x="867" y="70"/>
                  <a:pt x="867" y="62"/>
                  <a:pt x="872" y="57"/>
                </a:cubicBezTo>
                <a:close/>
              </a:path>
            </a:pathLst>
          </a:custGeom>
          <a:solidFill>
            <a:srgbClr val="FF0000"/>
          </a:solidFill>
          <a:ln w="3175" cap="flat">
            <a:solidFill>
              <a:srgbClr val="0099FF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39" name="Freeform 33"/>
          <p:cNvSpPr>
            <a:spLocks noEditPoints="1"/>
          </p:cNvSpPr>
          <p:nvPr/>
        </p:nvSpPr>
        <p:spPr bwMode="auto">
          <a:xfrm>
            <a:off x="5066203" y="2849691"/>
            <a:ext cx="631518" cy="573584"/>
          </a:xfrm>
          <a:custGeom>
            <a:avLst/>
            <a:gdLst/>
            <a:ahLst/>
            <a:cxnLst>
              <a:cxn ang="0">
                <a:pos x="5" y="924"/>
              </a:cxn>
              <a:cxn ang="0">
                <a:pos x="58" y="871"/>
              </a:cxn>
              <a:cxn ang="0">
                <a:pos x="76" y="871"/>
              </a:cxn>
              <a:cxn ang="0">
                <a:pos x="76" y="889"/>
              </a:cxn>
              <a:cxn ang="0">
                <a:pos x="22" y="942"/>
              </a:cxn>
              <a:cxn ang="0">
                <a:pos x="5" y="942"/>
              </a:cxn>
              <a:cxn ang="0">
                <a:pos x="5" y="924"/>
              </a:cxn>
              <a:cxn ang="0">
                <a:pos x="129" y="801"/>
              </a:cxn>
              <a:cxn ang="0">
                <a:pos x="182" y="748"/>
              </a:cxn>
              <a:cxn ang="0">
                <a:pos x="199" y="748"/>
              </a:cxn>
              <a:cxn ang="0">
                <a:pos x="199" y="765"/>
              </a:cxn>
              <a:cxn ang="0">
                <a:pos x="146" y="818"/>
              </a:cxn>
              <a:cxn ang="0">
                <a:pos x="129" y="818"/>
              </a:cxn>
              <a:cxn ang="0">
                <a:pos x="129" y="801"/>
              </a:cxn>
              <a:cxn ang="0">
                <a:pos x="252" y="677"/>
              </a:cxn>
              <a:cxn ang="0">
                <a:pos x="305" y="624"/>
              </a:cxn>
              <a:cxn ang="0">
                <a:pos x="323" y="624"/>
              </a:cxn>
              <a:cxn ang="0">
                <a:pos x="323" y="642"/>
              </a:cxn>
              <a:cxn ang="0">
                <a:pos x="270" y="695"/>
              </a:cxn>
              <a:cxn ang="0">
                <a:pos x="252" y="695"/>
              </a:cxn>
              <a:cxn ang="0">
                <a:pos x="252" y="677"/>
              </a:cxn>
              <a:cxn ang="0">
                <a:pos x="376" y="553"/>
              </a:cxn>
              <a:cxn ang="0">
                <a:pos x="429" y="500"/>
              </a:cxn>
              <a:cxn ang="0">
                <a:pos x="447" y="500"/>
              </a:cxn>
              <a:cxn ang="0">
                <a:pos x="447" y="518"/>
              </a:cxn>
              <a:cxn ang="0">
                <a:pos x="394" y="571"/>
              </a:cxn>
              <a:cxn ang="0">
                <a:pos x="376" y="571"/>
              </a:cxn>
              <a:cxn ang="0">
                <a:pos x="376" y="553"/>
              </a:cxn>
              <a:cxn ang="0">
                <a:pos x="500" y="429"/>
              </a:cxn>
              <a:cxn ang="0">
                <a:pos x="553" y="376"/>
              </a:cxn>
              <a:cxn ang="0">
                <a:pos x="570" y="376"/>
              </a:cxn>
              <a:cxn ang="0">
                <a:pos x="570" y="394"/>
              </a:cxn>
              <a:cxn ang="0">
                <a:pos x="517" y="447"/>
              </a:cxn>
              <a:cxn ang="0">
                <a:pos x="500" y="447"/>
              </a:cxn>
              <a:cxn ang="0">
                <a:pos x="500" y="429"/>
              </a:cxn>
              <a:cxn ang="0">
                <a:pos x="624" y="306"/>
              </a:cxn>
              <a:cxn ang="0">
                <a:pos x="677" y="253"/>
              </a:cxn>
              <a:cxn ang="0">
                <a:pos x="694" y="253"/>
              </a:cxn>
              <a:cxn ang="0">
                <a:pos x="694" y="270"/>
              </a:cxn>
              <a:cxn ang="0">
                <a:pos x="641" y="323"/>
              </a:cxn>
              <a:cxn ang="0">
                <a:pos x="624" y="323"/>
              </a:cxn>
              <a:cxn ang="0">
                <a:pos x="624" y="306"/>
              </a:cxn>
              <a:cxn ang="0">
                <a:pos x="747" y="182"/>
              </a:cxn>
              <a:cxn ang="0">
                <a:pos x="800" y="129"/>
              </a:cxn>
              <a:cxn ang="0">
                <a:pos x="818" y="129"/>
              </a:cxn>
              <a:cxn ang="0">
                <a:pos x="818" y="147"/>
              </a:cxn>
              <a:cxn ang="0">
                <a:pos x="765" y="200"/>
              </a:cxn>
              <a:cxn ang="0">
                <a:pos x="747" y="200"/>
              </a:cxn>
              <a:cxn ang="0">
                <a:pos x="747" y="182"/>
              </a:cxn>
              <a:cxn ang="0">
                <a:pos x="871" y="58"/>
              </a:cxn>
              <a:cxn ang="0">
                <a:pos x="924" y="5"/>
              </a:cxn>
              <a:cxn ang="0">
                <a:pos x="942" y="5"/>
              </a:cxn>
              <a:cxn ang="0">
                <a:pos x="942" y="23"/>
              </a:cxn>
              <a:cxn ang="0">
                <a:pos x="889" y="76"/>
              </a:cxn>
              <a:cxn ang="0">
                <a:pos x="871" y="76"/>
              </a:cxn>
              <a:cxn ang="0">
                <a:pos x="871" y="58"/>
              </a:cxn>
            </a:cxnLst>
            <a:rect l="0" t="0" r="r" b="b"/>
            <a:pathLst>
              <a:path w="947" h="947">
                <a:moveTo>
                  <a:pt x="5" y="924"/>
                </a:moveTo>
                <a:lnTo>
                  <a:pt x="58" y="871"/>
                </a:lnTo>
                <a:cubicBezTo>
                  <a:pt x="63" y="867"/>
                  <a:pt x="71" y="867"/>
                  <a:pt x="76" y="871"/>
                </a:cubicBezTo>
                <a:cubicBezTo>
                  <a:pt x="80" y="876"/>
                  <a:pt x="80" y="884"/>
                  <a:pt x="76" y="889"/>
                </a:cubicBezTo>
                <a:lnTo>
                  <a:pt x="22" y="942"/>
                </a:lnTo>
                <a:cubicBezTo>
                  <a:pt x="18" y="947"/>
                  <a:pt x="10" y="947"/>
                  <a:pt x="5" y="942"/>
                </a:cubicBezTo>
                <a:cubicBezTo>
                  <a:pt x="0" y="937"/>
                  <a:pt x="0" y="929"/>
                  <a:pt x="5" y="924"/>
                </a:cubicBezTo>
                <a:close/>
                <a:moveTo>
                  <a:pt x="129" y="801"/>
                </a:moveTo>
                <a:lnTo>
                  <a:pt x="182" y="748"/>
                </a:lnTo>
                <a:cubicBezTo>
                  <a:pt x="186" y="743"/>
                  <a:pt x="194" y="743"/>
                  <a:pt x="199" y="748"/>
                </a:cubicBezTo>
                <a:cubicBezTo>
                  <a:pt x="204" y="753"/>
                  <a:pt x="204" y="760"/>
                  <a:pt x="199" y="765"/>
                </a:cubicBezTo>
                <a:lnTo>
                  <a:pt x="146" y="818"/>
                </a:lnTo>
                <a:cubicBezTo>
                  <a:pt x="141" y="823"/>
                  <a:pt x="133" y="823"/>
                  <a:pt x="129" y="818"/>
                </a:cubicBezTo>
                <a:cubicBezTo>
                  <a:pt x="124" y="814"/>
                  <a:pt x="124" y="806"/>
                  <a:pt x="129" y="801"/>
                </a:cubicBezTo>
                <a:close/>
                <a:moveTo>
                  <a:pt x="252" y="677"/>
                </a:moveTo>
                <a:lnTo>
                  <a:pt x="305" y="624"/>
                </a:lnTo>
                <a:cubicBezTo>
                  <a:pt x="310" y="619"/>
                  <a:pt x="318" y="619"/>
                  <a:pt x="323" y="624"/>
                </a:cubicBezTo>
                <a:cubicBezTo>
                  <a:pt x="328" y="629"/>
                  <a:pt x="328" y="637"/>
                  <a:pt x="323" y="642"/>
                </a:cubicBezTo>
                <a:lnTo>
                  <a:pt x="270" y="695"/>
                </a:lnTo>
                <a:cubicBezTo>
                  <a:pt x="265" y="700"/>
                  <a:pt x="257" y="700"/>
                  <a:pt x="252" y="695"/>
                </a:cubicBezTo>
                <a:cubicBezTo>
                  <a:pt x="247" y="690"/>
                  <a:pt x="247" y="682"/>
                  <a:pt x="252" y="677"/>
                </a:cubicBezTo>
                <a:close/>
                <a:moveTo>
                  <a:pt x="376" y="553"/>
                </a:moveTo>
                <a:lnTo>
                  <a:pt x="429" y="500"/>
                </a:lnTo>
                <a:cubicBezTo>
                  <a:pt x="434" y="495"/>
                  <a:pt x="442" y="495"/>
                  <a:pt x="447" y="500"/>
                </a:cubicBezTo>
                <a:cubicBezTo>
                  <a:pt x="452" y="505"/>
                  <a:pt x="452" y="513"/>
                  <a:pt x="447" y="518"/>
                </a:cubicBezTo>
                <a:lnTo>
                  <a:pt x="394" y="571"/>
                </a:lnTo>
                <a:cubicBezTo>
                  <a:pt x="389" y="576"/>
                  <a:pt x="381" y="576"/>
                  <a:pt x="376" y="571"/>
                </a:cubicBezTo>
                <a:cubicBezTo>
                  <a:pt x="371" y="566"/>
                  <a:pt x="371" y="558"/>
                  <a:pt x="376" y="553"/>
                </a:cubicBezTo>
                <a:close/>
                <a:moveTo>
                  <a:pt x="500" y="429"/>
                </a:moveTo>
                <a:lnTo>
                  <a:pt x="553" y="376"/>
                </a:lnTo>
                <a:cubicBezTo>
                  <a:pt x="558" y="372"/>
                  <a:pt x="566" y="372"/>
                  <a:pt x="570" y="376"/>
                </a:cubicBezTo>
                <a:cubicBezTo>
                  <a:pt x="575" y="381"/>
                  <a:pt x="575" y="389"/>
                  <a:pt x="570" y="394"/>
                </a:cubicBezTo>
                <a:lnTo>
                  <a:pt x="517" y="447"/>
                </a:lnTo>
                <a:cubicBezTo>
                  <a:pt x="513" y="452"/>
                  <a:pt x="505" y="452"/>
                  <a:pt x="500" y="447"/>
                </a:cubicBezTo>
                <a:cubicBezTo>
                  <a:pt x="495" y="442"/>
                  <a:pt x="495" y="434"/>
                  <a:pt x="500" y="429"/>
                </a:cubicBezTo>
                <a:close/>
                <a:moveTo>
                  <a:pt x="624" y="306"/>
                </a:moveTo>
                <a:lnTo>
                  <a:pt x="677" y="253"/>
                </a:lnTo>
                <a:cubicBezTo>
                  <a:pt x="681" y="248"/>
                  <a:pt x="689" y="248"/>
                  <a:pt x="694" y="253"/>
                </a:cubicBezTo>
                <a:cubicBezTo>
                  <a:pt x="699" y="258"/>
                  <a:pt x="699" y="266"/>
                  <a:pt x="694" y="270"/>
                </a:cubicBezTo>
                <a:lnTo>
                  <a:pt x="641" y="323"/>
                </a:lnTo>
                <a:cubicBezTo>
                  <a:pt x="636" y="328"/>
                  <a:pt x="628" y="328"/>
                  <a:pt x="624" y="323"/>
                </a:cubicBezTo>
                <a:cubicBezTo>
                  <a:pt x="619" y="319"/>
                  <a:pt x="619" y="311"/>
                  <a:pt x="624" y="306"/>
                </a:cubicBezTo>
                <a:close/>
                <a:moveTo>
                  <a:pt x="747" y="182"/>
                </a:moveTo>
                <a:lnTo>
                  <a:pt x="800" y="129"/>
                </a:lnTo>
                <a:cubicBezTo>
                  <a:pt x="805" y="124"/>
                  <a:pt x="813" y="124"/>
                  <a:pt x="818" y="129"/>
                </a:cubicBezTo>
                <a:cubicBezTo>
                  <a:pt x="823" y="134"/>
                  <a:pt x="823" y="142"/>
                  <a:pt x="818" y="147"/>
                </a:cubicBezTo>
                <a:lnTo>
                  <a:pt x="765" y="200"/>
                </a:lnTo>
                <a:cubicBezTo>
                  <a:pt x="760" y="205"/>
                  <a:pt x="752" y="205"/>
                  <a:pt x="747" y="200"/>
                </a:cubicBezTo>
                <a:cubicBezTo>
                  <a:pt x="742" y="195"/>
                  <a:pt x="742" y="187"/>
                  <a:pt x="747" y="182"/>
                </a:cubicBezTo>
                <a:close/>
                <a:moveTo>
                  <a:pt x="871" y="58"/>
                </a:moveTo>
                <a:lnTo>
                  <a:pt x="924" y="5"/>
                </a:lnTo>
                <a:cubicBezTo>
                  <a:pt x="929" y="0"/>
                  <a:pt x="937" y="0"/>
                  <a:pt x="942" y="5"/>
                </a:cubicBezTo>
                <a:cubicBezTo>
                  <a:pt x="947" y="10"/>
                  <a:pt x="947" y="18"/>
                  <a:pt x="942" y="23"/>
                </a:cubicBezTo>
                <a:lnTo>
                  <a:pt x="889" y="76"/>
                </a:lnTo>
                <a:cubicBezTo>
                  <a:pt x="884" y="81"/>
                  <a:pt x="876" y="81"/>
                  <a:pt x="871" y="76"/>
                </a:cubicBezTo>
                <a:cubicBezTo>
                  <a:pt x="866" y="71"/>
                  <a:pt x="866" y="63"/>
                  <a:pt x="871" y="58"/>
                </a:cubicBezTo>
                <a:close/>
              </a:path>
            </a:pathLst>
          </a:custGeom>
          <a:solidFill>
            <a:srgbClr val="FF0000"/>
          </a:solidFill>
          <a:ln w="3175" cap="flat">
            <a:solidFill>
              <a:srgbClr val="0099FF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40" name="Freeform 34"/>
          <p:cNvSpPr>
            <a:spLocks noEditPoints="1"/>
          </p:cNvSpPr>
          <p:nvPr/>
        </p:nvSpPr>
        <p:spPr bwMode="auto">
          <a:xfrm>
            <a:off x="4172049" y="4018832"/>
            <a:ext cx="2065278" cy="130310"/>
          </a:xfrm>
          <a:custGeom>
            <a:avLst/>
            <a:gdLst/>
            <a:ahLst/>
            <a:cxnLst>
              <a:cxn ang="0">
                <a:pos x="16" y="84"/>
              </a:cxn>
              <a:cxn ang="0">
                <a:pos x="2450" y="84"/>
              </a:cxn>
              <a:cxn ang="0">
                <a:pos x="2466" y="100"/>
              </a:cxn>
              <a:cxn ang="0">
                <a:pos x="2450" y="117"/>
              </a:cxn>
              <a:cxn ang="0">
                <a:pos x="16" y="117"/>
              </a:cxn>
              <a:cxn ang="0">
                <a:pos x="0" y="100"/>
              </a:cxn>
              <a:cxn ang="0">
                <a:pos x="16" y="84"/>
              </a:cxn>
              <a:cxn ang="0">
                <a:pos x="2416" y="0"/>
              </a:cxn>
              <a:cxn ang="0">
                <a:pos x="2616" y="100"/>
              </a:cxn>
              <a:cxn ang="0">
                <a:pos x="2416" y="200"/>
              </a:cxn>
              <a:cxn ang="0">
                <a:pos x="2416" y="0"/>
              </a:cxn>
            </a:cxnLst>
            <a:rect l="0" t="0" r="r" b="b"/>
            <a:pathLst>
              <a:path w="2616" h="200">
                <a:moveTo>
                  <a:pt x="16" y="84"/>
                </a:moveTo>
                <a:lnTo>
                  <a:pt x="2450" y="84"/>
                </a:lnTo>
                <a:cubicBezTo>
                  <a:pt x="2459" y="84"/>
                  <a:pt x="2466" y="91"/>
                  <a:pt x="2466" y="100"/>
                </a:cubicBezTo>
                <a:cubicBezTo>
                  <a:pt x="2466" y="110"/>
                  <a:pt x="2459" y="117"/>
                  <a:pt x="2450" y="117"/>
                </a:cubicBezTo>
                <a:lnTo>
                  <a:pt x="16" y="117"/>
                </a:lnTo>
                <a:cubicBezTo>
                  <a:pt x="7" y="117"/>
                  <a:pt x="0" y="110"/>
                  <a:pt x="0" y="100"/>
                </a:cubicBezTo>
                <a:cubicBezTo>
                  <a:pt x="0" y="91"/>
                  <a:pt x="7" y="84"/>
                  <a:pt x="16" y="84"/>
                </a:cubicBezTo>
                <a:close/>
                <a:moveTo>
                  <a:pt x="2416" y="0"/>
                </a:moveTo>
                <a:lnTo>
                  <a:pt x="2616" y="100"/>
                </a:lnTo>
                <a:lnTo>
                  <a:pt x="2416" y="200"/>
                </a:lnTo>
                <a:lnTo>
                  <a:pt x="2416" y="0"/>
                </a:ln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accent1"/>
            </a:solidFill>
            <a:prstDash val="solid"/>
            <a:bevel/>
            <a:headEnd/>
            <a:tailEnd/>
          </a:ln>
        </p:spPr>
        <p:txBody>
          <a:bodyPr vert="horz" wrap="square" lIns="45724" tIns="22862" rIns="45724" bIns="22862" numCol="1" anchor="t" anchorCtr="0" compatLnSpc="1">
            <a:prstTxWarp prst="textNoShape">
              <a:avLst/>
            </a:prstTxWarp>
          </a:bodyPr>
          <a:lstStyle/>
          <a:p>
            <a:endParaRPr lang="fr-FR" sz="700"/>
          </a:p>
        </p:txBody>
      </p:sp>
      <p:sp>
        <p:nvSpPr>
          <p:cNvPr id="43" name="Rectangle 35"/>
          <p:cNvSpPr>
            <a:spLocks noChangeArrowheads="1"/>
          </p:cNvSpPr>
          <p:nvPr/>
        </p:nvSpPr>
        <p:spPr bwMode="auto">
          <a:xfrm>
            <a:off x="2569104" y="5229355"/>
            <a:ext cx="52028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fr-FR" dirty="0">
                <a:latin typeface="Tahoma" pitchFamily="34" charset="0"/>
                <a:cs typeface="Arial" pitchFamily="34" charset="0"/>
              </a:rPr>
              <a:t>Besoin</a:t>
            </a:r>
            <a:endParaRPr lang="fr-FR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36"/>
          <p:cNvSpPr>
            <a:spLocks noChangeArrowheads="1"/>
          </p:cNvSpPr>
          <p:nvPr/>
        </p:nvSpPr>
        <p:spPr bwMode="auto">
          <a:xfrm>
            <a:off x="3739334" y="2213760"/>
            <a:ext cx="95378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fr-FR" dirty="0">
                <a:latin typeface="Tahoma" pitchFamily="34" charset="0"/>
                <a:cs typeface="Arial" pitchFamily="34" charset="0"/>
              </a:rPr>
              <a:t>Technologie</a:t>
            </a:r>
            <a:endParaRPr lang="fr-FR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463471" y="1482554"/>
            <a:ext cx="4570809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fr-FR" sz="1800" b="1" dirty="0">
                <a:solidFill>
                  <a:srgbClr val="002060"/>
                </a:solidFill>
              </a:rPr>
              <a:t>DAS</a:t>
            </a:r>
            <a:r>
              <a:rPr lang="fr-FR" sz="1800" dirty="0">
                <a:solidFill>
                  <a:srgbClr val="002060"/>
                </a:solidFill>
              </a:rPr>
              <a:t> : </a:t>
            </a:r>
            <a:r>
              <a:rPr lang="fr-FR" sz="1800" dirty="0">
                <a:solidFill>
                  <a:srgbClr val="FF0000"/>
                </a:solidFill>
              </a:rPr>
              <a:t>homogène</a:t>
            </a:r>
            <a:r>
              <a:rPr lang="fr-FR" sz="1800" dirty="0">
                <a:solidFill>
                  <a:srgbClr val="002060"/>
                </a:solidFill>
              </a:rPr>
              <a:t> sur ces trois critères de segmentation (technologie, client, besoin)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5DD41B9-66A5-EEAA-680C-4AF49FC83CB1}"/>
              </a:ext>
            </a:extLst>
          </p:cNvPr>
          <p:cNvSpPr txBox="1"/>
          <p:nvPr/>
        </p:nvSpPr>
        <p:spPr>
          <a:xfrm>
            <a:off x="653845" y="692249"/>
            <a:ext cx="5998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Domaine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ndara"/>
              </a:rPr>
              <a:t>d’activité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ndara"/>
              </a:rPr>
              <a:t>stratégique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ndara"/>
              </a:rPr>
              <a:t> (DAS)</a:t>
            </a:r>
            <a:endParaRPr lang="fr-TN" sz="2800" dirty="0"/>
          </a:p>
        </p:txBody>
      </p:sp>
      <p:sp>
        <p:nvSpPr>
          <p:cNvPr id="3" name="Google Shape;359;p26">
            <a:extLst>
              <a:ext uri="{FF2B5EF4-FFF2-40B4-BE49-F238E27FC236}">
                <a16:creationId xmlns:a16="http://schemas.microsoft.com/office/drawing/2014/main" id="{EB338FC9-FA01-5711-6ED5-7D7D37043E79}"/>
              </a:ext>
            </a:extLst>
          </p:cNvPr>
          <p:cNvSpPr/>
          <p:nvPr/>
        </p:nvSpPr>
        <p:spPr>
          <a:xfrm rot="5400000">
            <a:off x="-31494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F40E72-9301-DF15-0AF8-E0B3028F6B30}"/>
              </a:ext>
            </a:extLst>
          </p:cNvPr>
          <p:cNvSpPr txBox="1"/>
          <p:nvPr/>
        </p:nvSpPr>
        <p:spPr>
          <a:xfrm>
            <a:off x="71770" y="2443670"/>
            <a:ext cx="3109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rgbClr val="002060"/>
                </a:solidFill>
              </a:rPr>
              <a:t>« DAS: un sous ensemble d’une organisation à laquelle il est possible de retirer ou d’allouer des ressources d’une manière indépendante et qui fait face à ses propres facteurs clés de succès. » </a:t>
            </a:r>
            <a:endParaRPr lang="fr-TN" sz="1800" dirty="0">
              <a:solidFill>
                <a:srgbClr val="002060"/>
              </a:solidFill>
            </a:endParaRPr>
          </a:p>
        </p:txBody>
      </p:sp>
      <p:cxnSp>
        <p:nvCxnSpPr>
          <p:cNvPr id="5" name="Straight Line buttom">
            <a:extLst>
              <a:ext uri="{FF2B5EF4-FFF2-40B4-BE49-F238E27FC236}">
                <a16:creationId xmlns:a16="http://schemas.microsoft.com/office/drawing/2014/main" id="{9A068E85-46E9-399B-1751-24CB2D07D59D}"/>
              </a:ext>
            </a:extLst>
          </p:cNvPr>
          <p:cNvCxnSpPr>
            <a:cxnSpLocks/>
          </p:cNvCxnSpPr>
          <p:nvPr/>
        </p:nvCxnSpPr>
        <p:spPr>
          <a:xfrm>
            <a:off x="102674" y="5887720"/>
            <a:ext cx="8777846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0" name="Picture 4" descr="Michel Kalika, Business Science Institute - Le mémoire de Master par Michel  Kalika - Stratégies &amp; Management - xerficanal.com">
            <a:extLst>
              <a:ext uri="{FF2B5EF4-FFF2-40B4-BE49-F238E27FC236}">
                <a16:creationId xmlns:a16="http://schemas.microsoft.com/office/drawing/2014/main" id="{68048AAD-6718-495F-C3D6-F4B60F91B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55" y="6013473"/>
            <a:ext cx="1125948" cy="63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E78A21E-6C04-884F-01D2-7AA309BD2C80}"/>
              </a:ext>
            </a:extLst>
          </p:cNvPr>
          <p:cNvSpPr txBox="1"/>
          <p:nvPr/>
        </p:nvSpPr>
        <p:spPr>
          <a:xfrm>
            <a:off x="1349903" y="6221204"/>
            <a:ext cx="2038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Michel </a:t>
            </a:r>
            <a:r>
              <a:rPr lang="fr-FR" dirty="0" err="1">
                <a:solidFill>
                  <a:schemeClr val="tx2">
                    <a:lumMod val="50000"/>
                  </a:schemeClr>
                </a:solidFill>
              </a:rPr>
              <a:t>Kalika</a:t>
            </a:r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fr-TN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4" name="Google Shape;534;p33">
            <a:extLst>
              <a:ext uri="{FF2B5EF4-FFF2-40B4-BE49-F238E27FC236}">
                <a16:creationId xmlns:a16="http://schemas.microsoft.com/office/drawing/2014/main" id="{A0122299-D605-EC46-876A-220B310283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 animBg="1"/>
      <p:bldP spid="38" grpId="0" animBg="1"/>
      <p:bldP spid="39" grpId="0" animBg="1"/>
      <p:bldP spid="40" grpId="0" animBg="1"/>
      <p:bldP spid="43" grpId="0"/>
      <p:bldP spid="44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59;p35">
            <a:extLst>
              <a:ext uri="{FF2B5EF4-FFF2-40B4-BE49-F238E27FC236}">
                <a16:creationId xmlns:a16="http://schemas.microsoft.com/office/drawing/2014/main" id="{205C8421-40A4-6F5F-E56E-FEB9328C0108}"/>
              </a:ext>
            </a:extLst>
          </p:cNvPr>
          <p:cNvSpPr txBox="1"/>
          <p:nvPr/>
        </p:nvSpPr>
        <p:spPr>
          <a:xfrm>
            <a:off x="223955" y="3926115"/>
            <a:ext cx="821537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L’objectif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est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développer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un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avantage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concurrentiel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significatif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et 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durable 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dans le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domaine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d’activité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(DAS).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L’avantage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concurrentiel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traduit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la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capacité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de </a:t>
            </a:r>
            <a:r>
              <a:rPr lang="en-US" sz="1800" b="1" dirty="0" err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l’entreprise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à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générer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une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performance supérieure à la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moyenne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des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concurrents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du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secteur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. </a:t>
            </a:r>
            <a:endParaRPr sz="1800" b="1" dirty="0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" name="Google Shape;359;p26">
            <a:extLst>
              <a:ext uri="{FF2B5EF4-FFF2-40B4-BE49-F238E27FC236}">
                <a16:creationId xmlns:a16="http://schemas.microsoft.com/office/drawing/2014/main" id="{CC19E16F-10F1-688E-AEFA-3B0A0567C06E}"/>
              </a:ext>
            </a:extLst>
          </p:cNvPr>
          <p:cNvSpPr/>
          <p:nvPr/>
        </p:nvSpPr>
        <p:spPr>
          <a:xfrm rot="5400000">
            <a:off x="-31494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58;p35">
            <a:extLst>
              <a:ext uri="{FF2B5EF4-FFF2-40B4-BE49-F238E27FC236}">
                <a16:creationId xmlns:a16="http://schemas.microsoft.com/office/drawing/2014/main" id="{32FF03B5-12BC-71CD-801C-33B0CC35FF6F}"/>
              </a:ext>
            </a:extLst>
          </p:cNvPr>
          <p:cNvSpPr/>
          <p:nvPr/>
        </p:nvSpPr>
        <p:spPr>
          <a:xfrm>
            <a:off x="298162" y="608367"/>
            <a:ext cx="67687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     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ea typeface="Candara"/>
                <a:cs typeface="Candara"/>
                <a:sym typeface="Calibri"/>
              </a:rPr>
              <a:t>S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libri"/>
              </a:rPr>
              <a:t>tratégies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libri"/>
              </a:rPr>
              <a:t> Business   </a:t>
            </a:r>
            <a:endParaRPr sz="2800" b="1" dirty="0">
              <a:solidFill>
                <a:srgbClr val="C00000"/>
              </a:solidFill>
              <a:latin typeface="Candara"/>
              <a:sym typeface="Calibri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198CAC-9002-5849-01CF-C209CF73D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96" y="1259840"/>
            <a:ext cx="3485804" cy="2396490"/>
          </a:xfrm>
          <a:prstGeom prst="rect">
            <a:avLst/>
          </a:prstGeom>
        </p:spPr>
      </p:pic>
      <p:pic>
        <p:nvPicPr>
          <p:cNvPr id="9" name="Google Shape;534;p33">
            <a:extLst>
              <a:ext uri="{FF2B5EF4-FFF2-40B4-BE49-F238E27FC236}">
                <a16:creationId xmlns:a16="http://schemas.microsoft.com/office/drawing/2014/main" id="{C641C90E-C0DD-7236-673F-2008A6D2CE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3246"/>
            <a:ext cx="1455174" cy="6014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449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"/>
          <p:cNvSpPr/>
          <p:nvPr/>
        </p:nvSpPr>
        <p:spPr>
          <a:xfrm>
            <a:off x="-94808" y="641797"/>
            <a:ext cx="67687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     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ea typeface="Candara"/>
                <a:cs typeface="Candara"/>
                <a:sym typeface="Calibri"/>
              </a:rPr>
              <a:t>S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libri"/>
              </a:rPr>
              <a:t>tratégies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libri"/>
              </a:rPr>
              <a:t> Business   </a:t>
            </a:r>
            <a:endParaRPr sz="2800" b="1" dirty="0">
              <a:solidFill>
                <a:srgbClr val="C00000"/>
              </a:solidFill>
              <a:latin typeface="Candara"/>
              <a:sym typeface="Calibri"/>
            </a:endParaRPr>
          </a:p>
        </p:txBody>
      </p:sp>
      <p:sp>
        <p:nvSpPr>
          <p:cNvPr id="560" name="Google Shape;560;p35"/>
          <p:cNvSpPr/>
          <p:nvPr/>
        </p:nvSpPr>
        <p:spPr>
          <a:xfrm>
            <a:off x="1749834" y="1924989"/>
            <a:ext cx="5918145" cy="1143008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54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d’avantage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concurrentiel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recherché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Coût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				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Différentiation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	 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5"/>
          <p:cNvSpPr txBox="1"/>
          <p:nvPr/>
        </p:nvSpPr>
        <p:spPr>
          <a:xfrm>
            <a:off x="1262018" y="1331476"/>
            <a:ext cx="63579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PORTER: les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stratégies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Business </a:t>
            </a:r>
            <a:r>
              <a:rPr lang="en-US" sz="1800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génériques</a:t>
            </a:r>
            <a:r>
              <a:rPr lang="en-US" sz="1800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800" b="1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5"/>
          <p:cNvSpPr/>
          <p:nvPr/>
        </p:nvSpPr>
        <p:spPr>
          <a:xfrm>
            <a:off x="246789" y="2857496"/>
            <a:ext cx="1241444" cy="2714644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54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Marché cible 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5"/>
          <p:cNvSpPr/>
          <p:nvPr/>
        </p:nvSpPr>
        <p:spPr>
          <a:xfrm>
            <a:off x="1769517" y="3111343"/>
            <a:ext cx="2428892" cy="1357322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Domination par les </a:t>
            </a: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coûts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5096210" y="3111343"/>
            <a:ext cx="2571768" cy="1357322"/>
          </a:xfrm>
          <a:prstGeom prst="roundRect">
            <a:avLst>
              <a:gd name="adj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5400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Différentiation</a:t>
            </a: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1769517" y="4579050"/>
            <a:ext cx="5918144" cy="1071570"/>
          </a:xfrm>
          <a:prstGeom prst="roundRect">
            <a:avLst>
              <a:gd name="adj" fmla="val 16667"/>
            </a:avLst>
          </a:prstGeom>
          <a:solidFill>
            <a:srgbClr val="0B81C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Focalisation ( stratégie de niche)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5"/>
          <p:cNvSpPr txBox="1"/>
          <p:nvPr/>
        </p:nvSpPr>
        <p:spPr>
          <a:xfrm>
            <a:off x="397313" y="3058893"/>
            <a:ext cx="1143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472368" y="5114835"/>
            <a:ext cx="10715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Etroit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331640" cy="4046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59;p26">
            <a:extLst>
              <a:ext uri="{FF2B5EF4-FFF2-40B4-BE49-F238E27FC236}">
                <a16:creationId xmlns:a16="http://schemas.microsoft.com/office/drawing/2014/main" id="{58663B91-FEE6-F466-1213-635B1D36BB78}"/>
              </a:ext>
            </a:extLst>
          </p:cNvPr>
          <p:cNvSpPr/>
          <p:nvPr/>
        </p:nvSpPr>
        <p:spPr>
          <a:xfrm rot="5400000">
            <a:off x="-31494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Line buttom">
            <a:extLst>
              <a:ext uri="{FF2B5EF4-FFF2-40B4-BE49-F238E27FC236}">
                <a16:creationId xmlns:a16="http://schemas.microsoft.com/office/drawing/2014/main" id="{451BC6A6-809B-A03E-BE01-A7BD6C45C1D9}"/>
              </a:ext>
            </a:extLst>
          </p:cNvPr>
          <p:cNvCxnSpPr>
            <a:cxnSpLocks/>
          </p:cNvCxnSpPr>
          <p:nvPr/>
        </p:nvCxnSpPr>
        <p:spPr>
          <a:xfrm>
            <a:off x="102674" y="5887720"/>
            <a:ext cx="8777846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Théorie des stratégies génériques vs. Stratégie hybride.">
            <a:extLst>
              <a:ext uri="{FF2B5EF4-FFF2-40B4-BE49-F238E27FC236}">
                <a16:creationId xmlns:a16="http://schemas.microsoft.com/office/drawing/2014/main" id="{163F74CF-75CF-5008-4793-8320E75D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490" y="6020421"/>
            <a:ext cx="970660" cy="77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245F135-FB89-661C-5177-414D9DBE4C4B}"/>
              </a:ext>
            </a:extLst>
          </p:cNvPr>
          <p:cNvSpPr txBox="1"/>
          <p:nvPr/>
        </p:nvSpPr>
        <p:spPr>
          <a:xfrm>
            <a:off x="1262018" y="6208091"/>
            <a:ext cx="2138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Michael Porter </a:t>
            </a:r>
            <a:endParaRPr lang="fr-T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/>
          <p:nvPr/>
        </p:nvSpPr>
        <p:spPr>
          <a:xfrm>
            <a:off x="2140986" y="2646545"/>
            <a:ext cx="1451696" cy="1935595"/>
          </a:xfrm>
          <a:prstGeom prst="ellipse">
            <a:avLst/>
          </a:prstGeom>
          <a:solidFill>
            <a:srgbClr val="00B0F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6"/>
          <p:cNvSpPr/>
          <p:nvPr/>
        </p:nvSpPr>
        <p:spPr>
          <a:xfrm>
            <a:off x="3277764" y="2646545"/>
            <a:ext cx="1451696" cy="193559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4414542" y="2646545"/>
            <a:ext cx="1451696" cy="1935595"/>
          </a:xfrm>
          <a:prstGeom prst="ellipse">
            <a:avLst/>
          </a:prstGeom>
          <a:solidFill>
            <a:srgbClr val="0B81C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36"/>
          <p:cNvCxnSpPr>
            <a:stCxn id="577" idx="4"/>
          </p:cNvCxnSpPr>
          <p:nvPr/>
        </p:nvCxnSpPr>
        <p:spPr>
          <a:xfrm rot="5400000">
            <a:off x="2910262" y="4257390"/>
            <a:ext cx="768600" cy="1418100"/>
          </a:xfrm>
          <a:prstGeom prst="bentConnector2">
            <a:avLst/>
          </a:prstGeom>
          <a:noFill/>
          <a:ln w="19050" cap="flat" cmpd="sng">
            <a:solidFill>
              <a:srgbClr val="56595E"/>
            </a:solidFill>
            <a:prstDash val="dot"/>
            <a:round/>
            <a:headEnd type="oval" w="med" len="med"/>
            <a:tailEnd type="triangle" w="med" len="med"/>
          </a:ln>
        </p:spPr>
      </p:cxnSp>
      <p:cxnSp>
        <p:nvCxnSpPr>
          <p:cNvPr id="580" name="Google Shape;580;p36"/>
          <p:cNvCxnSpPr/>
          <p:nvPr/>
        </p:nvCxnSpPr>
        <p:spPr>
          <a:xfrm>
            <a:off x="5097058" y="4598500"/>
            <a:ext cx="1149600" cy="752400"/>
          </a:xfrm>
          <a:prstGeom prst="bentConnector3">
            <a:avLst>
              <a:gd name="adj1" fmla="val 754"/>
            </a:avLst>
          </a:prstGeom>
          <a:noFill/>
          <a:ln w="19050" cap="flat" cmpd="sng">
            <a:solidFill>
              <a:srgbClr val="56595E"/>
            </a:solidFill>
            <a:prstDash val="dot"/>
            <a:round/>
            <a:headEnd type="oval" w="med" len="med"/>
            <a:tailEnd type="triangle" w="med" len="med"/>
          </a:ln>
        </p:spPr>
      </p:cxnSp>
      <p:cxnSp>
        <p:nvCxnSpPr>
          <p:cNvPr id="581" name="Google Shape;581;p36"/>
          <p:cNvCxnSpPr/>
          <p:nvPr/>
        </p:nvCxnSpPr>
        <p:spPr>
          <a:xfrm rot="5400000" flipH="1">
            <a:off x="1464476" y="1035856"/>
            <a:ext cx="1643100" cy="1285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56595E"/>
            </a:solidFill>
            <a:prstDash val="dot"/>
            <a:round/>
            <a:headEnd type="oval" w="med" len="med"/>
            <a:tailEnd type="triangle" w="med" len="med"/>
          </a:ln>
        </p:spPr>
      </p:cxnSp>
      <p:grpSp>
        <p:nvGrpSpPr>
          <p:cNvPr id="582" name="Google Shape;582;p36"/>
          <p:cNvGrpSpPr/>
          <p:nvPr/>
        </p:nvGrpSpPr>
        <p:grpSpPr>
          <a:xfrm>
            <a:off x="665820" y="349351"/>
            <a:ext cx="8112420" cy="2135374"/>
            <a:chOff x="1643298" y="2783128"/>
            <a:chExt cx="16082601" cy="1246911"/>
          </a:xfrm>
        </p:grpSpPr>
        <p:sp>
          <p:nvSpPr>
            <p:cNvPr id="583" name="Google Shape;583;p36"/>
            <p:cNvSpPr txBox="1"/>
            <p:nvPr/>
          </p:nvSpPr>
          <p:spPr>
            <a:xfrm>
              <a:off x="1643298" y="3185359"/>
              <a:ext cx="16082601" cy="844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Vise à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créer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un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écart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de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coût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significatif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par rapport aux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concurrents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 du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secteur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: </a:t>
              </a:r>
              <a:endParaRPr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soit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par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accroissement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des profits et des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marges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(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Même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prix de vente et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baisse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des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coûts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) </a:t>
              </a:r>
              <a:endParaRPr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soit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par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accroissement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de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sa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part de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marché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et de son CA (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baisse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des prix au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même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rythme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que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ses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</a:t>
              </a:r>
              <a:r>
                <a:rPr lang="en-US" sz="1800" b="1" dirty="0" err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coûts</a:t>
              </a:r>
              <a:r>
                <a:rPr lang="en-US" sz="1800" b="1" dirty="0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  </a:t>
              </a:r>
              <a:endParaRPr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2625117" y="2783128"/>
              <a:ext cx="6622247" cy="233637"/>
            </a:xfrm>
            <a:prstGeom prst="rect">
              <a:avLst/>
            </a:prstGeom>
            <a:solidFill>
              <a:srgbClr val="36B8E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Domination par le </a:t>
              </a:r>
              <a:r>
                <a:rPr lang="en-US" sz="2000" b="1" dirty="0" err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coût</a:t>
              </a:r>
              <a:endParaRPr sz="2000" b="1" dirty="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grpSp>
        <p:nvGrpSpPr>
          <p:cNvPr id="585" name="Google Shape;585;p36"/>
          <p:cNvGrpSpPr/>
          <p:nvPr/>
        </p:nvGrpSpPr>
        <p:grpSpPr>
          <a:xfrm>
            <a:off x="214282" y="4783279"/>
            <a:ext cx="3357586" cy="1864027"/>
            <a:chOff x="1861999" y="3095481"/>
            <a:chExt cx="4564985" cy="1119450"/>
          </a:xfrm>
        </p:grpSpPr>
        <p:sp>
          <p:nvSpPr>
            <p:cNvPr id="586" name="Google Shape;586;p36"/>
            <p:cNvSpPr txBox="1"/>
            <p:nvPr/>
          </p:nvSpPr>
          <p:spPr>
            <a:xfrm>
              <a:off x="1861999" y="3346199"/>
              <a:ext cx="4564985" cy="86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Vise à proposer une offre qui est à la fois différente , spécifique et jugée supérieure  ou inférieure par le client </a:t>
              </a:r>
              <a:endParaRPr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1942961" y="3095481"/>
              <a:ext cx="3823960" cy="240288"/>
            </a:xfrm>
            <a:prstGeom prst="rect">
              <a:avLst/>
            </a:prstGeom>
            <a:solidFill>
              <a:srgbClr val="239BD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Différenciatio</a:t>
              </a:r>
              <a:r>
                <a:rPr lang="en-US" sz="1600" b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n </a:t>
              </a:r>
              <a:endParaRPr sz="16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grpSp>
        <p:nvGrpSpPr>
          <p:cNvPr id="588" name="Google Shape;588;p36"/>
          <p:cNvGrpSpPr/>
          <p:nvPr/>
        </p:nvGrpSpPr>
        <p:grpSpPr>
          <a:xfrm>
            <a:off x="6143636" y="4643447"/>
            <a:ext cx="3000364" cy="2141032"/>
            <a:chOff x="1861999" y="3095482"/>
            <a:chExt cx="4564985" cy="1285808"/>
          </a:xfrm>
        </p:grpSpPr>
        <p:sp>
          <p:nvSpPr>
            <p:cNvPr id="589" name="Google Shape;589;p36"/>
            <p:cNvSpPr txBox="1"/>
            <p:nvPr/>
          </p:nvSpPr>
          <p:spPr>
            <a:xfrm>
              <a:off x="1861999" y="3346203"/>
              <a:ext cx="4564985" cy="1035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75" rIns="60950" bIns="304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2060"/>
                  </a:solidFill>
                  <a:latin typeface="Candara"/>
                  <a:ea typeface="Candara"/>
                  <a:cs typeface="Candara"/>
                  <a:sym typeface="Candara"/>
                </a:rPr>
                <a:t>Vise à proposer une offre destinée  à un marché limité  soit géographiquement soit par rapport au CA , soit par rapport au besoin du client </a:t>
              </a:r>
              <a:endParaRPr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1942964" y="3095482"/>
              <a:ext cx="3027294" cy="240288"/>
            </a:xfrm>
            <a:prstGeom prst="rect">
              <a:avLst/>
            </a:prstGeom>
            <a:solidFill>
              <a:srgbClr val="0967B9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Focalisation </a:t>
              </a:r>
              <a:endParaRPr sz="2000" b="1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grpSp>
        <p:nvGrpSpPr>
          <p:cNvPr id="591" name="Google Shape;591;p36"/>
          <p:cNvGrpSpPr/>
          <p:nvPr/>
        </p:nvGrpSpPr>
        <p:grpSpPr>
          <a:xfrm>
            <a:off x="2554957" y="3332806"/>
            <a:ext cx="552641" cy="563071"/>
            <a:chOff x="1201738" y="1511300"/>
            <a:chExt cx="168275" cy="128588"/>
          </a:xfrm>
        </p:grpSpPr>
        <p:sp>
          <p:nvSpPr>
            <p:cNvPr id="592" name="Google Shape;592;p36"/>
            <p:cNvSpPr/>
            <p:nvPr/>
          </p:nvSpPr>
          <p:spPr>
            <a:xfrm>
              <a:off x="1314450" y="1525588"/>
              <a:ext cx="55563" cy="106363"/>
            </a:xfrm>
            <a:custGeom>
              <a:avLst/>
              <a:gdLst/>
              <a:ahLst/>
              <a:cxnLst/>
              <a:rect l="l" t="t" r="r" b="b"/>
              <a:pathLst>
                <a:path w="33" h="63" extrusionOk="0">
                  <a:moveTo>
                    <a:pt x="30" y="25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8" y="0"/>
                    <a:pt x="5" y="0"/>
                    <a:pt x="2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10" y="17"/>
                    <a:pt x="10" y="19"/>
                    <a:pt x="9" y="20"/>
                  </a:cubicBezTo>
                  <a:cubicBezTo>
                    <a:pt x="9" y="21"/>
                    <a:pt x="8" y="23"/>
                    <a:pt x="4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31" y="30"/>
                    <a:pt x="33" y="28"/>
                    <a:pt x="30" y="25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1201738" y="1525588"/>
              <a:ext cx="55563" cy="106363"/>
            </a:xfrm>
            <a:custGeom>
              <a:avLst/>
              <a:gdLst/>
              <a:ahLst/>
              <a:cxnLst/>
              <a:rect l="l" t="t" r="r" b="b"/>
              <a:pathLst>
                <a:path w="33" h="63" extrusionOk="0">
                  <a:moveTo>
                    <a:pt x="32" y="63"/>
                  </a:moveTo>
                  <a:cubicBezTo>
                    <a:pt x="32" y="23"/>
                    <a:pt x="32" y="23"/>
                    <a:pt x="32" y="23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5" y="23"/>
                    <a:pt x="24" y="21"/>
                    <a:pt x="23" y="20"/>
                  </a:cubicBezTo>
                  <a:cubicBezTo>
                    <a:pt x="23" y="19"/>
                    <a:pt x="23" y="17"/>
                    <a:pt x="25" y="14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0"/>
                    <a:pt x="25" y="0"/>
                    <a:pt x="22" y="3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1" y="30"/>
                    <a:pt x="5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63"/>
                    <a:pt x="10" y="63"/>
                    <a:pt x="10" y="63"/>
                  </a:cubicBezTo>
                  <a:lnTo>
                    <a:pt x="32" y="63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1241425" y="1511300"/>
              <a:ext cx="88900" cy="128588"/>
            </a:xfrm>
            <a:custGeom>
              <a:avLst/>
              <a:gdLst/>
              <a:ahLst/>
              <a:cxnLst/>
              <a:rect l="l" t="t" r="r" b="b"/>
              <a:pathLst>
                <a:path w="53" h="77" extrusionOk="0">
                  <a:moveTo>
                    <a:pt x="43" y="77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52" y="30"/>
                    <a:pt x="53" y="27"/>
                    <a:pt x="50" y="25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0" y="1"/>
                    <a:pt x="28" y="0"/>
                    <a:pt x="26" y="0"/>
                  </a:cubicBezTo>
                  <a:cubicBezTo>
                    <a:pt x="25" y="0"/>
                    <a:pt x="23" y="1"/>
                    <a:pt x="22" y="2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0" y="27"/>
                    <a:pt x="1" y="30"/>
                    <a:pt x="5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77"/>
                    <a:pt x="10" y="77"/>
                    <a:pt x="10" y="77"/>
                  </a:cubicBezTo>
                  <a:lnTo>
                    <a:pt x="43" y="77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36"/>
          <p:cNvGrpSpPr/>
          <p:nvPr/>
        </p:nvGrpSpPr>
        <p:grpSpPr>
          <a:xfrm>
            <a:off x="3647370" y="3307335"/>
            <a:ext cx="512257" cy="567804"/>
            <a:chOff x="1219200" y="1962150"/>
            <a:chExt cx="131763" cy="109538"/>
          </a:xfrm>
        </p:grpSpPr>
        <p:sp>
          <p:nvSpPr>
            <p:cNvPr id="596" name="Google Shape;596;p36"/>
            <p:cNvSpPr/>
            <p:nvPr/>
          </p:nvSpPr>
          <p:spPr>
            <a:xfrm>
              <a:off x="1225550" y="1992313"/>
              <a:ext cx="125413" cy="79375"/>
            </a:xfrm>
            <a:custGeom>
              <a:avLst/>
              <a:gdLst/>
              <a:ahLst/>
              <a:cxnLst/>
              <a:rect l="l" t="t" r="r" b="b"/>
              <a:pathLst>
                <a:path w="79" h="50" extrusionOk="0">
                  <a:moveTo>
                    <a:pt x="0" y="50"/>
                  </a:moveTo>
                  <a:lnTo>
                    <a:pt x="26" y="20"/>
                  </a:lnTo>
                  <a:lnTo>
                    <a:pt x="56" y="24"/>
                  </a:lnTo>
                  <a:lnTo>
                    <a:pt x="79" y="0"/>
                  </a:lnTo>
                  <a:lnTo>
                    <a:pt x="79" y="5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1219200" y="1962150"/>
              <a:ext cx="131763" cy="109538"/>
            </a:xfrm>
            <a:custGeom>
              <a:avLst/>
              <a:gdLst/>
              <a:ahLst/>
              <a:cxnLst/>
              <a:rect l="l" t="t" r="r" b="b"/>
              <a:pathLst>
                <a:path w="83" h="69" extrusionOk="0">
                  <a:moveTo>
                    <a:pt x="83" y="17"/>
                  </a:moveTo>
                  <a:lnTo>
                    <a:pt x="83" y="0"/>
                  </a:lnTo>
                  <a:lnTo>
                    <a:pt x="67" y="1"/>
                  </a:lnTo>
                  <a:lnTo>
                    <a:pt x="72" y="5"/>
                  </a:lnTo>
                  <a:lnTo>
                    <a:pt x="55" y="28"/>
                  </a:lnTo>
                  <a:lnTo>
                    <a:pt x="25" y="22"/>
                  </a:lnTo>
                  <a:lnTo>
                    <a:pt x="0" y="69"/>
                  </a:lnTo>
                  <a:lnTo>
                    <a:pt x="28" y="33"/>
                  </a:lnTo>
                  <a:lnTo>
                    <a:pt x="58" y="38"/>
                  </a:lnTo>
                  <a:lnTo>
                    <a:pt x="79" y="12"/>
                  </a:lnTo>
                  <a:lnTo>
                    <a:pt x="83" y="17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36"/>
          <p:cNvGrpSpPr/>
          <p:nvPr/>
        </p:nvGrpSpPr>
        <p:grpSpPr>
          <a:xfrm>
            <a:off x="4904750" y="3300836"/>
            <a:ext cx="471277" cy="646321"/>
            <a:chOff x="1230313" y="2405063"/>
            <a:chExt cx="111125" cy="114300"/>
          </a:xfrm>
        </p:grpSpPr>
        <p:sp>
          <p:nvSpPr>
            <p:cNvPr id="599" name="Google Shape;599;p36"/>
            <p:cNvSpPr/>
            <p:nvPr/>
          </p:nvSpPr>
          <p:spPr>
            <a:xfrm>
              <a:off x="1230313" y="2411413"/>
              <a:ext cx="103188" cy="107950"/>
            </a:xfrm>
            <a:custGeom>
              <a:avLst/>
              <a:gdLst/>
              <a:ahLst/>
              <a:cxnLst/>
              <a:rect l="l" t="t" r="r" b="b"/>
              <a:pathLst>
                <a:path w="62" h="65" extrusionOk="0">
                  <a:moveTo>
                    <a:pt x="32" y="33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3"/>
                  </a:cubicBezTo>
                  <a:cubicBezTo>
                    <a:pt x="0" y="50"/>
                    <a:pt x="14" y="65"/>
                    <a:pt x="32" y="65"/>
                  </a:cubicBezTo>
                  <a:cubicBezTo>
                    <a:pt x="45" y="65"/>
                    <a:pt x="57" y="56"/>
                    <a:pt x="62" y="45"/>
                  </a:cubicBezTo>
                  <a:lnTo>
                    <a:pt x="32" y="33"/>
                  </a:ln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1285875" y="2419350"/>
              <a:ext cx="55563" cy="63500"/>
            </a:xfrm>
            <a:custGeom>
              <a:avLst/>
              <a:gdLst/>
              <a:ahLst/>
              <a:cxnLst/>
              <a:rect l="l" t="t" r="r" b="b"/>
              <a:pathLst>
                <a:path w="33" h="38" extrusionOk="0">
                  <a:moveTo>
                    <a:pt x="20" y="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5"/>
                    <a:pt x="33" y="31"/>
                    <a:pt x="33" y="28"/>
                  </a:cubicBezTo>
                  <a:cubicBezTo>
                    <a:pt x="33" y="16"/>
                    <a:pt x="28" y="7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1285875" y="2405063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19" h="31" extrusionOk="0">
                  <a:moveTo>
                    <a:pt x="0" y="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3" y="2"/>
                    <a:pt x="7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2" name="Google Shape;602;p3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2000" y="6793753"/>
            <a:ext cx="274320" cy="9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331640" cy="404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 descr="omar-guig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58" y="404664"/>
            <a:ext cx="2357454" cy="1473409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2714612" y="818202"/>
            <a:ext cx="521497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choisi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s’attaquer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niche pour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éviter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concurrence forte: </a:t>
            </a:r>
            <a:r>
              <a:rPr lang="en-US" sz="180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Focalisation</a:t>
            </a:r>
            <a:r>
              <a:rPr lang="en-US" sz="1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37" descr="Image associé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158" y="1850393"/>
            <a:ext cx="2500330" cy="145180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7"/>
          <p:cNvSpPr txBox="1"/>
          <p:nvPr/>
        </p:nvSpPr>
        <p:spPr>
          <a:xfrm>
            <a:off x="2857488" y="2116762"/>
            <a:ext cx="5072098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Réduit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les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coûts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produits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pour proposer  des prix plus bas que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concurrents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 : </a:t>
            </a:r>
            <a:r>
              <a:rPr lang="en-US" sz="1800" b="1" dirty="0">
                <a:solidFill>
                  <a:srgbClr val="FF0000"/>
                </a:solidFill>
              </a:rPr>
              <a:t>Domination par les </a:t>
            </a:r>
            <a:r>
              <a:rPr lang="en-US" sz="1800" b="1" dirty="0" err="1">
                <a:solidFill>
                  <a:srgbClr val="FF0000"/>
                </a:solidFill>
              </a:rPr>
              <a:t>coûts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endParaRPr sz="1800" b="1" dirty="0">
              <a:solidFill>
                <a:srgbClr val="FF0000"/>
              </a:solidFill>
            </a:endParaRPr>
          </a:p>
        </p:txBody>
      </p:sp>
      <p:pic>
        <p:nvPicPr>
          <p:cNvPr id="614" name="Google Shape;614;p37" descr="Résultat de recherche d'images pour &quot;ryanair&quot;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158" y="3357563"/>
            <a:ext cx="2643206" cy="121444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/>
        </p:nvSpPr>
        <p:spPr>
          <a:xfrm>
            <a:off x="3000364" y="3517015"/>
            <a:ext cx="4929222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Propose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moins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de services ,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offre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les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tarifs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les plus bas d’ Europe: </a:t>
            </a:r>
            <a:r>
              <a:rPr lang="en-US" sz="1800" b="1" dirty="0">
                <a:solidFill>
                  <a:srgbClr val="FF0000"/>
                </a:solidFill>
              </a:rPr>
              <a:t>Domination par les </a:t>
            </a:r>
            <a:r>
              <a:rPr lang="en-US" sz="1800" b="1" dirty="0" err="1">
                <a:solidFill>
                  <a:srgbClr val="FF0000"/>
                </a:solidFill>
              </a:rPr>
              <a:t>coûts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endParaRPr sz="1800" b="1" dirty="0">
              <a:solidFill>
                <a:srgbClr val="FF0000"/>
              </a:solidFill>
            </a:endParaRPr>
          </a:p>
        </p:txBody>
      </p:sp>
      <p:pic>
        <p:nvPicPr>
          <p:cNvPr id="616" name="Google Shape;616;p37" descr="Image associé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158" y="4747928"/>
            <a:ext cx="2643206" cy="1571621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7"/>
          <p:cNvSpPr txBox="1"/>
          <p:nvPr/>
        </p:nvSpPr>
        <p:spPr>
          <a:xfrm>
            <a:off x="3000364" y="5072073"/>
            <a:ext cx="4929222" cy="646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Propose des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produits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innovants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adaptés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aux </a:t>
            </a:r>
            <a:r>
              <a:rPr lang="en-US" sz="1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besoins</a:t>
            </a:r>
            <a:r>
              <a:rPr lang="en-US" sz="1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800" b="1" dirty="0" err="1">
                <a:solidFill>
                  <a:srgbClr val="FF0000"/>
                </a:solidFill>
              </a:rPr>
              <a:t>Différenciation</a:t>
            </a:r>
            <a:endParaRPr sz="1800" b="1" dirty="0">
              <a:solidFill>
                <a:srgbClr val="FF0000"/>
              </a:solidFill>
            </a:endParaRPr>
          </a:p>
        </p:txBody>
      </p:sp>
      <p:pic>
        <p:nvPicPr>
          <p:cNvPr id="618" name="Google Shape;618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331640" cy="40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8"/>
          <p:cNvSpPr txBox="1"/>
          <p:nvPr/>
        </p:nvSpPr>
        <p:spPr>
          <a:xfrm>
            <a:off x="714348" y="1357298"/>
            <a:ext cx="72866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8"/>
          <p:cNvSpPr txBox="1"/>
          <p:nvPr/>
        </p:nvSpPr>
        <p:spPr>
          <a:xfrm>
            <a:off x="441942" y="4273475"/>
            <a:ext cx="8417578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Consiste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optimiser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la gestion et 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lang="en-US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du </a:t>
            </a:r>
            <a:r>
              <a:rPr lang="en-US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portefeuille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d’activités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 but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développer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nouveaux DAS. 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Ces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décisions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affectent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l’ensemble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et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déterminent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la composition, la taille et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l’entendue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géographique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 son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périmètre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800" b="1" dirty="0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31640" cy="40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D6A5712-5C01-3E9C-04DE-590954421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712" y="1472640"/>
            <a:ext cx="3234575" cy="2223770"/>
          </a:xfrm>
          <a:prstGeom prst="rect">
            <a:avLst/>
          </a:prstGeom>
        </p:spPr>
      </p:pic>
      <p:sp>
        <p:nvSpPr>
          <p:cNvPr id="4" name="Google Shape;558;p35">
            <a:extLst>
              <a:ext uri="{FF2B5EF4-FFF2-40B4-BE49-F238E27FC236}">
                <a16:creationId xmlns:a16="http://schemas.microsoft.com/office/drawing/2014/main" id="{C99C63AB-70D3-D0D7-798A-BA7633DF8467}"/>
              </a:ext>
            </a:extLst>
          </p:cNvPr>
          <p:cNvSpPr/>
          <p:nvPr/>
        </p:nvSpPr>
        <p:spPr>
          <a:xfrm>
            <a:off x="-94808" y="641797"/>
            <a:ext cx="67687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      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ea typeface="Candara"/>
                <a:cs typeface="Candara"/>
                <a:sym typeface="Calibri"/>
              </a:rPr>
              <a:t>S</a:t>
            </a:r>
            <a:r>
              <a:rPr lang="en-US" sz="2800" b="1" dirty="0" err="1">
                <a:solidFill>
                  <a:srgbClr val="C00000"/>
                </a:solidFill>
                <a:latin typeface="Candara"/>
                <a:sym typeface="Calibri"/>
              </a:rPr>
              <a:t>tratégies</a:t>
            </a:r>
            <a:r>
              <a:rPr lang="en-US" sz="2800" b="1" dirty="0">
                <a:solidFill>
                  <a:srgbClr val="C00000"/>
                </a:solidFill>
                <a:latin typeface="Candara"/>
                <a:sym typeface="Calibri"/>
              </a:rPr>
              <a:t> Corporate    </a:t>
            </a:r>
            <a:endParaRPr sz="2800" b="1" dirty="0">
              <a:solidFill>
                <a:srgbClr val="C00000"/>
              </a:solidFill>
              <a:latin typeface="Candara"/>
              <a:sym typeface="Calibri"/>
            </a:endParaRPr>
          </a:p>
        </p:txBody>
      </p:sp>
      <p:sp>
        <p:nvSpPr>
          <p:cNvPr id="5" name="Google Shape;359;p26">
            <a:extLst>
              <a:ext uri="{FF2B5EF4-FFF2-40B4-BE49-F238E27FC236}">
                <a16:creationId xmlns:a16="http://schemas.microsoft.com/office/drawing/2014/main" id="{D562DBA4-C80C-D094-0398-7C5FF6CE4930}"/>
              </a:ext>
            </a:extLst>
          </p:cNvPr>
          <p:cNvSpPr/>
          <p:nvPr/>
        </p:nvSpPr>
        <p:spPr>
          <a:xfrm rot="5400000">
            <a:off x="-31494" y="652182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A5AD6-B81A-84B8-B2B7-5C0F02A17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2240"/>
            <a:ext cx="8229600" cy="5851843"/>
          </a:xfrm>
        </p:spPr>
        <p:txBody>
          <a:bodyPr/>
          <a:lstStyle/>
          <a:p>
            <a:pPr marL="114300" indent="0">
              <a:buNone/>
            </a:pPr>
            <a:r>
              <a:rPr lang="fr-FR" sz="2000" b="1" dirty="0">
                <a:solidFill>
                  <a:srgbClr val="002060"/>
                </a:solidFill>
                <a:sym typeface="Arial"/>
              </a:rPr>
              <a:t>Pour croitre et se développer l’entreprise peut explorer plusieurs options</a:t>
            </a:r>
            <a:r>
              <a:rPr lang="fr-FR" dirty="0"/>
              <a:t>.</a:t>
            </a:r>
          </a:p>
          <a:p>
            <a:pPr marL="114300" indent="0" algn="just">
              <a:buNone/>
            </a:pPr>
            <a:r>
              <a:rPr lang="fr-FR" sz="2000" b="1" dirty="0">
                <a:solidFill>
                  <a:srgbClr val="FF0000"/>
                </a:solidFill>
              </a:rPr>
              <a:t>La matrice ANSOFF </a:t>
            </a:r>
            <a:r>
              <a:rPr lang="fr-FR" sz="2000" b="1" dirty="0">
                <a:solidFill>
                  <a:srgbClr val="00B0F0"/>
                </a:solidFill>
              </a:rPr>
              <a:t>est </a:t>
            </a:r>
            <a:r>
              <a:rPr lang="fr-FR" sz="2000" b="1" dirty="0">
                <a:solidFill>
                  <a:srgbClr val="002060"/>
                </a:solidFill>
              </a:rPr>
              <a:t>un outil d’aide à la prise de décision permettant d’analyser les différentes stratégies possibles au développement de l’entreprise. </a:t>
            </a:r>
          </a:p>
          <a:p>
            <a:pPr marL="114300" indent="0">
              <a:buNone/>
            </a:pPr>
            <a:endParaRPr lang="fr-T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C7C8A-0678-F78C-7CFE-94A89DE22104}"/>
              </a:ext>
            </a:extLst>
          </p:cNvPr>
          <p:cNvSpPr/>
          <p:nvPr/>
        </p:nvSpPr>
        <p:spPr>
          <a:xfrm>
            <a:off x="2367280" y="2997200"/>
            <a:ext cx="2458720" cy="1209040"/>
          </a:xfrm>
          <a:prstGeom prst="rect">
            <a:avLst/>
          </a:prstGeom>
          <a:solidFill>
            <a:srgbClr val="00B0F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Pénétration</a:t>
            </a:r>
            <a:r>
              <a:rPr lang="fr-FR" dirty="0"/>
              <a:t> </a:t>
            </a:r>
            <a:r>
              <a:rPr lang="fr-FR" b="1" dirty="0"/>
              <a:t>du</a:t>
            </a:r>
            <a:r>
              <a:rPr lang="fr-FR" dirty="0"/>
              <a:t> </a:t>
            </a:r>
            <a:r>
              <a:rPr lang="fr-FR" b="1" dirty="0"/>
              <a:t>marché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FD1B99-48AB-2495-9E62-1ED3EDDF8663}"/>
              </a:ext>
            </a:extLst>
          </p:cNvPr>
          <p:cNvSpPr/>
          <p:nvPr/>
        </p:nvSpPr>
        <p:spPr>
          <a:xfrm>
            <a:off x="4937760" y="2997200"/>
            <a:ext cx="2458720" cy="1209040"/>
          </a:xfrm>
          <a:prstGeom prst="rect">
            <a:avLst/>
          </a:prstGeom>
          <a:solidFill>
            <a:srgbClr val="00B0F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Développement de produits / services </a:t>
            </a:r>
            <a:endParaRPr lang="fr-T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4C353-38FC-73E3-7E24-57C9A8EF05DB}"/>
              </a:ext>
            </a:extLst>
          </p:cNvPr>
          <p:cNvSpPr/>
          <p:nvPr/>
        </p:nvSpPr>
        <p:spPr>
          <a:xfrm>
            <a:off x="2367280" y="4409123"/>
            <a:ext cx="2458720" cy="1209040"/>
          </a:xfrm>
          <a:prstGeom prst="rect">
            <a:avLst/>
          </a:prstGeom>
          <a:solidFill>
            <a:srgbClr val="00B0F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Développement de </a:t>
            </a:r>
            <a:r>
              <a:rPr lang="fr-FR" b="1"/>
              <a:t>marchés </a:t>
            </a:r>
            <a:endParaRPr lang="fr-T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059BC-880E-6EF4-FEED-C2BEA1B93141}"/>
              </a:ext>
            </a:extLst>
          </p:cNvPr>
          <p:cNvSpPr/>
          <p:nvPr/>
        </p:nvSpPr>
        <p:spPr>
          <a:xfrm>
            <a:off x="4937760" y="4409123"/>
            <a:ext cx="2458720" cy="1209040"/>
          </a:xfrm>
          <a:prstGeom prst="rect">
            <a:avLst/>
          </a:prstGeom>
          <a:solidFill>
            <a:srgbClr val="00B0F0"/>
          </a:solidFill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Diversification </a:t>
            </a:r>
            <a:endParaRPr lang="fr-T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F05A1-D1D2-CE56-B9BE-97E459F90030}"/>
              </a:ext>
            </a:extLst>
          </p:cNvPr>
          <p:cNvSpPr/>
          <p:nvPr/>
        </p:nvSpPr>
        <p:spPr>
          <a:xfrm>
            <a:off x="2311400" y="1910874"/>
            <a:ext cx="5029200" cy="345757"/>
          </a:xfrm>
          <a:prstGeom prst="rect">
            <a:avLst/>
          </a:prstGeom>
          <a:noFill/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Produits /Services </a:t>
            </a:r>
            <a:endParaRPr lang="fr-TN" sz="2000" b="1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C036CC-3441-CB51-0312-10959A73951E}"/>
              </a:ext>
            </a:extLst>
          </p:cNvPr>
          <p:cNvSpPr/>
          <p:nvPr/>
        </p:nvSpPr>
        <p:spPr>
          <a:xfrm rot="16200000">
            <a:off x="-116680" y="4033362"/>
            <a:ext cx="2753042" cy="345757"/>
          </a:xfrm>
          <a:prstGeom prst="rect">
            <a:avLst/>
          </a:prstGeom>
          <a:noFill/>
          <a:ln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Marchés</a:t>
            </a:r>
            <a:r>
              <a:rPr lang="fr-FR" sz="2000" b="1" dirty="0">
                <a:solidFill>
                  <a:srgbClr val="00B0F0"/>
                </a:solidFill>
              </a:rPr>
              <a:t> </a:t>
            </a:r>
            <a:endParaRPr lang="fr-TN" sz="2000" b="1" dirty="0">
              <a:solidFill>
                <a:srgbClr val="00B0F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1E1E934-C766-F0F2-AA7E-1F4AB3F402E5}"/>
              </a:ext>
            </a:extLst>
          </p:cNvPr>
          <p:cNvSpPr txBox="1"/>
          <p:nvPr/>
        </p:nvSpPr>
        <p:spPr>
          <a:xfrm>
            <a:off x="2885440" y="2400895"/>
            <a:ext cx="160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Existants </a:t>
            </a:r>
            <a:endParaRPr lang="fr-TN" b="1" dirty="0">
              <a:solidFill>
                <a:srgbClr val="00B0F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1AFB0D-3ED6-04D7-8F37-EDA3313086F7}"/>
              </a:ext>
            </a:extLst>
          </p:cNvPr>
          <p:cNvSpPr txBox="1"/>
          <p:nvPr/>
        </p:nvSpPr>
        <p:spPr>
          <a:xfrm>
            <a:off x="5110480" y="2444253"/>
            <a:ext cx="160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Nouveaux  </a:t>
            </a:r>
            <a:endParaRPr lang="fr-TN" b="1" dirty="0">
              <a:solidFill>
                <a:srgbClr val="00B0F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D9202E2-5EF0-5895-9DE9-3D2D8718CBE4}"/>
              </a:ext>
            </a:extLst>
          </p:cNvPr>
          <p:cNvSpPr txBox="1"/>
          <p:nvPr/>
        </p:nvSpPr>
        <p:spPr>
          <a:xfrm rot="16200000">
            <a:off x="1329047" y="3369477"/>
            <a:ext cx="1052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Existants </a:t>
            </a:r>
            <a:endParaRPr lang="fr-TN" b="1" dirty="0">
              <a:solidFill>
                <a:srgbClr val="00B0F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728D218-80C0-FC6C-F073-345BB64330B4}"/>
              </a:ext>
            </a:extLst>
          </p:cNvPr>
          <p:cNvSpPr txBox="1"/>
          <p:nvPr/>
        </p:nvSpPr>
        <p:spPr>
          <a:xfrm rot="16200000">
            <a:off x="1098767" y="4890392"/>
            <a:ext cx="1605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Nouveaux  </a:t>
            </a:r>
            <a:endParaRPr lang="fr-TN" b="1" dirty="0">
              <a:solidFill>
                <a:srgbClr val="00B0F0"/>
              </a:solidFill>
            </a:endParaRPr>
          </a:p>
        </p:txBody>
      </p:sp>
      <p:cxnSp>
        <p:nvCxnSpPr>
          <p:cNvPr id="16" name="Straight Line buttom">
            <a:extLst>
              <a:ext uri="{FF2B5EF4-FFF2-40B4-BE49-F238E27FC236}">
                <a16:creationId xmlns:a16="http://schemas.microsoft.com/office/drawing/2014/main" id="{DFDBFD54-A2BF-B721-589D-E4BC92CFD8D7}"/>
              </a:ext>
            </a:extLst>
          </p:cNvPr>
          <p:cNvCxnSpPr>
            <a:cxnSpLocks/>
          </p:cNvCxnSpPr>
          <p:nvPr/>
        </p:nvCxnSpPr>
        <p:spPr>
          <a:xfrm>
            <a:off x="99022" y="5846921"/>
            <a:ext cx="8781498" cy="40799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Igor Ansoff — Wikipédia">
            <a:extLst>
              <a:ext uri="{FF2B5EF4-FFF2-40B4-BE49-F238E27FC236}">
                <a16:creationId xmlns:a16="http://schemas.microsoft.com/office/drawing/2014/main" id="{03D091E5-5738-E691-358A-CD2D7CDD0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80" y="5974316"/>
            <a:ext cx="915080" cy="74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D49F41F-CD69-8EBA-ABED-8B70299C77F1}"/>
              </a:ext>
            </a:extLst>
          </p:cNvPr>
          <p:cNvSpPr txBox="1"/>
          <p:nvPr/>
        </p:nvSpPr>
        <p:spPr>
          <a:xfrm>
            <a:off x="1305085" y="6258242"/>
            <a:ext cx="1580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Igor Ansoff </a:t>
            </a:r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71518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39"/>
          <p:cNvGrpSpPr/>
          <p:nvPr/>
        </p:nvGrpSpPr>
        <p:grpSpPr>
          <a:xfrm>
            <a:off x="3721020" y="1865146"/>
            <a:ext cx="1432329" cy="2067795"/>
            <a:chOff x="3720696" y="1286227"/>
            <a:chExt cx="1432329" cy="1550846"/>
          </a:xfrm>
          <a:solidFill>
            <a:srgbClr val="0099FF"/>
          </a:solidFill>
        </p:grpSpPr>
        <p:sp>
          <p:nvSpPr>
            <p:cNvPr id="638" name="Google Shape;638;p39"/>
            <p:cNvSpPr/>
            <p:nvPr/>
          </p:nvSpPr>
          <p:spPr>
            <a:xfrm>
              <a:off x="3720696" y="1286227"/>
              <a:ext cx="1335491" cy="981383"/>
            </a:xfrm>
            <a:custGeom>
              <a:avLst/>
              <a:gdLst/>
              <a:ahLst/>
              <a:cxnLst/>
              <a:rect l="l" t="t" r="r" b="b"/>
              <a:pathLst>
                <a:path w="924" h="679" extrusionOk="0">
                  <a:moveTo>
                    <a:pt x="924" y="201"/>
                  </a:moveTo>
                  <a:lnTo>
                    <a:pt x="563" y="679"/>
                  </a:lnTo>
                  <a:lnTo>
                    <a:pt x="0" y="440"/>
                  </a:lnTo>
                  <a:lnTo>
                    <a:pt x="0" y="440"/>
                  </a:lnTo>
                  <a:lnTo>
                    <a:pt x="374" y="0"/>
                  </a:lnTo>
                  <a:lnTo>
                    <a:pt x="924" y="192"/>
                  </a:lnTo>
                  <a:lnTo>
                    <a:pt x="924" y="2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4534421" y="1576739"/>
              <a:ext cx="618604" cy="1260334"/>
            </a:xfrm>
            <a:custGeom>
              <a:avLst/>
              <a:gdLst/>
              <a:ahLst/>
              <a:cxnLst/>
              <a:rect l="l" t="t" r="r" b="b"/>
              <a:pathLst>
                <a:path w="428" h="872" extrusionOk="0">
                  <a:moveTo>
                    <a:pt x="428" y="458"/>
                  </a:moveTo>
                  <a:lnTo>
                    <a:pt x="106" y="872"/>
                  </a:lnTo>
                  <a:lnTo>
                    <a:pt x="106" y="872"/>
                  </a:lnTo>
                  <a:lnTo>
                    <a:pt x="0" y="478"/>
                  </a:lnTo>
                  <a:lnTo>
                    <a:pt x="361" y="0"/>
                  </a:lnTo>
                  <a:lnTo>
                    <a:pt x="428" y="45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3720696" y="1922175"/>
              <a:ext cx="966931" cy="914898"/>
            </a:xfrm>
            <a:custGeom>
              <a:avLst/>
              <a:gdLst/>
              <a:ahLst/>
              <a:cxnLst/>
              <a:rect l="l" t="t" r="r" b="b"/>
              <a:pathLst>
                <a:path w="669" h="633" extrusionOk="0">
                  <a:moveTo>
                    <a:pt x="607" y="403"/>
                  </a:moveTo>
                  <a:lnTo>
                    <a:pt x="608" y="404"/>
                  </a:lnTo>
                  <a:lnTo>
                    <a:pt x="669" y="633"/>
                  </a:lnTo>
                  <a:lnTo>
                    <a:pt x="158" y="393"/>
                  </a:lnTo>
                  <a:lnTo>
                    <a:pt x="0" y="0"/>
                  </a:lnTo>
                  <a:lnTo>
                    <a:pt x="563" y="239"/>
                  </a:lnTo>
                  <a:lnTo>
                    <a:pt x="607" y="403"/>
                  </a:lnTo>
                  <a:lnTo>
                    <a:pt x="607" y="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p39"/>
          <p:cNvGrpSpPr/>
          <p:nvPr/>
        </p:nvGrpSpPr>
        <p:grpSpPr>
          <a:xfrm>
            <a:off x="4715088" y="2199775"/>
            <a:ext cx="1469908" cy="2239308"/>
            <a:chOff x="4715088" y="1631662"/>
            <a:chExt cx="1469908" cy="1679481"/>
          </a:xfrm>
          <a:solidFill>
            <a:srgbClr val="07A9A9"/>
          </a:solidFill>
        </p:grpSpPr>
        <p:sp>
          <p:nvSpPr>
            <p:cNvPr id="642" name="Google Shape;642;p39"/>
            <p:cNvSpPr/>
            <p:nvPr/>
          </p:nvSpPr>
          <p:spPr>
            <a:xfrm>
              <a:off x="5687800" y="1959754"/>
              <a:ext cx="497196" cy="1351389"/>
            </a:xfrm>
            <a:custGeom>
              <a:avLst/>
              <a:gdLst/>
              <a:ahLst/>
              <a:cxnLst/>
              <a:rect l="l" t="t" r="r" b="b"/>
              <a:pathLst>
                <a:path w="344" h="935" extrusionOk="0">
                  <a:moveTo>
                    <a:pt x="304" y="430"/>
                  </a:moveTo>
                  <a:lnTo>
                    <a:pt x="9" y="935"/>
                  </a:lnTo>
                  <a:lnTo>
                    <a:pt x="0" y="554"/>
                  </a:lnTo>
                  <a:lnTo>
                    <a:pt x="344" y="0"/>
                  </a:lnTo>
                  <a:lnTo>
                    <a:pt x="304" y="430"/>
                  </a:lnTo>
                  <a:close/>
                </a:path>
              </a:pathLst>
            </a:cu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4715088" y="1631662"/>
              <a:ext cx="1469908" cy="1128807"/>
            </a:xfrm>
            <a:custGeom>
              <a:avLst/>
              <a:gdLst/>
              <a:ahLst/>
              <a:cxnLst/>
              <a:rect l="l" t="t" r="r" b="b"/>
              <a:pathLst>
                <a:path w="1017" h="781" extrusionOk="0">
                  <a:moveTo>
                    <a:pt x="1017" y="227"/>
                  </a:moveTo>
                  <a:lnTo>
                    <a:pt x="673" y="781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369" y="0"/>
                  </a:lnTo>
                  <a:lnTo>
                    <a:pt x="1017" y="227"/>
                  </a:lnTo>
                  <a:close/>
                </a:path>
              </a:pathLst>
            </a:cu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4715088" y="2344213"/>
              <a:ext cx="985720" cy="966930"/>
            </a:xfrm>
            <a:custGeom>
              <a:avLst/>
              <a:gdLst/>
              <a:ahLst/>
              <a:cxnLst/>
              <a:rect l="l" t="t" r="r" b="b"/>
              <a:pathLst>
                <a:path w="682" h="669" extrusionOk="0">
                  <a:moveTo>
                    <a:pt x="682" y="669"/>
                  </a:moveTo>
                  <a:lnTo>
                    <a:pt x="87" y="391"/>
                  </a:lnTo>
                  <a:lnTo>
                    <a:pt x="0" y="0"/>
                  </a:lnTo>
                  <a:lnTo>
                    <a:pt x="673" y="288"/>
                  </a:lnTo>
                  <a:lnTo>
                    <a:pt x="682" y="669"/>
                  </a:lnTo>
                  <a:lnTo>
                    <a:pt x="682" y="669"/>
                  </a:lnTo>
                  <a:close/>
                </a:path>
              </a:pathLst>
            </a:cu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39"/>
          <p:cNvGrpSpPr/>
          <p:nvPr/>
        </p:nvGrpSpPr>
        <p:grpSpPr>
          <a:xfrm>
            <a:off x="2959005" y="2785618"/>
            <a:ext cx="1644793" cy="2243163"/>
            <a:chOff x="2959004" y="2071044"/>
            <a:chExt cx="1644793" cy="1682372"/>
          </a:xfrm>
          <a:solidFill>
            <a:srgbClr val="FF0000"/>
          </a:solidFill>
        </p:grpSpPr>
        <p:sp>
          <p:nvSpPr>
            <p:cNvPr id="646" name="Google Shape;646;p39"/>
            <p:cNvSpPr/>
            <p:nvPr/>
          </p:nvSpPr>
          <p:spPr>
            <a:xfrm>
              <a:off x="2959004" y="2071044"/>
              <a:ext cx="1456900" cy="1193848"/>
            </a:xfrm>
            <a:custGeom>
              <a:avLst/>
              <a:gdLst/>
              <a:ahLst/>
              <a:cxnLst/>
              <a:rect l="l" t="t" r="r" b="b"/>
              <a:pathLst>
                <a:path w="1008" h="826" extrusionOk="0">
                  <a:moveTo>
                    <a:pt x="1008" y="247"/>
                  </a:moveTo>
                  <a:lnTo>
                    <a:pt x="570" y="826"/>
                  </a:lnTo>
                  <a:lnTo>
                    <a:pt x="0" y="516"/>
                  </a:lnTo>
                  <a:lnTo>
                    <a:pt x="440" y="0"/>
                  </a:lnTo>
                  <a:lnTo>
                    <a:pt x="1008" y="247"/>
                  </a:lnTo>
                  <a:lnTo>
                    <a:pt x="1008" y="2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3782846" y="2428043"/>
              <a:ext cx="820951" cy="1325373"/>
            </a:xfrm>
            <a:custGeom>
              <a:avLst/>
              <a:gdLst/>
              <a:ahLst/>
              <a:cxnLst/>
              <a:rect l="l" t="t" r="r" b="b"/>
              <a:pathLst>
                <a:path w="568" h="917" extrusionOk="0">
                  <a:moveTo>
                    <a:pt x="183" y="917"/>
                  </a:moveTo>
                  <a:lnTo>
                    <a:pt x="0" y="579"/>
                  </a:lnTo>
                  <a:lnTo>
                    <a:pt x="438" y="0"/>
                  </a:lnTo>
                  <a:lnTo>
                    <a:pt x="568" y="417"/>
                  </a:lnTo>
                  <a:lnTo>
                    <a:pt x="183" y="9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2959004" y="2816838"/>
              <a:ext cx="1088339" cy="936578"/>
            </a:xfrm>
            <a:custGeom>
              <a:avLst/>
              <a:gdLst/>
              <a:ahLst/>
              <a:cxnLst/>
              <a:rect l="l" t="t" r="r" b="b"/>
              <a:pathLst>
                <a:path w="753" h="648" extrusionOk="0">
                  <a:moveTo>
                    <a:pt x="753" y="648"/>
                  </a:moveTo>
                  <a:lnTo>
                    <a:pt x="234" y="348"/>
                  </a:lnTo>
                  <a:lnTo>
                    <a:pt x="0" y="0"/>
                  </a:lnTo>
                  <a:lnTo>
                    <a:pt x="570" y="310"/>
                  </a:lnTo>
                  <a:lnTo>
                    <a:pt x="753" y="6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39"/>
          <p:cNvGrpSpPr/>
          <p:nvPr/>
        </p:nvGrpSpPr>
        <p:grpSpPr>
          <a:xfrm>
            <a:off x="3957732" y="3363753"/>
            <a:ext cx="1640459" cy="2470563"/>
            <a:chOff x="3957731" y="2504645"/>
            <a:chExt cx="1640459" cy="1852922"/>
          </a:xfrm>
          <a:solidFill>
            <a:srgbClr val="D5F1FB"/>
          </a:solidFill>
        </p:grpSpPr>
        <p:sp>
          <p:nvSpPr>
            <p:cNvPr id="650" name="Google Shape;650;p39"/>
            <p:cNvSpPr/>
            <p:nvPr/>
          </p:nvSpPr>
          <p:spPr>
            <a:xfrm>
              <a:off x="3957731" y="2504645"/>
              <a:ext cx="1623114" cy="1406312"/>
            </a:xfrm>
            <a:custGeom>
              <a:avLst/>
              <a:gdLst/>
              <a:ahLst/>
              <a:cxnLst/>
              <a:rect l="l" t="t" r="r" b="b"/>
              <a:pathLst>
                <a:path w="1123" h="973" extrusionOk="0">
                  <a:moveTo>
                    <a:pt x="703" y="973"/>
                  </a:moveTo>
                  <a:lnTo>
                    <a:pt x="0" y="591"/>
                  </a:lnTo>
                  <a:lnTo>
                    <a:pt x="443" y="0"/>
                  </a:lnTo>
                  <a:lnTo>
                    <a:pt x="1123" y="296"/>
                  </a:lnTo>
                  <a:lnTo>
                    <a:pt x="703" y="973"/>
                  </a:lnTo>
                  <a:close/>
                  <a:moveTo>
                    <a:pt x="505" y="230"/>
                  </a:moveTo>
                  <a:lnTo>
                    <a:pt x="505" y="230"/>
                  </a:lnTo>
                  <a:lnTo>
                    <a:pt x="505" y="230"/>
                  </a:lnTo>
                  <a:lnTo>
                    <a:pt x="505" y="230"/>
                  </a:lnTo>
                  <a:close/>
                  <a:moveTo>
                    <a:pt x="538" y="246"/>
                  </a:moveTo>
                  <a:lnTo>
                    <a:pt x="538" y="246"/>
                  </a:lnTo>
                  <a:lnTo>
                    <a:pt x="538" y="246"/>
                  </a:lnTo>
                  <a:lnTo>
                    <a:pt x="538" y="24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4973804" y="2932465"/>
              <a:ext cx="624386" cy="1425102"/>
            </a:xfrm>
            <a:custGeom>
              <a:avLst/>
              <a:gdLst/>
              <a:ahLst/>
              <a:cxnLst/>
              <a:rect l="l" t="t" r="r" b="b"/>
              <a:pathLst>
                <a:path w="432" h="986" extrusionOk="0">
                  <a:moveTo>
                    <a:pt x="80" y="986"/>
                  </a:moveTo>
                  <a:lnTo>
                    <a:pt x="0" y="677"/>
                  </a:lnTo>
                  <a:lnTo>
                    <a:pt x="420" y="0"/>
                  </a:lnTo>
                  <a:lnTo>
                    <a:pt x="432" y="383"/>
                  </a:lnTo>
                  <a:lnTo>
                    <a:pt x="80" y="9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3957731" y="3358840"/>
              <a:ext cx="1131699" cy="998727"/>
            </a:xfrm>
            <a:custGeom>
              <a:avLst/>
              <a:gdLst/>
              <a:ahLst/>
              <a:cxnLst/>
              <a:rect l="l" t="t" r="r" b="b"/>
              <a:pathLst>
                <a:path w="783" h="691" extrusionOk="0">
                  <a:moveTo>
                    <a:pt x="783" y="691"/>
                  </a:moveTo>
                  <a:lnTo>
                    <a:pt x="180" y="341"/>
                  </a:lnTo>
                  <a:lnTo>
                    <a:pt x="0" y="0"/>
                  </a:lnTo>
                  <a:lnTo>
                    <a:pt x="0" y="0"/>
                  </a:lnTo>
                  <a:lnTo>
                    <a:pt x="703" y="382"/>
                  </a:lnTo>
                  <a:lnTo>
                    <a:pt x="783" y="6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39"/>
          <p:cNvSpPr txBox="1"/>
          <p:nvPr/>
        </p:nvSpPr>
        <p:spPr>
          <a:xfrm>
            <a:off x="1024040" y="138728"/>
            <a:ext cx="6572296" cy="200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2000" b="1" dirty="0" err="1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Pénétration</a:t>
            </a:r>
            <a:r>
              <a:rPr lang="en-US" sz="2000" b="1" dirty="0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2000" b="1" dirty="0" err="1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marché</a:t>
            </a:r>
            <a:r>
              <a:rPr lang="en-US" sz="2000" b="1" dirty="0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1" dirty="0" err="1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Spécialisation</a:t>
            </a:r>
            <a:r>
              <a:rPr lang="en-US" sz="2000" b="1" dirty="0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2000" b="1" dirty="0">
              <a:solidFill>
                <a:srgbClr val="0099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consiste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maintenir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dans un seul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domaine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d’activité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pour y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développer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et exploiter des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compétences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spécifiques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sans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chercher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y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adjoindre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nouvelles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activités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s’appuyant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sur la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valorisation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d'une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expertise et/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d'une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technologie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9"/>
          <p:cNvSpPr txBox="1"/>
          <p:nvPr/>
        </p:nvSpPr>
        <p:spPr>
          <a:xfrm>
            <a:off x="285720" y="2991033"/>
            <a:ext cx="280606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Cela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veut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dire que le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produit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reste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identique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tout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étant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vendu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nouvelle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cible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L’exportation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du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produit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mise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vente dans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nouvelle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région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9"/>
          <p:cNvSpPr txBox="1"/>
          <p:nvPr/>
        </p:nvSpPr>
        <p:spPr>
          <a:xfrm>
            <a:off x="1331640" y="5004854"/>
            <a:ext cx="7526640" cy="157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C000"/>
                </a:solidFill>
                <a:latin typeface="Candara"/>
                <a:ea typeface="Candara"/>
                <a:cs typeface="Candara"/>
                <a:sym typeface="Candara"/>
              </a:rPr>
              <a:t>                             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Candara"/>
                <a:ea typeface="Candara"/>
                <a:cs typeface="Candara"/>
                <a:sym typeface="Candara"/>
              </a:rPr>
              <a:t>Diversification</a:t>
            </a:r>
            <a:r>
              <a:rPr lang="en-US" sz="1800" b="1" dirty="0">
                <a:solidFill>
                  <a:srgbClr val="FFC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800" b="1" dirty="0">
              <a:solidFill>
                <a:srgbClr val="FFC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des nouveaux DAS .</a:t>
            </a:r>
            <a:endParaRPr sz="1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Elle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peut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être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reliée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(lien avec 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l’activité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dominante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conglomérale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(des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activités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n’ayant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aucun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lien avec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ses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activités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existantes</a:t>
            </a:r>
            <a:r>
              <a:rPr lang="en-US" sz="1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endParaRPr sz="1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9"/>
          <p:cNvSpPr txBox="1"/>
          <p:nvPr/>
        </p:nvSpPr>
        <p:spPr>
          <a:xfrm>
            <a:off x="6000760" y="2285992"/>
            <a:ext cx="3143240" cy="2053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239BD3"/>
              </a:buClr>
              <a:buSzPts val="2000"/>
            </a:pPr>
            <a:r>
              <a:rPr lang="en-US" sz="2000" b="1" dirty="0" err="1">
                <a:solidFill>
                  <a:srgbClr val="07A9A9"/>
                </a:solidFill>
                <a:latin typeface="Calibri"/>
                <a:ea typeface="Calibri"/>
                <a:cs typeface="Calibri"/>
                <a:sym typeface="Calibri"/>
              </a:rPr>
              <a:t>Développement</a:t>
            </a:r>
            <a:r>
              <a:rPr lang="en-US" sz="2000" b="1" dirty="0">
                <a:solidFill>
                  <a:srgbClr val="07A9A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07A9A9"/>
                </a:solidFill>
                <a:latin typeface="Calibri"/>
                <a:ea typeface="Calibri"/>
                <a:cs typeface="Calibri"/>
                <a:sym typeface="Calibri"/>
              </a:rPr>
              <a:t>produit</a:t>
            </a:r>
            <a:r>
              <a:rPr lang="en-US" sz="2000" b="1" dirty="0">
                <a:solidFill>
                  <a:srgbClr val="07A9A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dirty="0">
              <a:solidFill>
                <a:srgbClr val="07A9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6985" lvl="0" indent="-34290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Consiste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développer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de  nouveaux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produits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et les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vendre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une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clientèle </a:t>
            </a:r>
            <a:r>
              <a:rPr lang="en-US" sz="20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existante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657" name="Google Shape;657;p3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2000" y="6793753"/>
            <a:ext cx="274320" cy="98854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9"/>
          <p:cNvSpPr/>
          <p:nvPr/>
        </p:nvSpPr>
        <p:spPr>
          <a:xfrm>
            <a:off x="357158" y="2571744"/>
            <a:ext cx="27943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1800"/>
            </a:pP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Développement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marché</a:t>
            </a:r>
            <a:r>
              <a:rPr lang="en-US" sz="1800" b="1" dirty="0">
                <a:solidFill>
                  <a:srgbClr val="FF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331640" cy="40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0"/>
          <p:cNvSpPr txBox="1"/>
          <p:nvPr/>
        </p:nvSpPr>
        <p:spPr>
          <a:xfrm>
            <a:off x="395536" y="4430722"/>
            <a:ext cx="338437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Extension d’une entreprise vers des activités adjacentes de sa filière :racheter des concurrents , des fournisseurs ou des clients </a:t>
            </a:r>
            <a:endParaRPr sz="1800" b="1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7" name="Google Shape;667;p40"/>
          <p:cNvSpPr txBox="1"/>
          <p:nvPr/>
        </p:nvSpPr>
        <p:spPr>
          <a:xfrm>
            <a:off x="4860032" y="4707721"/>
            <a:ext cx="3712496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Candara"/>
                <a:ea typeface="Candara"/>
                <a:cs typeface="Candara"/>
                <a:sym typeface="Candara"/>
              </a:rPr>
              <a:t>Confier à des présetataires externes des activités qui étaient auparavant réalisées en interne  </a:t>
            </a:r>
            <a:endParaRPr sz="1800" b="1">
              <a:solidFill>
                <a:srgbClr val="00206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2474729" y="1527175"/>
            <a:ext cx="43295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Intégration ou Externalisation ?  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508000" y="1803400"/>
            <a:ext cx="8128000" cy="32511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50000"/>
                </a:moveTo>
                <a:lnTo>
                  <a:pt x="24000" y="0"/>
                </a:lnTo>
                <a:lnTo>
                  <a:pt x="24000" y="20000"/>
                </a:lnTo>
                <a:lnTo>
                  <a:pt x="60000" y="20000"/>
                </a:lnTo>
                <a:lnTo>
                  <a:pt x="60000" y="20000"/>
                </a:lnTo>
                <a:cubicBezTo>
                  <a:pt x="62071" y="20000"/>
                  <a:pt x="63750" y="22238"/>
                  <a:pt x="63750" y="25000"/>
                </a:cubicBezTo>
                <a:cubicBezTo>
                  <a:pt x="63750" y="27761"/>
                  <a:pt x="62071" y="30000"/>
                  <a:pt x="60000" y="30000"/>
                </a:cubicBezTo>
                <a:cubicBezTo>
                  <a:pt x="57929" y="30000"/>
                  <a:pt x="56250" y="32239"/>
                  <a:pt x="56250" y="35000"/>
                </a:cubicBezTo>
                <a:cubicBezTo>
                  <a:pt x="56250" y="37762"/>
                  <a:pt x="57929" y="40000"/>
                  <a:pt x="60000" y="40000"/>
                </a:cubicBezTo>
                <a:lnTo>
                  <a:pt x="96000" y="40000"/>
                </a:lnTo>
                <a:lnTo>
                  <a:pt x="96000" y="20000"/>
                </a:lnTo>
                <a:lnTo>
                  <a:pt x="120000" y="70000"/>
                </a:lnTo>
                <a:lnTo>
                  <a:pt x="96000" y="120000"/>
                </a:lnTo>
                <a:lnTo>
                  <a:pt x="96000" y="100000"/>
                </a:lnTo>
                <a:lnTo>
                  <a:pt x="60000" y="100000"/>
                </a:lnTo>
                <a:cubicBezTo>
                  <a:pt x="57929" y="100000"/>
                  <a:pt x="56250" y="97762"/>
                  <a:pt x="56250" y="95000"/>
                </a:cubicBezTo>
                <a:lnTo>
                  <a:pt x="56250" y="80000"/>
                </a:lnTo>
                <a:lnTo>
                  <a:pt x="24000" y="80000"/>
                </a:lnTo>
                <a:lnTo>
                  <a:pt x="24000" y="100000"/>
                </a:lnTo>
                <a:close/>
              </a:path>
              <a:path w="120000" h="120000" fill="darkenLess" extrusionOk="0">
                <a:moveTo>
                  <a:pt x="63750" y="25000"/>
                </a:moveTo>
                <a:cubicBezTo>
                  <a:pt x="63750" y="27761"/>
                  <a:pt x="62071" y="30000"/>
                  <a:pt x="60000" y="30000"/>
                </a:cubicBezTo>
                <a:cubicBezTo>
                  <a:pt x="57929" y="30000"/>
                  <a:pt x="56250" y="32239"/>
                  <a:pt x="56250" y="35000"/>
                </a:cubicBezTo>
                <a:cubicBezTo>
                  <a:pt x="56250" y="37762"/>
                  <a:pt x="57929" y="40000"/>
                  <a:pt x="60000" y="40000"/>
                </a:cubicBezTo>
                <a:lnTo>
                  <a:pt x="63750" y="40000"/>
                </a:lnTo>
                <a:close/>
              </a:path>
              <a:path w="120000" h="120000" fill="none" extrusionOk="0">
                <a:moveTo>
                  <a:pt x="0" y="50000"/>
                </a:moveTo>
                <a:lnTo>
                  <a:pt x="24000" y="0"/>
                </a:lnTo>
                <a:lnTo>
                  <a:pt x="24000" y="20000"/>
                </a:lnTo>
                <a:lnTo>
                  <a:pt x="60000" y="20000"/>
                </a:lnTo>
                <a:lnTo>
                  <a:pt x="60000" y="20000"/>
                </a:lnTo>
                <a:cubicBezTo>
                  <a:pt x="62071" y="20000"/>
                  <a:pt x="63750" y="22238"/>
                  <a:pt x="63750" y="25000"/>
                </a:cubicBezTo>
                <a:cubicBezTo>
                  <a:pt x="63750" y="27761"/>
                  <a:pt x="62071" y="30000"/>
                  <a:pt x="60000" y="30000"/>
                </a:cubicBezTo>
                <a:cubicBezTo>
                  <a:pt x="57929" y="30000"/>
                  <a:pt x="56250" y="32239"/>
                  <a:pt x="56250" y="35000"/>
                </a:cubicBezTo>
                <a:cubicBezTo>
                  <a:pt x="56250" y="37762"/>
                  <a:pt x="57929" y="40000"/>
                  <a:pt x="60000" y="40000"/>
                </a:cubicBezTo>
                <a:lnTo>
                  <a:pt x="96000" y="40000"/>
                </a:lnTo>
                <a:lnTo>
                  <a:pt x="96000" y="20000"/>
                </a:lnTo>
                <a:lnTo>
                  <a:pt x="120000" y="70000"/>
                </a:lnTo>
                <a:lnTo>
                  <a:pt x="96000" y="120000"/>
                </a:lnTo>
                <a:lnTo>
                  <a:pt x="96000" y="100000"/>
                </a:lnTo>
                <a:lnTo>
                  <a:pt x="60000" y="100000"/>
                </a:lnTo>
                <a:cubicBezTo>
                  <a:pt x="57929" y="100000"/>
                  <a:pt x="56250" y="97762"/>
                  <a:pt x="56250" y="95000"/>
                </a:cubicBezTo>
                <a:lnTo>
                  <a:pt x="56250" y="80000"/>
                </a:lnTo>
                <a:lnTo>
                  <a:pt x="24000" y="80000"/>
                </a:lnTo>
                <a:lnTo>
                  <a:pt x="24000" y="100000"/>
                </a:lnTo>
                <a:close/>
                <a:moveTo>
                  <a:pt x="63750" y="25000"/>
                </a:moveTo>
                <a:lnTo>
                  <a:pt x="63750" y="40000"/>
                </a:lnTo>
                <a:moveTo>
                  <a:pt x="56250" y="35000"/>
                </a:moveTo>
                <a:lnTo>
                  <a:pt x="56250" y="80000"/>
                </a:lnTo>
              </a:path>
            </a:pathLst>
          </a:custGeom>
          <a:solidFill>
            <a:srgbClr val="7AB8F6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0"/>
          <p:cNvSpPr txBox="1"/>
          <p:nvPr/>
        </p:nvSpPr>
        <p:spPr>
          <a:xfrm>
            <a:off x="1619672" y="2852936"/>
            <a:ext cx="20162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L’intégration</a:t>
            </a:r>
            <a:endParaRPr sz="24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0"/>
          <p:cNvSpPr txBox="1"/>
          <p:nvPr/>
        </p:nvSpPr>
        <p:spPr>
          <a:xfrm>
            <a:off x="4716016" y="3471391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L’externalisation</a:t>
            </a:r>
            <a:endParaRPr sz="24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52400"/>
            <a:ext cx="1835696" cy="69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0"/>
          <p:cNvSpPr/>
          <p:nvPr/>
        </p:nvSpPr>
        <p:spPr>
          <a:xfrm>
            <a:off x="395536" y="493802"/>
            <a:ext cx="572124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2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Quelques</a:t>
            </a:r>
            <a:r>
              <a:rPr lang="en-US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notions </a:t>
            </a:r>
            <a:r>
              <a:rPr lang="en-US" sz="28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intéressantes</a:t>
            </a:r>
            <a:r>
              <a:rPr lang="en-US" sz="2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en-US" sz="28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0"/>
          <p:cNvSpPr/>
          <p:nvPr/>
        </p:nvSpPr>
        <p:spPr>
          <a:xfrm rot="5400000">
            <a:off x="201281" y="594544"/>
            <a:ext cx="510899" cy="447911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1"/>
          <p:cNvSpPr/>
          <p:nvPr/>
        </p:nvSpPr>
        <p:spPr>
          <a:xfrm>
            <a:off x="559896" y="4835549"/>
            <a:ext cx="1834162" cy="1221889"/>
          </a:xfrm>
          <a:custGeom>
            <a:avLst/>
            <a:gdLst/>
            <a:ahLst/>
            <a:cxnLst/>
            <a:rect l="l" t="t" r="r" b="b"/>
            <a:pathLst>
              <a:path w="436" h="218" extrusionOk="0">
                <a:moveTo>
                  <a:pt x="198" y="141"/>
                </a:moveTo>
                <a:cubicBezTo>
                  <a:pt x="174" y="133"/>
                  <a:pt x="150" y="126"/>
                  <a:pt x="125" y="119"/>
                </a:cubicBezTo>
                <a:cubicBezTo>
                  <a:pt x="113" y="116"/>
                  <a:pt x="101" y="112"/>
                  <a:pt x="88" y="109"/>
                </a:cubicBezTo>
                <a:cubicBezTo>
                  <a:pt x="77" y="105"/>
                  <a:pt x="65" y="101"/>
                  <a:pt x="54" y="98"/>
                </a:cubicBezTo>
                <a:cubicBezTo>
                  <a:pt x="37" y="93"/>
                  <a:pt x="20" y="84"/>
                  <a:pt x="12" y="68"/>
                </a:cubicBezTo>
                <a:cubicBezTo>
                  <a:pt x="7" y="59"/>
                  <a:pt x="8" y="49"/>
                  <a:pt x="10" y="40"/>
                </a:cubicBezTo>
                <a:cubicBezTo>
                  <a:pt x="13" y="28"/>
                  <a:pt x="23" y="19"/>
                  <a:pt x="34" y="14"/>
                </a:cubicBezTo>
                <a:cubicBezTo>
                  <a:pt x="45" y="8"/>
                  <a:pt x="57" y="6"/>
                  <a:pt x="70" y="5"/>
                </a:cubicBezTo>
                <a:cubicBezTo>
                  <a:pt x="82" y="4"/>
                  <a:pt x="95" y="4"/>
                  <a:pt x="108" y="4"/>
                </a:cubicBezTo>
                <a:cubicBezTo>
                  <a:pt x="134" y="4"/>
                  <a:pt x="159" y="5"/>
                  <a:pt x="185" y="5"/>
                </a:cubicBezTo>
                <a:cubicBezTo>
                  <a:pt x="225" y="6"/>
                  <a:pt x="290" y="6"/>
                  <a:pt x="331" y="6"/>
                </a:cubicBezTo>
                <a:cubicBezTo>
                  <a:pt x="333" y="6"/>
                  <a:pt x="336" y="6"/>
                  <a:pt x="339" y="6"/>
                </a:cubicBezTo>
                <a:cubicBezTo>
                  <a:pt x="349" y="5"/>
                  <a:pt x="403" y="6"/>
                  <a:pt x="414" y="5"/>
                </a:cubicBezTo>
                <a:cubicBezTo>
                  <a:pt x="414" y="2"/>
                  <a:pt x="414" y="2"/>
                  <a:pt x="414" y="2"/>
                </a:cubicBezTo>
                <a:cubicBezTo>
                  <a:pt x="403" y="2"/>
                  <a:pt x="349" y="2"/>
                  <a:pt x="338" y="2"/>
                </a:cubicBezTo>
                <a:cubicBezTo>
                  <a:pt x="336" y="2"/>
                  <a:pt x="333" y="2"/>
                  <a:pt x="331" y="2"/>
                </a:cubicBezTo>
                <a:cubicBezTo>
                  <a:pt x="285" y="2"/>
                  <a:pt x="214" y="2"/>
                  <a:pt x="168" y="1"/>
                </a:cubicBezTo>
                <a:cubicBezTo>
                  <a:pt x="143" y="1"/>
                  <a:pt x="117" y="0"/>
                  <a:pt x="91" y="1"/>
                </a:cubicBezTo>
                <a:cubicBezTo>
                  <a:pt x="68" y="1"/>
                  <a:pt x="43" y="2"/>
                  <a:pt x="24" y="16"/>
                </a:cubicBezTo>
                <a:cubicBezTo>
                  <a:pt x="8" y="27"/>
                  <a:pt x="0" y="48"/>
                  <a:pt x="7" y="66"/>
                </a:cubicBezTo>
                <a:cubicBezTo>
                  <a:pt x="13" y="81"/>
                  <a:pt x="28" y="92"/>
                  <a:pt x="42" y="98"/>
                </a:cubicBezTo>
                <a:cubicBezTo>
                  <a:pt x="52" y="102"/>
                  <a:pt x="62" y="104"/>
                  <a:pt x="71" y="107"/>
                </a:cubicBezTo>
                <a:cubicBezTo>
                  <a:pt x="84" y="111"/>
                  <a:pt x="96" y="115"/>
                  <a:pt x="108" y="118"/>
                </a:cubicBezTo>
                <a:cubicBezTo>
                  <a:pt x="132" y="125"/>
                  <a:pt x="157" y="132"/>
                  <a:pt x="181" y="140"/>
                </a:cubicBezTo>
                <a:cubicBezTo>
                  <a:pt x="230" y="155"/>
                  <a:pt x="279" y="170"/>
                  <a:pt x="329" y="185"/>
                </a:cubicBezTo>
                <a:cubicBezTo>
                  <a:pt x="365" y="196"/>
                  <a:pt x="400" y="207"/>
                  <a:pt x="436" y="218"/>
                </a:cubicBezTo>
                <a:cubicBezTo>
                  <a:pt x="436" y="214"/>
                  <a:pt x="436" y="214"/>
                  <a:pt x="436" y="214"/>
                </a:cubicBezTo>
                <a:cubicBezTo>
                  <a:pt x="406" y="205"/>
                  <a:pt x="376" y="196"/>
                  <a:pt x="346" y="187"/>
                </a:cubicBezTo>
                <a:cubicBezTo>
                  <a:pt x="297" y="172"/>
                  <a:pt x="247" y="157"/>
                  <a:pt x="198" y="1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41"/>
          <p:cNvGrpSpPr/>
          <p:nvPr/>
        </p:nvGrpSpPr>
        <p:grpSpPr>
          <a:xfrm>
            <a:off x="2682030" y="1083325"/>
            <a:ext cx="1812881" cy="1486129"/>
            <a:chOff x="1561796" y="2775640"/>
            <a:chExt cx="2417174" cy="1486129"/>
          </a:xfrm>
          <a:solidFill>
            <a:srgbClr val="7AB8F6"/>
          </a:solidFill>
        </p:grpSpPr>
        <p:sp>
          <p:nvSpPr>
            <p:cNvPr id="683" name="Google Shape;683;p41"/>
            <p:cNvSpPr/>
            <p:nvPr/>
          </p:nvSpPr>
          <p:spPr>
            <a:xfrm>
              <a:off x="1561796" y="2775640"/>
              <a:ext cx="2417174" cy="1486129"/>
            </a:xfrm>
            <a:custGeom>
              <a:avLst/>
              <a:gdLst/>
              <a:ahLst/>
              <a:cxnLst/>
              <a:rect l="l" t="t" r="r" b="b"/>
              <a:pathLst>
                <a:path w="431" h="265" extrusionOk="0">
                  <a:moveTo>
                    <a:pt x="431" y="138"/>
                  </a:moveTo>
                  <a:cubicBezTo>
                    <a:pt x="415" y="133"/>
                    <a:pt x="399" y="128"/>
                    <a:pt x="384" y="123"/>
                  </a:cubicBezTo>
                  <a:cubicBezTo>
                    <a:pt x="349" y="113"/>
                    <a:pt x="315" y="102"/>
                    <a:pt x="281" y="92"/>
                  </a:cubicBezTo>
                  <a:cubicBezTo>
                    <a:pt x="251" y="83"/>
                    <a:pt x="220" y="73"/>
                    <a:pt x="190" y="64"/>
                  </a:cubicBezTo>
                  <a:cubicBezTo>
                    <a:pt x="177" y="60"/>
                    <a:pt x="164" y="56"/>
                    <a:pt x="151" y="52"/>
                  </a:cubicBezTo>
                  <a:cubicBezTo>
                    <a:pt x="148" y="51"/>
                    <a:pt x="145" y="50"/>
                    <a:pt x="142" y="50"/>
                  </a:cubicBezTo>
                  <a:cubicBezTo>
                    <a:pt x="139" y="49"/>
                    <a:pt x="136" y="48"/>
                    <a:pt x="133" y="47"/>
                  </a:cubicBezTo>
                  <a:cubicBezTo>
                    <a:pt x="130" y="46"/>
                    <a:pt x="127" y="45"/>
                    <a:pt x="124" y="44"/>
                  </a:cubicBezTo>
                  <a:cubicBezTo>
                    <a:pt x="98" y="36"/>
                    <a:pt x="72" y="31"/>
                    <a:pt x="45" y="23"/>
                  </a:cubicBezTo>
                  <a:cubicBezTo>
                    <a:pt x="44" y="23"/>
                    <a:pt x="42" y="22"/>
                    <a:pt x="40" y="22"/>
                  </a:cubicBezTo>
                  <a:cubicBezTo>
                    <a:pt x="38" y="21"/>
                    <a:pt x="36" y="20"/>
                    <a:pt x="33" y="19"/>
                  </a:cubicBezTo>
                  <a:cubicBezTo>
                    <a:pt x="31" y="18"/>
                    <a:pt x="29" y="17"/>
                    <a:pt x="27" y="17"/>
                  </a:cubicBezTo>
                  <a:cubicBezTo>
                    <a:pt x="18" y="13"/>
                    <a:pt x="9" y="9"/>
                    <a:pt x="5" y="0"/>
                  </a:cubicBezTo>
                  <a:cubicBezTo>
                    <a:pt x="5" y="2"/>
                    <a:pt x="4" y="5"/>
                    <a:pt x="4" y="7"/>
                  </a:cubicBezTo>
                  <a:cubicBezTo>
                    <a:pt x="4" y="18"/>
                    <a:pt x="4" y="30"/>
                    <a:pt x="3" y="41"/>
                  </a:cubicBezTo>
                  <a:cubicBezTo>
                    <a:pt x="3" y="43"/>
                    <a:pt x="3" y="46"/>
                    <a:pt x="3" y="48"/>
                  </a:cubicBezTo>
                  <a:cubicBezTo>
                    <a:pt x="3" y="51"/>
                    <a:pt x="2" y="53"/>
                    <a:pt x="2" y="56"/>
                  </a:cubicBezTo>
                  <a:cubicBezTo>
                    <a:pt x="2" y="57"/>
                    <a:pt x="2" y="59"/>
                    <a:pt x="2" y="61"/>
                  </a:cubicBezTo>
                  <a:cubicBezTo>
                    <a:pt x="2" y="62"/>
                    <a:pt x="2" y="64"/>
                    <a:pt x="2" y="66"/>
                  </a:cubicBezTo>
                  <a:cubicBezTo>
                    <a:pt x="2" y="72"/>
                    <a:pt x="2" y="79"/>
                    <a:pt x="1" y="86"/>
                  </a:cubicBezTo>
                  <a:cubicBezTo>
                    <a:pt x="1" y="89"/>
                    <a:pt x="1" y="92"/>
                    <a:pt x="1" y="96"/>
                  </a:cubicBezTo>
                  <a:cubicBezTo>
                    <a:pt x="0" y="101"/>
                    <a:pt x="1" y="106"/>
                    <a:pt x="2" y="111"/>
                  </a:cubicBezTo>
                  <a:cubicBezTo>
                    <a:pt x="3" y="114"/>
                    <a:pt x="4" y="116"/>
                    <a:pt x="5" y="119"/>
                  </a:cubicBezTo>
                  <a:cubicBezTo>
                    <a:pt x="7" y="124"/>
                    <a:pt x="11" y="129"/>
                    <a:pt x="15" y="132"/>
                  </a:cubicBezTo>
                  <a:cubicBezTo>
                    <a:pt x="17" y="134"/>
                    <a:pt x="19" y="136"/>
                    <a:pt x="22" y="137"/>
                  </a:cubicBezTo>
                  <a:cubicBezTo>
                    <a:pt x="29" y="142"/>
                    <a:pt x="36" y="145"/>
                    <a:pt x="44" y="148"/>
                  </a:cubicBezTo>
                  <a:cubicBezTo>
                    <a:pt x="47" y="149"/>
                    <a:pt x="49" y="150"/>
                    <a:pt x="52" y="151"/>
                  </a:cubicBezTo>
                  <a:cubicBezTo>
                    <a:pt x="82" y="161"/>
                    <a:pt x="112" y="168"/>
                    <a:pt x="142" y="177"/>
                  </a:cubicBezTo>
                  <a:cubicBezTo>
                    <a:pt x="146" y="179"/>
                    <a:pt x="150" y="180"/>
                    <a:pt x="153" y="181"/>
                  </a:cubicBezTo>
                  <a:cubicBezTo>
                    <a:pt x="215" y="199"/>
                    <a:pt x="276" y="218"/>
                    <a:pt x="338" y="236"/>
                  </a:cubicBezTo>
                  <a:cubicBezTo>
                    <a:pt x="344" y="238"/>
                    <a:pt x="349" y="240"/>
                    <a:pt x="355" y="241"/>
                  </a:cubicBezTo>
                  <a:cubicBezTo>
                    <a:pt x="380" y="249"/>
                    <a:pt x="406" y="257"/>
                    <a:pt x="431" y="265"/>
                  </a:cubicBezTo>
                  <a:lnTo>
                    <a:pt x="431" y="138"/>
                  </a:lnTo>
                  <a:close/>
                </a:path>
              </a:pathLst>
            </a:custGeom>
            <a:grp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89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1"/>
            <p:cNvSpPr/>
            <p:nvPr/>
          </p:nvSpPr>
          <p:spPr>
            <a:xfrm rot="16200000">
              <a:off x="3202058" y="3462660"/>
              <a:ext cx="749299" cy="666045"/>
            </a:xfrm>
            <a:prstGeom prst="parallelogram">
              <a:avLst>
                <a:gd name="adj" fmla="val 34000"/>
              </a:avLst>
            </a:prstGeom>
            <a:grpFill/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1"/>
          <p:cNvGrpSpPr/>
          <p:nvPr/>
        </p:nvGrpSpPr>
        <p:grpSpPr>
          <a:xfrm>
            <a:off x="2699792" y="61890"/>
            <a:ext cx="1719776" cy="1764500"/>
            <a:chOff x="1561796" y="1590115"/>
            <a:chExt cx="2293035" cy="1764500"/>
          </a:xfrm>
          <a:solidFill>
            <a:srgbClr val="7AB8F6"/>
          </a:solidFill>
        </p:grpSpPr>
        <p:sp>
          <p:nvSpPr>
            <p:cNvPr id="688" name="Google Shape;688;p41"/>
            <p:cNvSpPr/>
            <p:nvPr/>
          </p:nvSpPr>
          <p:spPr>
            <a:xfrm>
              <a:off x="1561796" y="1590115"/>
              <a:ext cx="2293035" cy="1764500"/>
            </a:xfrm>
            <a:custGeom>
              <a:avLst/>
              <a:gdLst/>
              <a:ahLst/>
              <a:cxnLst/>
              <a:rect l="l" t="t" r="r" b="b"/>
              <a:pathLst>
                <a:path w="409" h="301" extrusionOk="0">
                  <a:moveTo>
                    <a:pt x="342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82" y="1"/>
                    <a:pt x="61" y="1"/>
                    <a:pt x="41" y="6"/>
                  </a:cubicBezTo>
                  <a:cubicBezTo>
                    <a:pt x="38" y="7"/>
                    <a:pt x="36" y="8"/>
                    <a:pt x="34" y="9"/>
                  </a:cubicBezTo>
                  <a:cubicBezTo>
                    <a:pt x="32" y="10"/>
                    <a:pt x="30" y="11"/>
                    <a:pt x="27" y="12"/>
                  </a:cubicBezTo>
                  <a:cubicBezTo>
                    <a:pt x="26" y="13"/>
                    <a:pt x="24" y="14"/>
                    <a:pt x="22" y="15"/>
                  </a:cubicBezTo>
                  <a:cubicBezTo>
                    <a:pt x="17" y="18"/>
                    <a:pt x="13" y="22"/>
                    <a:pt x="9" y="27"/>
                  </a:cubicBezTo>
                  <a:cubicBezTo>
                    <a:pt x="8" y="28"/>
                    <a:pt x="7" y="30"/>
                    <a:pt x="6" y="31"/>
                  </a:cubicBezTo>
                  <a:cubicBezTo>
                    <a:pt x="5" y="34"/>
                    <a:pt x="4" y="36"/>
                    <a:pt x="3" y="39"/>
                  </a:cubicBezTo>
                  <a:cubicBezTo>
                    <a:pt x="2" y="43"/>
                    <a:pt x="1" y="46"/>
                    <a:pt x="1" y="49"/>
                  </a:cubicBezTo>
                  <a:cubicBezTo>
                    <a:pt x="0" y="55"/>
                    <a:pt x="0" y="61"/>
                    <a:pt x="0" y="66"/>
                  </a:cubicBezTo>
                  <a:cubicBezTo>
                    <a:pt x="0" y="80"/>
                    <a:pt x="0" y="93"/>
                    <a:pt x="0" y="107"/>
                  </a:cubicBezTo>
                  <a:cubicBezTo>
                    <a:pt x="0" y="121"/>
                    <a:pt x="0" y="162"/>
                    <a:pt x="0" y="176"/>
                  </a:cubicBezTo>
                  <a:cubicBezTo>
                    <a:pt x="0" y="179"/>
                    <a:pt x="0" y="182"/>
                    <a:pt x="0" y="185"/>
                  </a:cubicBezTo>
                  <a:cubicBezTo>
                    <a:pt x="0" y="186"/>
                    <a:pt x="0" y="188"/>
                    <a:pt x="1" y="189"/>
                  </a:cubicBezTo>
                  <a:cubicBezTo>
                    <a:pt x="0" y="193"/>
                    <a:pt x="0" y="198"/>
                    <a:pt x="0" y="202"/>
                  </a:cubicBezTo>
                  <a:cubicBezTo>
                    <a:pt x="0" y="216"/>
                    <a:pt x="0" y="229"/>
                    <a:pt x="0" y="243"/>
                  </a:cubicBezTo>
                  <a:cubicBezTo>
                    <a:pt x="0" y="257"/>
                    <a:pt x="0" y="270"/>
                    <a:pt x="0" y="284"/>
                  </a:cubicBezTo>
                  <a:cubicBezTo>
                    <a:pt x="0" y="287"/>
                    <a:pt x="0" y="290"/>
                    <a:pt x="0" y="293"/>
                  </a:cubicBezTo>
                  <a:cubicBezTo>
                    <a:pt x="0" y="295"/>
                    <a:pt x="1" y="298"/>
                    <a:pt x="1" y="301"/>
                  </a:cubicBezTo>
                  <a:cubicBezTo>
                    <a:pt x="1" y="293"/>
                    <a:pt x="4" y="286"/>
                    <a:pt x="8" y="279"/>
                  </a:cubicBezTo>
                  <a:cubicBezTo>
                    <a:pt x="13" y="273"/>
                    <a:pt x="19" y="268"/>
                    <a:pt x="26" y="264"/>
                  </a:cubicBezTo>
                  <a:cubicBezTo>
                    <a:pt x="36" y="258"/>
                    <a:pt x="46" y="255"/>
                    <a:pt x="57" y="253"/>
                  </a:cubicBezTo>
                  <a:cubicBezTo>
                    <a:pt x="408" y="253"/>
                    <a:pt x="408" y="253"/>
                    <a:pt x="408" y="253"/>
                  </a:cubicBezTo>
                  <a:cubicBezTo>
                    <a:pt x="408" y="253"/>
                    <a:pt x="408" y="253"/>
                    <a:pt x="409" y="253"/>
                  </a:cubicBezTo>
                  <a:cubicBezTo>
                    <a:pt x="409" y="67"/>
                    <a:pt x="409" y="67"/>
                    <a:pt x="409" y="67"/>
                  </a:cubicBezTo>
                  <a:cubicBezTo>
                    <a:pt x="409" y="30"/>
                    <a:pt x="379" y="0"/>
                    <a:pt x="342" y="0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89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1"/>
            <p:cNvSpPr txBox="1"/>
            <p:nvPr/>
          </p:nvSpPr>
          <p:spPr>
            <a:xfrm>
              <a:off x="1668756" y="1885268"/>
              <a:ext cx="2079114" cy="110799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Intégration verticale </a:t>
              </a:r>
              <a:endPara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Client , fournisseur </a:t>
              </a:r>
              <a:endParaRPr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0" name="Google Shape;690;p41"/>
          <p:cNvSpPr/>
          <p:nvPr/>
        </p:nvSpPr>
        <p:spPr>
          <a:xfrm>
            <a:off x="2552839" y="3245899"/>
            <a:ext cx="1834162" cy="1221889"/>
          </a:xfrm>
          <a:custGeom>
            <a:avLst/>
            <a:gdLst/>
            <a:ahLst/>
            <a:cxnLst/>
            <a:rect l="l" t="t" r="r" b="b"/>
            <a:pathLst>
              <a:path w="436" h="218" extrusionOk="0">
                <a:moveTo>
                  <a:pt x="198" y="141"/>
                </a:moveTo>
                <a:cubicBezTo>
                  <a:pt x="174" y="133"/>
                  <a:pt x="150" y="126"/>
                  <a:pt x="125" y="119"/>
                </a:cubicBezTo>
                <a:cubicBezTo>
                  <a:pt x="113" y="116"/>
                  <a:pt x="101" y="112"/>
                  <a:pt x="88" y="109"/>
                </a:cubicBezTo>
                <a:cubicBezTo>
                  <a:pt x="77" y="105"/>
                  <a:pt x="65" y="101"/>
                  <a:pt x="54" y="98"/>
                </a:cubicBezTo>
                <a:cubicBezTo>
                  <a:pt x="37" y="93"/>
                  <a:pt x="20" y="84"/>
                  <a:pt x="12" y="68"/>
                </a:cubicBezTo>
                <a:cubicBezTo>
                  <a:pt x="7" y="59"/>
                  <a:pt x="8" y="49"/>
                  <a:pt x="10" y="40"/>
                </a:cubicBezTo>
                <a:cubicBezTo>
                  <a:pt x="13" y="28"/>
                  <a:pt x="23" y="19"/>
                  <a:pt x="34" y="14"/>
                </a:cubicBezTo>
                <a:cubicBezTo>
                  <a:pt x="45" y="8"/>
                  <a:pt x="57" y="6"/>
                  <a:pt x="70" y="5"/>
                </a:cubicBezTo>
                <a:cubicBezTo>
                  <a:pt x="82" y="4"/>
                  <a:pt x="95" y="4"/>
                  <a:pt x="108" y="4"/>
                </a:cubicBezTo>
                <a:cubicBezTo>
                  <a:pt x="134" y="4"/>
                  <a:pt x="159" y="5"/>
                  <a:pt x="185" y="5"/>
                </a:cubicBezTo>
                <a:cubicBezTo>
                  <a:pt x="225" y="6"/>
                  <a:pt x="290" y="6"/>
                  <a:pt x="331" y="6"/>
                </a:cubicBezTo>
                <a:cubicBezTo>
                  <a:pt x="333" y="6"/>
                  <a:pt x="336" y="6"/>
                  <a:pt x="339" y="6"/>
                </a:cubicBezTo>
                <a:cubicBezTo>
                  <a:pt x="349" y="5"/>
                  <a:pt x="403" y="6"/>
                  <a:pt x="414" y="5"/>
                </a:cubicBezTo>
                <a:cubicBezTo>
                  <a:pt x="414" y="2"/>
                  <a:pt x="414" y="2"/>
                  <a:pt x="414" y="2"/>
                </a:cubicBezTo>
                <a:cubicBezTo>
                  <a:pt x="403" y="2"/>
                  <a:pt x="349" y="2"/>
                  <a:pt x="338" y="2"/>
                </a:cubicBezTo>
                <a:cubicBezTo>
                  <a:pt x="336" y="2"/>
                  <a:pt x="333" y="2"/>
                  <a:pt x="331" y="2"/>
                </a:cubicBezTo>
                <a:cubicBezTo>
                  <a:pt x="285" y="2"/>
                  <a:pt x="214" y="2"/>
                  <a:pt x="168" y="1"/>
                </a:cubicBezTo>
                <a:cubicBezTo>
                  <a:pt x="143" y="1"/>
                  <a:pt x="117" y="0"/>
                  <a:pt x="91" y="1"/>
                </a:cubicBezTo>
                <a:cubicBezTo>
                  <a:pt x="68" y="1"/>
                  <a:pt x="43" y="2"/>
                  <a:pt x="24" y="16"/>
                </a:cubicBezTo>
                <a:cubicBezTo>
                  <a:pt x="8" y="27"/>
                  <a:pt x="0" y="48"/>
                  <a:pt x="7" y="66"/>
                </a:cubicBezTo>
                <a:cubicBezTo>
                  <a:pt x="13" y="81"/>
                  <a:pt x="28" y="92"/>
                  <a:pt x="42" y="98"/>
                </a:cubicBezTo>
                <a:cubicBezTo>
                  <a:pt x="52" y="102"/>
                  <a:pt x="62" y="104"/>
                  <a:pt x="71" y="107"/>
                </a:cubicBezTo>
                <a:cubicBezTo>
                  <a:pt x="84" y="111"/>
                  <a:pt x="96" y="115"/>
                  <a:pt x="108" y="118"/>
                </a:cubicBezTo>
                <a:cubicBezTo>
                  <a:pt x="132" y="125"/>
                  <a:pt x="157" y="132"/>
                  <a:pt x="181" y="140"/>
                </a:cubicBezTo>
                <a:cubicBezTo>
                  <a:pt x="230" y="155"/>
                  <a:pt x="279" y="170"/>
                  <a:pt x="329" y="185"/>
                </a:cubicBezTo>
                <a:cubicBezTo>
                  <a:pt x="365" y="196"/>
                  <a:pt x="400" y="207"/>
                  <a:pt x="436" y="218"/>
                </a:cubicBezTo>
                <a:cubicBezTo>
                  <a:pt x="436" y="214"/>
                  <a:pt x="436" y="214"/>
                  <a:pt x="436" y="214"/>
                </a:cubicBezTo>
                <a:cubicBezTo>
                  <a:pt x="406" y="205"/>
                  <a:pt x="376" y="196"/>
                  <a:pt x="346" y="187"/>
                </a:cubicBezTo>
                <a:cubicBezTo>
                  <a:pt x="297" y="172"/>
                  <a:pt x="247" y="157"/>
                  <a:pt x="198" y="1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1" name="Google Shape;691;p41"/>
          <p:cNvGrpSpPr/>
          <p:nvPr/>
        </p:nvGrpSpPr>
        <p:grpSpPr>
          <a:xfrm>
            <a:off x="357158" y="3482912"/>
            <a:ext cx="1812881" cy="1486129"/>
            <a:chOff x="1561796" y="2775640"/>
            <a:chExt cx="2417174" cy="1486129"/>
          </a:xfrm>
          <a:solidFill>
            <a:srgbClr val="0099FF"/>
          </a:solidFill>
        </p:grpSpPr>
        <p:sp>
          <p:nvSpPr>
            <p:cNvPr id="692" name="Google Shape;692;p41"/>
            <p:cNvSpPr/>
            <p:nvPr/>
          </p:nvSpPr>
          <p:spPr>
            <a:xfrm>
              <a:off x="1561796" y="2775640"/>
              <a:ext cx="2417174" cy="1486129"/>
            </a:xfrm>
            <a:custGeom>
              <a:avLst/>
              <a:gdLst/>
              <a:ahLst/>
              <a:cxnLst/>
              <a:rect l="l" t="t" r="r" b="b"/>
              <a:pathLst>
                <a:path w="431" h="265" extrusionOk="0">
                  <a:moveTo>
                    <a:pt x="431" y="138"/>
                  </a:moveTo>
                  <a:cubicBezTo>
                    <a:pt x="415" y="133"/>
                    <a:pt x="399" y="128"/>
                    <a:pt x="384" y="123"/>
                  </a:cubicBezTo>
                  <a:cubicBezTo>
                    <a:pt x="349" y="113"/>
                    <a:pt x="315" y="102"/>
                    <a:pt x="281" y="92"/>
                  </a:cubicBezTo>
                  <a:cubicBezTo>
                    <a:pt x="251" y="83"/>
                    <a:pt x="220" y="73"/>
                    <a:pt x="190" y="64"/>
                  </a:cubicBezTo>
                  <a:cubicBezTo>
                    <a:pt x="177" y="60"/>
                    <a:pt x="164" y="56"/>
                    <a:pt x="151" y="52"/>
                  </a:cubicBezTo>
                  <a:cubicBezTo>
                    <a:pt x="148" y="51"/>
                    <a:pt x="145" y="50"/>
                    <a:pt x="142" y="50"/>
                  </a:cubicBezTo>
                  <a:cubicBezTo>
                    <a:pt x="139" y="49"/>
                    <a:pt x="136" y="48"/>
                    <a:pt x="133" y="47"/>
                  </a:cubicBezTo>
                  <a:cubicBezTo>
                    <a:pt x="130" y="46"/>
                    <a:pt x="127" y="45"/>
                    <a:pt x="124" y="44"/>
                  </a:cubicBezTo>
                  <a:cubicBezTo>
                    <a:pt x="98" y="36"/>
                    <a:pt x="72" y="31"/>
                    <a:pt x="45" y="23"/>
                  </a:cubicBezTo>
                  <a:cubicBezTo>
                    <a:pt x="44" y="23"/>
                    <a:pt x="42" y="22"/>
                    <a:pt x="40" y="22"/>
                  </a:cubicBezTo>
                  <a:cubicBezTo>
                    <a:pt x="38" y="21"/>
                    <a:pt x="36" y="20"/>
                    <a:pt x="33" y="19"/>
                  </a:cubicBezTo>
                  <a:cubicBezTo>
                    <a:pt x="31" y="18"/>
                    <a:pt x="29" y="17"/>
                    <a:pt x="27" y="17"/>
                  </a:cubicBezTo>
                  <a:cubicBezTo>
                    <a:pt x="18" y="13"/>
                    <a:pt x="9" y="9"/>
                    <a:pt x="5" y="0"/>
                  </a:cubicBezTo>
                  <a:cubicBezTo>
                    <a:pt x="5" y="2"/>
                    <a:pt x="4" y="5"/>
                    <a:pt x="4" y="7"/>
                  </a:cubicBezTo>
                  <a:cubicBezTo>
                    <a:pt x="4" y="18"/>
                    <a:pt x="4" y="30"/>
                    <a:pt x="3" y="41"/>
                  </a:cubicBezTo>
                  <a:cubicBezTo>
                    <a:pt x="3" y="43"/>
                    <a:pt x="3" y="46"/>
                    <a:pt x="3" y="48"/>
                  </a:cubicBezTo>
                  <a:cubicBezTo>
                    <a:pt x="3" y="51"/>
                    <a:pt x="2" y="53"/>
                    <a:pt x="2" y="56"/>
                  </a:cubicBezTo>
                  <a:cubicBezTo>
                    <a:pt x="2" y="57"/>
                    <a:pt x="2" y="59"/>
                    <a:pt x="2" y="61"/>
                  </a:cubicBezTo>
                  <a:cubicBezTo>
                    <a:pt x="2" y="62"/>
                    <a:pt x="2" y="64"/>
                    <a:pt x="2" y="66"/>
                  </a:cubicBezTo>
                  <a:cubicBezTo>
                    <a:pt x="2" y="72"/>
                    <a:pt x="2" y="79"/>
                    <a:pt x="1" y="86"/>
                  </a:cubicBezTo>
                  <a:cubicBezTo>
                    <a:pt x="1" y="89"/>
                    <a:pt x="1" y="92"/>
                    <a:pt x="1" y="96"/>
                  </a:cubicBezTo>
                  <a:cubicBezTo>
                    <a:pt x="0" y="101"/>
                    <a:pt x="1" y="106"/>
                    <a:pt x="2" y="111"/>
                  </a:cubicBezTo>
                  <a:cubicBezTo>
                    <a:pt x="3" y="114"/>
                    <a:pt x="4" y="116"/>
                    <a:pt x="5" y="119"/>
                  </a:cubicBezTo>
                  <a:cubicBezTo>
                    <a:pt x="7" y="124"/>
                    <a:pt x="11" y="129"/>
                    <a:pt x="15" y="132"/>
                  </a:cubicBezTo>
                  <a:cubicBezTo>
                    <a:pt x="17" y="134"/>
                    <a:pt x="19" y="136"/>
                    <a:pt x="22" y="137"/>
                  </a:cubicBezTo>
                  <a:cubicBezTo>
                    <a:pt x="29" y="142"/>
                    <a:pt x="36" y="145"/>
                    <a:pt x="44" y="148"/>
                  </a:cubicBezTo>
                  <a:cubicBezTo>
                    <a:pt x="47" y="149"/>
                    <a:pt x="49" y="150"/>
                    <a:pt x="52" y="151"/>
                  </a:cubicBezTo>
                  <a:cubicBezTo>
                    <a:pt x="82" y="161"/>
                    <a:pt x="112" y="168"/>
                    <a:pt x="142" y="177"/>
                  </a:cubicBezTo>
                  <a:cubicBezTo>
                    <a:pt x="146" y="179"/>
                    <a:pt x="150" y="180"/>
                    <a:pt x="153" y="181"/>
                  </a:cubicBezTo>
                  <a:cubicBezTo>
                    <a:pt x="215" y="199"/>
                    <a:pt x="276" y="218"/>
                    <a:pt x="338" y="236"/>
                  </a:cubicBezTo>
                  <a:cubicBezTo>
                    <a:pt x="344" y="238"/>
                    <a:pt x="349" y="240"/>
                    <a:pt x="355" y="241"/>
                  </a:cubicBezTo>
                  <a:cubicBezTo>
                    <a:pt x="380" y="249"/>
                    <a:pt x="406" y="257"/>
                    <a:pt x="431" y="265"/>
                  </a:cubicBezTo>
                  <a:lnTo>
                    <a:pt x="431" y="138"/>
                  </a:lnTo>
                  <a:close/>
                </a:path>
              </a:pathLst>
            </a:custGeom>
            <a:grp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89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1"/>
            <p:cNvSpPr/>
            <p:nvPr/>
          </p:nvSpPr>
          <p:spPr>
            <a:xfrm rot="16200000">
              <a:off x="3202060" y="3462659"/>
              <a:ext cx="749299" cy="666045"/>
            </a:xfrm>
            <a:prstGeom prst="parallelogram">
              <a:avLst>
                <a:gd name="adj" fmla="val 34000"/>
              </a:avLst>
            </a:prstGeom>
            <a:grpFill/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41"/>
          <p:cNvGrpSpPr/>
          <p:nvPr/>
        </p:nvGrpSpPr>
        <p:grpSpPr>
          <a:xfrm>
            <a:off x="357158" y="2510651"/>
            <a:ext cx="1719776" cy="1764500"/>
            <a:chOff x="1561796" y="1590115"/>
            <a:chExt cx="2293035" cy="1764500"/>
          </a:xfrm>
          <a:solidFill>
            <a:srgbClr val="0099FF"/>
          </a:solidFill>
        </p:grpSpPr>
        <p:sp>
          <p:nvSpPr>
            <p:cNvPr id="697" name="Google Shape;697;p41"/>
            <p:cNvSpPr/>
            <p:nvPr/>
          </p:nvSpPr>
          <p:spPr>
            <a:xfrm>
              <a:off x="1561796" y="1590115"/>
              <a:ext cx="2293035" cy="1764500"/>
            </a:xfrm>
            <a:custGeom>
              <a:avLst/>
              <a:gdLst/>
              <a:ahLst/>
              <a:cxnLst/>
              <a:rect l="l" t="t" r="r" b="b"/>
              <a:pathLst>
                <a:path w="409" h="301" extrusionOk="0">
                  <a:moveTo>
                    <a:pt x="342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82" y="1"/>
                    <a:pt x="61" y="1"/>
                    <a:pt x="41" y="6"/>
                  </a:cubicBezTo>
                  <a:cubicBezTo>
                    <a:pt x="38" y="7"/>
                    <a:pt x="36" y="8"/>
                    <a:pt x="34" y="9"/>
                  </a:cubicBezTo>
                  <a:cubicBezTo>
                    <a:pt x="32" y="10"/>
                    <a:pt x="30" y="11"/>
                    <a:pt x="27" y="12"/>
                  </a:cubicBezTo>
                  <a:cubicBezTo>
                    <a:pt x="26" y="13"/>
                    <a:pt x="24" y="14"/>
                    <a:pt x="22" y="15"/>
                  </a:cubicBezTo>
                  <a:cubicBezTo>
                    <a:pt x="17" y="18"/>
                    <a:pt x="13" y="22"/>
                    <a:pt x="9" y="27"/>
                  </a:cubicBezTo>
                  <a:cubicBezTo>
                    <a:pt x="8" y="28"/>
                    <a:pt x="7" y="30"/>
                    <a:pt x="6" y="31"/>
                  </a:cubicBezTo>
                  <a:cubicBezTo>
                    <a:pt x="5" y="34"/>
                    <a:pt x="4" y="36"/>
                    <a:pt x="3" y="39"/>
                  </a:cubicBezTo>
                  <a:cubicBezTo>
                    <a:pt x="2" y="43"/>
                    <a:pt x="1" y="46"/>
                    <a:pt x="1" y="49"/>
                  </a:cubicBezTo>
                  <a:cubicBezTo>
                    <a:pt x="0" y="55"/>
                    <a:pt x="0" y="61"/>
                    <a:pt x="0" y="66"/>
                  </a:cubicBezTo>
                  <a:cubicBezTo>
                    <a:pt x="0" y="80"/>
                    <a:pt x="0" y="93"/>
                    <a:pt x="0" y="107"/>
                  </a:cubicBezTo>
                  <a:cubicBezTo>
                    <a:pt x="0" y="121"/>
                    <a:pt x="0" y="162"/>
                    <a:pt x="0" y="176"/>
                  </a:cubicBezTo>
                  <a:cubicBezTo>
                    <a:pt x="0" y="179"/>
                    <a:pt x="0" y="182"/>
                    <a:pt x="0" y="185"/>
                  </a:cubicBezTo>
                  <a:cubicBezTo>
                    <a:pt x="0" y="186"/>
                    <a:pt x="0" y="188"/>
                    <a:pt x="1" y="189"/>
                  </a:cubicBezTo>
                  <a:cubicBezTo>
                    <a:pt x="0" y="193"/>
                    <a:pt x="0" y="198"/>
                    <a:pt x="0" y="202"/>
                  </a:cubicBezTo>
                  <a:cubicBezTo>
                    <a:pt x="0" y="216"/>
                    <a:pt x="0" y="229"/>
                    <a:pt x="0" y="243"/>
                  </a:cubicBezTo>
                  <a:cubicBezTo>
                    <a:pt x="0" y="257"/>
                    <a:pt x="0" y="270"/>
                    <a:pt x="0" y="284"/>
                  </a:cubicBezTo>
                  <a:cubicBezTo>
                    <a:pt x="0" y="287"/>
                    <a:pt x="0" y="290"/>
                    <a:pt x="0" y="293"/>
                  </a:cubicBezTo>
                  <a:cubicBezTo>
                    <a:pt x="0" y="295"/>
                    <a:pt x="1" y="298"/>
                    <a:pt x="1" y="301"/>
                  </a:cubicBezTo>
                  <a:cubicBezTo>
                    <a:pt x="1" y="293"/>
                    <a:pt x="4" y="286"/>
                    <a:pt x="8" y="279"/>
                  </a:cubicBezTo>
                  <a:cubicBezTo>
                    <a:pt x="13" y="273"/>
                    <a:pt x="19" y="268"/>
                    <a:pt x="26" y="264"/>
                  </a:cubicBezTo>
                  <a:cubicBezTo>
                    <a:pt x="36" y="258"/>
                    <a:pt x="46" y="255"/>
                    <a:pt x="57" y="253"/>
                  </a:cubicBezTo>
                  <a:cubicBezTo>
                    <a:pt x="408" y="253"/>
                    <a:pt x="408" y="253"/>
                    <a:pt x="408" y="253"/>
                  </a:cubicBezTo>
                  <a:cubicBezTo>
                    <a:pt x="408" y="253"/>
                    <a:pt x="408" y="253"/>
                    <a:pt x="409" y="253"/>
                  </a:cubicBezTo>
                  <a:cubicBezTo>
                    <a:pt x="409" y="67"/>
                    <a:pt x="409" y="67"/>
                    <a:pt x="409" y="67"/>
                  </a:cubicBezTo>
                  <a:cubicBezTo>
                    <a:pt x="409" y="30"/>
                    <a:pt x="379" y="0"/>
                    <a:pt x="342" y="0"/>
                  </a:cubicBezTo>
                  <a:close/>
                </a:path>
              </a:pathLst>
            </a:custGeom>
            <a:grp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89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1"/>
            <p:cNvSpPr txBox="1"/>
            <p:nvPr/>
          </p:nvSpPr>
          <p:spPr>
            <a:xfrm>
              <a:off x="1668756" y="1885268"/>
              <a:ext cx="2079114" cy="67710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ndara"/>
                <a:buNone/>
              </a:pPr>
              <a:r>
                <a:rPr lang="en-US" sz="1600" b="1" dirty="0" err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Intégration</a:t>
              </a:r>
              <a:r>
                <a:rPr lang="en-US" sz="1600" b="1" dirty="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 </a:t>
              </a:r>
              <a:r>
                <a:rPr lang="en-US" sz="1600" b="1" dirty="0" err="1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horizontale</a:t>
              </a:r>
              <a:r>
                <a:rPr lang="en-US" sz="1600" b="1" dirty="0">
                  <a:solidFill>
                    <a:schemeClr val="lt1"/>
                  </a:solidFill>
                  <a:latin typeface="Candara"/>
                  <a:ea typeface="Candara"/>
                  <a:cs typeface="Candara"/>
                  <a:sym typeface="Candara"/>
                </a:rPr>
                <a:t> </a:t>
              </a:r>
              <a:endParaRPr sz="1600" b="1" dirty="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-US"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Concurrent </a:t>
              </a:r>
              <a:r>
                <a:rPr lang="en-US" sz="1200" dirty="0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200" dirty="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p41"/>
          <p:cNvSpPr/>
          <p:nvPr/>
        </p:nvSpPr>
        <p:spPr>
          <a:xfrm>
            <a:off x="4674144" y="4822677"/>
            <a:ext cx="1834162" cy="1221889"/>
          </a:xfrm>
          <a:custGeom>
            <a:avLst/>
            <a:gdLst/>
            <a:ahLst/>
            <a:cxnLst/>
            <a:rect l="l" t="t" r="r" b="b"/>
            <a:pathLst>
              <a:path w="436" h="218" extrusionOk="0">
                <a:moveTo>
                  <a:pt x="198" y="141"/>
                </a:moveTo>
                <a:cubicBezTo>
                  <a:pt x="174" y="133"/>
                  <a:pt x="150" y="126"/>
                  <a:pt x="125" y="119"/>
                </a:cubicBezTo>
                <a:cubicBezTo>
                  <a:pt x="113" y="116"/>
                  <a:pt x="101" y="112"/>
                  <a:pt x="88" y="109"/>
                </a:cubicBezTo>
                <a:cubicBezTo>
                  <a:pt x="77" y="105"/>
                  <a:pt x="65" y="101"/>
                  <a:pt x="54" y="98"/>
                </a:cubicBezTo>
                <a:cubicBezTo>
                  <a:pt x="37" y="93"/>
                  <a:pt x="20" y="84"/>
                  <a:pt x="12" y="68"/>
                </a:cubicBezTo>
                <a:cubicBezTo>
                  <a:pt x="7" y="59"/>
                  <a:pt x="8" y="49"/>
                  <a:pt x="10" y="40"/>
                </a:cubicBezTo>
                <a:cubicBezTo>
                  <a:pt x="13" y="28"/>
                  <a:pt x="23" y="19"/>
                  <a:pt x="34" y="14"/>
                </a:cubicBezTo>
                <a:cubicBezTo>
                  <a:pt x="45" y="8"/>
                  <a:pt x="57" y="6"/>
                  <a:pt x="70" y="5"/>
                </a:cubicBezTo>
                <a:cubicBezTo>
                  <a:pt x="82" y="4"/>
                  <a:pt x="95" y="4"/>
                  <a:pt x="108" y="4"/>
                </a:cubicBezTo>
                <a:cubicBezTo>
                  <a:pt x="134" y="4"/>
                  <a:pt x="159" y="5"/>
                  <a:pt x="185" y="5"/>
                </a:cubicBezTo>
                <a:cubicBezTo>
                  <a:pt x="225" y="6"/>
                  <a:pt x="290" y="6"/>
                  <a:pt x="331" y="6"/>
                </a:cubicBezTo>
                <a:cubicBezTo>
                  <a:pt x="333" y="6"/>
                  <a:pt x="336" y="6"/>
                  <a:pt x="339" y="6"/>
                </a:cubicBezTo>
                <a:cubicBezTo>
                  <a:pt x="349" y="5"/>
                  <a:pt x="403" y="6"/>
                  <a:pt x="414" y="5"/>
                </a:cubicBezTo>
                <a:cubicBezTo>
                  <a:pt x="414" y="2"/>
                  <a:pt x="414" y="2"/>
                  <a:pt x="414" y="2"/>
                </a:cubicBezTo>
                <a:cubicBezTo>
                  <a:pt x="403" y="2"/>
                  <a:pt x="349" y="2"/>
                  <a:pt x="338" y="2"/>
                </a:cubicBezTo>
                <a:cubicBezTo>
                  <a:pt x="336" y="2"/>
                  <a:pt x="333" y="2"/>
                  <a:pt x="331" y="2"/>
                </a:cubicBezTo>
                <a:cubicBezTo>
                  <a:pt x="285" y="2"/>
                  <a:pt x="214" y="2"/>
                  <a:pt x="168" y="1"/>
                </a:cubicBezTo>
                <a:cubicBezTo>
                  <a:pt x="143" y="1"/>
                  <a:pt x="117" y="0"/>
                  <a:pt x="91" y="1"/>
                </a:cubicBezTo>
                <a:cubicBezTo>
                  <a:pt x="68" y="1"/>
                  <a:pt x="43" y="2"/>
                  <a:pt x="24" y="16"/>
                </a:cubicBezTo>
                <a:cubicBezTo>
                  <a:pt x="8" y="27"/>
                  <a:pt x="0" y="48"/>
                  <a:pt x="7" y="66"/>
                </a:cubicBezTo>
                <a:cubicBezTo>
                  <a:pt x="13" y="81"/>
                  <a:pt x="28" y="92"/>
                  <a:pt x="42" y="98"/>
                </a:cubicBezTo>
                <a:cubicBezTo>
                  <a:pt x="52" y="102"/>
                  <a:pt x="62" y="104"/>
                  <a:pt x="71" y="107"/>
                </a:cubicBezTo>
                <a:cubicBezTo>
                  <a:pt x="84" y="111"/>
                  <a:pt x="96" y="115"/>
                  <a:pt x="108" y="118"/>
                </a:cubicBezTo>
                <a:cubicBezTo>
                  <a:pt x="132" y="125"/>
                  <a:pt x="157" y="132"/>
                  <a:pt x="181" y="140"/>
                </a:cubicBezTo>
                <a:cubicBezTo>
                  <a:pt x="230" y="155"/>
                  <a:pt x="279" y="170"/>
                  <a:pt x="329" y="185"/>
                </a:cubicBezTo>
                <a:cubicBezTo>
                  <a:pt x="365" y="196"/>
                  <a:pt x="400" y="207"/>
                  <a:pt x="436" y="218"/>
                </a:cubicBezTo>
                <a:cubicBezTo>
                  <a:pt x="436" y="214"/>
                  <a:pt x="436" y="214"/>
                  <a:pt x="436" y="214"/>
                </a:cubicBezTo>
                <a:cubicBezTo>
                  <a:pt x="406" y="205"/>
                  <a:pt x="376" y="196"/>
                  <a:pt x="346" y="187"/>
                </a:cubicBezTo>
                <a:cubicBezTo>
                  <a:pt x="297" y="172"/>
                  <a:pt x="247" y="157"/>
                  <a:pt x="198" y="1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6667087" y="3245899"/>
            <a:ext cx="1834162" cy="1221889"/>
          </a:xfrm>
          <a:custGeom>
            <a:avLst/>
            <a:gdLst/>
            <a:ahLst/>
            <a:cxnLst/>
            <a:rect l="l" t="t" r="r" b="b"/>
            <a:pathLst>
              <a:path w="436" h="218" extrusionOk="0">
                <a:moveTo>
                  <a:pt x="198" y="141"/>
                </a:moveTo>
                <a:cubicBezTo>
                  <a:pt x="174" y="133"/>
                  <a:pt x="150" y="126"/>
                  <a:pt x="125" y="119"/>
                </a:cubicBezTo>
                <a:cubicBezTo>
                  <a:pt x="113" y="116"/>
                  <a:pt x="101" y="112"/>
                  <a:pt x="88" y="109"/>
                </a:cubicBezTo>
                <a:cubicBezTo>
                  <a:pt x="77" y="105"/>
                  <a:pt x="65" y="101"/>
                  <a:pt x="54" y="98"/>
                </a:cubicBezTo>
                <a:cubicBezTo>
                  <a:pt x="37" y="93"/>
                  <a:pt x="20" y="84"/>
                  <a:pt x="12" y="68"/>
                </a:cubicBezTo>
                <a:cubicBezTo>
                  <a:pt x="7" y="59"/>
                  <a:pt x="8" y="49"/>
                  <a:pt x="10" y="40"/>
                </a:cubicBezTo>
                <a:cubicBezTo>
                  <a:pt x="13" y="28"/>
                  <a:pt x="23" y="19"/>
                  <a:pt x="34" y="14"/>
                </a:cubicBezTo>
                <a:cubicBezTo>
                  <a:pt x="45" y="8"/>
                  <a:pt x="57" y="6"/>
                  <a:pt x="70" y="5"/>
                </a:cubicBezTo>
                <a:cubicBezTo>
                  <a:pt x="82" y="4"/>
                  <a:pt x="95" y="4"/>
                  <a:pt x="108" y="4"/>
                </a:cubicBezTo>
                <a:cubicBezTo>
                  <a:pt x="134" y="4"/>
                  <a:pt x="159" y="5"/>
                  <a:pt x="185" y="5"/>
                </a:cubicBezTo>
                <a:cubicBezTo>
                  <a:pt x="225" y="6"/>
                  <a:pt x="290" y="6"/>
                  <a:pt x="331" y="6"/>
                </a:cubicBezTo>
                <a:cubicBezTo>
                  <a:pt x="333" y="6"/>
                  <a:pt x="336" y="6"/>
                  <a:pt x="339" y="6"/>
                </a:cubicBezTo>
                <a:cubicBezTo>
                  <a:pt x="349" y="5"/>
                  <a:pt x="403" y="6"/>
                  <a:pt x="414" y="5"/>
                </a:cubicBezTo>
                <a:cubicBezTo>
                  <a:pt x="414" y="2"/>
                  <a:pt x="414" y="2"/>
                  <a:pt x="414" y="2"/>
                </a:cubicBezTo>
                <a:cubicBezTo>
                  <a:pt x="403" y="2"/>
                  <a:pt x="349" y="2"/>
                  <a:pt x="338" y="2"/>
                </a:cubicBezTo>
                <a:cubicBezTo>
                  <a:pt x="336" y="2"/>
                  <a:pt x="333" y="2"/>
                  <a:pt x="331" y="2"/>
                </a:cubicBezTo>
                <a:cubicBezTo>
                  <a:pt x="285" y="2"/>
                  <a:pt x="214" y="2"/>
                  <a:pt x="168" y="1"/>
                </a:cubicBezTo>
                <a:cubicBezTo>
                  <a:pt x="143" y="1"/>
                  <a:pt x="117" y="0"/>
                  <a:pt x="91" y="1"/>
                </a:cubicBezTo>
                <a:cubicBezTo>
                  <a:pt x="68" y="1"/>
                  <a:pt x="43" y="2"/>
                  <a:pt x="24" y="16"/>
                </a:cubicBezTo>
                <a:cubicBezTo>
                  <a:pt x="8" y="27"/>
                  <a:pt x="0" y="48"/>
                  <a:pt x="7" y="66"/>
                </a:cubicBezTo>
                <a:cubicBezTo>
                  <a:pt x="13" y="81"/>
                  <a:pt x="28" y="92"/>
                  <a:pt x="42" y="98"/>
                </a:cubicBezTo>
                <a:cubicBezTo>
                  <a:pt x="52" y="102"/>
                  <a:pt x="62" y="104"/>
                  <a:pt x="71" y="107"/>
                </a:cubicBezTo>
                <a:cubicBezTo>
                  <a:pt x="84" y="111"/>
                  <a:pt x="96" y="115"/>
                  <a:pt x="108" y="118"/>
                </a:cubicBezTo>
                <a:cubicBezTo>
                  <a:pt x="132" y="125"/>
                  <a:pt x="157" y="132"/>
                  <a:pt x="181" y="140"/>
                </a:cubicBezTo>
                <a:cubicBezTo>
                  <a:pt x="230" y="155"/>
                  <a:pt x="279" y="170"/>
                  <a:pt x="329" y="185"/>
                </a:cubicBezTo>
                <a:cubicBezTo>
                  <a:pt x="365" y="196"/>
                  <a:pt x="400" y="207"/>
                  <a:pt x="436" y="218"/>
                </a:cubicBezTo>
                <a:cubicBezTo>
                  <a:pt x="436" y="214"/>
                  <a:pt x="436" y="214"/>
                  <a:pt x="436" y="214"/>
                </a:cubicBezTo>
                <a:cubicBezTo>
                  <a:pt x="406" y="205"/>
                  <a:pt x="376" y="196"/>
                  <a:pt x="346" y="187"/>
                </a:cubicBezTo>
                <a:cubicBezTo>
                  <a:pt x="297" y="172"/>
                  <a:pt x="247" y="157"/>
                  <a:pt x="198" y="1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41"/>
          <p:cNvCxnSpPr/>
          <p:nvPr/>
        </p:nvCxnSpPr>
        <p:spPr>
          <a:xfrm rot="-5400000" flipH="1">
            <a:off x="3679025" y="3679033"/>
            <a:ext cx="4429156" cy="71438"/>
          </a:xfrm>
          <a:prstGeom prst="straightConnector1">
            <a:avLst/>
          </a:prstGeom>
          <a:noFill/>
          <a:ln w="28575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2" name="Google Shape;702;p41"/>
          <p:cNvCxnSpPr/>
          <p:nvPr/>
        </p:nvCxnSpPr>
        <p:spPr>
          <a:xfrm>
            <a:off x="3643306" y="3429000"/>
            <a:ext cx="4572032" cy="1588"/>
          </a:xfrm>
          <a:prstGeom prst="straightConnector1">
            <a:avLst/>
          </a:prstGeom>
          <a:noFill/>
          <a:ln w="381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3" name="Google Shape;703;p41"/>
          <p:cNvSpPr/>
          <p:nvPr/>
        </p:nvSpPr>
        <p:spPr>
          <a:xfrm>
            <a:off x="5072066" y="3000372"/>
            <a:ext cx="1785950" cy="1143008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Entreprise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1"/>
          <p:cNvSpPr/>
          <p:nvPr/>
        </p:nvSpPr>
        <p:spPr>
          <a:xfrm>
            <a:off x="4572000" y="1142984"/>
            <a:ext cx="2500330" cy="57150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Fournisseur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1"/>
          <p:cNvSpPr/>
          <p:nvPr/>
        </p:nvSpPr>
        <p:spPr>
          <a:xfrm>
            <a:off x="4714876" y="5715016"/>
            <a:ext cx="2500330" cy="57150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 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1"/>
          <p:cNvSpPr/>
          <p:nvPr/>
        </p:nvSpPr>
        <p:spPr>
          <a:xfrm>
            <a:off x="2357422" y="3143248"/>
            <a:ext cx="2500330" cy="57150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Concurrent 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7072330" y="3286124"/>
            <a:ext cx="2071670" cy="5000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D5F1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Concurrent 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35696" cy="69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Internationalisation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2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La stratégie d’internationalisation est une stratégie d’extension de l’entreprise au-delà de son marché national.  Elle concerne aussi bien les grandes entreprises que les PME.</a:t>
            </a:r>
            <a:endParaRPr/>
          </a:p>
          <a:p>
            <a:pPr marL="342900" lvl="2" indent="-1905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  <a:p>
            <a:pPr marL="342900" lvl="2" indent="-3429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/>
              <a:t>Cette stratégie s’inscrit dans une logique d’intégration économique mondiale.</a:t>
            </a:r>
            <a:endParaRPr/>
          </a:p>
          <a:p>
            <a:pPr marL="342900" lvl="2" indent="-1905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  <a:p>
            <a:pPr marL="342900" lvl="0" indent="-34290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L’organisation peut œuvrer dans une stratégie d’internationalisation à travers 3 politiques: </a:t>
            </a:r>
            <a:r>
              <a:rPr lang="en-US" sz="2400">
                <a:solidFill>
                  <a:srgbClr val="FF0000"/>
                </a:solidFill>
              </a:rPr>
              <a:t>L’exportation</a:t>
            </a:r>
            <a:r>
              <a:rPr lang="en-US" sz="2400"/>
              <a:t>, la présence à l’échelle mondiale à travers </a:t>
            </a:r>
            <a:r>
              <a:rPr lang="en-US" sz="2400">
                <a:solidFill>
                  <a:srgbClr val="FF0000"/>
                </a:solidFill>
              </a:rPr>
              <a:t>des partenaires locaux </a:t>
            </a:r>
            <a:r>
              <a:rPr lang="en-US" sz="2400"/>
              <a:t>et le développement en </a:t>
            </a:r>
            <a:r>
              <a:rPr lang="en-US" sz="2400">
                <a:solidFill>
                  <a:srgbClr val="FF0000"/>
                </a:solidFill>
              </a:rPr>
              <a:t>entreprise globale et filiales (IDE).</a:t>
            </a:r>
            <a:endParaRPr sz="240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</a:t>
            </a:r>
            <a:endParaRPr sz="2400"/>
          </a:p>
          <a:p>
            <a:pPr marL="342900" lvl="2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</p:txBody>
      </p:sp>
      <p:pic>
        <p:nvPicPr>
          <p:cNvPr id="717" name="Google Shape;71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35696" cy="69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2095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2" b="41"/>
          <a:stretch/>
        </p:blipFill>
        <p:spPr>
          <a:xfrm>
            <a:off x="785787" y="1357300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2B2A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26" name="Google Shape;726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42" b="41"/>
          <a:stretch/>
        </p:blipFill>
        <p:spPr>
          <a:xfrm>
            <a:off x="2786050" y="2786060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85C40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27" name="Google Shape;727;p43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42" b="41"/>
          <a:stretch/>
        </p:blipFill>
        <p:spPr>
          <a:xfrm>
            <a:off x="4572001" y="1000109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3EB8C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28" name="Google Shape;728;p43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 t="42" b="41"/>
          <a:stretch/>
        </p:blipFill>
        <p:spPr>
          <a:xfrm>
            <a:off x="7000893" y="2500308"/>
            <a:ext cx="1421516" cy="1894789"/>
          </a:xfrm>
          <a:prstGeom prst="ellipse">
            <a:avLst/>
          </a:prstGeom>
          <a:noFill/>
          <a:ln w="9525" cap="flat" cmpd="sng">
            <a:solidFill>
              <a:srgbClr val="FFA80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29" name="Google Shape;729;p43"/>
          <p:cNvSpPr txBox="1"/>
          <p:nvPr/>
        </p:nvSpPr>
        <p:spPr>
          <a:xfrm>
            <a:off x="857224" y="3500439"/>
            <a:ext cx="15001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Répartissez vous  en équipes de 5 à 6 étudiants </a:t>
            </a:r>
            <a:endParaRPr sz="1800" b="1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3"/>
          <p:cNvSpPr/>
          <p:nvPr/>
        </p:nvSpPr>
        <p:spPr>
          <a:xfrm>
            <a:off x="1785918" y="1071546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4">
              <a:solidFill>
                <a:srgbClr val="3660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3"/>
          <p:cNvSpPr txBox="1"/>
          <p:nvPr/>
        </p:nvSpPr>
        <p:spPr>
          <a:xfrm>
            <a:off x="3071803" y="4857760"/>
            <a:ext cx="10094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Vous disposez de 30 minutes </a:t>
            </a:r>
            <a:endParaRPr sz="1800" b="1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3357554" y="228599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4">
              <a:solidFill>
                <a:srgbClr val="6324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3"/>
          <p:cNvSpPr txBox="1"/>
          <p:nvPr/>
        </p:nvSpPr>
        <p:spPr>
          <a:xfrm>
            <a:off x="4255631" y="3004294"/>
            <a:ext cx="2286016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T.A.F: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comprendre et situer chaque  étiquette à la stratégie concurrentielle correspondante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 Positionner les logos relatifs à chaque entreprise (selon le modèle de PORTER) sur la trame.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5643570" y="857232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34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3"/>
          <p:cNvSpPr txBox="1"/>
          <p:nvPr/>
        </p:nvSpPr>
        <p:spPr>
          <a:xfrm>
            <a:off x="7000892" y="4567632"/>
            <a:ext cx="177323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Nommez un rapporteur par équipe pour répondre .</a:t>
            </a:r>
            <a:endParaRPr sz="1800" b="1">
              <a:solidFill>
                <a:srgbClr val="17365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A8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7786710" y="2071678"/>
            <a:ext cx="686790" cy="91572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5F49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0" y="214291"/>
            <a:ext cx="827858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World Café Strategy</a:t>
            </a:r>
            <a:endParaRPr sz="3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Les régles du jeu :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6595E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738" name="Google Shape;738;p4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61461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4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1835696" cy="692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Microsoft Office PowerPoint</Application>
  <PresentationFormat>Affichage à l'écran (4:3)</PresentationFormat>
  <Paragraphs>209</Paragraphs>
  <Slides>25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5" baseType="lpstr">
      <vt:lpstr>Anton</vt:lpstr>
      <vt:lpstr>Calibri</vt:lpstr>
      <vt:lpstr>Tahoma</vt:lpstr>
      <vt:lpstr>Candara</vt:lpstr>
      <vt:lpstr>Arial</vt:lpstr>
      <vt:lpstr>Noto Sans Symbols</vt:lpstr>
      <vt:lpstr>Lato</vt:lpstr>
      <vt:lpstr>Libre Baskerville</vt:lpstr>
      <vt:lpstr>Times New Roman</vt:lpstr>
      <vt:lpstr>Thème Office</vt:lpstr>
      <vt:lpstr>Présentation PowerPoint</vt:lpstr>
      <vt:lpstr>Présentation PowerPoint</vt:lpstr>
      <vt:lpstr>Plan</vt:lpstr>
      <vt:lpstr>Présentation PowerPoint</vt:lpstr>
      <vt:lpstr>  Une stratégie, c’est quoi en fait ?..</vt:lpstr>
      <vt:lpstr> </vt:lpstr>
      <vt:lpstr>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Internationalisation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Insaf Riahi Tekaya</dc:creator>
  <cp:lastModifiedBy>insaf tekaya</cp:lastModifiedBy>
  <cp:revision>24</cp:revision>
  <dcterms:modified xsi:type="dcterms:W3CDTF">2023-10-16T14:26:07Z</dcterms:modified>
</cp:coreProperties>
</file>